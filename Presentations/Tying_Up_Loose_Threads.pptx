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6"/>
  </p:notesMasterIdLst>
  <p:sldIdLst>
    <p:sldId id="284" r:id="rId2"/>
    <p:sldId id="256" r:id="rId3"/>
    <p:sldId id="257" r:id="rId4"/>
    <p:sldId id="261" r:id="rId5"/>
    <p:sldId id="262" r:id="rId6"/>
    <p:sldId id="263" r:id="rId7"/>
    <p:sldId id="264" r:id="rId8"/>
    <p:sldId id="281" r:id="rId9"/>
    <p:sldId id="282" r:id="rId10"/>
    <p:sldId id="270" r:id="rId11"/>
    <p:sldId id="283" r:id="rId12"/>
    <p:sldId id="279" r:id="rId13"/>
    <p:sldId id="265" r:id="rId14"/>
    <p:sldId id="268" r:id="rId15"/>
    <p:sldId id="269" r:id="rId16"/>
    <p:sldId id="267" r:id="rId17"/>
    <p:sldId id="266" r:id="rId18"/>
    <p:sldId id="271" r:id="rId19"/>
    <p:sldId id="272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embeddedFontLst>
    <p:embeddedFont>
      <p:font typeface="Cascadia Code" panose="020B0609020000020004" pitchFamily="49" charset="0"/>
      <p:regular r:id="rId27"/>
      <p:bold r:id="rId28"/>
      <p:italic r:id="rId29"/>
      <p:boldItalic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Garamond" panose="02020404030301010803" pitchFamily="18" charset="0"/>
      <p:regular r:id="rId39"/>
      <p:bold r:id="rId40"/>
      <p:italic r:id="rId41"/>
    </p:embeddedFont>
    <p:embeddedFont>
      <p:font typeface="Roboto Mono" panose="00000009000000000000" pitchFamily="49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72023" autoAdjust="0"/>
  </p:normalViewPr>
  <p:slideViewPr>
    <p:cSldViewPr snapToGrid="0">
      <p:cViewPr varScale="1">
        <p:scale>
          <a:sx n="68" d="100"/>
          <a:sy n="68" d="100"/>
        </p:scale>
        <p:origin x="17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glossary.html#term-CPython" TargetMode="External"/><Relationship Id="rId7" Type="http://schemas.openxmlformats.org/officeDocument/2006/relationships/hyperlink" Target="https://peps.python.org/pep-0703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python.org/3/using/configure.html#cmdoption-disable-gil" TargetMode="External"/><Relationship Id="rId5" Type="http://schemas.openxmlformats.org/officeDocument/2006/relationships/hyperlink" Target="https://docs.python.org/3/library/stdtypes.html#dict" TargetMode="External"/><Relationship Id="rId4" Type="http://schemas.openxmlformats.org/officeDocument/2006/relationships/hyperlink" Target="https://docs.python.org/3/glossary.html#term-bytecode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c-api/synchronization.html#c.Py_BEGIN_CRITICAL_SECTION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python.org/3/c-api/synchronization.html#c.Py_END_CRITICAL_SECTION2" TargetMode="External"/><Relationship Id="rId5" Type="http://schemas.openxmlformats.org/officeDocument/2006/relationships/hyperlink" Target="https://docs.python.org/3/c-api/synchronization.html#c.Py_BEGIN_CRITICAL_SECTION2" TargetMode="External"/><Relationship Id="rId4" Type="http://schemas.openxmlformats.org/officeDocument/2006/relationships/hyperlink" Target="https://docs.python.org/3/c-api/synchronization.html#c.Py_END_CRITICAL_SECTION" TargetMode="Externa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docs.cython.org/en/latest/src/userguide/numpy_tutorial.html" TargetMode="External"/><Relationship Id="rId3" Type="http://schemas.openxmlformats.org/officeDocument/2006/relationships/hyperlink" Target="http://docs.cython.org/src/tutorial/external.html" TargetMode="External"/><Relationship Id="rId7" Type="http://schemas.openxmlformats.org/officeDocument/2006/relationships/hyperlink" Target="http://docs.cython.org/src/userguide/memoryviews.html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docs.cython.org/src/userguide/debugging.html" TargetMode="External"/><Relationship Id="rId5" Type="http://schemas.openxmlformats.org/officeDocument/2006/relationships/hyperlink" Target="http://docs.cython.org/en/latest/src/tutorial/pure.html#static-typing" TargetMode="External"/><Relationship Id="rId4" Type="http://schemas.openxmlformats.org/officeDocument/2006/relationships/hyperlink" Target="http://docs.cython.org/src/quickstart/cythonize.html" TargetMode="External"/><Relationship Id="rId9" Type="http://schemas.openxmlformats.org/officeDocument/2006/relationships/hyperlink" Target="http://www.python.org/about/" TargetMode="Externa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.13/c-api/init.html#sub-interpreter-support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google/sanitizers/wiki/AddressSanitizerExampleUseAfterScope" TargetMode="External"/><Relationship Id="rId3" Type="http://schemas.openxmlformats.org/officeDocument/2006/relationships/hyperlink" Target="https://github.com/google/sanitizers/wiki/AddressSanitizerExampleUseAfterFree" TargetMode="External"/><Relationship Id="rId7" Type="http://schemas.openxmlformats.org/officeDocument/2006/relationships/hyperlink" Target="https://github.com/google/sanitizers/wiki/AddressSanitizerExampleUseAfterReturn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ithub.com/google/sanitizers/wiki/AddressSanitizerExampleGlobalOutOfBounds" TargetMode="External"/><Relationship Id="rId5" Type="http://schemas.openxmlformats.org/officeDocument/2006/relationships/hyperlink" Target="https://github.com/google/sanitizers/wiki/AddressSanitizerExampleStackOutOfBounds" TargetMode="External"/><Relationship Id="rId10" Type="http://schemas.openxmlformats.org/officeDocument/2006/relationships/hyperlink" Target="https://github.com/google/sanitizers/wiki/AddressSanitizerLeakSanitizer" TargetMode="External"/><Relationship Id="rId4" Type="http://schemas.openxmlformats.org/officeDocument/2006/relationships/hyperlink" Target="https://github.com/google/sanitizers/wiki/AddressSanitizerExampleHeapOutOfBounds" TargetMode="External"/><Relationship Id="rId9" Type="http://schemas.openxmlformats.org/officeDocument/2006/relationships/hyperlink" Target="https://github.com/google/sanitizers/wiki/AddressSanitizerInitializationOrderFiasco" TargetMode="Externa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 dirty="0">
                <a:solidFill>
                  <a:srgbClr val="000000"/>
                </a:solidFill>
              </a:rPr>
              <a:t>The mechanism used by the </a:t>
            </a:r>
            <a:r>
              <a:rPr lang="en-US" sz="1100" b="0" i="0" u="sng" strike="noStrike" cap="none" dirty="0" err="1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CPython</a:t>
            </a:r>
            <a:r>
              <a:rPr lang="en-US" sz="1100" b="0" i="0" u="none" strike="noStrike" cap="none" dirty="0">
                <a:solidFill>
                  <a:srgbClr val="000000"/>
                </a:solidFill>
              </a:rPr>
              <a:t> interpreter to assure that only one thread executes Python </a:t>
            </a:r>
            <a:r>
              <a:rPr lang="en-US" sz="1100" b="0" i="0" u="sng" strike="noStrike" cap="none" dirty="0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bytecode</a:t>
            </a:r>
            <a:r>
              <a:rPr lang="en-US" sz="1100" b="0" i="0" u="none" strike="noStrike" cap="none" dirty="0">
                <a:solidFill>
                  <a:srgbClr val="000000"/>
                </a:solidFill>
              </a:rPr>
              <a:t> at a time. This simplifies the </a:t>
            </a:r>
            <a:r>
              <a:rPr lang="en-US" sz="1100" b="0" i="0" u="none" strike="noStrike" cap="none" dirty="0" err="1">
                <a:solidFill>
                  <a:srgbClr val="000000"/>
                </a:solidFill>
              </a:rPr>
              <a:t>CPython</a:t>
            </a:r>
            <a:r>
              <a:rPr lang="en-US" sz="1100" b="0" i="0" u="none" strike="noStrike" cap="none" dirty="0">
                <a:solidFill>
                  <a:srgbClr val="000000"/>
                </a:solidFill>
              </a:rPr>
              <a:t> implementation by making the object model (including critical built-in types such as </a:t>
            </a:r>
            <a:r>
              <a:rPr lang="en-US" sz="1100" b="0" i="0" u="sng" strike="noStrike" cap="none" dirty="0" err="1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dict</a:t>
            </a:r>
            <a:r>
              <a:rPr lang="en-US" sz="1100" b="0" i="0" u="none" strike="noStrike" cap="none" dirty="0">
                <a:solidFill>
                  <a:srgbClr val="000000"/>
                </a:solidFill>
              </a:rPr>
              <a:t>) implicitly safe against concurrent access through serialization access. Locking the entire interpreter makes it easier for the interpreter to be multi-threaded, at the expense of much of the parallelism afforded by multi-processor machines.</a:t>
            </a: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b="0" i="0" u="none" strike="noStrike" cap="none" dirty="0">
                <a:solidFill>
                  <a:srgbClr val="000000"/>
                </a:solidFill>
              </a:rPr>
              <a:t>Protect global state in extension code without explicit locking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 dirty="0">
                <a:solidFill>
                  <a:srgbClr val="000000"/>
                </a:solidFill>
              </a:rPr>
              <a:t>However, some extension modules, either standard or third-party, are designed so as to release the GIL when doing computationally intensive tasks such as compression or hashing. Also, the GIL is always released when doing I/O.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 dirty="0">
                <a:solidFill>
                  <a:srgbClr val="000000"/>
                </a:solidFill>
              </a:rPr>
              <a:t>As of Python 3.13, the GIL can be disabled using the </a:t>
            </a:r>
            <a:r>
              <a:rPr lang="en-US" sz="1100" b="0" i="0" u="sng" strike="noStrike" cap="none" dirty="0">
                <a:solidFill>
                  <a:srgbClr val="00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--disable-</a:t>
            </a:r>
            <a:r>
              <a:rPr lang="en-US" sz="1100" b="0" i="0" u="sng" strike="noStrike" cap="none" dirty="0" err="1">
                <a:solidFill>
                  <a:srgbClr val="00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gil</a:t>
            </a:r>
            <a:r>
              <a:rPr lang="en-US" sz="1100" b="0" i="0" u="none" strike="noStrike" cap="none" dirty="0">
                <a:solidFill>
                  <a:srgbClr val="000000"/>
                </a:solidFill>
              </a:rPr>
              <a:t> build configuration. This feature enables improved performance for multi-threaded applications and makes it easier to use multi-core CPUs efficiently. For more details, see </a:t>
            </a:r>
            <a:r>
              <a:rPr lang="en-US" sz="1100" b="1" i="0" u="sng" strike="noStrike" cap="none" dirty="0">
                <a:solidFill>
                  <a:srgbClr val="000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PEP 703</a:t>
            </a:r>
            <a:r>
              <a:rPr lang="en-US" sz="1100" b="0" i="0" u="none" strike="noStrike" cap="none" dirty="0">
                <a:solidFill>
                  <a:srgbClr val="000000"/>
                </a:solidFill>
              </a:rPr>
              <a:t>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46" name="Google Shape;1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0" i="1" u="none" strike="noStrike" cap="none" dirty="0" err="1">
                <a:solidFill>
                  <a:srgbClr val="000000"/>
                </a:solidFill>
              </a:rPr>
              <a:t>PyTorch</a:t>
            </a:r>
            <a:r>
              <a:rPr lang="en-US" sz="1100" b="0" i="1" u="none" strike="noStrike" cap="none" dirty="0">
                <a:solidFill>
                  <a:srgbClr val="000000"/>
                </a:solidFill>
              </a:rPr>
              <a:t>, </a:t>
            </a:r>
            <a:r>
              <a:rPr lang="en-US" sz="1100" b="0" i="1" u="none" strike="noStrike" cap="none" dirty="0" err="1">
                <a:solidFill>
                  <a:srgbClr val="000000"/>
                </a:solidFill>
              </a:rPr>
              <a:t>Numpy</a:t>
            </a:r>
            <a:r>
              <a:rPr lang="en-US" sz="1100" b="0" i="1" u="none" strike="noStrike" cap="none" dirty="0">
                <a:solidFill>
                  <a:srgbClr val="000000"/>
                </a:solidFill>
              </a:rPr>
              <a:t>, DeepMind: </a:t>
            </a:r>
            <a:r>
              <a:rPr lang="en-US" dirty="0"/>
              <a:t>Python’s Global Interpreter Lock (GIL) creates several systemic challenges in scientific and high-performance computing:</a:t>
            </a:r>
          </a:p>
          <a:p>
            <a:pPr lvl="1"/>
            <a:r>
              <a:rPr lang="en-US" dirty="0"/>
              <a:t>Limited scalability for orchestration: Even when compute-heavy work runs in optimized native code, the Python layer that coordinates GPUs, threads, and tasks becomes a bottleneck as hardware scales (tens to thousands of devices).</a:t>
            </a:r>
          </a:p>
          <a:p>
            <a:pPr lvl="1"/>
            <a:r>
              <a:rPr lang="en-US" dirty="0"/>
              <a:t>Forced reliance on multiprocessing: To bypass the GIL, developers often use multiple processes instead of threads, which introduces significant complexity in coordination, inter-process communication, and resource management.</a:t>
            </a:r>
          </a:p>
          <a:p>
            <a:pPr lvl="1"/>
            <a:r>
              <a:rPr lang="en-US" dirty="0"/>
              <a:t>Poor multithreaded CPU utilization: Native extensions may release the GIL, but overall application-level parallelism remains limited. This leads to underutilization of multi-core systems or reliance on external libraries with their own threading models.</a:t>
            </a:r>
          </a:p>
          <a:p>
            <a:pPr lvl="1"/>
            <a:r>
              <a:rPr lang="en-US" dirty="0"/>
              <a:t>Fragmented parallelism model: Different components (e.g., numerical libraries, parallel frameworks) manage threads independently, causing issues like oversubscription, inconsistent performance, and the need for manual tuning.</a:t>
            </a:r>
          </a:p>
          <a:p>
            <a:pPr lvl="1"/>
            <a:r>
              <a:rPr lang="en-US" dirty="0"/>
              <a:t>Inefficient abstractions: Higher-level parallel frameworks introduce additional layers that complicate usage and reduce efficiency compared to straightforward multithreaded execution.</a:t>
            </a:r>
          </a:p>
          <a:p>
            <a:pPr lvl="1"/>
            <a:r>
              <a:rPr lang="en-US" dirty="0"/>
              <a:t>High IPC overhead: When using subprocesses, communication costs can outweigh the benefits of parallelism, especially for large data or frequent synchronization.</a:t>
            </a:r>
          </a:p>
          <a:p>
            <a:pPr lvl="1"/>
            <a:r>
              <a:rPr lang="en-US" sz="1100" b="0" i="0" u="none" strike="noStrike" cap="none" dirty="0">
                <a:solidFill>
                  <a:srgbClr val="000000"/>
                </a:solidFill>
              </a:rPr>
              <a:t>Many C and C++ libraries support access from multiple threads but do not support access or use across multiple processes.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</a:rPr>
              <a:t>A threading model where multiple threads can run Python bytecode simultaneously within the same </a:t>
            </a:r>
            <a:r>
              <a:rPr lang="en-US" sz="1100" b="0" i="0" u="none" strike="noStrike" cap="none">
                <a:solidFill>
                  <a:srgbClr val="000000"/>
                </a:solidFill>
              </a:rPr>
              <a:t>interpreter.</a:t>
            </a:r>
            <a:endParaRPr dirty="0"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cap="none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pymalloc</a:t>
            </a:r>
            <a:r>
              <a:rPr lang="en-US" dirty="0"/>
              <a:t> is </a:t>
            </a:r>
            <a:r>
              <a:rPr lang="en-US" dirty="0" err="1"/>
              <a:t>CPython's</a:t>
            </a:r>
            <a:r>
              <a:rPr lang="en-US" dirty="0"/>
              <a:t> specialized allocator for small allocations. It obtains large </a:t>
            </a:r>
            <a:r>
              <a:rPr lang="en-US" b="1" dirty="0"/>
              <a:t>arenas</a:t>
            </a:r>
            <a:r>
              <a:rPr lang="en-US" dirty="0"/>
              <a:t>, divides them into </a:t>
            </a:r>
            <a:r>
              <a:rPr lang="en-US" b="1" dirty="0"/>
              <a:t>pools</a:t>
            </a:r>
            <a:r>
              <a:rPr lang="en-US" dirty="0"/>
              <a:t>, and divides pools into fixed-size blocks.</a:t>
            </a:r>
          </a:p>
          <a:p>
            <a:r>
              <a:rPr lang="en-US" dirty="0"/>
              <a:t>The GIL supplies an important implicit property here: allocator metadata and Python object lifetime operations don't have to be designed around arbitrary simultaneous access by multiple Python threads. The allocator can therefore use relatively simple thread-local/global structures and reclaim blocks immediately.</a:t>
            </a:r>
          </a:p>
          <a:p>
            <a:endParaRPr lang="en-US" dirty="0"/>
          </a:p>
          <a:p>
            <a:r>
              <a:rPr lang="en-US" dirty="0" err="1"/>
              <a:t>Mimalloc</a:t>
            </a:r>
            <a:r>
              <a:rPr lang="en-US" dirty="0"/>
              <a:t>: </a:t>
            </a:r>
            <a:r>
              <a:rPr lang="en-US" b="1" dirty="0"/>
              <a:t>per-thread </a:t>
            </a:r>
            <a:r>
              <a:rPr lang="en-US" b="1" dirty="0" err="1"/>
              <a:t>mimalloc</a:t>
            </a:r>
            <a:r>
              <a:rPr lang="en-US" b="1" dirty="0"/>
              <a:t> heaps</a:t>
            </a:r>
            <a:r>
              <a:rPr lang="en-US" dirty="0"/>
              <a:t>:</a:t>
            </a:r>
          </a:p>
          <a:p>
            <a:r>
              <a:rPr lang="en-US" dirty="0"/>
              <a:t>QSBR: page becomes reclaimable -&gt; record </a:t>
            </a:r>
            <a:r>
              <a:rPr lang="en-US" dirty="0" err="1"/>
              <a:t>qsbr_goal</a:t>
            </a:r>
            <a:r>
              <a:rPr lang="en-US" dirty="0"/>
              <a:t> -&gt; threads continue running -&gt; _</a:t>
            </a:r>
            <a:r>
              <a:rPr lang="en-US" dirty="0" err="1"/>
              <a:t>Py_qsbr_poll</a:t>
            </a:r>
            <a:r>
              <a:rPr lang="en-US" dirty="0"/>
              <a:t>(...) -&gt; safe to reclaim? If yes, free/recycle page</a:t>
            </a:r>
          </a:p>
          <a:p>
            <a:pPr lvl="1"/>
            <a:r>
              <a:rPr lang="en-US" dirty="0"/>
              <a:t>Prevents use-after-free during concurrent object/container operations</a:t>
            </a:r>
          </a:p>
          <a:p>
            <a:pPr lvl="0"/>
            <a:r>
              <a:rPr lang="en-US" dirty="0"/>
              <a:t>Cross-thread freeing: atomic </a:t>
            </a:r>
            <a:r>
              <a:rPr lang="en-US" b="1" dirty="0"/>
              <a:t>cross-thread free list and CAS ops to publish </a:t>
            </a:r>
            <a:r>
              <a:rPr lang="en-US" dirty="0"/>
              <a:t>blocks onto a page's thread-free list or a heap's delayed-free list.</a:t>
            </a:r>
          </a:p>
        </p:txBody>
      </p:sp>
    </p:spTree>
    <p:extLst>
      <p:ext uri="{BB962C8B-B14F-4D97-AF65-F5344CB8AC3E}">
        <p14:creationId xmlns:p14="http://schemas.microsoft.com/office/powerpoint/2010/main" val="2733037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Free-threaded</a:t>
            </a:r>
          </a:p>
          <a:p>
            <a:pPr lvl="1"/>
            <a:r>
              <a:rPr lang="en-US" dirty="0"/>
              <a:t>current thread owns object, increment/decrement </a:t>
            </a:r>
            <a:r>
              <a:rPr lang="en-US" dirty="0" err="1"/>
              <a:t>ob_ref_local</a:t>
            </a:r>
            <a:r>
              <a:rPr lang="en-US" dirty="0"/>
              <a:t>, ordinary relaxed atomic load/store</a:t>
            </a:r>
          </a:p>
          <a:p>
            <a:pPr lvl="1"/>
            <a:r>
              <a:rPr lang="en-US" dirty="0"/>
              <a:t>Thread A owns object, Thread B acquires reference, B cannot modify A's local count, B increments </a:t>
            </a:r>
            <a:r>
              <a:rPr lang="en-US" dirty="0" err="1"/>
              <a:t>ob_ref_shared</a:t>
            </a:r>
            <a:endParaRPr lang="en-US" dirty="0"/>
          </a:p>
          <a:p>
            <a:pPr lvl="1"/>
            <a:r>
              <a:rPr lang="en-US" dirty="0"/>
              <a:t>Check if threads own obj</a:t>
            </a:r>
          </a:p>
          <a:p>
            <a:pPr lvl="2"/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ob_ref_local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--: </a:t>
            </a:r>
            <a:r>
              <a:rPr lang="en-US" dirty="0"/>
              <a:t>local == 0 shared == 0 → object really dies, local == 0 shared != 0 → somebody else still owns references → merge/transfer state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lvl="2"/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No: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ob_ref_shared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—</a:t>
            </a:r>
          </a:p>
          <a:p>
            <a:pPr lvl="1"/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Both 0: deferred free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591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sng" strike="noStrike" cap="none" dirty="0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or </a:t>
            </a:r>
            <a:r>
              <a:rPr lang="en-US" sz="1100" b="0" i="0" u="sng" strike="noStrike" cap="none" dirty="0" err="1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wite</a:t>
            </a:r>
            <a:r>
              <a:rPr lang="en-US" sz="1100" b="0" i="0" u="sng" strike="noStrike" cap="none" dirty="0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acquire per-object lock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sng" strike="noStrike" cap="none" dirty="0" err="1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Py_BEGIN_CRITICAL_SECTION</a:t>
            </a:r>
            <a:r>
              <a:rPr lang="en-US" sz="1100" b="0" i="0" u="none" strike="noStrike" cap="none" dirty="0">
                <a:solidFill>
                  <a:srgbClr val="000000"/>
                </a:solidFill>
              </a:rPr>
              <a:t> and </a:t>
            </a:r>
            <a:r>
              <a:rPr lang="en-US" sz="1100" b="0" i="0" u="sng" strike="noStrike" cap="none" dirty="0" err="1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Py_END_CRITICAL_SECTION</a:t>
            </a:r>
            <a:r>
              <a:rPr lang="en-US" sz="1100" b="0" i="0" u="none" strike="noStrike" cap="none" dirty="0">
                <a:solidFill>
                  <a:srgbClr val="000000"/>
                </a:solidFill>
              </a:rPr>
              <a:t> - For locking a single object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sng" strike="noStrike" cap="none" dirty="0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Py_BEGIN_CRITICAL_SECTION2</a:t>
            </a:r>
            <a:r>
              <a:rPr lang="en-US" sz="1100" b="0" i="0" u="none" strike="noStrike" cap="none" dirty="0">
                <a:solidFill>
                  <a:srgbClr val="000000"/>
                </a:solidFill>
              </a:rPr>
              <a:t> and </a:t>
            </a:r>
            <a:r>
              <a:rPr lang="en-US" sz="1100" b="0" i="0" u="sng" strike="noStrike" cap="none" dirty="0">
                <a:solidFill>
                  <a:srgbClr val="00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Py_END_CRITICAL_SECTION2</a:t>
            </a:r>
            <a:r>
              <a:rPr lang="en-US" sz="1100" b="0" i="0" u="none" strike="noStrike" cap="none" dirty="0">
                <a:solidFill>
                  <a:srgbClr val="000000"/>
                </a:solidFill>
              </a:rPr>
              <a:t> - For locking two objects simultaneously</a:t>
            </a:r>
            <a:endParaRPr dirty="0"/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0" i="0" u="none" strike="noStrike" cap="none" dirty="0">
                <a:solidFill>
                  <a:srgbClr val="000000"/>
                </a:solidFill>
              </a:rPr>
              <a:t>Critical sections: most useful for custom types to be exported to Python</a:t>
            </a: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0" i="0" u="none" strike="noStrike" cap="none" dirty="0">
                <a:solidFill>
                  <a:srgbClr val="000000"/>
                </a:solidFill>
              </a:rPr>
              <a:t>automatically release and reacquire locks around potential blocking operations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 dirty="0">
                <a:solidFill>
                  <a:srgbClr val="000000"/>
                </a:solidFill>
              </a:rPr>
              <a:t>Critical sections help avoid deadlocks in two ways: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entury Gothic"/>
              <a:buChar char="○"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thread tries to acquire a lock that’s already held by another thread, it first suspends all of its active critical sections, temporarily releasing their locks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entury Gothic"/>
              <a:buChar char="○"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When the blocking operation completes, only the top-most critical section is reacquired first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entury Gothic"/>
              <a:buChar char="○"/>
            </a:pPr>
            <a:r>
              <a:rPr lang="en-US" b="0" i="0" u="none" strike="noStrike" cap="none" dirty="0">
                <a:solidFill>
                  <a:srgbClr val="000000"/>
                </a:solidFill>
                <a:latin typeface="Century Gothic"/>
                <a:sym typeface="Century Gothic"/>
              </a:rPr>
              <a:t>Do not use on operations involving built-in types, do not nest critical sections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lock up to 2 </a:t>
            </a:r>
            <a:r>
              <a:rPr lang="en-US" dirty="0" err="1"/>
              <a:t>objs</a:t>
            </a:r>
            <a:r>
              <a:rPr lang="en-US" dirty="0"/>
              <a:t>, same caveats apply</a:t>
            </a:r>
          </a:p>
        </p:txBody>
      </p:sp>
    </p:spTree>
    <p:extLst>
      <p:ext uri="{BB962C8B-B14F-4D97-AF65-F5344CB8AC3E}">
        <p14:creationId xmlns:p14="http://schemas.microsoft.com/office/powerpoint/2010/main" val="3358160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Borrowed reference: reference to object when code using object doesn’t own it</a:t>
            </a:r>
          </a:p>
          <a:p>
            <a:pPr marL="914400" marR="0" lvl="1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Dangling when object is destroyed (due to GC)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Strong reference: reference to object owned by code using object</a:t>
            </a:r>
          </a:p>
          <a:p>
            <a:pPr marL="914400" marR="0" lvl="1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dirty="0" err="1">
                <a:solidFill>
                  <a:schemeClr val="tx1"/>
                </a:solidFill>
                <a:effectLst/>
                <a:latin typeface="Menlo"/>
              </a:rPr>
              <a:t>Py_INCREF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Menlo"/>
              </a:rPr>
              <a:t> and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Menlo"/>
              </a:rPr>
              <a:t>Py_DECREF</a:t>
            </a:r>
            <a:endParaRPr lang="en-US" sz="1100" b="0" i="0" dirty="0">
              <a:solidFill>
                <a:schemeClr val="tx1"/>
              </a:solidFill>
              <a:effectLst/>
              <a:latin typeface="Menlo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0" i="0" dirty="0">
                <a:solidFill>
                  <a:schemeClr val="tx1"/>
                </a:solidFill>
                <a:effectLst/>
                <a:latin typeface="Menlo"/>
              </a:rPr>
              <a:t>No need to fret in pybind11: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210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Threading.local</a:t>
            </a:r>
            <a:r>
              <a:rPr lang="en-US" dirty="0"/>
              <a:t>: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GIL limits the performance gains of threading when it comes to CPU-bound tasks, as only one thread can execute Python bytecode at a time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sym typeface="Century Gothic"/>
              </a:rPr>
              <a:t>C/C++: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Century Gothic"/>
                <a:sym typeface="Century Gothic"/>
              </a:rPr>
              <a:t>Py_tss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sym typeface="Century Gothic"/>
              </a:rPr>
              <a:t> for exporting data within extension to Python 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Century Gothic"/>
                <a:sym typeface="Century Gothic"/>
              </a:rPr>
              <a:t>threading.local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sym typeface="Century Gothic"/>
              </a:rPr>
              <a:t> uses this)</a:t>
            </a:r>
            <a:endParaRPr dirty="0"/>
          </a:p>
        </p:txBody>
      </p:sp>
      <p:sp>
        <p:nvSpPr>
          <p:cNvPr id="227" name="Google Shape;2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fontAlgn="base">
              <a:buNone/>
            </a:pPr>
            <a:r>
              <a:rPr lang="en-US" sz="1100" b="1" i="0" u="none" strike="noStrike" cap="none" dirty="0" err="1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Cython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 gives you the combined power of Python and C to let you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fontAlgn="base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write Python code that 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calls back and forth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 from and to C or C++ code natively at any point.</a:t>
            </a:r>
          </a:p>
          <a:p>
            <a:pPr lvl="0" fontAlgn="base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easily tune readable Python code into plain C performance by 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4"/>
              </a:rPr>
              <a:t>adding static type declarations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, also 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in Python syntax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</a:p>
          <a:p>
            <a:pPr lvl="0" fontAlgn="base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use 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6"/>
              </a:rPr>
              <a:t>combined source code level debugging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 to find bugs in your Python,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Cython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 and C code.</a:t>
            </a:r>
          </a:p>
          <a:p>
            <a:pPr lvl="0" fontAlgn="base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7"/>
              </a:rPr>
              <a:t>interact efficiently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 with large data sets, e.g. using multi-dimensional 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8"/>
              </a:rPr>
              <a:t>NumPy arrays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</a:p>
          <a:p>
            <a:pPr lvl="0" fontAlgn="base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quickly build your applications within the large, mature and widely used 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9"/>
              </a:rPr>
              <a:t>CPython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9"/>
              </a:rPr>
              <a:t> ecosystem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</a:p>
          <a:p>
            <a:pPr lvl="0" fontAlgn="base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integrate natively with existing code and data from legacy, low-level or high-performance libraries and applications.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Single: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The module initialization function may create and return the module object directly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Multi: Initialization is split between the 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creation phase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, when the module object is created, and the 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execution phase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, when it is populated..</a:t>
            </a:r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Expected to support 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sub-interpreters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 In parallel, separate GIL per interpreter in same shared process</a:t>
            </a:r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Each instance of an extension module should be 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isolated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changes to one instance should not implicitly affect the others, and all state, including references to Python objects, should be specific to a particular module instance.</a:t>
            </a:r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Century Gothic"/>
                <a:cs typeface="Arial"/>
                <a:sym typeface="Arial"/>
              </a:rPr>
              <a:t>Pybind11 only supports multi-phase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Pytest</a:t>
            </a:r>
            <a:r>
              <a:rPr lang="en-US" dirty="0"/>
              <a:t> is not thread-safe!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Tsan: checks for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data races (&gt;2 threads access the same variable concurrently and at least one of the accesses is writing)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Asan: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</a:pPr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Use after free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</a:rPr>
              <a:t> (dangling pointer dereference)</a:t>
            </a:r>
          </a:p>
          <a:p>
            <a:pPr marL="457200" lvl="0" indent="-298450"/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4"/>
              </a:rPr>
              <a:t>Heap buffer overflow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298450"/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Stack buffer overflow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298450"/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6"/>
              </a:rPr>
              <a:t>Global buffer overflow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298450"/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7"/>
              </a:rPr>
              <a:t>Use after return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298450"/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8"/>
              </a:rPr>
              <a:t>Use after scope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298450"/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9"/>
              </a:rPr>
              <a:t>Initialization order bugs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298450"/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Century Gothic"/>
                <a:ea typeface="Century Gothic"/>
                <a:cs typeface="Century Gothic"/>
                <a:sym typeface="Century Gothic"/>
                <a:hlinkClick r:id="rId10"/>
              </a:rPr>
              <a:t>Memory leaks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TLDR: </a:t>
            </a:r>
            <a:r>
              <a:rPr lang="en-US" dirty="0" err="1"/>
              <a:t>scipy</a:t>
            </a:r>
            <a:r>
              <a:rPr lang="en-US" dirty="0"/>
              <a:t> is mostly thread-safe, some synchronization of global vars helpful</a:t>
            </a:r>
            <a:endParaRPr dirty="0"/>
          </a:p>
        </p:txBody>
      </p:sp>
      <p:sp>
        <p:nvSpPr>
          <p:cNvPr id="264" name="Google Shape;2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6ff1f506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6ff1f506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gradFill>
          <a:gsLst>
            <a:gs pos="0">
              <a:srgbClr val="E1DBC9"/>
            </a:gs>
            <a:gs pos="77000">
              <a:srgbClr val="C8C1B0"/>
            </a:gs>
            <a:gs pos="100000">
              <a:srgbClr val="C0BAAA"/>
            </a:gs>
          </a:gsLst>
          <a:lin ang="5400012" scaled="0"/>
        </a:gra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45000"/>
            </a:blip>
            <a:tile tx="-44450" ty="38100" sx="84998" sy="84998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307870" y="1267730"/>
            <a:ext cx="9576300" cy="430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1447801" y="1411615"/>
            <a:ext cx="9296400" cy="4034700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5135880" y="1267730"/>
            <a:ext cx="1920300" cy="73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5250113" y="1267730"/>
            <a:ext cx="1691620" cy="645295"/>
            <a:chOff x="5318306" y="1386268"/>
            <a:chExt cx="1567331" cy="645295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5318306" y="1386268"/>
              <a:ext cx="0" cy="64020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6885637" y="1386268"/>
              <a:ext cx="0" cy="64020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5318306" y="2031563"/>
              <a:ext cx="1567200" cy="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1561708" y="2091263"/>
            <a:ext cx="90687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Century Gothic"/>
              <a:buNone/>
              <a:defRPr sz="7200" b="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1562100" y="4682062"/>
            <a:ext cx="907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dt" idx="10"/>
          </p:nvPr>
        </p:nvSpPr>
        <p:spPr>
          <a:xfrm>
            <a:off x="5318760" y="1341255"/>
            <a:ext cx="1554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ftr" idx="11"/>
          </p:nvPr>
        </p:nvSpPr>
        <p:spPr>
          <a:xfrm>
            <a:off x="1453896" y="5211060"/>
            <a:ext cx="590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ldNum" idx="12"/>
          </p:nvPr>
        </p:nvSpPr>
        <p:spPr>
          <a:xfrm>
            <a:off x="8606919" y="5212080"/>
            <a:ext cx="211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gradFill>
          <a:gsLst>
            <a:gs pos="0">
              <a:srgbClr val="E1DBC9"/>
            </a:gs>
            <a:gs pos="77000">
              <a:srgbClr val="C8C1B0"/>
            </a:gs>
            <a:gs pos="100000">
              <a:srgbClr val="C0BAAA"/>
            </a:gs>
          </a:gsLst>
          <a:lin ang="5400012" scaled="0"/>
        </a:gra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45000"/>
            </a:blip>
            <a:tile tx="-44450" ty="38100" sx="84998" sy="84998" flip="none" algn="tl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307870" y="1267730"/>
            <a:ext cx="9576300" cy="430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447800" y="1411615"/>
            <a:ext cx="9296400" cy="4034700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135880" y="1267730"/>
            <a:ext cx="1920300" cy="73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1" name="Google Shape;31;p3"/>
          <p:cNvGrpSpPr/>
          <p:nvPr/>
        </p:nvGrpSpPr>
        <p:grpSpPr>
          <a:xfrm>
            <a:off x="5250113" y="1267730"/>
            <a:ext cx="1691620" cy="645295"/>
            <a:chOff x="5318306" y="1386268"/>
            <a:chExt cx="1567331" cy="645295"/>
          </a:xfrm>
        </p:grpSpPr>
        <p:cxnSp>
          <p:nvCxnSpPr>
            <p:cNvPr id="32" name="Google Shape;32;p3"/>
            <p:cNvCxnSpPr/>
            <p:nvPr/>
          </p:nvCxnSpPr>
          <p:spPr>
            <a:xfrm>
              <a:off x="5318306" y="1386268"/>
              <a:ext cx="0" cy="64020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6885637" y="1386268"/>
              <a:ext cx="0" cy="64020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5318306" y="2031563"/>
              <a:ext cx="1567200" cy="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1563623" y="2094309"/>
            <a:ext cx="9070800" cy="25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Century Gothic"/>
              <a:buNone/>
              <a:defRPr sz="72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"/>
          </p:nvPr>
        </p:nvSpPr>
        <p:spPr>
          <a:xfrm>
            <a:off x="1563624" y="4682062"/>
            <a:ext cx="907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dt" idx="10"/>
          </p:nvPr>
        </p:nvSpPr>
        <p:spPr>
          <a:xfrm>
            <a:off x="5321808" y="1344502"/>
            <a:ext cx="15546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ftr" idx="11"/>
          </p:nvPr>
        </p:nvSpPr>
        <p:spPr>
          <a:xfrm>
            <a:off x="1453553" y="5211060"/>
            <a:ext cx="590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sldNum" idx="12"/>
          </p:nvPr>
        </p:nvSpPr>
        <p:spPr>
          <a:xfrm>
            <a:off x="8604504" y="5211060"/>
            <a:ext cx="2112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dt" idx="10"/>
          </p:nvPr>
        </p:nvSpPr>
        <p:spPr>
          <a:xfrm>
            <a:off x="274320" y="630767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ftr" idx="11"/>
          </p:nvPr>
        </p:nvSpPr>
        <p:spPr>
          <a:xfrm>
            <a:off x="3489960" y="6307672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10469880" y="630767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1069848" y="2074334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 b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2"/>
          </p:nvPr>
        </p:nvSpPr>
        <p:spPr>
          <a:xfrm>
            <a:off x="1069848" y="2755898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3"/>
          </p:nvPr>
        </p:nvSpPr>
        <p:spPr>
          <a:xfrm>
            <a:off x="6373368" y="2074334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4"/>
          </p:nvPr>
        </p:nvSpPr>
        <p:spPr>
          <a:xfrm>
            <a:off x="6373368" y="2756581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274320" y="630767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3489960" y="6307672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10469880" y="630767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4755000" cy="3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2"/>
          </p:nvPr>
        </p:nvSpPr>
        <p:spPr>
          <a:xfrm>
            <a:off x="6370320" y="2103120"/>
            <a:ext cx="4755000" cy="3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dt" idx="10"/>
          </p:nvPr>
        </p:nvSpPr>
        <p:spPr>
          <a:xfrm>
            <a:off x="274320" y="630767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ftr" idx="11"/>
          </p:nvPr>
        </p:nvSpPr>
        <p:spPr>
          <a:xfrm>
            <a:off x="3489960" y="6307672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sldNum" idx="12"/>
          </p:nvPr>
        </p:nvSpPr>
        <p:spPr>
          <a:xfrm>
            <a:off x="10469880" y="630767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dt" idx="10"/>
          </p:nvPr>
        </p:nvSpPr>
        <p:spPr>
          <a:xfrm>
            <a:off x="274320" y="630767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ftr" idx="11"/>
          </p:nvPr>
        </p:nvSpPr>
        <p:spPr>
          <a:xfrm>
            <a:off x="3489960" y="6307672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sldNum" idx="12"/>
          </p:nvPr>
        </p:nvSpPr>
        <p:spPr>
          <a:xfrm>
            <a:off x="10469880" y="630767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9020386" y="237744"/>
            <a:ext cx="2926200" cy="63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9296400" y="603504"/>
            <a:ext cx="24324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sz="28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>
            <a:spLocks noGrp="1"/>
          </p:cNvSpPr>
          <p:nvPr>
            <p:ph type="pic" idx="2"/>
          </p:nvPr>
        </p:nvSpPr>
        <p:spPr>
          <a:xfrm>
            <a:off x="228599" y="237744"/>
            <a:ext cx="8531400" cy="6382500"/>
          </a:xfrm>
          <a:prstGeom prst="rect">
            <a:avLst/>
          </a:prstGeom>
          <a:solidFill>
            <a:srgbClr val="76CE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9296400" y="2286000"/>
            <a:ext cx="2432400" cy="3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dt" idx="10"/>
          </p:nvPr>
        </p:nvSpPr>
        <p:spPr>
          <a:xfrm>
            <a:off x="274320" y="630767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ftr" idx="11"/>
          </p:nvPr>
        </p:nvSpPr>
        <p:spPr>
          <a:xfrm>
            <a:off x="3489960" y="6307672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sldNum" idx="12"/>
          </p:nvPr>
        </p:nvSpPr>
        <p:spPr>
          <a:xfrm>
            <a:off x="10396728" y="6227064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9157546" y="374904"/>
            <a:ext cx="2651700" cy="6108300"/>
          </a:xfrm>
          <a:prstGeom prst="rect">
            <a:avLst/>
          </a:prstGeom>
          <a:noFill/>
          <a:ln w="9525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dt" idx="10"/>
          </p:nvPr>
        </p:nvSpPr>
        <p:spPr>
          <a:xfrm>
            <a:off x="274320" y="630767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ftr" idx="11"/>
          </p:nvPr>
        </p:nvSpPr>
        <p:spPr>
          <a:xfrm>
            <a:off x="3489960" y="6307672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ldNum" idx="12"/>
          </p:nvPr>
        </p:nvSpPr>
        <p:spPr>
          <a:xfrm>
            <a:off x="10469880" y="630767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>
            <a:spLocks noGrp="1"/>
          </p:cNvSpPr>
          <p:nvPr>
            <p:ph type="dt" idx="10"/>
          </p:nvPr>
        </p:nvSpPr>
        <p:spPr>
          <a:xfrm>
            <a:off x="274320" y="630767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ftr" idx="11"/>
          </p:nvPr>
        </p:nvSpPr>
        <p:spPr>
          <a:xfrm>
            <a:off x="3489960" y="6307672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10469880" y="630767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245529" y="237744"/>
            <a:ext cx="8531400" cy="638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9020386" y="237744"/>
            <a:ext cx="2926200" cy="63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p11"/>
          <p:cNvSpPr txBox="1">
            <a:spLocks noGrp="1"/>
          </p:cNvSpPr>
          <p:nvPr>
            <p:ph type="title"/>
          </p:nvPr>
        </p:nvSpPr>
        <p:spPr>
          <a:xfrm>
            <a:off x="9296400" y="607392"/>
            <a:ext cx="24309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sz="2800" b="0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1"/>
          </p:nvPr>
        </p:nvSpPr>
        <p:spPr>
          <a:xfrm>
            <a:off x="685800" y="609600"/>
            <a:ext cx="77724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2"/>
          </p:nvPr>
        </p:nvSpPr>
        <p:spPr>
          <a:xfrm>
            <a:off x="9296400" y="2286000"/>
            <a:ext cx="24309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dt" idx="10"/>
          </p:nvPr>
        </p:nvSpPr>
        <p:spPr>
          <a:xfrm>
            <a:off x="274320" y="630767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ftr" idx="11"/>
          </p:nvPr>
        </p:nvSpPr>
        <p:spPr>
          <a:xfrm>
            <a:off x="3489960" y="6307672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10393677" y="622300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1"/>
          <p:cNvSpPr/>
          <p:nvPr/>
        </p:nvSpPr>
        <p:spPr>
          <a:xfrm>
            <a:off x="9157546" y="374904"/>
            <a:ext cx="2651700" cy="6108300"/>
          </a:xfrm>
          <a:prstGeom prst="rect">
            <a:avLst/>
          </a:prstGeom>
          <a:noFill/>
          <a:ln w="9525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 rot="5400000">
            <a:off x="4130100" y="-960180"/>
            <a:ext cx="393180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dt" idx="10"/>
          </p:nvPr>
        </p:nvSpPr>
        <p:spPr>
          <a:xfrm>
            <a:off x="274320" y="630767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ftr" idx="11"/>
          </p:nvPr>
        </p:nvSpPr>
        <p:spPr>
          <a:xfrm>
            <a:off x="3489960" y="6307672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sldNum" idx="12"/>
          </p:nvPr>
        </p:nvSpPr>
        <p:spPr>
          <a:xfrm>
            <a:off x="10469880" y="630767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>
            <a:spLocks noGrp="1"/>
          </p:cNvSpPr>
          <p:nvPr>
            <p:ph type="title"/>
          </p:nvPr>
        </p:nvSpPr>
        <p:spPr>
          <a:xfrm rot="5400000">
            <a:off x="7543800" y="2209800"/>
            <a:ext cx="52578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body" idx="1"/>
          </p:nvPr>
        </p:nvSpPr>
        <p:spPr>
          <a:xfrm rot="5400000">
            <a:off x="2247900" y="-647700"/>
            <a:ext cx="5257800" cy="80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dt" idx="10"/>
          </p:nvPr>
        </p:nvSpPr>
        <p:spPr>
          <a:xfrm>
            <a:off x="274320" y="630767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ftr" idx="11"/>
          </p:nvPr>
        </p:nvSpPr>
        <p:spPr>
          <a:xfrm>
            <a:off x="3489960" y="6307672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ldNum" idx="12"/>
          </p:nvPr>
        </p:nvSpPr>
        <p:spPr>
          <a:xfrm>
            <a:off x="10469880" y="630767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234696" y="237744"/>
            <a:ext cx="11722500" cy="638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i="0" u="none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◦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274320" y="630767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3489960" y="6307672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0469880" y="630767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clin1234/60a028bbc78c5e258bf221ed31072a9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st.github.com/clin1234/ad871297b397c4859f230a3e5367a759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c-api/tuple.html#c.PyTuple_GetIte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threading.html#thread-local-data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en.cppreference.com/w/c/thread/thread_local" TargetMode="External"/><Relationship Id="rId4" Type="http://schemas.openxmlformats.org/officeDocument/2006/relationships/hyperlink" Target="https://docs.python.org/3/c-api/init.html#thread-specific-storage-tss-api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est.org/en/stable/reference/reference.html#pytest.warns" TargetMode="External"/><Relationship Id="rId7" Type="http://schemas.openxmlformats.org/officeDocument/2006/relationships/hyperlink" Target="https://docs.pytest.org/en/stable/reference/reference.html#std-fixture-monkeypatch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pytest.org/en/stable/reference/reference.html#std-fixture-capsys" TargetMode="External"/><Relationship Id="rId5" Type="http://schemas.openxmlformats.org/officeDocument/2006/relationships/hyperlink" Target="https://docs.pytest.org/en/stable/reference/reference.html#std-fixture-tmpdir" TargetMode="External"/><Relationship Id="rId4" Type="http://schemas.openxmlformats.org/officeDocument/2006/relationships/hyperlink" Target="https://docs.pytest.org/en/stable/reference/reference.html#std-fixture-tmp_path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gist.github.com/clin1234/6cdb5150ba3298576ca54fa07c017517" TargetMode="External"/><Relationship Id="rId3" Type="http://schemas.openxmlformats.org/officeDocument/2006/relationships/hyperlink" Target="https://py-free-threading.github.io/" TargetMode="External"/><Relationship Id="rId7" Type="http://schemas.openxmlformats.org/officeDocument/2006/relationships/hyperlink" Target="https://github.com/devdanzin/cext-review-toolki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ocs.python.org/3/howto/free-threading-python.html#freethreading-python-howto" TargetMode="External"/><Relationship Id="rId5" Type="http://schemas.openxmlformats.org/officeDocument/2006/relationships/hyperlink" Target="https://peps.python.org/pep-0703/#overview-of-cpython-changes" TargetMode="External"/><Relationship Id="rId4" Type="http://schemas.openxmlformats.org/officeDocument/2006/relationships/hyperlink" Target="https://docs.python.org/3/howto/free-threading-extensions.html#freethreading-extensions-howto" TargetMode="External"/><Relationship Id="rId9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AA1291-C549-3C5E-E273-395EA122C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23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DBC9"/>
            </a:gs>
            <a:gs pos="77000">
              <a:srgbClr val="C8C1B0"/>
            </a:gs>
            <a:gs pos="100000">
              <a:srgbClr val="C0BAAA"/>
            </a:gs>
          </a:gsLst>
          <a:lin ang="5400012" scaled="0"/>
        </a:gra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1DBC9"/>
              </a:gs>
              <a:gs pos="77000">
                <a:srgbClr val="C8C1B0"/>
              </a:gs>
              <a:gs pos="100000">
                <a:srgbClr val="C0BA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45000"/>
            </a:blip>
            <a:tile tx="-44450" ty="38100" sx="84998" sy="84998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32108" y="610955"/>
            <a:ext cx="10927800" cy="5636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797052" y="777240"/>
            <a:ext cx="10597800" cy="5303400"/>
          </a:xfrm>
          <a:prstGeom prst="rect">
            <a:avLst/>
          </a:prstGeom>
          <a:solidFill>
            <a:schemeClr val="lt1"/>
          </a:solidFill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6" name="Google Shape;116;p14"/>
          <p:cNvSpPr txBox="1">
            <a:spLocks noGrp="1"/>
          </p:cNvSpPr>
          <p:nvPr>
            <p:ph type="ctrTitle"/>
          </p:nvPr>
        </p:nvSpPr>
        <p:spPr>
          <a:xfrm>
            <a:off x="1263520" y="1272800"/>
            <a:ext cx="6544500" cy="43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entury Gothic"/>
              <a:buNone/>
            </a:pPr>
            <a:r>
              <a:rPr lang="en-US" sz="6300" b="1" dirty="0">
                <a:solidFill>
                  <a:schemeClr val="dk1"/>
                </a:solidFill>
              </a:rPr>
              <a:t>TYING UP LOOSE THREADS: MAKING YOUR PROJECT NO-GIL READY</a:t>
            </a:r>
            <a:br>
              <a:rPr lang="en-US" sz="6300" b="1" dirty="0">
                <a:solidFill>
                  <a:schemeClr val="dk1"/>
                </a:solidFill>
              </a:rPr>
            </a:br>
            <a:r>
              <a:rPr lang="en-US" sz="6300" b="1" dirty="0">
                <a:solidFill>
                  <a:schemeClr val="dk1"/>
                </a:solidFill>
              </a:rPr>
              <a:t>(</a:t>
            </a:r>
            <a:r>
              <a:rPr lang="en-US" sz="6300" b="1" dirty="0" err="1">
                <a:solidFill>
                  <a:schemeClr val="dk1"/>
                </a:solidFill>
              </a:rPr>
              <a:t>CppCon</a:t>
            </a:r>
            <a:r>
              <a:rPr lang="en-US" sz="6300" b="1" dirty="0">
                <a:solidFill>
                  <a:schemeClr val="dk1"/>
                </a:solidFill>
              </a:rPr>
              <a:t> Edition)</a:t>
            </a:r>
            <a:endParaRPr sz="6300" dirty="0">
              <a:solidFill>
                <a:schemeClr val="dk1"/>
              </a:solidFill>
            </a:endParaRPr>
          </a:p>
        </p:txBody>
      </p:sp>
      <p:sp>
        <p:nvSpPr>
          <p:cNvPr id="117" name="Google Shape;117;p14"/>
          <p:cNvSpPr txBox="1">
            <a:spLocks noGrp="1"/>
          </p:cNvSpPr>
          <p:nvPr>
            <p:ph type="subTitle" idx="1"/>
          </p:nvPr>
        </p:nvSpPr>
        <p:spPr>
          <a:xfrm>
            <a:off x="8473440" y="1272800"/>
            <a:ext cx="2481300" cy="43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dirty="0"/>
              <a:t>Charlie Lin</a:t>
            </a:r>
            <a:endParaRPr dirty="0"/>
          </a:p>
        </p:txBody>
      </p:sp>
      <p:cxnSp>
        <p:nvCxnSpPr>
          <p:cNvPr id="118" name="Google Shape;118;p14"/>
          <p:cNvCxnSpPr/>
          <p:nvPr/>
        </p:nvCxnSpPr>
        <p:spPr>
          <a:xfrm>
            <a:off x="8129872" y="2057401"/>
            <a:ext cx="0" cy="274320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>
            <a:spLocks noGrp="1"/>
          </p:cNvSpPr>
          <p:nvPr>
            <p:ph type="title"/>
          </p:nvPr>
        </p:nvSpPr>
        <p:spPr>
          <a:xfrm>
            <a:off x="1563623" y="1970202"/>
            <a:ext cx="9070800" cy="188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1"/>
          </p:nvPr>
        </p:nvSpPr>
        <p:spPr>
          <a:xfrm>
            <a:off x="1563624" y="3756582"/>
            <a:ext cx="9070800" cy="174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sz="2000" dirty="0"/>
              <a:t>Sample in C++: </a:t>
            </a:r>
            <a:r>
              <a:rPr lang="en-US" sz="2000" dirty="0">
                <a:hlinkClick r:id="rId3"/>
              </a:rPr>
              <a:t>gist.github.com/clin1234/60a028bbc78c5e258bf221ed31072a95</a:t>
            </a:r>
            <a:endParaRPr lang="en-US" sz="2000" dirty="0"/>
          </a:p>
          <a:p>
            <a:pPr marL="0" lvl="0" indent="0"/>
            <a:r>
              <a:rPr lang="en-US" sz="2000" dirty="0"/>
              <a:t>C version: </a:t>
            </a:r>
            <a:r>
              <a:rPr lang="en-US" sz="2000" dirty="0">
                <a:hlinkClick r:id="rId4"/>
              </a:rPr>
              <a:t>gist.github.com/clin1234/ad871297b397c4859f230a3e5367a759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is the GIL?</a:t>
            </a:r>
            <a:endParaRPr/>
          </a:p>
        </p:txBody>
      </p:sp>
      <p:grpSp>
        <p:nvGrpSpPr>
          <p:cNvPr id="149" name="Google Shape;149;p19"/>
          <p:cNvGrpSpPr/>
          <p:nvPr/>
        </p:nvGrpSpPr>
        <p:grpSpPr>
          <a:xfrm>
            <a:off x="1068027" y="2944402"/>
            <a:ext cx="10055944" cy="2873126"/>
            <a:chOff x="1227" y="739708"/>
            <a:chExt cx="10055944" cy="2873126"/>
          </a:xfrm>
        </p:grpSpPr>
        <p:sp>
          <p:nvSpPr>
            <p:cNvPr id="150" name="Google Shape;150;p19"/>
            <p:cNvSpPr/>
            <p:nvPr/>
          </p:nvSpPr>
          <p:spPr>
            <a:xfrm>
              <a:off x="1227" y="739708"/>
              <a:ext cx="4788544" cy="2873126"/>
            </a:xfrm>
            <a:prstGeom prst="rect">
              <a:avLst/>
            </a:prstGeom>
            <a:gradFill>
              <a:gsLst>
                <a:gs pos="0">
                  <a:srgbClr val="00B9FF"/>
                </a:gs>
                <a:gs pos="100000">
                  <a:srgbClr val="76E2F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9"/>
            <p:cNvSpPr txBox="1"/>
            <p:nvPr/>
          </p:nvSpPr>
          <p:spPr>
            <a:xfrm>
              <a:off x="1227" y="739708"/>
              <a:ext cx="4788544" cy="28731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7625" tIns="167625" rIns="167625" bIns="1676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Only 1 thread can run Python code</a:t>
              </a:r>
              <a:endParaRPr/>
            </a:p>
            <a:p>
              <a:pPr marL="285750" marR="0" lvl="1" indent="-285750" algn="l" rtl="0">
                <a:lnSpc>
                  <a:spcPct val="90000"/>
                </a:lnSpc>
                <a:spcBef>
                  <a:spcPts val="154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Char char="•"/>
              </a:pPr>
              <a:r>
                <a:rPr lang="en-US" sz="3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Concurrent access to objects</a:t>
              </a:r>
              <a:endParaRPr/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5268627" y="739708"/>
              <a:ext cx="4788544" cy="2873126"/>
            </a:xfrm>
            <a:prstGeom prst="rect">
              <a:avLst/>
            </a:prstGeom>
            <a:gradFill>
              <a:gsLst>
                <a:gs pos="0">
                  <a:srgbClr val="00B9FF"/>
                </a:gs>
                <a:gs pos="100000">
                  <a:srgbClr val="76E2F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9"/>
            <p:cNvSpPr txBox="1"/>
            <p:nvPr/>
          </p:nvSpPr>
          <p:spPr>
            <a:xfrm>
              <a:off x="5268627" y="739708"/>
              <a:ext cx="4788544" cy="28731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7625" tIns="167625" rIns="167625" bIns="16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Extensions can manually release GIL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Reasons to Rid the GIL</a:t>
            </a:r>
            <a:endParaRPr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1069465" y="2998918"/>
            <a:ext cx="10053069" cy="2764095"/>
            <a:chOff x="2665" y="794224"/>
            <a:chExt cx="10053069" cy="2764095"/>
          </a:xfrm>
        </p:grpSpPr>
        <p:sp>
          <p:nvSpPr>
            <p:cNvPr id="160" name="Google Shape;160;p20"/>
            <p:cNvSpPr/>
            <p:nvPr/>
          </p:nvSpPr>
          <p:spPr>
            <a:xfrm>
              <a:off x="2665" y="794224"/>
              <a:ext cx="4606825" cy="2764095"/>
            </a:xfrm>
            <a:prstGeom prst="rect">
              <a:avLst/>
            </a:prstGeom>
            <a:solidFill>
              <a:srgbClr val="19ACE4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0"/>
            <p:cNvSpPr txBox="1"/>
            <p:nvPr/>
          </p:nvSpPr>
          <p:spPr>
            <a:xfrm>
              <a:off x="2665" y="794224"/>
              <a:ext cx="4606825" cy="27640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Existing appraches:</a:t>
              </a:r>
              <a:endPara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Char char="•"/>
              </a:pPr>
              <a:r>
                <a:rPr lang="en-US" sz="23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Multiprocessing: overhead of starting interpreter per subprocess, serialization to shared memory required</a:t>
              </a:r>
              <a:endParaRPr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Char char="•"/>
              </a:pPr>
              <a:r>
                <a:rPr lang="en-US" sz="23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Manual release through C-API: not scalable</a:t>
              </a:r>
              <a:endParaRPr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4683688" y="2054772"/>
              <a:ext cx="691023" cy="2430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19ACE4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0"/>
            <p:cNvSpPr/>
            <p:nvPr/>
          </p:nvSpPr>
          <p:spPr>
            <a:xfrm>
              <a:off x="5448909" y="794224"/>
              <a:ext cx="4606825" cy="2764095"/>
            </a:xfrm>
            <a:prstGeom prst="rect">
              <a:avLst/>
            </a:prstGeom>
            <a:solidFill>
              <a:srgbClr val="19ACE4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0"/>
            <p:cNvSpPr txBox="1"/>
            <p:nvPr/>
          </p:nvSpPr>
          <p:spPr>
            <a:xfrm>
              <a:off x="5448909" y="794224"/>
              <a:ext cx="4606825" cy="27640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Difficult to scale for nunber-crunching, cumbersome to workaround (bottleneck with single-digit threads)</a:t>
              </a:r>
              <a:endPara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1563623" y="2094309"/>
            <a:ext cx="9070800" cy="25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/>
              <a:t>Free-threading</a:t>
            </a:r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body" idx="1"/>
          </p:nvPr>
        </p:nvSpPr>
        <p:spPr>
          <a:xfrm>
            <a:off x="1563624" y="4682062"/>
            <a:ext cx="907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Century Gothic"/>
              <a:buNone/>
            </a:pPr>
            <a:r>
              <a:rPr lang="en-US" sz="4400"/>
              <a:t>What is the free-threaded interpreter?</a:t>
            </a:r>
            <a:endParaRPr/>
          </a:p>
        </p:txBody>
      </p:sp>
      <p:grpSp>
        <p:nvGrpSpPr>
          <p:cNvPr id="176" name="Google Shape;176;p22"/>
          <p:cNvGrpSpPr/>
          <p:nvPr/>
        </p:nvGrpSpPr>
        <p:grpSpPr>
          <a:xfrm>
            <a:off x="1066800" y="2204694"/>
            <a:ext cx="10058400" cy="4352544"/>
            <a:chOff x="0" y="0"/>
            <a:chExt cx="10058400" cy="4352544"/>
          </a:xfrm>
        </p:grpSpPr>
        <p:cxnSp>
          <p:nvCxnSpPr>
            <p:cNvPr id="177" name="Google Shape;177;p22"/>
            <p:cNvCxnSpPr/>
            <p:nvPr/>
          </p:nvCxnSpPr>
          <p:spPr>
            <a:xfrm>
              <a:off x="0" y="0"/>
              <a:ext cx="10058399" cy="0"/>
            </a:xfrm>
            <a:prstGeom prst="straightConnector1">
              <a:avLst/>
            </a:prstGeom>
            <a:gradFill>
              <a:gsLst>
                <a:gs pos="0">
                  <a:srgbClr val="0A87DE"/>
                </a:gs>
                <a:gs pos="100000">
                  <a:srgbClr val="86C5FF"/>
                </a:gs>
              </a:gsLst>
              <a:lin ang="16200000" scaled="0"/>
            </a:gradFill>
            <a:ln w="9525" cap="flat" cmpd="sng">
              <a:solidFill>
                <a:srgbClr val="2383C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</p:cxnSp>
        <p:sp>
          <p:nvSpPr>
            <p:cNvPr id="178" name="Google Shape;178;p22"/>
            <p:cNvSpPr/>
            <p:nvPr/>
          </p:nvSpPr>
          <p:spPr>
            <a:xfrm>
              <a:off x="0" y="0"/>
              <a:ext cx="2011680" cy="4352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2"/>
            <p:cNvSpPr txBox="1"/>
            <p:nvPr/>
          </p:nvSpPr>
          <p:spPr>
            <a:xfrm>
              <a:off x="0" y="0"/>
              <a:ext cx="2011680" cy="4352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Many simultaneous threads! PEP 703</a:t>
              </a: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2"/>
            <p:cNvSpPr/>
            <p:nvPr/>
          </p:nvSpPr>
          <p:spPr>
            <a:xfrm>
              <a:off x="2162556" y="51165"/>
              <a:ext cx="7895844" cy="1023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2"/>
            <p:cNvSpPr txBox="1"/>
            <p:nvPr/>
          </p:nvSpPr>
          <p:spPr>
            <a:xfrm>
              <a:off x="2162556" y="51165"/>
              <a:ext cx="7895844" cy="1023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minmalloc: GC objects without linked list &amp; lighter locks for builtin types</a:t>
              </a:r>
              <a:endPara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" name="Google Shape;182;p22"/>
            <p:cNvCxnSpPr/>
            <p:nvPr/>
          </p:nvCxnSpPr>
          <p:spPr>
            <a:xfrm>
              <a:off x="2011680" y="1074481"/>
              <a:ext cx="8046720" cy="0"/>
            </a:xfrm>
            <a:prstGeom prst="straightConnector1">
              <a:avLst/>
            </a:prstGeom>
            <a:noFill/>
            <a:ln w="9525" cap="flat" cmpd="sng">
              <a:solidFill>
                <a:srgbClr val="BBCDE5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</p:cxnSp>
        <p:sp>
          <p:nvSpPr>
            <p:cNvPr id="183" name="Google Shape;183;p22"/>
            <p:cNvSpPr/>
            <p:nvPr/>
          </p:nvSpPr>
          <p:spPr>
            <a:xfrm>
              <a:off x="2162556" y="1125646"/>
              <a:ext cx="7895844" cy="1023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2"/>
            <p:cNvSpPr txBox="1"/>
            <p:nvPr/>
          </p:nvSpPr>
          <p:spPr>
            <a:xfrm>
              <a:off x="2162556" y="1125646"/>
              <a:ext cx="7895844" cy="1023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Refcount changes</a:t>
              </a:r>
              <a:endPara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5" name="Google Shape;185;p22"/>
            <p:cNvCxnSpPr/>
            <p:nvPr/>
          </p:nvCxnSpPr>
          <p:spPr>
            <a:xfrm>
              <a:off x="2011680" y="2148962"/>
              <a:ext cx="8046720" cy="0"/>
            </a:xfrm>
            <a:prstGeom prst="straightConnector1">
              <a:avLst/>
            </a:prstGeom>
            <a:noFill/>
            <a:ln w="9525" cap="flat" cmpd="sng">
              <a:solidFill>
                <a:srgbClr val="BBCDE5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</p:cxnSp>
        <p:sp>
          <p:nvSpPr>
            <p:cNvPr id="186" name="Google Shape;186;p22"/>
            <p:cNvSpPr/>
            <p:nvPr/>
          </p:nvSpPr>
          <p:spPr>
            <a:xfrm>
              <a:off x="2162556" y="2200128"/>
              <a:ext cx="7895844" cy="1023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2"/>
            <p:cNvSpPr txBox="1"/>
            <p:nvPr/>
          </p:nvSpPr>
          <p:spPr>
            <a:xfrm>
              <a:off x="2162556" y="2200128"/>
              <a:ext cx="7895844" cy="1023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Container thread-safety</a:t>
              </a:r>
              <a:endPara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8" name="Google Shape;188;p22"/>
            <p:cNvCxnSpPr/>
            <p:nvPr/>
          </p:nvCxnSpPr>
          <p:spPr>
            <a:xfrm>
              <a:off x="2011680" y="3223443"/>
              <a:ext cx="8046720" cy="0"/>
            </a:xfrm>
            <a:prstGeom prst="straightConnector1">
              <a:avLst/>
            </a:prstGeom>
            <a:noFill/>
            <a:ln w="9525" cap="flat" cmpd="sng">
              <a:solidFill>
                <a:srgbClr val="BBCDE5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</p:cxnSp>
        <p:sp>
          <p:nvSpPr>
            <p:cNvPr id="189" name="Google Shape;189;p22"/>
            <p:cNvSpPr/>
            <p:nvPr/>
          </p:nvSpPr>
          <p:spPr>
            <a:xfrm>
              <a:off x="2162556" y="3274609"/>
              <a:ext cx="7895844" cy="1023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2"/>
            <p:cNvSpPr txBox="1"/>
            <p:nvPr/>
          </p:nvSpPr>
          <p:spPr>
            <a:xfrm>
              <a:off x="2162556" y="3274609"/>
              <a:ext cx="7895844" cy="1023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 API additions</a:t>
              </a:r>
              <a:endParaRPr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1" name="Google Shape;191;p22"/>
            <p:cNvCxnSpPr/>
            <p:nvPr/>
          </p:nvCxnSpPr>
          <p:spPr>
            <a:xfrm>
              <a:off x="2011680" y="4297924"/>
              <a:ext cx="8046720" cy="0"/>
            </a:xfrm>
            <a:prstGeom prst="straightConnector1">
              <a:avLst/>
            </a:prstGeom>
            <a:noFill/>
            <a:ln w="9525" cap="flat" cmpd="sng">
              <a:solidFill>
                <a:srgbClr val="BBCDE5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0C0D5-BBDD-FBF5-5286-2700758C8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F5E54-60E4-560D-934F-4BC626F6D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allocator change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66929-D8D7-D0E9-7DA7-70C5D3FCE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Pymalloc</a:t>
            </a:r>
            <a:r>
              <a:rPr lang="en-US" dirty="0"/>
              <a:t> (regular)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D764E-A7FB-1016-D8F6-A7C4E19244D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err="1"/>
              <a:t>PyObject_Malloc</a:t>
            </a:r>
            <a:r>
              <a:rPr lang="en-US" sz="2400" dirty="0"/>
              <a:t> -&gt; </a:t>
            </a:r>
            <a:r>
              <a:rPr lang="en-US" sz="2400" dirty="0" err="1"/>
              <a:t>pymalloc</a:t>
            </a:r>
            <a:r>
              <a:rPr lang="en-US" sz="2400" dirty="0"/>
              <a:t> -&gt; arenas → pools → size classes → blocks</a:t>
            </a:r>
          </a:p>
          <a:p>
            <a:r>
              <a:rPr lang="en-US" sz="2400" dirty="0"/>
              <a:t>Freeing: last reference disappears -&gt; object deallocated -&gt; memory immediately returned to allocator </a:t>
            </a:r>
            <a:r>
              <a:rPr lang="en-US" sz="2400" dirty="0" err="1"/>
              <a:t>freelist</a:t>
            </a:r>
            <a:endParaRPr lang="en-US" sz="2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FEF1DB-9493-D55A-377E-C145EDA47E2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 err="1"/>
              <a:t>Mimalloc</a:t>
            </a:r>
            <a:r>
              <a:rPr lang="en-US" dirty="0"/>
              <a:t> (no-GIL)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5ABE15-E08F-9B43-1682-F61DF2CF679E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Freeing</a:t>
            </a:r>
          </a:p>
          <a:p>
            <a:pPr lvl="1"/>
            <a:r>
              <a:rPr lang="en-US" sz="1800" dirty="0"/>
              <a:t>Deferred </a:t>
            </a:r>
            <a:r>
              <a:rPr lang="en-US" sz="1800" dirty="0" err="1"/>
              <a:t>reclaimation</a:t>
            </a:r>
            <a:r>
              <a:rPr lang="en-US" sz="1800" dirty="0"/>
              <a:t> (quiescent-state based </a:t>
            </a:r>
            <a:r>
              <a:rPr lang="en-US" sz="1800" dirty="0" err="1"/>
              <a:t>reclaimation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object becomes unreachable -&gt; put it on delayed-free machinery -&gt; wait until relevant threads have passed a quiescent-state barrier -&gt;  return memory</a:t>
            </a:r>
          </a:p>
        </p:txBody>
      </p:sp>
    </p:spTree>
    <p:extLst>
      <p:ext uri="{BB962C8B-B14F-4D97-AF65-F5344CB8AC3E}">
        <p14:creationId xmlns:p14="http://schemas.microsoft.com/office/powerpoint/2010/main" val="2257990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336D-5682-F509-64C7-C0FE0C549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counting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2FA4B-2277-2E8D-8961-AEF2C363D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51B55-8354-1889-B9DA-1B56E681655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800" dirty="0" err="1"/>
              <a:t>ob_refcnt</a:t>
            </a:r>
            <a:r>
              <a:rPr lang="en-US" sz="2800" dirty="0"/>
              <a:t> member</a:t>
            </a:r>
          </a:p>
          <a:p>
            <a:pPr>
              <a:buFont typeface="+mj-lt"/>
              <a:buAutoNum type="arabicPeriod"/>
            </a:pPr>
            <a:r>
              <a:rPr lang="en-US" sz="2800" dirty="0" err="1"/>
              <a:t>Py_IncRef</a:t>
            </a:r>
            <a:r>
              <a:rPr lang="en-US" sz="2800" dirty="0"/>
              <a:t>(),</a:t>
            </a:r>
            <a:r>
              <a:rPr lang="en-US" sz="2800" dirty="0" err="1"/>
              <a:t>Py_DecRef</a:t>
            </a:r>
            <a:r>
              <a:rPr lang="en-US" sz="2800" dirty="0"/>
              <a:t>()</a:t>
            </a:r>
          </a:p>
          <a:p>
            <a:pPr marL="927100" lvl="1" indent="-342900">
              <a:buFont typeface="+mj-lt"/>
              <a:buAutoNum type="arabicPeriod"/>
            </a:pPr>
            <a:r>
              <a:rPr lang="en-US" sz="2800" dirty="0" err="1"/>
              <a:t>Refcnt</a:t>
            </a:r>
            <a:r>
              <a:rPr lang="en-US" sz="2800" dirty="0"/>
              <a:t> == 0: free obj</a:t>
            </a:r>
          </a:p>
          <a:p>
            <a:pPr>
              <a:buFont typeface="+mj-lt"/>
              <a:buAutoNum type="arabicPeriod"/>
            </a:pPr>
            <a:r>
              <a:rPr lang="en-US" sz="2800" dirty="0" err="1"/>
              <a:t>Py_REFCNT</a:t>
            </a:r>
            <a:r>
              <a:rPr lang="en-US" sz="2800" dirty="0"/>
              <a:t>(): return </a:t>
            </a:r>
            <a:r>
              <a:rPr lang="en-US" sz="2800" dirty="0" err="1"/>
              <a:t>ob_refcnt</a:t>
            </a:r>
            <a:endParaRPr lang="en-US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A2A0D-7F09-B0AC-3ACF-1CE5BD1E7EE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/>
              <a:t>Free-threaded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757D69-E9E1-2839-CEFB-5FB0095BD7E5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800" dirty="0" err="1"/>
              <a:t>ob_ref_local</a:t>
            </a:r>
            <a:r>
              <a:rPr lang="en-US" sz="2800" dirty="0"/>
              <a:t>, </a:t>
            </a:r>
            <a:r>
              <a:rPr lang="en-US" sz="2800" dirty="0" err="1"/>
              <a:t>ob_ref_shared</a:t>
            </a:r>
            <a:r>
              <a:rPr lang="en-US" sz="2800" dirty="0"/>
              <a:t> members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Special </a:t>
            </a:r>
            <a:r>
              <a:rPr lang="en-US" sz="2800" dirty="0" err="1"/>
              <a:t>Py_DecRef</a:t>
            </a:r>
            <a:r>
              <a:rPr lang="en-US" sz="2800" dirty="0"/>
              <a:t>()</a:t>
            </a:r>
          </a:p>
          <a:p>
            <a:pPr>
              <a:buFont typeface="+mj-lt"/>
              <a:buAutoNum type="arabicPeriod"/>
            </a:pPr>
            <a:r>
              <a:rPr lang="en-US" sz="2800" dirty="0" err="1"/>
              <a:t>Py_RefCnt</a:t>
            </a:r>
            <a:r>
              <a:rPr lang="en-US" sz="2800" dirty="0"/>
              <a:t>(): sum of two members</a:t>
            </a:r>
          </a:p>
        </p:txBody>
      </p:sp>
    </p:spTree>
    <p:extLst>
      <p:ext uri="{BB962C8B-B14F-4D97-AF65-F5344CB8AC3E}">
        <p14:creationId xmlns:p14="http://schemas.microsoft.com/office/powerpoint/2010/main" val="3132257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 dirty="0"/>
              <a:t>C API – Thread Safety &amp; Critical Sections</a:t>
            </a:r>
            <a:endParaRPr dirty="0"/>
          </a:p>
        </p:txBody>
      </p:sp>
      <p:sp>
        <p:nvSpPr>
          <p:cNvPr id="239" name="Google Shape;239;p28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4755000" cy="444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u="sng" dirty="0">
                <a:solidFill>
                  <a:schemeClr val="hlink"/>
                </a:solidFill>
              </a:rPr>
              <a:t>list, set, </a:t>
            </a:r>
            <a:r>
              <a:rPr lang="en-US" u="sng" dirty="0" err="1">
                <a:solidFill>
                  <a:schemeClr val="hlink"/>
                </a:solidFill>
              </a:rPr>
              <a:t>dict</a:t>
            </a:r>
            <a:r>
              <a:rPr lang="en-US" u="sng" dirty="0">
                <a:solidFill>
                  <a:schemeClr val="hlink"/>
                </a:solidFill>
              </a:rPr>
              <a:t>, </a:t>
            </a:r>
            <a:r>
              <a:rPr lang="en-US" u="sng" dirty="0" err="1">
                <a:solidFill>
                  <a:schemeClr val="hlink"/>
                </a:solidFill>
              </a:rPr>
              <a:t>bytearray</a:t>
            </a:r>
            <a:r>
              <a:rPr lang="en-US" u="sng" dirty="0">
                <a:solidFill>
                  <a:schemeClr val="hlink"/>
                </a:solidFill>
              </a:rPr>
              <a:t>, </a:t>
            </a:r>
            <a:r>
              <a:rPr lang="en-US" u="sng" dirty="0" err="1">
                <a:solidFill>
                  <a:schemeClr val="hlink"/>
                </a:solidFill>
              </a:rPr>
              <a:t>memoryview</a:t>
            </a:r>
            <a:r>
              <a:rPr lang="en-US" u="sng" dirty="0">
                <a:solidFill>
                  <a:schemeClr val="hlink"/>
                </a:solidFill>
              </a:rPr>
              <a:t>: </a:t>
            </a:r>
            <a:r>
              <a:rPr lang="en-US" dirty="0"/>
              <a:t>internal fine-grained per-object lock</a:t>
            </a:r>
          </a:p>
          <a:p>
            <a:pPr marL="91440" indent="0">
              <a:spcBef>
                <a:spcPts val="0"/>
              </a:spcBef>
              <a:buNone/>
            </a:pPr>
            <a:endParaRPr lang="en-US" i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# NOT thread-safe: iteration while modifying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item </a:t>
            </a:r>
            <a:r>
              <a:rPr lang="en-US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objlist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process(item)  </a:t>
            </a: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# another thread may modify </a:t>
            </a:r>
            <a:r>
              <a:rPr lang="en-US" i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objlist</a:t>
            </a:r>
            <a:endParaRPr lang="en-US" i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i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# NOT atomic: read-modify-write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map[key] = map[key] + 1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# NOT atomic: check-then-act (TOCTOU)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num </a:t>
            </a:r>
            <a:r>
              <a:rPr lang="en-US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numset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s.remove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(num)</a:t>
            </a:r>
          </a:p>
          <a:p>
            <a:pPr marL="91440" indent="0">
              <a:spcBef>
                <a:spcPts val="0"/>
              </a:spcBef>
              <a:buNone/>
            </a:pP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40" name="Google Shape;240;p28"/>
          <p:cNvSpPr txBox="1">
            <a:spLocks noGrp="1"/>
          </p:cNvSpPr>
          <p:nvPr>
            <p:ph type="body" idx="2"/>
          </p:nvPr>
        </p:nvSpPr>
        <p:spPr>
          <a:xfrm>
            <a:off x="6370320" y="2103120"/>
            <a:ext cx="4755000" cy="444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77222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en-US" b="0" i="1">
                <a:solidFill>
                  <a:srgbClr val="3D7B7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Critical section: Python thread acquires lock to acquire (implicit) PyMutex</a:t>
            </a:r>
            <a:endParaRPr b="0" i="1">
              <a:solidFill>
                <a:srgbClr val="3D7B7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42900" algn="l" rtl="0">
              <a:lnSpc>
                <a:spcPct val="77222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1">
                <a:solidFill>
                  <a:srgbClr val="3D7B7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read the count, returns new reference to internal count value</a:t>
            </a:r>
            <a:endParaRPr b="0" i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42900" algn="l" rtl="0">
              <a:lnSpc>
                <a:spcPct val="77222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PyObject</a:t>
            </a:r>
            <a:r>
              <a:rPr lang="en-US" b="0" i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b="0" i="0">
                <a:solidFill>
                  <a:srgbClr val="6666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result;</a:t>
            </a:r>
            <a:endParaRPr/>
          </a:p>
          <a:p>
            <a:pPr marL="457200" lvl="0" indent="-342900" algn="l" rtl="0">
              <a:lnSpc>
                <a:spcPct val="77222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Py_BEGIN_CRITICAL_SECTION(obj);</a:t>
            </a:r>
            <a:endParaRPr/>
          </a:p>
          <a:p>
            <a:pPr marL="457200" lvl="0" indent="-342900" algn="l" rtl="0">
              <a:lnSpc>
                <a:spcPct val="77222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</a:t>
            </a:r>
            <a:r>
              <a:rPr lang="en-US" b="0" i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b="0" i="0">
                <a:solidFill>
                  <a:srgbClr val="6666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  <a:r>
              <a:rPr lang="en-US" b="0" i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Py_NewRef(obj</a:t>
            </a:r>
            <a:r>
              <a:rPr lang="en-US" b="0" i="0">
                <a:solidFill>
                  <a:srgbClr val="6666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-&gt;</a:t>
            </a: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count);</a:t>
            </a:r>
            <a:endParaRPr/>
          </a:p>
          <a:p>
            <a:pPr marL="457200" lvl="0" indent="-342900" algn="l" rtl="0">
              <a:lnSpc>
                <a:spcPct val="77222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Py_END_CRITICAL_SECTION();</a:t>
            </a:r>
            <a:endParaRPr/>
          </a:p>
          <a:p>
            <a:pPr marL="457200" lvl="0" indent="-342900" algn="l" rtl="0">
              <a:lnSpc>
                <a:spcPct val="77222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1" i="0">
                <a:solidFill>
                  <a:srgbClr val="008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return</a:t>
            </a:r>
            <a:r>
              <a:rPr lang="en-US" b="0" i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result;</a:t>
            </a:r>
            <a:endParaRPr/>
          </a:p>
          <a:p>
            <a:pPr marL="457200" lvl="0" indent="-342900" algn="l" rtl="0">
              <a:lnSpc>
                <a:spcPct val="77222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endParaRPr b="0" i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42900" algn="l" rtl="0">
              <a:lnSpc>
                <a:spcPct val="77222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1">
                <a:solidFill>
                  <a:srgbClr val="3D7B7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write the count, consumes reference from new_count</a:t>
            </a:r>
            <a:endParaRPr b="0" i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42900" algn="l" rtl="0">
              <a:lnSpc>
                <a:spcPct val="77222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Py_BEGIN_CRITICAL_SECTION(obj);</a:t>
            </a:r>
            <a:endParaRPr/>
          </a:p>
          <a:p>
            <a:pPr marL="457200" lvl="0" indent="-342900" algn="l" rtl="0">
              <a:lnSpc>
                <a:spcPct val="77222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</a:t>
            </a:r>
            <a:r>
              <a:rPr lang="en-US" b="0" i="0">
                <a:solidFill>
                  <a:srgbClr val="6666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-&gt;</a:t>
            </a: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count</a:t>
            </a:r>
            <a:r>
              <a:rPr lang="en-US" b="0" i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b="0" i="0">
                <a:solidFill>
                  <a:srgbClr val="6666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  <a:r>
              <a:rPr lang="en-US" b="0" i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new_count;</a:t>
            </a:r>
            <a:endParaRPr/>
          </a:p>
          <a:p>
            <a:pPr marL="457200" lvl="0" indent="-342900" algn="l" rtl="0">
              <a:lnSpc>
                <a:spcPct val="77222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Py_END_CRITICAL_SECTION();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CAEA29-4EDE-340E-6032-6CDCDFC9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Pybind11’s </a:t>
            </a:r>
            <a:r>
              <a:rPr lang="en-US" dirty="0" err="1"/>
              <a:t>scoped_critical_section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0F82F6-4F40-F6DB-3C7B-B12AF2DFD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#include &lt;pybind11/</a:t>
            </a:r>
            <a:r>
              <a:rPr lang="en-US" dirty="0" err="1"/>
              <a:t>critical_section.h</a:t>
            </a:r>
            <a:r>
              <a:rPr lang="en-US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#include &lt;pybind11/pybind11.h&gt;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namespace </a:t>
            </a:r>
            <a:r>
              <a:rPr lang="en-US" dirty="0" err="1"/>
              <a:t>py</a:t>
            </a:r>
            <a:r>
              <a:rPr lang="en-US" dirty="0"/>
              <a:t> = pybind11;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PYBIND11_MODULE(example, m, </a:t>
            </a:r>
            <a:r>
              <a:rPr lang="en-US" dirty="0" err="1"/>
              <a:t>py</a:t>
            </a:r>
            <a:r>
              <a:rPr lang="en-US" dirty="0"/>
              <a:t>::</a:t>
            </a:r>
            <a:r>
              <a:rPr lang="en-US" dirty="0" err="1"/>
              <a:t>mod_gil_not_used</a:t>
            </a:r>
            <a:r>
              <a:rPr lang="en-US" dirty="0"/>
              <a:t>())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m.def("</a:t>
            </a:r>
            <a:r>
              <a:rPr lang="en-US" dirty="0" err="1"/>
              <a:t>nextnoo</a:t>
            </a:r>
            <a:r>
              <a:rPr lang="en-US" dirty="0"/>
              <a:t>", []()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size_t</a:t>
            </a:r>
            <a:r>
              <a:rPr lang="en-US" dirty="0"/>
              <a:t> old; </a:t>
            </a:r>
            <a:r>
              <a:rPr lang="en-US" dirty="0" err="1"/>
              <a:t>py</a:t>
            </a:r>
            <a:r>
              <a:rPr lang="en-US" dirty="0"/>
              <a:t>::</a:t>
            </a:r>
            <a:r>
              <a:rPr lang="en-US" dirty="0" err="1"/>
              <a:t>dict</a:t>
            </a:r>
            <a:r>
              <a:rPr lang="en-US" dirty="0"/>
              <a:t> g = </a:t>
            </a:r>
            <a:r>
              <a:rPr lang="en-US" dirty="0" err="1"/>
              <a:t>py</a:t>
            </a:r>
            <a:r>
              <a:rPr lang="en-US" dirty="0"/>
              <a:t>::</a:t>
            </a:r>
            <a:r>
              <a:rPr lang="en-US" dirty="0" err="1"/>
              <a:t>globals</a:t>
            </a:r>
            <a:r>
              <a:rPr lang="en-US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py</a:t>
            </a:r>
            <a:r>
              <a:rPr lang="en-US" dirty="0"/>
              <a:t>::</a:t>
            </a:r>
            <a:r>
              <a:rPr lang="en-US" dirty="0" err="1"/>
              <a:t>scoped_critical_section</a:t>
            </a:r>
            <a:r>
              <a:rPr lang="en-US" dirty="0"/>
              <a:t> guard(g);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if (!</a:t>
            </a:r>
            <a:r>
              <a:rPr lang="en-US" dirty="0" err="1"/>
              <a:t>g.contains</a:t>
            </a:r>
            <a:r>
              <a:rPr lang="en-US" dirty="0"/>
              <a:t>(“</a:t>
            </a:r>
            <a:r>
              <a:rPr lang="en-US" dirty="0" err="1"/>
              <a:t>noo</a:t>
            </a:r>
            <a:r>
              <a:rPr lang="en-US" dirty="0"/>
              <a:t>")) g[“</a:t>
            </a:r>
            <a:r>
              <a:rPr lang="en-US" dirty="0" err="1"/>
              <a:t>noo</a:t>
            </a:r>
            <a:r>
              <a:rPr lang="en-US" dirty="0"/>
              <a:t>"]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old = g[“</a:t>
            </a:r>
            <a:r>
              <a:rPr lang="en-US" dirty="0" err="1"/>
              <a:t>noo</a:t>
            </a:r>
            <a:r>
              <a:rPr lang="en-US" dirty="0"/>
              <a:t>"];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g[“</a:t>
            </a:r>
            <a:r>
              <a:rPr lang="en-US" dirty="0" err="1"/>
              <a:t>noo</a:t>
            </a:r>
            <a:r>
              <a:rPr lang="en-US" dirty="0"/>
              <a:t>"] = (old * 3) % 100;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return old;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});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}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732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6ADD1-A469-AD03-7587-5A8EEEB5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API – Borrowed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7B399-BF4A-4B02-59DE-EF78685BF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630" y="2103118"/>
            <a:ext cx="6074228" cy="3749101"/>
          </a:xfrm>
        </p:spPr>
        <p:txBody>
          <a:bodyPr>
            <a:normAutofit/>
          </a:bodyPr>
          <a:lstStyle/>
          <a:p>
            <a:pPr indent="0" algn="l">
              <a:lnSpc>
                <a:spcPts val="1313"/>
              </a:lnSpc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// Returns borrowed instance</a:t>
            </a:r>
          </a:p>
          <a:p>
            <a:pPr indent="0" algn="l">
              <a:lnSpc>
                <a:spcPts val="1313"/>
              </a:lnSpc>
              <a:buNone/>
            </a:pPr>
            <a:r>
              <a:rPr lang="en-US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PyObject</a:t>
            </a: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 *item =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PyList_GetItem</a:t>
            </a: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(list,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idx</a:t>
            </a: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);</a:t>
            </a:r>
          </a:p>
          <a:p>
            <a:pPr indent="0" algn="l">
              <a:lnSpc>
                <a:spcPts val="1313"/>
              </a:lnSpc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// Another thread may modify “item”, even destroy it</a:t>
            </a:r>
            <a:endParaRPr lang="en-US" b="0" i="0" dirty="0">
              <a:solidFill>
                <a:schemeClr val="tx1"/>
              </a:solidFill>
              <a:effectLst/>
              <a:latin typeface="Consolas" panose="020B0609020204030204" pitchFamily="49" charset="0"/>
              <a:cs typeface="Cascadia Mono" panose="020B0609020000020004" pitchFamily="49" charset="0"/>
            </a:endParaRPr>
          </a:p>
          <a:p>
            <a:pPr indent="0">
              <a:lnSpc>
                <a:spcPts val="1313"/>
              </a:lnSpc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// Borrowed -&gt; new strong instance</a:t>
            </a:r>
            <a:endParaRPr lang="en-US" b="0" i="0" dirty="0">
              <a:solidFill>
                <a:schemeClr val="tx1"/>
              </a:solidFill>
              <a:effectLst/>
              <a:latin typeface="Consolas" panose="020B0609020204030204" pitchFamily="49" charset="0"/>
              <a:cs typeface="Cascadia Mono" panose="020B0609020000020004" pitchFamily="49" charset="0"/>
            </a:endParaRPr>
          </a:p>
          <a:p>
            <a:pPr indent="0" algn="l">
              <a:lnSpc>
                <a:spcPts val="1313"/>
              </a:lnSpc>
              <a:buNone/>
            </a:pPr>
            <a:r>
              <a:rPr lang="en-US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Py_INCREF</a:t>
            </a: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(item); </a:t>
            </a:r>
          </a:p>
          <a:p>
            <a:pPr indent="0" algn="l">
              <a:lnSpc>
                <a:spcPts val="1313"/>
              </a:lnSpc>
              <a:buNone/>
            </a:pP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ascadia Mono" panose="020B0609020000020004" pitchFamily="49" charset="0"/>
            </a:endParaRPr>
          </a:p>
          <a:p>
            <a:pPr indent="0" algn="l">
              <a:buNone/>
            </a:pPr>
            <a:r>
              <a:rPr lang="en-US" sz="2400" dirty="0"/>
              <a:t>No GIL: C API functions returning borrowed reference not thread-safe when they reference objects subject to concurrent modification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E72DC-28FE-0108-D005-EBF4F5B3D7D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Not all functions returning borrowed instances are thread-unsafe without GIL:</a:t>
            </a:r>
          </a:p>
          <a:p>
            <a:pPr lvl="1"/>
            <a:r>
              <a:rPr lang="en-US" sz="2400" dirty="0" err="1">
                <a:hlinkClick r:id="rId3" tooltip="PyTuple_GetItem"/>
              </a:rPr>
              <a:t>PyTuple_GetItem</a:t>
            </a:r>
            <a:r>
              <a:rPr lang="en-US" sz="2400" dirty="0">
                <a:hlinkClick r:id="rId3" tooltip="PyTuple_GetItem"/>
              </a:rPr>
              <a:t>()</a:t>
            </a:r>
            <a:r>
              <a:rPr lang="en-US" sz="2400" dirty="0"/>
              <a:t> : immutable</a:t>
            </a:r>
          </a:p>
          <a:p>
            <a:pPr lvl="1"/>
            <a:r>
              <a:rPr lang="en-US" sz="2400" dirty="0"/>
              <a:t>C API Reference Manual: </a:t>
            </a:r>
            <a:r>
              <a:rPr lang="en-US" sz="2400" dirty="0">
                <a:solidFill>
                  <a:schemeClr val="accent5"/>
                </a:solidFill>
              </a:rPr>
              <a:t>thread-safe without GIL</a:t>
            </a:r>
          </a:p>
        </p:txBody>
      </p:sp>
    </p:spTree>
    <p:extLst>
      <p:ext uri="{BB962C8B-B14F-4D97-AF65-F5344CB8AC3E}">
        <p14:creationId xmlns:p14="http://schemas.microsoft.com/office/powerpoint/2010/main" val="3802239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ctrTitle"/>
          </p:nvPr>
        </p:nvSpPr>
        <p:spPr>
          <a:xfrm>
            <a:off x="1561708" y="2091263"/>
            <a:ext cx="90687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/>
              <a:t>Porting tips</a:t>
            </a:r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subTitle" idx="1"/>
          </p:nvPr>
        </p:nvSpPr>
        <p:spPr>
          <a:xfrm>
            <a:off x="1562100" y="4682062"/>
            <a:ext cx="907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C/C++/Rust code…</a:t>
            </a:r>
            <a:endParaRPr/>
          </a:p>
        </p:txBody>
      </p:sp>
      <p:sp>
        <p:nvSpPr>
          <p:cNvPr id="221" name="Google Shape;221;p26"/>
          <p:cNvSpPr txBox="1">
            <a:spLocks noGrp="1"/>
          </p:cNvSpPr>
          <p:nvPr>
            <p:ph type="body" idx="1"/>
          </p:nvPr>
        </p:nvSpPr>
        <p:spPr>
          <a:xfrm>
            <a:off x="1069848" y="2074334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/>
              <a:t>pybind11</a:t>
            </a:r>
            <a:endParaRPr/>
          </a:p>
        </p:txBody>
      </p:sp>
      <p:sp>
        <p:nvSpPr>
          <p:cNvPr id="222" name="Google Shape;222;p26"/>
          <p:cNvSpPr txBox="1">
            <a:spLocks noGrp="1"/>
          </p:cNvSpPr>
          <p:nvPr>
            <p:ph type="body" idx="2"/>
          </p:nvPr>
        </p:nvSpPr>
        <p:spPr>
          <a:xfrm>
            <a:off x="1069848" y="2755898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#include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b="0" i="0">
                <a:solidFill>
                  <a:srgbClr val="2FB170"/>
                </a:solidFill>
                <a:latin typeface="Roboto Mono"/>
                <a:ea typeface="Roboto Mono"/>
                <a:cs typeface="Roboto Mono"/>
                <a:sym typeface="Roboto Mono"/>
              </a:rPr>
              <a:t>&lt;pybind11/pybind11.h&gt;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namespace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b="0" i="0">
                <a:solidFill>
                  <a:srgbClr val="C973D9"/>
                </a:solidFill>
                <a:latin typeface="Roboto Mono"/>
                <a:ea typeface="Roboto Mono"/>
                <a:cs typeface="Roboto Mono"/>
                <a:sym typeface="Roboto Mono"/>
              </a:rPr>
              <a:t>py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 b="0" i="0">
                <a:solidFill>
                  <a:srgbClr val="C973D9"/>
                </a:solidFill>
                <a:latin typeface="Roboto Mono"/>
                <a:ea typeface="Roboto Mono"/>
                <a:cs typeface="Roboto Mono"/>
                <a:sym typeface="Roboto Mono"/>
              </a:rPr>
              <a:t>pybind11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PYBIND11_MODULE(example, m, py::mod_gil_not_used()) {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/>
          </a:p>
        </p:txBody>
      </p:sp>
      <p:sp>
        <p:nvSpPr>
          <p:cNvPr id="223" name="Google Shape;223;p26"/>
          <p:cNvSpPr txBox="1">
            <a:spLocks noGrp="1"/>
          </p:cNvSpPr>
          <p:nvPr>
            <p:ph type="body" idx="3"/>
          </p:nvPr>
        </p:nvSpPr>
        <p:spPr>
          <a:xfrm>
            <a:off x="6373368" y="2074334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/>
              <a:t>PyO3</a:t>
            </a:r>
            <a:endParaRPr/>
          </a:p>
        </p:txBody>
      </p:sp>
      <p:sp>
        <p:nvSpPr>
          <p:cNvPr id="224" name="Google Shape;224;p26"/>
          <p:cNvSpPr txBox="1">
            <a:spLocks noGrp="1"/>
          </p:cNvSpPr>
          <p:nvPr>
            <p:ph type="body" idx="4"/>
          </p:nvPr>
        </p:nvSpPr>
        <p:spPr>
          <a:xfrm>
            <a:off x="6373368" y="2756581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#[pymodule(gil_used = false)]</a:t>
            </a:r>
            <a:endParaRPr>
              <a:solidFill>
                <a:srgbClr val="F0609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fn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b="0" i="0">
                <a:solidFill>
                  <a:srgbClr val="C973D9"/>
                </a:solidFill>
                <a:latin typeface="Roboto Mono"/>
                <a:ea typeface="Roboto Mono"/>
                <a:cs typeface="Roboto Mono"/>
                <a:sym typeface="Roboto Mono"/>
              </a:rPr>
              <a:t>my_module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(py: </a:t>
            </a:r>
            <a:r>
              <a:rPr lang="en-US" b="0" i="0">
                <a:solidFill>
                  <a:srgbClr val="C973D9"/>
                </a:solidFill>
                <a:latin typeface="Roboto Mono"/>
                <a:ea typeface="Roboto Mono"/>
                <a:cs typeface="Roboto Mono"/>
                <a:sym typeface="Roboto Mono"/>
              </a:rPr>
              <a:t>Python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, m: </a:t>
            </a:r>
            <a:r>
              <a:rPr lang="en-US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US" b="0" i="0">
                <a:solidFill>
                  <a:srgbClr val="C973D9"/>
                </a:solidFill>
                <a:latin typeface="Roboto Mono"/>
                <a:ea typeface="Roboto Mono"/>
                <a:cs typeface="Roboto Mono"/>
                <a:sym typeface="Roboto Mono"/>
              </a:rPr>
              <a:t>Bound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&lt;'</a:t>
            </a:r>
            <a:r>
              <a:rPr lang="en-US" b="0" i="0">
                <a:solidFill>
                  <a:srgbClr val="9383E2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, PyModule&gt;) -&gt; </a:t>
            </a:r>
            <a:r>
              <a:rPr lang="en-US" b="0" i="0">
                <a:solidFill>
                  <a:srgbClr val="C973D9"/>
                </a:solidFill>
                <a:latin typeface="Roboto Mono"/>
                <a:ea typeface="Roboto Mono"/>
                <a:cs typeface="Roboto Mono"/>
                <a:sym typeface="Roboto Mono"/>
              </a:rPr>
              <a:t>PyResult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&lt;()&gt; { 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	...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C/C++/Rust code…</a:t>
            </a:r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body" idx="1"/>
          </p:nvPr>
        </p:nvSpPr>
        <p:spPr>
          <a:xfrm>
            <a:off x="1069848" y="2074334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/>
              <a:t>Global to thread-local state</a:t>
            </a:r>
            <a:endParaRPr/>
          </a:p>
        </p:txBody>
      </p:sp>
      <p:sp>
        <p:nvSpPr>
          <p:cNvPr id="231" name="Google Shape;231;p27"/>
          <p:cNvSpPr txBox="1">
            <a:spLocks noGrp="1"/>
          </p:cNvSpPr>
          <p:nvPr>
            <p:ph type="body" idx="2"/>
          </p:nvPr>
        </p:nvSpPr>
        <p:spPr>
          <a:xfrm>
            <a:off x="1069848" y="2755898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en-US" sz="2400" dirty="0"/>
              <a:t>Python and </a:t>
            </a:r>
            <a:r>
              <a:rPr lang="en-US" sz="2400" dirty="0" err="1"/>
              <a:t>Cython</a:t>
            </a:r>
            <a:r>
              <a:rPr lang="en-US" sz="2400" dirty="0"/>
              <a:t>: </a:t>
            </a:r>
            <a:r>
              <a:rPr lang="en-US" sz="2400" u="sng" dirty="0" err="1">
                <a:solidFill>
                  <a:schemeClr val="hlink"/>
                </a:solidFill>
                <a:hlinkClick r:id="rId3"/>
              </a:rPr>
              <a:t>threading.local</a:t>
            </a:r>
            <a:r>
              <a:rPr lang="en-US" sz="2400" dirty="0"/>
              <a:t>. 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en-US" sz="2400" dirty="0"/>
              <a:t>C/C++: </a:t>
            </a:r>
            <a:r>
              <a:rPr lang="en-US" sz="2400" u="sng" dirty="0" err="1">
                <a:solidFill>
                  <a:schemeClr val="hlink"/>
                </a:solidFill>
                <a:hlinkClick r:id="rId4"/>
              </a:rPr>
              <a:t>Py_tss</a:t>
            </a:r>
            <a:r>
              <a:rPr lang="en-US" sz="2400" u="sng" dirty="0">
                <a:solidFill>
                  <a:schemeClr val="hlink"/>
                </a:solidFill>
                <a:hlinkClick r:id="rId4"/>
              </a:rPr>
              <a:t> API</a:t>
            </a:r>
            <a:r>
              <a:rPr lang="en-US" sz="2400" dirty="0"/>
              <a:t>: thread-local Python objects or </a:t>
            </a:r>
            <a:r>
              <a:rPr lang="en-US" sz="2400" u="sng" dirty="0" err="1">
                <a:solidFill>
                  <a:schemeClr val="hlink"/>
                </a:solidFill>
                <a:hlinkClick r:id="rId5"/>
              </a:rPr>
              <a:t>thread_local</a:t>
            </a:r>
            <a:r>
              <a:rPr lang="en-US" sz="2400" dirty="0"/>
              <a:t> for native objects</a:t>
            </a:r>
            <a:endParaRPr dirty="0"/>
          </a:p>
        </p:txBody>
      </p:sp>
      <p:sp>
        <p:nvSpPr>
          <p:cNvPr id="232" name="Google Shape;232;p27"/>
          <p:cNvSpPr txBox="1">
            <a:spLocks noGrp="1"/>
          </p:cNvSpPr>
          <p:nvPr>
            <p:ph type="body" idx="3"/>
          </p:nvPr>
        </p:nvSpPr>
        <p:spPr>
          <a:xfrm>
            <a:off x="6373368" y="1725448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dirty="0"/>
              <a:t>Global cache</a:t>
            </a:r>
            <a:endParaRPr dirty="0"/>
          </a:p>
        </p:txBody>
      </p:sp>
      <p:sp>
        <p:nvSpPr>
          <p:cNvPr id="233" name="Google Shape;233;p27"/>
          <p:cNvSpPr txBox="1">
            <a:spLocks noGrp="1"/>
          </p:cNvSpPr>
          <p:nvPr>
            <p:ph type="body" idx="4"/>
          </p:nvPr>
        </p:nvSpPr>
        <p:spPr>
          <a:xfrm>
            <a:off x="6373367" y="2365648"/>
            <a:ext cx="5526895" cy="449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Char char="◦"/>
            </a:pPr>
            <a:r>
              <a:rPr lang="en-US" dirty="0"/>
              <a:t>Disable if not performance-critical</a:t>
            </a:r>
            <a:endParaRPr dirty="0"/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Char char="◦"/>
            </a:pPr>
            <a:r>
              <a:rPr lang="en-US" dirty="0"/>
              <a:t>Cache in </a:t>
            </a:r>
            <a:r>
              <a:rPr lang="en-US" dirty="0" err="1"/>
              <a:t>PyInit</a:t>
            </a:r>
            <a:r>
              <a:rPr lang="en-US" dirty="0"/>
              <a:t> (single-phase only)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#ifdef </a:t>
            </a:r>
            <a:r>
              <a:rPr lang="en-US" b="0" i="0" dirty="0" err="1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Py_GIL_DISABLED</a:t>
            </a:r>
            <a:endParaRPr dirty="0">
              <a:solidFill>
                <a:srgbClr val="F0609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b="0" i="0" dirty="0" err="1">
                <a:latin typeface="Roboto Mono"/>
                <a:ea typeface="Roboto Mono"/>
                <a:cs typeface="Roboto Mono"/>
                <a:sym typeface="Roboto Mono"/>
              </a:rPr>
              <a:t>PyMutex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b="0" i="0" dirty="0" err="1">
                <a:latin typeface="Roboto Mono"/>
                <a:ea typeface="Roboto Mono"/>
                <a:cs typeface="Roboto Mono"/>
                <a:sym typeface="Roboto Mono"/>
              </a:rPr>
              <a:t>cache_lock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 = {</a:t>
            </a:r>
            <a:r>
              <a:rPr lang="en-US" b="0" i="0" dirty="0">
                <a:solidFill>
                  <a:srgbClr val="E6695B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#define LOCK() </a:t>
            </a:r>
            <a:r>
              <a:rPr lang="en-US" b="0" i="0" dirty="0" err="1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PyMutex_Lock</a:t>
            </a:r>
            <a:r>
              <a:rPr lang="en-US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(&amp;</a:t>
            </a:r>
            <a:r>
              <a:rPr lang="en-US" b="0" i="0" dirty="0" err="1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cache_lock</a:t>
            </a:r>
            <a:r>
              <a:rPr lang="en-US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dirty="0">
              <a:solidFill>
                <a:srgbClr val="F0609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#define UNLOCK() </a:t>
            </a:r>
            <a:r>
              <a:rPr lang="en-US" b="0" i="0" dirty="0" err="1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PyMutex_Unlock</a:t>
            </a:r>
            <a:r>
              <a:rPr lang="en-US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(&amp;</a:t>
            </a:r>
            <a:r>
              <a:rPr lang="en-US" b="0" i="0" dirty="0" err="1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cache_lock</a:t>
            </a:r>
            <a:r>
              <a:rPr lang="en-US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dirty="0">
              <a:solidFill>
                <a:srgbClr val="F0609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#else</a:t>
            </a:r>
            <a:endParaRPr dirty="0">
              <a:solidFill>
                <a:srgbClr val="F0609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#define LOCK()</a:t>
            </a:r>
            <a:endParaRPr dirty="0">
              <a:solidFill>
                <a:srgbClr val="F0609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#define UNLOCK()</a:t>
            </a:r>
            <a:endParaRPr dirty="0">
              <a:solidFill>
                <a:srgbClr val="F0609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#endif</a:t>
            </a:r>
            <a:endParaRPr dirty="0">
              <a:solidFill>
                <a:srgbClr val="F0609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b="0" i="0" dirty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 *cache = </a:t>
            </a:r>
            <a:r>
              <a:rPr lang="en-US" b="0" i="0" dirty="0">
                <a:solidFill>
                  <a:srgbClr val="9383E2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b="0" i="0" dirty="0" err="1">
                <a:latin typeface="Roboto Mono"/>
                <a:ea typeface="Roboto Mono"/>
                <a:cs typeface="Roboto Mono"/>
                <a:sym typeface="Roboto Mono"/>
              </a:rPr>
              <a:t>PyObject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 *</a:t>
            </a:r>
            <a:r>
              <a:rPr lang="en-US" b="0" i="0" dirty="0" err="1">
                <a:latin typeface="Roboto Mono"/>
                <a:ea typeface="Roboto Mono"/>
                <a:cs typeface="Roboto Mono"/>
                <a:sym typeface="Roboto Mono"/>
              </a:rPr>
              <a:t>global_table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 b="0" i="0" dirty="0">
                <a:solidFill>
                  <a:srgbClr val="9383E2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b="0" i="0" dirty="0" err="1">
                <a:solidFill>
                  <a:srgbClr val="C973D9"/>
                </a:solidFill>
                <a:latin typeface="Roboto Mono"/>
                <a:ea typeface="Roboto Mono"/>
                <a:cs typeface="Roboto Mono"/>
                <a:sym typeface="Roboto Mono"/>
              </a:rPr>
              <a:t>initialize_table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b="0" i="0" dirty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) { // called during module initialization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 err="1">
                <a:latin typeface="Roboto Mono"/>
                <a:ea typeface="Roboto Mono"/>
                <a:cs typeface="Roboto Mono"/>
                <a:sym typeface="Roboto Mono"/>
              </a:rPr>
              <a:t>global_table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 b="0" i="0" dirty="0" err="1">
                <a:latin typeface="Roboto Mono"/>
                <a:ea typeface="Roboto Mono"/>
                <a:cs typeface="Roboto Mono"/>
                <a:sym typeface="Roboto Mono"/>
              </a:rPr>
              <a:t>PyDict_New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(); </a:t>
            </a:r>
            <a:r>
              <a:rPr lang="en-US" b="0" i="0" dirty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b="0" i="0" dirty="0" err="1">
                <a:solidFill>
                  <a:srgbClr val="C973D9"/>
                </a:solidFill>
                <a:latin typeface="Roboto Mono"/>
                <a:ea typeface="Roboto Mono"/>
                <a:cs typeface="Roboto Mono"/>
                <a:sym typeface="Roboto Mono"/>
              </a:rPr>
              <a:t>function_accessing_the_cache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b="0" i="0" dirty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) { LOCK(); // use the cache</a:t>
            </a:r>
          </a:p>
          <a:p>
            <a:pPr marL="1143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 b="0" i="0" dirty="0">
                <a:latin typeface="Roboto Mono"/>
                <a:ea typeface="Roboto Mono"/>
                <a:cs typeface="Roboto Mono"/>
                <a:sym typeface="Roboto Mono"/>
              </a:rPr>
              <a:t>UNLOCK(); }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rPr lang="en-US"/>
              <a:t>C/C++/Rust code…</a:t>
            </a:r>
            <a:endParaRPr/>
          </a:p>
        </p:txBody>
      </p:sp>
      <p:sp>
        <p:nvSpPr>
          <p:cNvPr id="212" name="Google Shape;212;p25"/>
          <p:cNvSpPr txBox="1">
            <a:spLocks noGrp="1"/>
          </p:cNvSpPr>
          <p:nvPr>
            <p:ph type="body" idx="1"/>
          </p:nvPr>
        </p:nvSpPr>
        <p:spPr>
          <a:xfrm>
            <a:off x="1069848" y="2074334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/>
              <a:t>setuptools</a:t>
            </a:r>
            <a:endParaRPr/>
          </a:p>
        </p:txBody>
      </p:sp>
      <p:sp>
        <p:nvSpPr>
          <p:cNvPr id="213" name="Google Shape;213;p25"/>
          <p:cNvSpPr txBox="1">
            <a:spLocks noGrp="1"/>
          </p:cNvSpPr>
          <p:nvPr>
            <p:ph type="body" idx="2"/>
          </p:nvPr>
        </p:nvSpPr>
        <p:spPr>
          <a:xfrm>
            <a:off x="1069848" y="2755898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1600" b="0" i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600" b="0" i="0">
                <a:solidFill>
                  <a:srgbClr val="C973D9"/>
                </a:solidFill>
                <a:latin typeface="Roboto Mono"/>
                <a:ea typeface="Roboto Mono"/>
                <a:cs typeface="Roboto Mono"/>
                <a:sym typeface="Roboto Mono"/>
              </a:rPr>
              <a:t>Cython.Compiler.Version</a:t>
            </a:r>
            <a:r>
              <a:rPr lang="en-US" sz="1600" b="0" i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600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1600" b="0" i="0">
                <a:latin typeface="Roboto Mono"/>
                <a:ea typeface="Roboto Mono"/>
                <a:cs typeface="Roboto Mono"/>
                <a:sym typeface="Roboto Mono"/>
              </a:rPr>
              <a:t> version </a:t>
            </a:r>
            <a:r>
              <a:rPr lang="en-US" sz="1600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US" sz="1600" b="0" i="0">
                <a:latin typeface="Roboto Mono"/>
                <a:ea typeface="Roboto Mono"/>
                <a:cs typeface="Roboto Mono"/>
                <a:sym typeface="Roboto Mono"/>
              </a:rPr>
              <a:t> cython_version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1600" b="0" i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600" b="0" i="0">
                <a:solidFill>
                  <a:srgbClr val="C973D9"/>
                </a:solidFill>
                <a:latin typeface="Roboto Mono"/>
                <a:ea typeface="Roboto Mono"/>
                <a:cs typeface="Roboto Mono"/>
                <a:sym typeface="Roboto Mono"/>
              </a:rPr>
              <a:t>packaging.version</a:t>
            </a:r>
            <a:r>
              <a:rPr lang="en-US" sz="1600" b="0" i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600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1600" b="0" i="0">
                <a:latin typeface="Roboto Mono"/>
                <a:ea typeface="Roboto Mono"/>
                <a:cs typeface="Roboto Mono"/>
                <a:sym typeface="Roboto Mono"/>
              </a:rPr>
              <a:t> Version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>
                <a:latin typeface="Roboto Mono"/>
                <a:ea typeface="Roboto Mono"/>
                <a:cs typeface="Roboto Mono"/>
                <a:sym typeface="Roboto Mono"/>
              </a:rPr>
              <a:t>compiler_directives = {}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600" b="0" i="0">
                <a:latin typeface="Roboto Mono"/>
                <a:ea typeface="Roboto Mono"/>
                <a:cs typeface="Roboto Mono"/>
                <a:sym typeface="Roboto Mono"/>
              </a:rPr>
              <a:t> Version(cython_version) &gt;= Version(</a:t>
            </a:r>
            <a:r>
              <a:rPr lang="en-US" sz="1600" b="0" i="0">
                <a:solidFill>
                  <a:srgbClr val="2FB170"/>
                </a:solidFill>
                <a:latin typeface="Roboto Mono"/>
                <a:ea typeface="Roboto Mono"/>
                <a:cs typeface="Roboto Mono"/>
                <a:sym typeface="Roboto Mono"/>
              </a:rPr>
              <a:t>"3.1.0"</a:t>
            </a:r>
            <a:r>
              <a:rPr lang="en-US" sz="1600" b="0" i="0">
                <a:latin typeface="Roboto Mono"/>
                <a:ea typeface="Roboto Mono"/>
                <a:cs typeface="Roboto Mono"/>
                <a:sym typeface="Roboto Mono"/>
              </a:rPr>
              <a:t>): 	compiler_directives[</a:t>
            </a:r>
            <a:r>
              <a:rPr lang="en-US" sz="1600" b="0" i="0">
                <a:solidFill>
                  <a:srgbClr val="2FB170"/>
                </a:solidFill>
                <a:latin typeface="Roboto Mono"/>
                <a:ea typeface="Roboto Mono"/>
                <a:cs typeface="Roboto Mono"/>
                <a:sym typeface="Roboto Mono"/>
              </a:rPr>
              <a:t>"freethreading_compatible"</a:t>
            </a:r>
            <a:r>
              <a:rPr lang="en-US" sz="1600" b="0" i="0">
                <a:latin typeface="Roboto Mono"/>
                <a:ea typeface="Roboto Mono"/>
                <a:cs typeface="Roboto Mono"/>
                <a:sym typeface="Roboto Mono"/>
              </a:rPr>
              <a:t>] = True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>
                <a:latin typeface="Roboto Mono"/>
                <a:ea typeface="Roboto Mono"/>
                <a:cs typeface="Roboto Mono"/>
                <a:sym typeface="Roboto Mono"/>
              </a:rPr>
              <a:t>setup( ext_modules=cythonize( extensions, compiler_directives=compiler_directives, ) )</a:t>
            </a:r>
            <a:endParaRPr sz="160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3"/>
          </p:nvPr>
        </p:nvSpPr>
        <p:spPr>
          <a:xfrm>
            <a:off x="6373368" y="2074334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/>
              <a:t>meson</a:t>
            </a:r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4"/>
          </p:nvPr>
        </p:nvSpPr>
        <p:spPr>
          <a:xfrm>
            <a:off x="6373368" y="2756581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cy = meson.get_compiler(</a:t>
            </a:r>
            <a:r>
              <a:rPr lang="en-US" b="0" i="0">
                <a:solidFill>
                  <a:srgbClr val="2FB170"/>
                </a:solidFill>
                <a:latin typeface="Roboto Mono"/>
                <a:ea typeface="Roboto Mono"/>
                <a:cs typeface="Roboto Mono"/>
                <a:sym typeface="Roboto Mono"/>
              </a:rPr>
              <a:t>'cython’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 cy.version().version_compare(</a:t>
            </a:r>
            <a:r>
              <a:rPr lang="en-US" b="0" i="0">
                <a:solidFill>
                  <a:srgbClr val="2FB170"/>
                </a:solidFill>
                <a:latin typeface="Roboto Mono"/>
                <a:ea typeface="Roboto Mono"/>
                <a:cs typeface="Roboto Mono"/>
                <a:sym typeface="Roboto Mono"/>
              </a:rPr>
              <a:t>'&gt;=3.1.0’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) 	</a:t>
            </a:r>
            <a:r>
              <a:rPr lang="en-US" b="0" i="0">
                <a:solidFill>
                  <a:srgbClr val="9383E2"/>
                </a:solidFill>
                <a:latin typeface="Roboto Mono"/>
                <a:ea typeface="Roboto Mono"/>
                <a:cs typeface="Roboto Mono"/>
                <a:sym typeface="Roboto Mono"/>
              </a:rPr>
              <a:t>add_project_arguments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b="0" i="0">
                <a:solidFill>
                  <a:srgbClr val="2FB170"/>
                </a:solidFill>
                <a:latin typeface="Roboto Mono"/>
                <a:ea typeface="Roboto Mono"/>
                <a:cs typeface="Roboto Mono"/>
                <a:sym typeface="Roboto Mono"/>
              </a:rPr>
              <a:t>'-Xfreethreading_compatible=true'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, language : </a:t>
            </a:r>
            <a:r>
              <a:rPr lang="en-US" b="0" i="0">
                <a:solidFill>
                  <a:srgbClr val="2FB170"/>
                </a:solidFill>
                <a:latin typeface="Roboto Mono"/>
                <a:ea typeface="Roboto Mono"/>
                <a:cs typeface="Roboto Mono"/>
                <a:sym typeface="Roboto Mono"/>
              </a:rPr>
              <a:t>'cython’</a:t>
            </a:r>
            <a:r>
              <a:rPr lang="en-US" b="0" i="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endif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rPr lang="en-US"/>
              <a:t>C/C++/Rust code…</a:t>
            </a:r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body" idx="1"/>
          </p:nvPr>
        </p:nvSpPr>
        <p:spPr>
          <a:xfrm>
            <a:off x="1069848" y="2074334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/>
              <a:t>Multi-phase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body" idx="2"/>
          </p:nvPr>
        </p:nvSpPr>
        <p:spPr>
          <a:xfrm>
            <a:off x="1069848" y="2755898"/>
            <a:ext cx="4755000" cy="398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 dirty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en-US" sz="1600" b="0" i="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600" b="0" i="0" dirty="0" err="1">
                <a:latin typeface="Roboto Mono"/>
                <a:ea typeface="Roboto Mono"/>
                <a:cs typeface="Roboto Mono"/>
                <a:sym typeface="Roboto Mono"/>
              </a:rPr>
              <a:t>PyModuleDef_Slot</a:t>
            </a:r>
            <a:r>
              <a:rPr lang="en-US" sz="1600" b="0" i="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600" b="0" i="0" dirty="0" err="1">
                <a:latin typeface="Roboto Mono"/>
                <a:ea typeface="Roboto Mono"/>
                <a:cs typeface="Roboto Mono"/>
                <a:sym typeface="Roboto Mono"/>
              </a:rPr>
              <a:t>module_slots</a:t>
            </a:r>
            <a:r>
              <a:rPr lang="en-US" sz="1600" b="0" i="0" dirty="0">
                <a:latin typeface="Roboto Mono"/>
                <a:ea typeface="Roboto Mono"/>
                <a:cs typeface="Roboto Mono"/>
                <a:sym typeface="Roboto Mono"/>
              </a:rPr>
              <a:t>[] = { </a:t>
            </a: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 dirty="0">
                <a:latin typeface="Roboto Mono"/>
                <a:ea typeface="Roboto Mono"/>
                <a:cs typeface="Roboto Mono"/>
                <a:sym typeface="Roboto Mono"/>
              </a:rPr>
              <a:t>... </a:t>
            </a: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#ifdef </a:t>
            </a:r>
            <a:r>
              <a:rPr lang="en-US" sz="1600" b="0" i="0" dirty="0" err="1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Py_GIL_DISABLED</a:t>
            </a:r>
            <a:endParaRPr sz="1600" dirty="0">
              <a:solidFill>
                <a:srgbClr val="F0609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 dirty="0"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1600" b="0" i="0" dirty="0" err="1">
                <a:latin typeface="Roboto Mono"/>
                <a:ea typeface="Roboto Mono"/>
                <a:cs typeface="Roboto Mono"/>
                <a:sym typeface="Roboto Mono"/>
              </a:rPr>
              <a:t>Py_mod_gil</a:t>
            </a:r>
            <a:r>
              <a:rPr lang="en-US" sz="1600" b="0" i="0" dirty="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600" b="0" i="0" dirty="0" err="1">
                <a:latin typeface="Roboto Mono"/>
                <a:ea typeface="Roboto Mono"/>
                <a:cs typeface="Roboto Mono"/>
                <a:sym typeface="Roboto Mono"/>
              </a:rPr>
              <a:t>Py_MOD_GIL_NOT_USED</a:t>
            </a:r>
            <a:r>
              <a:rPr lang="en-US" sz="1600" b="0" i="0" dirty="0">
                <a:latin typeface="Roboto Mono"/>
                <a:ea typeface="Roboto Mono"/>
                <a:cs typeface="Roboto Mono"/>
                <a:sym typeface="Roboto Mono"/>
              </a:rPr>
              <a:t>}, </a:t>
            </a: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 dirty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#endif</a:t>
            </a:r>
            <a:endParaRPr sz="1600" dirty="0">
              <a:solidFill>
                <a:srgbClr val="F0609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 dirty="0"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1600" b="0" i="0" dirty="0">
                <a:solidFill>
                  <a:srgbClr val="E6695B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sz="1600" b="0" i="0" dirty="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600" b="0" i="0" dirty="0">
                <a:solidFill>
                  <a:srgbClr val="9383E2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US" sz="1600" b="0" i="0" dirty="0">
                <a:latin typeface="Roboto Mono"/>
                <a:ea typeface="Roboto Mono"/>
                <a:cs typeface="Roboto Mono"/>
                <a:sym typeface="Roboto Mono"/>
              </a:rPr>
              <a:t>},</a:t>
            </a: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 dirty="0"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dirty="0"/>
          </a:p>
          <a:p>
            <a:pPr marL="457200" lvl="0" indent="-342900" algn="l" rtl="0">
              <a:lnSpc>
                <a:spcPct val="86875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1" i="0" dirty="0">
                <a:solidFill>
                  <a:srgbClr val="008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static</a:t>
            </a:r>
            <a:r>
              <a:rPr lang="en-US" sz="1600" b="0" i="0" dirty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1" i="0" dirty="0">
                <a:solidFill>
                  <a:srgbClr val="008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struct</a:t>
            </a:r>
            <a:r>
              <a:rPr lang="en-US" sz="1600" b="0" i="0" dirty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1" i="0" dirty="0" err="1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PyModuleDef</a:t>
            </a:r>
            <a:r>
              <a:rPr lang="en-US" sz="1600" b="0" i="0" dirty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0" i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moduledef</a:t>
            </a:r>
            <a:r>
              <a:rPr lang="en-US" sz="1600" b="0" i="0" dirty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0" i="0" dirty="0">
                <a:solidFill>
                  <a:srgbClr val="6666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  <a:r>
              <a:rPr lang="en-US" sz="1600" b="0" i="0" dirty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0" i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 dirty="0"/>
          </a:p>
          <a:p>
            <a:pPr marL="457200" lvl="0" indent="-342900" algn="l" rtl="0">
              <a:lnSpc>
                <a:spcPct val="86875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 dirty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</a:t>
            </a:r>
            <a:r>
              <a:rPr lang="en-US" sz="1600" b="0" i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PyModuleDef_HEAD_INIT</a:t>
            </a:r>
            <a:r>
              <a:rPr lang="en-US" sz="1600" b="0" i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</a:t>
            </a:r>
            <a:endParaRPr dirty="0"/>
          </a:p>
          <a:p>
            <a:pPr marL="457200" lvl="0" indent="-342900" algn="l" rtl="0">
              <a:lnSpc>
                <a:spcPct val="86875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 dirty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</a:t>
            </a:r>
            <a:r>
              <a:rPr lang="en-US" sz="1600" b="0" i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r>
              <a:rPr lang="en-US" sz="1600" b="0" i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m_slots</a:t>
            </a:r>
            <a:r>
              <a:rPr lang="en-US" sz="1600" b="0" i="0" dirty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0" i="0" dirty="0">
                <a:solidFill>
                  <a:srgbClr val="6666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  <a:r>
              <a:rPr lang="en-US" sz="1600" b="0" i="0" dirty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0" i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module_slots</a:t>
            </a:r>
            <a:r>
              <a:rPr lang="en-US" sz="1600" b="0" i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</a:t>
            </a:r>
            <a:endParaRPr dirty="0"/>
          </a:p>
          <a:p>
            <a:pPr marL="457200" lvl="0" indent="-342900" algn="l" rtl="0">
              <a:lnSpc>
                <a:spcPct val="86875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 dirty="0">
                <a:solidFill>
                  <a:srgbClr val="BBBBB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</a:t>
            </a:r>
            <a:r>
              <a:rPr lang="en-US" sz="1600" b="0" i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...</a:t>
            </a:r>
            <a:endParaRPr dirty="0"/>
          </a:p>
          <a:p>
            <a:pPr marL="457200" lvl="0" indent="-342900" algn="l" rtl="0">
              <a:lnSpc>
                <a:spcPct val="86875"/>
              </a:lnSpc>
              <a:spcBef>
                <a:spcPts val="900"/>
              </a:spcBef>
              <a:spcAft>
                <a:spcPts val="0"/>
              </a:spcAft>
              <a:buSzPct val="121622"/>
              <a:buNone/>
            </a:pPr>
            <a:r>
              <a:rPr lang="en-US" sz="1600" b="0" i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};</a:t>
            </a:r>
            <a:endParaRPr dirty="0"/>
          </a:p>
        </p:txBody>
      </p:sp>
      <p:sp>
        <p:nvSpPr>
          <p:cNvPr id="205" name="Google Shape;205;p24"/>
          <p:cNvSpPr txBox="1">
            <a:spLocks noGrp="1"/>
          </p:cNvSpPr>
          <p:nvPr>
            <p:ph type="body" idx="3"/>
          </p:nvPr>
        </p:nvSpPr>
        <p:spPr>
          <a:xfrm>
            <a:off x="6373368" y="2074334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/>
              <a:t>Single-phase</a:t>
            </a:r>
            <a:endParaRPr/>
          </a:p>
        </p:txBody>
      </p:sp>
      <p:sp>
        <p:nvSpPr>
          <p:cNvPr id="206" name="Google Shape;206;p24"/>
          <p:cNvSpPr txBox="1">
            <a:spLocks noGrp="1"/>
          </p:cNvSpPr>
          <p:nvPr>
            <p:ph type="body" idx="4"/>
          </p:nvPr>
        </p:nvSpPr>
        <p:spPr>
          <a:xfrm>
            <a:off x="6373368" y="2756581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sz="1400" b="0" i="0">
                <a:latin typeface="Roboto Mono"/>
                <a:ea typeface="Roboto Mono"/>
                <a:cs typeface="Roboto Mono"/>
                <a:sym typeface="Roboto Mono"/>
              </a:rPr>
              <a:t>PyMODINIT_FUNC </a:t>
            </a:r>
            <a:r>
              <a:rPr lang="en-US" sz="1400" b="0" i="0">
                <a:solidFill>
                  <a:srgbClr val="C973D9"/>
                </a:solidFill>
                <a:latin typeface="Roboto Mono"/>
                <a:ea typeface="Roboto Mono"/>
                <a:cs typeface="Roboto Mono"/>
                <a:sym typeface="Roboto Mono"/>
              </a:rPr>
              <a:t>PyInit__module</a:t>
            </a:r>
            <a:r>
              <a:rPr lang="en-US" sz="1400" b="0" i="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400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n-US" sz="1400" b="0" i="0">
                <a:latin typeface="Roboto Mono"/>
                <a:ea typeface="Roboto Mono"/>
                <a:cs typeface="Roboto Mono"/>
                <a:sym typeface="Roboto Mono"/>
              </a:rPr>
              <a:t>) { 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sz="1400" b="0" i="0">
                <a:latin typeface="Roboto Mono"/>
                <a:ea typeface="Roboto Mono"/>
                <a:cs typeface="Roboto Mono"/>
                <a:sym typeface="Roboto Mono"/>
              </a:rPr>
              <a:t>PyObject *mod = PyModule_Create(&amp;module);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sz="1400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400" b="0" i="0">
                <a:latin typeface="Roboto Mono"/>
                <a:ea typeface="Roboto Mono"/>
                <a:cs typeface="Roboto Mono"/>
                <a:sym typeface="Roboto Mono"/>
              </a:rPr>
              <a:t> (mod == </a:t>
            </a:r>
            <a:r>
              <a:rPr lang="en-US" sz="1400" b="0" i="0">
                <a:solidFill>
                  <a:srgbClr val="9383E2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US" sz="1400" b="0" i="0">
                <a:latin typeface="Roboto Mono"/>
                <a:ea typeface="Roboto Mono"/>
                <a:cs typeface="Roboto Mono"/>
                <a:sym typeface="Roboto Mono"/>
              </a:rPr>
              <a:t>) { </a:t>
            </a:r>
            <a:r>
              <a:rPr lang="en-US" sz="1400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400" b="0" i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400" b="0" i="0">
                <a:solidFill>
                  <a:srgbClr val="9383E2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US" sz="1400" b="0" i="0"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sz="1400" b="0" i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#ifdef Py_GIL_DISABLED</a:t>
            </a:r>
            <a:r>
              <a:rPr lang="en-US" sz="1400" b="0" i="0">
                <a:latin typeface="Roboto Mono"/>
                <a:ea typeface="Roboto Mono"/>
                <a:cs typeface="Roboto Mono"/>
                <a:sym typeface="Roboto Mono"/>
              </a:rPr>
              <a:t> PyUnstable_Module_SetGIL(mod, Py_MOD_GIL_NOT_USED);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sz="1400" b="0" i="0">
                <a:solidFill>
                  <a:srgbClr val="F06090"/>
                </a:solidFill>
                <a:latin typeface="Roboto Mono"/>
                <a:ea typeface="Roboto Mono"/>
                <a:cs typeface="Roboto Mono"/>
                <a:sym typeface="Roboto Mono"/>
              </a:rPr>
              <a:t>#endif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sz="1400" b="0" i="0">
                <a:solidFill>
                  <a:srgbClr val="6791E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400" b="0" i="0">
                <a:latin typeface="Roboto Mono"/>
                <a:ea typeface="Roboto Mono"/>
                <a:cs typeface="Roboto Mono"/>
                <a:sym typeface="Roboto Mono"/>
              </a:rPr>
              <a:t> mod;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sz="1400" b="0" i="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rPr lang="en-US"/>
              <a:t>CI</a:t>
            </a:r>
            <a:endParaRPr/>
          </a:p>
        </p:txBody>
      </p:sp>
      <p:sp>
        <p:nvSpPr>
          <p:cNvPr id="246" name="Google Shape;246;p29"/>
          <p:cNvSpPr txBox="1">
            <a:spLocks noGrp="1"/>
          </p:cNvSpPr>
          <p:nvPr>
            <p:ph type="body" idx="1"/>
          </p:nvPr>
        </p:nvSpPr>
        <p:spPr>
          <a:xfrm>
            <a:off x="1069848" y="2074334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/>
              <a:t>Setup/actions</a:t>
            </a:r>
            <a:endParaRPr/>
          </a:p>
        </p:txBody>
      </p:sp>
      <p:sp>
        <p:nvSpPr>
          <p:cNvPr id="247" name="Google Shape;247;p29"/>
          <p:cNvSpPr txBox="1">
            <a:spLocks noGrp="1"/>
          </p:cNvSpPr>
          <p:nvPr>
            <p:ph type="body" idx="2"/>
          </p:nvPr>
        </p:nvSpPr>
        <p:spPr>
          <a:xfrm>
            <a:off x="1069848" y="2755898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jobs:</a:t>
            </a:r>
            <a:endParaRPr dirty="0"/>
          </a:p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free-threaded:</a:t>
            </a:r>
            <a:endParaRPr dirty="0"/>
          </a:p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runs-on: ubuntu-latest</a:t>
            </a:r>
            <a:endParaRPr dirty="0"/>
          </a:p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steps:</a:t>
            </a:r>
            <a:endParaRPr dirty="0"/>
          </a:p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- uses: actions/checkout@...</a:t>
            </a:r>
            <a:endParaRPr dirty="0"/>
          </a:p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- uses: actions/setup-python@...</a:t>
            </a:r>
            <a:endParaRPr dirty="0"/>
          </a:p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with:</a:t>
            </a:r>
            <a:endParaRPr dirty="0"/>
          </a:p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  python-version: 3.14t</a:t>
            </a:r>
            <a:endParaRPr dirty="0"/>
          </a:p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  </a:t>
            </a:r>
            <a:r>
              <a:rPr lang="en-US" dirty="0" err="1"/>
              <a:t>freethreading</a:t>
            </a:r>
            <a:r>
              <a:rPr lang="en-US" dirty="0"/>
              <a:t>: true</a:t>
            </a:r>
            <a:endParaRPr dirty="0"/>
          </a:p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48" name="Google Shape;248;p29"/>
          <p:cNvSpPr txBox="1">
            <a:spLocks noGrp="1"/>
          </p:cNvSpPr>
          <p:nvPr>
            <p:ph type="body" idx="3"/>
          </p:nvPr>
        </p:nvSpPr>
        <p:spPr>
          <a:xfrm>
            <a:off x="6373368" y="2074334"/>
            <a:ext cx="475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/>
              <a:t>cibuildwheel</a:t>
            </a:r>
            <a:endParaRPr/>
          </a:p>
        </p:txBody>
      </p:sp>
      <p:sp>
        <p:nvSpPr>
          <p:cNvPr id="249" name="Google Shape;249;p29"/>
          <p:cNvSpPr txBox="1">
            <a:spLocks noGrp="1"/>
          </p:cNvSpPr>
          <p:nvPr>
            <p:ph type="body" idx="4"/>
          </p:nvPr>
        </p:nvSpPr>
        <p:spPr>
          <a:xfrm>
            <a:off x="6373368" y="2756581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- name: Build wheels</a:t>
            </a:r>
            <a:endParaRPr dirty="0"/>
          </a:p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uses: </a:t>
            </a:r>
            <a:r>
              <a:rPr lang="en-US" dirty="0" err="1"/>
              <a:t>pypa</a:t>
            </a:r>
            <a:r>
              <a:rPr lang="en-US" dirty="0"/>
              <a:t>/</a:t>
            </a:r>
            <a:r>
              <a:rPr lang="en-US" dirty="0" err="1"/>
              <a:t>cibuildwheel</a:t>
            </a:r>
            <a:r>
              <a:rPr lang="en-US" dirty="0"/>
              <a:t>@...</a:t>
            </a:r>
            <a:endParaRPr dirty="0"/>
          </a:p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env:</a:t>
            </a:r>
            <a:endParaRPr dirty="0"/>
          </a:p>
          <a:p>
            <a:pPr marL="182880" lvl="0" indent="-685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CIBW_ENABLE: </a:t>
            </a:r>
            <a:r>
              <a:rPr lang="en-US" dirty="0" err="1"/>
              <a:t>cpython-freethreading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rPr lang="en-US"/>
              <a:t>Tests</a:t>
            </a:r>
          </a:p>
        </p:txBody>
      </p:sp>
      <p:sp>
        <p:nvSpPr>
          <p:cNvPr id="255" name="Google Shape;255;p30"/>
          <p:cNvSpPr txBox="1">
            <a:spLocks noGrp="1"/>
          </p:cNvSpPr>
          <p:nvPr>
            <p:ph type="body" idx="4294967295"/>
          </p:nvPr>
        </p:nvSpPr>
        <p:spPr>
          <a:xfrm>
            <a:off x="1066800" y="1580606"/>
            <a:ext cx="10058400" cy="4454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68579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Century Gothic"/>
                <a:ea typeface="Century Gothic"/>
                <a:cs typeface="Century Gothic"/>
                <a:sym typeface="Century Gothic"/>
              </a:rPr>
              <a:t>Force disabling of GIL: -X </a:t>
            </a:r>
            <a:r>
              <a:rPr lang="en-US" dirty="0" err="1">
                <a:latin typeface="Century Gothic"/>
                <a:ea typeface="Century Gothic"/>
                <a:cs typeface="Century Gothic"/>
                <a:sym typeface="Century Gothic"/>
              </a:rPr>
              <a:t>gil</a:t>
            </a:r>
            <a:r>
              <a:rPr lang="en-US" dirty="0">
                <a:latin typeface="Century Gothic"/>
                <a:ea typeface="Century Gothic"/>
                <a:cs typeface="Century Gothic"/>
                <a:sym typeface="Century Gothic"/>
              </a:rPr>
              <a:t>=0 or environment variable PYTHON_GIL=0</a:t>
            </a:r>
          </a:p>
          <a:p>
            <a:pPr marL="182880" lvl="0" indent="-68579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Century Gothic"/>
                <a:ea typeface="Century Gothic"/>
                <a:cs typeface="Century Gothic"/>
                <a:sym typeface="Century Gothic"/>
              </a:rPr>
              <a:t>Unit testing: </a:t>
            </a:r>
            <a:r>
              <a:rPr lang="en-US" dirty="0" err="1">
                <a:latin typeface="Century Gothic"/>
                <a:ea typeface="Century Gothic"/>
                <a:cs typeface="Century Gothic"/>
                <a:sym typeface="Century Gothic"/>
              </a:rPr>
              <a:t>pytest</a:t>
            </a:r>
            <a:r>
              <a:rPr lang="en-US" dirty="0">
                <a:latin typeface="Century Gothic"/>
                <a:ea typeface="Century Gothic"/>
                <a:cs typeface="Century Gothic"/>
                <a:sym typeface="Century Gothic"/>
              </a:rPr>
              <a:t>-run-parallel, </a:t>
            </a:r>
            <a:r>
              <a:rPr lang="en-US" dirty="0" err="1">
                <a:latin typeface="Century Gothic"/>
                <a:ea typeface="Century Gothic"/>
                <a:cs typeface="Century Gothic"/>
                <a:sym typeface="Century Gothic"/>
              </a:rPr>
              <a:t>unittest</a:t>
            </a:r>
            <a:r>
              <a:rPr lang="en-US" dirty="0">
                <a:latin typeface="Century Gothic"/>
                <a:ea typeface="Century Gothic"/>
                <a:cs typeface="Century Gothic"/>
                <a:sym typeface="Century Gothic"/>
              </a:rPr>
              <a:t>-ft</a:t>
            </a:r>
            <a:endParaRPr lang="en-US" dirty="0"/>
          </a:p>
          <a:p>
            <a:pPr marL="457200" lvl="0" indent="-342900" algn="l" rtl="0"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Functionality that is known not to be thread-safe includes:</a:t>
            </a:r>
            <a:endParaRPr lang="en-US" dirty="0"/>
          </a:p>
          <a:p>
            <a:pPr marL="457200" lvl="0" indent="-342900" algn="l" rtl="0">
              <a:spcBef>
                <a:spcPts val="9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0" i="0" u="sng" strike="noStrike" dirty="0" err="1">
                <a:solidFill>
                  <a:srgbClr val="5E8BDE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pytest.warns</a:t>
            </a:r>
            <a:r>
              <a:rPr lang="en-US" b="0" i="0" u="sng" strike="noStrike" dirty="0">
                <a:solidFill>
                  <a:srgbClr val="5E8BDE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on Python 3.13 and older</a:t>
            </a: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, it relies on </a:t>
            </a:r>
            <a:r>
              <a:rPr lang="en-US" b="0" i="0" dirty="0" err="1">
                <a:latin typeface="Century Gothic"/>
                <a:ea typeface="Century Gothic"/>
                <a:cs typeface="Century Gothic"/>
                <a:sym typeface="Century Gothic"/>
              </a:rPr>
              <a:t>warnings.catch_warnings</a:t>
            </a: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, which is not thread-safe until Python 3.14, and even then only on the free-threaded build by default.</a:t>
            </a:r>
            <a:endParaRPr lang="en-US" dirty="0"/>
          </a:p>
          <a:p>
            <a:pPr marL="457200" lvl="0" indent="-342900" algn="l" rtl="0">
              <a:spcBef>
                <a:spcPts val="9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The </a:t>
            </a:r>
            <a:r>
              <a:rPr lang="en-US" b="0" i="0" u="sng" strike="noStrike" dirty="0" err="1">
                <a:solidFill>
                  <a:srgbClr val="5E8BDE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tmp_path</a:t>
            </a: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 and </a:t>
            </a:r>
            <a:r>
              <a:rPr lang="en-US" b="0" i="0" u="sng" strike="noStrike" dirty="0" err="1">
                <a:solidFill>
                  <a:srgbClr val="5E8BDE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tmpdir</a:t>
            </a: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 fixtures, since they rely on the filesystem</a:t>
            </a:r>
            <a:endParaRPr lang="en-US" dirty="0"/>
          </a:p>
          <a:p>
            <a:pPr marL="457200" lvl="0" indent="-342900" algn="l" rtl="0">
              <a:spcBef>
                <a:spcPts val="9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The </a:t>
            </a:r>
            <a:r>
              <a:rPr lang="en-US" b="0" i="0" u="sng" strike="noStrike" dirty="0" err="1">
                <a:solidFill>
                  <a:srgbClr val="5E8BDE"/>
                </a:solidFill>
                <a:latin typeface="Century Gothic"/>
                <a:ea typeface="Century Gothic"/>
                <a:cs typeface="Century Gothic"/>
                <a:sym typeface="Century Gothic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capsys</a:t>
            </a:r>
            <a:r>
              <a:rPr lang="en-US" b="0" i="0" u="sng" strike="noStrike" dirty="0">
                <a:solidFill>
                  <a:srgbClr val="5E8BDE"/>
                </a:solidFill>
                <a:latin typeface="Century Gothic"/>
                <a:ea typeface="Century Gothic"/>
                <a:cs typeface="Century Gothic"/>
                <a:sym typeface="Century Gothic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fixture</a:t>
            </a: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, because of shared use of </a:t>
            </a:r>
            <a:r>
              <a:rPr lang="en-US" b="0" i="0" dirty="0" err="1">
                <a:latin typeface="Century Gothic"/>
                <a:ea typeface="Century Gothic"/>
                <a:cs typeface="Century Gothic"/>
                <a:sym typeface="Century Gothic"/>
              </a:rPr>
              <a:t>sys.stdout</a:t>
            </a: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 and </a:t>
            </a:r>
            <a:r>
              <a:rPr lang="en-US" b="0" i="0" dirty="0" err="1">
                <a:latin typeface="Century Gothic"/>
                <a:ea typeface="Century Gothic"/>
                <a:cs typeface="Century Gothic"/>
                <a:sym typeface="Century Gothic"/>
              </a:rPr>
              <a:t>sys.stderr</a:t>
            </a: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lang="en-US" dirty="0"/>
          </a:p>
          <a:p>
            <a:pPr marL="457200" lvl="0" indent="-342900" algn="l" rtl="0">
              <a:spcBef>
                <a:spcPts val="9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The </a:t>
            </a:r>
            <a:r>
              <a:rPr lang="en-US" b="0" i="0" u="sng" strike="noStrike" dirty="0" err="1">
                <a:solidFill>
                  <a:srgbClr val="5E8BDE"/>
                </a:solidFill>
                <a:latin typeface="Century Gothic"/>
                <a:ea typeface="Century Gothic"/>
                <a:cs typeface="Century Gothic"/>
                <a:sym typeface="Century Gothic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monkeypatch</a:t>
            </a:r>
            <a:r>
              <a:rPr lang="en-US" b="0" i="0" u="sng" strike="noStrike" dirty="0">
                <a:solidFill>
                  <a:srgbClr val="5E8BDE"/>
                </a:solidFill>
                <a:latin typeface="Century Gothic"/>
                <a:ea typeface="Century Gothic"/>
                <a:cs typeface="Century Gothic"/>
                <a:sym typeface="Century Gothic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fixture</a:t>
            </a: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, since </a:t>
            </a:r>
            <a:r>
              <a:rPr lang="en-US" b="0" i="0" dirty="0" err="1">
                <a:latin typeface="Century Gothic"/>
                <a:ea typeface="Century Gothic"/>
                <a:cs typeface="Century Gothic"/>
                <a:sym typeface="Century Gothic"/>
              </a:rPr>
              <a:t>monkeypatching</a:t>
            </a: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 inherently modifies global state in a class or module.</a:t>
            </a:r>
            <a:endParaRPr lang="en-US" dirty="0"/>
          </a:p>
          <a:p>
            <a:pPr marL="457200" lvl="0" indent="-342900" algn="l" rtl="0">
              <a:spcBef>
                <a:spcPts val="9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0" i="0" dirty="0" err="1">
                <a:latin typeface="Century Gothic"/>
                <a:ea typeface="Century Gothic"/>
                <a:cs typeface="Century Gothic"/>
                <a:sym typeface="Century Gothic"/>
              </a:rPr>
              <a:t>TSan</a:t>
            </a:r>
            <a:r>
              <a:rPr lang="en-US" b="0" i="0" dirty="0"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b="0" i="0" dirty="0" err="1">
                <a:latin typeface="Century Gothic"/>
                <a:ea typeface="Century Gothic"/>
                <a:cs typeface="Century Gothic"/>
                <a:sym typeface="Century Gothic"/>
              </a:rPr>
              <a:t>ASan</a:t>
            </a:r>
            <a:endParaRPr lang="en-US" b="0" i="0" dirty="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00051" lvl="0" indent="-171450">
              <a:spcBef>
                <a:spcPts val="0"/>
              </a:spcBef>
              <a:buNone/>
            </a:pPr>
            <a:endParaRPr lang="en-US" dirty="0"/>
          </a:p>
          <a:p>
            <a:pPr marL="114301" lvl="0" indent="0">
              <a:spcBef>
                <a:spcPts val="0"/>
              </a:spcBef>
              <a:buNone/>
            </a:pPr>
            <a:r>
              <a:rPr lang="en-US" dirty="0" err="1"/>
              <a:t>Cpython_sanity</a:t>
            </a:r>
            <a:r>
              <a:rPr lang="en-US" dirty="0"/>
              <a:t>: Docker images of Python interpreters with </a:t>
            </a:r>
            <a:r>
              <a:rPr lang="en-US" dirty="0" err="1"/>
              <a:t>TSan</a:t>
            </a:r>
            <a:r>
              <a:rPr lang="en-US" dirty="0"/>
              <a:t> and </a:t>
            </a:r>
            <a:r>
              <a:rPr lang="en-US" dirty="0" err="1"/>
              <a:t>ASan</a:t>
            </a:r>
            <a:endParaRPr lang="en-US" dirty="0"/>
          </a:p>
          <a:p>
            <a:pPr marL="457200" lvl="0" indent="-342900" algn="l" rtl="0">
              <a:spcBef>
                <a:spcPts val="900"/>
              </a:spcBef>
              <a:spcAft>
                <a:spcPts val="0"/>
              </a:spcAft>
              <a:buSzPts val="1800"/>
              <a:buFont typeface="Arial"/>
              <a:buChar char="•"/>
            </a:pPr>
            <a:endParaRPr lang="en-US" dirty="0"/>
          </a:p>
          <a:p>
            <a:pPr marL="182880" lvl="0" indent="-68579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 dirty="0"/>
              <a:t>Other helpful stuff</a:t>
            </a:r>
            <a:endParaRPr dirty="0"/>
          </a:p>
        </p:txBody>
      </p:sp>
      <p:grpSp>
        <p:nvGrpSpPr>
          <p:cNvPr id="267" name="Google Shape;267;p32"/>
          <p:cNvGrpSpPr/>
          <p:nvPr/>
        </p:nvGrpSpPr>
        <p:grpSpPr>
          <a:xfrm>
            <a:off x="1068027" y="2785183"/>
            <a:ext cx="10055944" cy="3191565"/>
            <a:chOff x="1227" y="580489"/>
            <a:chExt cx="10055944" cy="3191565"/>
          </a:xfrm>
        </p:grpSpPr>
        <p:sp>
          <p:nvSpPr>
            <p:cNvPr id="268" name="Google Shape;268;p32"/>
            <p:cNvSpPr/>
            <p:nvPr/>
          </p:nvSpPr>
          <p:spPr>
            <a:xfrm>
              <a:off x="1227" y="580489"/>
              <a:ext cx="4309690" cy="2736653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00B9FF"/>
                </a:gs>
                <a:gs pos="100000">
                  <a:srgbClr val="76E2F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2"/>
            <p:cNvSpPr/>
            <p:nvPr/>
          </p:nvSpPr>
          <p:spPr>
            <a:xfrm>
              <a:off x="480082" y="1035401"/>
              <a:ext cx="4309690" cy="2736653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196"/>
              </a:schemeClr>
            </a:solidFill>
            <a:ln w="9525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2"/>
            <p:cNvSpPr txBox="1"/>
            <p:nvPr/>
          </p:nvSpPr>
          <p:spPr>
            <a:xfrm>
              <a:off x="560236" y="1115555"/>
              <a:ext cx="4149382" cy="2576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github.com/</a:t>
              </a:r>
              <a:r>
                <a:rPr lang="en-US" sz="22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iskandergaba</a:t>
              </a:r>
              <a:r>
                <a:rPr lang="en-US" sz="2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/free-</a:t>
              </a:r>
              <a:r>
                <a:rPr lang="en-US" sz="22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threading.git</a:t>
              </a:r>
              <a:r>
                <a:rPr lang="en-US" sz="2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wraps threading (no-GIL) and multiprocessing (GIL)</a:t>
              </a:r>
              <a:endParaRPr dirty="0"/>
            </a:p>
          </p:txBody>
        </p:sp>
        <p:sp>
          <p:nvSpPr>
            <p:cNvPr id="271" name="Google Shape;271;p32"/>
            <p:cNvSpPr/>
            <p:nvPr/>
          </p:nvSpPr>
          <p:spPr>
            <a:xfrm>
              <a:off x="5268627" y="580489"/>
              <a:ext cx="4309690" cy="2736653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00B9FF"/>
                </a:gs>
                <a:gs pos="100000">
                  <a:srgbClr val="76E2F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2"/>
            <p:cNvSpPr/>
            <p:nvPr/>
          </p:nvSpPr>
          <p:spPr>
            <a:xfrm>
              <a:off x="5747481" y="1035401"/>
              <a:ext cx="4309690" cy="2736653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196"/>
              </a:schemeClr>
            </a:solidFill>
            <a:ln w="9525" cap="flat" cmpd="sng">
              <a:solidFill>
                <a:srgbClr val="19AC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2"/>
            <p:cNvSpPr txBox="1"/>
            <p:nvPr/>
          </p:nvSpPr>
          <p:spPr>
            <a:xfrm>
              <a:off x="5827635" y="1115555"/>
              <a:ext cx="4149382" cy="2576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ctr" anchorCtr="0">
              <a:noAutofit/>
            </a:bodyPr>
            <a:lstStyle/>
            <a:p>
              <a:pPr lvl="1" algn="ctr">
                <a:lnSpc>
                  <a:spcPct val="90000"/>
                </a:lnSpc>
                <a:buSzPts val="2200"/>
              </a:pPr>
              <a:r>
                <a:rPr lang="en-US" sz="2200" dirty="0"/>
                <a:t>github.com/</a:t>
              </a:r>
              <a:r>
                <a:rPr lang="en-US" sz="2200" dirty="0" err="1"/>
                <a:t>devdanzin</a:t>
              </a:r>
              <a:r>
                <a:rPr lang="en-US" sz="2200" dirty="0"/>
                <a:t>/ft-review-toolkit</a:t>
              </a:r>
              <a:r>
                <a:rPr lang="en-US" sz="2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Claude Code plugin to test </a:t>
              </a:r>
              <a:r>
                <a:rPr lang="en-US" sz="2200" dirty="0"/>
                <a:t>no-GIL for C/C++ extensions:</a:t>
              </a:r>
              <a:r>
                <a:rPr lang="en-US" sz="2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thread-safety bugs, triaging </a:t>
              </a:r>
              <a:r>
                <a:rPr lang="en-US" sz="22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ThreadSanitizer</a:t>
              </a:r>
              <a:r>
                <a:rPr lang="en-US" sz="2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reports.</a:t>
              </a:r>
              <a:endParaRPr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>
            <a:spLocks noGrp="1"/>
          </p:cNvSpPr>
          <p:nvPr>
            <p:ph type="title"/>
          </p:nvPr>
        </p:nvSpPr>
        <p:spPr>
          <a:xfrm>
            <a:off x="9296400" y="603503"/>
            <a:ext cx="2432400" cy="5816151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Century Gothic"/>
              <a:buNone/>
            </a:pPr>
            <a:r>
              <a:rPr lang="en-US" sz="6600" baseline="-25000" dirty="0"/>
              <a:t>Closing remarks</a:t>
            </a:r>
          </a:p>
        </p:txBody>
      </p:sp>
      <p:pic>
        <p:nvPicPr>
          <p:cNvPr id="281" name="Picture 280" descr="Blurry conference table and chairs">
            <a:extLst>
              <a:ext uri="{FF2B5EF4-FFF2-40B4-BE49-F238E27FC236}">
                <a16:creationId xmlns:a16="http://schemas.microsoft.com/office/drawing/2014/main" id="{2EFCFE09-7EAE-F7DC-DAE0-587C13C370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89" r="6585" b="-2"/>
          <a:stretch>
            <a:fillRect/>
          </a:stretch>
        </p:blipFill>
        <p:spPr>
          <a:xfrm>
            <a:off x="228599" y="237744"/>
            <a:ext cx="8531400" cy="638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>
            <a:spLocks noGrp="1"/>
          </p:cNvSpPr>
          <p:nvPr>
            <p:ph type="title"/>
          </p:nvPr>
        </p:nvSpPr>
        <p:spPr>
          <a:xfrm>
            <a:off x="9296400" y="603504"/>
            <a:ext cx="24324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</a:pPr>
            <a:r>
              <a:rPr lang="en-US"/>
              <a:t>Current progress</a:t>
            </a:r>
            <a:endParaRPr/>
          </a:p>
        </p:txBody>
      </p:sp>
      <p:pic>
        <p:nvPicPr>
          <p:cNvPr id="285" name="Google Shape;28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049" y="237744"/>
            <a:ext cx="6382500" cy="638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4"/>
          <p:cNvSpPr txBox="1">
            <a:spLocks noGrp="1"/>
          </p:cNvSpPr>
          <p:nvPr>
            <p:ph type="body" idx="1"/>
          </p:nvPr>
        </p:nvSpPr>
        <p:spPr>
          <a:xfrm>
            <a:off x="9104811" y="2286000"/>
            <a:ext cx="2623989" cy="3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US" sz="2400" dirty="0"/>
              <a:t>61% of most popular wheels in </a:t>
            </a:r>
            <a:r>
              <a:rPr lang="en-US" sz="2400" dirty="0" err="1"/>
              <a:t>PyPI</a:t>
            </a:r>
            <a:r>
              <a:rPr lang="en-US" sz="2400" dirty="0"/>
              <a:t> is free-threaded compatible!</a:t>
            </a:r>
            <a:endParaRPr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51511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Closing remarks</a:t>
            </a:r>
            <a:endParaRPr/>
          </a:p>
        </p:txBody>
      </p:sp>
      <p:sp>
        <p:nvSpPr>
          <p:cNvPr id="292" name="Google Shape;292;p3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4755000" cy="3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/>
              <a:t>Proof: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93" name="Google Shape;293;p35"/>
          <p:cNvSpPr txBox="1">
            <a:spLocks noGrp="1"/>
          </p:cNvSpPr>
          <p:nvPr>
            <p:ph type="body" idx="2"/>
          </p:nvPr>
        </p:nvSpPr>
        <p:spPr>
          <a:xfrm>
            <a:off x="6370320" y="101600"/>
            <a:ext cx="4755000" cy="6424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Bump dependencies!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https://py-free-threading.github.io/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en-US" u="sng" dirty="0">
                <a:solidFill>
                  <a:schemeClr val="hlink"/>
                </a:solidFill>
                <a:hlinkClick r:id="rId4"/>
              </a:rPr>
              <a:t>https://docs.python.org/3/howto/free-threading-extensions.html#freethreading-extensions-howto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en-US" u="sng" dirty="0">
                <a:solidFill>
                  <a:schemeClr val="hlink"/>
                </a:solidFill>
                <a:hlinkClick r:id="rId5"/>
              </a:rPr>
              <a:t>https://peps.python.org/pep-0703/#overview-of-cpython-changes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en-US" u="sng" dirty="0">
                <a:solidFill>
                  <a:schemeClr val="hlink"/>
                </a:solidFill>
                <a:hlinkClick r:id="rId6"/>
              </a:rPr>
              <a:t>https://docs.python.org/3/howto/free-threading-python.html#freethreading-python-howto</a:t>
            </a:r>
            <a:endParaRPr u="sng" dirty="0">
              <a:solidFill>
                <a:schemeClr val="hlink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en-US" u="sng" dirty="0">
                <a:solidFill>
                  <a:schemeClr val="hlink"/>
                </a:solidFill>
                <a:hlinkClick r:id="rId4"/>
              </a:rPr>
              <a:t>C API Extension Support for Free Threading — Python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3.14.4 documentation</a:t>
            </a:r>
            <a:endParaRPr lang="en-US" u="sng" dirty="0">
              <a:solidFill>
                <a:schemeClr val="hlink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dirty="0">
                <a:hlinkClick r:id="rId7"/>
              </a:rPr>
              <a:t>C/C++ extensions reports generated with https://github.com/devdanzin/cext-review-toolkit</a:t>
            </a:r>
            <a:endParaRPr lang="en-US" dirty="0"/>
          </a:p>
          <a:p>
            <a:pPr lvl="0">
              <a:spcBef>
                <a:spcPts val="0"/>
              </a:spcBef>
            </a:pPr>
            <a:r>
              <a:rPr lang="en-US" dirty="0">
                <a:hlinkClick r:id="rId8"/>
              </a:rPr>
              <a:t>Free-thread toolkit reports, generated with https://github.com/devdanzin/ft-review-toolkit</a:t>
            </a:r>
            <a:endParaRPr dirty="0"/>
          </a:p>
        </p:txBody>
      </p:sp>
      <p:pic>
        <p:nvPicPr>
          <p:cNvPr id="294" name="Google Shape;294;p3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11398" y="2581923"/>
            <a:ext cx="3465804" cy="3465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>
            <a:spLocks noGrp="1"/>
          </p:cNvSpPr>
          <p:nvPr>
            <p:ph type="title"/>
          </p:nvPr>
        </p:nvSpPr>
        <p:spPr>
          <a:xfrm>
            <a:off x="9296400" y="603504"/>
            <a:ext cx="2432400" cy="1645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Q &amp; A</a:t>
            </a:r>
            <a:endParaRPr sz="6000"/>
          </a:p>
        </p:txBody>
      </p:sp>
      <p:sp>
        <p:nvSpPr>
          <p:cNvPr id="300" name="Google Shape;300;p36"/>
          <p:cNvSpPr txBox="1">
            <a:spLocks noGrp="1"/>
          </p:cNvSpPr>
          <p:nvPr>
            <p:ph type="body" idx="1"/>
          </p:nvPr>
        </p:nvSpPr>
        <p:spPr>
          <a:xfrm>
            <a:off x="9296400" y="2286000"/>
            <a:ext cx="2432400" cy="3502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800"/>
              <a:t>PLEASE ASK AWAY!</a:t>
            </a:r>
            <a:endParaRPr sz="4800"/>
          </a:p>
        </p:txBody>
      </p:sp>
      <p:pic>
        <p:nvPicPr>
          <p:cNvPr id="301" name="Google Shape;301;p36" title="qr-code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2591" b="12598"/>
          <a:stretch/>
        </p:blipFill>
        <p:spPr>
          <a:xfrm>
            <a:off x="228599" y="237744"/>
            <a:ext cx="8531400" cy="6382500"/>
          </a:xfrm>
          <a:prstGeom prst="rect">
            <a:avLst/>
          </a:prstGeom>
        </p:spPr>
      </p:pic>
      <p:sp>
        <p:nvSpPr>
          <p:cNvPr id="302" name="Google Shape;302;p36"/>
          <p:cNvSpPr txBox="1"/>
          <p:nvPr/>
        </p:nvSpPr>
        <p:spPr>
          <a:xfrm>
            <a:off x="10715625" y="2033225"/>
            <a:ext cx="152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von">
  <a:themeElements>
    <a:clrScheme name="Savon">
      <a:dk1>
        <a:srgbClr val="000000"/>
      </a:dk1>
      <a:lt1>
        <a:srgbClr val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19267</TotalTime>
  <Words>2736</Words>
  <Application>Microsoft Office PowerPoint</Application>
  <PresentationFormat>Widescreen</PresentationFormat>
  <Paragraphs>270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Cascadia Code</vt:lpstr>
      <vt:lpstr>Roboto Mono</vt:lpstr>
      <vt:lpstr>Menlo</vt:lpstr>
      <vt:lpstr>Arial</vt:lpstr>
      <vt:lpstr>Consolas</vt:lpstr>
      <vt:lpstr>Century Gothic</vt:lpstr>
      <vt:lpstr>Garamond</vt:lpstr>
      <vt:lpstr>Savon</vt:lpstr>
      <vt:lpstr>PowerPoint Presentation</vt:lpstr>
      <vt:lpstr>TYING UP LOOSE THREADS: MAKING YOUR PROJECT NO-GIL READY (CppCon Edition)</vt:lpstr>
      <vt:lpstr>Introduction</vt:lpstr>
      <vt:lpstr>What is the GIL?</vt:lpstr>
      <vt:lpstr>Reasons to Rid the GIL</vt:lpstr>
      <vt:lpstr>Free-threading</vt:lpstr>
      <vt:lpstr>What is the free-threaded interpreter?</vt:lpstr>
      <vt:lpstr>Memory allocator change</vt:lpstr>
      <vt:lpstr>Reference counting</vt:lpstr>
      <vt:lpstr>C API – Thread Safety &amp; Critical Sections</vt:lpstr>
      <vt:lpstr>Pybind11’s scoped_critical_section</vt:lpstr>
      <vt:lpstr>C API – Borrowed References</vt:lpstr>
      <vt:lpstr>Porting tips</vt:lpstr>
      <vt:lpstr>C/C++/Rust code…</vt:lpstr>
      <vt:lpstr>C/C++/Rust code…</vt:lpstr>
      <vt:lpstr>C/C++/Rust code…</vt:lpstr>
      <vt:lpstr>C/C++/Rust code…</vt:lpstr>
      <vt:lpstr>CI</vt:lpstr>
      <vt:lpstr>Tests</vt:lpstr>
      <vt:lpstr>Other helpful stuff</vt:lpstr>
      <vt:lpstr>Closing remarks</vt:lpstr>
      <vt:lpstr>Current progress</vt:lpstr>
      <vt:lpstr>Closing remarks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שזדס</cp:lastModifiedBy>
  <cp:revision>33</cp:revision>
  <dcterms:modified xsi:type="dcterms:W3CDTF">2026-09-17T03:49:09Z</dcterms:modified>
</cp:coreProperties>
</file>