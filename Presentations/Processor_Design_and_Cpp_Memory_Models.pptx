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8.xml" ContentType="application/vnd.openxmlformats-officedocument.presentationml.tags+xml"/>
  <Override PartName="/ppt/notesSlides/notesSlide11.xml" ContentType="application/vnd.openxmlformats-officedocument.presentationml.notesSlide+xml"/>
  <Override PartName="/ppt/tags/tag9.xml" ContentType="application/vnd.openxmlformats-officedocument.presentationml.tags+xml"/>
  <Override PartName="/ppt/notesSlides/notesSlide12.xml" ContentType="application/vnd.openxmlformats-officedocument.presentationml.notesSlide+xml"/>
  <Override PartName="/ppt/tags/tag10.xml" ContentType="application/vnd.openxmlformats-officedocument.presentationml.tags+xml"/>
  <Override PartName="/ppt/notesSlides/notesSlide13.xml" ContentType="application/vnd.openxmlformats-officedocument.presentationml.notesSlide+xml"/>
  <Override PartName="/ppt/tags/tag11.xml" ContentType="application/vnd.openxmlformats-officedocument.presentationml.tags+xml"/>
  <Override PartName="/ppt/notesSlides/notesSlide14.xml" ContentType="application/vnd.openxmlformats-officedocument.presentationml.notesSlide+xml"/>
  <Override PartName="/ppt/tags/tag12.xml" ContentType="application/vnd.openxmlformats-officedocument.presentationml.tags+xml"/>
  <Override PartName="/ppt/notesSlides/notesSlide15.xml" ContentType="application/vnd.openxmlformats-officedocument.presentationml.notesSlide+xml"/>
  <Override PartName="/ppt/tags/tag13.xml" ContentType="application/vnd.openxmlformats-officedocument.presentationml.tags+xml"/>
  <Override PartName="/ppt/notesSlides/notesSlide16.xml" ContentType="application/vnd.openxmlformats-officedocument.presentationml.notesSlide+xml"/>
  <Override PartName="/ppt/tags/tag14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15.xml" ContentType="application/vnd.openxmlformats-officedocument.presentationml.tags+xml"/>
  <Override PartName="/ppt/notesSlides/notesSlide19.xml" ContentType="application/vnd.openxmlformats-officedocument.presentationml.notesSlide+xml"/>
  <Override PartName="/ppt/tags/tag16.xml" ContentType="application/vnd.openxmlformats-officedocument.presentationml.tags+xml"/>
  <Override PartName="/ppt/notesSlides/notesSlide20.xml" ContentType="application/vnd.openxmlformats-officedocument.presentationml.notesSlide+xml"/>
  <Override PartName="/ppt/tags/tag17.xml" ContentType="application/vnd.openxmlformats-officedocument.presentationml.tags+xml"/>
  <Override PartName="/ppt/notesSlides/notesSlide21.xml" ContentType="application/vnd.openxmlformats-officedocument.presentationml.notesSlide+xml"/>
  <Override PartName="/ppt/tags/tag18.xml" ContentType="application/vnd.openxmlformats-officedocument.presentationml.tags+xml"/>
  <Override PartName="/ppt/notesSlides/notesSlide22.xml" ContentType="application/vnd.openxmlformats-officedocument.presentationml.notesSlide+xml"/>
  <Override PartName="/ppt/tags/tag19.xml" ContentType="application/vnd.openxmlformats-officedocument.presentationml.tags+xml"/>
  <Override PartName="/ppt/notesSlides/notesSlide23.xml" ContentType="application/vnd.openxmlformats-officedocument.presentationml.notesSlide+xml"/>
  <Override PartName="/ppt/tags/tag20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21.xml" ContentType="application/vnd.openxmlformats-officedocument.presentationml.tags+xml"/>
  <Override PartName="/ppt/notesSlides/notesSlide27.xml" ContentType="application/vnd.openxmlformats-officedocument.presentationml.notesSlide+xml"/>
  <Override PartName="/ppt/tags/tag22.xml" ContentType="application/vnd.openxmlformats-officedocument.presentationml.tags+xml"/>
  <Override PartName="/ppt/notesSlides/notesSlide28.xml" ContentType="application/vnd.openxmlformats-officedocument.presentationml.notesSlide+xml"/>
  <Override PartName="/ppt/tags/tag23.xml" ContentType="application/vnd.openxmlformats-officedocument.presentationml.tags+xml"/>
  <Override PartName="/ppt/notesSlides/notesSlide29.xml" ContentType="application/vnd.openxmlformats-officedocument.presentationml.notesSlide+xml"/>
  <Override PartName="/ppt/tags/tag24.xml" ContentType="application/vnd.openxmlformats-officedocument.presentationml.tags+xml"/>
  <Override PartName="/ppt/notesSlides/notesSlide30.xml" ContentType="application/vnd.openxmlformats-officedocument.presentationml.notesSlide+xml"/>
  <Override PartName="/ppt/tags/tag25.xml" ContentType="application/vnd.openxmlformats-officedocument.presentationml.tags+xml"/>
  <Override PartName="/ppt/notesSlides/notesSlide31.xml" ContentType="application/vnd.openxmlformats-officedocument.presentationml.notesSlide+xml"/>
  <Override PartName="/ppt/tags/tag26.xml" ContentType="application/vnd.openxmlformats-officedocument.presentationml.tags+xml"/>
  <Override PartName="/ppt/notesSlides/notesSlide32.xml" ContentType="application/vnd.openxmlformats-officedocument.presentationml.notesSlide+xml"/>
  <Override PartName="/ppt/tags/tag27.xml" ContentType="application/vnd.openxmlformats-officedocument.presentationml.tags+xml"/>
  <Override PartName="/ppt/notesSlides/notesSlide33.xml" ContentType="application/vnd.openxmlformats-officedocument.presentationml.notesSlide+xml"/>
  <Override PartName="/ppt/tags/tag28.xml" ContentType="application/vnd.openxmlformats-officedocument.presentationml.tags+xml"/>
  <Override PartName="/ppt/notesSlides/notesSlide34.xml" ContentType="application/vnd.openxmlformats-officedocument.presentationml.notesSlide+xml"/>
  <Override PartName="/ppt/tags/tag29.xml" ContentType="application/vnd.openxmlformats-officedocument.presentationml.tags+xml"/>
  <Override PartName="/ppt/notesSlides/notesSlide35.xml" ContentType="application/vnd.openxmlformats-officedocument.presentationml.notesSlide+xml"/>
  <Override PartName="/ppt/tags/tag30.xml" ContentType="application/vnd.openxmlformats-officedocument.presentationml.tags+xml"/>
  <Override PartName="/ppt/notesSlides/notesSlide36.xml" ContentType="application/vnd.openxmlformats-officedocument.presentationml.notesSlide+xml"/>
  <Override PartName="/ppt/tags/tag31.xml" ContentType="application/vnd.openxmlformats-officedocument.presentationml.tags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tags/tag32.xml" ContentType="application/vnd.openxmlformats-officedocument.presentationml.tags+xml"/>
  <Override PartName="/ppt/notesSlides/notesSlide39.xml" ContentType="application/vnd.openxmlformats-officedocument.presentationml.notesSlide+xml"/>
  <Override PartName="/ppt/tags/tag33.xml" ContentType="application/vnd.openxmlformats-officedocument.presentationml.tags+xml"/>
  <Override PartName="/ppt/notesSlides/notesSlide40.xml" ContentType="application/vnd.openxmlformats-officedocument.presentationml.notesSlide+xml"/>
  <Override PartName="/ppt/tags/tag34.xml" ContentType="application/vnd.openxmlformats-officedocument.presentationml.tags+xml"/>
  <Override PartName="/ppt/notesSlides/notesSlide41.xml" ContentType="application/vnd.openxmlformats-officedocument.presentationml.notesSlide+xml"/>
  <Override PartName="/ppt/tags/tag35.xml" ContentType="application/vnd.openxmlformats-officedocument.presentationml.tags+xml"/>
  <Override PartName="/ppt/notesSlides/notesSlide42.xml" ContentType="application/vnd.openxmlformats-officedocument.presentationml.notesSlide+xml"/>
  <Override PartName="/ppt/tags/tag36.xml" ContentType="application/vnd.openxmlformats-officedocument.presentationml.tags+xml"/>
  <Override PartName="/ppt/notesSlides/notesSlide43.xml" ContentType="application/vnd.openxmlformats-officedocument.presentationml.notesSlide+xml"/>
  <Override PartName="/ppt/tags/tag37.xml" ContentType="application/vnd.openxmlformats-officedocument.presentationml.tags+xml"/>
  <Override PartName="/ppt/notesSlides/notesSlide44.xml" ContentType="application/vnd.openxmlformats-officedocument.presentationml.notesSlide+xml"/>
  <Override PartName="/ppt/tags/tag38.xml" ContentType="application/vnd.openxmlformats-officedocument.presentationml.tags+xml"/>
  <Override PartName="/ppt/notesSlides/notesSlide45.xml" ContentType="application/vnd.openxmlformats-officedocument.presentationml.notesSlide+xml"/>
  <Override PartName="/ppt/tags/tag39.xml" ContentType="application/vnd.openxmlformats-officedocument.presentationml.tags+xml"/>
  <Override PartName="/ppt/notesSlides/notesSlide46.xml" ContentType="application/vnd.openxmlformats-officedocument.presentationml.notesSlide+xml"/>
  <Override PartName="/ppt/tags/tag40.xml" ContentType="application/vnd.openxmlformats-officedocument.presentationml.tags+xml"/>
  <Override PartName="/ppt/notesSlides/notesSlide47.xml" ContentType="application/vnd.openxmlformats-officedocument.presentationml.notesSlide+xml"/>
  <Override PartName="/ppt/tags/tag41.xml" ContentType="application/vnd.openxmlformats-officedocument.presentationml.tags+xml"/>
  <Override PartName="/ppt/notesSlides/notesSlide48.xml" ContentType="application/vnd.openxmlformats-officedocument.presentationml.notesSlide+xml"/>
  <Override PartName="/ppt/tags/tag42.xml" ContentType="application/vnd.openxmlformats-officedocument.presentationml.tags+xml"/>
  <Override PartName="/ppt/notesSlides/notesSlide49.xml" ContentType="application/vnd.openxmlformats-officedocument.presentationml.notesSlide+xml"/>
  <Override PartName="/ppt/tags/tag43.xml" ContentType="application/vnd.openxmlformats-officedocument.presentationml.tags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tags/tag44.xml" ContentType="application/vnd.openxmlformats-officedocument.presentationml.tags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tags/tag45.xml" ContentType="application/vnd.openxmlformats-officedocument.presentationml.tags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tags/tag46.xml" ContentType="application/vnd.openxmlformats-officedocument.presentationml.tags+xml"/>
  <Override PartName="/ppt/notesSlides/notesSlide57.xml" ContentType="application/vnd.openxmlformats-officedocument.presentationml.notesSlide+xml"/>
  <Override PartName="/ppt/tags/tag47.xml" ContentType="application/vnd.openxmlformats-officedocument.presentationml.tags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tags/tag48.xml" ContentType="application/vnd.openxmlformats-officedocument.presentationml.tags+xml"/>
  <Override PartName="/ppt/notesSlides/notesSlide64.xml" ContentType="application/vnd.openxmlformats-officedocument.presentationml.notesSlide+xml"/>
  <Override PartName="/ppt/tags/tag49.xml" ContentType="application/vnd.openxmlformats-officedocument.presentationml.tags+xml"/>
  <Override PartName="/ppt/notesSlides/notesSlide65.xml" ContentType="application/vnd.openxmlformats-officedocument.presentationml.notesSlide+xml"/>
  <Override PartName="/ppt/tags/tag50.xml" ContentType="application/vnd.openxmlformats-officedocument.presentationml.tags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tags/tag51.xml" ContentType="application/vnd.openxmlformats-officedocument.presentationml.tags+xml"/>
  <Override PartName="/ppt/notesSlides/notesSlide74.xml" ContentType="application/vnd.openxmlformats-officedocument.presentationml.notesSlide+xml"/>
  <Override PartName="/ppt/tags/tag52.xml" ContentType="application/vnd.openxmlformats-officedocument.presentationml.tags+xml"/>
  <Override PartName="/ppt/notesSlides/notesSlide75.xml" ContentType="application/vnd.openxmlformats-officedocument.presentationml.notesSlide+xml"/>
  <Override PartName="/ppt/tags/tag53.xml" ContentType="application/vnd.openxmlformats-officedocument.presentationml.tags+xml"/>
  <Override PartName="/ppt/notesSlides/notesSlide76.xml" ContentType="application/vnd.openxmlformats-officedocument.presentationml.notesSlide+xml"/>
  <Override PartName="/ppt/tags/tag54.xml" ContentType="application/vnd.openxmlformats-officedocument.presentationml.tags+xml"/>
  <Override PartName="/ppt/notesSlides/notesSlide77.xml" ContentType="application/vnd.openxmlformats-officedocument.presentationml.notesSlide+xml"/>
  <Override PartName="/ppt/tags/tag55.xml" ContentType="application/vnd.openxmlformats-officedocument.presentationml.tags+xml"/>
  <Override PartName="/ppt/notesSlides/notesSlide78.xml" ContentType="application/vnd.openxmlformats-officedocument.presentationml.notesSlide+xml"/>
  <Override PartName="/ppt/tags/tag56.xml" ContentType="application/vnd.openxmlformats-officedocument.presentationml.tags+xml"/>
  <Override PartName="/ppt/notesSlides/notesSlide79.xml" ContentType="application/vnd.openxmlformats-officedocument.presentationml.notesSlide+xml"/>
  <Override PartName="/ppt/tags/tag57.xml" ContentType="application/vnd.openxmlformats-officedocument.presentationml.tags+xml"/>
  <Override PartName="/ppt/notesSlides/notesSlide80.xml" ContentType="application/vnd.openxmlformats-officedocument.presentationml.notesSlide+xml"/>
  <Override PartName="/ppt/tags/tag58.xml" ContentType="application/vnd.openxmlformats-officedocument.presentationml.tags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4"/>
  </p:notesMasterIdLst>
  <p:handoutMasterIdLst>
    <p:handoutMasterId r:id="rId85"/>
  </p:handoutMasterIdLst>
  <p:sldIdLst>
    <p:sldId id="256" r:id="rId2"/>
    <p:sldId id="347" r:id="rId3"/>
    <p:sldId id="381" r:id="rId4"/>
    <p:sldId id="392" r:id="rId5"/>
    <p:sldId id="408" r:id="rId6"/>
    <p:sldId id="393" r:id="rId7"/>
    <p:sldId id="394" r:id="rId8"/>
    <p:sldId id="385" r:id="rId9"/>
    <p:sldId id="401" r:id="rId10"/>
    <p:sldId id="261" r:id="rId11"/>
    <p:sldId id="294" r:id="rId12"/>
    <p:sldId id="348" r:id="rId13"/>
    <p:sldId id="349" r:id="rId14"/>
    <p:sldId id="301" r:id="rId15"/>
    <p:sldId id="302" r:id="rId16"/>
    <p:sldId id="386" r:id="rId17"/>
    <p:sldId id="306" r:id="rId18"/>
    <p:sldId id="350" r:id="rId19"/>
    <p:sldId id="352" r:id="rId20"/>
    <p:sldId id="281" r:id="rId21"/>
    <p:sldId id="291" r:id="rId22"/>
    <p:sldId id="421" r:id="rId23"/>
    <p:sldId id="422" r:id="rId24"/>
    <p:sldId id="423" r:id="rId25"/>
    <p:sldId id="416" r:id="rId26"/>
    <p:sldId id="425" r:id="rId27"/>
    <p:sldId id="263" r:id="rId28"/>
    <p:sldId id="307" r:id="rId29"/>
    <p:sldId id="309" r:id="rId30"/>
    <p:sldId id="357" r:id="rId31"/>
    <p:sldId id="378" r:id="rId32"/>
    <p:sldId id="426" r:id="rId33"/>
    <p:sldId id="376" r:id="rId34"/>
    <p:sldId id="320" r:id="rId35"/>
    <p:sldId id="395" r:id="rId36"/>
    <p:sldId id="321" r:id="rId37"/>
    <p:sldId id="410" r:id="rId38"/>
    <p:sldId id="402" r:id="rId39"/>
    <p:sldId id="288" r:id="rId40"/>
    <p:sldId id="314" r:id="rId41"/>
    <p:sldId id="326" r:id="rId42"/>
    <p:sldId id="327" r:id="rId43"/>
    <p:sldId id="328" r:id="rId44"/>
    <p:sldId id="330" r:id="rId45"/>
    <p:sldId id="329" r:id="rId46"/>
    <p:sldId id="333" r:id="rId47"/>
    <p:sldId id="332" r:id="rId48"/>
    <p:sldId id="335" r:id="rId49"/>
    <p:sldId id="268" r:id="rId50"/>
    <p:sldId id="339" r:id="rId51"/>
    <p:sldId id="340" r:id="rId52"/>
    <p:sldId id="343" r:id="rId53"/>
    <p:sldId id="354" r:id="rId54"/>
    <p:sldId id="397" r:id="rId55"/>
    <p:sldId id="400" r:id="rId56"/>
    <p:sldId id="403" r:id="rId57"/>
    <p:sldId id="404" r:id="rId58"/>
    <p:sldId id="405" r:id="rId59"/>
    <p:sldId id="406" r:id="rId60"/>
    <p:sldId id="427" r:id="rId61"/>
    <p:sldId id="431" r:id="rId62"/>
    <p:sldId id="430" r:id="rId63"/>
    <p:sldId id="434" r:id="rId64"/>
    <p:sldId id="407" r:id="rId65"/>
    <p:sldId id="435" r:id="rId66"/>
    <p:sldId id="342" r:id="rId67"/>
    <p:sldId id="331" r:id="rId68"/>
    <p:sldId id="337" r:id="rId69"/>
    <p:sldId id="322" r:id="rId70"/>
    <p:sldId id="319" r:id="rId71"/>
    <p:sldId id="317" r:id="rId72"/>
    <p:sldId id="315" r:id="rId73"/>
    <p:sldId id="324" r:id="rId74"/>
    <p:sldId id="374" r:id="rId75"/>
    <p:sldId id="375" r:id="rId76"/>
    <p:sldId id="360" r:id="rId77"/>
    <p:sldId id="388" r:id="rId78"/>
    <p:sldId id="389" r:id="rId79"/>
    <p:sldId id="390" r:id="rId80"/>
    <p:sldId id="391" r:id="rId81"/>
    <p:sldId id="365" r:id="rId82"/>
    <p:sldId id="372" r:id="rId8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65" autoAdjust="0"/>
    <p:restoredTop sz="77251" autoAdjust="0"/>
  </p:normalViewPr>
  <p:slideViewPr>
    <p:cSldViewPr snapToGrid="0">
      <p:cViewPr>
        <p:scale>
          <a:sx n="60" d="100"/>
          <a:sy n="60" d="100"/>
        </p:scale>
        <p:origin x="96" y="-6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58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43405-A5D0-FA75-B2C8-F1EFDF34FA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0DB34-D4E4-A3D5-F869-C6918AD1D4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C6C396-B390-4C6E-88D2-02300533AD64}" type="datetimeFigureOut">
              <a:rPr lang="LID4096" smtClean="0"/>
              <a:t>09/12/2026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1FC939-11B0-B129-6EB4-1116EFFFCA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BF1F37-8299-A740-3069-938C1E7C18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5D2012-0442-4BC3-B1BA-322DFCA68C6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4923573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B0352F-ED6F-4AD4-AA95-EFE2105AA50B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E31CD3-26C0-4DF2-A8AC-23D8E4B3D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200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714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92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700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823C1-026C-92E6-F9BD-189C07BDF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A5604B-8471-1A28-33F9-1B5289B6DF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5AFF05-ACC0-23F6-23B4-38AE70CD5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F343A-CF82-79EE-4EC1-1C5AC4BFE1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9969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28CFF-8E6B-F06A-D8F7-EB5027B0E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8CFD83-1482-C78F-EDE3-854838AC87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D6C879-AA8F-8606-5FCB-D2F9BB81D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DFFEE-E375-298F-0BEE-854435F678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959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52565-5DDE-52A4-1FFC-F6D902695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D6DBAB-5694-4888-F3D4-C527E62A79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AA03E5-8A02-B161-E0C4-91E8F6564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5136C-8399-4484-4535-3938DAAD61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529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849E0-EDD5-E4AA-F71C-2FC758B5D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FCD487-C3AB-C4EF-8139-B0A02B0165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B124A4-0084-D9E2-1296-CB9B5D5BC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67140-68F9-B6DC-62F2-CE07E5FA22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4110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760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8955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0265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9344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0418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0855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184D7-5473-6AEA-D423-61D72901F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4219CA-332F-68DC-079C-C1467856BD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9BD37B-3AA8-8D32-9223-10E80542C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4280B-9831-F985-7180-D834C16877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8362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BEEA9-7D85-2BF4-EC27-66710B53B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E4BD5C-DABA-846E-6DBF-C7BF7F2DBF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2B4424-C7C6-968F-974E-494F26FDD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3FC9F-7BE1-91A3-AFFD-49BBC91C41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383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1564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0C29C-5FF9-1BD5-EDD3-4D7CC68B3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419BFE-421C-9C70-9E64-F420D39F74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FA5763-9999-2206-6A07-20A7771AF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085F3-B0F6-7AA8-2081-013409589A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5774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964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786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9DA51-704F-7F29-321E-42DB98A91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7655C4-5D8B-E376-A08A-B8B77749F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5680A9-C95D-A561-0B08-70858F185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8066D-D6A3-5054-2A90-DCF757995D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343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2016A-19AC-8B8A-2CA1-960A5BEBB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B92CC8-0A7A-DC6A-A186-6D6D85F5C2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0EFF39-8873-5FB8-CDE1-7C3DA0B5F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52356-7B5B-5A78-048D-839E02BA9B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9898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F5171-BA3C-7757-2B03-74FE630F2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EDB853-E148-6CC3-585D-D37171A3C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73E8EC-220B-1DFC-8761-BFAE0934A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0C85D-BAD0-5063-9069-598DBC4FB7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078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4F6B9-D013-3470-9CF7-5F05BD6D7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A4324D-684D-3A42-1CF9-291D114108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13FE44-8548-075A-DD19-B581748AD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06AE8-A9E3-53E8-105A-63EAC3CFC2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7441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EB323-AEA5-ED2A-5C6E-5FB27047F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00F913-2A77-FDAA-55CD-1E4C32CCCE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4A35A6-A66A-D526-E861-A0E9A2F68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89CDAB-1405-74C0-EE92-1D2A8A3C57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1643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B83D8-6B69-E9D8-F7CF-36F13AC01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81F997-20F9-6F2F-714D-52A79AB69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84861D-CFD7-EF96-31EC-E819EF0CD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1C9B0-E1B1-0B08-ED8B-EA6B4282FC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1168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A15D2-BAA9-1931-54E0-74EDE5045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908BDE-04D8-CDE5-D5B7-04CF901735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453A51-6D94-365E-3463-2CE168750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E133E-B2EF-92F5-0E43-5258A3C010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387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112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A2419-3446-6605-1589-A9383E282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95AFDB-3925-F426-3D03-75C846FDDE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48E93F-5053-0AB7-2215-EA1C63B47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FC94E-AE48-4A0B-F421-C7DA257BD0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722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E62E6-9543-AF10-74BC-0450314C0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6B1C13-386C-9070-05CA-C77D0827D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060636-FFBE-7C79-9644-33D07EBB64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E968B-51AD-F54D-2610-DD0C30F825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1391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5438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58302-DD9F-FC7D-3663-F9F6DD234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CB5A8-F327-638F-C111-A2011F39A6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107F93-786C-77BA-5F49-A113BF416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00223-392D-61C5-2C94-9833E34670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77854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16872-B7BD-8088-D526-6A2B0F797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1F89BB-E2B6-B8C8-50B2-6ABB350C5B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826834-2198-631B-879D-574421EC2B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CAB50-C2AF-E836-307F-38E27B03F8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47675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5469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C6CCA-9169-301E-9363-B7BCD1F2C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B2582B-2234-7EDD-E779-02F771C002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3A6F33-B43F-B853-C206-0E9FBD243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28A31-D566-3B4A-1B37-5E120E4F96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902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9399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6246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AB89F-5D6F-78AC-6B2A-594092293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5CC322-4123-37DB-551F-7C4B733DED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610B97-EDC6-44F0-171A-54678BAF1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sz="3600" b="0" kern="1200" dirty="0">
              <a:solidFill>
                <a:schemeClr val="tx1"/>
              </a:solidFill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A673B-6B31-74FD-01CE-42D36C0452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47841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20467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9616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BA357-542D-6644-E540-3A3E2774F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539220-14BE-40BF-44A8-B98D4D2D9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9C3211-B7F1-32D2-121E-EE0285D8D2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9CCC5-75B5-B6D1-7ED4-E544F8767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79166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87272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AA050-52B7-6DF0-8FD1-F81939B1A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F2FAF5-8571-B8FB-909E-E4EC39575F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E7CE8-FCE8-3445-AA17-BE5C14BFA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8E350-B772-C0E7-7458-0E0A3AD9A2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2540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C4FB3-6968-4942-BCAE-7C1394C28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2C128E-5289-12E8-0ED6-8510424AAA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4E5D16-9930-6674-2E7E-36FD1D1876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37B09-ED4B-BA0E-4ACA-185991B756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3481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2A011-B774-4E6A-4E4F-00E3252DC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56A331-0BF5-460C-50BE-D92BB755F0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C69A37-3550-4DA7-4CA2-B2BD353D0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736A4-8CF9-A39F-B14F-5D5421514F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28942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5325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07070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0BF89-3520-7A88-65BD-669A024C3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8904D6-E9B0-2E00-C275-4827C3E138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E7BDEB-BECA-B930-AE48-FA659EAF4B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AB8E1-8322-0A87-E60C-E497777A03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69781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30FE1-0CE5-25F0-CBEC-5D7195AB5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FE1005-69FB-D120-EC32-1CBAF6EA6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E2D8AB-6FD7-A478-4C1E-89E2C92B1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738EF-B1E4-199A-2277-A34F292259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60797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15601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42486-351F-75ED-E241-EF17B7257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F60D66-3A24-2B69-109E-204F27483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6F2E7-A333-63E1-6FDD-728698FC5C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0BF65-B902-6669-0C10-14090892E6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79613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924F1-7FD9-54D9-063D-DB47E295D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8871F-9534-CA89-E2E8-60FA621B4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DBAD19-A55B-E049-BC19-72901C490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0CE5E-2642-64A4-D6BC-A807291FA6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0081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127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4592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41227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67128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82666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20600-4548-AEEE-12BB-EF42F14CD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502138-3730-CD41-EB8D-CCE607ACA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3EB247-1753-198C-6276-6781637E5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4451E-A3E7-8EFE-D4C5-2F03977EF0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73912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97846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7931F-7CDA-14BB-A65E-4E62CCF1A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E90372-F38D-EBB4-C733-CE7FD5C18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6802AE-B954-F41B-C555-9959371761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F0A0C-D7A3-2FCB-8BA7-37E6F5EBCF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340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50215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01718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91690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77585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88631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547E6-04AD-2EDB-3FDB-6F7358A28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C415B8-41A0-D095-29E8-923DB157F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B9A866-BE92-D3E1-FC62-BD13F9FC80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A7091-46B1-A555-C287-1519BD656E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70303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68945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19256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06501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19520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instructions with order-serialization </a:t>
            </a:r>
            <a:r>
              <a:rPr lang="en-US" i="1" dirty="0"/>
              <a:t>side effects, </a:t>
            </a:r>
            <a:r>
              <a:rPr lang="en-US" dirty="0"/>
              <a:t>sometimes even stronger than fences</a:t>
            </a: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31138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29B41-88F7-366E-F2A3-4CAB5E953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B4F650-329E-96F5-96A7-60217B7DB6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BAD853-C6E3-55B0-0EDA-A7C9A93CA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D5BDC-A429-1049-D564-28BB9198D3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42999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0A113-D2DD-9D60-BFD2-3F01883CF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3E99F4-167E-0B85-3B7B-BAFE98C777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1D044C-8E18-855A-5F10-6A8E3285E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4E87C-2EB0-0076-A9FF-44EC3F7817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71893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24102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8CA0F-8859-CC62-1239-0A0F3B21A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E96AE1-5FDE-9DE1-A4A9-8A8C9AAB9E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6F1E90-4D77-AC5D-E91A-C8756EB1C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CC6F0-2958-3723-4E36-7097701498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61215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05398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B7815-5247-F825-D304-4EAFBAEF0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97D8BC-B789-3AAF-06E8-05687DD34C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A44AB0-AEE2-F145-316D-38E0F08BC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20FEE-8088-E71F-4645-5E36D30B89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92955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5A956-6637-B9C9-8645-7052AEA04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882FE-8769-FC8A-207B-878A12B93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B27848-E4AA-DB44-90E4-C629D2572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E7F26-A298-CBAD-39FC-BE023370C8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24796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8876D-CBAD-7ECA-CB2C-E9EBECD98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3955E0-19F7-2DB6-C93E-96DB13A90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83461E-8867-C246-C3EA-470A3887D6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1B66F-5A43-E119-E4B0-B82C282FB7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3203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A55D4-1F5C-2B4B-0870-CCE4C7AB9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5997AA-058D-0180-60C0-B25F0C4ABB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5073A9-00D6-A1A9-D826-F11049C6EB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31EC7F-55A4-B90C-05F7-6D3DB234E7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07848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1C57D-63FB-8757-1B03-4AE3903E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7829A1-2079-F213-9E70-FB2247F569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66858B-9C29-CA13-92E8-43AF49729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45675-28F5-FD84-48C4-55E73A7E12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073439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964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99B69-A40C-9AB1-71A1-626CA1BF21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BEFF3B-1346-90B7-AD03-031960BEF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B4E2B-3344-2041-BAE6-D60DA93A9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AFF0B-EBA4-4344-9F58-048B8D05F950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32642-194D-5285-C01F-B44FCDCC5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464DF-2852-A779-86BC-E4FCBAB9A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92EB64D-9447-485E-A09F-4986BE7D4F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9114" y="230189"/>
            <a:ext cx="2325546" cy="49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193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C7521-50C6-9E8F-3601-BFA8FF3AF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5CA9A-89EB-7DAB-BF93-CBFC1303E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53EBF-FD44-625E-3879-4F7CAA13A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57580-7757-4B55-BFB5-DE46DE313D83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6925D-2075-9BB4-CF72-1816E553F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7FB9-6F89-FD53-0C55-7F1AD47BD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AC48418C-D8B2-E63C-20BF-58C8A557C7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9114" y="230189"/>
            <a:ext cx="2325546" cy="49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DCDB6-CF36-FFDE-4268-A0D066C54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791AE-AA52-FF20-AEDC-6C41FBE5E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B37A1-6BA9-E731-65C4-505CB3591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66B74-0E0C-4FC0-8603-B128CF50CDCB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792A9-3D4A-83F8-A5D4-19473A166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4B25F-CEA2-4B57-3367-1D612369B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4F1C4A2E-5C1A-D4D2-96DA-821547310B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9114" y="230189"/>
            <a:ext cx="2325546" cy="49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101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CF1BF-63B7-ACCC-0A3E-83B63E03E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BD395-4814-D180-FAA9-B50B14EA06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E32166-3BCF-7E07-6FCF-316D9145D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F6E945-63A9-8515-3146-137B20D42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A7654-3783-4C8B-86F8-72967FA220B6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84E14B-5A28-41C9-D7BB-62EDA1CF8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39F7A-E0AD-C9A1-6B59-85E5A3F3F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891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12B85-0BA9-7D45-E0CC-88DF92B49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4AF0A-F5EA-3063-FCC5-AABCF3763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F12AB-D417-E9EC-B80D-5EDC4428F4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B794A7-2F12-CD6D-05A1-37EBED37B8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6B1851-48F1-5E16-E819-8DAB75031C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0AE64C-2519-8C6A-24C1-D8A0A47A6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C0979-1AA4-4867-A1D8-DB501A478D34}" type="datetime1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8CB3DF-9F09-41FD-F155-5DB6C41AF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7485FD-A812-EC0F-7D70-67B759AA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269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A1A1D-8E67-6F85-58A6-EF78B0191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2396B8-5511-B929-4717-065F8548C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3E3D9-445D-4D16-8A58-4FD7EFDE0D6C}" type="datetime1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81165C-3DAD-BD70-87BD-EBD2B00F6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D423F2-5B37-2613-475B-0360F9663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285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B84747-970F-14ED-586D-29ED1816B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4F94-5B11-4BEF-8B80-9790FAC19686}" type="datetime1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1CFE15-5B5E-6B3B-377F-8A34188A3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53B2E-5DA7-BAF4-BA5F-5CA6C0B8B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020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CB70D-B987-B172-1699-A610CD092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26DE6-87BB-B047-8CEE-F99DDEAA2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673485-6E94-E0E9-A808-3FBF86A9A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0EA96F-FCBB-C46C-D62F-482C806AD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3FE61-3773-4DE4-87EF-43E8690C25A9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CB3F1D-A7F1-8DA0-FC64-178A3B1BD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DD988-8F28-8DB4-77E5-912997649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448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564FA-C011-F1B0-C456-E598BECE1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7D9533-AEE0-A1DA-D6F5-04DD6EB284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0B41EF-43C4-9005-64D2-4890E821EA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58B0EC-A5BB-90F3-3FB4-0D4883B2E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303AC-F621-429F-9454-078C6E1C8D8A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F4636-1E79-5231-AE42-89F1B3E0B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F48D2-A2A6-9249-B102-27568DC94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274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30F12-F5DC-FC35-3519-BC19D0D7C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5C306D-6123-A4E2-5AA7-CD37627131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29AF7-B6C9-D2C5-9D98-27F91581D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BEB9F-9ADE-4BB8-8F1E-A06429FA24A3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FDC08-D36E-0FF3-87B3-60D678E91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420D1-98A6-3C10-4344-07884109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93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B2FE5E-85B5-2D18-B02C-D47CCFE57D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B6E63C-1E47-BF92-CDCA-195365D28F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53D0F-559E-66A3-86B7-F6FBD9F49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727E-FF03-4E1D-93B0-DE9F9E392713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1FA54-068F-936D-76DE-A10A54DD2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3E653-5B44-DDFF-70F6-106F73511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370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E23CCE-17D9-B03B-7D81-383A61490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520D7-EC62-B9E0-06E9-625E3FF5F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8D077-DDB9-9C18-A425-59B2D6262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18B899-A0BC-406C-BDCC-A24E171F44AD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EB268-8067-1EEB-F796-C6F2EE09D8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072D2-5D8E-3CE9-875B-C14E86D01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91B715-7B1A-466F-BF35-E3F7208B6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31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4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Relationship Id="rId4" Type="http://schemas.openxmlformats.org/officeDocument/2006/relationships/image" Target="../media/image5.sv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Relationship Id="rId5" Type="http://schemas.openxmlformats.org/officeDocument/2006/relationships/hyperlink" Target="https://pixabay.com/en/no-entry-traffic-sign-sign-160681/" TargetMode="External"/><Relationship Id="rId4" Type="http://schemas.openxmlformats.org/officeDocument/2006/relationships/image" Target="../media/image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en/no-entry-traffic-sign-sign-160681/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l.cam.ac.uk/~pes20/rems/" TargetMode="Externa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://svr-pes20-cppmem.cl.cam.ac.uk/cppmem/" TargetMode="External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Relationship Id="rId4" Type="http://schemas.openxmlformats.org/officeDocument/2006/relationships/image" Target="../media/image19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Relationship Id="rId4" Type="http://schemas.openxmlformats.org/officeDocument/2006/relationships/image" Target="../media/image3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3E89C-EE89-AFE0-4634-6E8E31F118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1792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On Processor Design</a:t>
            </a:r>
            <a:br>
              <a:rPr lang="en-US" dirty="0"/>
            </a:br>
            <a:r>
              <a:rPr lang="en-US" dirty="0"/>
              <a:t>and</a:t>
            </a:r>
            <a:br>
              <a:rPr lang="en-US" dirty="0"/>
            </a:br>
            <a:r>
              <a:rPr lang="en-US" dirty="0"/>
              <a:t>Memory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32BA21-E8C8-E571-C606-BF5113C3F4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97600"/>
            <a:ext cx="9144000" cy="1655762"/>
          </a:xfrm>
        </p:spPr>
        <p:txBody>
          <a:bodyPr/>
          <a:lstStyle/>
          <a:p>
            <a:r>
              <a:rPr lang="en-US" dirty="0"/>
              <a:t>Ofek Shilon</a:t>
            </a:r>
          </a:p>
          <a:p>
            <a:r>
              <a:rPr lang="en-US" dirty="0" err="1"/>
              <a:t>CppCon</a:t>
            </a:r>
            <a:r>
              <a:rPr lang="en-US" dirty="0"/>
              <a:t> 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2F50BC-064E-C905-5A99-4E07FE54F9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1F56F-BB3D-D13D-F5E0-C5C20A602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228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CA84A-D702-1E3C-DDDA-ABBE0D058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19056-1E00-269B-0E92-8E82761C6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Pseudo quote:</a:t>
            </a:r>
          </a:p>
          <a:p>
            <a:pPr lvl="1"/>
            <a:r>
              <a:rPr lang="en-US" sz="2800" dirty="0"/>
              <a:t>“… the order in which mem operations </a:t>
            </a:r>
            <a:r>
              <a:rPr lang="en-US" sz="3200" b="1" dirty="0"/>
              <a:t>become visible </a:t>
            </a:r>
            <a:r>
              <a:rPr lang="en-US" sz="2800" dirty="0"/>
              <a:t>can be different than the program order…”?</a:t>
            </a:r>
          </a:p>
          <a:p>
            <a:r>
              <a:rPr lang="en-US" sz="3200" dirty="0"/>
              <a:t>Core Problem:</a:t>
            </a:r>
          </a:p>
          <a:p>
            <a:pPr lvl="1"/>
            <a:r>
              <a:rPr lang="en-US" sz="2800" dirty="0"/>
              <a:t>Huh?</a:t>
            </a:r>
            <a:endParaRPr lang="LID4096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4D50E-86E8-9D68-727C-5DDEB377C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AEF5BC-6FDF-4E9E-692C-3087585C83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7859" y="3302000"/>
            <a:ext cx="4898103" cy="357261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85281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F4028-DCB5-FC17-522C-150A15EAB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BAC50-6EF5-6334-6782-1012700DB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Program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1CAEAF-8B65-1974-0FDD-6DE6BA177550}"/>
              </a:ext>
            </a:extLst>
          </p:cNvPr>
          <p:cNvSpPr/>
          <p:nvPr/>
        </p:nvSpPr>
        <p:spPr>
          <a:xfrm>
            <a:off x="1757355" y="3266282"/>
            <a:ext cx="2984768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NEW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--&gt;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B85B32-E7B9-4AB8-68E2-74D15FDFB07E}"/>
              </a:ext>
            </a:extLst>
          </p:cNvPr>
          <p:cNvSpPr/>
          <p:nvPr/>
        </p:nvSpPr>
        <p:spPr>
          <a:xfrm>
            <a:off x="5881255" y="3293654"/>
            <a:ext cx="3783440" cy="668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R1 &lt;--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en-US" sz="2400" dirty="0">
                <a:latin typeface="Consolas" panose="020B0609020204030204" pitchFamily="49" charset="0"/>
              </a:rPr>
              <a:t>ready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A78165-E377-FF3A-A3A5-C541DCD8CB92}"/>
              </a:ext>
            </a:extLst>
          </p:cNvPr>
          <p:cNvSpPr/>
          <p:nvPr/>
        </p:nvSpPr>
        <p:spPr>
          <a:xfrm>
            <a:off x="1757355" y="3926682"/>
            <a:ext cx="2984768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TRUE --&gt; ready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3E2DD0-DD6D-5530-1CD1-890D1C0DCA5E}"/>
              </a:ext>
            </a:extLst>
          </p:cNvPr>
          <p:cNvSpPr/>
          <p:nvPr/>
        </p:nvSpPr>
        <p:spPr>
          <a:xfrm>
            <a:off x="5881255" y="4647791"/>
            <a:ext cx="3783440" cy="668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R2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&lt;-- data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22ED29-4A99-B9F4-D85C-1E7E47DD3FE2}"/>
              </a:ext>
            </a:extLst>
          </p:cNvPr>
          <p:cNvSpPr/>
          <p:nvPr/>
        </p:nvSpPr>
        <p:spPr>
          <a:xfrm>
            <a:off x="5881254" y="3926681"/>
            <a:ext cx="3783440" cy="7485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if !R1:  </a:t>
            </a:r>
            <a:r>
              <a:rPr lang="en-US" sz="2400" dirty="0" err="1">
                <a:latin typeface="Consolas" panose="020B0609020204030204" pitchFamily="49" charset="0"/>
              </a:rPr>
              <a:t>goto</a:t>
            </a:r>
            <a:r>
              <a:rPr lang="en-US" sz="2400" dirty="0">
                <a:latin typeface="Consolas" panose="020B0609020204030204" pitchFamily="49" charset="0"/>
              </a:rPr>
              <a:t> Load_R1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B03FA1-C083-9288-E365-518208C6856F}"/>
              </a:ext>
            </a:extLst>
          </p:cNvPr>
          <p:cNvSpPr/>
          <p:nvPr/>
        </p:nvSpPr>
        <p:spPr>
          <a:xfrm>
            <a:off x="1757355" y="2605882"/>
            <a:ext cx="2984768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u="sng" dirty="0">
                <a:latin typeface="Consolas" panose="020B0609020204030204" pitchFamily="49" charset="0"/>
              </a:rPr>
              <a:t>Writer Core</a:t>
            </a:r>
            <a:endParaRPr lang="en-US" sz="2800" b="1" u="sng" dirty="0">
              <a:latin typeface="Consolas" panose="020B0609020204030204" pitchFamily="49" charset="0"/>
              <a:sym typeface="Wingdings" panose="05000000000000000000" pitchFamily="2" charset="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A734CC-C7BB-CD73-32FD-417B5ABBA8DB}"/>
              </a:ext>
            </a:extLst>
          </p:cNvPr>
          <p:cNvSpPr/>
          <p:nvPr/>
        </p:nvSpPr>
        <p:spPr>
          <a:xfrm>
            <a:off x="5881255" y="2629286"/>
            <a:ext cx="3783440" cy="668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u="sng" dirty="0">
                <a:latin typeface="Consolas" panose="020B0609020204030204" pitchFamily="49" charset="0"/>
              </a:rPr>
              <a:t>Reader Core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9CD7C6-11A7-F892-53A1-73D76E544109}"/>
              </a:ext>
            </a:extLst>
          </p:cNvPr>
          <p:cNvCxnSpPr>
            <a:cxnSpLocks/>
          </p:cNvCxnSpPr>
          <p:nvPr/>
        </p:nvCxnSpPr>
        <p:spPr>
          <a:xfrm>
            <a:off x="5359400" y="1690688"/>
            <a:ext cx="0" cy="4659312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0C09CE8-0E30-093F-1EE4-137870E57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63098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1E6FE-B736-BAE1-68EE-A38A16D28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24031-617A-CDE9-F61C-8CB6AC940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Strict Consistency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5483C7-EA7E-34D0-5A44-6CD0A2E7C5C2}"/>
              </a:ext>
            </a:extLst>
          </p:cNvPr>
          <p:cNvSpPr/>
          <p:nvPr/>
        </p:nvSpPr>
        <p:spPr>
          <a:xfrm>
            <a:off x="1757355" y="3266282"/>
            <a:ext cx="2984768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NEW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--&gt;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420BDC-5368-AEEC-0ECF-C4E4ABF9671E}"/>
              </a:ext>
            </a:extLst>
          </p:cNvPr>
          <p:cNvSpPr/>
          <p:nvPr/>
        </p:nvSpPr>
        <p:spPr>
          <a:xfrm>
            <a:off x="5881255" y="3293654"/>
            <a:ext cx="3783440" cy="668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R1 &lt;--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en-US" sz="2400" dirty="0">
                <a:latin typeface="Consolas" panose="020B0609020204030204" pitchFamily="49" charset="0"/>
              </a:rPr>
              <a:t>ready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150AA1-49A0-33D7-796E-0058567006C1}"/>
              </a:ext>
            </a:extLst>
          </p:cNvPr>
          <p:cNvSpPr/>
          <p:nvPr/>
        </p:nvSpPr>
        <p:spPr>
          <a:xfrm>
            <a:off x="1757355" y="3926682"/>
            <a:ext cx="2984768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TRUE --&gt; ready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EF868D-C6F8-6E53-24D0-A8C86E9BC6B6}"/>
              </a:ext>
            </a:extLst>
          </p:cNvPr>
          <p:cNvSpPr/>
          <p:nvPr/>
        </p:nvSpPr>
        <p:spPr>
          <a:xfrm>
            <a:off x="5881255" y="4647791"/>
            <a:ext cx="3783440" cy="668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R2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&lt;-- data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A232E5-401D-8CB1-9FCC-7E21088084E3}"/>
              </a:ext>
            </a:extLst>
          </p:cNvPr>
          <p:cNvSpPr/>
          <p:nvPr/>
        </p:nvSpPr>
        <p:spPr>
          <a:xfrm>
            <a:off x="5881254" y="3926681"/>
            <a:ext cx="3783440" cy="7485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if !R1:  </a:t>
            </a:r>
            <a:r>
              <a:rPr lang="en-US" sz="2400" dirty="0" err="1">
                <a:latin typeface="Consolas" panose="020B0609020204030204" pitchFamily="49" charset="0"/>
              </a:rPr>
              <a:t>goto</a:t>
            </a:r>
            <a:r>
              <a:rPr lang="en-US" sz="2400" dirty="0">
                <a:latin typeface="Consolas" panose="020B0609020204030204" pitchFamily="49" charset="0"/>
              </a:rPr>
              <a:t> Load_R1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AAF651-F61F-8276-C330-9A68305FEE77}"/>
              </a:ext>
            </a:extLst>
          </p:cNvPr>
          <p:cNvSpPr/>
          <p:nvPr/>
        </p:nvSpPr>
        <p:spPr>
          <a:xfrm>
            <a:off x="1757355" y="2605882"/>
            <a:ext cx="2984768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u="sng" dirty="0">
                <a:latin typeface="Consolas" panose="020B0609020204030204" pitchFamily="49" charset="0"/>
              </a:rPr>
              <a:t>Writer Core</a:t>
            </a:r>
            <a:endParaRPr lang="en-US" sz="2800" b="1" u="sng" dirty="0">
              <a:latin typeface="Consolas" panose="020B0609020204030204" pitchFamily="49" charset="0"/>
              <a:sym typeface="Wingdings" panose="05000000000000000000" pitchFamily="2" charset="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20078A-710E-5FCB-F17C-5D9BA7B8DE00}"/>
              </a:ext>
            </a:extLst>
          </p:cNvPr>
          <p:cNvSpPr/>
          <p:nvPr/>
        </p:nvSpPr>
        <p:spPr>
          <a:xfrm>
            <a:off x="5881255" y="2629286"/>
            <a:ext cx="3783440" cy="668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u="sng" dirty="0">
                <a:latin typeface="Consolas" panose="020B0609020204030204" pitchFamily="49" charset="0"/>
              </a:rPr>
              <a:t>Reader Core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060D27-3CFF-E118-E499-BDA10FD34254}"/>
              </a:ext>
            </a:extLst>
          </p:cNvPr>
          <p:cNvCxnSpPr>
            <a:cxnSpLocks/>
          </p:cNvCxnSpPr>
          <p:nvPr/>
        </p:nvCxnSpPr>
        <p:spPr>
          <a:xfrm>
            <a:off x="5359400" y="1690688"/>
            <a:ext cx="0" cy="4659312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902A0B7-49D8-31DB-407E-734AF45AD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2406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A2E32-C1D6-67E8-099D-24B66F8D9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CDD22-3B24-7A00-8D56-A223574D3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Consistency (SC)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49F043-6FE1-32EB-C2DA-47966D039376}"/>
              </a:ext>
            </a:extLst>
          </p:cNvPr>
          <p:cNvSpPr/>
          <p:nvPr/>
        </p:nvSpPr>
        <p:spPr>
          <a:xfrm>
            <a:off x="1757355" y="3266282"/>
            <a:ext cx="2984768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NEW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--&gt;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E3B434-E5C2-A7F9-AA78-C200E82A809C}"/>
              </a:ext>
            </a:extLst>
          </p:cNvPr>
          <p:cNvSpPr/>
          <p:nvPr/>
        </p:nvSpPr>
        <p:spPr>
          <a:xfrm>
            <a:off x="5881255" y="3293654"/>
            <a:ext cx="3783440" cy="668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R1 &lt;--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en-US" sz="2400" dirty="0">
                <a:latin typeface="Consolas" panose="020B0609020204030204" pitchFamily="49" charset="0"/>
              </a:rPr>
              <a:t>ready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3D9000-9E7A-6DD2-1DE1-09ED9D697DBE}"/>
              </a:ext>
            </a:extLst>
          </p:cNvPr>
          <p:cNvSpPr/>
          <p:nvPr/>
        </p:nvSpPr>
        <p:spPr>
          <a:xfrm>
            <a:off x="1757355" y="3926682"/>
            <a:ext cx="2984768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TRUE --&gt; ready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825D3E-31B3-9C78-FEFC-AE67C5B54599}"/>
              </a:ext>
            </a:extLst>
          </p:cNvPr>
          <p:cNvSpPr/>
          <p:nvPr/>
        </p:nvSpPr>
        <p:spPr>
          <a:xfrm>
            <a:off x="5881255" y="4647791"/>
            <a:ext cx="3783440" cy="668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R2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&lt;-- data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7A3E89-1220-22D1-C41A-C375CB68C32E}"/>
              </a:ext>
            </a:extLst>
          </p:cNvPr>
          <p:cNvSpPr/>
          <p:nvPr/>
        </p:nvSpPr>
        <p:spPr>
          <a:xfrm>
            <a:off x="5881254" y="3926681"/>
            <a:ext cx="3783440" cy="7485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if !R1:  </a:t>
            </a:r>
            <a:r>
              <a:rPr lang="en-US" sz="2400" dirty="0" err="1">
                <a:latin typeface="Consolas" panose="020B0609020204030204" pitchFamily="49" charset="0"/>
              </a:rPr>
              <a:t>goto</a:t>
            </a:r>
            <a:r>
              <a:rPr lang="en-US" sz="2400" dirty="0">
                <a:latin typeface="Consolas" panose="020B0609020204030204" pitchFamily="49" charset="0"/>
              </a:rPr>
              <a:t> Load_R1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8E9804-4974-560A-17F9-069D480281A4}"/>
              </a:ext>
            </a:extLst>
          </p:cNvPr>
          <p:cNvSpPr/>
          <p:nvPr/>
        </p:nvSpPr>
        <p:spPr>
          <a:xfrm>
            <a:off x="1757355" y="2605882"/>
            <a:ext cx="2984768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u="sng" dirty="0">
                <a:latin typeface="Consolas" panose="020B0609020204030204" pitchFamily="49" charset="0"/>
              </a:rPr>
              <a:t>Writer Core</a:t>
            </a:r>
            <a:endParaRPr lang="en-US" sz="2800" b="1" u="sng" dirty="0">
              <a:latin typeface="Consolas" panose="020B0609020204030204" pitchFamily="49" charset="0"/>
              <a:sym typeface="Wingdings" panose="05000000000000000000" pitchFamily="2" charset="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222A22-AA0C-CC55-B16B-68A39072C587}"/>
              </a:ext>
            </a:extLst>
          </p:cNvPr>
          <p:cNvSpPr/>
          <p:nvPr/>
        </p:nvSpPr>
        <p:spPr>
          <a:xfrm>
            <a:off x="5881255" y="2629286"/>
            <a:ext cx="3783440" cy="668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u="sng" dirty="0">
                <a:latin typeface="Consolas" panose="020B0609020204030204" pitchFamily="49" charset="0"/>
              </a:rPr>
              <a:t>Reader Core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1FF0C82-1B9A-D040-05AE-83200196ECB6}"/>
              </a:ext>
            </a:extLst>
          </p:cNvPr>
          <p:cNvCxnSpPr>
            <a:cxnSpLocks/>
          </p:cNvCxnSpPr>
          <p:nvPr/>
        </p:nvCxnSpPr>
        <p:spPr>
          <a:xfrm>
            <a:off x="5359400" y="1690688"/>
            <a:ext cx="0" cy="4659312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26EB03A-A9E7-5E3F-4B45-A065108A1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9589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9FFDE-CF8A-1690-9AD1-469FDADB6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397CC-4E2D-17F9-2B87-52C2D928F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Consistency (SC)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28D26A-812D-2DE3-7CF7-A5A869BE1834}"/>
              </a:ext>
            </a:extLst>
          </p:cNvPr>
          <p:cNvSpPr/>
          <p:nvPr/>
        </p:nvSpPr>
        <p:spPr>
          <a:xfrm>
            <a:off x="1757355" y="1983582"/>
            <a:ext cx="2984768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NEW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--&gt;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402375-22F7-FF85-E668-998CE422AC3A}"/>
              </a:ext>
            </a:extLst>
          </p:cNvPr>
          <p:cNvSpPr/>
          <p:nvPr/>
        </p:nvSpPr>
        <p:spPr>
          <a:xfrm>
            <a:off x="5881255" y="3560354"/>
            <a:ext cx="3783440" cy="668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R1 &lt;--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en-US" sz="2400" dirty="0">
                <a:latin typeface="Consolas" panose="020B0609020204030204" pitchFamily="49" charset="0"/>
              </a:rPr>
              <a:t>ready   = TRUE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64C1D-1073-9661-5826-B516FA11DF7C}"/>
              </a:ext>
            </a:extLst>
          </p:cNvPr>
          <p:cNvSpPr/>
          <p:nvPr/>
        </p:nvSpPr>
        <p:spPr>
          <a:xfrm>
            <a:off x="1757355" y="2821782"/>
            <a:ext cx="2984768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TRUE --&gt; ready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B2C689-4BFC-2D19-1225-4F6164B0971A}"/>
              </a:ext>
            </a:extLst>
          </p:cNvPr>
          <p:cNvSpPr/>
          <p:nvPr/>
        </p:nvSpPr>
        <p:spPr>
          <a:xfrm>
            <a:off x="5881255" y="5524091"/>
            <a:ext cx="3783440" cy="668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R2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&lt;-- data   = NEW</a:t>
            </a:r>
            <a:endParaRPr lang="en-US" sz="2400" dirty="0">
              <a:latin typeface="Consolas" panose="020B0609020204030204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7459B62-F901-DF19-920F-E6C7A13642D3}"/>
              </a:ext>
            </a:extLst>
          </p:cNvPr>
          <p:cNvCxnSpPr>
            <a:cxnSpLocks/>
          </p:cNvCxnSpPr>
          <p:nvPr/>
        </p:nvCxnSpPr>
        <p:spPr>
          <a:xfrm>
            <a:off x="5359400" y="1690688"/>
            <a:ext cx="0" cy="4659312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2F46F1-403A-1D8C-FBE9-E63016793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7812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7B5F5-C635-DC7E-1B64-656F78E2D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4AB74-8E4E-0AC2-B03E-2D9C7C4DA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Consistency (SC)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42B61E-6E41-AB41-209E-05522086D3B1}"/>
              </a:ext>
            </a:extLst>
          </p:cNvPr>
          <p:cNvSpPr/>
          <p:nvPr/>
        </p:nvSpPr>
        <p:spPr>
          <a:xfrm>
            <a:off x="1757355" y="2440782"/>
            <a:ext cx="2984768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NEW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--&gt;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C63AA3-0C08-8F14-4DF2-78080E3BD01D}"/>
              </a:ext>
            </a:extLst>
          </p:cNvPr>
          <p:cNvSpPr/>
          <p:nvPr/>
        </p:nvSpPr>
        <p:spPr>
          <a:xfrm>
            <a:off x="5881254" y="1822836"/>
            <a:ext cx="3999337" cy="668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R1 &lt;--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en-US" sz="2400" dirty="0">
                <a:latin typeface="Consolas" panose="020B0609020204030204" pitchFamily="49" charset="0"/>
              </a:rPr>
              <a:t>ready   = FALSE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5D35A0-93E7-37BC-20E7-6C8A0FC3DFD4}"/>
              </a:ext>
            </a:extLst>
          </p:cNvPr>
          <p:cNvSpPr/>
          <p:nvPr/>
        </p:nvSpPr>
        <p:spPr>
          <a:xfrm>
            <a:off x="1757355" y="3342482"/>
            <a:ext cx="2984768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TRUE --&gt; ready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56901E-A859-218C-53D6-E06C01174873}"/>
              </a:ext>
            </a:extLst>
          </p:cNvPr>
          <p:cNvSpPr/>
          <p:nvPr/>
        </p:nvSpPr>
        <p:spPr>
          <a:xfrm>
            <a:off x="5881254" y="5524091"/>
            <a:ext cx="3999337" cy="668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R2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&lt;-- data   = NEW</a:t>
            </a:r>
            <a:endParaRPr lang="en-US" sz="2400" dirty="0">
              <a:latin typeface="Consolas" panose="020B0609020204030204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2972195-72DE-18D5-FAFD-AEF13CCE402F}"/>
              </a:ext>
            </a:extLst>
          </p:cNvPr>
          <p:cNvCxnSpPr>
            <a:cxnSpLocks/>
          </p:cNvCxnSpPr>
          <p:nvPr/>
        </p:nvCxnSpPr>
        <p:spPr>
          <a:xfrm>
            <a:off x="5359400" y="1690688"/>
            <a:ext cx="0" cy="4659312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2E427CAC-FED2-ACB6-58F4-D20AB1CA6C36}"/>
              </a:ext>
            </a:extLst>
          </p:cNvPr>
          <p:cNvSpPr/>
          <p:nvPr/>
        </p:nvSpPr>
        <p:spPr>
          <a:xfrm>
            <a:off x="5881254" y="2673736"/>
            <a:ext cx="3999337" cy="668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R1 &lt;--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en-US" sz="2400" dirty="0">
                <a:latin typeface="Consolas" panose="020B0609020204030204" pitchFamily="49" charset="0"/>
              </a:rPr>
              <a:t>ready   = FALSE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BE1827-87B9-6F99-213F-74C6611FB896}"/>
              </a:ext>
            </a:extLst>
          </p:cNvPr>
          <p:cNvSpPr/>
          <p:nvPr/>
        </p:nvSpPr>
        <p:spPr>
          <a:xfrm>
            <a:off x="5881254" y="4257698"/>
            <a:ext cx="3999337" cy="668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R1 &lt;--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en-US" sz="2400" dirty="0">
                <a:latin typeface="Consolas" panose="020B0609020204030204" pitchFamily="49" charset="0"/>
              </a:rPr>
              <a:t>ready   = TRUE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DF1A46-EA49-6300-CEFE-E5E78FB4A4AF}"/>
              </a:ext>
            </a:extLst>
          </p:cNvPr>
          <p:cNvSpPr/>
          <p:nvPr/>
        </p:nvSpPr>
        <p:spPr>
          <a:xfrm>
            <a:off x="5881254" y="3465717"/>
            <a:ext cx="3999337" cy="668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R1 &lt;--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en-US" sz="2400" dirty="0">
                <a:latin typeface="Consolas" panose="020B0609020204030204" pitchFamily="49" charset="0"/>
              </a:rPr>
              <a:t>ready   = FALSE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5DDDAB2-ADBE-ED80-52FF-E7324E58E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8979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F6C36-844B-CB72-6D35-0AFC5C6E2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SC?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82236-1D33-BCF7-297C-3457BEB6A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What can cause cores to disagree on memory contents, at a specific point in time?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can cause cores to disagree on order of memory operations?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does it mean for a write to memory to be visible to all threads?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21A0C-74E3-8F21-FBEA-10CA9A01C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8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088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09D1233-0922-4880-CA52-B9B566F049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Reasons</a:t>
            </a:r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2FF7FA-2526-F12A-EB0B-69119F73A0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7859" y="3302000"/>
            <a:ext cx="4898103" cy="357261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F10F42-B94B-C899-6E76-EC4D6134F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976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B86FE-590A-63EC-F9CA-0A3743B3D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Non-answer: private caches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CF4221-F9B1-7407-C8AA-37B2015404A0}"/>
              </a:ext>
            </a:extLst>
          </p:cNvPr>
          <p:cNvSpPr txBox="1"/>
          <p:nvPr/>
        </p:nvSpPr>
        <p:spPr>
          <a:xfrm>
            <a:off x="4107124" y="5644810"/>
            <a:ext cx="888592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2400" i="1"/>
            </a:lvl1pPr>
          </a:lstStyle>
          <a:p>
            <a:r>
              <a:rPr lang="en-US"/>
              <a:t>Core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D08C8D-06FA-6A9C-D942-2F4A19783D56}"/>
              </a:ext>
            </a:extLst>
          </p:cNvPr>
          <p:cNvSpPr txBox="1"/>
          <p:nvPr/>
        </p:nvSpPr>
        <p:spPr>
          <a:xfrm>
            <a:off x="6462399" y="5644810"/>
            <a:ext cx="888592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Core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6C05AF-9A7E-13F5-FBAC-59C99D066813}"/>
              </a:ext>
            </a:extLst>
          </p:cNvPr>
          <p:cNvSpPr txBox="1"/>
          <p:nvPr/>
        </p:nvSpPr>
        <p:spPr>
          <a:xfrm>
            <a:off x="3700726" y="1968756"/>
            <a:ext cx="4084374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 anchor="t" anchorCtr="0">
            <a:noAutofit/>
          </a:bodyPr>
          <a:lstStyle>
            <a:defPPr>
              <a:defRPr lang="LID4096"/>
            </a:defPPr>
            <a:lvl1pPr algn="ctr">
              <a:defRPr sz="3600"/>
            </a:lvl1pPr>
          </a:lstStyle>
          <a:p>
            <a:r>
              <a:rPr lang="en-US" dirty="0"/>
              <a:t>Memory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C293C9-E9D1-1A0A-2BCD-6A48BDD7A816}"/>
              </a:ext>
            </a:extLst>
          </p:cNvPr>
          <p:cNvSpPr txBox="1"/>
          <p:nvPr/>
        </p:nvSpPr>
        <p:spPr>
          <a:xfrm>
            <a:off x="3700726" y="2945777"/>
            <a:ext cx="4084374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 anchor="t" anchorCtr="0">
            <a:noAutofit/>
          </a:bodyPr>
          <a:lstStyle>
            <a:defPPr>
              <a:defRPr lang="LID4096"/>
            </a:defPPr>
            <a:lvl1pPr algn="ctr">
              <a:defRPr sz="3600"/>
            </a:lvl1pPr>
          </a:lstStyle>
          <a:p>
            <a:r>
              <a:rPr lang="en-US" sz="2800" dirty="0"/>
              <a:t>L2/L3: Shared Caches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7AD82F-E167-6443-6347-A8DE012E0E47}"/>
              </a:ext>
            </a:extLst>
          </p:cNvPr>
          <p:cNvSpPr txBox="1"/>
          <p:nvPr/>
        </p:nvSpPr>
        <p:spPr>
          <a:xfrm>
            <a:off x="3857743" y="4492343"/>
            <a:ext cx="1387355" cy="83099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2400" i="1"/>
            </a:lvl1pPr>
          </a:lstStyle>
          <a:p>
            <a:r>
              <a:rPr lang="en-US" i="0" dirty="0"/>
              <a:t>L1 Cache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6EAAD8-0CAA-B9FC-727C-BE4311E5EB5E}"/>
              </a:ext>
            </a:extLst>
          </p:cNvPr>
          <p:cNvSpPr txBox="1"/>
          <p:nvPr/>
        </p:nvSpPr>
        <p:spPr>
          <a:xfrm>
            <a:off x="6213017" y="4492343"/>
            <a:ext cx="1387356" cy="83099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2400" i="1"/>
            </a:lvl1pPr>
          </a:lstStyle>
          <a:p>
            <a:r>
              <a:rPr lang="en-US" i="0" dirty="0"/>
              <a:t>L1 Cache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AC7948A-3FF7-38D7-8ADC-AC7DD0D6496C}"/>
              </a:ext>
            </a:extLst>
          </p:cNvPr>
          <p:cNvCxnSpPr>
            <a:stCxn id="4" idx="0"/>
            <a:endCxn id="9" idx="2"/>
          </p:cNvCxnSpPr>
          <p:nvPr/>
        </p:nvCxnSpPr>
        <p:spPr>
          <a:xfrm flipV="1">
            <a:off x="4551420" y="5323340"/>
            <a:ext cx="1" cy="321470"/>
          </a:xfrm>
          <a:prstGeom prst="straightConnector1">
            <a:avLst/>
          </a:prstGeom>
          <a:ln w="444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5CAA61-CC5A-96F5-06EE-2858590D8B95}"/>
              </a:ext>
            </a:extLst>
          </p:cNvPr>
          <p:cNvCxnSpPr>
            <a:cxnSpLocks/>
            <a:stCxn id="6" idx="0"/>
            <a:endCxn id="10" idx="2"/>
          </p:cNvCxnSpPr>
          <p:nvPr/>
        </p:nvCxnSpPr>
        <p:spPr>
          <a:xfrm flipV="1">
            <a:off x="6906695" y="5323340"/>
            <a:ext cx="0" cy="321470"/>
          </a:xfrm>
          <a:prstGeom prst="straightConnector1">
            <a:avLst/>
          </a:prstGeom>
          <a:ln w="444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07DB9E2-D0B6-C084-9A66-97AA28D72049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6906695" y="3429000"/>
            <a:ext cx="0" cy="1063343"/>
          </a:xfrm>
          <a:prstGeom prst="straightConnector1">
            <a:avLst/>
          </a:prstGeom>
          <a:ln w="444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A592DD0-3A13-1653-04E2-42AC415B397B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4551421" y="3429000"/>
            <a:ext cx="0" cy="1063343"/>
          </a:xfrm>
          <a:prstGeom prst="straightConnector1">
            <a:avLst/>
          </a:prstGeom>
          <a:ln w="444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E2228A-D90A-4AAE-E7C0-D1A0ECCAD741}"/>
              </a:ext>
            </a:extLst>
          </p:cNvPr>
          <p:cNvCxnSpPr>
            <a:cxnSpLocks/>
          </p:cNvCxnSpPr>
          <p:nvPr/>
        </p:nvCxnSpPr>
        <p:spPr>
          <a:xfrm flipV="1">
            <a:off x="5759483" y="2631588"/>
            <a:ext cx="0" cy="314189"/>
          </a:xfrm>
          <a:prstGeom prst="straightConnector1">
            <a:avLst/>
          </a:prstGeom>
          <a:ln w="444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D609F2F-C5D2-7F85-F219-77340A96F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53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8F41E-37FA-43AF-06DA-2C6F9FAAF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Non-answer: private caches</a:t>
            </a:r>
            <a:endParaRPr lang="LID4096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B7832E-8131-976B-A9B0-6A6002CB0B0E}"/>
              </a:ext>
            </a:extLst>
          </p:cNvPr>
          <p:cNvSpPr txBox="1"/>
          <p:nvPr/>
        </p:nvSpPr>
        <p:spPr>
          <a:xfrm>
            <a:off x="6814067" y="5400983"/>
            <a:ext cx="2252516" cy="6463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i="1" dirty="0"/>
              <a:t>Core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6606B1-85B1-D8D3-908C-C4512A6FC2DA}"/>
              </a:ext>
            </a:extLst>
          </p:cNvPr>
          <p:cNvSpPr txBox="1"/>
          <p:nvPr/>
        </p:nvSpPr>
        <p:spPr>
          <a:xfrm>
            <a:off x="2265105" y="1527261"/>
            <a:ext cx="7229426" cy="12474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 anchor="t" anchorCtr="0">
            <a:noAutofit/>
          </a:bodyPr>
          <a:lstStyle/>
          <a:p>
            <a:pPr algn="ctr"/>
            <a:r>
              <a:rPr lang="en-US" sz="3600" dirty="0"/>
              <a:t>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90B635-0EDC-BBF8-3221-D7A833D71EEF}"/>
              </a:ext>
            </a:extLst>
          </p:cNvPr>
          <p:cNvSpPr txBox="1"/>
          <p:nvPr/>
        </p:nvSpPr>
        <p:spPr>
          <a:xfrm>
            <a:off x="6207265" y="3174274"/>
            <a:ext cx="3178629" cy="1847631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>
            <a:defPPr>
              <a:defRPr lang="LID4096"/>
            </a:defPPr>
            <a:lvl1pPr algn="ctr">
              <a:defRPr sz="3600"/>
            </a:lvl1pPr>
          </a:lstStyle>
          <a:p>
            <a:r>
              <a:rPr lang="en-US" dirty="0"/>
              <a:t>L1 Cache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7A57FD-81DB-62CB-F182-9B8E127DD24A}"/>
              </a:ext>
            </a:extLst>
          </p:cNvPr>
          <p:cNvSpPr txBox="1"/>
          <p:nvPr/>
        </p:nvSpPr>
        <p:spPr>
          <a:xfrm>
            <a:off x="6776765" y="2154588"/>
            <a:ext cx="2252516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2800">
                <a:latin typeface="Consolas" panose="020B0609020204030204" pitchFamily="49" charset="0"/>
              </a:defRPr>
            </a:lvl1pPr>
          </a:lstStyle>
          <a:p>
            <a:r>
              <a:rPr lang="en-US" dirty="0" err="1"/>
              <a:t>deadcafe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33A759-F579-E578-25E3-DC95975FF335}"/>
              </a:ext>
            </a:extLst>
          </p:cNvPr>
          <p:cNvSpPr txBox="1"/>
          <p:nvPr/>
        </p:nvSpPr>
        <p:spPr>
          <a:xfrm>
            <a:off x="6785479" y="2151010"/>
            <a:ext cx="2252516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latin typeface="Consolas" panose="020B0609020204030204" pitchFamily="49" charset="0"/>
              </a:rPr>
              <a:t>deadcafe</a:t>
            </a:r>
            <a:endParaRPr lang="en-US" sz="2800" dirty="0">
              <a:latin typeface="Consolas" panose="020B0609020204030204" pitchFamily="49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6DC36CE-A06B-C854-CC3D-ADB0A3E70D77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7940325" y="4548477"/>
            <a:ext cx="0" cy="852506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D3AD2A9-4C91-E32C-090B-4A9CE420AE89}"/>
              </a:ext>
            </a:extLst>
          </p:cNvPr>
          <p:cNvSpPr txBox="1"/>
          <p:nvPr/>
        </p:nvSpPr>
        <p:spPr>
          <a:xfrm>
            <a:off x="6540789" y="3925006"/>
            <a:ext cx="2252516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onsolas" panose="020B0609020204030204" pitchFamily="49" charset="0"/>
              </a:rPr>
              <a:t>deadc</a:t>
            </a:r>
            <a:r>
              <a:rPr lang="en-US" sz="2800" b="1" dirty="0">
                <a:highlight>
                  <a:srgbClr val="FFFF00"/>
                </a:highlight>
                <a:latin typeface="Consolas" panose="020B0609020204030204" pitchFamily="49" charset="0"/>
              </a:rPr>
              <a:t>9</a:t>
            </a:r>
            <a:r>
              <a:rPr lang="en-US" sz="2800" dirty="0">
                <a:latin typeface="Consolas" panose="020B0609020204030204" pitchFamily="49" charset="0"/>
              </a:rPr>
              <a:t>fe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D9361A-DCD8-B942-C976-7303663BC0B4}"/>
              </a:ext>
            </a:extLst>
          </p:cNvPr>
          <p:cNvSpPr txBox="1"/>
          <p:nvPr/>
        </p:nvSpPr>
        <p:spPr>
          <a:xfrm>
            <a:off x="2485755" y="3174274"/>
            <a:ext cx="2818819" cy="1847631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>
            <a:defPPr>
              <a:defRPr lang="LID4096"/>
            </a:defPPr>
            <a:lvl1pPr algn="ctr">
              <a:defRPr sz="3600"/>
            </a:lvl1pPr>
          </a:lstStyle>
          <a:p>
            <a:r>
              <a:rPr lang="en-US" dirty="0"/>
              <a:t>L1 Cache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4ED6B0-8BC6-3BD7-2052-E2612A0305EC}"/>
              </a:ext>
            </a:extLst>
          </p:cNvPr>
          <p:cNvSpPr txBox="1"/>
          <p:nvPr/>
        </p:nvSpPr>
        <p:spPr>
          <a:xfrm>
            <a:off x="2789221" y="3902146"/>
            <a:ext cx="2252516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latin typeface="Consolas" panose="020B0609020204030204" pitchFamily="49" charset="0"/>
              </a:rPr>
              <a:t>deadcafe</a:t>
            </a:r>
            <a:endParaRPr lang="en-US" sz="2800" dirty="0">
              <a:latin typeface="Consolas" panose="020B0609020204030204" pitchFamily="49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48DDAEF-EA88-0D72-8E32-59E40C9FD068}"/>
              </a:ext>
            </a:extLst>
          </p:cNvPr>
          <p:cNvCxnSpPr>
            <a:cxnSpLocks/>
          </p:cNvCxnSpPr>
          <p:nvPr/>
        </p:nvCxnSpPr>
        <p:spPr>
          <a:xfrm flipH="1">
            <a:off x="5304574" y="4181547"/>
            <a:ext cx="902691" cy="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ultiplication Sign 31">
            <a:extLst>
              <a:ext uri="{FF2B5EF4-FFF2-40B4-BE49-F238E27FC236}">
                <a16:creationId xmlns:a16="http://schemas.microsoft.com/office/drawing/2014/main" id="{792C10BC-756B-55F4-CD7E-7182AFEF068E}"/>
              </a:ext>
            </a:extLst>
          </p:cNvPr>
          <p:cNvSpPr/>
          <p:nvPr/>
        </p:nvSpPr>
        <p:spPr>
          <a:xfrm>
            <a:off x="2265105" y="3833721"/>
            <a:ext cx="3357192" cy="762783"/>
          </a:xfrm>
          <a:prstGeom prst="mathMultiply">
            <a:avLst/>
          </a:prstGeom>
          <a:solidFill>
            <a:srgbClr val="6C0000">
              <a:alpha val="80000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DF1774-D2C8-D835-25DE-40D8E4F2D4CC}"/>
              </a:ext>
            </a:extLst>
          </p:cNvPr>
          <p:cNvSpPr txBox="1"/>
          <p:nvPr/>
        </p:nvSpPr>
        <p:spPr>
          <a:xfrm>
            <a:off x="2789221" y="5400983"/>
            <a:ext cx="2252516" cy="6463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i="1" dirty="0"/>
              <a:t>Core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9BD6D-4B45-7E22-7A2B-39200AD24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11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553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4.81481E-6 L -0.01927 0.25718 " pathEditMode="relative" rAng="0" ptsTypes="AA">
                                      <p:cBhvr>
                                        <p:cTn id="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64" y="12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2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4" grpId="0" animBg="1"/>
      <p:bldP spid="27" grpId="0" animBg="1"/>
      <p:bldP spid="3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74853-8D7D-1858-37EE-88085060E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Non-answer: private caches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37D21C-679A-76CD-242C-F31CAB2A24E2}"/>
              </a:ext>
            </a:extLst>
          </p:cNvPr>
          <p:cNvSpPr txBox="1"/>
          <p:nvPr/>
        </p:nvSpPr>
        <p:spPr>
          <a:xfrm>
            <a:off x="6814067" y="5400983"/>
            <a:ext cx="2252516" cy="6463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i="1" dirty="0"/>
              <a:t>Core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5AE8A-1284-8FD8-D160-3A5BB23B2BBF}"/>
              </a:ext>
            </a:extLst>
          </p:cNvPr>
          <p:cNvSpPr txBox="1"/>
          <p:nvPr/>
        </p:nvSpPr>
        <p:spPr>
          <a:xfrm>
            <a:off x="2265105" y="1527261"/>
            <a:ext cx="7229426" cy="12474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 anchor="t" anchorCtr="0">
            <a:noAutofit/>
          </a:bodyPr>
          <a:lstStyle/>
          <a:p>
            <a:pPr algn="ctr"/>
            <a:r>
              <a:rPr lang="en-US" sz="3600" dirty="0"/>
              <a:t>Memory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FF1FE3-E83D-D6ED-2CFA-AEF41545A172}"/>
              </a:ext>
            </a:extLst>
          </p:cNvPr>
          <p:cNvSpPr txBox="1"/>
          <p:nvPr/>
        </p:nvSpPr>
        <p:spPr>
          <a:xfrm>
            <a:off x="6207265" y="3174274"/>
            <a:ext cx="3178629" cy="1847631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>
            <a:defPPr>
              <a:defRPr lang="LID4096"/>
            </a:defPPr>
            <a:lvl1pPr algn="ctr">
              <a:defRPr sz="3600"/>
            </a:lvl1pPr>
          </a:lstStyle>
          <a:p>
            <a:r>
              <a:rPr lang="en-US" dirty="0"/>
              <a:t>L1 Cache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5EA765-30E6-B09A-44F4-EB57E88DBAB4}"/>
              </a:ext>
            </a:extLst>
          </p:cNvPr>
          <p:cNvSpPr txBox="1"/>
          <p:nvPr/>
        </p:nvSpPr>
        <p:spPr>
          <a:xfrm>
            <a:off x="6776765" y="2154588"/>
            <a:ext cx="2252516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2800">
                <a:latin typeface="Consolas" panose="020B0609020204030204" pitchFamily="49" charset="0"/>
              </a:defRPr>
            </a:lvl1pPr>
          </a:lstStyle>
          <a:p>
            <a:r>
              <a:rPr lang="en-US" dirty="0" err="1"/>
              <a:t>deadcafe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181CD6-C442-54E6-11AC-DE67BAB1F9EA}"/>
              </a:ext>
            </a:extLst>
          </p:cNvPr>
          <p:cNvSpPr txBox="1"/>
          <p:nvPr/>
        </p:nvSpPr>
        <p:spPr>
          <a:xfrm>
            <a:off x="6540789" y="3925006"/>
            <a:ext cx="2252516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onsolas" panose="020B0609020204030204" pitchFamily="49" charset="0"/>
              </a:rPr>
              <a:t>deadc</a:t>
            </a:r>
            <a:r>
              <a:rPr lang="en-US" sz="2800" b="1" dirty="0">
                <a:highlight>
                  <a:srgbClr val="FFFF00"/>
                </a:highlight>
                <a:latin typeface="Consolas" panose="020B0609020204030204" pitchFamily="49" charset="0"/>
              </a:rPr>
              <a:t>9</a:t>
            </a:r>
            <a:r>
              <a:rPr lang="en-US" sz="2800" dirty="0">
                <a:latin typeface="Consolas" panose="020B0609020204030204" pitchFamily="49" charset="0"/>
              </a:rPr>
              <a:t>fe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284C30-9539-8281-90A8-4849B6884C63}"/>
              </a:ext>
            </a:extLst>
          </p:cNvPr>
          <p:cNvSpPr txBox="1"/>
          <p:nvPr/>
        </p:nvSpPr>
        <p:spPr>
          <a:xfrm>
            <a:off x="2485755" y="3174274"/>
            <a:ext cx="2818819" cy="1847631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>
            <a:defPPr>
              <a:defRPr lang="LID4096"/>
            </a:defPPr>
            <a:lvl1pPr algn="ctr">
              <a:defRPr sz="3600"/>
            </a:lvl1pPr>
          </a:lstStyle>
          <a:p>
            <a:r>
              <a:rPr lang="en-US" dirty="0"/>
              <a:t>L1 Cache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B8E46B-1C8E-24C3-D91B-9111137D9EBF}"/>
              </a:ext>
            </a:extLst>
          </p:cNvPr>
          <p:cNvSpPr txBox="1"/>
          <p:nvPr/>
        </p:nvSpPr>
        <p:spPr>
          <a:xfrm>
            <a:off x="2789221" y="3902146"/>
            <a:ext cx="2252516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latin typeface="Consolas" panose="020B0609020204030204" pitchFamily="49" charset="0"/>
              </a:rPr>
              <a:t>deadcafe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8748119B-0826-68B4-CBB6-A3B86F77A05A}"/>
              </a:ext>
            </a:extLst>
          </p:cNvPr>
          <p:cNvSpPr/>
          <p:nvPr/>
        </p:nvSpPr>
        <p:spPr>
          <a:xfrm>
            <a:off x="2265105" y="3833721"/>
            <a:ext cx="3357192" cy="762783"/>
          </a:xfrm>
          <a:prstGeom prst="mathMultiply">
            <a:avLst/>
          </a:prstGeom>
          <a:solidFill>
            <a:srgbClr val="6C0000">
              <a:alpha val="80000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AFA0CB-F48E-1A81-1E2F-4E3AB6175797}"/>
              </a:ext>
            </a:extLst>
          </p:cNvPr>
          <p:cNvSpPr txBox="1"/>
          <p:nvPr/>
        </p:nvSpPr>
        <p:spPr>
          <a:xfrm>
            <a:off x="2789221" y="5400983"/>
            <a:ext cx="2252516" cy="6463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i="1" dirty="0"/>
              <a:t>Core</a:t>
            </a:r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3C4FABE0-9654-D45E-9E94-62B33C3D7EF3}"/>
              </a:ext>
            </a:extLst>
          </p:cNvPr>
          <p:cNvSpPr/>
          <p:nvPr/>
        </p:nvSpPr>
        <p:spPr>
          <a:xfrm>
            <a:off x="3603064" y="4431861"/>
            <a:ext cx="584200" cy="97561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?</a:t>
            </a:r>
            <a:endParaRPr lang="LID4096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AC28B8-5F62-BE03-8A17-2B76B55E3090}"/>
              </a:ext>
            </a:extLst>
          </p:cNvPr>
          <p:cNvSpPr txBox="1"/>
          <p:nvPr/>
        </p:nvSpPr>
        <p:spPr>
          <a:xfrm>
            <a:off x="6524988" y="3912306"/>
            <a:ext cx="2252516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onsolas" panose="020B0609020204030204" pitchFamily="49" charset="0"/>
              </a:rPr>
              <a:t>deadc</a:t>
            </a:r>
            <a:r>
              <a:rPr lang="en-US" sz="2800" b="1" dirty="0">
                <a:highlight>
                  <a:srgbClr val="FFFF00"/>
                </a:highlight>
                <a:latin typeface="Consolas" panose="020B0609020204030204" pitchFamily="49" charset="0"/>
              </a:rPr>
              <a:t>9</a:t>
            </a:r>
            <a:r>
              <a:rPr lang="en-US" sz="2800" dirty="0">
                <a:latin typeface="Consolas" panose="020B0609020204030204" pitchFamily="49" charset="0"/>
              </a:rPr>
              <a:t>fe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9D98825-1954-C19C-8F39-9ED460759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12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94482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5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4.81481E-6 L -0.30638 -4.81481E-6 " pathEditMode="relative" rAng="0" ptsTypes="AA">
                                      <p:cBhvr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32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25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6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4" grpId="0" animBg="1"/>
      <p:bldP spid="16" grpId="0" animBg="1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77C62-E769-E6A4-0C53-C1884B9A5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Coherence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6DAD7-79B1-5714-000E-DD77D6EB1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13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49E3F6-FFC1-EFF4-C082-4D5E537C2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Cache line states: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Cache coherence protocols:</a:t>
            </a:r>
          </a:p>
          <a:p>
            <a:pPr lvl="1"/>
            <a:r>
              <a:rPr lang="en-US" dirty="0"/>
              <a:t>MESI</a:t>
            </a:r>
          </a:p>
          <a:p>
            <a:pPr lvl="1"/>
            <a:r>
              <a:rPr lang="en-US" dirty="0"/>
              <a:t>(MOESI, MESIF, ACE/CHI…)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D137AC-2A17-7405-CC7E-3FE26696FCAB}"/>
              </a:ext>
            </a:extLst>
          </p:cNvPr>
          <p:cNvSpPr txBox="1"/>
          <p:nvPr/>
        </p:nvSpPr>
        <p:spPr>
          <a:xfrm>
            <a:off x="4521200" y="2259114"/>
            <a:ext cx="1447800" cy="4616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Valid</a:t>
            </a:r>
            <a:endParaRPr lang="LID4096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AC296B-5ACD-6D07-71EC-61EE6003C1D6}"/>
              </a:ext>
            </a:extLst>
          </p:cNvPr>
          <p:cNvSpPr txBox="1"/>
          <p:nvPr/>
        </p:nvSpPr>
        <p:spPr>
          <a:xfrm>
            <a:off x="4521200" y="3019613"/>
            <a:ext cx="1447800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Invalid</a:t>
            </a:r>
            <a:endParaRPr lang="LID4096" sz="24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47C9756-9479-088A-2068-78C412FA2A17}"/>
              </a:ext>
            </a:extLst>
          </p:cNvPr>
          <p:cNvGrpSpPr/>
          <p:nvPr/>
        </p:nvGrpSpPr>
        <p:grpSpPr>
          <a:xfrm>
            <a:off x="5969000" y="1646238"/>
            <a:ext cx="3733800" cy="2169990"/>
            <a:chOff x="5969000" y="1646238"/>
            <a:chExt cx="3733800" cy="2169990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2338C1F-5C44-CB4A-ED5F-978CA713EEB2}"/>
                </a:ext>
              </a:extLst>
            </p:cNvPr>
            <p:cNvGrpSpPr/>
            <p:nvPr/>
          </p:nvGrpSpPr>
          <p:grpSpPr>
            <a:xfrm>
              <a:off x="5969000" y="1646238"/>
              <a:ext cx="3733800" cy="843709"/>
              <a:chOff x="5969000" y="1646238"/>
              <a:chExt cx="3733800" cy="843709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9F39A62-4727-F4F6-5B61-95BB3B85C3B9}"/>
                  </a:ext>
                </a:extLst>
              </p:cNvPr>
              <p:cNvSpPr txBox="1"/>
              <p:nvPr/>
            </p:nvSpPr>
            <p:spPr>
              <a:xfrm>
                <a:off x="8102600" y="1646238"/>
                <a:ext cx="1600200" cy="461665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 M</a:t>
                </a:r>
                <a:r>
                  <a:rPr lang="en-US" sz="2400" dirty="0"/>
                  <a:t>odified</a:t>
                </a:r>
                <a:endParaRPr lang="LID4096" sz="2400" dirty="0"/>
              </a:p>
            </p:txBody>
          </p:sp>
          <p:cxnSp>
            <p:nvCxnSpPr>
              <p:cNvPr id="14" name="Connector: Elbow 13">
                <a:extLst>
                  <a:ext uri="{FF2B5EF4-FFF2-40B4-BE49-F238E27FC236}">
                    <a16:creationId xmlns:a16="http://schemas.microsoft.com/office/drawing/2014/main" id="{3CFA7450-52B8-2D75-4ABF-45D9B6831466}"/>
                  </a:ext>
                </a:extLst>
              </p:cNvPr>
              <p:cNvCxnSpPr>
                <a:stCxn id="7" idx="3"/>
                <a:endCxn id="11" idx="1"/>
              </p:cNvCxnSpPr>
              <p:nvPr/>
            </p:nvCxnSpPr>
            <p:spPr>
              <a:xfrm flipV="1">
                <a:off x="5969000" y="1877071"/>
                <a:ext cx="2133600" cy="612876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8CA47630-30A1-1C25-B65D-A98BA369C4C2}"/>
                </a:ext>
              </a:extLst>
            </p:cNvPr>
            <p:cNvGrpSpPr/>
            <p:nvPr/>
          </p:nvGrpSpPr>
          <p:grpSpPr>
            <a:xfrm>
              <a:off x="5969000" y="2200460"/>
              <a:ext cx="3733800" cy="461665"/>
              <a:chOff x="5969000" y="2200460"/>
              <a:chExt cx="3733800" cy="461665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3A51FDA-1220-E687-32CB-7FEA931CBE64}"/>
                  </a:ext>
                </a:extLst>
              </p:cNvPr>
              <p:cNvSpPr txBox="1"/>
              <p:nvPr/>
            </p:nvSpPr>
            <p:spPr>
              <a:xfrm>
                <a:off x="8102600" y="2200460"/>
                <a:ext cx="1600200" cy="461665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 E</a:t>
                </a:r>
                <a:r>
                  <a:rPr lang="en-US" sz="2400" dirty="0"/>
                  <a:t>xclusive</a:t>
                </a:r>
                <a:endParaRPr lang="LID4096" sz="2400" dirty="0"/>
              </a:p>
            </p:txBody>
          </p:sp>
          <p:cxnSp>
            <p:nvCxnSpPr>
              <p:cNvPr id="16" name="Connector: Elbow 15">
                <a:extLst>
                  <a:ext uri="{FF2B5EF4-FFF2-40B4-BE49-F238E27FC236}">
                    <a16:creationId xmlns:a16="http://schemas.microsoft.com/office/drawing/2014/main" id="{A2F8A262-4BCA-1861-2B27-DCD213E28995}"/>
                  </a:ext>
                </a:extLst>
              </p:cNvPr>
              <p:cNvCxnSpPr>
                <a:stCxn id="7" idx="3"/>
                <a:endCxn id="9" idx="1"/>
              </p:cNvCxnSpPr>
              <p:nvPr/>
            </p:nvCxnSpPr>
            <p:spPr>
              <a:xfrm flipV="1">
                <a:off x="5969000" y="2431293"/>
                <a:ext cx="2133600" cy="58654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7026A28F-7628-3477-EFAF-2B1CBB6D03A4}"/>
                </a:ext>
              </a:extLst>
            </p:cNvPr>
            <p:cNvGrpSpPr/>
            <p:nvPr/>
          </p:nvGrpSpPr>
          <p:grpSpPr>
            <a:xfrm>
              <a:off x="5969000" y="2489947"/>
              <a:ext cx="3733800" cy="732407"/>
              <a:chOff x="5969000" y="2489947"/>
              <a:chExt cx="3733800" cy="732407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F51DA5-D24D-0E28-7B91-BE62AD15AE9C}"/>
                  </a:ext>
                </a:extLst>
              </p:cNvPr>
              <p:cNvSpPr txBox="1"/>
              <p:nvPr/>
            </p:nvSpPr>
            <p:spPr>
              <a:xfrm>
                <a:off x="8102600" y="2760689"/>
                <a:ext cx="1600200" cy="461665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 S</a:t>
                </a:r>
                <a:r>
                  <a:rPr lang="en-US" sz="2400" dirty="0"/>
                  <a:t>hared</a:t>
                </a:r>
                <a:endParaRPr lang="LID4096" sz="2400" dirty="0"/>
              </a:p>
            </p:txBody>
          </p:sp>
          <p:cxnSp>
            <p:nvCxnSpPr>
              <p:cNvPr id="18" name="Connector: Elbow 17">
                <a:extLst>
                  <a:ext uri="{FF2B5EF4-FFF2-40B4-BE49-F238E27FC236}">
                    <a16:creationId xmlns:a16="http://schemas.microsoft.com/office/drawing/2014/main" id="{D0B20A2A-6F3E-C26B-74F6-B9957D3D52EF}"/>
                  </a:ext>
                </a:extLst>
              </p:cNvPr>
              <p:cNvCxnSpPr>
                <a:stCxn id="7" idx="3"/>
                <a:endCxn id="10" idx="1"/>
              </p:cNvCxnSpPr>
              <p:nvPr/>
            </p:nvCxnSpPr>
            <p:spPr>
              <a:xfrm>
                <a:off x="5969000" y="2489947"/>
                <a:ext cx="2133600" cy="501575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1C0A032F-7F2A-43E5-6353-049726496A31}"/>
                </a:ext>
              </a:extLst>
            </p:cNvPr>
            <p:cNvGrpSpPr/>
            <p:nvPr/>
          </p:nvGrpSpPr>
          <p:grpSpPr>
            <a:xfrm>
              <a:off x="5969000" y="3250446"/>
              <a:ext cx="3733800" cy="565782"/>
              <a:chOff x="5969000" y="3250446"/>
              <a:chExt cx="3733800" cy="565782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6AAEA2E-74B0-C90F-480F-6A7DEEB07ADC}"/>
                  </a:ext>
                </a:extLst>
              </p:cNvPr>
              <p:cNvSpPr txBox="1"/>
              <p:nvPr/>
            </p:nvSpPr>
            <p:spPr>
              <a:xfrm>
                <a:off x="8102600" y="3354563"/>
                <a:ext cx="1600200" cy="461665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 I</a:t>
                </a:r>
                <a:r>
                  <a:rPr lang="en-US" sz="2400" dirty="0"/>
                  <a:t>nvalid</a:t>
                </a:r>
                <a:endParaRPr lang="LID4096" sz="2400" dirty="0"/>
              </a:p>
            </p:txBody>
          </p:sp>
          <p:cxnSp>
            <p:nvCxnSpPr>
              <p:cNvPr id="20" name="Connector: Elbow 19">
                <a:extLst>
                  <a:ext uri="{FF2B5EF4-FFF2-40B4-BE49-F238E27FC236}">
                    <a16:creationId xmlns:a16="http://schemas.microsoft.com/office/drawing/2014/main" id="{298045F4-80E7-7AFC-D171-EB3421040271}"/>
                  </a:ext>
                </a:extLst>
              </p:cNvPr>
              <p:cNvCxnSpPr>
                <a:stCxn id="8" idx="3"/>
                <a:endCxn id="12" idx="1"/>
              </p:cNvCxnSpPr>
              <p:nvPr/>
            </p:nvCxnSpPr>
            <p:spPr>
              <a:xfrm>
                <a:off x="5969000" y="3250446"/>
                <a:ext cx="2133600" cy="334950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10330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591BC-37A4-B650-B1DB-9E092EF0F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A748F-44CB-878F-0601-D09471500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#1: Invalidate queues</a:t>
            </a:r>
            <a:endParaRPr lang="LID4096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0FDF90-2078-388D-4421-D55D5AAA9ECA}"/>
              </a:ext>
            </a:extLst>
          </p:cNvPr>
          <p:cNvSpPr txBox="1"/>
          <p:nvPr/>
        </p:nvSpPr>
        <p:spPr>
          <a:xfrm>
            <a:off x="4897306" y="5400983"/>
            <a:ext cx="2252516" cy="6463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>
            <a:defPPr>
              <a:defRPr lang="LID4096"/>
            </a:defPPr>
            <a:lvl1pPr algn="ctr">
              <a:defRPr sz="3600"/>
            </a:lvl1pPr>
          </a:lstStyle>
          <a:p>
            <a:r>
              <a:rPr lang="en-US" dirty="0"/>
              <a:t>Core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669F4B-2BF8-7422-D8D7-684132F3FCB5}"/>
              </a:ext>
            </a:extLst>
          </p:cNvPr>
          <p:cNvSpPr txBox="1"/>
          <p:nvPr/>
        </p:nvSpPr>
        <p:spPr>
          <a:xfrm>
            <a:off x="8127999" y="1811291"/>
            <a:ext cx="3338279" cy="391285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 anchor="t" anchorCtr="0">
            <a:noAutofit/>
          </a:bodyPr>
          <a:lstStyle>
            <a:defPPr>
              <a:defRPr lang="LID4096"/>
            </a:defPPr>
            <a:lvl1pPr algn="ctr">
              <a:defRPr sz="3600"/>
            </a:lvl1pPr>
          </a:lstStyle>
          <a:p>
            <a:r>
              <a:rPr lang="en-US" dirty="0"/>
              <a:t>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57C55F-A270-15E6-BBB1-46C87E9CDCCF}"/>
              </a:ext>
            </a:extLst>
          </p:cNvPr>
          <p:cNvSpPr txBox="1"/>
          <p:nvPr/>
        </p:nvSpPr>
        <p:spPr>
          <a:xfrm>
            <a:off x="4290504" y="1959428"/>
            <a:ext cx="3178629" cy="2239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>
            <a:defPPr>
              <a:defRPr lang="LID4096"/>
            </a:defPPr>
            <a:lvl1pPr algn="ctr">
              <a:defRPr sz="3600"/>
            </a:lvl1pPr>
          </a:lstStyle>
          <a:p>
            <a:r>
              <a:rPr lang="en-US" dirty="0"/>
              <a:t>L1 Cache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22FD1B-CB25-39F0-D692-36A979E44081}"/>
              </a:ext>
            </a:extLst>
          </p:cNvPr>
          <p:cNvSpPr txBox="1"/>
          <p:nvPr/>
        </p:nvSpPr>
        <p:spPr>
          <a:xfrm>
            <a:off x="8670880" y="3068988"/>
            <a:ext cx="2252516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latin typeface="Consolas" panose="020B0609020204030204" pitchFamily="49" charset="0"/>
              </a:rPr>
              <a:t>deadcafe</a:t>
            </a:r>
            <a:endParaRPr lang="en-US" sz="3600" dirty="0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3A17C9-D3B5-045A-863B-25E23FC4A7F4}"/>
              </a:ext>
            </a:extLst>
          </p:cNvPr>
          <p:cNvSpPr txBox="1"/>
          <p:nvPr/>
        </p:nvSpPr>
        <p:spPr>
          <a:xfrm>
            <a:off x="8670880" y="3079186"/>
            <a:ext cx="2252516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latin typeface="Consolas" panose="020B0609020204030204" pitchFamily="49" charset="0"/>
              </a:rPr>
              <a:t>deadcafe</a:t>
            </a:r>
            <a:endParaRPr lang="en-US" sz="3600" dirty="0">
              <a:latin typeface="Consolas" panose="020B0609020204030204" pitchFamily="49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737D18D-20E6-FB0C-9A76-7D791543FD31}"/>
              </a:ext>
            </a:extLst>
          </p:cNvPr>
          <p:cNvCxnSpPr>
            <a:stCxn id="5" idx="0"/>
          </p:cNvCxnSpPr>
          <p:nvPr/>
        </p:nvCxnSpPr>
        <p:spPr>
          <a:xfrm flipV="1">
            <a:off x="6023564" y="3715319"/>
            <a:ext cx="0" cy="1685664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C84C75E-FF8E-CCF1-263B-39644CA71AF5}"/>
              </a:ext>
            </a:extLst>
          </p:cNvPr>
          <p:cNvSpPr txBox="1"/>
          <p:nvPr/>
        </p:nvSpPr>
        <p:spPr>
          <a:xfrm>
            <a:off x="4631648" y="3079186"/>
            <a:ext cx="2252516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Consolas" panose="020B0609020204030204" pitchFamily="49" charset="0"/>
              </a:rPr>
              <a:t>deadc</a:t>
            </a:r>
            <a:r>
              <a:rPr lang="en-US" sz="3600" b="1" dirty="0">
                <a:highlight>
                  <a:srgbClr val="FFFF00"/>
                </a:highlight>
                <a:latin typeface="Consolas" panose="020B0609020204030204" pitchFamily="49" charset="0"/>
              </a:rPr>
              <a:t>9</a:t>
            </a:r>
            <a:r>
              <a:rPr lang="en-US" sz="3600" dirty="0">
                <a:latin typeface="Consolas" panose="020B0609020204030204" pitchFamily="49" charset="0"/>
              </a:rPr>
              <a:t>fe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1EC780-7D68-B32E-5434-D82B309BF9AF}"/>
              </a:ext>
            </a:extLst>
          </p:cNvPr>
          <p:cNvSpPr txBox="1"/>
          <p:nvPr/>
        </p:nvSpPr>
        <p:spPr>
          <a:xfrm>
            <a:off x="568994" y="1959428"/>
            <a:ext cx="2818819" cy="2239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>
            <a:defPPr>
              <a:defRPr lang="LID4096"/>
            </a:defPPr>
            <a:lvl1pPr algn="ctr">
              <a:defRPr sz="3600"/>
            </a:lvl1pPr>
          </a:lstStyle>
          <a:p>
            <a:r>
              <a:rPr lang="en-US" dirty="0"/>
              <a:t>L1 Cache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D47ED1-E3F8-33AD-5C82-082D030B6709}"/>
              </a:ext>
            </a:extLst>
          </p:cNvPr>
          <p:cNvSpPr txBox="1"/>
          <p:nvPr/>
        </p:nvSpPr>
        <p:spPr>
          <a:xfrm>
            <a:off x="872460" y="3079186"/>
            <a:ext cx="2252516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latin typeface="Consolas" panose="020B0609020204030204" pitchFamily="49" charset="0"/>
              </a:rPr>
              <a:t>deadcafe</a:t>
            </a:r>
            <a:endParaRPr lang="en-US" sz="3600" dirty="0">
              <a:latin typeface="Consolas" panose="020B0609020204030204" pitchFamily="49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8E10582-EC8E-83C3-165B-6805AEC7A43F}"/>
              </a:ext>
            </a:extLst>
          </p:cNvPr>
          <p:cNvCxnSpPr>
            <a:cxnSpLocks/>
          </p:cNvCxnSpPr>
          <p:nvPr/>
        </p:nvCxnSpPr>
        <p:spPr>
          <a:xfrm flipH="1">
            <a:off x="3387813" y="3434787"/>
            <a:ext cx="902691" cy="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ultiplication Sign 31">
            <a:extLst>
              <a:ext uri="{FF2B5EF4-FFF2-40B4-BE49-F238E27FC236}">
                <a16:creationId xmlns:a16="http://schemas.microsoft.com/office/drawing/2014/main" id="{C79124A8-D02C-95CE-EA5A-B9D352CBCC3A}"/>
              </a:ext>
            </a:extLst>
          </p:cNvPr>
          <p:cNvSpPr/>
          <p:nvPr/>
        </p:nvSpPr>
        <p:spPr>
          <a:xfrm>
            <a:off x="348344" y="3010761"/>
            <a:ext cx="3357192" cy="762783"/>
          </a:xfrm>
          <a:prstGeom prst="mathMultiply">
            <a:avLst/>
          </a:prstGeom>
          <a:solidFill>
            <a:srgbClr val="6C0000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222A06-DF12-54E4-20F9-2BCFB9F12327}"/>
              </a:ext>
            </a:extLst>
          </p:cNvPr>
          <p:cNvSpPr txBox="1"/>
          <p:nvPr/>
        </p:nvSpPr>
        <p:spPr>
          <a:xfrm>
            <a:off x="872460" y="5400983"/>
            <a:ext cx="2252516" cy="6463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>
            <a:defPPr>
              <a:defRPr lang="LID4096"/>
            </a:defPPr>
            <a:lvl1pPr algn="ctr">
              <a:defRPr sz="3600"/>
            </a:lvl1pPr>
          </a:lstStyle>
          <a:p>
            <a:r>
              <a:rPr lang="en-US" dirty="0"/>
              <a:t>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1DC82-4C55-1E92-19A8-034EE595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14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9391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4.44444E-6 L -0.33125 -4.44444E-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56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50"/>
                            </p:stCondLst>
                            <p:childTnLst>
                              <p:par>
                                <p:cTn id="2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4" grpId="0" animBg="1"/>
      <p:bldP spid="3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9935A-C658-89B3-B538-86CE2029E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rrow: Left 18">
            <a:extLst>
              <a:ext uri="{FF2B5EF4-FFF2-40B4-BE49-F238E27FC236}">
                <a16:creationId xmlns:a16="http://schemas.microsoft.com/office/drawing/2014/main" id="{675B9DB9-D323-36D1-5FEA-0052ECEF3CF5}"/>
              </a:ext>
            </a:extLst>
          </p:cNvPr>
          <p:cNvSpPr/>
          <p:nvPr/>
        </p:nvSpPr>
        <p:spPr>
          <a:xfrm>
            <a:off x="7214874" y="2533766"/>
            <a:ext cx="2417075" cy="132556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Invalidate</a:t>
            </a:r>
          </a:p>
          <a:p>
            <a:pPr algn="ctr"/>
            <a:r>
              <a:rPr lang="en-US" b="1" dirty="0"/>
              <a:t>queue</a:t>
            </a:r>
            <a:endParaRPr lang="LID4096" b="1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E96EAB-2760-52D9-BD48-30BA16461356}"/>
              </a:ext>
            </a:extLst>
          </p:cNvPr>
          <p:cNvCxnSpPr>
            <a:cxnSpLocks/>
          </p:cNvCxnSpPr>
          <p:nvPr/>
        </p:nvCxnSpPr>
        <p:spPr>
          <a:xfrm flipH="1">
            <a:off x="7214874" y="3429000"/>
            <a:ext cx="2045168" cy="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5F3EB7B-5FEB-6A4E-B7F4-D359F3EDF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#1: Invalidate queues</a:t>
            </a:r>
            <a:endParaRPr lang="LID4096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FE3BF4-3C0D-341C-FDBD-1DC8F7A6B4B9}"/>
              </a:ext>
            </a:extLst>
          </p:cNvPr>
          <p:cNvSpPr txBox="1"/>
          <p:nvPr/>
        </p:nvSpPr>
        <p:spPr>
          <a:xfrm>
            <a:off x="7821676" y="5400983"/>
            <a:ext cx="2252516" cy="6463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>
            <a:defPPr>
              <a:defRPr lang="LID4096"/>
            </a:defPPr>
            <a:lvl1pPr algn="ctr">
              <a:defRPr sz="3600"/>
            </a:lvl1pPr>
          </a:lstStyle>
          <a:p>
            <a:r>
              <a:rPr lang="en-US" dirty="0"/>
              <a:t>Core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300C83-2C9F-6B64-1C5A-EEAD78BBEB8E}"/>
              </a:ext>
            </a:extLst>
          </p:cNvPr>
          <p:cNvSpPr txBox="1"/>
          <p:nvPr/>
        </p:nvSpPr>
        <p:spPr>
          <a:xfrm>
            <a:off x="7214874" y="1959428"/>
            <a:ext cx="3178629" cy="2239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>
            <a:defPPr>
              <a:defRPr lang="LID4096"/>
            </a:defPPr>
            <a:lvl1pPr algn="ctr">
              <a:defRPr sz="3600"/>
            </a:lvl1pPr>
          </a:lstStyle>
          <a:p>
            <a:r>
              <a:rPr lang="en-US" dirty="0"/>
              <a:t>L1 Cache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CEFB65C-35B4-B147-A0C4-971EA41A16C1}"/>
              </a:ext>
            </a:extLst>
          </p:cNvPr>
          <p:cNvCxnSpPr>
            <a:stCxn id="5" idx="0"/>
          </p:cNvCxnSpPr>
          <p:nvPr/>
        </p:nvCxnSpPr>
        <p:spPr>
          <a:xfrm flipV="1">
            <a:off x="8947934" y="3715319"/>
            <a:ext cx="0" cy="1685664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54ABB4F-BA50-F3B1-008D-A9790B7ADECF}"/>
              </a:ext>
            </a:extLst>
          </p:cNvPr>
          <p:cNvSpPr txBox="1"/>
          <p:nvPr/>
        </p:nvSpPr>
        <p:spPr>
          <a:xfrm>
            <a:off x="1948391" y="1959428"/>
            <a:ext cx="2818819" cy="2239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>
            <a:defPPr>
              <a:defRPr lang="LID4096"/>
            </a:defPPr>
            <a:lvl1pPr algn="ctr">
              <a:defRPr sz="3600"/>
            </a:lvl1pPr>
          </a:lstStyle>
          <a:p>
            <a:r>
              <a:rPr lang="en-US" dirty="0"/>
              <a:t>L1 Cache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04C75D-75E9-E25C-CD81-64D3874BCE05}"/>
              </a:ext>
            </a:extLst>
          </p:cNvPr>
          <p:cNvSpPr txBox="1"/>
          <p:nvPr/>
        </p:nvSpPr>
        <p:spPr>
          <a:xfrm>
            <a:off x="2251857" y="3079186"/>
            <a:ext cx="2252516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3600">
                <a:latin typeface="Consolas" panose="020B0609020204030204" pitchFamily="49" charset="0"/>
              </a:defRPr>
            </a:lvl1pPr>
          </a:lstStyle>
          <a:p>
            <a:r>
              <a:rPr lang="en-US" dirty="0" err="1"/>
              <a:t>deadcafe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FFE920-B3E9-2077-A8C6-396F413EE28A}"/>
              </a:ext>
            </a:extLst>
          </p:cNvPr>
          <p:cNvSpPr txBox="1"/>
          <p:nvPr/>
        </p:nvSpPr>
        <p:spPr>
          <a:xfrm>
            <a:off x="2251857" y="5400983"/>
            <a:ext cx="2252516" cy="6463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>
            <a:defPPr>
              <a:defRPr lang="LID4096"/>
            </a:defPPr>
            <a:lvl1pPr algn="ctr">
              <a:defRPr sz="3600"/>
            </a:lvl1pPr>
          </a:lstStyle>
          <a:p>
            <a:r>
              <a:rPr lang="en-US" dirty="0"/>
              <a:t>Core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3E6889-92AC-BD79-FEF2-6BF7902611B8}"/>
              </a:ext>
            </a:extLst>
          </p:cNvPr>
          <p:cNvSpPr txBox="1"/>
          <p:nvPr/>
        </p:nvSpPr>
        <p:spPr>
          <a:xfrm>
            <a:off x="7579047" y="3079186"/>
            <a:ext cx="2252516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3600">
                <a:latin typeface="Consolas" panose="020B0609020204030204" pitchFamily="49" charset="0"/>
              </a:defRPr>
            </a:lvl1pPr>
          </a:lstStyle>
          <a:p>
            <a:r>
              <a:rPr lang="en-US" dirty="0" err="1"/>
              <a:t>deadcafe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EA367E-CE92-0D18-423D-9EF95E2A7B8B}"/>
              </a:ext>
            </a:extLst>
          </p:cNvPr>
          <p:cNvSpPr txBox="1"/>
          <p:nvPr/>
        </p:nvSpPr>
        <p:spPr>
          <a:xfrm>
            <a:off x="7579047" y="3079186"/>
            <a:ext cx="2252516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3600"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deadc</a:t>
            </a:r>
            <a:r>
              <a:rPr lang="en-US" dirty="0">
                <a:highlight>
                  <a:srgbClr val="FFFF00"/>
                </a:highlight>
              </a:rPr>
              <a:t>9</a:t>
            </a:r>
            <a:r>
              <a:rPr lang="en-US" dirty="0"/>
              <a:t>fe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D4763B-9A25-5D37-E6BE-E9B4BF12DCBF}"/>
              </a:ext>
            </a:extLst>
          </p:cNvPr>
          <p:cNvSpPr txBox="1"/>
          <p:nvPr/>
        </p:nvSpPr>
        <p:spPr>
          <a:xfrm>
            <a:off x="2140596" y="4583665"/>
            <a:ext cx="2475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data? </a:t>
            </a:r>
            <a:r>
              <a:rPr lang="en-US" sz="2800" dirty="0" err="1">
                <a:solidFill>
                  <a:srgbClr val="FF0000"/>
                </a:solidFill>
              </a:rPr>
              <a:t>deadcafe</a:t>
            </a:r>
            <a:endParaRPr lang="LID4096" sz="2800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F666DA-8958-75DD-C48B-EE6B85CBD14D}"/>
              </a:ext>
            </a:extLst>
          </p:cNvPr>
          <p:cNvSpPr txBox="1"/>
          <p:nvPr/>
        </p:nvSpPr>
        <p:spPr>
          <a:xfrm>
            <a:off x="7556018" y="4583665"/>
            <a:ext cx="2475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data? deadc9fe</a:t>
            </a:r>
            <a:endParaRPr lang="LID4096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DA130-AC86-E991-A9D6-E3D1BCF8C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15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5629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2.22222E-6 L -0.17943 -2.22222E-6 " pathEditMode="relative" rAng="0" ptsTypes="AA">
                                      <p:cBhvr>
                                        <p:cTn id="6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7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"/>
                            </p:stCondLst>
                            <p:childTnLst>
                              <p:par>
                                <p:cTn id="1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4" grpId="0" animBg="1"/>
      <p:bldP spid="16" grpId="0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3BEB6-0C32-9925-FAF7-918E560D0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#1: Invalidate queues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4D195-C658-CA2F-63C8-83BBF5B92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16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1E4B54-A3E1-99DC-7A71-6373D9CFA431}"/>
              </a:ext>
            </a:extLst>
          </p:cNvPr>
          <p:cNvSpPr/>
          <p:nvPr/>
        </p:nvSpPr>
        <p:spPr>
          <a:xfrm>
            <a:off x="581459" y="2451895"/>
            <a:ext cx="2833254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NEW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--&gt;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5E6A51-6E7A-7D10-CA96-E27487C44A5F}"/>
              </a:ext>
            </a:extLst>
          </p:cNvPr>
          <p:cNvSpPr/>
          <p:nvPr/>
        </p:nvSpPr>
        <p:spPr>
          <a:xfrm>
            <a:off x="8057287" y="2455863"/>
            <a:ext cx="3296513" cy="660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R1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&lt;--</a:t>
            </a:r>
            <a:r>
              <a:rPr lang="en-US" sz="2400" dirty="0">
                <a:latin typeface="Consolas" panose="020B0609020204030204" pitchFamily="49" charset="0"/>
              </a:rPr>
              <a:t> ready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0902FF-DDF6-71CA-DCEB-15E09504D814}"/>
              </a:ext>
            </a:extLst>
          </p:cNvPr>
          <p:cNvSpPr/>
          <p:nvPr/>
        </p:nvSpPr>
        <p:spPr>
          <a:xfrm>
            <a:off x="581459" y="3112295"/>
            <a:ext cx="2833254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TRUE --&gt; ready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CA6601-605F-E212-A6F0-D9B4825FBA69}"/>
              </a:ext>
            </a:extLst>
          </p:cNvPr>
          <p:cNvSpPr/>
          <p:nvPr/>
        </p:nvSpPr>
        <p:spPr>
          <a:xfrm>
            <a:off x="8057287" y="3810000"/>
            <a:ext cx="3296513" cy="660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R2 &lt;--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 data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4B7436-F626-3D55-2E52-63FE5C2DAB0E}"/>
              </a:ext>
            </a:extLst>
          </p:cNvPr>
          <p:cNvSpPr/>
          <p:nvPr/>
        </p:nvSpPr>
        <p:spPr>
          <a:xfrm>
            <a:off x="8057286" y="3086100"/>
            <a:ext cx="3296513" cy="7391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if !R1 </a:t>
            </a:r>
            <a:r>
              <a:rPr lang="en-US" sz="2400" dirty="0" err="1">
                <a:latin typeface="Consolas" panose="020B0609020204030204" pitchFamily="49" charset="0"/>
              </a:rPr>
              <a:t>goto</a:t>
            </a:r>
            <a:r>
              <a:rPr lang="en-US" sz="2400" dirty="0">
                <a:latin typeface="Consolas" panose="020B0609020204030204" pitchFamily="49" charset="0"/>
              </a:rPr>
              <a:t> Load1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70BD93-1BB6-63B5-B673-14CCC9243E04}"/>
              </a:ext>
            </a:extLst>
          </p:cNvPr>
          <p:cNvSpPr/>
          <p:nvPr/>
        </p:nvSpPr>
        <p:spPr>
          <a:xfrm>
            <a:off x="581459" y="1791495"/>
            <a:ext cx="2833254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u="sng" dirty="0">
                <a:latin typeface="Consolas" panose="020B0609020204030204" pitchFamily="49" charset="0"/>
              </a:rPr>
              <a:t>Writer Core</a:t>
            </a:r>
            <a:endParaRPr lang="en-US" sz="2800" b="1" u="sng" dirty="0">
              <a:latin typeface="Consolas" panose="020B0609020204030204" pitchFamily="49" charset="0"/>
              <a:sym typeface="Wingdings" panose="05000000000000000000" pitchFamily="2" charset="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D4E682-6035-0DDA-F366-E808AF6702A6}"/>
              </a:ext>
            </a:extLst>
          </p:cNvPr>
          <p:cNvSpPr/>
          <p:nvPr/>
        </p:nvSpPr>
        <p:spPr>
          <a:xfrm>
            <a:off x="8057287" y="1791495"/>
            <a:ext cx="3296513" cy="660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u="sng" dirty="0">
                <a:latin typeface="Consolas" panose="020B0609020204030204" pitchFamily="49" charset="0"/>
              </a:rPr>
              <a:t>Reader Core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7502107-3792-7E79-D9CD-28B9DF68E75D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414713" y="2782095"/>
            <a:ext cx="3986212" cy="1246980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58F77DC-622F-F9E1-EBF2-BA28335DE9B4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 flipV="1">
            <a:off x="3414713" y="2786063"/>
            <a:ext cx="4642574" cy="656432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A78CF8C-CCE1-49EF-FAAE-F2094A237E63}"/>
              </a:ext>
            </a:extLst>
          </p:cNvPr>
          <p:cNvSpPr txBox="1"/>
          <p:nvPr/>
        </p:nvSpPr>
        <p:spPr>
          <a:xfrm>
            <a:off x="8158163" y="5029200"/>
            <a:ext cx="285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nsolas" panose="020B0609020204030204" pitchFamily="49" charset="0"/>
              </a:rPr>
              <a:t>ready = TRUE</a:t>
            </a:r>
            <a:endParaRPr lang="LID4096" sz="2800" b="1" dirty="0"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4BAFC8-DD3B-46E7-8F18-1FD3713E14C1}"/>
              </a:ext>
            </a:extLst>
          </p:cNvPr>
          <p:cNvSpPr txBox="1"/>
          <p:nvPr/>
        </p:nvSpPr>
        <p:spPr>
          <a:xfrm>
            <a:off x="8158163" y="5588000"/>
            <a:ext cx="2457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</a:rPr>
              <a:t>data = OLD</a:t>
            </a:r>
            <a:endParaRPr lang="LID4096" sz="280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80940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2F9F0-9ACE-4715-D18E-5ACA01520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59214A0-0B7F-CCE1-B1B2-53898427E9F8}"/>
              </a:ext>
            </a:extLst>
          </p:cNvPr>
          <p:cNvCxnSpPr>
            <a:cxnSpLocks/>
          </p:cNvCxnSpPr>
          <p:nvPr/>
        </p:nvCxnSpPr>
        <p:spPr>
          <a:xfrm>
            <a:off x="6158149" y="3429000"/>
            <a:ext cx="131947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E81398C-02D7-BEB2-8E0D-4D1FB7877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#2: non multi-copy atomicity</a:t>
            </a:r>
            <a:endParaRPr lang="LID4096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5A25CE-A155-D91B-0047-06C45F3BCF6E}"/>
              </a:ext>
            </a:extLst>
          </p:cNvPr>
          <p:cNvSpPr txBox="1"/>
          <p:nvPr/>
        </p:nvSpPr>
        <p:spPr>
          <a:xfrm>
            <a:off x="4897306" y="5400983"/>
            <a:ext cx="2252516" cy="6463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>
            <a:defPPr>
              <a:defRPr lang="LID4096"/>
            </a:defPPr>
            <a:lvl1pPr algn="ctr">
              <a:defRPr sz="3600"/>
            </a:lvl1pPr>
          </a:lstStyle>
          <a:p>
            <a:r>
              <a:rPr lang="en-US" dirty="0"/>
              <a:t>Core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70FE57-39FB-B68D-2D41-B1A00CFA0317}"/>
              </a:ext>
            </a:extLst>
          </p:cNvPr>
          <p:cNvSpPr txBox="1"/>
          <p:nvPr/>
        </p:nvSpPr>
        <p:spPr>
          <a:xfrm>
            <a:off x="4553341" y="1959428"/>
            <a:ext cx="2915792" cy="2239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>
            <a:defPPr>
              <a:defRPr lang="LID4096"/>
            </a:defPPr>
            <a:lvl1pPr algn="ctr">
              <a:defRPr sz="3600"/>
            </a:lvl1pPr>
          </a:lstStyle>
          <a:p>
            <a:r>
              <a:rPr lang="en-US" dirty="0"/>
              <a:t>L1 Cache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FFF6F4-7089-EE46-19F9-FF596282008A}"/>
              </a:ext>
            </a:extLst>
          </p:cNvPr>
          <p:cNvSpPr txBox="1"/>
          <p:nvPr/>
        </p:nvSpPr>
        <p:spPr>
          <a:xfrm>
            <a:off x="5000262" y="3079186"/>
            <a:ext cx="1883902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3600"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OLD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8A28543-FCD5-4C73-1252-27312B0C3EF6}"/>
              </a:ext>
            </a:extLst>
          </p:cNvPr>
          <p:cNvCxnSpPr>
            <a:stCxn id="5" idx="0"/>
          </p:cNvCxnSpPr>
          <p:nvPr/>
        </p:nvCxnSpPr>
        <p:spPr>
          <a:xfrm flipV="1">
            <a:off x="6023564" y="3715319"/>
            <a:ext cx="0" cy="1685664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044F1A5-DB2C-B0D6-ADA4-F411E8DA9A05}"/>
              </a:ext>
            </a:extLst>
          </p:cNvPr>
          <p:cNvSpPr txBox="1"/>
          <p:nvPr/>
        </p:nvSpPr>
        <p:spPr>
          <a:xfrm>
            <a:off x="5000263" y="3068986"/>
            <a:ext cx="1883901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3600"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NEW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7B1F09-39F8-A658-14E9-D0B40CA6FCC2}"/>
              </a:ext>
            </a:extLst>
          </p:cNvPr>
          <p:cNvSpPr txBox="1"/>
          <p:nvPr/>
        </p:nvSpPr>
        <p:spPr>
          <a:xfrm>
            <a:off x="568994" y="1959428"/>
            <a:ext cx="2818819" cy="2239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>
            <a:defPPr>
              <a:defRPr lang="LID4096"/>
            </a:defPPr>
            <a:lvl1pPr algn="ctr">
              <a:defRPr sz="3600"/>
            </a:lvl1pPr>
          </a:lstStyle>
          <a:p>
            <a:r>
              <a:rPr lang="en-US" dirty="0"/>
              <a:t>L1 Cache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564726-89B5-00A9-97DA-6A48C88523CB}"/>
              </a:ext>
            </a:extLst>
          </p:cNvPr>
          <p:cNvSpPr txBox="1"/>
          <p:nvPr/>
        </p:nvSpPr>
        <p:spPr>
          <a:xfrm>
            <a:off x="872460" y="3079186"/>
            <a:ext cx="2252516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3600"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OLD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724240A-0B0A-1424-6396-29443A625C93}"/>
              </a:ext>
            </a:extLst>
          </p:cNvPr>
          <p:cNvCxnSpPr>
            <a:cxnSpLocks/>
          </p:cNvCxnSpPr>
          <p:nvPr/>
        </p:nvCxnSpPr>
        <p:spPr>
          <a:xfrm flipH="1">
            <a:off x="3387813" y="3434787"/>
            <a:ext cx="1080015" cy="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ultiplication Sign 31">
            <a:extLst>
              <a:ext uri="{FF2B5EF4-FFF2-40B4-BE49-F238E27FC236}">
                <a16:creationId xmlns:a16="http://schemas.microsoft.com/office/drawing/2014/main" id="{097266B8-0EFC-D460-D785-4C994F994D60}"/>
              </a:ext>
            </a:extLst>
          </p:cNvPr>
          <p:cNvSpPr/>
          <p:nvPr/>
        </p:nvSpPr>
        <p:spPr>
          <a:xfrm>
            <a:off x="348344" y="3010761"/>
            <a:ext cx="3357192" cy="762783"/>
          </a:xfrm>
          <a:prstGeom prst="mathMultiply">
            <a:avLst/>
          </a:prstGeom>
          <a:solidFill>
            <a:srgbClr val="6C0000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4187DF-138B-1253-51FA-BA1B5776434D}"/>
              </a:ext>
            </a:extLst>
          </p:cNvPr>
          <p:cNvSpPr txBox="1"/>
          <p:nvPr/>
        </p:nvSpPr>
        <p:spPr>
          <a:xfrm>
            <a:off x="872460" y="5400983"/>
            <a:ext cx="2252516" cy="6463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>
            <a:defPPr>
              <a:defRPr lang="LID4096"/>
            </a:defPPr>
            <a:lvl1pPr algn="ctr">
              <a:defRPr sz="3600"/>
            </a:lvl1pPr>
          </a:lstStyle>
          <a:p>
            <a:r>
              <a:rPr lang="en-US" dirty="0"/>
              <a:t>Core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0D8664-1BCF-6323-50BA-84077A68FCAF}"/>
              </a:ext>
            </a:extLst>
          </p:cNvPr>
          <p:cNvSpPr txBox="1"/>
          <p:nvPr/>
        </p:nvSpPr>
        <p:spPr>
          <a:xfrm>
            <a:off x="8747713" y="5400983"/>
            <a:ext cx="2252516" cy="6463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>
            <a:defPPr>
              <a:defRPr lang="LID4096"/>
            </a:defPPr>
            <a:lvl1pPr algn="ctr">
              <a:defRPr sz="3600"/>
            </a:lvl1pPr>
          </a:lstStyle>
          <a:p>
            <a:r>
              <a:rPr lang="en-US" dirty="0"/>
              <a:t>Core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75062F-70E9-B849-D106-5D0994D77A04}"/>
              </a:ext>
            </a:extLst>
          </p:cNvPr>
          <p:cNvSpPr txBox="1"/>
          <p:nvPr/>
        </p:nvSpPr>
        <p:spPr>
          <a:xfrm>
            <a:off x="8403748" y="1959428"/>
            <a:ext cx="2915792" cy="2239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>
            <a:defPPr>
              <a:defRPr lang="LID4096"/>
            </a:defPPr>
            <a:lvl1pPr algn="ctr">
              <a:defRPr sz="3600"/>
            </a:lvl1pPr>
          </a:lstStyle>
          <a:p>
            <a:r>
              <a:rPr lang="en-US" dirty="0"/>
              <a:t>L1 Cache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C91917-2498-098F-328C-34018B6FB45D}"/>
              </a:ext>
            </a:extLst>
          </p:cNvPr>
          <p:cNvSpPr txBox="1"/>
          <p:nvPr/>
        </p:nvSpPr>
        <p:spPr>
          <a:xfrm>
            <a:off x="8850669" y="3079186"/>
            <a:ext cx="1883902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3600"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OLD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4311A1-0FE4-88C3-1764-94FBED383756}"/>
              </a:ext>
            </a:extLst>
          </p:cNvPr>
          <p:cNvCxnSpPr>
            <a:stCxn id="6" idx="0"/>
          </p:cNvCxnSpPr>
          <p:nvPr/>
        </p:nvCxnSpPr>
        <p:spPr>
          <a:xfrm flipV="1">
            <a:off x="9873971" y="3715319"/>
            <a:ext cx="0" cy="1685664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A8DFB-732F-975C-B82C-BF412F833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17</a:t>
            </a:fld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F1C4F21-B3A6-A1D3-F111-DE9D3C97F2DA}"/>
              </a:ext>
            </a:extLst>
          </p:cNvPr>
          <p:cNvCxnSpPr/>
          <p:nvPr/>
        </p:nvCxnSpPr>
        <p:spPr>
          <a:xfrm flipV="1">
            <a:off x="2260600" y="4064000"/>
            <a:ext cx="0" cy="1336983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D4A7ABC-6593-7994-15A0-DEE1683A1D07}"/>
              </a:ext>
            </a:extLst>
          </p:cNvPr>
          <p:cNvCxnSpPr/>
          <p:nvPr/>
        </p:nvCxnSpPr>
        <p:spPr>
          <a:xfrm flipV="1">
            <a:off x="2286000" y="3715317"/>
            <a:ext cx="2267341" cy="36138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1AC2517-2B6A-E627-4BBC-4D9CCC78C31E}"/>
              </a:ext>
            </a:extLst>
          </p:cNvPr>
          <p:cNvCxnSpPr/>
          <p:nvPr/>
        </p:nvCxnSpPr>
        <p:spPr>
          <a:xfrm flipH="1">
            <a:off x="1978403" y="3392151"/>
            <a:ext cx="2574938" cy="506749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48B7DCC-65E4-3A66-F33A-85493F22EC93}"/>
              </a:ext>
            </a:extLst>
          </p:cNvPr>
          <p:cNvCxnSpPr/>
          <p:nvPr/>
        </p:nvCxnSpPr>
        <p:spPr>
          <a:xfrm>
            <a:off x="1998718" y="3896008"/>
            <a:ext cx="0" cy="150497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D924D7E-72C0-5E84-6931-70EC96A12791}"/>
              </a:ext>
            </a:extLst>
          </p:cNvPr>
          <p:cNvSpPr txBox="1"/>
          <p:nvPr/>
        </p:nvSpPr>
        <p:spPr>
          <a:xfrm>
            <a:off x="1230269" y="5021601"/>
            <a:ext cx="7811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NEW</a:t>
            </a:r>
            <a:endParaRPr lang="LID4096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D16188E-9DF8-1364-2F31-AF4C869E611B}"/>
              </a:ext>
            </a:extLst>
          </p:cNvPr>
          <p:cNvCxnSpPr>
            <a:cxnSpLocks/>
          </p:cNvCxnSpPr>
          <p:nvPr/>
        </p:nvCxnSpPr>
        <p:spPr>
          <a:xfrm>
            <a:off x="9601200" y="3773544"/>
            <a:ext cx="0" cy="1627439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F9C2706-A7CF-76FE-3DBC-59149AD18FE6}"/>
              </a:ext>
            </a:extLst>
          </p:cNvPr>
          <p:cNvSpPr txBox="1"/>
          <p:nvPr/>
        </p:nvSpPr>
        <p:spPr>
          <a:xfrm>
            <a:off x="9905438" y="5021601"/>
            <a:ext cx="719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OLD</a:t>
            </a:r>
            <a:endParaRPr lang="LID4096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46389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50"/>
                            </p:stCondLst>
                            <p:childTnLst>
                              <p:par>
                                <p:cTn id="2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171 0 L 0.05352 0 " pathEditMode="relative" rAng="0" ptsTypes="AA">
                                      <p:cBhvr>
                                        <p:cTn id="27" dur="5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5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5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" presetClass="exit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250"/>
                            </p:stCondLst>
                            <p:childTnLst>
                              <p:par>
                                <p:cTn id="58" presetID="2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75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1" presetClass="exit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250"/>
                            </p:stCondLst>
                            <p:childTnLst>
                              <p:par>
                                <p:cTn id="7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2" grpId="0" animBg="1"/>
      <p:bldP spid="37" grpId="0"/>
      <p:bldP spid="4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B2EB9-7EB5-28EF-80C4-79159830C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Buffers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27697-D404-B5B1-62E7-0C5168257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4D4865-C16F-9001-EB1B-9E4B40A44C64}"/>
              </a:ext>
            </a:extLst>
          </p:cNvPr>
          <p:cNvSpPr txBox="1"/>
          <p:nvPr/>
        </p:nvSpPr>
        <p:spPr>
          <a:xfrm>
            <a:off x="4897306" y="5400983"/>
            <a:ext cx="2252516" cy="6463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>
            <a:defPPr>
              <a:defRPr lang="LID4096"/>
            </a:defPPr>
            <a:lvl1pPr algn="ctr">
              <a:defRPr sz="3600"/>
            </a:lvl1pPr>
          </a:lstStyle>
          <a:p>
            <a:r>
              <a:rPr lang="en-US" i="1" dirty="0"/>
              <a:t>Core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4A67D8-1583-59ED-0AA0-97A697C86C4D}"/>
              </a:ext>
            </a:extLst>
          </p:cNvPr>
          <p:cNvSpPr txBox="1"/>
          <p:nvPr/>
        </p:nvSpPr>
        <p:spPr>
          <a:xfrm>
            <a:off x="4290504" y="1959428"/>
            <a:ext cx="3178629" cy="2239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>
            <a:defPPr>
              <a:defRPr lang="LID4096"/>
            </a:defPPr>
            <a:lvl1pPr algn="ctr">
              <a:defRPr sz="3600"/>
            </a:lvl1pPr>
          </a:lstStyle>
          <a:p>
            <a:r>
              <a:rPr lang="en-US" dirty="0"/>
              <a:t>L1 Cache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F426EA-E3AF-83DA-3690-54AF75687702}"/>
              </a:ext>
            </a:extLst>
          </p:cNvPr>
          <p:cNvSpPr txBox="1"/>
          <p:nvPr/>
        </p:nvSpPr>
        <p:spPr>
          <a:xfrm>
            <a:off x="4631648" y="3079186"/>
            <a:ext cx="2252516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3600"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deadc</a:t>
            </a:r>
            <a:r>
              <a:rPr lang="en-US" dirty="0">
                <a:highlight>
                  <a:srgbClr val="FFFF00"/>
                </a:highlight>
              </a:rPr>
              <a:t>9</a:t>
            </a:r>
            <a:r>
              <a:rPr lang="en-US" dirty="0"/>
              <a:t>fe</a:t>
            </a:r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6D4C251C-1BAB-1C29-CACE-C3AA22CCAB63}"/>
              </a:ext>
            </a:extLst>
          </p:cNvPr>
          <p:cNvSpPr/>
          <p:nvPr/>
        </p:nvSpPr>
        <p:spPr>
          <a:xfrm>
            <a:off x="5913138" y="3715319"/>
            <a:ext cx="132061" cy="1675466"/>
          </a:xfrm>
          <a:prstGeom prst="upArrow">
            <a:avLst>
              <a:gd name="adj1" fmla="val 27829"/>
              <a:gd name="adj2" fmla="val 9235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0748379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9B020-93CB-A547-AA0B-705206756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B96E2-74EB-DA35-4684-272A14468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Buffers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B0793-EC12-7732-2383-8507BBA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19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D392D0-67FE-197A-E594-3E5C6431E641}"/>
              </a:ext>
            </a:extLst>
          </p:cNvPr>
          <p:cNvSpPr txBox="1"/>
          <p:nvPr/>
        </p:nvSpPr>
        <p:spPr>
          <a:xfrm>
            <a:off x="4506685" y="1554269"/>
            <a:ext cx="3178629" cy="736271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dirty="0"/>
              <a:t>L1 Cache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6E9C51-96B9-F6ED-3F48-0EB7ABE4B5F1}"/>
              </a:ext>
            </a:extLst>
          </p:cNvPr>
          <p:cNvSpPr txBox="1"/>
          <p:nvPr/>
        </p:nvSpPr>
        <p:spPr>
          <a:xfrm>
            <a:off x="3998797" y="5231159"/>
            <a:ext cx="4274634" cy="923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i="1" dirty="0"/>
              <a:t>Core</a:t>
            </a:r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B7809D4F-0F98-EA59-4872-415120D8146D}"/>
              </a:ext>
            </a:extLst>
          </p:cNvPr>
          <p:cNvSpPr/>
          <p:nvPr/>
        </p:nvSpPr>
        <p:spPr>
          <a:xfrm>
            <a:off x="4141735" y="2308303"/>
            <a:ext cx="4131696" cy="2922856"/>
          </a:xfrm>
          <a:prstGeom prst="upArrow">
            <a:avLst>
              <a:gd name="adj1" fmla="val 50000"/>
              <a:gd name="adj2" fmla="val 2387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2D356D-8633-DA5F-CFB7-E7C6293625A0}"/>
              </a:ext>
            </a:extLst>
          </p:cNvPr>
          <p:cNvSpPr/>
          <p:nvPr/>
        </p:nvSpPr>
        <p:spPr>
          <a:xfrm>
            <a:off x="5175630" y="5099004"/>
            <a:ext cx="2063905" cy="43213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NEW 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--&gt;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2A241B-5443-70AE-5F03-9B1B0CD6F2EC}"/>
              </a:ext>
            </a:extLst>
          </p:cNvPr>
          <p:cNvSpPr txBox="1"/>
          <p:nvPr/>
        </p:nvSpPr>
        <p:spPr>
          <a:xfrm>
            <a:off x="5649529" y="3429000"/>
            <a:ext cx="13698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Write 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buffer</a:t>
            </a:r>
            <a:endParaRPr lang="LID4096" sz="3200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53701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4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 L -4.58333E-6 -0.45694 " pathEditMode="relative" rAng="0" ptsTypes="AA">
                                      <p:cBhvr>
                                        <p:cTn id="11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0" grpId="2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69F85-620B-AD26-C1B6-816A97291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7692CE6-721A-415B-2E29-98189891EB62}"/>
              </a:ext>
            </a:extLst>
          </p:cNvPr>
          <p:cNvCxnSpPr/>
          <p:nvPr/>
        </p:nvCxnSpPr>
        <p:spPr>
          <a:xfrm flipV="1">
            <a:off x="8218449" y="2120923"/>
            <a:ext cx="0" cy="3126961"/>
          </a:xfrm>
          <a:prstGeom prst="straightConnector1">
            <a:avLst/>
          </a:prstGeom>
          <a:ln w="793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DA9AFA1-A6C7-0873-E8D5-EB2E7A42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Buffers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8388E0-C0E8-5C80-02DE-ED86AB3AE5F3}"/>
              </a:ext>
            </a:extLst>
          </p:cNvPr>
          <p:cNvSpPr/>
          <p:nvPr/>
        </p:nvSpPr>
        <p:spPr>
          <a:xfrm>
            <a:off x="1054100" y="1434659"/>
            <a:ext cx="9626600" cy="746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Caches + Memory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57ED1-D3FE-C4FF-06DF-D183E7CDEEE8}"/>
              </a:ext>
            </a:extLst>
          </p:cNvPr>
          <p:cNvSpPr txBox="1"/>
          <p:nvPr/>
        </p:nvSpPr>
        <p:spPr>
          <a:xfrm>
            <a:off x="1893221" y="5187789"/>
            <a:ext cx="3299987" cy="923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5400" i="1"/>
            </a:lvl1pPr>
          </a:lstStyle>
          <a:p>
            <a:r>
              <a:rPr lang="en-US" dirty="0"/>
              <a:t>Core</a:t>
            </a:r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241ACB5C-6B9F-048F-52C7-228CCD2D294B}"/>
              </a:ext>
            </a:extLst>
          </p:cNvPr>
          <p:cNvSpPr/>
          <p:nvPr/>
        </p:nvSpPr>
        <p:spPr>
          <a:xfrm>
            <a:off x="1477367" y="2308303"/>
            <a:ext cx="4131696" cy="2879486"/>
          </a:xfrm>
          <a:prstGeom prst="upArrow">
            <a:avLst>
              <a:gd name="adj1" fmla="val 50000"/>
              <a:gd name="adj2" fmla="val 2387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E0E2A1-57B0-C276-2F0B-5DEADDD28760}"/>
              </a:ext>
            </a:extLst>
          </p:cNvPr>
          <p:cNvSpPr/>
          <p:nvPr/>
        </p:nvSpPr>
        <p:spPr>
          <a:xfrm>
            <a:off x="2511261" y="4755652"/>
            <a:ext cx="2063905" cy="43213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NEW 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--&gt;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4EFF0C-8017-8232-641C-B46B5066D513}"/>
              </a:ext>
            </a:extLst>
          </p:cNvPr>
          <p:cNvSpPr txBox="1"/>
          <p:nvPr/>
        </p:nvSpPr>
        <p:spPr>
          <a:xfrm>
            <a:off x="6964858" y="5187789"/>
            <a:ext cx="3299987" cy="923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5400" i="1"/>
            </a:lvl1pPr>
          </a:lstStyle>
          <a:p>
            <a:r>
              <a:rPr lang="en-US" dirty="0"/>
              <a:t>Core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FC28B8-C1ED-363F-4111-623E399EF472}"/>
              </a:ext>
            </a:extLst>
          </p:cNvPr>
          <p:cNvSpPr txBox="1"/>
          <p:nvPr/>
        </p:nvSpPr>
        <p:spPr>
          <a:xfrm>
            <a:off x="2497873" y="6233532"/>
            <a:ext cx="11262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data?    </a:t>
            </a:r>
            <a:endParaRPr lang="LID4096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C41D41-0F80-1087-3C48-332DE35EDF5E}"/>
              </a:ext>
            </a:extLst>
          </p:cNvPr>
          <p:cNvSpPr txBox="1"/>
          <p:nvPr/>
        </p:nvSpPr>
        <p:spPr>
          <a:xfrm>
            <a:off x="7482468" y="6111119"/>
            <a:ext cx="1085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data?</a:t>
            </a:r>
            <a:endParaRPr lang="LID4096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3BBDA7-3406-38E4-BDE1-E92B51F47935}"/>
              </a:ext>
            </a:extLst>
          </p:cNvPr>
          <p:cNvSpPr txBox="1"/>
          <p:nvPr/>
        </p:nvSpPr>
        <p:spPr>
          <a:xfrm>
            <a:off x="3730083" y="6233532"/>
            <a:ext cx="11262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NEW</a:t>
            </a:r>
            <a:endParaRPr lang="LID4096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7E0D14-86D5-F18F-B9B9-522DB3348699}"/>
              </a:ext>
            </a:extLst>
          </p:cNvPr>
          <p:cNvSpPr txBox="1"/>
          <p:nvPr/>
        </p:nvSpPr>
        <p:spPr>
          <a:xfrm>
            <a:off x="8714678" y="6111119"/>
            <a:ext cx="1085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OLD</a:t>
            </a:r>
            <a:endParaRPr lang="LID4096" sz="28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D659274-1597-E1F6-23D7-4551B0510432}"/>
              </a:ext>
            </a:extLst>
          </p:cNvPr>
          <p:cNvCxnSpPr/>
          <p:nvPr/>
        </p:nvCxnSpPr>
        <p:spPr>
          <a:xfrm>
            <a:off x="8614851" y="2181019"/>
            <a:ext cx="0" cy="3006770"/>
          </a:xfrm>
          <a:prstGeom prst="straightConnector1">
            <a:avLst/>
          </a:prstGeom>
          <a:ln w="793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8F35042-1A14-CE33-7CA0-D87D4BD5F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20</a:t>
            </a:fld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A743928-32FD-7FC5-1C3E-9181EC718F4B}"/>
              </a:ext>
            </a:extLst>
          </p:cNvPr>
          <p:cNvCxnSpPr>
            <a:cxnSpLocks/>
          </p:cNvCxnSpPr>
          <p:nvPr/>
        </p:nvCxnSpPr>
        <p:spPr>
          <a:xfrm flipV="1">
            <a:off x="3123138" y="4229097"/>
            <a:ext cx="0" cy="1950227"/>
          </a:xfrm>
          <a:prstGeom prst="straightConnector1">
            <a:avLst/>
          </a:prstGeom>
          <a:ln w="793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34C38BE-96D5-C6AA-32F9-83EF79ED4F2B}"/>
              </a:ext>
            </a:extLst>
          </p:cNvPr>
          <p:cNvCxnSpPr>
            <a:cxnSpLocks/>
          </p:cNvCxnSpPr>
          <p:nvPr/>
        </p:nvCxnSpPr>
        <p:spPr>
          <a:xfrm>
            <a:off x="4107369" y="4343400"/>
            <a:ext cx="0" cy="1890132"/>
          </a:xfrm>
          <a:prstGeom prst="straightConnector1">
            <a:avLst/>
          </a:prstGeom>
          <a:ln w="793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17711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1.11022E-16 L 5E-6 -0.15347 " pathEditMode="relative" rAng="0" ptsTypes="AA">
                                      <p:cBhvr>
                                        <p:cTn id="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/>
      <p:bldP spid="8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DAFF8-87BE-1A1F-6AE2-99A9448B6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2AEF-2EAC-D53B-EC77-29DD19DD8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FIFO write buffers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911640-F2C8-9643-B483-561D6BB9A402}"/>
              </a:ext>
            </a:extLst>
          </p:cNvPr>
          <p:cNvSpPr/>
          <p:nvPr/>
        </p:nvSpPr>
        <p:spPr>
          <a:xfrm>
            <a:off x="1054100" y="1434659"/>
            <a:ext cx="9626600" cy="746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Caches + Memory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09D337-1055-64EE-602C-15C9BB0ED6B5}"/>
              </a:ext>
            </a:extLst>
          </p:cNvPr>
          <p:cNvSpPr txBox="1"/>
          <p:nvPr/>
        </p:nvSpPr>
        <p:spPr>
          <a:xfrm>
            <a:off x="1893221" y="5187789"/>
            <a:ext cx="3299987" cy="923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5400" i="1"/>
            </a:lvl1pPr>
          </a:lstStyle>
          <a:p>
            <a:r>
              <a:rPr lang="en-US" dirty="0"/>
              <a:t>Core</a:t>
            </a:r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4E3DCCEB-5E5C-A12D-C9B6-0300E48F8483}"/>
              </a:ext>
            </a:extLst>
          </p:cNvPr>
          <p:cNvSpPr/>
          <p:nvPr/>
        </p:nvSpPr>
        <p:spPr>
          <a:xfrm>
            <a:off x="1477367" y="2308303"/>
            <a:ext cx="4131696" cy="2879486"/>
          </a:xfrm>
          <a:prstGeom prst="upArrow">
            <a:avLst>
              <a:gd name="adj1" fmla="val 50000"/>
              <a:gd name="adj2" fmla="val 2387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C51E41-01A0-0E5B-D195-87C3C0C5B58C}"/>
              </a:ext>
            </a:extLst>
          </p:cNvPr>
          <p:cNvSpPr/>
          <p:nvPr/>
        </p:nvSpPr>
        <p:spPr>
          <a:xfrm>
            <a:off x="2513206" y="4800255"/>
            <a:ext cx="2063905" cy="43213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TRUE 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--&gt; ready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C36E9A-E711-BAEE-F1D7-3E81603F6FA9}"/>
              </a:ext>
            </a:extLst>
          </p:cNvPr>
          <p:cNvSpPr/>
          <p:nvPr/>
        </p:nvSpPr>
        <p:spPr>
          <a:xfrm>
            <a:off x="2511261" y="4799716"/>
            <a:ext cx="2063905" cy="43213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NEW 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--&gt;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CE4863-57BD-EEED-743A-BEE3F931D0F5}"/>
              </a:ext>
            </a:extLst>
          </p:cNvPr>
          <p:cNvSpPr txBox="1"/>
          <p:nvPr/>
        </p:nvSpPr>
        <p:spPr>
          <a:xfrm>
            <a:off x="6964858" y="5187789"/>
            <a:ext cx="3299987" cy="923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5400" i="1"/>
            </a:lvl1pPr>
          </a:lstStyle>
          <a:p>
            <a:r>
              <a:rPr lang="en-US" dirty="0"/>
              <a:t>Core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9A3179-3873-1451-03B9-799627B814F5}"/>
              </a:ext>
            </a:extLst>
          </p:cNvPr>
          <p:cNvSpPr txBox="1"/>
          <p:nvPr/>
        </p:nvSpPr>
        <p:spPr>
          <a:xfrm>
            <a:off x="7507162" y="3951461"/>
            <a:ext cx="2475037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data?     OLD</a:t>
            </a:r>
          </a:p>
          <a:p>
            <a:r>
              <a:rPr lang="en-US" sz="2800" dirty="0"/>
              <a:t>ready?   FALSE</a:t>
            </a:r>
            <a:endParaRPr lang="LID4096" sz="28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46F6D9-DE99-B6FF-510C-AD18D1368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21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5B18E2-EA92-916C-A925-9E041FC0BB8E}"/>
              </a:ext>
            </a:extLst>
          </p:cNvPr>
          <p:cNvSpPr txBox="1"/>
          <p:nvPr/>
        </p:nvSpPr>
        <p:spPr>
          <a:xfrm>
            <a:off x="7507162" y="3951461"/>
            <a:ext cx="2475037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data?     </a:t>
            </a:r>
            <a:r>
              <a:rPr lang="en-US" sz="2800" dirty="0">
                <a:solidFill>
                  <a:srgbClr val="FF0000"/>
                </a:solidFill>
              </a:rPr>
              <a:t>NEW</a:t>
            </a:r>
          </a:p>
          <a:p>
            <a:r>
              <a:rPr lang="en-US" sz="2800" dirty="0"/>
              <a:t>ready?   FALSE</a:t>
            </a:r>
            <a:endParaRPr lang="LID4096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0FAB8E-B5A5-C8AE-35B2-00AAC884D048}"/>
              </a:ext>
            </a:extLst>
          </p:cNvPr>
          <p:cNvSpPr txBox="1"/>
          <p:nvPr/>
        </p:nvSpPr>
        <p:spPr>
          <a:xfrm>
            <a:off x="7507161" y="3951461"/>
            <a:ext cx="2475037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data?     </a:t>
            </a:r>
            <a:r>
              <a:rPr lang="en-US" sz="2800" dirty="0">
                <a:solidFill>
                  <a:srgbClr val="FF0000"/>
                </a:solidFill>
              </a:rPr>
              <a:t>NEW</a:t>
            </a:r>
          </a:p>
          <a:p>
            <a:r>
              <a:rPr lang="en-US" sz="2800" dirty="0"/>
              <a:t>ready?   </a:t>
            </a:r>
            <a:r>
              <a:rPr lang="en-US" sz="2800" dirty="0">
                <a:solidFill>
                  <a:srgbClr val="FF0000"/>
                </a:solidFill>
              </a:rPr>
              <a:t>TRUE</a:t>
            </a:r>
            <a:endParaRPr lang="LID4096" sz="28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26625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4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 L 5E-6 -0.44884 " pathEditMode="relative" rAng="0" ptsTypes="AA">
                                      <p:cBhvr>
                                        <p:cTn id="10" dur="2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45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2" nodeType="withEffect">
                                  <p:stCondLst>
                                    <p:cond delay="2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4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79167E-6 -1.48148E-6 L 4.79167E-6 -0.44514 " pathEditMode="relative" rAng="0" ptsTypes="AA">
                                      <p:cBhvr>
                                        <p:cTn id="21" dur="2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269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2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2" grpId="2" animBg="1"/>
      <p:bldP spid="7" grpId="0" animBg="1"/>
      <p:bldP spid="7" grpId="1" animBg="1"/>
      <p:bldP spid="7" grpId="2" animBg="1"/>
      <p:bldP spid="10" grpId="0" animBg="1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60A91-38EA-8A8C-735F-09FF41CB9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61B1A-7341-6364-0CD0-3F1447373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Dekker/Peterson Algorithm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7B9636-F75A-374A-6399-F955AE818AE9}"/>
              </a:ext>
            </a:extLst>
          </p:cNvPr>
          <p:cNvSpPr/>
          <p:nvPr/>
        </p:nvSpPr>
        <p:spPr>
          <a:xfrm>
            <a:off x="1757355" y="3319463"/>
            <a:ext cx="2984768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onsolas" panose="020B0609020204030204" pitchFamily="49" charset="0"/>
              </a:rPr>
              <a:t>TRUE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--&gt; taken1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A571DD-ACAA-E1B1-F729-B6E73648F770}"/>
              </a:ext>
            </a:extLst>
          </p:cNvPr>
          <p:cNvSpPr/>
          <p:nvPr/>
        </p:nvSpPr>
        <p:spPr>
          <a:xfrm>
            <a:off x="5881255" y="3319463"/>
            <a:ext cx="3783440" cy="668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onsolas" panose="020B0609020204030204" pitchFamily="49" charset="0"/>
              </a:rPr>
              <a:t>TRUE --&gt;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 taken2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196151-B125-AF3F-0A97-D068409D9F58}"/>
              </a:ext>
            </a:extLst>
          </p:cNvPr>
          <p:cNvSpPr/>
          <p:nvPr/>
        </p:nvSpPr>
        <p:spPr>
          <a:xfrm>
            <a:off x="1757355" y="3979863"/>
            <a:ext cx="2984768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R1 &lt;-- taken2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22BE56-1060-3F38-0EB9-9A64C3154C88}"/>
              </a:ext>
            </a:extLst>
          </p:cNvPr>
          <p:cNvSpPr/>
          <p:nvPr/>
        </p:nvSpPr>
        <p:spPr>
          <a:xfrm>
            <a:off x="5881255" y="3988209"/>
            <a:ext cx="3783440" cy="668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onsolas" panose="020B0609020204030204" pitchFamily="49" charset="0"/>
              </a:rPr>
              <a:t>R2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&lt;-- taken1</a:t>
            </a:r>
            <a:endParaRPr lang="en-US" sz="2400" dirty="0">
              <a:latin typeface="Consolas" panose="020B0609020204030204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9327961-C194-E868-E81E-2293C2650DB9}"/>
              </a:ext>
            </a:extLst>
          </p:cNvPr>
          <p:cNvCxnSpPr>
            <a:cxnSpLocks/>
          </p:cNvCxnSpPr>
          <p:nvPr/>
        </p:nvCxnSpPr>
        <p:spPr>
          <a:xfrm>
            <a:off x="5359400" y="2980267"/>
            <a:ext cx="0" cy="3369733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4AB9B50-195D-D12A-2E9D-44A44B0E8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22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989C69-024F-2A2F-BD25-E9E7575DD7EA}"/>
              </a:ext>
            </a:extLst>
          </p:cNvPr>
          <p:cNvSpPr/>
          <p:nvPr/>
        </p:nvSpPr>
        <p:spPr>
          <a:xfrm>
            <a:off x="2513829" y="1730947"/>
            <a:ext cx="6096769" cy="7921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 anchor="t" anchorCtr="0">
            <a:noAutofit/>
          </a:bodyPr>
          <a:lstStyle/>
          <a:p>
            <a:pPr algn="ctr"/>
            <a:r>
              <a:rPr lang="en-US" sz="4000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taken1 = FALSE, taken2 = FALSE</a:t>
            </a:r>
            <a:endParaRPr lang="LID4096" sz="4000" baseline="-25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7D28DF-E75E-250B-36F3-248FDE0AAEE7}"/>
              </a:ext>
            </a:extLst>
          </p:cNvPr>
          <p:cNvSpPr txBox="1"/>
          <p:nvPr/>
        </p:nvSpPr>
        <p:spPr>
          <a:xfrm>
            <a:off x="1436022" y="5729654"/>
            <a:ext cx="3299987" cy="76944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5400" i="1"/>
            </a:lvl1pPr>
          </a:lstStyle>
          <a:p>
            <a:r>
              <a:rPr lang="en-US" sz="4400" dirty="0"/>
              <a:t>Core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CAD597-4D58-F5EC-A31A-FFDA8B36CC39}"/>
              </a:ext>
            </a:extLst>
          </p:cNvPr>
          <p:cNvSpPr txBox="1"/>
          <p:nvPr/>
        </p:nvSpPr>
        <p:spPr>
          <a:xfrm>
            <a:off x="6507659" y="5729654"/>
            <a:ext cx="3299987" cy="76944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5400" i="1"/>
            </a:lvl1pPr>
          </a:lstStyle>
          <a:p>
            <a:r>
              <a:rPr lang="en-US" sz="4400" dirty="0"/>
              <a:t>Core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01443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CA51D-3C68-6D0D-BECC-A85509B43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1442F-E1F7-3516-40C7-947E772CA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Dekker/Peterson Algorithm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470C4A-0045-2FDB-5D00-8E2670E15B58}"/>
              </a:ext>
            </a:extLst>
          </p:cNvPr>
          <p:cNvSpPr/>
          <p:nvPr/>
        </p:nvSpPr>
        <p:spPr>
          <a:xfrm>
            <a:off x="1757355" y="2862265"/>
            <a:ext cx="2984768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onsolas" panose="020B0609020204030204" pitchFamily="49" charset="0"/>
              </a:rPr>
              <a:t>TRUE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--&gt; taken1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F51488-A792-5B94-7459-2475530C503C}"/>
              </a:ext>
            </a:extLst>
          </p:cNvPr>
          <p:cNvSpPr/>
          <p:nvPr/>
        </p:nvSpPr>
        <p:spPr>
          <a:xfrm>
            <a:off x="5881255" y="3462353"/>
            <a:ext cx="3783440" cy="668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onsolas" panose="020B0609020204030204" pitchFamily="49" charset="0"/>
              </a:rPr>
              <a:t>TRUE --&gt;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 taken2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FB3D58-A8D2-0107-E542-62F3EB1D61AD}"/>
              </a:ext>
            </a:extLst>
          </p:cNvPr>
          <p:cNvSpPr/>
          <p:nvPr/>
        </p:nvSpPr>
        <p:spPr>
          <a:xfrm>
            <a:off x="1757355" y="4115780"/>
            <a:ext cx="2984768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R1 &lt;-- taken2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A6C389-E66C-4B09-CD39-E0C159B74ACC}"/>
              </a:ext>
            </a:extLst>
          </p:cNvPr>
          <p:cNvSpPr/>
          <p:nvPr/>
        </p:nvSpPr>
        <p:spPr>
          <a:xfrm>
            <a:off x="5881255" y="4776180"/>
            <a:ext cx="3783440" cy="668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onsolas" panose="020B0609020204030204" pitchFamily="49" charset="0"/>
              </a:rPr>
              <a:t>R2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&lt;-- taken1</a:t>
            </a:r>
            <a:endParaRPr lang="en-US" sz="2400" dirty="0">
              <a:latin typeface="Consolas" panose="020B0609020204030204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411ADB7-AC38-FB38-27F1-52CD00EC1DD8}"/>
              </a:ext>
            </a:extLst>
          </p:cNvPr>
          <p:cNvCxnSpPr>
            <a:cxnSpLocks/>
          </p:cNvCxnSpPr>
          <p:nvPr/>
        </p:nvCxnSpPr>
        <p:spPr>
          <a:xfrm>
            <a:off x="5359400" y="2980267"/>
            <a:ext cx="0" cy="3369733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E1E7F0-F684-9971-FFD3-57D8E49CF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23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A4AF20-F841-D13E-9440-E00C439D771B}"/>
              </a:ext>
            </a:extLst>
          </p:cNvPr>
          <p:cNvSpPr/>
          <p:nvPr/>
        </p:nvSpPr>
        <p:spPr>
          <a:xfrm>
            <a:off x="9931401" y="4746027"/>
            <a:ext cx="1105282" cy="66874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onsolas" panose="020B0609020204030204" pitchFamily="49" charset="0"/>
              </a:rPr>
              <a:t>TRUE</a:t>
            </a:r>
            <a:endParaRPr lang="LID4096" sz="2400" dirty="0">
              <a:latin typeface="Consolas" panose="020B06090202040302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77B6B8-EE4E-F9A7-4960-11D7FE513FEE}"/>
              </a:ext>
            </a:extLst>
          </p:cNvPr>
          <p:cNvSpPr/>
          <p:nvPr/>
        </p:nvSpPr>
        <p:spPr>
          <a:xfrm>
            <a:off x="2513829" y="1730947"/>
            <a:ext cx="6096769" cy="7921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 anchor="t" anchorCtr="0">
            <a:noAutofit/>
          </a:bodyPr>
          <a:lstStyle/>
          <a:p>
            <a:pPr algn="ctr"/>
            <a:r>
              <a:rPr lang="en-US" sz="4000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taken1 = FALSE, taken2 = FALSE</a:t>
            </a:r>
            <a:endParaRPr lang="LID4096" sz="4000" baseline="-25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1136AC-1950-3010-9751-91BF8227C535}"/>
              </a:ext>
            </a:extLst>
          </p:cNvPr>
          <p:cNvSpPr txBox="1"/>
          <p:nvPr/>
        </p:nvSpPr>
        <p:spPr>
          <a:xfrm>
            <a:off x="1436022" y="5729654"/>
            <a:ext cx="3299987" cy="76944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5400" i="1"/>
            </a:lvl1pPr>
          </a:lstStyle>
          <a:p>
            <a:r>
              <a:rPr lang="en-US" sz="4400" dirty="0"/>
              <a:t>Core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E47108-87CB-962F-812A-65F301A076CE}"/>
              </a:ext>
            </a:extLst>
          </p:cNvPr>
          <p:cNvSpPr txBox="1"/>
          <p:nvPr/>
        </p:nvSpPr>
        <p:spPr>
          <a:xfrm>
            <a:off x="6507659" y="5729654"/>
            <a:ext cx="3299987" cy="76944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5400" i="1"/>
            </a:lvl1pPr>
          </a:lstStyle>
          <a:p>
            <a:r>
              <a:rPr lang="en-US" sz="4400" dirty="0"/>
              <a:t>Core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7142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F4440-1A98-A40C-7971-7AF779BFF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4CC5F-19B5-6111-A5B1-8321BCE79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Dekker/Peterson Algorithm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341355-B765-876C-1BDA-A327F618C818}"/>
              </a:ext>
            </a:extLst>
          </p:cNvPr>
          <p:cNvSpPr/>
          <p:nvPr/>
        </p:nvSpPr>
        <p:spPr>
          <a:xfrm>
            <a:off x="1757355" y="3506326"/>
            <a:ext cx="2984768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onsolas" panose="020B0609020204030204" pitchFamily="49" charset="0"/>
              </a:rPr>
              <a:t>TRUE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--&gt; taken1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64EE8C-D7DC-176E-C53E-AF40AAB3429D}"/>
              </a:ext>
            </a:extLst>
          </p:cNvPr>
          <p:cNvSpPr/>
          <p:nvPr/>
        </p:nvSpPr>
        <p:spPr>
          <a:xfrm>
            <a:off x="5881255" y="2904054"/>
            <a:ext cx="3783440" cy="668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onsolas" panose="020B0609020204030204" pitchFamily="49" charset="0"/>
              </a:rPr>
              <a:t>TRUE --&gt;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 taken2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EC23B8-E619-0E26-ABCA-D68570DED382}"/>
              </a:ext>
            </a:extLst>
          </p:cNvPr>
          <p:cNvSpPr/>
          <p:nvPr/>
        </p:nvSpPr>
        <p:spPr>
          <a:xfrm>
            <a:off x="1757355" y="4200445"/>
            <a:ext cx="2984768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R1 &lt;-- taken2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DE8D47-BA51-F935-3F79-BF6B1574AAA2}"/>
              </a:ext>
            </a:extLst>
          </p:cNvPr>
          <p:cNvSpPr/>
          <p:nvPr/>
        </p:nvSpPr>
        <p:spPr>
          <a:xfrm>
            <a:off x="5881255" y="4860845"/>
            <a:ext cx="3783440" cy="668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onsolas" panose="020B0609020204030204" pitchFamily="49" charset="0"/>
              </a:rPr>
              <a:t>R2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&lt;-- taken1</a:t>
            </a:r>
            <a:endParaRPr lang="en-US" sz="2400" dirty="0">
              <a:latin typeface="Consolas" panose="020B0609020204030204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6133FBF-FB5B-5978-9F8A-33EABB0969FE}"/>
              </a:ext>
            </a:extLst>
          </p:cNvPr>
          <p:cNvCxnSpPr>
            <a:cxnSpLocks/>
          </p:cNvCxnSpPr>
          <p:nvPr/>
        </p:nvCxnSpPr>
        <p:spPr>
          <a:xfrm>
            <a:off x="5359400" y="2980267"/>
            <a:ext cx="0" cy="3369733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7419D8-17AF-C412-D250-AF820D130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24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93C56D-51C0-F6BE-8679-8ADAE5AD934F}"/>
              </a:ext>
            </a:extLst>
          </p:cNvPr>
          <p:cNvSpPr/>
          <p:nvPr/>
        </p:nvSpPr>
        <p:spPr>
          <a:xfrm>
            <a:off x="343435" y="4183659"/>
            <a:ext cx="1105282" cy="66874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onsolas" panose="020B0609020204030204" pitchFamily="49" charset="0"/>
              </a:rPr>
              <a:t>TRUE</a:t>
            </a:r>
            <a:endParaRPr lang="LID4096" sz="2400" dirty="0"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3A96D0-9B19-3B05-6202-4E9FF9A662EE}"/>
              </a:ext>
            </a:extLst>
          </p:cNvPr>
          <p:cNvSpPr/>
          <p:nvPr/>
        </p:nvSpPr>
        <p:spPr>
          <a:xfrm>
            <a:off x="2513829" y="1730947"/>
            <a:ext cx="6096769" cy="7921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 anchor="t" anchorCtr="0">
            <a:noAutofit/>
          </a:bodyPr>
          <a:lstStyle/>
          <a:p>
            <a:pPr algn="ctr"/>
            <a:r>
              <a:rPr lang="en-US" sz="4000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taken1 = FALSE, taken2 = FALSE</a:t>
            </a:r>
            <a:endParaRPr lang="LID4096" sz="4000" baseline="-25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3319EC-4E5F-004D-0DEA-8B3224C5B2E5}"/>
              </a:ext>
            </a:extLst>
          </p:cNvPr>
          <p:cNvSpPr txBox="1"/>
          <p:nvPr/>
        </p:nvSpPr>
        <p:spPr>
          <a:xfrm>
            <a:off x="1436022" y="5729654"/>
            <a:ext cx="3299987" cy="76944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5400" i="1"/>
            </a:lvl1pPr>
          </a:lstStyle>
          <a:p>
            <a:r>
              <a:rPr lang="en-US" sz="4400" dirty="0"/>
              <a:t>Core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794248-9128-D5B2-74AB-66CE13966ADB}"/>
              </a:ext>
            </a:extLst>
          </p:cNvPr>
          <p:cNvSpPr txBox="1"/>
          <p:nvPr/>
        </p:nvSpPr>
        <p:spPr>
          <a:xfrm>
            <a:off x="6507659" y="5729654"/>
            <a:ext cx="3299987" cy="76944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5400" i="1"/>
            </a:lvl1pPr>
          </a:lstStyle>
          <a:p>
            <a:r>
              <a:rPr lang="en-US" sz="4400" dirty="0"/>
              <a:t>Core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5281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940A6-7803-1A77-8D91-609AAEFC8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F1C2ABA9-1782-A347-FB76-A64F4C80D67E}"/>
              </a:ext>
            </a:extLst>
          </p:cNvPr>
          <p:cNvGrpSpPr/>
          <p:nvPr/>
        </p:nvGrpSpPr>
        <p:grpSpPr>
          <a:xfrm>
            <a:off x="9798211" y="1690688"/>
            <a:ext cx="1931082" cy="4802188"/>
            <a:chOff x="9798211" y="1690688"/>
            <a:chExt cx="1931082" cy="4802188"/>
          </a:xfrm>
        </p:grpSpPr>
        <p:sp>
          <p:nvSpPr>
            <p:cNvPr id="19" name="Arrow: Curved Right 18">
              <a:extLst>
                <a:ext uri="{FF2B5EF4-FFF2-40B4-BE49-F238E27FC236}">
                  <a16:creationId xmlns:a16="http://schemas.microsoft.com/office/drawing/2014/main" id="{E485E534-46B5-0AE7-DBDC-1B027FD5CC98}"/>
                </a:ext>
              </a:extLst>
            </p:cNvPr>
            <p:cNvSpPr/>
            <p:nvPr/>
          </p:nvSpPr>
          <p:spPr>
            <a:xfrm flipH="1">
              <a:off x="9798211" y="1690688"/>
              <a:ext cx="1356655" cy="4802188"/>
            </a:xfrm>
            <a:prstGeom prst="curved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FA59E06-B8F3-F47F-734B-43BA63AAA22C}"/>
                </a:ext>
              </a:extLst>
            </p:cNvPr>
            <p:cNvSpPr/>
            <p:nvPr/>
          </p:nvSpPr>
          <p:spPr>
            <a:xfrm>
              <a:off x="10051633" y="4676982"/>
              <a:ext cx="1677660" cy="93150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</a:rPr>
                <a:t>taken1? FALSE</a:t>
              </a:r>
              <a:endParaRPr lang="en-US" sz="2400" dirty="0">
                <a:latin typeface="Consolas" panose="020B0609020204030204" pitchFamily="49" charset="0"/>
                <a:sym typeface="Wingdings" panose="05000000000000000000" pitchFamily="2" charset="2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6D93DEB-AF78-197D-4029-6CAB3E6AA7AC}"/>
              </a:ext>
            </a:extLst>
          </p:cNvPr>
          <p:cNvGrpSpPr/>
          <p:nvPr/>
        </p:nvGrpSpPr>
        <p:grpSpPr>
          <a:xfrm>
            <a:off x="304839" y="1690688"/>
            <a:ext cx="1729529" cy="4802188"/>
            <a:chOff x="304839" y="1690688"/>
            <a:chExt cx="1729529" cy="4802188"/>
          </a:xfrm>
        </p:grpSpPr>
        <p:sp>
          <p:nvSpPr>
            <p:cNvPr id="17" name="Arrow: Curved Right 16">
              <a:extLst>
                <a:ext uri="{FF2B5EF4-FFF2-40B4-BE49-F238E27FC236}">
                  <a16:creationId xmlns:a16="http://schemas.microsoft.com/office/drawing/2014/main" id="{5516643B-6A1A-ACA5-3CC9-4C7285923080}"/>
                </a:ext>
              </a:extLst>
            </p:cNvPr>
            <p:cNvSpPr/>
            <p:nvPr/>
          </p:nvSpPr>
          <p:spPr>
            <a:xfrm>
              <a:off x="726804" y="1690688"/>
              <a:ext cx="1307564" cy="4802188"/>
            </a:xfrm>
            <a:prstGeom prst="curved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9DA303B-1473-6B40-C5C3-17DA3FAB642F}"/>
                </a:ext>
              </a:extLst>
            </p:cNvPr>
            <p:cNvSpPr/>
            <p:nvPr/>
          </p:nvSpPr>
          <p:spPr>
            <a:xfrm>
              <a:off x="304839" y="4770582"/>
              <a:ext cx="1677660" cy="93150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</a:rPr>
                <a:t>taken2? FALSE</a:t>
              </a:r>
              <a:endParaRPr lang="en-US" sz="2400" dirty="0">
                <a:latin typeface="Consolas" panose="020B0609020204030204" pitchFamily="49" charset="0"/>
                <a:sym typeface="Wingdings" panose="05000000000000000000" pitchFamily="2" charset="2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852613E-D8F0-72AA-D735-C0FE5F524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FIFO write buffers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DEFF84-50E9-5FF4-B6CD-EB8E2DB9A9D5}"/>
              </a:ext>
            </a:extLst>
          </p:cNvPr>
          <p:cNvSpPr/>
          <p:nvPr/>
        </p:nvSpPr>
        <p:spPr>
          <a:xfrm>
            <a:off x="1054100" y="1434659"/>
            <a:ext cx="9626600" cy="746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 anchor="t" anchorCtr="0">
            <a:noAutofit/>
          </a:bodyPr>
          <a:lstStyle/>
          <a:p>
            <a:pPr algn="ctr"/>
            <a:r>
              <a:rPr lang="en-US" sz="4000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Caches/Memory: </a:t>
            </a:r>
            <a:r>
              <a:rPr lang="en-US" sz="4000" baseline="-25000" dirty="0">
                <a:latin typeface="Consolas" panose="020B0609020204030204" pitchFamily="49" charset="0"/>
              </a:rPr>
              <a:t>taken1 = FALSE, taken2 = FALSE</a:t>
            </a:r>
            <a:endParaRPr lang="LID4096" sz="4000" baseline="-25000" dirty="0">
              <a:latin typeface="Consolas" panose="020B0609020204030204" pitchFamily="49" charset="0"/>
            </a:endParaRPr>
          </a:p>
          <a:p>
            <a:pPr algn="ctr"/>
            <a:endParaRPr lang="en-US" sz="4000" baseline="-25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EBE4E02C-79E4-FAA2-7565-83C20DDE74D8}"/>
              </a:ext>
            </a:extLst>
          </p:cNvPr>
          <p:cNvSpPr/>
          <p:nvPr/>
        </p:nvSpPr>
        <p:spPr>
          <a:xfrm>
            <a:off x="1675136" y="2308302"/>
            <a:ext cx="4131696" cy="3421351"/>
          </a:xfrm>
          <a:prstGeom prst="upArrow">
            <a:avLst>
              <a:gd name="adj1" fmla="val 50000"/>
              <a:gd name="adj2" fmla="val 2387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FB76C0-17A6-7F50-8FAC-3C315E364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25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C1F2F1-61A8-9598-0936-B86C7F7BB87E}"/>
              </a:ext>
            </a:extLst>
          </p:cNvPr>
          <p:cNvSpPr txBox="1"/>
          <p:nvPr/>
        </p:nvSpPr>
        <p:spPr>
          <a:xfrm>
            <a:off x="2057125" y="5729654"/>
            <a:ext cx="3299987" cy="76944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5400" i="1"/>
            </a:lvl1pPr>
          </a:lstStyle>
          <a:p>
            <a:r>
              <a:rPr lang="en-US" sz="4400" dirty="0"/>
              <a:t>Core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E6F743-34E9-133B-F592-90098B12FACF}"/>
              </a:ext>
            </a:extLst>
          </p:cNvPr>
          <p:cNvSpPr txBox="1"/>
          <p:nvPr/>
        </p:nvSpPr>
        <p:spPr>
          <a:xfrm>
            <a:off x="6507659" y="5729654"/>
            <a:ext cx="3299987" cy="76944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5400" i="1"/>
            </a:lvl1pPr>
          </a:lstStyle>
          <a:p>
            <a:r>
              <a:rPr lang="en-US" sz="4400" dirty="0"/>
              <a:t>Core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B1D30C-68E3-A05D-ACD8-F66449B6DA9F}"/>
              </a:ext>
            </a:extLst>
          </p:cNvPr>
          <p:cNvSpPr/>
          <p:nvPr/>
        </p:nvSpPr>
        <p:spPr>
          <a:xfrm>
            <a:off x="2663861" y="4792134"/>
            <a:ext cx="2154245" cy="93150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onsolas" panose="020B0609020204030204" pitchFamily="49" charset="0"/>
              </a:rPr>
              <a:t>TRUE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--&gt; taken1</a:t>
            </a:r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A2F1E96E-3B55-7C4C-2297-68CE80E9DE99}"/>
              </a:ext>
            </a:extLst>
          </p:cNvPr>
          <p:cNvSpPr/>
          <p:nvPr/>
        </p:nvSpPr>
        <p:spPr>
          <a:xfrm>
            <a:off x="6017546" y="2308302"/>
            <a:ext cx="4131696" cy="3421351"/>
          </a:xfrm>
          <a:prstGeom prst="upArrow">
            <a:avLst>
              <a:gd name="adj1" fmla="val 50000"/>
              <a:gd name="adj2" fmla="val 2387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C857FC-577E-9655-9BBC-701F2FA607C5}"/>
              </a:ext>
            </a:extLst>
          </p:cNvPr>
          <p:cNvSpPr/>
          <p:nvPr/>
        </p:nvSpPr>
        <p:spPr>
          <a:xfrm>
            <a:off x="7046665" y="4792134"/>
            <a:ext cx="2154245" cy="93150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onsolas" panose="020B0609020204030204" pitchFamily="49" charset="0"/>
              </a:rPr>
              <a:t>TRUE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--&gt; taken2</a:t>
            </a:r>
          </a:p>
        </p:txBody>
      </p:sp>
    </p:spTree>
    <p:extLst>
      <p:ext uri="{BB962C8B-B14F-4D97-AF65-F5344CB8AC3E}">
        <p14:creationId xmlns:p14="http://schemas.microsoft.com/office/powerpoint/2010/main" val="8874809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3.33333E-6 L -8.33333E-7 -0.20116 " pathEditMode="relative" rAng="0" ptsTypes="AA">
                                      <p:cBhvr>
                                        <p:cTn id="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06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3.95833E-6 3.33333E-6 L 3.95833E-6 -0.14699 " pathEditMode="relative" rAng="0" ptsTypes="AA">
                                      <p:cBhvr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5C891-98EA-EB3B-766F-BE47DA891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00B5B-40F1-A768-D724-6DC540B05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 Memory Model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1C998A-829C-6A09-F59B-DA91A5EBC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TSO: </a:t>
            </a:r>
            <a:r>
              <a:rPr lang="en-US" b="1" dirty="0"/>
              <a:t>T</a:t>
            </a:r>
            <a:r>
              <a:rPr lang="en-US" dirty="0"/>
              <a:t>otal </a:t>
            </a:r>
            <a:r>
              <a:rPr lang="en-US" b="1" dirty="0"/>
              <a:t>S</a:t>
            </a:r>
            <a:r>
              <a:rPr lang="en-US" dirty="0"/>
              <a:t>tore </a:t>
            </a:r>
            <a:r>
              <a:rPr lang="en-US" b="1" dirty="0"/>
              <a:t>O</a:t>
            </a:r>
            <a:r>
              <a:rPr lang="en-US" dirty="0"/>
              <a:t>rder :</a:t>
            </a:r>
          </a:p>
          <a:p>
            <a:pPr lvl="1"/>
            <a:r>
              <a:rPr lang="en-US" dirty="0"/>
              <a:t>Stores cannot bypass other stores</a:t>
            </a:r>
          </a:p>
          <a:p>
            <a:pPr lvl="1"/>
            <a:r>
              <a:rPr lang="en-US" dirty="0"/>
              <a:t>Loads can bypass older stores.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[we didn’t discuss explicitly:]</a:t>
            </a:r>
            <a:br>
              <a:rPr lang="en-US" dirty="0"/>
            </a:br>
            <a:r>
              <a:rPr lang="en-US" dirty="0"/>
              <a:t>Stores cannot bypass older loads</a:t>
            </a:r>
            <a:br>
              <a:rPr lang="en-US" dirty="0"/>
            </a:br>
            <a:r>
              <a:rPr lang="en-US" dirty="0" err="1"/>
              <a:t>Loads</a:t>
            </a:r>
            <a:r>
              <a:rPr lang="en-US" dirty="0"/>
              <a:t> cannot bypass other loads</a:t>
            </a:r>
          </a:p>
          <a:p>
            <a:pPr lvl="1"/>
            <a:endParaRPr lang="en-US" dirty="0"/>
          </a:p>
          <a:p>
            <a:r>
              <a:rPr lang="en-US" dirty="0"/>
              <a:t>Intuition: FIFO write buffers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623C8-53C5-272D-E495-5289A41C1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7158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26A07-4113-3A5A-812F-A01BDA91F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Coalescing write buffers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32DBC-1352-8FBD-1744-D037FB361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Coalesce writes to the same cache 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F3694F-9814-C94E-FFE4-85B02C066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27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7045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57174-1EDA-76C2-7A37-7131DD58C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744B-169A-48CD-14BC-A9DEB47C7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Coalescing write buffers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E30B89-7C36-E3A8-31C7-9BA51C104678}"/>
              </a:ext>
            </a:extLst>
          </p:cNvPr>
          <p:cNvSpPr/>
          <p:nvPr/>
        </p:nvSpPr>
        <p:spPr>
          <a:xfrm>
            <a:off x="1054100" y="1434659"/>
            <a:ext cx="9626600" cy="746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Caches + Memory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874BAA-22AC-3B34-B124-4A3A32CA3CD8}"/>
              </a:ext>
            </a:extLst>
          </p:cNvPr>
          <p:cNvSpPr txBox="1"/>
          <p:nvPr/>
        </p:nvSpPr>
        <p:spPr>
          <a:xfrm>
            <a:off x="1893221" y="5187789"/>
            <a:ext cx="3299987" cy="923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5400" i="1"/>
            </a:lvl1pPr>
          </a:lstStyle>
          <a:p>
            <a:r>
              <a:rPr lang="en-US" dirty="0"/>
              <a:t>Core</a:t>
            </a:r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CEEE7D24-40C5-A002-5CD8-B60DF16784AC}"/>
              </a:ext>
            </a:extLst>
          </p:cNvPr>
          <p:cNvSpPr/>
          <p:nvPr/>
        </p:nvSpPr>
        <p:spPr>
          <a:xfrm>
            <a:off x="1477367" y="2308303"/>
            <a:ext cx="4131696" cy="2879486"/>
          </a:xfrm>
          <a:prstGeom prst="upArrow">
            <a:avLst>
              <a:gd name="adj1" fmla="val 50000"/>
              <a:gd name="adj2" fmla="val 2387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0EED2F-0FC2-CAF4-3C21-00CC45812B9F}"/>
              </a:ext>
            </a:extLst>
          </p:cNvPr>
          <p:cNvSpPr txBox="1"/>
          <p:nvPr/>
        </p:nvSpPr>
        <p:spPr>
          <a:xfrm>
            <a:off x="6964858" y="5187789"/>
            <a:ext cx="3299987" cy="923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5400" i="1"/>
            </a:lvl1pPr>
          </a:lstStyle>
          <a:p>
            <a:r>
              <a:rPr lang="en-US" dirty="0"/>
              <a:t>Core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5EEEAB-BA01-CDF2-944A-20B1C4B1D26E}"/>
              </a:ext>
            </a:extLst>
          </p:cNvPr>
          <p:cNvSpPr txBox="1"/>
          <p:nvPr/>
        </p:nvSpPr>
        <p:spPr>
          <a:xfrm>
            <a:off x="8064817" y="3630789"/>
            <a:ext cx="2475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dummy?  0</a:t>
            </a:r>
            <a:br>
              <a:rPr lang="en-US" sz="2800" dirty="0"/>
            </a:br>
            <a:r>
              <a:rPr lang="en-US" sz="2800" dirty="0"/>
              <a:t>data? OLD</a:t>
            </a:r>
            <a:br>
              <a:rPr lang="en-US" sz="2800" dirty="0"/>
            </a:br>
            <a:r>
              <a:rPr lang="en-US" sz="2800" dirty="0"/>
              <a:t>ready? FALSE</a:t>
            </a:r>
            <a:endParaRPr lang="LID4096" sz="2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DAA22B-D4B3-FBE3-224D-6DBBE89E3D2B}"/>
              </a:ext>
            </a:extLst>
          </p:cNvPr>
          <p:cNvSpPr/>
          <p:nvPr/>
        </p:nvSpPr>
        <p:spPr>
          <a:xfrm>
            <a:off x="2509319" y="4799716"/>
            <a:ext cx="2063905" cy="43213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TRUE 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--&gt; ready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A53F2C-A6A2-0FDF-2E62-F5A7E681D9E8}"/>
              </a:ext>
            </a:extLst>
          </p:cNvPr>
          <p:cNvSpPr/>
          <p:nvPr/>
        </p:nvSpPr>
        <p:spPr>
          <a:xfrm>
            <a:off x="2509319" y="4800255"/>
            <a:ext cx="2063905" cy="43213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NEW 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--&gt; 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C17672-AD73-47B7-63A4-C564B2C23C3A}"/>
              </a:ext>
            </a:extLst>
          </p:cNvPr>
          <p:cNvSpPr/>
          <p:nvPr/>
        </p:nvSpPr>
        <p:spPr>
          <a:xfrm>
            <a:off x="2508406" y="4799716"/>
            <a:ext cx="2063905" cy="43213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1 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--&gt; dummy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E911144-9C68-60AE-FF6A-55452DB14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28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4348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 L -4.58333E-6 -0.21574 " pathEditMode="relative" rAng="0" ptsTypes="AA">
                                      <p:cBhvr>
                                        <p:cTn id="6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78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79167E-6 -1.48148E-6 L -4.79167E-6 -0.15092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54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4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4.79167E-6 0 L -4.79167E-6 -0.08426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2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2" grpId="0" animBg="1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5E9B2-2646-595A-D0A2-E06F85308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E5825-8AA0-C564-2777-FAF77ACE2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Coalescing write buffers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C66930-CC8C-0BC6-5EF2-F729B1F446DE}"/>
              </a:ext>
            </a:extLst>
          </p:cNvPr>
          <p:cNvSpPr/>
          <p:nvPr/>
        </p:nvSpPr>
        <p:spPr>
          <a:xfrm>
            <a:off x="1054100" y="1434659"/>
            <a:ext cx="9626600" cy="746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Caches + Memory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C8DBE2-1AA7-8EE2-E1D3-C17CF53B8009}"/>
              </a:ext>
            </a:extLst>
          </p:cNvPr>
          <p:cNvSpPr txBox="1"/>
          <p:nvPr/>
        </p:nvSpPr>
        <p:spPr>
          <a:xfrm>
            <a:off x="1893221" y="5187789"/>
            <a:ext cx="3299987" cy="923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5400" i="1"/>
            </a:lvl1pPr>
          </a:lstStyle>
          <a:p>
            <a:r>
              <a:rPr lang="en-US" dirty="0"/>
              <a:t>Core</a:t>
            </a:r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00344696-0219-4D99-4D3E-547EF490C2EC}"/>
              </a:ext>
            </a:extLst>
          </p:cNvPr>
          <p:cNvSpPr/>
          <p:nvPr/>
        </p:nvSpPr>
        <p:spPr>
          <a:xfrm>
            <a:off x="1477367" y="2308303"/>
            <a:ext cx="4131696" cy="2879486"/>
          </a:xfrm>
          <a:prstGeom prst="upArrow">
            <a:avLst>
              <a:gd name="adj1" fmla="val 50000"/>
              <a:gd name="adj2" fmla="val 2387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3E7D63-81B1-8216-F533-013960B09992}"/>
              </a:ext>
            </a:extLst>
          </p:cNvPr>
          <p:cNvSpPr txBox="1"/>
          <p:nvPr/>
        </p:nvSpPr>
        <p:spPr>
          <a:xfrm>
            <a:off x="6964858" y="5187789"/>
            <a:ext cx="3299987" cy="923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5400" i="1"/>
            </a:lvl1pPr>
          </a:lstStyle>
          <a:p>
            <a:r>
              <a:rPr lang="en-US" dirty="0"/>
              <a:t>Core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F32833-086E-7FFD-B1E5-43FD698409A7}"/>
              </a:ext>
            </a:extLst>
          </p:cNvPr>
          <p:cNvSpPr/>
          <p:nvPr/>
        </p:nvSpPr>
        <p:spPr>
          <a:xfrm>
            <a:off x="2508972" y="3765998"/>
            <a:ext cx="2063905" cy="43213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NEW 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--&gt; 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91AC69-6554-77DA-0662-7822E65FB5EA}"/>
              </a:ext>
            </a:extLst>
          </p:cNvPr>
          <p:cNvSpPr/>
          <p:nvPr/>
        </p:nvSpPr>
        <p:spPr>
          <a:xfrm>
            <a:off x="2505493" y="3148383"/>
            <a:ext cx="2063905" cy="60237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1 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--&gt; dummy</a:t>
            </a:r>
          </a:p>
          <a:p>
            <a:pPr algn="ctr"/>
            <a:r>
              <a:rPr lang="en-US" dirty="0">
                <a:latin typeface="Consolas" panose="020B0609020204030204" pitchFamily="49" charset="0"/>
              </a:rPr>
              <a:t>TRUE 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--&gt; ready</a:t>
            </a:r>
            <a:endParaRPr lang="LID409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4E0CCA-A5CE-31B4-9F9F-1FCD83F8D9F5}"/>
              </a:ext>
            </a:extLst>
          </p:cNvPr>
          <p:cNvSpPr txBox="1"/>
          <p:nvPr/>
        </p:nvSpPr>
        <p:spPr>
          <a:xfrm>
            <a:off x="8064817" y="3630789"/>
            <a:ext cx="2475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dummy?  0</a:t>
            </a:r>
            <a:br>
              <a:rPr lang="en-US" sz="2800" dirty="0"/>
            </a:br>
            <a:r>
              <a:rPr lang="en-US" sz="2800" dirty="0"/>
              <a:t>data? OLD</a:t>
            </a:r>
            <a:br>
              <a:rPr lang="en-US" sz="2800" dirty="0"/>
            </a:br>
            <a:r>
              <a:rPr lang="en-US" sz="2800" dirty="0"/>
              <a:t>ready? FALSE</a:t>
            </a:r>
            <a:endParaRPr lang="LID4096" sz="28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CE5ACD3-C93A-F4CB-C1B2-3150DA904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29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665E71-F1AD-2D5C-6CDB-8FF2B1923C50}"/>
              </a:ext>
            </a:extLst>
          </p:cNvPr>
          <p:cNvSpPr txBox="1"/>
          <p:nvPr/>
        </p:nvSpPr>
        <p:spPr>
          <a:xfrm>
            <a:off x="8064816" y="3630789"/>
            <a:ext cx="2475037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dummy?  1</a:t>
            </a:r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dirty="0"/>
              <a:t>data? OLD</a:t>
            </a:r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dirty="0">
                <a:solidFill>
                  <a:srgbClr val="FF0000"/>
                </a:solidFill>
              </a:rPr>
              <a:t>ready? TRUE</a:t>
            </a:r>
            <a:endParaRPr lang="LID4096" sz="28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7831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Char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7.40741E-7 L -4.16667E-6 -0.19722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86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4.44444E-6 L -4.58333E-6 -0.19723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8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7" grpId="0" animBg="1"/>
      <p:bldP spid="7" grpId="1" animBg="1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296FB-AFFA-7A6D-1C98-9D6C325EF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Answers so far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8E888-4CFF-8645-EDC0-D0F545628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Invalidate queues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Non multi-copy atomicity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Write buffers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FIFO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Coalescing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36E05D-B4AC-EF9E-DD8B-9D5B6FCEA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30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8952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5C35E-060C-24C3-250E-1EA1A757B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78E6376-B361-21AD-8EF8-5B5D35945CB5}"/>
              </a:ext>
            </a:extLst>
          </p:cNvPr>
          <p:cNvCxnSpPr>
            <a:cxnSpLocks/>
          </p:cNvCxnSpPr>
          <p:nvPr/>
        </p:nvCxnSpPr>
        <p:spPr>
          <a:xfrm>
            <a:off x="5674867" y="3617496"/>
            <a:ext cx="2362200" cy="0"/>
          </a:xfrm>
          <a:prstGeom prst="straightConnector1">
            <a:avLst/>
          </a:prstGeom>
          <a:ln w="476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C72FB023-1226-03B4-157E-576C0D1BFC1B}"/>
              </a:ext>
            </a:extLst>
          </p:cNvPr>
          <p:cNvCxnSpPr>
            <a:cxnSpLocks/>
          </p:cNvCxnSpPr>
          <p:nvPr/>
        </p:nvCxnSpPr>
        <p:spPr>
          <a:xfrm>
            <a:off x="7205807" y="2724407"/>
            <a:ext cx="1896246" cy="0"/>
          </a:xfrm>
          <a:prstGeom prst="straightConnector1">
            <a:avLst/>
          </a:prstGeom>
          <a:ln w="476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1FB8760-8EA8-45EF-7DAB-131B3A92F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 of Order – Memory Ops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DFC93-8856-B0B5-30BE-B7F136181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31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B1D3BA-A948-2371-62E8-009A519D8147}"/>
              </a:ext>
            </a:extLst>
          </p:cNvPr>
          <p:cNvSpPr/>
          <p:nvPr/>
        </p:nvSpPr>
        <p:spPr>
          <a:xfrm>
            <a:off x="196997" y="1928557"/>
            <a:ext cx="2679403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Instruction Queue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758DFD-DEFA-EE29-67E7-C4D6484EADC8}"/>
              </a:ext>
            </a:extLst>
          </p:cNvPr>
          <p:cNvSpPr/>
          <p:nvPr/>
        </p:nvSpPr>
        <p:spPr>
          <a:xfrm>
            <a:off x="571501" y="3004368"/>
            <a:ext cx="1930399" cy="52387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R1 =  R1–R2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4DDE96-88DF-D304-1FC2-BA076ED98F93}"/>
              </a:ext>
            </a:extLst>
          </p:cNvPr>
          <p:cNvSpPr/>
          <p:nvPr/>
        </p:nvSpPr>
        <p:spPr>
          <a:xfrm>
            <a:off x="571501" y="3528243"/>
            <a:ext cx="1930399" cy="5238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R4 --&gt; [R2]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EAEEDE-D4ED-D4B9-E9B2-26F8C7B21474}"/>
              </a:ext>
            </a:extLst>
          </p:cNvPr>
          <p:cNvSpPr/>
          <p:nvPr/>
        </p:nvSpPr>
        <p:spPr>
          <a:xfrm>
            <a:off x="571501" y="4037549"/>
            <a:ext cx="1930399" cy="52387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R2 =  R3/R9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A95B5B-EDBE-E874-1FB1-DA3C112CCC4F}"/>
              </a:ext>
            </a:extLst>
          </p:cNvPr>
          <p:cNvSpPr/>
          <p:nvPr/>
        </p:nvSpPr>
        <p:spPr>
          <a:xfrm>
            <a:off x="571501" y="4546855"/>
            <a:ext cx="1930399" cy="5238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R3 &lt;-- [R6]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192E188-A451-74E3-6915-F2D0389C49DE}"/>
              </a:ext>
            </a:extLst>
          </p:cNvPr>
          <p:cNvSpPr/>
          <p:nvPr/>
        </p:nvSpPr>
        <p:spPr>
          <a:xfrm>
            <a:off x="571501" y="2495062"/>
            <a:ext cx="1930399" cy="5238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R8 &lt;-- [R1]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C9D289E-84FF-5EBB-87E0-49A32EC0505D}"/>
              </a:ext>
            </a:extLst>
          </p:cNvPr>
          <p:cNvGrpSpPr/>
          <p:nvPr/>
        </p:nvGrpSpPr>
        <p:grpSpPr>
          <a:xfrm>
            <a:off x="3378209" y="1632215"/>
            <a:ext cx="3827598" cy="2598224"/>
            <a:chOff x="3378209" y="1632215"/>
            <a:chExt cx="3827598" cy="2598224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CCC8F647-DECC-2AE1-7FF4-76E6A721D906}"/>
                </a:ext>
              </a:extLst>
            </p:cNvPr>
            <p:cNvSpPr/>
            <p:nvPr/>
          </p:nvSpPr>
          <p:spPr>
            <a:xfrm>
              <a:off x="3378209" y="2179050"/>
              <a:ext cx="843552" cy="41275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L/S</a:t>
              </a:r>
              <a:endParaRPr lang="LID4096" sz="2000" dirty="0">
                <a:solidFill>
                  <a:schemeClr val="bg1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3086292-CC7E-D597-97CB-1033FF91E838}"/>
                </a:ext>
              </a:extLst>
            </p:cNvPr>
            <p:cNvSpPr/>
            <p:nvPr/>
          </p:nvSpPr>
          <p:spPr>
            <a:xfrm>
              <a:off x="4221761" y="2179050"/>
              <a:ext cx="843552" cy="41275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err="1">
                  <a:solidFill>
                    <a:schemeClr val="bg1"/>
                  </a:solidFill>
                </a:rPr>
                <a:t>Addr</a:t>
              </a:r>
              <a:endParaRPr lang="LID4096" sz="2000" dirty="0">
                <a:solidFill>
                  <a:schemeClr val="bg1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46EB61DF-51F1-0840-9220-4C93909B9736}"/>
                </a:ext>
              </a:extLst>
            </p:cNvPr>
            <p:cNvSpPr/>
            <p:nvPr/>
          </p:nvSpPr>
          <p:spPr>
            <a:xfrm>
              <a:off x="5065313" y="2179050"/>
              <a:ext cx="843552" cy="41275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Val</a:t>
              </a:r>
              <a:endParaRPr lang="LID4096" sz="2000" dirty="0">
                <a:solidFill>
                  <a:schemeClr val="bg1"/>
                </a:solidFill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8AC226DB-EBFA-DBA4-101E-76550CE5FD59}"/>
                </a:ext>
              </a:extLst>
            </p:cNvPr>
            <p:cNvSpPr/>
            <p:nvPr/>
          </p:nvSpPr>
          <p:spPr>
            <a:xfrm>
              <a:off x="4149349" y="1632215"/>
              <a:ext cx="2194059" cy="523875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+mj-lt"/>
                </a:rPr>
                <a:t>Load-Store-Queue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01790A3-12B1-F8FD-8129-BFE90A8553D5}"/>
                </a:ext>
              </a:extLst>
            </p:cNvPr>
            <p:cNvSpPr/>
            <p:nvPr/>
          </p:nvSpPr>
          <p:spPr>
            <a:xfrm>
              <a:off x="5908865" y="2179050"/>
              <a:ext cx="1296942" cy="41275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Complete</a:t>
              </a:r>
              <a:endParaRPr lang="LID4096" sz="2000" dirty="0">
                <a:solidFill>
                  <a:schemeClr val="bg1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1427765-EAB7-1EF1-43B3-42CE4794C8B9}"/>
                </a:ext>
              </a:extLst>
            </p:cNvPr>
            <p:cNvSpPr/>
            <p:nvPr/>
          </p:nvSpPr>
          <p:spPr>
            <a:xfrm>
              <a:off x="3378209" y="2591801"/>
              <a:ext cx="843552" cy="41275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2000" dirty="0">
                <a:solidFill>
                  <a:schemeClr val="bg1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B540B5C-1755-F11C-81DD-A8F8EEF0B83B}"/>
                </a:ext>
              </a:extLst>
            </p:cNvPr>
            <p:cNvSpPr/>
            <p:nvPr/>
          </p:nvSpPr>
          <p:spPr>
            <a:xfrm>
              <a:off x="4221761" y="2591801"/>
              <a:ext cx="843552" cy="41275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2000" dirty="0">
                <a:solidFill>
                  <a:schemeClr val="bg1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99ECD475-2B0D-E469-103C-0390001B1875}"/>
                </a:ext>
              </a:extLst>
            </p:cNvPr>
            <p:cNvSpPr/>
            <p:nvPr/>
          </p:nvSpPr>
          <p:spPr>
            <a:xfrm>
              <a:off x="5065313" y="2591801"/>
              <a:ext cx="843552" cy="41275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2000" dirty="0">
                <a:solidFill>
                  <a:schemeClr val="bg1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B8862FE-0A69-E503-C74D-7CBDD9F4B958}"/>
                </a:ext>
              </a:extLst>
            </p:cNvPr>
            <p:cNvSpPr/>
            <p:nvPr/>
          </p:nvSpPr>
          <p:spPr>
            <a:xfrm>
              <a:off x="5908865" y="2591801"/>
              <a:ext cx="1296942" cy="41275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2000" dirty="0">
                <a:solidFill>
                  <a:schemeClr val="bg1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7C5985A-5913-2839-F287-45CE1A19093B}"/>
                </a:ext>
              </a:extLst>
            </p:cNvPr>
            <p:cNvSpPr/>
            <p:nvPr/>
          </p:nvSpPr>
          <p:spPr>
            <a:xfrm>
              <a:off x="3378209" y="3004552"/>
              <a:ext cx="843552" cy="41275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2000" dirty="0">
                <a:solidFill>
                  <a:schemeClr val="bg1"/>
                </a:solidFill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732B01B-DD91-6171-55AC-7DC726E51206}"/>
                </a:ext>
              </a:extLst>
            </p:cNvPr>
            <p:cNvSpPr/>
            <p:nvPr/>
          </p:nvSpPr>
          <p:spPr>
            <a:xfrm>
              <a:off x="4221761" y="3004552"/>
              <a:ext cx="843552" cy="41275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2000" dirty="0">
                <a:solidFill>
                  <a:schemeClr val="bg1"/>
                </a:solidFill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D9DD2DA-8322-0C0F-3CD5-6CBCEA1CCFE0}"/>
                </a:ext>
              </a:extLst>
            </p:cNvPr>
            <p:cNvSpPr/>
            <p:nvPr/>
          </p:nvSpPr>
          <p:spPr>
            <a:xfrm>
              <a:off x="5065313" y="3004552"/>
              <a:ext cx="843552" cy="41275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2000" dirty="0">
                <a:solidFill>
                  <a:schemeClr val="bg1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684C46CC-F610-100A-E49F-B55472141F97}"/>
                </a:ext>
              </a:extLst>
            </p:cNvPr>
            <p:cNvSpPr/>
            <p:nvPr/>
          </p:nvSpPr>
          <p:spPr>
            <a:xfrm>
              <a:off x="5908865" y="3004552"/>
              <a:ext cx="1296942" cy="41275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2000" dirty="0">
                <a:solidFill>
                  <a:schemeClr val="bg1"/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73CD77A-1C25-C400-3228-84E6087366CA}"/>
                </a:ext>
              </a:extLst>
            </p:cNvPr>
            <p:cNvSpPr/>
            <p:nvPr/>
          </p:nvSpPr>
          <p:spPr>
            <a:xfrm>
              <a:off x="3378209" y="3411120"/>
              <a:ext cx="843552" cy="41275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2000" dirty="0">
                <a:solidFill>
                  <a:schemeClr val="bg1"/>
                </a:solidFill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1CBAEFC-8458-39D0-45F9-DEC25F7683E2}"/>
                </a:ext>
              </a:extLst>
            </p:cNvPr>
            <p:cNvSpPr/>
            <p:nvPr/>
          </p:nvSpPr>
          <p:spPr>
            <a:xfrm>
              <a:off x="4221761" y="3411120"/>
              <a:ext cx="843552" cy="41275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2000" dirty="0">
                <a:solidFill>
                  <a:schemeClr val="bg1"/>
                </a:solidFill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CAC5B83D-150C-729E-081C-B07F87FB21B8}"/>
                </a:ext>
              </a:extLst>
            </p:cNvPr>
            <p:cNvSpPr/>
            <p:nvPr/>
          </p:nvSpPr>
          <p:spPr>
            <a:xfrm>
              <a:off x="5065313" y="3407945"/>
              <a:ext cx="843552" cy="41275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2000" dirty="0">
                <a:solidFill>
                  <a:schemeClr val="bg1"/>
                </a:solidFill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D460099-E56E-3D9B-1365-C321D5D2DDB8}"/>
                </a:ext>
              </a:extLst>
            </p:cNvPr>
            <p:cNvSpPr/>
            <p:nvPr/>
          </p:nvSpPr>
          <p:spPr>
            <a:xfrm>
              <a:off x="5908865" y="3411120"/>
              <a:ext cx="1296942" cy="41275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2000" dirty="0">
                <a:solidFill>
                  <a:schemeClr val="bg1"/>
                </a:solidFill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A5BA1F6E-CB54-D916-83C9-64F7403510AC}"/>
                </a:ext>
              </a:extLst>
            </p:cNvPr>
            <p:cNvSpPr/>
            <p:nvPr/>
          </p:nvSpPr>
          <p:spPr>
            <a:xfrm>
              <a:off x="3378209" y="3817688"/>
              <a:ext cx="843552" cy="41275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2000" dirty="0">
                <a:solidFill>
                  <a:schemeClr val="bg1"/>
                </a:solidFill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D2379234-914D-39DD-17B5-653E5A666B50}"/>
                </a:ext>
              </a:extLst>
            </p:cNvPr>
            <p:cNvSpPr/>
            <p:nvPr/>
          </p:nvSpPr>
          <p:spPr>
            <a:xfrm>
              <a:off x="4221761" y="3817688"/>
              <a:ext cx="843552" cy="41275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2000" dirty="0">
                <a:solidFill>
                  <a:schemeClr val="bg1"/>
                </a:solidFill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1FF3FA01-8258-C421-8541-19B020B4D502}"/>
                </a:ext>
              </a:extLst>
            </p:cNvPr>
            <p:cNvSpPr/>
            <p:nvPr/>
          </p:nvSpPr>
          <p:spPr>
            <a:xfrm>
              <a:off x="5065313" y="3817688"/>
              <a:ext cx="843552" cy="41275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2000" dirty="0">
                <a:solidFill>
                  <a:schemeClr val="bg1"/>
                </a:solidFill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F02FAED1-652A-A292-48D6-8DA35E6D17DC}"/>
                </a:ext>
              </a:extLst>
            </p:cNvPr>
            <p:cNvSpPr/>
            <p:nvPr/>
          </p:nvSpPr>
          <p:spPr>
            <a:xfrm>
              <a:off x="5908865" y="3817688"/>
              <a:ext cx="1296942" cy="41275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95" name="Rectangle 94">
            <a:extLst>
              <a:ext uri="{FF2B5EF4-FFF2-40B4-BE49-F238E27FC236}">
                <a16:creationId xmlns:a16="http://schemas.microsoft.com/office/drawing/2014/main" id="{0BADD206-B0DF-49F2-54A1-585AC799F0EB}"/>
              </a:ext>
            </a:extLst>
          </p:cNvPr>
          <p:cNvSpPr/>
          <p:nvPr/>
        </p:nvSpPr>
        <p:spPr>
          <a:xfrm>
            <a:off x="9265438" y="2156090"/>
            <a:ext cx="2194059" cy="207434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Memory/Caches</a:t>
            </a:r>
            <a:endParaRPr lang="LID4096" sz="3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569DAE-F7F5-CDD1-D9EF-87D484F379B0}"/>
              </a:ext>
            </a:extLst>
          </p:cNvPr>
          <p:cNvSpPr/>
          <p:nvPr/>
        </p:nvSpPr>
        <p:spPr>
          <a:xfrm>
            <a:off x="4221761" y="2590841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0x10</a:t>
            </a:r>
            <a:endParaRPr lang="LID4096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54FFFE-11A7-E726-4594-6AC80E798A8F}"/>
              </a:ext>
            </a:extLst>
          </p:cNvPr>
          <p:cNvSpPr/>
          <p:nvPr/>
        </p:nvSpPr>
        <p:spPr>
          <a:xfrm>
            <a:off x="3378209" y="2590841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  <a:endParaRPr lang="LID4096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328A8C-2BD5-FAC6-39DC-1DA1556F48DF}"/>
              </a:ext>
            </a:extLst>
          </p:cNvPr>
          <p:cNvSpPr/>
          <p:nvPr/>
        </p:nvSpPr>
        <p:spPr>
          <a:xfrm>
            <a:off x="3378209" y="3003592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endParaRPr lang="LID4096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4C82A4-419D-02FF-116D-A412A1E0E070}"/>
              </a:ext>
            </a:extLst>
          </p:cNvPr>
          <p:cNvSpPr/>
          <p:nvPr/>
        </p:nvSpPr>
        <p:spPr>
          <a:xfrm>
            <a:off x="4221761" y="3003592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R2</a:t>
            </a:r>
            <a:endParaRPr lang="LID4096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E38859-4956-0E21-76D2-0AF7BC6A5457}"/>
              </a:ext>
            </a:extLst>
          </p:cNvPr>
          <p:cNvSpPr/>
          <p:nvPr/>
        </p:nvSpPr>
        <p:spPr>
          <a:xfrm>
            <a:off x="5065313" y="3003592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1234</a:t>
            </a:r>
            <a:endParaRPr lang="LID4096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ED5A63-34F1-54B9-3534-BE1631E2B972}"/>
              </a:ext>
            </a:extLst>
          </p:cNvPr>
          <p:cNvSpPr/>
          <p:nvPr/>
        </p:nvSpPr>
        <p:spPr>
          <a:xfrm>
            <a:off x="3379317" y="3410160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  <a:endParaRPr lang="LID4096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7805D2-BC94-FA26-7139-495A69887E2C}"/>
              </a:ext>
            </a:extLst>
          </p:cNvPr>
          <p:cNvSpPr/>
          <p:nvPr/>
        </p:nvSpPr>
        <p:spPr>
          <a:xfrm>
            <a:off x="4221814" y="3410160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</a:t>
            </a:r>
            <a:endParaRPr lang="LID4096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C4110C-EE02-3487-1EBE-9829F397C57C}"/>
              </a:ext>
            </a:extLst>
          </p:cNvPr>
          <p:cNvSpPr/>
          <p:nvPr/>
        </p:nvSpPr>
        <p:spPr>
          <a:xfrm>
            <a:off x="1438725" y="3059930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0x20</a:t>
            </a:r>
            <a:endParaRPr lang="LID4096" sz="2000" dirty="0">
              <a:solidFill>
                <a:schemeClr val="bg1"/>
              </a:solidFill>
            </a:endParaRPr>
          </a:p>
        </p:txBody>
      </p:sp>
      <p:pic>
        <p:nvPicPr>
          <p:cNvPr id="23" name="Graphic 22" descr="Exclamation mark with solid fill">
            <a:extLst>
              <a:ext uri="{FF2B5EF4-FFF2-40B4-BE49-F238E27FC236}">
                <a16:creationId xmlns:a16="http://schemas.microsoft.com/office/drawing/2014/main" id="{156F6D68-8C68-473D-18F1-50A03E826A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9229" y="3206687"/>
            <a:ext cx="914400" cy="91440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D6BB802C-5B1B-22FB-C27A-43FE1560C5B4}"/>
              </a:ext>
            </a:extLst>
          </p:cNvPr>
          <p:cNvSpPr/>
          <p:nvPr/>
        </p:nvSpPr>
        <p:spPr>
          <a:xfrm>
            <a:off x="5065313" y="3413335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1234</a:t>
            </a:r>
            <a:endParaRPr lang="LID4096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E36F895-F3D1-D947-FB3A-6BCC3A88F422}"/>
              </a:ext>
            </a:extLst>
          </p:cNvPr>
          <p:cNvSpPr/>
          <p:nvPr/>
        </p:nvSpPr>
        <p:spPr>
          <a:xfrm>
            <a:off x="7369042" y="5969000"/>
            <a:ext cx="1733011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1"/>
                </a:solidFill>
                <a:latin typeface="+mj-lt"/>
              </a:rPr>
              <a:t>Dispatch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9840DF6-F315-71CC-5B00-EF0208398A7B}"/>
              </a:ext>
            </a:extLst>
          </p:cNvPr>
          <p:cNvSpPr/>
          <p:nvPr/>
        </p:nvSpPr>
        <p:spPr>
          <a:xfrm>
            <a:off x="2034869" y="6015037"/>
            <a:ext cx="1733011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1"/>
                </a:solidFill>
                <a:latin typeface="+mj-lt"/>
              </a:rPr>
              <a:t>Issue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0D65C83-51B3-81DE-91FE-45DFF4EC3A14}"/>
              </a:ext>
            </a:extLst>
          </p:cNvPr>
          <p:cNvCxnSpPr>
            <a:stCxn id="13" idx="3"/>
            <a:endCxn id="76" idx="1"/>
          </p:cNvCxnSpPr>
          <p:nvPr/>
        </p:nvCxnSpPr>
        <p:spPr>
          <a:xfrm>
            <a:off x="2501900" y="4299487"/>
            <a:ext cx="1107273" cy="113950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6" name="Group 85">
            <a:extLst>
              <a:ext uri="{FF2B5EF4-FFF2-40B4-BE49-F238E27FC236}">
                <a16:creationId xmlns:a16="http://schemas.microsoft.com/office/drawing/2014/main" id="{43642DCA-7DF2-B432-821B-0131765E9647}"/>
              </a:ext>
            </a:extLst>
          </p:cNvPr>
          <p:cNvGrpSpPr/>
          <p:nvPr/>
        </p:nvGrpSpPr>
        <p:grpSpPr>
          <a:xfrm>
            <a:off x="3525476" y="4765003"/>
            <a:ext cx="3133112" cy="1724533"/>
            <a:chOff x="3857582" y="4574816"/>
            <a:chExt cx="3133112" cy="1724533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411C36D5-F9C7-4DDE-6A36-C30F50739120}"/>
                </a:ext>
              </a:extLst>
            </p:cNvPr>
            <p:cNvGrpSpPr/>
            <p:nvPr/>
          </p:nvGrpSpPr>
          <p:grpSpPr>
            <a:xfrm>
              <a:off x="4569766" y="5831037"/>
              <a:ext cx="2420928" cy="412751"/>
              <a:chOff x="4686300" y="4286249"/>
              <a:chExt cx="2420928" cy="412751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B2048421-8F3B-44FD-3760-5FBFBA6D768F}"/>
                  </a:ext>
                </a:extLst>
              </p:cNvPr>
              <p:cNvSpPr/>
              <p:nvPr/>
            </p:nvSpPr>
            <p:spPr>
              <a:xfrm>
                <a:off x="4686300" y="4286249"/>
                <a:ext cx="647700" cy="41275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8E39C60-BAE9-D6AF-9BA3-A60D7F0A0775}"/>
                  </a:ext>
                </a:extLst>
              </p:cNvPr>
              <p:cNvSpPr/>
              <p:nvPr/>
            </p:nvSpPr>
            <p:spPr>
              <a:xfrm>
                <a:off x="5334000" y="4286249"/>
                <a:ext cx="647700" cy="41275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DF99846F-840C-0008-6B63-FF77EA914BEC}"/>
                  </a:ext>
                </a:extLst>
              </p:cNvPr>
              <p:cNvSpPr/>
              <p:nvPr/>
            </p:nvSpPr>
            <p:spPr>
              <a:xfrm>
                <a:off x="5981700" y="4286249"/>
                <a:ext cx="647700" cy="41275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828DC537-F9CF-38C9-942E-C93165274B4D}"/>
                  </a:ext>
                </a:extLst>
              </p:cNvPr>
              <p:cNvSpPr/>
              <p:nvPr/>
            </p:nvSpPr>
            <p:spPr>
              <a:xfrm>
                <a:off x="6629400" y="4286249"/>
                <a:ext cx="477828" cy="41275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82A6B85A-D55E-38C0-57FD-417FD291DD2D}"/>
                </a:ext>
              </a:extLst>
            </p:cNvPr>
            <p:cNvGrpSpPr/>
            <p:nvPr/>
          </p:nvGrpSpPr>
          <p:grpSpPr>
            <a:xfrm>
              <a:off x="4569766" y="5418286"/>
              <a:ext cx="2420927" cy="412751"/>
              <a:chOff x="4686300" y="4286249"/>
              <a:chExt cx="2420927" cy="412751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31833391-00BE-2257-2B6B-38E995C56A19}"/>
                  </a:ext>
                </a:extLst>
              </p:cNvPr>
              <p:cNvSpPr/>
              <p:nvPr/>
            </p:nvSpPr>
            <p:spPr>
              <a:xfrm>
                <a:off x="4686300" y="4286249"/>
                <a:ext cx="647700" cy="41275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A7D72669-90D0-6ADA-1FB0-E1E5E3D576BB}"/>
                  </a:ext>
                </a:extLst>
              </p:cNvPr>
              <p:cNvSpPr/>
              <p:nvPr/>
            </p:nvSpPr>
            <p:spPr>
              <a:xfrm>
                <a:off x="5334000" y="4286249"/>
                <a:ext cx="647700" cy="41275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FC1CD72A-0BA3-84A4-5AA3-E59B603D87EE}"/>
                  </a:ext>
                </a:extLst>
              </p:cNvPr>
              <p:cNvSpPr/>
              <p:nvPr/>
            </p:nvSpPr>
            <p:spPr>
              <a:xfrm>
                <a:off x="5981700" y="4286249"/>
                <a:ext cx="647700" cy="41275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40B2ADAA-BC78-CC7D-5E0A-E886D54D2813}"/>
                  </a:ext>
                </a:extLst>
              </p:cNvPr>
              <p:cNvSpPr/>
              <p:nvPr/>
            </p:nvSpPr>
            <p:spPr>
              <a:xfrm>
                <a:off x="6629670" y="4286249"/>
                <a:ext cx="477557" cy="41275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5FCE99CD-673B-3EE4-25E4-013C5AC1C8BC}"/>
                </a:ext>
              </a:extLst>
            </p:cNvPr>
            <p:cNvGrpSpPr/>
            <p:nvPr/>
          </p:nvGrpSpPr>
          <p:grpSpPr>
            <a:xfrm>
              <a:off x="4569766" y="5011490"/>
              <a:ext cx="2420927" cy="412751"/>
              <a:chOff x="4686300" y="4286249"/>
              <a:chExt cx="2420927" cy="412751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D7255486-35D0-BAB3-7BF0-CB7322283751}"/>
                  </a:ext>
                </a:extLst>
              </p:cNvPr>
              <p:cNvSpPr/>
              <p:nvPr/>
            </p:nvSpPr>
            <p:spPr>
              <a:xfrm>
                <a:off x="4686300" y="4286249"/>
                <a:ext cx="647700" cy="41275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/</a:t>
                </a:r>
                <a:endParaRPr lang="LID4096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7F908663-4BBE-09AE-F10C-34F2EE26B34B}"/>
                  </a:ext>
                </a:extLst>
              </p:cNvPr>
              <p:cNvSpPr/>
              <p:nvPr/>
            </p:nvSpPr>
            <p:spPr>
              <a:xfrm>
                <a:off x="5334000" y="4286249"/>
                <a:ext cx="647700" cy="41275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R3</a:t>
                </a:r>
                <a:endParaRPr lang="LID4096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98CE18DB-4B79-4B0B-6DB1-0DA167FA533C}"/>
                  </a:ext>
                </a:extLst>
              </p:cNvPr>
              <p:cNvSpPr/>
              <p:nvPr/>
            </p:nvSpPr>
            <p:spPr>
              <a:xfrm>
                <a:off x="5981700" y="4286249"/>
                <a:ext cx="647700" cy="41275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R9</a:t>
                </a:r>
                <a:endParaRPr lang="LID4096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F589F2FA-E6CA-CEA8-9CEC-4932E2C44788}"/>
                  </a:ext>
                </a:extLst>
              </p:cNvPr>
              <p:cNvSpPr/>
              <p:nvPr/>
            </p:nvSpPr>
            <p:spPr>
              <a:xfrm>
                <a:off x="6629919" y="4286249"/>
                <a:ext cx="477308" cy="41275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3E161F8-126D-E5FC-4B21-9DA746CA2A82}"/>
                </a:ext>
              </a:extLst>
            </p:cNvPr>
            <p:cNvSpPr/>
            <p:nvPr/>
          </p:nvSpPr>
          <p:spPr>
            <a:xfrm>
              <a:off x="3941279" y="5070091"/>
              <a:ext cx="647701" cy="357427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+mj-lt"/>
                </a:rPr>
                <a:t>RS1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3AA42DA9-E523-D42D-4A0B-8E354639C28A}"/>
                </a:ext>
              </a:extLst>
            </p:cNvPr>
            <p:cNvSpPr/>
            <p:nvPr/>
          </p:nvSpPr>
          <p:spPr>
            <a:xfrm>
              <a:off x="3857582" y="5472451"/>
              <a:ext cx="776668" cy="354535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+mj-lt"/>
                </a:rPr>
                <a:t>RS2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87393170-FC29-C674-5709-E57119AAD8BC}"/>
                </a:ext>
              </a:extLst>
            </p:cNvPr>
            <p:cNvSpPr/>
            <p:nvPr/>
          </p:nvSpPr>
          <p:spPr>
            <a:xfrm>
              <a:off x="3857582" y="5775474"/>
              <a:ext cx="776668" cy="523875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+mj-lt"/>
                </a:rPr>
                <a:t>RS3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E52A83B5-333C-B32C-7E42-F9450D0410EF}"/>
                </a:ext>
              </a:extLst>
            </p:cNvPr>
            <p:cNvSpPr/>
            <p:nvPr/>
          </p:nvSpPr>
          <p:spPr>
            <a:xfrm>
              <a:off x="4545437" y="4574816"/>
              <a:ext cx="2327610" cy="523875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+mj-lt"/>
                </a:rPr>
                <a:t>Reservation Stations</a:t>
              </a:r>
            </a:p>
          </p:txBody>
        </p:sp>
      </p:grp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59C5548-5DFC-A9AA-8F30-5D12153226FC}"/>
              </a:ext>
            </a:extLst>
          </p:cNvPr>
          <p:cNvCxnSpPr>
            <a:stCxn id="14" idx="3"/>
            <a:endCxn id="49" idx="1"/>
          </p:cNvCxnSpPr>
          <p:nvPr/>
        </p:nvCxnSpPr>
        <p:spPr>
          <a:xfrm flipV="1">
            <a:off x="2501900" y="2798177"/>
            <a:ext cx="876309" cy="201061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649148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7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7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7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8" dur="2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50"/>
                            </p:stCondLst>
                            <p:childTnLst>
                              <p:par>
                                <p:cTn id="70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1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4" dur="1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9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 tmFilter="0, 0; .2, .5; .8, .5; 1, 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" dur="250" autoRev="1" fill="hold"/>
                                        <p:tgtEl>
                                          <p:spTgt spid="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1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42" presetClass="path" presetSubtype="0" decel="17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1.11111E-6 L 0.22865 0.05116 " pathEditMode="relative" rAng="0" ptsTypes="AA">
                                      <p:cBhvr>
                                        <p:cTn id="15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32" y="25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750"/>
                            </p:stCondLst>
                            <p:childTnLst>
                              <p:par>
                                <p:cTn id="1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750"/>
                            </p:stCondLst>
                            <p:childTnLst>
                              <p:par>
                                <p:cTn id="1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750"/>
                            </p:stCondLst>
                            <p:childTnLst>
                              <p:par>
                                <p:cTn id="15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1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6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6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6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63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3.7037E-6 L 0.08711 3.7037E-6 " pathEditMode="relative" rAng="0" ptsTypes="AA">
                                      <p:cBhvr>
                                        <p:cTn id="176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4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 animBg="1"/>
      <p:bldP spid="10" grpId="1" animBg="1"/>
      <p:bldP spid="11" grpId="0" animBg="1"/>
      <p:bldP spid="11" grpId="1" animBg="1"/>
      <p:bldP spid="13" grpId="0" animBg="1"/>
      <p:bldP spid="13" grpId="1" animBg="1"/>
      <p:bldP spid="14" grpId="0" animBg="1"/>
      <p:bldP spid="14" grpId="1" animBg="1"/>
      <p:bldP spid="46" grpId="0" animBg="1"/>
      <p:bldP spid="46" grpId="1" animBg="1"/>
      <p:bldP spid="7" grpId="0" animBg="1"/>
      <p:bldP spid="8" grpId="0" animBg="1"/>
      <p:bldP spid="9" grpId="0" animBg="1"/>
      <p:bldP spid="12" grpId="0" animBg="1"/>
      <p:bldP spid="12" grpId="1" animBg="1"/>
      <p:bldP spid="15" grpId="0" animBg="1"/>
      <p:bldP spid="17" grpId="0" animBg="1"/>
      <p:bldP spid="19" grpId="0" animBg="1"/>
      <p:bldP spid="20" grpId="0" animBg="1"/>
      <p:bldP spid="20" grpId="1" animBg="1"/>
      <p:bldP spid="38" grpId="0" animBg="1"/>
      <p:bldP spid="80" grpId="0"/>
      <p:bldP spid="8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0E84E-0D90-986B-8D8E-128C1D6DB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4D2C1-BC76-A109-5BF6-7BCC7DEB7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 of Order – Memory Ops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7CDC7-9151-15C7-C31A-46D11B076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126DE7-172B-8D72-6AAB-426170588093}"/>
              </a:ext>
            </a:extLst>
          </p:cNvPr>
          <p:cNvSpPr/>
          <p:nvPr/>
        </p:nvSpPr>
        <p:spPr>
          <a:xfrm>
            <a:off x="196997" y="1928557"/>
            <a:ext cx="2679403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Instruction Queue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687830-64FD-B703-7ABA-B0C7302967D0}"/>
              </a:ext>
            </a:extLst>
          </p:cNvPr>
          <p:cNvSpPr/>
          <p:nvPr/>
        </p:nvSpPr>
        <p:spPr>
          <a:xfrm>
            <a:off x="571501" y="3004368"/>
            <a:ext cx="1930399" cy="52387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R1 =  R1–R2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0D11E7-ED44-1622-6E56-5B43BC25FA45}"/>
              </a:ext>
            </a:extLst>
          </p:cNvPr>
          <p:cNvSpPr/>
          <p:nvPr/>
        </p:nvSpPr>
        <p:spPr>
          <a:xfrm>
            <a:off x="571501" y="3528243"/>
            <a:ext cx="1930399" cy="5238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R4 --&gt; [R2]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208E64-315A-5FC6-F3F3-524575D8D106}"/>
              </a:ext>
            </a:extLst>
          </p:cNvPr>
          <p:cNvSpPr/>
          <p:nvPr/>
        </p:nvSpPr>
        <p:spPr>
          <a:xfrm>
            <a:off x="571501" y="4037549"/>
            <a:ext cx="1930399" cy="52387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R2 =  R3/R9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919BB2-2DC5-82E2-27D7-902D676939AA}"/>
              </a:ext>
            </a:extLst>
          </p:cNvPr>
          <p:cNvSpPr/>
          <p:nvPr/>
        </p:nvSpPr>
        <p:spPr>
          <a:xfrm>
            <a:off x="571501" y="4546855"/>
            <a:ext cx="1930399" cy="5238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R3 &lt;-- [R6]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F10BAB0-41E4-F52A-1B1A-FC13A92C2621}"/>
              </a:ext>
            </a:extLst>
          </p:cNvPr>
          <p:cNvSpPr/>
          <p:nvPr/>
        </p:nvSpPr>
        <p:spPr>
          <a:xfrm>
            <a:off x="571501" y="2495062"/>
            <a:ext cx="1930399" cy="5238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R8 &lt;-- [R1]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41722DB-6CB1-776F-840E-BA1B60C04731}"/>
              </a:ext>
            </a:extLst>
          </p:cNvPr>
          <p:cNvSpPr/>
          <p:nvPr/>
        </p:nvSpPr>
        <p:spPr>
          <a:xfrm>
            <a:off x="3378209" y="2179050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L/S</a:t>
            </a:r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1703B3A-22EB-003F-9BDF-FE405901ACBD}"/>
              </a:ext>
            </a:extLst>
          </p:cNvPr>
          <p:cNvSpPr/>
          <p:nvPr/>
        </p:nvSpPr>
        <p:spPr>
          <a:xfrm>
            <a:off x="4221761" y="2179050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bg1"/>
                </a:solidFill>
              </a:rPr>
              <a:t>Addr</a:t>
            </a:r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4F53F9B-5C3D-4D24-5393-82FFB8183755}"/>
              </a:ext>
            </a:extLst>
          </p:cNvPr>
          <p:cNvSpPr/>
          <p:nvPr/>
        </p:nvSpPr>
        <p:spPr>
          <a:xfrm>
            <a:off x="5065313" y="2179050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Val</a:t>
            </a:r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FD1A8F1-D7EE-F6D8-3221-504BA3C57E3C}"/>
              </a:ext>
            </a:extLst>
          </p:cNvPr>
          <p:cNvSpPr/>
          <p:nvPr/>
        </p:nvSpPr>
        <p:spPr>
          <a:xfrm>
            <a:off x="4149349" y="1632215"/>
            <a:ext cx="2194059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Load-Store-Queue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938A718-91E6-DC07-5D02-4033E14A803C}"/>
              </a:ext>
            </a:extLst>
          </p:cNvPr>
          <p:cNvSpPr/>
          <p:nvPr/>
        </p:nvSpPr>
        <p:spPr>
          <a:xfrm>
            <a:off x="5908865" y="2179050"/>
            <a:ext cx="129694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Complete</a:t>
            </a:r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0D24CA6-A6A2-6611-E579-4AAC98187C9D}"/>
              </a:ext>
            </a:extLst>
          </p:cNvPr>
          <p:cNvSpPr/>
          <p:nvPr/>
        </p:nvSpPr>
        <p:spPr>
          <a:xfrm>
            <a:off x="3378209" y="2591801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2E35025-BED0-C006-1251-1048D7CFF114}"/>
              </a:ext>
            </a:extLst>
          </p:cNvPr>
          <p:cNvSpPr/>
          <p:nvPr/>
        </p:nvSpPr>
        <p:spPr>
          <a:xfrm>
            <a:off x="4221761" y="2591801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2DAC954-2474-90BC-7F4E-716E02E9CB5C}"/>
              </a:ext>
            </a:extLst>
          </p:cNvPr>
          <p:cNvSpPr/>
          <p:nvPr/>
        </p:nvSpPr>
        <p:spPr>
          <a:xfrm>
            <a:off x="5065313" y="2591801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07D2FBF-6817-5AC2-2C35-2EA67AC2A2E5}"/>
              </a:ext>
            </a:extLst>
          </p:cNvPr>
          <p:cNvSpPr/>
          <p:nvPr/>
        </p:nvSpPr>
        <p:spPr>
          <a:xfrm>
            <a:off x="5908865" y="2591801"/>
            <a:ext cx="129694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F8A9828-F979-EBDB-1BC9-603762B9E6D2}"/>
              </a:ext>
            </a:extLst>
          </p:cNvPr>
          <p:cNvSpPr/>
          <p:nvPr/>
        </p:nvSpPr>
        <p:spPr>
          <a:xfrm>
            <a:off x="3378209" y="3004552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DF2042C-1DFF-984C-7027-254903DBEBED}"/>
              </a:ext>
            </a:extLst>
          </p:cNvPr>
          <p:cNvSpPr/>
          <p:nvPr/>
        </p:nvSpPr>
        <p:spPr>
          <a:xfrm>
            <a:off x="4221761" y="3004552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CF6099B-4659-B79E-0571-F4343BA894FD}"/>
              </a:ext>
            </a:extLst>
          </p:cNvPr>
          <p:cNvSpPr/>
          <p:nvPr/>
        </p:nvSpPr>
        <p:spPr>
          <a:xfrm>
            <a:off x="5065313" y="3004552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CEE8724-71A7-6B7F-DFBA-041A5C5FDF1D}"/>
              </a:ext>
            </a:extLst>
          </p:cNvPr>
          <p:cNvSpPr/>
          <p:nvPr/>
        </p:nvSpPr>
        <p:spPr>
          <a:xfrm>
            <a:off x="5908865" y="3004552"/>
            <a:ext cx="129694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13021C0-F0C9-0B59-3A52-E4E4A3225874}"/>
              </a:ext>
            </a:extLst>
          </p:cNvPr>
          <p:cNvSpPr/>
          <p:nvPr/>
        </p:nvSpPr>
        <p:spPr>
          <a:xfrm>
            <a:off x="3378209" y="3411120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0BD94E9-B4C3-86F4-A99B-BBAF19D37627}"/>
              </a:ext>
            </a:extLst>
          </p:cNvPr>
          <p:cNvSpPr/>
          <p:nvPr/>
        </p:nvSpPr>
        <p:spPr>
          <a:xfrm>
            <a:off x="4221761" y="3411120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8CE5F81-CA49-4850-6A34-B3F05A2D7C69}"/>
              </a:ext>
            </a:extLst>
          </p:cNvPr>
          <p:cNvSpPr/>
          <p:nvPr/>
        </p:nvSpPr>
        <p:spPr>
          <a:xfrm>
            <a:off x="5065313" y="3407945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CD8CC51-9928-CD32-3863-BA27AD0D31A6}"/>
              </a:ext>
            </a:extLst>
          </p:cNvPr>
          <p:cNvSpPr/>
          <p:nvPr/>
        </p:nvSpPr>
        <p:spPr>
          <a:xfrm>
            <a:off x="5908865" y="3411120"/>
            <a:ext cx="129694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C9941F8-1EC8-71DD-4A6D-A977AE2D924D}"/>
              </a:ext>
            </a:extLst>
          </p:cNvPr>
          <p:cNvSpPr/>
          <p:nvPr/>
        </p:nvSpPr>
        <p:spPr>
          <a:xfrm>
            <a:off x="3378209" y="3817688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9A9F8B7-D5C2-D987-45D5-B87B38D63EDF}"/>
              </a:ext>
            </a:extLst>
          </p:cNvPr>
          <p:cNvSpPr/>
          <p:nvPr/>
        </p:nvSpPr>
        <p:spPr>
          <a:xfrm>
            <a:off x="4221761" y="3817688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9B4D53D-8D81-BA68-D9BC-304D864120DB}"/>
              </a:ext>
            </a:extLst>
          </p:cNvPr>
          <p:cNvSpPr/>
          <p:nvPr/>
        </p:nvSpPr>
        <p:spPr>
          <a:xfrm>
            <a:off x="5065313" y="3817688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24C709F-B06C-1881-8E1A-ABEA85D4FF72}"/>
              </a:ext>
            </a:extLst>
          </p:cNvPr>
          <p:cNvSpPr/>
          <p:nvPr/>
        </p:nvSpPr>
        <p:spPr>
          <a:xfrm>
            <a:off x="5908865" y="3817688"/>
            <a:ext cx="129694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10A33F-2893-2708-5BE7-672E9374521E}"/>
              </a:ext>
            </a:extLst>
          </p:cNvPr>
          <p:cNvSpPr/>
          <p:nvPr/>
        </p:nvSpPr>
        <p:spPr>
          <a:xfrm>
            <a:off x="5908865" y="2592135"/>
            <a:ext cx="129694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✓1</a:t>
            </a:r>
            <a:endParaRPr lang="LID4096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4263A650-C639-80B9-298B-F7926E3ACCC3}"/>
              </a:ext>
            </a:extLst>
          </p:cNvPr>
          <p:cNvSpPr/>
          <p:nvPr/>
        </p:nvSpPr>
        <p:spPr>
          <a:xfrm>
            <a:off x="9265438" y="2156090"/>
            <a:ext cx="2194059" cy="207434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Memory/Caches</a:t>
            </a:r>
            <a:endParaRPr lang="LID4096" sz="3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7B9892-82B6-0CC0-96D5-77830305F6B7}"/>
              </a:ext>
            </a:extLst>
          </p:cNvPr>
          <p:cNvSpPr/>
          <p:nvPr/>
        </p:nvSpPr>
        <p:spPr>
          <a:xfrm>
            <a:off x="4221761" y="2590841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0x10</a:t>
            </a:r>
            <a:endParaRPr lang="LID4096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BFCADB-9060-29B7-54BF-62383B95BD97}"/>
              </a:ext>
            </a:extLst>
          </p:cNvPr>
          <p:cNvSpPr/>
          <p:nvPr/>
        </p:nvSpPr>
        <p:spPr>
          <a:xfrm>
            <a:off x="3378209" y="2590841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  <a:endParaRPr lang="LID4096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2CF3F4-F724-3BF1-900C-262A48352CE1}"/>
              </a:ext>
            </a:extLst>
          </p:cNvPr>
          <p:cNvSpPr/>
          <p:nvPr/>
        </p:nvSpPr>
        <p:spPr>
          <a:xfrm>
            <a:off x="3378209" y="3003592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endParaRPr lang="LID4096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71E5C5-D4FD-9D15-F6D4-4999620A25FF}"/>
              </a:ext>
            </a:extLst>
          </p:cNvPr>
          <p:cNvSpPr/>
          <p:nvPr/>
        </p:nvSpPr>
        <p:spPr>
          <a:xfrm>
            <a:off x="4221761" y="3003591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11</a:t>
            </a:r>
            <a:endParaRPr lang="LID4096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5B0F07-DC60-3E8C-23F1-8FDED62BE14C}"/>
              </a:ext>
            </a:extLst>
          </p:cNvPr>
          <p:cNvSpPr/>
          <p:nvPr/>
        </p:nvSpPr>
        <p:spPr>
          <a:xfrm>
            <a:off x="5065313" y="3003592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1234</a:t>
            </a:r>
            <a:endParaRPr lang="LID4096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088D3E-8453-BC17-F2A6-44100E842950}"/>
              </a:ext>
            </a:extLst>
          </p:cNvPr>
          <p:cNvSpPr/>
          <p:nvPr/>
        </p:nvSpPr>
        <p:spPr>
          <a:xfrm>
            <a:off x="1438725" y="3059930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0x20</a:t>
            </a:r>
            <a:endParaRPr lang="LID4096" sz="2000" dirty="0">
              <a:solidFill>
                <a:schemeClr val="bg1"/>
              </a:solidFill>
            </a:endParaRP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07E1A4D0-D44A-951E-F1AA-B71A80A1A517}"/>
              </a:ext>
            </a:extLst>
          </p:cNvPr>
          <p:cNvGrpSpPr/>
          <p:nvPr/>
        </p:nvGrpSpPr>
        <p:grpSpPr>
          <a:xfrm>
            <a:off x="3379317" y="3410160"/>
            <a:ext cx="2529548" cy="415926"/>
            <a:chOff x="3379317" y="3410160"/>
            <a:chExt cx="2529548" cy="41592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0218178-4EAA-B94C-BEB5-E4837CBA31C8}"/>
                </a:ext>
              </a:extLst>
            </p:cNvPr>
            <p:cNvSpPr/>
            <p:nvPr/>
          </p:nvSpPr>
          <p:spPr>
            <a:xfrm>
              <a:off x="3379317" y="3410160"/>
              <a:ext cx="843552" cy="41275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</a:t>
              </a:r>
              <a:endParaRPr lang="LID4096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E7000BE-1519-127E-4929-8BD3FE25E083}"/>
                </a:ext>
              </a:extLst>
            </p:cNvPr>
            <p:cNvSpPr/>
            <p:nvPr/>
          </p:nvSpPr>
          <p:spPr>
            <a:xfrm>
              <a:off x="4221814" y="3410160"/>
              <a:ext cx="843552" cy="41275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R1</a:t>
              </a:r>
              <a:endParaRPr lang="LID4096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1FF3541-6A8D-C968-0B54-1ADB536ECF88}"/>
                </a:ext>
              </a:extLst>
            </p:cNvPr>
            <p:cNvSpPr/>
            <p:nvPr/>
          </p:nvSpPr>
          <p:spPr>
            <a:xfrm>
              <a:off x="5065313" y="3413335"/>
              <a:ext cx="843552" cy="41275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1234</a:t>
              </a:r>
              <a:endParaRPr lang="LID4096" dirty="0"/>
            </a:p>
          </p:txBody>
        </p:sp>
      </p:grpSp>
      <p:sp>
        <p:nvSpPr>
          <p:cNvPr id="80" name="Rectangle 79">
            <a:extLst>
              <a:ext uri="{FF2B5EF4-FFF2-40B4-BE49-F238E27FC236}">
                <a16:creationId xmlns:a16="http://schemas.microsoft.com/office/drawing/2014/main" id="{C2896710-348B-330D-D7C7-85789D76B18A}"/>
              </a:ext>
            </a:extLst>
          </p:cNvPr>
          <p:cNvSpPr/>
          <p:nvPr/>
        </p:nvSpPr>
        <p:spPr>
          <a:xfrm>
            <a:off x="7369042" y="5969000"/>
            <a:ext cx="1733011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1"/>
                </a:solidFill>
                <a:latin typeface="+mj-lt"/>
              </a:rPr>
              <a:t>Commit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BA7A43-B147-71B8-7AE4-65329E00B23F}"/>
              </a:ext>
            </a:extLst>
          </p:cNvPr>
          <p:cNvSpPr/>
          <p:nvPr/>
        </p:nvSpPr>
        <p:spPr>
          <a:xfrm>
            <a:off x="9720824" y="4932113"/>
            <a:ext cx="1206500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R1: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4FA6F9-2B02-7288-AD30-E33BD7CDAC28}"/>
              </a:ext>
            </a:extLst>
          </p:cNvPr>
          <p:cNvSpPr/>
          <p:nvPr/>
        </p:nvSpPr>
        <p:spPr>
          <a:xfrm>
            <a:off x="9720824" y="5297238"/>
            <a:ext cx="1206500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R2: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EDEAEF-2F77-8393-5B6D-DE6302880092}"/>
              </a:ext>
            </a:extLst>
          </p:cNvPr>
          <p:cNvSpPr/>
          <p:nvPr/>
        </p:nvSpPr>
        <p:spPr>
          <a:xfrm>
            <a:off x="9720824" y="5656809"/>
            <a:ext cx="1206500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R3: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9990DC-72EC-4E36-6714-1A1E937A3ED9}"/>
              </a:ext>
            </a:extLst>
          </p:cNvPr>
          <p:cNvSpPr/>
          <p:nvPr/>
        </p:nvSpPr>
        <p:spPr>
          <a:xfrm>
            <a:off x="9720824" y="6021934"/>
            <a:ext cx="1206500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R4: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091161-4B82-20B1-2CD1-8E61FFA2AC90}"/>
              </a:ext>
            </a:extLst>
          </p:cNvPr>
          <p:cNvSpPr/>
          <p:nvPr/>
        </p:nvSpPr>
        <p:spPr>
          <a:xfrm>
            <a:off x="9409674" y="4408238"/>
            <a:ext cx="1841499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Register File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0D02256-B200-CB48-4CB9-B809DEB6AA47}"/>
              </a:ext>
            </a:extLst>
          </p:cNvPr>
          <p:cNvSpPr/>
          <p:nvPr/>
        </p:nvSpPr>
        <p:spPr>
          <a:xfrm>
            <a:off x="5065313" y="2590511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5678</a:t>
            </a:r>
            <a:endParaRPr lang="LID4096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1E47254-AF87-2A3A-FC98-025E46054DE3}"/>
              </a:ext>
            </a:extLst>
          </p:cNvPr>
          <p:cNvSpPr/>
          <p:nvPr/>
        </p:nvSpPr>
        <p:spPr>
          <a:xfrm>
            <a:off x="5908865" y="3417092"/>
            <a:ext cx="129694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✓3</a:t>
            </a:r>
            <a:endParaRPr lang="LID4096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B73C99E-728B-CCC6-DAF3-7294A39A56AD}"/>
              </a:ext>
            </a:extLst>
          </p:cNvPr>
          <p:cNvGrpSpPr/>
          <p:nvPr/>
        </p:nvGrpSpPr>
        <p:grpSpPr>
          <a:xfrm>
            <a:off x="4237660" y="6021224"/>
            <a:ext cx="2420928" cy="412751"/>
            <a:chOff x="4686300" y="4286249"/>
            <a:chExt cx="2420928" cy="412751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40A7F07-59D2-1FBC-3F2F-57E0F4C52011}"/>
                </a:ext>
              </a:extLst>
            </p:cNvPr>
            <p:cNvSpPr/>
            <p:nvPr/>
          </p:nvSpPr>
          <p:spPr>
            <a:xfrm>
              <a:off x="46863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573C6F6F-2A4A-1736-5850-C67B5BEE4894}"/>
                </a:ext>
              </a:extLst>
            </p:cNvPr>
            <p:cNvSpPr/>
            <p:nvPr/>
          </p:nvSpPr>
          <p:spPr>
            <a:xfrm>
              <a:off x="53340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2BE589F9-795F-61CF-045D-62A22BBCECF4}"/>
                </a:ext>
              </a:extLst>
            </p:cNvPr>
            <p:cNvSpPr/>
            <p:nvPr/>
          </p:nvSpPr>
          <p:spPr>
            <a:xfrm>
              <a:off x="59817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92A2987D-9323-3996-CF4A-7B284F18AF93}"/>
                </a:ext>
              </a:extLst>
            </p:cNvPr>
            <p:cNvSpPr/>
            <p:nvPr/>
          </p:nvSpPr>
          <p:spPr>
            <a:xfrm>
              <a:off x="6629399" y="4286249"/>
              <a:ext cx="477829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40CA3EE-D305-8ABA-1F32-D1D5AE5DB791}"/>
              </a:ext>
            </a:extLst>
          </p:cNvPr>
          <p:cNvGrpSpPr/>
          <p:nvPr/>
        </p:nvGrpSpPr>
        <p:grpSpPr>
          <a:xfrm>
            <a:off x="4237660" y="5608473"/>
            <a:ext cx="2420927" cy="412751"/>
            <a:chOff x="4686300" y="4286249"/>
            <a:chExt cx="2420927" cy="412751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0EC394F-3BBC-D9BD-704C-A9C37B713AF9}"/>
                </a:ext>
              </a:extLst>
            </p:cNvPr>
            <p:cNvSpPr/>
            <p:nvPr/>
          </p:nvSpPr>
          <p:spPr>
            <a:xfrm>
              <a:off x="46863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AF592D0-2895-BF77-E788-D85FF3E87F32}"/>
                </a:ext>
              </a:extLst>
            </p:cNvPr>
            <p:cNvSpPr/>
            <p:nvPr/>
          </p:nvSpPr>
          <p:spPr>
            <a:xfrm>
              <a:off x="53340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F7AC8BB4-3299-8BDD-58AB-B3248D261679}"/>
                </a:ext>
              </a:extLst>
            </p:cNvPr>
            <p:cNvSpPr/>
            <p:nvPr/>
          </p:nvSpPr>
          <p:spPr>
            <a:xfrm>
              <a:off x="59817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8D689948-E7B4-4F8E-26E2-0FC9EA541497}"/>
                </a:ext>
              </a:extLst>
            </p:cNvPr>
            <p:cNvSpPr/>
            <p:nvPr/>
          </p:nvSpPr>
          <p:spPr>
            <a:xfrm>
              <a:off x="6629670" y="4286249"/>
              <a:ext cx="477557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0A90AAB2-51A4-FC92-100F-7F90F60C8406}"/>
              </a:ext>
            </a:extLst>
          </p:cNvPr>
          <p:cNvSpPr/>
          <p:nvPr/>
        </p:nvSpPr>
        <p:spPr>
          <a:xfrm>
            <a:off x="4237660" y="5201677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/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B64C82D-A067-D12C-1A2F-9BE2C7F78ACC}"/>
              </a:ext>
            </a:extLst>
          </p:cNvPr>
          <p:cNvSpPr/>
          <p:nvPr/>
        </p:nvSpPr>
        <p:spPr>
          <a:xfrm>
            <a:off x="4885360" y="5201677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R3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D130B01-D86F-2B89-0291-DE17663B6730}"/>
              </a:ext>
            </a:extLst>
          </p:cNvPr>
          <p:cNvSpPr/>
          <p:nvPr/>
        </p:nvSpPr>
        <p:spPr>
          <a:xfrm>
            <a:off x="5533060" y="5201677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R9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81774BD-9B8E-EE8F-1588-9ABE0C1FB3F2}"/>
              </a:ext>
            </a:extLst>
          </p:cNvPr>
          <p:cNvSpPr/>
          <p:nvPr/>
        </p:nvSpPr>
        <p:spPr>
          <a:xfrm>
            <a:off x="6181279" y="5201677"/>
            <a:ext cx="477308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F445F60-D7BD-A02F-D8AC-3262AE0DD9DF}"/>
              </a:ext>
            </a:extLst>
          </p:cNvPr>
          <p:cNvSpPr/>
          <p:nvPr/>
        </p:nvSpPr>
        <p:spPr>
          <a:xfrm>
            <a:off x="3609173" y="5260278"/>
            <a:ext cx="647701" cy="357427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RS1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D3599F8-3F74-CD14-B2FC-44E992CD45A4}"/>
              </a:ext>
            </a:extLst>
          </p:cNvPr>
          <p:cNvSpPr/>
          <p:nvPr/>
        </p:nvSpPr>
        <p:spPr>
          <a:xfrm>
            <a:off x="3525476" y="5662638"/>
            <a:ext cx="776668" cy="35453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RS2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767E0AF-DFEC-25C1-AC25-416719BEAF87}"/>
              </a:ext>
            </a:extLst>
          </p:cNvPr>
          <p:cNvSpPr/>
          <p:nvPr/>
        </p:nvSpPr>
        <p:spPr>
          <a:xfrm>
            <a:off x="3525476" y="5965661"/>
            <a:ext cx="776668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RS3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2075476-7F23-F305-9B17-CF5BAA8343B9}"/>
              </a:ext>
            </a:extLst>
          </p:cNvPr>
          <p:cNvSpPr/>
          <p:nvPr/>
        </p:nvSpPr>
        <p:spPr>
          <a:xfrm>
            <a:off x="4213331" y="4765003"/>
            <a:ext cx="2327610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Reservation Stations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9288BDB-74C2-71DB-DCBE-068E06AF7763}"/>
              </a:ext>
            </a:extLst>
          </p:cNvPr>
          <p:cNvSpPr/>
          <p:nvPr/>
        </p:nvSpPr>
        <p:spPr>
          <a:xfrm>
            <a:off x="6181986" y="5201677"/>
            <a:ext cx="477829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✓2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07E6C83-F128-D743-0DF4-F04E102C0688}"/>
              </a:ext>
            </a:extLst>
          </p:cNvPr>
          <p:cNvSpPr/>
          <p:nvPr/>
        </p:nvSpPr>
        <p:spPr>
          <a:xfrm>
            <a:off x="5908865" y="2998580"/>
            <a:ext cx="129694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7C5E66C-766F-96CE-569A-EAA479849A6E}"/>
              </a:ext>
            </a:extLst>
          </p:cNvPr>
          <p:cNvCxnSpPr>
            <a:stCxn id="24" idx="3"/>
            <a:endCxn id="16" idx="1"/>
          </p:cNvCxnSpPr>
          <p:nvPr/>
        </p:nvCxnSpPr>
        <p:spPr>
          <a:xfrm>
            <a:off x="7205807" y="2798511"/>
            <a:ext cx="2515017" cy="3040861"/>
          </a:xfrm>
          <a:prstGeom prst="straightConnector1">
            <a:avLst/>
          </a:prstGeom>
          <a:ln w="476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9DF526A-E1D7-648E-88F4-EC92821BAF01}"/>
              </a:ext>
            </a:extLst>
          </p:cNvPr>
          <p:cNvSpPr/>
          <p:nvPr/>
        </p:nvSpPr>
        <p:spPr>
          <a:xfrm>
            <a:off x="9720824" y="5659735"/>
            <a:ext cx="1206500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R3:5678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033402C5-D121-ADF7-3B0E-5465B3862684}"/>
              </a:ext>
            </a:extLst>
          </p:cNvPr>
          <p:cNvCxnSpPr>
            <a:cxnSpLocks/>
            <a:stCxn id="98" idx="3"/>
            <a:endCxn id="6" idx="1"/>
          </p:cNvCxnSpPr>
          <p:nvPr/>
        </p:nvCxnSpPr>
        <p:spPr>
          <a:xfrm>
            <a:off x="6659815" y="5408053"/>
            <a:ext cx="3061009" cy="71748"/>
          </a:xfrm>
          <a:prstGeom prst="straightConnector1">
            <a:avLst/>
          </a:prstGeom>
          <a:ln w="476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1936FB6-DC8C-8360-9924-B8B78D6AD7E1}"/>
              </a:ext>
            </a:extLst>
          </p:cNvPr>
          <p:cNvSpPr/>
          <p:nvPr/>
        </p:nvSpPr>
        <p:spPr>
          <a:xfrm>
            <a:off x="9720824" y="5297238"/>
            <a:ext cx="1206500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R2:  11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02DDB51-BA78-9FDC-5887-7781A7463A56}"/>
              </a:ext>
            </a:extLst>
          </p:cNvPr>
          <p:cNvSpPr/>
          <p:nvPr/>
        </p:nvSpPr>
        <p:spPr>
          <a:xfrm>
            <a:off x="5908865" y="2998402"/>
            <a:ext cx="129694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✓5</a:t>
            </a:r>
            <a:endParaRPr lang="LID4096" dirty="0"/>
          </a:p>
        </p:txBody>
      </p:sp>
      <p:sp>
        <p:nvSpPr>
          <p:cNvPr id="113" name="Arrow: Right 112">
            <a:extLst>
              <a:ext uri="{FF2B5EF4-FFF2-40B4-BE49-F238E27FC236}">
                <a16:creationId xmlns:a16="http://schemas.microsoft.com/office/drawing/2014/main" id="{FCCF750A-DA9E-F148-AED4-A87218979EC6}"/>
              </a:ext>
            </a:extLst>
          </p:cNvPr>
          <p:cNvSpPr/>
          <p:nvPr/>
        </p:nvSpPr>
        <p:spPr>
          <a:xfrm>
            <a:off x="7205807" y="2807703"/>
            <a:ext cx="1465508" cy="7909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WB</a:t>
            </a:r>
            <a:endParaRPr lang="LID4096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7560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 tmFilter="0, 0; .2, .5; .8, .5; 1, 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250" autoRev="1" fill="hold"/>
                                        <p:tgtEl>
                                          <p:spTgt spid="1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0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8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12" grpId="0" animBg="1"/>
      <p:bldP spid="80" grpId="0"/>
      <p:bldP spid="26" grpId="0" animBg="1"/>
      <p:bldP spid="27" grpId="0" animBg="1"/>
      <p:bldP spid="98" grpId="0" animBg="1"/>
      <p:bldP spid="104" grpId="0" animBg="1"/>
      <p:bldP spid="109" grpId="0" animBg="1"/>
      <p:bldP spid="112" grpId="0" animBg="1"/>
      <p:bldP spid="11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0E2E6-0353-1261-64DC-61D9BB204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could go wrong?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B4DDE-AC3C-7536-F1A4-D2584FBF1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33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5FBE05-15FF-1C65-F4C7-0C844DB066D2}"/>
              </a:ext>
            </a:extLst>
          </p:cNvPr>
          <p:cNvSpPr/>
          <p:nvPr/>
        </p:nvSpPr>
        <p:spPr>
          <a:xfrm>
            <a:off x="3304042" y="2430072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L/S</a:t>
            </a:r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F3C946-86C6-E418-C194-16F73623D5EB}"/>
              </a:ext>
            </a:extLst>
          </p:cNvPr>
          <p:cNvSpPr/>
          <p:nvPr/>
        </p:nvSpPr>
        <p:spPr>
          <a:xfrm>
            <a:off x="4147594" y="2430072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bg1"/>
                </a:solidFill>
              </a:rPr>
              <a:t>Addr</a:t>
            </a:r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71E27A-EB23-B2AD-2373-3D6E5D4B23AD}"/>
              </a:ext>
            </a:extLst>
          </p:cNvPr>
          <p:cNvSpPr/>
          <p:nvPr/>
        </p:nvSpPr>
        <p:spPr>
          <a:xfrm>
            <a:off x="4991146" y="2430072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Val</a:t>
            </a:r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4D657A-C560-32E9-00E3-9EC21C953E26}"/>
              </a:ext>
            </a:extLst>
          </p:cNvPr>
          <p:cNvSpPr/>
          <p:nvPr/>
        </p:nvSpPr>
        <p:spPr>
          <a:xfrm>
            <a:off x="4075182" y="1883237"/>
            <a:ext cx="2194059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Load-Store-Queue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2E9854-29C7-B35B-947F-393519999728}"/>
              </a:ext>
            </a:extLst>
          </p:cNvPr>
          <p:cNvSpPr/>
          <p:nvPr/>
        </p:nvSpPr>
        <p:spPr>
          <a:xfrm>
            <a:off x="5834698" y="2430072"/>
            <a:ext cx="129694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Complete</a:t>
            </a:r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FBF857-5DE1-8D1D-3D56-45A585489A02}"/>
              </a:ext>
            </a:extLst>
          </p:cNvPr>
          <p:cNvSpPr/>
          <p:nvPr/>
        </p:nvSpPr>
        <p:spPr>
          <a:xfrm>
            <a:off x="3304042" y="2842823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L</a:t>
            </a:r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C15649-3C92-B810-574A-A6E0B917E8D6}"/>
              </a:ext>
            </a:extLst>
          </p:cNvPr>
          <p:cNvSpPr/>
          <p:nvPr/>
        </p:nvSpPr>
        <p:spPr>
          <a:xfrm>
            <a:off x="4147594" y="2842823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0x10</a:t>
            </a:r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A73920-F674-AF7E-E507-8BC832389CE6}"/>
              </a:ext>
            </a:extLst>
          </p:cNvPr>
          <p:cNvSpPr/>
          <p:nvPr/>
        </p:nvSpPr>
        <p:spPr>
          <a:xfrm>
            <a:off x="4991146" y="2842823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DF7862-E649-FFA1-A686-8BA0A951FD6B}"/>
              </a:ext>
            </a:extLst>
          </p:cNvPr>
          <p:cNvSpPr/>
          <p:nvPr/>
        </p:nvSpPr>
        <p:spPr>
          <a:xfrm>
            <a:off x="5834698" y="2842823"/>
            <a:ext cx="129694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882777-0B9E-727A-39AD-A8C1809A19D6}"/>
              </a:ext>
            </a:extLst>
          </p:cNvPr>
          <p:cNvSpPr/>
          <p:nvPr/>
        </p:nvSpPr>
        <p:spPr>
          <a:xfrm>
            <a:off x="3304042" y="3255574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E72F7B-3D3F-0F4C-7D59-E3D0DE69B88D}"/>
              </a:ext>
            </a:extLst>
          </p:cNvPr>
          <p:cNvSpPr/>
          <p:nvPr/>
        </p:nvSpPr>
        <p:spPr>
          <a:xfrm>
            <a:off x="4147594" y="3255574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35A8E9-4440-A90E-54F9-F862CE6AD5DE}"/>
              </a:ext>
            </a:extLst>
          </p:cNvPr>
          <p:cNvSpPr/>
          <p:nvPr/>
        </p:nvSpPr>
        <p:spPr>
          <a:xfrm>
            <a:off x="4991146" y="3255574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B2DE07-927D-2939-39A6-080D404A4FFA}"/>
              </a:ext>
            </a:extLst>
          </p:cNvPr>
          <p:cNvSpPr/>
          <p:nvPr/>
        </p:nvSpPr>
        <p:spPr>
          <a:xfrm>
            <a:off x="5834698" y="3255574"/>
            <a:ext cx="129694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606F10-74C5-1999-91B1-97F650E66CF7}"/>
              </a:ext>
            </a:extLst>
          </p:cNvPr>
          <p:cNvSpPr/>
          <p:nvPr/>
        </p:nvSpPr>
        <p:spPr>
          <a:xfrm>
            <a:off x="3304042" y="3662142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L</a:t>
            </a:r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80D1D7-17F4-288B-24C3-40BDEE9DD223}"/>
              </a:ext>
            </a:extLst>
          </p:cNvPr>
          <p:cNvSpPr/>
          <p:nvPr/>
        </p:nvSpPr>
        <p:spPr>
          <a:xfrm>
            <a:off x="4147594" y="3662142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0x30</a:t>
            </a:r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DF453A-76B3-2F91-A87E-0D7A08DCD874}"/>
              </a:ext>
            </a:extLst>
          </p:cNvPr>
          <p:cNvSpPr/>
          <p:nvPr/>
        </p:nvSpPr>
        <p:spPr>
          <a:xfrm>
            <a:off x="4991146" y="3662142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C3910F-ECDF-4433-85D8-57C9DFA85BCC}"/>
              </a:ext>
            </a:extLst>
          </p:cNvPr>
          <p:cNvSpPr/>
          <p:nvPr/>
        </p:nvSpPr>
        <p:spPr>
          <a:xfrm>
            <a:off x="5834698" y="3662142"/>
            <a:ext cx="129694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C406BE-F00D-ACAE-6A97-4ADD498CC282}"/>
              </a:ext>
            </a:extLst>
          </p:cNvPr>
          <p:cNvSpPr/>
          <p:nvPr/>
        </p:nvSpPr>
        <p:spPr>
          <a:xfrm>
            <a:off x="3304042" y="4068710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8EDFDC-25AC-C85D-2DBF-70FB7F59CD1A}"/>
              </a:ext>
            </a:extLst>
          </p:cNvPr>
          <p:cNvSpPr/>
          <p:nvPr/>
        </p:nvSpPr>
        <p:spPr>
          <a:xfrm>
            <a:off x="4147594" y="4068710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C3DB389-189E-6959-4C80-2F4F3052A33E}"/>
              </a:ext>
            </a:extLst>
          </p:cNvPr>
          <p:cNvSpPr/>
          <p:nvPr/>
        </p:nvSpPr>
        <p:spPr>
          <a:xfrm>
            <a:off x="4991146" y="4068710"/>
            <a:ext cx="84355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C45C03-D23E-DC78-6BD2-0DB1C860BA61}"/>
              </a:ext>
            </a:extLst>
          </p:cNvPr>
          <p:cNvSpPr/>
          <p:nvPr/>
        </p:nvSpPr>
        <p:spPr>
          <a:xfrm>
            <a:off x="5834698" y="4068710"/>
            <a:ext cx="1296942" cy="4127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000" dirty="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456BE3-4207-B9DF-D7E2-E4DE5EF4D386}"/>
              </a:ext>
            </a:extLst>
          </p:cNvPr>
          <p:cNvSpPr/>
          <p:nvPr/>
        </p:nvSpPr>
        <p:spPr>
          <a:xfrm>
            <a:off x="9265438" y="1755058"/>
            <a:ext cx="2194059" cy="334788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Memory/Caches</a:t>
            </a:r>
            <a:endParaRPr lang="LID4096" sz="36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66294A8-BE2F-D13C-14D9-14C5C3B9C6DA}"/>
              </a:ext>
            </a:extLst>
          </p:cNvPr>
          <p:cNvCxnSpPr>
            <a:cxnSpLocks/>
          </p:cNvCxnSpPr>
          <p:nvPr/>
        </p:nvCxnSpPr>
        <p:spPr>
          <a:xfrm>
            <a:off x="7219950" y="2990850"/>
            <a:ext cx="1911350" cy="0"/>
          </a:xfrm>
          <a:prstGeom prst="straightConnector1">
            <a:avLst/>
          </a:prstGeom>
          <a:ln w="476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2F2F870-A9CE-D322-5691-A95309004D33}"/>
              </a:ext>
            </a:extLst>
          </p:cNvPr>
          <p:cNvCxnSpPr>
            <a:cxnSpLocks/>
          </p:cNvCxnSpPr>
          <p:nvPr/>
        </p:nvCxnSpPr>
        <p:spPr>
          <a:xfrm flipH="1">
            <a:off x="7175500" y="3109524"/>
            <a:ext cx="1955800" cy="0"/>
          </a:xfrm>
          <a:prstGeom prst="straightConnector1">
            <a:avLst/>
          </a:prstGeom>
          <a:ln w="476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B91875B-2AFE-3489-B832-A16CAB782CC2}"/>
              </a:ext>
            </a:extLst>
          </p:cNvPr>
          <p:cNvCxnSpPr>
            <a:cxnSpLocks/>
          </p:cNvCxnSpPr>
          <p:nvPr/>
        </p:nvCxnSpPr>
        <p:spPr>
          <a:xfrm>
            <a:off x="7219950" y="3765550"/>
            <a:ext cx="1911350" cy="0"/>
          </a:xfrm>
          <a:prstGeom prst="straightConnector1">
            <a:avLst/>
          </a:prstGeom>
          <a:ln w="476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6A3D038-C475-F046-5D55-8FDD1817FC42}"/>
              </a:ext>
            </a:extLst>
          </p:cNvPr>
          <p:cNvCxnSpPr>
            <a:cxnSpLocks/>
          </p:cNvCxnSpPr>
          <p:nvPr/>
        </p:nvCxnSpPr>
        <p:spPr>
          <a:xfrm flipH="1">
            <a:off x="7175500" y="3884224"/>
            <a:ext cx="1955800" cy="0"/>
          </a:xfrm>
          <a:prstGeom prst="straightConnector1">
            <a:avLst/>
          </a:prstGeom>
          <a:ln w="476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633124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EA475-BE6F-4AD2-0CD2-07D7B77B1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D6241-6022-C65A-816D-5CFBD7A64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Answer #4: Out-of-Order Execution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710FB0-545B-80D2-037C-583E48E49C4D}"/>
              </a:ext>
            </a:extLst>
          </p:cNvPr>
          <p:cNvSpPr/>
          <p:nvPr/>
        </p:nvSpPr>
        <p:spPr>
          <a:xfrm>
            <a:off x="1682173" y="3305842"/>
            <a:ext cx="2833254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NEW  --&gt;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E1C041-BD27-A044-95CC-4447D0F855C0}"/>
              </a:ext>
            </a:extLst>
          </p:cNvPr>
          <p:cNvSpPr/>
          <p:nvPr/>
        </p:nvSpPr>
        <p:spPr>
          <a:xfrm>
            <a:off x="5881254" y="4575118"/>
            <a:ext cx="5347855" cy="692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R1 &lt;--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en-US" sz="2400" dirty="0">
                <a:latin typeface="Consolas" panose="020B0609020204030204" pitchFamily="49" charset="0"/>
              </a:rPr>
              <a:t>ready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64E52A-EB7D-6454-F00E-2C7FB5A5BB29}"/>
              </a:ext>
            </a:extLst>
          </p:cNvPr>
          <p:cNvSpPr/>
          <p:nvPr/>
        </p:nvSpPr>
        <p:spPr>
          <a:xfrm>
            <a:off x="1682173" y="3978942"/>
            <a:ext cx="2833254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TRUE --&gt; ready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2CB8BD-556E-063C-F0B6-4D612484680F}"/>
              </a:ext>
            </a:extLst>
          </p:cNvPr>
          <p:cNvSpPr/>
          <p:nvPr/>
        </p:nvSpPr>
        <p:spPr>
          <a:xfrm>
            <a:off x="5881254" y="5291849"/>
            <a:ext cx="5347855" cy="692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R2 &lt;--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 data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7E593C-E943-F7C2-C530-98186EC63083}"/>
              </a:ext>
            </a:extLst>
          </p:cNvPr>
          <p:cNvSpPr/>
          <p:nvPr/>
        </p:nvSpPr>
        <p:spPr>
          <a:xfrm>
            <a:off x="1682173" y="1827724"/>
            <a:ext cx="2833254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u="sng" dirty="0">
                <a:latin typeface="Consolas" panose="020B0609020204030204" pitchFamily="49" charset="0"/>
              </a:rPr>
              <a:t>Writer Core</a:t>
            </a:r>
            <a:endParaRPr lang="en-US" sz="2800" b="1" u="sng" dirty="0">
              <a:latin typeface="Consolas" panose="020B0609020204030204" pitchFamily="49" charset="0"/>
              <a:sym typeface="Wingdings" panose="05000000000000000000" pitchFamily="2" charset="2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97DCA1-47DB-6008-CAB7-6D81C63B4040}"/>
              </a:ext>
            </a:extLst>
          </p:cNvPr>
          <p:cNvSpPr/>
          <p:nvPr/>
        </p:nvSpPr>
        <p:spPr>
          <a:xfrm>
            <a:off x="5881254" y="1827724"/>
            <a:ext cx="5347855" cy="692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u="sng" dirty="0">
                <a:latin typeface="Consolas" panose="020B0609020204030204" pitchFamily="49" charset="0"/>
              </a:rPr>
              <a:t>Reader Core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CF74930-2DC6-E6DB-6150-1077E1CA8749}"/>
              </a:ext>
            </a:extLst>
          </p:cNvPr>
          <p:cNvCxnSpPr>
            <a:cxnSpLocks/>
          </p:cNvCxnSpPr>
          <p:nvPr/>
        </p:nvCxnSpPr>
        <p:spPr>
          <a:xfrm>
            <a:off x="5359400" y="1690688"/>
            <a:ext cx="0" cy="4659312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D995727-ABD2-4EC7-A77B-4AC7EC36A6D0}"/>
              </a:ext>
            </a:extLst>
          </p:cNvPr>
          <p:cNvSpPr txBox="1"/>
          <p:nvPr/>
        </p:nvSpPr>
        <p:spPr>
          <a:xfrm>
            <a:off x="9630697" y="4703060"/>
            <a:ext cx="1430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(=TRUE)</a:t>
            </a:r>
            <a:endParaRPr lang="LID4096" sz="24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63BCA3-F448-1E05-E272-BECBEBD5DD07}"/>
              </a:ext>
            </a:extLst>
          </p:cNvPr>
          <p:cNvSpPr txBox="1"/>
          <p:nvPr/>
        </p:nvSpPr>
        <p:spPr>
          <a:xfrm>
            <a:off x="9761944" y="3086240"/>
            <a:ext cx="1430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(=OLD!)</a:t>
            </a:r>
            <a:endParaRPr lang="LID4096" sz="24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AAAD5-75E5-636B-7DFB-5EA1A1119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34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956EA2-81AA-E0BC-4CC4-4311C1E4B38C}"/>
              </a:ext>
            </a:extLst>
          </p:cNvPr>
          <p:cNvSpPr/>
          <p:nvPr/>
        </p:nvSpPr>
        <p:spPr>
          <a:xfrm>
            <a:off x="5883303" y="5291849"/>
            <a:ext cx="5347855" cy="692150"/>
          </a:xfrm>
          <a:prstGeom prst="rect">
            <a:avLst/>
          </a:prstGeom>
          <a:solidFill>
            <a:schemeClr val="accent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R2 &lt;--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 data</a:t>
            </a:r>
            <a:endParaRPr lang="en-US" sz="2400" dirty="0">
              <a:latin typeface="Consolas" panose="020B06090202040302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4068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4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7.40741E-7 L -2.91667E-6 -0.34745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19" grpId="0"/>
      <p:bldP spid="20" grpId="0"/>
      <p:bldP spid="17" grpId="0" animBg="1"/>
      <p:bldP spid="17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3B0E5-18A0-27B8-2021-F817B3185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Rabbit Holes for the Curious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072F3-BE6A-E80B-F373-427E5AB6B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ROB (reorder buffer)</a:t>
            </a:r>
          </a:p>
          <a:p>
            <a:r>
              <a:rPr lang="en-US" dirty="0"/>
              <a:t>RAT (register alias table)</a:t>
            </a:r>
          </a:p>
          <a:p>
            <a:r>
              <a:rPr lang="en-US" dirty="0"/>
              <a:t>PRF (Physical Register File)</a:t>
            </a:r>
          </a:p>
          <a:p>
            <a:r>
              <a:rPr lang="en-US" dirty="0"/>
              <a:t>MOB (Memory Order Buffer)</a:t>
            </a:r>
          </a:p>
          <a:p>
            <a:r>
              <a:rPr lang="en-US" dirty="0"/>
              <a:t>Separation of LQ/SQ,</a:t>
            </a:r>
          </a:p>
          <a:p>
            <a:r>
              <a:rPr lang="en-US" dirty="0"/>
              <a:t>Virtual/physical addressing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1BA09-C9BA-C84C-65B7-D4563C7F5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35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8753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328F7-6409-D36C-6D5F-8B0644EFE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#5: Speculative Execution</a:t>
            </a:r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B88674-6DDC-3F9F-C467-80F509FF8C08}"/>
              </a:ext>
            </a:extLst>
          </p:cNvPr>
          <p:cNvSpPr txBox="1"/>
          <p:nvPr/>
        </p:nvSpPr>
        <p:spPr>
          <a:xfrm>
            <a:off x="793848" y="2324868"/>
            <a:ext cx="405837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baseline="-25000" dirty="0">
                <a:latin typeface="Consolas" panose="020B0609020204030204" pitchFamily="49" charset="0"/>
              </a:rPr>
              <a:t>if (ready) {</a:t>
            </a:r>
          </a:p>
          <a:p>
            <a:endParaRPr lang="en-US" sz="4000" b="1" baseline="-25000" dirty="0">
              <a:latin typeface="Consolas" panose="020B0609020204030204" pitchFamily="49" charset="0"/>
            </a:endParaRPr>
          </a:p>
          <a:p>
            <a:endParaRPr lang="en-US" sz="4000" b="1" baseline="-25000" dirty="0">
              <a:latin typeface="Consolas" panose="020B0609020204030204" pitchFamily="49" charset="0"/>
            </a:endParaRPr>
          </a:p>
          <a:p>
            <a:r>
              <a:rPr lang="en-US" sz="4000" b="1" baseline="-25000" dirty="0">
                <a:latin typeface="Consolas" panose="020B0609020204030204" pitchFamily="49" charset="0"/>
              </a:rPr>
              <a:t>  R2 &lt;-- data </a:t>
            </a:r>
          </a:p>
          <a:p>
            <a:r>
              <a:rPr lang="en-US" sz="4000" b="1" baseline="-25000" dirty="0">
                <a:latin typeface="Consolas" panose="020B0609020204030204" pitchFamily="49" charset="0"/>
              </a:rPr>
              <a:t>  …</a:t>
            </a:r>
          </a:p>
          <a:p>
            <a:endParaRPr lang="LID4096" sz="4000" b="1" baseline="-25000" dirty="0"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4A82B7-ECA6-DB89-2860-C7543395DE45}"/>
              </a:ext>
            </a:extLst>
          </p:cNvPr>
          <p:cNvSpPr/>
          <p:nvPr/>
        </p:nvSpPr>
        <p:spPr>
          <a:xfrm>
            <a:off x="8627806" y="1755058"/>
            <a:ext cx="2831691" cy="334788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Memory/Caches</a:t>
            </a:r>
            <a:endParaRPr lang="LID4096" sz="48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2AB401C-869F-1D83-C449-D3D4B9A49088}"/>
              </a:ext>
            </a:extLst>
          </p:cNvPr>
          <p:cNvCxnSpPr>
            <a:cxnSpLocks/>
          </p:cNvCxnSpPr>
          <p:nvPr/>
        </p:nvCxnSpPr>
        <p:spPr>
          <a:xfrm>
            <a:off x="3834581" y="2551471"/>
            <a:ext cx="4702277" cy="0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3736518-A503-247F-3EC5-33D778BEEBFD}"/>
              </a:ext>
            </a:extLst>
          </p:cNvPr>
          <p:cNvGrpSpPr/>
          <p:nvPr/>
        </p:nvGrpSpPr>
        <p:grpSpPr>
          <a:xfrm>
            <a:off x="3554361" y="2753483"/>
            <a:ext cx="4982497" cy="461665"/>
            <a:chOff x="3554361" y="2812475"/>
            <a:chExt cx="4982497" cy="461665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C3B3D57-221D-D9C1-0B99-688657045A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3510" y="2846438"/>
              <a:ext cx="4053348" cy="0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2217D78-2B3F-02B2-8C20-3F3C79E4DABD}"/>
                </a:ext>
              </a:extLst>
            </p:cNvPr>
            <p:cNvSpPr txBox="1"/>
            <p:nvPr/>
          </p:nvSpPr>
          <p:spPr>
            <a:xfrm>
              <a:off x="3554361" y="2812475"/>
              <a:ext cx="929150" cy="461665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</a:rPr>
                <a:t>TRUE</a:t>
              </a:r>
              <a:endParaRPr lang="LID4096" sz="2400" dirty="0">
                <a:solidFill>
                  <a:srgbClr val="FF0000"/>
                </a:solidFill>
                <a:latin typeface="Consolas" panose="020B0609020204030204" pitchFamily="49" charset="0"/>
              </a:endParaRPr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5235651-AF81-C760-0115-C25C31422CEB}"/>
              </a:ext>
            </a:extLst>
          </p:cNvPr>
          <p:cNvCxnSpPr>
            <a:cxnSpLocks/>
          </p:cNvCxnSpPr>
          <p:nvPr/>
        </p:nvCxnSpPr>
        <p:spPr>
          <a:xfrm>
            <a:off x="5380704" y="3849329"/>
            <a:ext cx="3156154" cy="0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68E7FE3-15E0-593D-9E11-D4E36C005B4E}"/>
              </a:ext>
            </a:extLst>
          </p:cNvPr>
          <p:cNvGrpSpPr/>
          <p:nvPr/>
        </p:nvGrpSpPr>
        <p:grpSpPr>
          <a:xfrm>
            <a:off x="4881716" y="3987204"/>
            <a:ext cx="3655142" cy="461665"/>
            <a:chOff x="3721274" y="2827223"/>
            <a:chExt cx="4815584" cy="461665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A361378-2CF6-959B-D1BD-4E97070772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735" y="2846438"/>
              <a:ext cx="3832123" cy="0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940B758-F99C-91B2-4CBB-528EEA4AC2BE}"/>
                </a:ext>
              </a:extLst>
            </p:cNvPr>
            <p:cNvSpPr txBox="1"/>
            <p:nvPr/>
          </p:nvSpPr>
          <p:spPr>
            <a:xfrm>
              <a:off x="3721274" y="2827223"/>
              <a:ext cx="1002891" cy="461665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</a:rPr>
                <a:t>OLD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5C4985-8D21-B3AD-1CB3-959B8EE5A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36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7049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4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F7AA7-DCDC-C749-BA3E-F7175A9EB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A7DC7-382A-D5C8-A065-4CC8417AA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Answers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28524-2889-7672-804E-9CCF45695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What can cause cores to disagree on memory contents, at a specific point in time?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What can cause cores to disagree on order of memory operations? 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sz="2800" dirty="0"/>
              <a:t>Invalidate queues, write buffers, out of order execution, speculative loads</a:t>
            </a:r>
          </a:p>
          <a:p>
            <a:pPr marL="457200" lvl="1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What does it mean for a write to memory to be visible to all threads?</a:t>
            </a:r>
          </a:p>
          <a:p>
            <a:pPr marL="457200" lvl="1" indent="0">
              <a:buNone/>
            </a:pPr>
            <a:r>
              <a:rPr lang="en-US" sz="2800" dirty="0">
                <a:sym typeface="Wingdings" panose="05000000000000000000" pitchFamily="2" charset="2"/>
              </a:rPr>
              <a:t>  </a:t>
            </a:r>
            <a:r>
              <a:rPr lang="en-US" sz="2800" dirty="0"/>
              <a:t>To have the store commit, drained from the write buffer and finalize cache coherency propagation.</a:t>
            </a:r>
            <a:endParaRPr lang="LID4096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63A9E-4B04-8ED6-DD51-0D175DC5D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37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332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EA6ED-7903-1F39-212B-0EBE7D433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EF7C80D-2D08-9412-DBAB-0BD1F28B22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6879771" cy="2387600"/>
          </a:xfrm>
        </p:spPr>
        <p:txBody>
          <a:bodyPr/>
          <a:lstStyle/>
          <a:p>
            <a:r>
              <a:rPr lang="en-US" dirty="0"/>
              <a:t>Solutions</a:t>
            </a:r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C93282-6674-3CC9-EE30-E08F368A5F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7859" y="3302000"/>
            <a:ext cx="4898103" cy="3572612"/>
          </a:xfrm>
          <a:prstGeom prst="rect">
            <a:avLst/>
          </a:prstGeom>
        </p:spPr>
      </p:pic>
      <p:sp>
        <p:nvSpPr>
          <p:cNvPr id="2" name="Subtitle 4">
            <a:extLst>
              <a:ext uri="{FF2B5EF4-FFF2-40B4-BE49-F238E27FC236}">
                <a16:creationId xmlns:a16="http://schemas.microsoft.com/office/drawing/2014/main" id="{9B3CDA1A-FC74-64B4-BE43-888FCAD44D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6633029" cy="1655762"/>
          </a:xfrm>
        </p:spPr>
        <p:txBody>
          <a:bodyPr>
            <a:normAutofit/>
          </a:bodyPr>
          <a:lstStyle/>
          <a:p>
            <a:r>
              <a:rPr lang="en-US" sz="3600" dirty="0"/>
              <a:t>Fences, </a:t>
            </a:r>
            <a:br>
              <a:rPr lang="en-US" sz="3600" dirty="0"/>
            </a:br>
            <a:r>
              <a:rPr lang="en-US" sz="3600" dirty="0"/>
              <a:t>load-acquire, store-release, RMW</a:t>
            </a:r>
            <a:endParaRPr lang="LID4096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E1501E-7EEF-5462-3787-B722A7DD6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6335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A2801-5681-6E60-11B2-58920DA46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Fences: Full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AD75E-A498-0436-5F0C-FCC23BD29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1021"/>
            <a:ext cx="10515600" cy="4711854"/>
          </a:xfrm>
        </p:spPr>
        <p:txBody>
          <a:bodyPr>
            <a:normAutofit/>
          </a:bodyPr>
          <a:lstStyle/>
          <a:p>
            <a:r>
              <a:rPr lang="en-US" dirty="0"/>
              <a:t>X86-64:    </a:t>
            </a:r>
            <a:r>
              <a:rPr lang="en-US" dirty="0">
                <a:latin typeface="Consolas" panose="020B0609020204030204" pitchFamily="49" charset="0"/>
              </a:rPr>
              <a:t>MFENCE  (Memory Fence)</a:t>
            </a:r>
          </a:p>
          <a:p>
            <a:r>
              <a:rPr lang="en-US" dirty="0"/>
              <a:t>ARM:</a:t>
            </a:r>
            <a:r>
              <a:rPr lang="en-US" dirty="0">
                <a:latin typeface="Consolas" panose="020B0609020204030204" pitchFamily="49" charset="0"/>
              </a:rPr>
              <a:t>   DSB     (Data Sync Barrier)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Wait until previous stores are:</a:t>
            </a:r>
          </a:p>
          <a:p>
            <a:pPr lvl="2"/>
            <a:r>
              <a:rPr lang="en-US" dirty="0"/>
              <a:t>Committed in the LSQ</a:t>
            </a:r>
          </a:p>
          <a:p>
            <a:pPr lvl="2"/>
            <a:r>
              <a:rPr lang="en-US" dirty="0"/>
              <a:t>Drained from the write buffer</a:t>
            </a:r>
          </a:p>
          <a:p>
            <a:pPr lvl="2"/>
            <a:r>
              <a:rPr lang="en-US" dirty="0"/>
              <a:t>Visible everywhere (invalidate requests processed)</a:t>
            </a:r>
          </a:p>
          <a:p>
            <a:pPr lvl="1"/>
            <a:r>
              <a:rPr lang="en-US" dirty="0"/>
              <a:t>Wait until previous loads are retired</a:t>
            </a:r>
          </a:p>
          <a:p>
            <a:pPr lvl="1"/>
            <a:r>
              <a:rPr lang="en-US" dirty="0"/>
              <a:t>Act as a speculation barrier</a:t>
            </a:r>
          </a:p>
          <a:p>
            <a:pPr lvl="1"/>
            <a:endParaRPr lang="en-US" dirty="0"/>
          </a:p>
          <a:p>
            <a:r>
              <a:rPr lang="en-US" dirty="0"/>
              <a:t>Safest + most expensive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09281-4173-D756-D31A-0D04FE349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39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5613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4DDD7-E39B-1E0E-4034-2C7F9DC14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463EE-F79E-3ECA-588E-33736BF21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Fences: Full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7B07D-C339-D1D9-CB97-554452818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1021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50000"/>
                    <a:lumOff val="50000"/>
                  </a:schemeClr>
                </a:solidFill>
              </a:rPr>
              <a:t>ARM:</a:t>
            </a:r>
            <a:r>
              <a:rPr lang="en-US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 DSB     (Data Store Barrier) </a:t>
            </a:r>
          </a:p>
          <a:p>
            <a:r>
              <a:rPr lang="en-US" dirty="0"/>
              <a:t>ARM:</a:t>
            </a:r>
            <a:r>
              <a:rPr lang="en-US" dirty="0">
                <a:latin typeface="Consolas" panose="020B0609020204030204" pitchFamily="49" charset="0"/>
              </a:rPr>
              <a:t>   DMB SY  (Data Memory Barrier, System-wide)</a:t>
            </a:r>
          </a:p>
          <a:p>
            <a:r>
              <a:rPr lang="en-US" dirty="0"/>
              <a:t>Operation:</a:t>
            </a:r>
          </a:p>
          <a:p>
            <a:pPr lvl="1"/>
            <a:r>
              <a:rPr lang="en-US" dirty="0"/>
              <a:t>Enforce </a:t>
            </a:r>
            <a:r>
              <a:rPr lang="en-US" b="1" dirty="0"/>
              <a:t>ordering</a:t>
            </a:r>
            <a:r>
              <a:rPr lang="en-US" dirty="0"/>
              <a:t>, not completion</a:t>
            </a:r>
          </a:p>
          <a:p>
            <a:pPr lvl="1"/>
            <a:r>
              <a:rPr lang="en-US" dirty="0"/>
              <a:t>At: Write buffers, LSQ …</a:t>
            </a:r>
          </a:p>
          <a:p>
            <a:r>
              <a:rPr lang="en-US" dirty="0"/>
              <a:t>Cheaper alternative with mostly-compatible semantics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C927AAC-4353-9401-8570-028946D1A393}"/>
              </a:ext>
            </a:extLst>
          </p:cNvPr>
          <p:cNvCxnSpPr/>
          <p:nvPr/>
        </p:nvCxnSpPr>
        <p:spPr>
          <a:xfrm>
            <a:off x="1960749" y="5176681"/>
            <a:ext cx="8067368" cy="0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6682CD56-4043-2BD7-68DB-D7D76F11BB90}"/>
              </a:ext>
            </a:extLst>
          </p:cNvPr>
          <p:cNvSpPr/>
          <p:nvPr/>
        </p:nvSpPr>
        <p:spPr>
          <a:xfrm>
            <a:off x="1960749" y="5324165"/>
            <a:ext cx="1106128" cy="42473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  <a:endParaRPr lang="LID4096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03D048F-8246-49BF-1E4B-E1A93DD81C7C}"/>
              </a:ext>
            </a:extLst>
          </p:cNvPr>
          <p:cNvSpPr/>
          <p:nvPr/>
        </p:nvSpPr>
        <p:spPr>
          <a:xfrm>
            <a:off x="2618683" y="5748896"/>
            <a:ext cx="1106128" cy="42473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  <a:endParaRPr lang="LID4096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1ADD7DC-8CC1-3764-1D9A-7845F502A88F}"/>
              </a:ext>
            </a:extLst>
          </p:cNvPr>
          <p:cNvSpPr/>
          <p:nvPr/>
        </p:nvSpPr>
        <p:spPr>
          <a:xfrm>
            <a:off x="8921989" y="5324165"/>
            <a:ext cx="1106128" cy="42473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  <a:endParaRPr lang="LID4096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20DB027-3F9B-29D7-DB03-2E8EBB021AD2}"/>
              </a:ext>
            </a:extLst>
          </p:cNvPr>
          <p:cNvSpPr/>
          <p:nvPr/>
        </p:nvSpPr>
        <p:spPr>
          <a:xfrm>
            <a:off x="8538531" y="5748896"/>
            <a:ext cx="1106128" cy="42473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  <a:endParaRPr lang="LID4096" dirty="0"/>
          </a:p>
        </p:txBody>
      </p:sp>
      <p:sp>
        <p:nvSpPr>
          <p:cNvPr id="6" name="Graphic 15" descr="Fence outline">
            <a:extLst>
              <a:ext uri="{FF2B5EF4-FFF2-40B4-BE49-F238E27FC236}">
                <a16:creationId xmlns:a16="http://schemas.microsoft.com/office/drawing/2014/main" id="{C3FFE2B4-C0B4-BB9A-6125-C03D66BF15D7}"/>
              </a:ext>
            </a:extLst>
          </p:cNvPr>
          <p:cNvSpPr/>
          <p:nvPr/>
        </p:nvSpPr>
        <p:spPr>
          <a:xfrm>
            <a:off x="5105416" y="5175499"/>
            <a:ext cx="1394576" cy="1047193"/>
          </a:xfrm>
          <a:custGeom>
            <a:avLst/>
            <a:gdLst>
              <a:gd name="csX0" fmla="*/ 965981 w 965980"/>
              <a:gd name="csY0" fmla="*/ 217346 h 676186"/>
              <a:gd name="csX1" fmla="*/ 965981 w 965980"/>
              <a:gd name="csY1" fmla="*/ 193196 h 676186"/>
              <a:gd name="csX2" fmla="*/ 929757 w 965980"/>
              <a:gd name="csY2" fmla="*/ 193196 h 676186"/>
              <a:gd name="csX3" fmla="*/ 929757 w 965980"/>
              <a:gd name="csY3" fmla="*/ 72449 h 676186"/>
              <a:gd name="csX4" fmla="*/ 869383 w 965980"/>
              <a:gd name="csY4" fmla="*/ 0 h 676186"/>
              <a:gd name="csX5" fmla="*/ 809009 w 965980"/>
              <a:gd name="csY5" fmla="*/ 72449 h 676186"/>
              <a:gd name="csX6" fmla="*/ 809009 w 965980"/>
              <a:gd name="csY6" fmla="*/ 193196 h 676186"/>
              <a:gd name="csX7" fmla="*/ 736560 w 965980"/>
              <a:gd name="csY7" fmla="*/ 193196 h 676186"/>
              <a:gd name="csX8" fmla="*/ 736560 w 965980"/>
              <a:gd name="csY8" fmla="*/ 72449 h 676186"/>
              <a:gd name="csX9" fmla="*/ 676187 w 965980"/>
              <a:gd name="csY9" fmla="*/ 0 h 676186"/>
              <a:gd name="csX10" fmla="*/ 615813 w 965980"/>
              <a:gd name="csY10" fmla="*/ 72449 h 676186"/>
              <a:gd name="csX11" fmla="*/ 615813 w 965980"/>
              <a:gd name="csY11" fmla="*/ 193196 h 676186"/>
              <a:gd name="csX12" fmla="*/ 543364 w 965980"/>
              <a:gd name="csY12" fmla="*/ 193196 h 676186"/>
              <a:gd name="csX13" fmla="*/ 543364 w 965980"/>
              <a:gd name="csY13" fmla="*/ 72449 h 676186"/>
              <a:gd name="csX14" fmla="*/ 482990 w 965980"/>
              <a:gd name="csY14" fmla="*/ 0 h 676186"/>
              <a:gd name="csX15" fmla="*/ 422617 w 965980"/>
              <a:gd name="csY15" fmla="*/ 72449 h 676186"/>
              <a:gd name="csX16" fmla="*/ 422617 w 965980"/>
              <a:gd name="csY16" fmla="*/ 193196 h 676186"/>
              <a:gd name="csX17" fmla="*/ 350168 w 965980"/>
              <a:gd name="csY17" fmla="*/ 193196 h 676186"/>
              <a:gd name="csX18" fmla="*/ 350168 w 965980"/>
              <a:gd name="csY18" fmla="*/ 72449 h 676186"/>
              <a:gd name="csX19" fmla="*/ 289794 w 965980"/>
              <a:gd name="csY19" fmla="*/ 0 h 676186"/>
              <a:gd name="csX20" fmla="*/ 229420 w 965980"/>
              <a:gd name="csY20" fmla="*/ 72449 h 676186"/>
              <a:gd name="csX21" fmla="*/ 229420 w 965980"/>
              <a:gd name="csY21" fmla="*/ 193196 h 676186"/>
              <a:gd name="csX22" fmla="*/ 156972 w 965980"/>
              <a:gd name="csY22" fmla="*/ 193196 h 676186"/>
              <a:gd name="csX23" fmla="*/ 156972 w 965980"/>
              <a:gd name="csY23" fmla="*/ 72449 h 676186"/>
              <a:gd name="csX24" fmla="*/ 96598 w 965980"/>
              <a:gd name="csY24" fmla="*/ 0 h 676186"/>
              <a:gd name="csX25" fmla="*/ 36224 w 965980"/>
              <a:gd name="csY25" fmla="*/ 72449 h 676186"/>
              <a:gd name="csX26" fmla="*/ 36224 w 965980"/>
              <a:gd name="csY26" fmla="*/ 193196 h 676186"/>
              <a:gd name="csX27" fmla="*/ 0 w 965980"/>
              <a:gd name="csY27" fmla="*/ 193196 h 676186"/>
              <a:gd name="csX28" fmla="*/ 0 w 965980"/>
              <a:gd name="csY28" fmla="*/ 217346 h 676186"/>
              <a:gd name="csX29" fmla="*/ 36224 w 965980"/>
              <a:gd name="csY29" fmla="*/ 217346 h 676186"/>
              <a:gd name="csX30" fmla="*/ 36224 w 965980"/>
              <a:gd name="csY30" fmla="*/ 507140 h 676186"/>
              <a:gd name="csX31" fmla="*/ 0 w 965980"/>
              <a:gd name="csY31" fmla="*/ 507140 h 676186"/>
              <a:gd name="csX32" fmla="*/ 0 w 965980"/>
              <a:gd name="csY32" fmla="*/ 531289 h 676186"/>
              <a:gd name="csX33" fmla="*/ 36224 w 965980"/>
              <a:gd name="csY33" fmla="*/ 531289 h 676186"/>
              <a:gd name="csX34" fmla="*/ 36224 w 965980"/>
              <a:gd name="csY34" fmla="*/ 676187 h 676186"/>
              <a:gd name="csX35" fmla="*/ 156972 w 965980"/>
              <a:gd name="csY35" fmla="*/ 676187 h 676186"/>
              <a:gd name="csX36" fmla="*/ 156972 w 965980"/>
              <a:gd name="csY36" fmla="*/ 531289 h 676186"/>
              <a:gd name="csX37" fmla="*/ 229420 w 965980"/>
              <a:gd name="csY37" fmla="*/ 531289 h 676186"/>
              <a:gd name="csX38" fmla="*/ 229420 w 965980"/>
              <a:gd name="csY38" fmla="*/ 676187 h 676186"/>
              <a:gd name="csX39" fmla="*/ 350168 w 965980"/>
              <a:gd name="csY39" fmla="*/ 676187 h 676186"/>
              <a:gd name="csX40" fmla="*/ 350168 w 965980"/>
              <a:gd name="csY40" fmla="*/ 531289 h 676186"/>
              <a:gd name="csX41" fmla="*/ 422617 w 965980"/>
              <a:gd name="csY41" fmla="*/ 531289 h 676186"/>
              <a:gd name="csX42" fmla="*/ 422617 w 965980"/>
              <a:gd name="csY42" fmla="*/ 676187 h 676186"/>
              <a:gd name="csX43" fmla="*/ 543364 w 965980"/>
              <a:gd name="csY43" fmla="*/ 676187 h 676186"/>
              <a:gd name="csX44" fmla="*/ 543364 w 965980"/>
              <a:gd name="csY44" fmla="*/ 531289 h 676186"/>
              <a:gd name="csX45" fmla="*/ 615813 w 965980"/>
              <a:gd name="csY45" fmla="*/ 531289 h 676186"/>
              <a:gd name="csX46" fmla="*/ 615813 w 965980"/>
              <a:gd name="csY46" fmla="*/ 676187 h 676186"/>
              <a:gd name="csX47" fmla="*/ 736560 w 965980"/>
              <a:gd name="csY47" fmla="*/ 676187 h 676186"/>
              <a:gd name="csX48" fmla="*/ 736560 w 965980"/>
              <a:gd name="csY48" fmla="*/ 531289 h 676186"/>
              <a:gd name="csX49" fmla="*/ 809009 w 965980"/>
              <a:gd name="csY49" fmla="*/ 531289 h 676186"/>
              <a:gd name="csX50" fmla="*/ 809009 w 965980"/>
              <a:gd name="csY50" fmla="*/ 676187 h 676186"/>
              <a:gd name="csX51" fmla="*/ 929757 w 965980"/>
              <a:gd name="csY51" fmla="*/ 676187 h 676186"/>
              <a:gd name="csX52" fmla="*/ 929757 w 965980"/>
              <a:gd name="csY52" fmla="*/ 531289 h 676186"/>
              <a:gd name="csX53" fmla="*/ 965981 w 965980"/>
              <a:gd name="csY53" fmla="*/ 531289 h 676186"/>
              <a:gd name="csX54" fmla="*/ 965981 w 965980"/>
              <a:gd name="csY54" fmla="*/ 507140 h 676186"/>
              <a:gd name="csX55" fmla="*/ 929757 w 965980"/>
              <a:gd name="csY55" fmla="*/ 507140 h 676186"/>
              <a:gd name="csX56" fmla="*/ 929757 w 965980"/>
              <a:gd name="csY56" fmla="*/ 217346 h 676186"/>
              <a:gd name="csX57" fmla="*/ 132822 w 965980"/>
              <a:gd name="csY57" fmla="*/ 169047 h 676186"/>
              <a:gd name="csX58" fmla="*/ 132822 w 965980"/>
              <a:gd name="csY58" fmla="*/ 652037 h 676186"/>
              <a:gd name="csX59" fmla="*/ 60374 w 965980"/>
              <a:gd name="csY59" fmla="*/ 652037 h 676186"/>
              <a:gd name="csX60" fmla="*/ 60374 w 965980"/>
              <a:gd name="csY60" fmla="*/ 81191 h 676186"/>
              <a:gd name="csX61" fmla="*/ 96598 w 965980"/>
              <a:gd name="csY61" fmla="*/ 37722 h 676186"/>
              <a:gd name="csX62" fmla="*/ 132822 w 965980"/>
              <a:gd name="csY62" fmla="*/ 81191 h 676186"/>
              <a:gd name="csX63" fmla="*/ 156972 w 965980"/>
              <a:gd name="csY63" fmla="*/ 507140 h 676186"/>
              <a:gd name="csX64" fmla="*/ 156972 w 965980"/>
              <a:gd name="csY64" fmla="*/ 217346 h 676186"/>
              <a:gd name="csX65" fmla="*/ 229420 w 965980"/>
              <a:gd name="csY65" fmla="*/ 217346 h 676186"/>
              <a:gd name="csX66" fmla="*/ 229420 w 965980"/>
              <a:gd name="csY66" fmla="*/ 507140 h 676186"/>
              <a:gd name="csX67" fmla="*/ 326019 w 965980"/>
              <a:gd name="csY67" fmla="*/ 169047 h 676186"/>
              <a:gd name="csX68" fmla="*/ 326019 w 965980"/>
              <a:gd name="csY68" fmla="*/ 652037 h 676186"/>
              <a:gd name="csX69" fmla="*/ 253570 w 965980"/>
              <a:gd name="csY69" fmla="*/ 652037 h 676186"/>
              <a:gd name="csX70" fmla="*/ 253570 w 965980"/>
              <a:gd name="csY70" fmla="*/ 81191 h 676186"/>
              <a:gd name="csX71" fmla="*/ 289794 w 965980"/>
              <a:gd name="csY71" fmla="*/ 37722 h 676186"/>
              <a:gd name="csX72" fmla="*/ 326019 w 965980"/>
              <a:gd name="csY72" fmla="*/ 81191 h 676186"/>
              <a:gd name="csX73" fmla="*/ 350168 w 965980"/>
              <a:gd name="csY73" fmla="*/ 507140 h 676186"/>
              <a:gd name="csX74" fmla="*/ 350168 w 965980"/>
              <a:gd name="csY74" fmla="*/ 217346 h 676186"/>
              <a:gd name="csX75" fmla="*/ 422617 w 965980"/>
              <a:gd name="csY75" fmla="*/ 217346 h 676186"/>
              <a:gd name="csX76" fmla="*/ 422617 w 965980"/>
              <a:gd name="csY76" fmla="*/ 507140 h 676186"/>
              <a:gd name="csX77" fmla="*/ 519215 w 965980"/>
              <a:gd name="csY77" fmla="*/ 169047 h 676186"/>
              <a:gd name="csX78" fmla="*/ 519215 w 965980"/>
              <a:gd name="csY78" fmla="*/ 652037 h 676186"/>
              <a:gd name="csX79" fmla="*/ 446766 w 965980"/>
              <a:gd name="csY79" fmla="*/ 652037 h 676186"/>
              <a:gd name="csX80" fmla="*/ 446766 w 965980"/>
              <a:gd name="csY80" fmla="*/ 81191 h 676186"/>
              <a:gd name="csX81" fmla="*/ 482990 w 965980"/>
              <a:gd name="csY81" fmla="*/ 37722 h 676186"/>
              <a:gd name="csX82" fmla="*/ 519215 w 965980"/>
              <a:gd name="csY82" fmla="*/ 81191 h 676186"/>
              <a:gd name="csX83" fmla="*/ 543364 w 965980"/>
              <a:gd name="csY83" fmla="*/ 507140 h 676186"/>
              <a:gd name="csX84" fmla="*/ 543364 w 965980"/>
              <a:gd name="csY84" fmla="*/ 217346 h 676186"/>
              <a:gd name="csX85" fmla="*/ 615813 w 965980"/>
              <a:gd name="csY85" fmla="*/ 217346 h 676186"/>
              <a:gd name="csX86" fmla="*/ 615813 w 965980"/>
              <a:gd name="csY86" fmla="*/ 507140 h 676186"/>
              <a:gd name="csX87" fmla="*/ 712411 w 965980"/>
              <a:gd name="csY87" fmla="*/ 169047 h 676186"/>
              <a:gd name="csX88" fmla="*/ 712411 w 965980"/>
              <a:gd name="csY88" fmla="*/ 652037 h 676186"/>
              <a:gd name="csX89" fmla="*/ 639962 w 965980"/>
              <a:gd name="csY89" fmla="*/ 652037 h 676186"/>
              <a:gd name="csX90" fmla="*/ 639962 w 965980"/>
              <a:gd name="csY90" fmla="*/ 81191 h 676186"/>
              <a:gd name="csX91" fmla="*/ 676187 w 965980"/>
              <a:gd name="csY91" fmla="*/ 37722 h 676186"/>
              <a:gd name="csX92" fmla="*/ 712411 w 965980"/>
              <a:gd name="csY92" fmla="*/ 81191 h 676186"/>
              <a:gd name="csX93" fmla="*/ 736560 w 965980"/>
              <a:gd name="csY93" fmla="*/ 507140 h 676186"/>
              <a:gd name="csX94" fmla="*/ 736560 w 965980"/>
              <a:gd name="csY94" fmla="*/ 217346 h 676186"/>
              <a:gd name="csX95" fmla="*/ 809009 w 965980"/>
              <a:gd name="csY95" fmla="*/ 217346 h 676186"/>
              <a:gd name="csX96" fmla="*/ 809009 w 965980"/>
              <a:gd name="csY96" fmla="*/ 507140 h 676186"/>
              <a:gd name="csX97" fmla="*/ 905607 w 965980"/>
              <a:gd name="csY97" fmla="*/ 169047 h 676186"/>
              <a:gd name="csX98" fmla="*/ 905607 w 965980"/>
              <a:gd name="csY98" fmla="*/ 652037 h 676186"/>
              <a:gd name="csX99" fmla="*/ 833158 w 965980"/>
              <a:gd name="csY99" fmla="*/ 652037 h 676186"/>
              <a:gd name="csX100" fmla="*/ 833158 w 965980"/>
              <a:gd name="csY100" fmla="*/ 81191 h 676186"/>
              <a:gd name="csX101" fmla="*/ 869383 w 965980"/>
              <a:gd name="csY101" fmla="*/ 37722 h 676186"/>
              <a:gd name="csX102" fmla="*/ 905607 w 965980"/>
              <a:gd name="csY102" fmla="*/ 81191 h 6761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</a:cxnLst>
            <a:rect l="l" t="t" r="r" b="b"/>
            <a:pathLst>
              <a:path w="965980" h="676186">
                <a:moveTo>
                  <a:pt x="965981" y="217346"/>
                </a:moveTo>
                <a:lnTo>
                  <a:pt x="965981" y="193196"/>
                </a:lnTo>
                <a:lnTo>
                  <a:pt x="929757" y="193196"/>
                </a:lnTo>
                <a:lnTo>
                  <a:pt x="929757" y="72449"/>
                </a:lnTo>
                <a:lnTo>
                  <a:pt x="869383" y="0"/>
                </a:lnTo>
                <a:lnTo>
                  <a:pt x="809009" y="72449"/>
                </a:lnTo>
                <a:lnTo>
                  <a:pt x="809009" y="193196"/>
                </a:lnTo>
                <a:lnTo>
                  <a:pt x="736560" y="193196"/>
                </a:lnTo>
                <a:lnTo>
                  <a:pt x="736560" y="72449"/>
                </a:lnTo>
                <a:lnTo>
                  <a:pt x="676187" y="0"/>
                </a:lnTo>
                <a:lnTo>
                  <a:pt x="615813" y="72449"/>
                </a:lnTo>
                <a:lnTo>
                  <a:pt x="615813" y="193196"/>
                </a:lnTo>
                <a:lnTo>
                  <a:pt x="543364" y="193196"/>
                </a:lnTo>
                <a:lnTo>
                  <a:pt x="543364" y="72449"/>
                </a:lnTo>
                <a:lnTo>
                  <a:pt x="482990" y="0"/>
                </a:lnTo>
                <a:lnTo>
                  <a:pt x="422617" y="72449"/>
                </a:lnTo>
                <a:lnTo>
                  <a:pt x="422617" y="193196"/>
                </a:lnTo>
                <a:lnTo>
                  <a:pt x="350168" y="193196"/>
                </a:lnTo>
                <a:lnTo>
                  <a:pt x="350168" y="72449"/>
                </a:lnTo>
                <a:lnTo>
                  <a:pt x="289794" y="0"/>
                </a:lnTo>
                <a:lnTo>
                  <a:pt x="229420" y="72449"/>
                </a:lnTo>
                <a:lnTo>
                  <a:pt x="229420" y="193196"/>
                </a:lnTo>
                <a:lnTo>
                  <a:pt x="156972" y="193196"/>
                </a:lnTo>
                <a:lnTo>
                  <a:pt x="156972" y="72449"/>
                </a:lnTo>
                <a:lnTo>
                  <a:pt x="96598" y="0"/>
                </a:lnTo>
                <a:lnTo>
                  <a:pt x="36224" y="72449"/>
                </a:lnTo>
                <a:lnTo>
                  <a:pt x="36224" y="193196"/>
                </a:lnTo>
                <a:lnTo>
                  <a:pt x="0" y="193196"/>
                </a:lnTo>
                <a:lnTo>
                  <a:pt x="0" y="217346"/>
                </a:lnTo>
                <a:lnTo>
                  <a:pt x="36224" y="217346"/>
                </a:lnTo>
                <a:lnTo>
                  <a:pt x="36224" y="507140"/>
                </a:lnTo>
                <a:lnTo>
                  <a:pt x="0" y="507140"/>
                </a:lnTo>
                <a:lnTo>
                  <a:pt x="0" y="531289"/>
                </a:lnTo>
                <a:lnTo>
                  <a:pt x="36224" y="531289"/>
                </a:lnTo>
                <a:lnTo>
                  <a:pt x="36224" y="676187"/>
                </a:lnTo>
                <a:lnTo>
                  <a:pt x="156972" y="676187"/>
                </a:lnTo>
                <a:lnTo>
                  <a:pt x="156972" y="531289"/>
                </a:lnTo>
                <a:lnTo>
                  <a:pt x="229420" y="531289"/>
                </a:lnTo>
                <a:lnTo>
                  <a:pt x="229420" y="676187"/>
                </a:lnTo>
                <a:lnTo>
                  <a:pt x="350168" y="676187"/>
                </a:lnTo>
                <a:lnTo>
                  <a:pt x="350168" y="531289"/>
                </a:lnTo>
                <a:lnTo>
                  <a:pt x="422617" y="531289"/>
                </a:lnTo>
                <a:lnTo>
                  <a:pt x="422617" y="676187"/>
                </a:lnTo>
                <a:lnTo>
                  <a:pt x="543364" y="676187"/>
                </a:lnTo>
                <a:lnTo>
                  <a:pt x="543364" y="531289"/>
                </a:lnTo>
                <a:lnTo>
                  <a:pt x="615813" y="531289"/>
                </a:lnTo>
                <a:lnTo>
                  <a:pt x="615813" y="676187"/>
                </a:lnTo>
                <a:lnTo>
                  <a:pt x="736560" y="676187"/>
                </a:lnTo>
                <a:lnTo>
                  <a:pt x="736560" y="531289"/>
                </a:lnTo>
                <a:lnTo>
                  <a:pt x="809009" y="531289"/>
                </a:lnTo>
                <a:lnTo>
                  <a:pt x="809009" y="676187"/>
                </a:lnTo>
                <a:lnTo>
                  <a:pt x="929757" y="676187"/>
                </a:lnTo>
                <a:lnTo>
                  <a:pt x="929757" y="531289"/>
                </a:lnTo>
                <a:lnTo>
                  <a:pt x="965981" y="531289"/>
                </a:lnTo>
                <a:lnTo>
                  <a:pt x="965981" y="507140"/>
                </a:lnTo>
                <a:lnTo>
                  <a:pt x="929757" y="507140"/>
                </a:lnTo>
                <a:lnTo>
                  <a:pt x="929757" y="217346"/>
                </a:lnTo>
                <a:close/>
                <a:moveTo>
                  <a:pt x="132822" y="169047"/>
                </a:moveTo>
                <a:lnTo>
                  <a:pt x="132822" y="652037"/>
                </a:lnTo>
                <a:lnTo>
                  <a:pt x="60374" y="652037"/>
                </a:lnTo>
                <a:lnTo>
                  <a:pt x="60374" y="81191"/>
                </a:lnTo>
                <a:lnTo>
                  <a:pt x="96598" y="37722"/>
                </a:lnTo>
                <a:lnTo>
                  <a:pt x="132822" y="81191"/>
                </a:lnTo>
                <a:close/>
                <a:moveTo>
                  <a:pt x="156972" y="507140"/>
                </a:moveTo>
                <a:lnTo>
                  <a:pt x="156972" y="217346"/>
                </a:lnTo>
                <a:lnTo>
                  <a:pt x="229420" y="217346"/>
                </a:lnTo>
                <a:lnTo>
                  <a:pt x="229420" y="507140"/>
                </a:lnTo>
                <a:close/>
                <a:moveTo>
                  <a:pt x="326019" y="169047"/>
                </a:moveTo>
                <a:lnTo>
                  <a:pt x="326019" y="652037"/>
                </a:lnTo>
                <a:lnTo>
                  <a:pt x="253570" y="652037"/>
                </a:lnTo>
                <a:lnTo>
                  <a:pt x="253570" y="81191"/>
                </a:lnTo>
                <a:lnTo>
                  <a:pt x="289794" y="37722"/>
                </a:lnTo>
                <a:lnTo>
                  <a:pt x="326019" y="81191"/>
                </a:lnTo>
                <a:close/>
                <a:moveTo>
                  <a:pt x="350168" y="507140"/>
                </a:moveTo>
                <a:lnTo>
                  <a:pt x="350168" y="217346"/>
                </a:lnTo>
                <a:lnTo>
                  <a:pt x="422617" y="217346"/>
                </a:lnTo>
                <a:lnTo>
                  <a:pt x="422617" y="507140"/>
                </a:lnTo>
                <a:close/>
                <a:moveTo>
                  <a:pt x="519215" y="169047"/>
                </a:moveTo>
                <a:lnTo>
                  <a:pt x="519215" y="652037"/>
                </a:lnTo>
                <a:lnTo>
                  <a:pt x="446766" y="652037"/>
                </a:lnTo>
                <a:lnTo>
                  <a:pt x="446766" y="81191"/>
                </a:lnTo>
                <a:lnTo>
                  <a:pt x="482990" y="37722"/>
                </a:lnTo>
                <a:lnTo>
                  <a:pt x="519215" y="81191"/>
                </a:lnTo>
                <a:close/>
                <a:moveTo>
                  <a:pt x="543364" y="507140"/>
                </a:moveTo>
                <a:lnTo>
                  <a:pt x="543364" y="217346"/>
                </a:lnTo>
                <a:lnTo>
                  <a:pt x="615813" y="217346"/>
                </a:lnTo>
                <a:lnTo>
                  <a:pt x="615813" y="507140"/>
                </a:lnTo>
                <a:close/>
                <a:moveTo>
                  <a:pt x="712411" y="169047"/>
                </a:moveTo>
                <a:lnTo>
                  <a:pt x="712411" y="652037"/>
                </a:lnTo>
                <a:lnTo>
                  <a:pt x="639962" y="652037"/>
                </a:lnTo>
                <a:lnTo>
                  <a:pt x="639962" y="81191"/>
                </a:lnTo>
                <a:lnTo>
                  <a:pt x="676187" y="37722"/>
                </a:lnTo>
                <a:lnTo>
                  <a:pt x="712411" y="81191"/>
                </a:lnTo>
                <a:close/>
                <a:moveTo>
                  <a:pt x="736560" y="507140"/>
                </a:moveTo>
                <a:lnTo>
                  <a:pt x="736560" y="217346"/>
                </a:lnTo>
                <a:lnTo>
                  <a:pt x="809009" y="217346"/>
                </a:lnTo>
                <a:lnTo>
                  <a:pt x="809009" y="507140"/>
                </a:lnTo>
                <a:close/>
                <a:moveTo>
                  <a:pt x="905607" y="169047"/>
                </a:moveTo>
                <a:lnTo>
                  <a:pt x="905607" y="652037"/>
                </a:lnTo>
                <a:lnTo>
                  <a:pt x="833158" y="652037"/>
                </a:lnTo>
                <a:lnTo>
                  <a:pt x="833158" y="81191"/>
                </a:lnTo>
                <a:lnTo>
                  <a:pt x="869383" y="37722"/>
                </a:lnTo>
                <a:lnTo>
                  <a:pt x="905607" y="81191"/>
                </a:lnTo>
                <a:close/>
              </a:path>
            </a:pathLst>
          </a:custGeom>
          <a:solidFill>
            <a:schemeClr val="accent2"/>
          </a:solidFill>
          <a:ln w="12005" cap="flat">
            <a:noFill/>
            <a:prstDash val="solid"/>
            <a:miter/>
          </a:ln>
          <a:scene3d>
            <a:camera prst="orthographicFront">
              <a:rot lat="2400000" lon="3000000" rev="0"/>
            </a:camera>
            <a:lightRig rig="threePt" dir="t"/>
          </a:scene3d>
        </p:spPr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3A0C6-F9BD-E3C2-3972-7FD83FC25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40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3087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1.85185E-6 C 2.91667E-6 0.01296 0.02487 0.02384 0.05547 0.02384 C 0.09153 0.02384 0.10455 0.01181 0.11002 0.00463 L 0.11562 -0.00486 C 0.12122 -0.0118 0.13502 -0.02291 0.17578 -0.02291 C 0.20169 -0.02291 0.23164 -0.01319 0.23164 -1.85185E-6 C 0.23164 0.01296 0.20169 0.02384 0.17578 0.02384 C 0.13502 0.02384 0.12122 0.01181 0.11562 0.00463 L 0.11002 -0.00486 C 0.10455 -0.0118 0.09153 -0.02291 0.05547 -0.02291 C 0.02487 -0.02291 2.91667E-6 -0.01319 2.91667E-6 -1.85185E-6 Z " pathEditMode="relative" rAng="0" ptsTypes="AAAAAAAAAAA">
                                      <p:cBhvr>
                                        <p:cTn id="1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576" y="4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95833E-6 3.33333E-6 L 0.14284 3.33333E-6 L 0.17982 -0.03473 L -0.03411 -0.03473 L -3.95833E-6 3.33333E-6 Z " pathEditMode="relative" rAng="0" ptsTypes="AAAAA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79" y="-1736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26" presetClass="path" presetSubtype="0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6.25E-7 4.07407E-6 C -6.25E-7 0.01342 -0.02891 0.02453 -0.06458 0.02453 C -0.10599 0.02453 -0.12122 0.01226 -0.1276 0.00486 L -0.13385 -0.00487 C -0.14049 -0.01227 -0.15651 -0.02431 -0.20351 -0.02431 C -0.23359 -0.02431 -0.26771 -0.01343 -0.26771 4.07407E-6 C -0.26771 0.01342 -0.23359 0.02453 -0.20351 0.02453 C -0.15651 0.02453 -0.14049 0.01226 -0.13385 0.00486 L -0.1276 -0.00487 C -0.12122 -0.01227 -0.10599 -0.02431 -0.06458 -0.02431 C -0.02891 -0.02431 -6.25E-7 -0.01343 -6.25E-7 4.07407E-6 Z " pathEditMode="relative" rAng="0" ptsTypes="AAAAAAAAAAA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385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0" presetClass="path" presetSubtype="0" accel="50000" decel="5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-2.08333E-7 0.01783 C -2.08333E-7 0.01297 -0.02409 0.00903 -0.05352 0.00903 L -0.17721 0.00903 C -0.20664 0.00903 -0.2306 0.01297 -0.2306 0.01783 L -0.2306 0.03843 C -0.2306 0.04329 -0.20664 0.04769 -0.17721 0.04769 L -0.05352 0.04769 C -0.02409 0.04769 -2.08333E-7 0.04329 -2.08333E-7 0.03843 L -2.08333E-7 0.01783 Z " pathEditMode="relative" rAng="0" ptsTypes="AAAAAAAAA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536" y="1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71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12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FA847-E78A-51A6-268B-5518497C2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ARM: Acquire / Release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8EFBB-2D72-9E3A-5C95-393594588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nsolas" panose="020B0609020204030204" pitchFamily="49" charset="0"/>
              </a:rPr>
              <a:t>dmb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ld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>
                <a:latin typeface="Consolas" panose="020B0609020204030204" pitchFamily="49" charset="0"/>
              </a:rPr>
              <a:t>dmb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st</a:t>
            </a:r>
            <a:endParaRPr lang="LID4096" dirty="0">
              <a:latin typeface="Consolas" panose="020B0609020204030204" pitchFamily="49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2FF2F54-31E1-C48B-44E9-5F139DB09C18}"/>
              </a:ext>
            </a:extLst>
          </p:cNvPr>
          <p:cNvCxnSpPr/>
          <p:nvPr/>
        </p:nvCxnSpPr>
        <p:spPr>
          <a:xfrm>
            <a:off x="1716909" y="2543209"/>
            <a:ext cx="8067368" cy="0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D1A66AFD-E11C-0DFC-8853-6B1066CC17A9}"/>
              </a:ext>
            </a:extLst>
          </p:cNvPr>
          <p:cNvSpPr/>
          <p:nvPr/>
        </p:nvSpPr>
        <p:spPr>
          <a:xfrm>
            <a:off x="8678149" y="2690693"/>
            <a:ext cx="1106128" cy="42473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  <a:endParaRPr lang="LID4096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FCAE93-F421-8806-7891-F3F39CA3239C}"/>
              </a:ext>
            </a:extLst>
          </p:cNvPr>
          <p:cNvSpPr/>
          <p:nvPr/>
        </p:nvSpPr>
        <p:spPr>
          <a:xfrm>
            <a:off x="8294691" y="3115424"/>
            <a:ext cx="1106128" cy="42473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  <a:endParaRPr lang="LID4096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B244880-2AE8-EDDE-9E6D-20221DA056D3}"/>
              </a:ext>
            </a:extLst>
          </p:cNvPr>
          <p:cNvCxnSpPr/>
          <p:nvPr/>
        </p:nvCxnSpPr>
        <p:spPr>
          <a:xfrm>
            <a:off x="1716909" y="4730162"/>
            <a:ext cx="8067368" cy="0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377B6439-815A-6381-6D55-B14825DB1EDF}"/>
              </a:ext>
            </a:extLst>
          </p:cNvPr>
          <p:cNvSpPr/>
          <p:nvPr/>
        </p:nvSpPr>
        <p:spPr>
          <a:xfrm>
            <a:off x="1716909" y="4877646"/>
            <a:ext cx="1106128" cy="42473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  <a:endParaRPr lang="LID4096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EBEDE34-23EB-AC0D-5049-2FEACC2C9F63}"/>
              </a:ext>
            </a:extLst>
          </p:cNvPr>
          <p:cNvSpPr/>
          <p:nvPr/>
        </p:nvSpPr>
        <p:spPr>
          <a:xfrm>
            <a:off x="2374843" y="5302377"/>
            <a:ext cx="1106128" cy="42473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  <a:endParaRPr lang="LID4096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87688B-7EC8-BC32-A785-C8C557DFD0C6}"/>
              </a:ext>
            </a:extLst>
          </p:cNvPr>
          <p:cNvSpPr txBox="1"/>
          <p:nvPr/>
        </p:nvSpPr>
        <p:spPr>
          <a:xfrm>
            <a:off x="2833081" y="1825625"/>
            <a:ext cx="2190023" cy="480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latin typeface="Consolas" panose="020B0609020204030204" pitchFamily="49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LID4096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EE2969-7369-CD05-9658-AFAED041CC42}"/>
              </a:ext>
            </a:extLst>
          </p:cNvPr>
          <p:cNvSpPr txBox="1"/>
          <p:nvPr/>
        </p:nvSpPr>
        <p:spPr>
          <a:xfrm>
            <a:off x="2381977" y="3871343"/>
            <a:ext cx="2190023" cy="480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latin typeface="Consolas" panose="020B0609020204030204" pitchFamily="49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LID4096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6AEAF56-DE24-551B-7EE6-11EC9BA68B6A}"/>
              </a:ext>
            </a:extLst>
          </p:cNvPr>
          <p:cNvSpPr/>
          <p:nvPr/>
        </p:nvSpPr>
        <p:spPr>
          <a:xfrm>
            <a:off x="2374843" y="3044903"/>
            <a:ext cx="1106128" cy="42473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  <a:endParaRPr lang="LID4096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97F9E2D-4972-8F95-871D-98BF08BEB75F}"/>
              </a:ext>
            </a:extLst>
          </p:cNvPr>
          <p:cNvSpPr/>
          <p:nvPr/>
        </p:nvSpPr>
        <p:spPr>
          <a:xfrm>
            <a:off x="8678149" y="4991145"/>
            <a:ext cx="1106128" cy="42473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  <a:endParaRPr lang="LID4096" dirty="0"/>
          </a:p>
        </p:txBody>
      </p:sp>
      <p:sp>
        <p:nvSpPr>
          <p:cNvPr id="16" name="Graphic 15" descr="Fence outline">
            <a:extLst>
              <a:ext uri="{FF2B5EF4-FFF2-40B4-BE49-F238E27FC236}">
                <a16:creationId xmlns:a16="http://schemas.microsoft.com/office/drawing/2014/main" id="{C782F127-B049-7EF9-B6C6-B265A74A7FC8}"/>
              </a:ext>
            </a:extLst>
          </p:cNvPr>
          <p:cNvSpPr/>
          <p:nvPr/>
        </p:nvSpPr>
        <p:spPr>
          <a:xfrm>
            <a:off x="4892056" y="2406107"/>
            <a:ext cx="1394576" cy="1047193"/>
          </a:xfrm>
          <a:custGeom>
            <a:avLst/>
            <a:gdLst>
              <a:gd name="csX0" fmla="*/ 965981 w 965980"/>
              <a:gd name="csY0" fmla="*/ 217346 h 676186"/>
              <a:gd name="csX1" fmla="*/ 965981 w 965980"/>
              <a:gd name="csY1" fmla="*/ 193196 h 676186"/>
              <a:gd name="csX2" fmla="*/ 929757 w 965980"/>
              <a:gd name="csY2" fmla="*/ 193196 h 676186"/>
              <a:gd name="csX3" fmla="*/ 929757 w 965980"/>
              <a:gd name="csY3" fmla="*/ 72449 h 676186"/>
              <a:gd name="csX4" fmla="*/ 869383 w 965980"/>
              <a:gd name="csY4" fmla="*/ 0 h 676186"/>
              <a:gd name="csX5" fmla="*/ 809009 w 965980"/>
              <a:gd name="csY5" fmla="*/ 72449 h 676186"/>
              <a:gd name="csX6" fmla="*/ 809009 w 965980"/>
              <a:gd name="csY6" fmla="*/ 193196 h 676186"/>
              <a:gd name="csX7" fmla="*/ 736560 w 965980"/>
              <a:gd name="csY7" fmla="*/ 193196 h 676186"/>
              <a:gd name="csX8" fmla="*/ 736560 w 965980"/>
              <a:gd name="csY8" fmla="*/ 72449 h 676186"/>
              <a:gd name="csX9" fmla="*/ 676187 w 965980"/>
              <a:gd name="csY9" fmla="*/ 0 h 676186"/>
              <a:gd name="csX10" fmla="*/ 615813 w 965980"/>
              <a:gd name="csY10" fmla="*/ 72449 h 676186"/>
              <a:gd name="csX11" fmla="*/ 615813 w 965980"/>
              <a:gd name="csY11" fmla="*/ 193196 h 676186"/>
              <a:gd name="csX12" fmla="*/ 543364 w 965980"/>
              <a:gd name="csY12" fmla="*/ 193196 h 676186"/>
              <a:gd name="csX13" fmla="*/ 543364 w 965980"/>
              <a:gd name="csY13" fmla="*/ 72449 h 676186"/>
              <a:gd name="csX14" fmla="*/ 482990 w 965980"/>
              <a:gd name="csY14" fmla="*/ 0 h 676186"/>
              <a:gd name="csX15" fmla="*/ 422617 w 965980"/>
              <a:gd name="csY15" fmla="*/ 72449 h 676186"/>
              <a:gd name="csX16" fmla="*/ 422617 w 965980"/>
              <a:gd name="csY16" fmla="*/ 193196 h 676186"/>
              <a:gd name="csX17" fmla="*/ 350168 w 965980"/>
              <a:gd name="csY17" fmla="*/ 193196 h 676186"/>
              <a:gd name="csX18" fmla="*/ 350168 w 965980"/>
              <a:gd name="csY18" fmla="*/ 72449 h 676186"/>
              <a:gd name="csX19" fmla="*/ 289794 w 965980"/>
              <a:gd name="csY19" fmla="*/ 0 h 676186"/>
              <a:gd name="csX20" fmla="*/ 229420 w 965980"/>
              <a:gd name="csY20" fmla="*/ 72449 h 676186"/>
              <a:gd name="csX21" fmla="*/ 229420 w 965980"/>
              <a:gd name="csY21" fmla="*/ 193196 h 676186"/>
              <a:gd name="csX22" fmla="*/ 156972 w 965980"/>
              <a:gd name="csY22" fmla="*/ 193196 h 676186"/>
              <a:gd name="csX23" fmla="*/ 156972 w 965980"/>
              <a:gd name="csY23" fmla="*/ 72449 h 676186"/>
              <a:gd name="csX24" fmla="*/ 96598 w 965980"/>
              <a:gd name="csY24" fmla="*/ 0 h 676186"/>
              <a:gd name="csX25" fmla="*/ 36224 w 965980"/>
              <a:gd name="csY25" fmla="*/ 72449 h 676186"/>
              <a:gd name="csX26" fmla="*/ 36224 w 965980"/>
              <a:gd name="csY26" fmla="*/ 193196 h 676186"/>
              <a:gd name="csX27" fmla="*/ 0 w 965980"/>
              <a:gd name="csY27" fmla="*/ 193196 h 676186"/>
              <a:gd name="csX28" fmla="*/ 0 w 965980"/>
              <a:gd name="csY28" fmla="*/ 217346 h 676186"/>
              <a:gd name="csX29" fmla="*/ 36224 w 965980"/>
              <a:gd name="csY29" fmla="*/ 217346 h 676186"/>
              <a:gd name="csX30" fmla="*/ 36224 w 965980"/>
              <a:gd name="csY30" fmla="*/ 507140 h 676186"/>
              <a:gd name="csX31" fmla="*/ 0 w 965980"/>
              <a:gd name="csY31" fmla="*/ 507140 h 676186"/>
              <a:gd name="csX32" fmla="*/ 0 w 965980"/>
              <a:gd name="csY32" fmla="*/ 531289 h 676186"/>
              <a:gd name="csX33" fmla="*/ 36224 w 965980"/>
              <a:gd name="csY33" fmla="*/ 531289 h 676186"/>
              <a:gd name="csX34" fmla="*/ 36224 w 965980"/>
              <a:gd name="csY34" fmla="*/ 676187 h 676186"/>
              <a:gd name="csX35" fmla="*/ 156972 w 965980"/>
              <a:gd name="csY35" fmla="*/ 676187 h 676186"/>
              <a:gd name="csX36" fmla="*/ 156972 w 965980"/>
              <a:gd name="csY36" fmla="*/ 531289 h 676186"/>
              <a:gd name="csX37" fmla="*/ 229420 w 965980"/>
              <a:gd name="csY37" fmla="*/ 531289 h 676186"/>
              <a:gd name="csX38" fmla="*/ 229420 w 965980"/>
              <a:gd name="csY38" fmla="*/ 676187 h 676186"/>
              <a:gd name="csX39" fmla="*/ 350168 w 965980"/>
              <a:gd name="csY39" fmla="*/ 676187 h 676186"/>
              <a:gd name="csX40" fmla="*/ 350168 w 965980"/>
              <a:gd name="csY40" fmla="*/ 531289 h 676186"/>
              <a:gd name="csX41" fmla="*/ 422617 w 965980"/>
              <a:gd name="csY41" fmla="*/ 531289 h 676186"/>
              <a:gd name="csX42" fmla="*/ 422617 w 965980"/>
              <a:gd name="csY42" fmla="*/ 676187 h 676186"/>
              <a:gd name="csX43" fmla="*/ 543364 w 965980"/>
              <a:gd name="csY43" fmla="*/ 676187 h 676186"/>
              <a:gd name="csX44" fmla="*/ 543364 w 965980"/>
              <a:gd name="csY44" fmla="*/ 531289 h 676186"/>
              <a:gd name="csX45" fmla="*/ 615813 w 965980"/>
              <a:gd name="csY45" fmla="*/ 531289 h 676186"/>
              <a:gd name="csX46" fmla="*/ 615813 w 965980"/>
              <a:gd name="csY46" fmla="*/ 676187 h 676186"/>
              <a:gd name="csX47" fmla="*/ 736560 w 965980"/>
              <a:gd name="csY47" fmla="*/ 676187 h 676186"/>
              <a:gd name="csX48" fmla="*/ 736560 w 965980"/>
              <a:gd name="csY48" fmla="*/ 531289 h 676186"/>
              <a:gd name="csX49" fmla="*/ 809009 w 965980"/>
              <a:gd name="csY49" fmla="*/ 531289 h 676186"/>
              <a:gd name="csX50" fmla="*/ 809009 w 965980"/>
              <a:gd name="csY50" fmla="*/ 676187 h 676186"/>
              <a:gd name="csX51" fmla="*/ 929757 w 965980"/>
              <a:gd name="csY51" fmla="*/ 676187 h 676186"/>
              <a:gd name="csX52" fmla="*/ 929757 w 965980"/>
              <a:gd name="csY52" fmla="*/ 531289 h 676186"/>
              <a:gd name="csX53" fmla="*/ 965981 w 965980"/>
              <a:gd name="csY53" fmla="*/ 531289 h 676186"/>
              <a:gd name="csX54" fmla="*/ 965981 w 965980"/>
              <a:gd name="csY54" fmla="*/ 507140 h 676186"/>
              <a:gd name="csX55" fmla="*/ 929757 w 965980"/>
              <a:gd name="csY55" fmla="*/ 507140 h 676186"/>
              <a:gd name="csX56" fmla="*/ 929757 w 965980"/>
              <a:gd name="csY56" fmla="*/ 217346 h 676186"/>
              <a:gd name="csX57" fmla="*/ 132822 w 965980"/>
              <a:gd name="csY57" fmla="*/ 169047 h 676186"/>
              <a:gd name="csX58" fmla="*/ 132822 w 965980"/>
              <a:gd name="csY58" fmla="*/ 652037 h 676186"/>
              <a:gd name="csX59" fmla="*/ 60374 w 965980"/>
              <a:gd name="csY59" fmla="*/ 652037 h 676186"/>
              <a:gd name="csX60" fmla="*/ 60374 w 965980"/>
              <a:gd name="csY60" fmla="*/ 81191 h 676186"/>
              <a:gd name="csX61" fmla="*/ 96598 w 965980"/>
              <a:gd name="csY61" fmla="*/ 37722 h 676186"/>
              <a:gd name="csX62" fmla="*/ 132822 w 965980"/>
              <a:gd name="csY62" fmla="*/ 81191 h 676186"/>
              <a:gd name="csX63" fmla="*/ 156972 w 965980"/>
              <a:gd name="csY63" fmla="*/ 507140 h 676186"/>
              <a:gd name="csX64" fmla="*/ 156972 w 965980"/>
              <a:gd name="csY64" fmla="*/ 217346 h 676186"/>
              <a:gd name="csX65" fmla="*/ 229420 w 965980"/>
              <a:gd name="csY65" fmla="*/ 217346 h 676186"/>
              <a:gd name="csX66" fmla="*/ 229420 w 965980"/>
              <a:gd name="csY66" fmla="*/ 507140 h 676186"/>
              <a:gd name="csX67" fmla="*/ 326019 w 965980"/>
              <a:gd name="csY67" fmla="*/ 169047 h 676186"/>
              <a:gd name="csX68" fmla="*/ 326019 w 965980"/>
              <a:gd name="csY68" fmla="*/ 652037 h 676186"/>
              <a:gd name="csX69" fmla="*/ 253570 w 965980"/>
              <a:gd name="csY69" fmla="*/ 652037 h 676186"/>
              <a:gd name="csX70" fmla="*/ 253570 w 965980"/>
              <a:gd name="csY70" fmla="*/ 81191 h 676186"/>
              <a:gd name="csX71" fmla="*/ 289794 w 965980"/>
              <a:gd name="csY71" fmla="*/ 37722 h 676186"/>
              <a:gd name="csX72" fmla="*/ 326019 w 965980"/>
              <a:gd name="csY72" fmla="*/ 81191 h 676186"/>
              <a:gd name="csX73" fmla="*/ 350168 w 965980"/>
              <a:gd name="csY73" fmla="*/ 507140 h 676186"/>
              <a:gd name="csX74" fmla="*/ 350168 w 965980"/>
              <a:gd name="csY74" fmla="*/ 217346 h 676186"/>
              <a:gd name="csX75" fmla="*/ 422617 w 965980"/>
              <a:gd name="csY75" fmla="*/ 217346 h 676186"/>
              <a:gd name="csX76" fmla="*/ 422617 w 965980"/>
              <a:gd name="csY76" fmla="*/ 507140 h 676186"/>
              <a:gd name="csX77" fmla="*/ 519215 w 965980"/>
              <a:gd name="csY77" fmla="*/ 169047 h 676186"/>
              <a:gd name="csX78" fmla="*/ 519215 w 965980"/>
              <a:gd name="csY78" fmla="*/ 652037 h 676186"/>
              <a:gd name="csX79" fmla="*/ 446766 w 965980"/>
              <a:gd name="csY79" fmla="*/ 652037 h 676186"/>
              <a:gd name="csX80" fmla="*/ 446766 w 965980"/>
              <a:gd name="csY80" fmla="*/ 81191 h 676186"/>
              <a:gd name="csX81" fmla="*/ 482990 w 965980"/>
              <a:gd name="csY81" fmla="*/ 37722 h 676186"/>
              <a:gd name="csX82" fmla="*/ 519215 w 965980"/>
              <a:gd name="csY82" fmla="*/ 81191 h 676186"/>
              <a:gd name="csX83" fmla="*/ 543364 w 965980"/>
              <a:gd name="csY83" fmla="*/ 507140 h 676186"/>
              <a:gd name="csX84" fmla="*/ 543364 w 965980"/>
              <a:gd name="csY84" fmla="*/ 217346 h 676186"/>
              <a:gd name="csX85" fmla="*/ 615813 w 965980"/>
              <a:gd name="csY85" fmla="*/ 217346 h 676186"/>
              <a:gd name="csX86" fmla="*/ 615813 w 965980"/>
              <a:gd name="csY86" fmla="*/ 507140 h 676186"/>
              <a:gd name="csX87" fmla="*/ 712411 w 965980"/>
              <a:gd name="csY87" fmla="*/ 169047 h 676186"/>
              <a:gd name="csX88" fmla="*/ 712411 w 965980"/>
              <a:gd name="csY88" fmla="*/ 652037 h 676186"/>
              <a:gd name="csX89" fmla="*/ 639962 w 965980"/>
              <a:gd name="csY89" fmla="*/ 652037 h 676186"/>
              <a:gd name="csX90" fmla="*/ 639962 w 965980"/>
              <a:gd name="csY90" fmla="*/ 81191 h 676186"/>
              <a:gd name="csX91" fmla="*/ 676187 w 965980"/>
              <a:gd name="csY91" fmla="*/ 37722 h 676186"/>
              <a:gd name="csX92" fmla="*/ 712411 w 965980"/>
              <a:gd name="csY92" fmla="*/ 81191 h 676186"/>
              <a:gd name="csX93" fmla="*/ 736560 w 965980"/>
              <a:gd name="csY93" fmla="*/ 507140 h 676186"/>
              <a:gd name="csX94" fmla="*/ 736560 w 965980"/>
              <a:gd name="csY94" fmla="*/ 217346 h 676186"/>
              <a:gd name="csX95" fmla="*/ 809009 w 965980"/>
              <a:gd name="csY95" fmla="*/ 217346 h 676186"/>
              <a:gd name="csX96" fmla="*/ 809009 w 965980"/>
              <a:gd name="csY96" fmla="*/ 507140 h 676186"/>
              <a:gd name="csX97" fmla="*/ 905607 w 965980"/>
              <a:gd name="csY97" fmla="*/ 169047 h 676186"/>
              <a:gd name="csX98" fmla="*/ 905607 w 965980"/>
              <a:gd name="csY98" fmla="*/ 652037 h 676186"/>
              <a:gd name="csX99" fmla="*/ 833158 w 965980"/>
              <a:gd name="csY99" fmla="*/ 652037 h 676186"/>
              <a:gd name="csX100" fmla="*/ 833158 w 965980"/>
              <a:gd name="csY100" fmla="*/ 81191 h 676186"/>
              <a:gd name="csX101" fmla="*/ 869383 w 965980"/>
              <a:gd name="csY101" fmla="*/ 37722 h 676186"/>
              <a:gd name="csX102" fmla="*/ 905607 w 965980"/>
              <a:gd name="csY102" fmla="*/ 81191 h 6761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</a:cxnLst>
            <a:rect l="l" t="t" r="r" b="b"/>
            <a:pathLst>
              <a:path w="965980" h="676186">
                <a:moveTo>
                  <a:pt x="965981" y="217346"/>
                </a:moveTo>
                <a:lnTo>
                  <a:pt x="965981" y="193196"/>
                </a:lnTo>
                <a:lnTo>
                  <a:pt x="929757" y="193196"/>
                </a:lnTo>
                <a:lnTo>
                  <a:pt x="929757" y="72449"/>
                </a:lnTo>
                <a:lnTo>
                  <a:pt x="869383" y="0"/>
                </a:lnTo>
                <a:lnTo>
                  <a:pt x="809009" y="72449"/>
                </a:lnTo>
                <a:lnTo>
                  <a:pt x="809009" y="193196"/>
                </a:lnTo>
                <a:lnTo>
                  <a:pt x="736560" y="193196"/>
                </a:lnTo>
                <a:lnTo>
                  <a:pt x="736560" y="72449"/>
                </a:lnTo>
                <a:lnTo>
                  <a:pt x="676187" y="0"/>
                </a:lnTo>
                <a:lnTo>
                  <a:pt x="615813" y="72449"/>
                </a:lnTo>
                <a:lnTo>
                  <a:pt x="615813" y="193196"/>
                </a:lnTo>
                <a:lnTo>
                  <a:pt x="543364" y="193196"/>
                </a:lnTo>
                <a:lnTo>
                  <a:pt x="543364" y="72449"/>
                </a:lnTo>
                <a:lnTo>
                  <a:pt x="482990" y="0"/>
                </a:lnTo>
                <a:lnTo>
                  <a:pt x="422617" y="72449"/>
                </a:lnTo>
                <a:lnTo>
                  <a:pt x="422617" y="193196"/>
                </a:lnTo>
                <a:lnTo>
                  <a:pt x="350168" y="193196"/>
                </a:lnTo>
                <a:lnTo>
                  <a:pt x="350168" y="72449"/>
                </a:lnTo>
                <a:lnTo>
                  <a:pt x="289794" y="0"/>
                </a:lnTo>
                <a:lnTo>
                  <a:pt x="229420" y="72449"/>
                </a:lnTo>
                <a:lnTo>
                  <a:pt x="229420" y="193196"/>
                </a:lnTo>
                <a:lnTo>
                  <a:pt x="156972" y="193196"/>
                </a:lnTo>
                <a:lnTo>
                  <a:pt x="156972" y="72449"/>
                </a:lnTo>
                <a:lnTo>
                  <a:pt x="96598" y="0"/>
                </a:lnTo>
                <a:lnTo>
                  <a:pt x="36224" y="72449"/>
                </a:lnTo>
                <a:lnTo>
                  <a:pt x="36224" y="193196"/>
                </a:lnTo>
                <a:lnTo>
                  <a:pt x="0" y="193196"/>
                </a:lnTo>
                <a:lnTo>
                  <a:pt x="0" y="217346"/>
                </a:lnTo>
                <a:lnTo>
                  <a:pt x="36224" y="217346"/>
                </a:lnTo>
                <a:lnTo>
                  <a:pt x="36224" y="507140"/>
                </a:lnTo>
                <a:lnTo>
                  <a:pt x="0" y="507140"/>
                </a:lnTo>
                <a:lnTo>
                  <a:pt x="0" y="531289"/>
                </a:lnTo>
                <a:lnTo>
                  <a:pt x="36224" y="531289"/>
                </a:lnTo>
                <a:lnTo>
                  <a:pt x="36224" y="676187"/>
                </a:lnTo>
                <a:lnTo>
                  <a:pt x="156972" y="676187"/>
                </a:lnTo>
                <a:lnTo>
                  <a:pt x="156972" y="531289"/>
                </a:lnTo>
                <a:lnTo>
                  <a:pt x="229420" y="531289"/>
                </a:lnTo>
                <a:lnTo>
                  <a:pt x="229420" y="676187"/>
                </a:lnTo>
                <a:lnTo>
                  <a:pt x="350168" y="676187"/>
                </a:lnTo>
                <a:lnTo>
                  <a:pt x="350168" y="531289"/>
                </a:lnTo>
                <a:lnTo>
                  <a:pt x="422617" y="531289"/>
                </a:lnTo>
                <a:lnTo>
                  <a:pt x="422617" y="676187"/>
                </a:lnTo>
                <a:lnTo>
                  <a:pt x="543364" y="676187"/>
                </a:lnTo>
                <a:lnTo>
                  <a:pt x="543364" y="531289"/>
                </a:lnTo>
                <a:lnTo>
                  <a:pt x="615813" y="531289"/>
                </a:lnTo>
                <a:lnTo>
                  <a:pt x="615813" y="676187"/>
                </a:lnTo>
                <a:lnTo>
                  <a:pt x="736560" y="676187"/>
                </a:lnTo>
                <a:lnTo>
                  <a:pt x="736560" y="531289"/>
                </a:lnTo>
                <a:lnTo>
                  <a:pt x="809009" y="531289"/>
                </a:lnTo>
                <a:lnTo>
                  <a:pt x="809009" y="676187"/>
                </a:lnTo>
                <a:lnTo>
                  <a:pt x="929757" y="676187"/>
                </a:lnTo>
                <a:lnTo>
                  <a:pt x="929757" y="531289"/>
                </a:lnTo>
                <a:lnTo>
                  <a:pt x="965981" y="531289"/>
                </a:lnTo>
                <a:lnTo>
                  <a:pt x="965981" y="507140"/>
                </a:lnTo>
                <a:lnTo>
                  <a:pt x="929757" y="507140"/>
                </a:lnTo>
                <a:lnTo>
                  <a:pt x="929757" y="217346"/>
                </a:lnTo>
                <a:close/>
                <a:moveTo>
                  <a:pt x="132822" y="169047"/>
                </a:moveTo>
                <a:lnTo>
                  <a:pt x="132822" y="652037"/>
                </a:lnTo>
                <a:lnTo>
                  <a:pt x="60374" y="652037"/>
                </a:lnTo>
                <a:lnTo>
                  <a:pt x="60374" y="81191"/>
                </a:lnTo>
                <a:lnTo>
                  <a:pt x="96598" y="37722"/>
                </a:lnTo>
                <a:lnTo>
                  <a:pt x="132822" y="81191"/>
                </a:lnTo>
                <a:close/>
                <a:moveTo>
                  <a:pt x="156972" y="507140"/>
                </a:moveTo>
                <a:lnTo>
                  <a:pt x="156972" y="217346"/>
                </a:lnTo>
                <a:lnTo>
                  <a:pt x="229420" y="217346"/>
                </a:lnTo>
                <a:lnTo>
                  <a:pt x="229420" y="507140"/>
                </a:lnTo>
                <a:close/>
                <a:moveTo>
                  <a:pt x="326019" y="169047"/>
                </a:moveTo>
                <a:lnTo>
                  <a:pt x="326019" y="652037"/>
                </a:lnTo>
                <a:lnTo>
                  <a:pt x="253570" y="652037"/>
                </a:lnTo>
                <a:lnTo>
                  <a:pt x="253570" y="81191"/>
                </a:lnTo>
                <a:lnTo>
                  <a:pt x="289794" y="37722"/>
                </a:lnTo>
                <a:lnTo>
                  <a:pt x="326019" y="81191"/>
                </a:lnTo>
                <a:close/>
                <a:moveTo>
                  <a:pt x="350168" y="507140"/>
                </a:moveTo>
                <a:lnTo>
                  <a:pt x="350168" y="217346"/>
                </a:lnTo>
                <a:lnTo>
                  <a:pt x="422617" y="217346"/>
                </a:lnTo>
                <a:lnTo>
                  <a:pt x="422617" y="507140"/>
                </a:lnTo>
                <a:close/>
                <a:moveTo>
                  <a:pt x="519215" y="169047"/>
                </a:moveTo>
                <a:lnTo>
                  <a:pt x="519215" y="652037"/>
                </a:lnTo>
                <a:lnTo>
                  <a:pt x="446766" y="652037"/>
                </a:lnTo>
                <a:lnTo>
                  <a:pt x="446766" y="81191"/>
                </a:lnTo>
                <a:lnTo>
                  <a:pt x="482990" y="37722"/>
                </a:lnTo>
                <a:lnTo>
                  <a:pt x="519215" y="81191"/>
                </a:lnTo>
                <a:close/>
                <a:moveTo>
                  <a:pt x="543364" y="507140"/>
                </a:moveTo>
                <a:lnTo>
                  <a:pt x="543364" y="217346"/>
                </a:lnTo>
                <a:lnTo>
                  <a:pt x="615813" y="217346"/>
                </a:lnTo>
                <a:lnTo>
                  <a:pt x="615813" y="507140"/>
                </a:lnTo>
                <a:close/>
                <a:moveTo>
                  <a:pt x="712411" y="169047"/>
                </a:moveTo>
                <a:lnTo>
                  <a:pt x="712411" y="652037"/>
                </a:lnTo>
                <a:lnTo>
                  <a:pt x="639962" y="652037"/>
                </a:lnTo>
                <a:lnTo>
                  <a:pt x="639962" y="81191"/>
                </a:lnTo>
                <a:lnTo>
                  <a:pt x="676187" y="37722"/>
                </a:lnTo>
                <a:lnTo>
                  <a:pt x="712411" y="81191"/>
                </a:lnTo>
                <a:close/>
                <a:moveTo>
                  <a:pt x="736560" y="507140"/>
                </a:moveTo>
                <a:lnTo>
                  <a:pt x="736560" y="217346"/>
                </a:lnTo>
                <a:lnTo>
                  <a:pt x="809009" y="217346"/>
                </a:lnTo>
                <a:lnTo>
                  <a:pt x="809009" y="507140"/>
                </a:lnTo>
                <a:close/>
                <a:moveTo>
                  <a:pt x="905607" y="169047"/>
                </a:moveTo>
                <a:lnTo>
                  <a:pt x="905607" y="652037"/>
                </a:lnTo>
                <a:lnTo>
                  <a:pt x="833158" y="652037"/>
                </a:lnTo>
                <a:lnTo>
                  <a:pt x="833158" y="81191"/>
                </a:lnTo>
                <a:lnTo>
                  <a:pt x="869383" y="37722"/>
                </a:lnTo>
                <a:lnTo>
                  <a:pt x="905607" y="81191"/>
                </a:lnTo>
                <a:close/>
              </a:path>
            </a:pathLst>
          </a:custGeom>
          <a:solidFill>
            <a:schemeClr val="accent2"/>
          </a:solidFill>
          <a:ln w="12005" cap="flat">
            <a:noFill/>
            <a:prstDash val="solid"/>
            <a:miter/>
          </a:ln>
          <a:scene3d>
            <a:camera prst="orthographicFront">
              <a:rot lat="2400000" lon="3000000" rev="0"/>
            </a:camera>
            <a:lightRig rig="threePt" dir="t"/>
          </a:scene3d>
        </p:spPr>
        <p:txBody>
          <a:bodyPr/>
          <a:lstStyle/>
          <a:p>
            <a:endParaRPr lang="LID4096"/>
          </a:p>
        </p:txBody>
      </p:sp>
      <p:sp>
        <p:nvSpPr>
          <p:cNvPr id="15" name="Graphic 15" descr="Fence outline">
            <a:extLst>
              <a:ext uri="{FF2B5EF4-FFF2-40B4-BE49-F238E27FC236}">
                <a16:creationId xmlns:a16="http://schemas.microsoft.com/office/drawing/2014/main" id="{5D5F0484-D12C-CB87-6F11-5F72FB477738}"/>
              </a:ext>
            </a:extLst>
          </p:cNvPr>
          <p:cNvSpPr/>
          <p:nvPr/>
        </p:nvSpPr>
        <p:spPr>
          <a:xfrm>
            <a:off x="4861576" y="4679915"/>
            <a:ext cx="1394576" cy="1047193"/>
          </a:xfrm>
          <a:custGeom>
            <a:avLst/>
            <a:gdLst>
              <a:gd name="csX0" fmla="*/ 965981 w 965980"/>
              <a:gd name="csY0" fmla="*/ 217346 h 676186"/>
              <a:gd name="csX1" fmla="*/ 965981 w 965980"/>
              <a:gd name="csY1" fmla="*/ 193196 h 676186"/>
              <a:gd name="csX2" fmla="*/ 929757 w 965980"/>
              <a:gd name="csY2" fmla="*/ 193196 h 676186"/>
              <a:gd name="csX3" fmla="*/ 929757 w 965980"/>
              <a:gd name="csY3" fmla="*/ 72449 h 676186"/>
              <a:gd name="csX4" fmla="*/ 869383 w 965980"/>
              <a:gd name="csY4" fmla="*/ 0 h 676186"/>
              <a:gd name="csX5" fmla="*/ 809009 w 965980"/>
              <a:gd name="csY5" fmla="*/ 72449 h 676186"/>
              <a:gd name="csX6" fmla="*/ 809009 w 965980"/>
              <a:gd name="csY6" fmla="*/ 193196 h 676186"/>
              <a:gd name="csX7" fmla="*/ 736560 w 965980"/>
              <a:gd name="csY7" fmla="*/ 193196 h 676186"/>
              <a:gd name="csX8" fmla="*/ 736560 w 965980"/>
              <a:gd name="csY8" fmla="*/ 72449 h 676186"/>
              <a:gd name="csX9" fmla="*/ 676187 w 965980"/>
              <a:gd name="csY9" fmla="*/ 0 h 676186"/>
              <a:gd name="csX10" fmla="*/ 615813 w 965980"/>
              <a:gd name="csY10" fmla="*/ 72449 h 676186"/>
              <a:gd name="csX11" fmla="*/ 615813 w 965980"/>
              <a:gd name="csY11" fmla="*/ 193196 h 676186"/>
              <a:gd name="csX12" fmla="*/ 543364 w 965980"/>
              <a:gd name="csY12" fmla="*/ 193196 h 676186"/>
              <a:gd name="csX13" fmla="*/ 543364 w 965980"/>
              <a:gd name="csY13" fmla="*/ 72449 h 676186"/>
              <a:gd name="csX14" fmla="*/ 482990 w 965980"/>
              <a:gd name="csY14" fmla="*/ 0 h 676186"/>
              <a:gd name="csX15" fmla="*/ 422617 w 965980"/>
              <a:gd name="csY15" fmla="*/ 72449 h 676186"/>
              <a:gd name="csX16" fmla="*/ 422617 w 965980"/>
              <a:gd name="csY16" fmla="*/ 193196 h 676186"/>
              <a:gd name="csX17" fmla="*/ 350168 w 965980"/>
              <a:gd name="csY17" fmla="*/ 193196 h 676186"/>
              <a:gd name="csX18" fmla="*/ 350168 w 965980"/>
              <a:gd name="csY18" fmla="*/ 72449 h 676186"/>
              <a:gd name="csX19" fmla="*/ 289794 w 965980"/>
              <a:gd name="csY19" fmla="*/ 0 h 676186"/>
              <a:gd name="csX20" fmla="*/ 229420 w 965980"/>
              <a:gd name="csY20" fmla="*/ 72449 h 676186"/>
              <a:gd name="csX21" fmla="*/ 229420 w 965980"/>
              <a:gd name="csY21" fmla="*/ 193196 h 676186"/>
              <a:gd name="csX22" fmla="*/ 156972 w 965980"/>
              <a:gd name="csY22" fmla="*/ 193196 h 676186"/>
              <a:gd name="csX23" fmla="*/ 156972 w 965980"/>
              <a:gd name="csY23" fmla="*/ 72449 h 676186"/>
              <a:gd name="csX24" fmla="*/ 96598 w 965980"/>
              <a:gd name="csY24" fmla="*/ 0 h 676186"/>
              <a:gd name="csX25" fmla="*/ 36224 w 965980"/>
              <a:gd name="csY25" fmla="*/ 72449 h 676186"/>
              <a:gd name="csX26" fmla="*/ 36224 w 965980"/>
              <a:gd name="csY26" fmla="*/ 193196 h 676186"/>
              <a:gd name="csX27" fmla="*/ 0 w 965980"/>
              <a:gd name="csY27" fmla="*/ 193196 h 676186"/>
              <a:gd name="csX28" fmla="*/ 0 w 965980"/>
              <a:gd name="csY28" fmla="*/ 217346 h 676186"/>
              <a:gd name="csX29" fmla="*/ 36224 w 965980"/>
              <a:gd name="csY29" fmla="*/ 217346 h 676186"/>
              <a:gd name="csX30" fmla="*/ 36224 w 965980"/>
              <a:gd name="csY30" fmla="*/ 507140 h 676186"/>
              <a:gd name="csX31" fmla="*/ 0 w 965980"/>
              <a:gd name="csY31" fmla="*/ 507140 h 676186"/>
              <a:gd name="csX32" fmla="*/ 0 w 965980"/>
              <a:gd name="csY32" fmla="*/ 531289 h 676186"/>
              <a:gd name="csX33" fmla="*/ 36224 w 965980"/>
              <a:gd name="csY33" fmla="*/ 531289 h 676186"/>
              <a:gd name="csX34" fmla="*/ 36224 w 965980"/>
              <a:gd name="csY34" fmla="*/ 676187 h 676186"/>
              <a:gd name="csX35" fmla="*/ 156972 w 965980"/>
              <a:gd name="csY35" fmla="*/ 676187 h 676186"/>
              <a:gd name="csX36" fmla="*/ 156972 w 965980"/>
              <a:gd name="csY36" fmla="*/ 531289 h 676186"/>
              <a:gd name="csX37" fmla="*/ 229420 w 965980"/>
              <a:gd name="csY37" fmla="*/ 531289 h 676186"/>
              <a:gd name="csX38" fmla="*/ 229420 w 965980"/>
              <a:gd name="csY38" fmla="*/ 676187 h 676186"/>
              <a:gd name="csX39" fmla="*/ 350168 w 965980"/>
              <a:gd name="csY39" fmla="*/ 676187 h 676186"/>
              <a:gd name="csX40" fmla="*/ 350168 w 965980"/>
              <a:gd name="csY40" fmla="*/ 531289 h 676186"/>
              <a:gd name="csX41" fmla="*/ 422617 w 965980"/>
              <a:gd name="csY41" fmla="*/ 531289 h 676186"/>
              <a:gd name="csX42" fmla="*/ 422617 w 965980"/>
              <a:gd name="csY42" fmla="*/ 676187 h 676186"/>
              <a:gd name="csX43" fmla="*/ 543364 w 965980"/>
              <a:gd name="csY43" fmla="*/ 676187 h 676186"/>
              <a:gd name="csX44" fmla="*/ 543364 w 965980"/>
              <a:gd name="csY44" fmla="*/ 531289 h 676186"/>
              <a:gd name="csX45" fmla="*/ 615813 w 965980"/>
              <a:gd name="csY45" fmla="*/ 531289 h 676186"/>
              <a:gd name="csX46" fmla="*/ 615813 w 965980"/>
              <a:gd name="csY46" fmla="*/ 676187 h 676186"/>
              <a:gd name="csX47" fmla="*/ 736560 w 965980"/>
              <a:gd name="csY47" fmla="*/ 676187 h 676186"/>
              <a:gd name="csX48" fmla="*/ 736560 w 965980"/>
              <a:gd name="csY48" fmla="*/ 531289 h 676186"/>
              <a:gd name="csX49" fmla="*/ 809009 w 965980"/>
              <a:gd name="csY49" fmla="*/ 531289 h 676186"/>
              <a:gd name="csX50" fmla="*/ 809009 w 965980"/>
              <a:gd name="csY50" fmla="*/ 676187 h 676186"/>
              <a:gd name="csX51" fmla="*/ 929757 w 965980"/>
              <a:gd name="csY51" fmla="*/ 676187 h 676186"/>
              <a:gd name="csX52" fmla="*/ 929757 w 965980"/>
              <a:gd name="csY52" fmla="*/ 531289 h 676186"/>
              <a:gd name="csX53" fmla="*/ 965981 w 965980"/>
              <a:gd name="csY53" fmla="*/ 531289 h 676186"/>
              <a:gd name="csX54" fmla="*/ 965981 w 965980"/>
              <a:gd name="csY54" fmla="*/ 507140 h 676186"/>
              <a:gd name="csX55" fmla="*/ 929757 w 965980"/>
              <a:gd name="csY55" fmla="*/ 507140 h 676186"/>
              <a:gd name="csX56" fmla="*/ 929757 w 965980"/>
              <a:gd name="csY56" fmla="*/ 217346 h 676186"/>
              <a:gd name="csX57" fmla="*/ 132822 w 965980"/>
              <a:gd name="csY57" fmla="*/ 169047 h 676186"/>
              <a:gd name="csX58" fmla="*/ 132822 w 965980"/>
              <a:gd name="csY58" fmla="*/ 652037 h 676186"/>
              <a:gd name="csX59" fmla="*/ 60374 w 965980"/>
              <a:gd name="csY59" fmla="*/ 652037 h 676186"/>
              <a:gd name="csX60" fmla="*/ 60374 w 965980"/>
              <a:gd name="csY60" fmla="*/ 81191 h 676186"/>
              <a:gd name="csX61" fmla="*/ 96598 w 965980"/>
              <a:gd name="csY61" fmla="*/ 37722 h 676186"/>
              <a:gd name="csX62" fmla="*/ 132822 w 965980"/>
              <a:gd name="csY62" fmla="*/ 81191 h 676186"/>
              <a:gd name="csX63" fmla="*/ 156972 w 965980"/>
              <a:gd name="csY63" fmla="*/ 507140 h 676186"/>
              <a:gd name="csX64" fmla="*/ 156972 w 965980"/>
              <a:gd name="csY64" fmla="*/ 217346 h 676186"/>
              <a:gd name="csX65" fmla="*/ 229420 w 965980"/>
              <a:gd name="csY65" fmla="*/ 217346 h 676186"/>
              <a:gd name="csX66" fmla="*/ 229420 w 965980"/>
              <a:gd name="csY66" fmla="*/ 507140 h 676186"/>
              <a:gd name="csX67" fmla="*/ 326019 w 965980"/>
              <a:gd name="csY67" fmla="*/ 169047 h 676186"/>
              <a:gd name="csX68" fmla="*/ 326019 w 965980"/>
              <a:gd name="csY68" fmla="*/ 652037 h 676186"/>
              <a:gd name="csX69" fmla="*/ 253570 w 965980"/>
              <a:gd name="csY69" fmla="*/ 652037 h 676186"/>
              <a:gd name="csX70" fmla="*/ 253570 w 965980"/>
              <a:gd name="csY70" fmla="*/ 81191 h 676186"/>
              <a:gd name="csX71" fmla="*/ 289794 w 965980"/>
              <a:gd name="csY71" fmla="*/ 37722 h 676186"/>
              <a:gd name="csX72" fmla="*/ 326019 w 965980"/>
              <a:gd name="csY72" fmla="*/ 81191 h 676186"/>
              <a:gd name="csX73" fmla="*/ 350168 w 965980"/>
              <a:gd name="csY73" fmla="*/ 507140 h 676186"/>
              <a:gd name="csX74" fmla="*/ 350168 w 965980"/>
              <a:gd name="csY74" fmla="*/ 217346 h 676186"/>
              <a:gd name="csX75" fmla="*/ 422617 w 965980"/>
              <a:gd name="csY75" fmla="*/ 217346 h 676186"/>
              <a:gd name="csX76" fmla="*/ 422617 w 965980"/>
              <a:gd name="csY76" fmla="*/ 507140 h 676186"/>
              <a:gd name="csX77" fmla="*/ 519215 w 965980"/>
              <a:gd name="csY77" fmla="*/ 169047 h 676186"/>
              <a:gd name="csX78" fmla="*/ 519215 w 965980"/>
              <a:gd name="csY78" fmla="*/ 652037 h 676186"/>
              <a:gd name="csX79" fmla="*/ 446766 w 965980"/>
              <a:gd name="csY79" fmla="*/ 652037 h 676186"/>
              <a:gd name="csX80" fmla="*/ 446766 w 965980"/>
              <a:gd name="csY80" fmla="*/ 81191 h 676186"/>
              <a:gd name="csX81" fmla="*/ 482990 w 965980"/>
              <a:gd name="csY81" fmla="*/ 37722 h 676186"/>
              <a:gd name="csX82" fmla="*/ 519215 w 965980"/>
              <a:gd name="csY82" fmla="*/ 81191 h 676186"/>
              <a:gd name="csX83" fmla="*/ 543364 w 965980"/>
              <a:gd name="csY83" fmla="*/ 507140 h 676186"/>
              <a:gd name="csX84" fmla="*/ 543364 w 965980"/>
              <a:gd name="csY84" fmla="*/ 217346 h 676186"/>
              <a:gd name="csX85" fmla="*/ 615813 w 965980"/>
              <a:gd name="csY85" fmla="*/ 217346 h 676186"/>
              <a:gd name="csX86" fmla="*/ 615813 w 965980"/>
              <a:gd name="csY86" fmla="*/ 507140 h 676186"/>
              <a:gd name="csX87" fmla="*/ 712411 w 965980"/>
              <a:gd name="csY87" fmla="*/ 169047 h 676186"/>
              <a:gd name="csX88" fmla="*/ 712411 w 965980"/>
              <a:gd name="csY88" fmla="*/ 652037 h 676186"/>
              <a:gd name="csX89" fmla="*/ 639962 w 965980"/>
              <a:gd name="csY89" fmla="*/ 652037 h 676186"/>
              <a:gd name="csX90" fmla="*/ 639962 w 965980"/>
              <a:gd name="csY90" fmla="*/ 81191 h 676186"/>
              <a:gd name="csX91" fmla="*/ 676187 w 965980"/>
              <a:gd name="csY91" fmla="*/ 37722 h 676186"/>
              <a:gd name="csX92" fmla="*/ 712411 w 965980"/>
              <a:gd name="csY92" fmla="*/ 81191 h 676186"/>
              <a:gd name="csX93" fmla="*/ 736560 w 965980"/>
              <a:gd name="csY93" fmla="*/ 507140 h 676186"/>
              <a:gd name="csX94" fmla="*/ 736560 w 965980"/>
              <a:gd name="csY94" fmla="*/ 217346 h 676186"/>
              <a:gd name="csX95" fmla="*/ 809009 w 965980"/>
              <a:gd name="csY95" fmla="*/ 217346 h 676186"/>
              <a:gd name="csX96" fmla="*/ 809009 w 965980"/>
              <a:gd name="csY96" fmla="*/ 507140 h 676186"/>
              <a:gd name="csX97" fmla="*/ 905607 w 965980"/>
              <a:gd name="csY97" fmla="*/ 169047 h 676186"/>
              <a:gd name="csX98" fmla="*/ 905607 w 965980"/>
              <a:gd name="csY98" fmla="*/ 652037 h 676186"/>
              <a:gd name="csX99" fmla="*/ 833158 w 965980"/>
              <a:gd name="csY99" fmla="*/ 652037 h 676186"/>
              <a:gd name="csX100" fmla="*/ 833158 w 965980"/>
              <a:gd name="csY100" fmla="*/ 81191 h 676186"/>
              <a:gd name="csX101" fmla="*/ 869383 w 965980"/>
              <a:gd name="csY101" fmla="*/ 37722 h 676186"/>
              <a:gd name="csX102" fmla="*/ 905607 w 965980"/>
              <a:gd name="csY102" fmla="*/ 81191 h 6761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</a:cxnLst>
            <a:rect l="l" t="t" r="r" b="b"/>
            <a:pathLst>
              <a:path w="965980" h="676186">
                <a:moveTo>
                  <a:pt x="965981" y="217346"/>
                </a:moveTo>
                <a:lnTo>
                  <a:pt x="965981" y="193196"/>
                </a:lnTo>
                <a:lnTo>
                  <a:pt x="929757" y="193196"/>
                </a:lnTo>
                <a:lnTo>
                  <a:pt x="929757" y="72449"/>
                </a:lnTo>
                <a:lnTo>
                  <a:pt x="869383" y="0"/>
                </a:lnTo>
                <a:lnTo>
                  <a:pt x="809009" y="72449"/>
                </a:lnTo>
                <a:lnTo>
                  <a:pt x="809009" y="193196"/>
                </a:lnTo>
                <a:lnTo>
                  <a:pt x="736560" y="193196"/>
                </a:lnTo>
                <a:lnTo>
                  <a:pt x="736560" y="72449"/>
                </a:lnTo>
                <a:lnTo>
                  <a:pt x="676187" y="0"/>
                </a:lnTo>
                <a:lnTo>
                  <a:pt x="615813" y="72449"/>
                </a:lnTo>
                <a:lnTo>
                  <a:pt x="615813" y="193196"/>
                </a:lnTo>
                <a:lnTo>
                  <a:pt x="543364" y="193196"/>
                </a:lnTo>
                <a:lnTo>
                  <a:pt x="543364" y="72449"/>
                </a:lnTo>
                <a:lnTo>
                  <a:pt x="482990" y="0"/>
                </a:lnTo>
                <a:lnTo>
                  <a:pt x="422617" y="72449"/>
                </a:lnTo>
                <a:lnTo>
                  <a:pt x="422617" y="193196"/>
                </a:lnTo>
                <a:lnTo>
                  <a:pt x="350168" y="193196"/>
                </a:lnTo>
                <a:lnTo>
                  <a:pt x="350168" y="72449"/>
                </a:lnTo>
                <a:lnTo>
                  <a:pt x="289794" y="0"/>
                </a:lnTo>
                <a:lnTo>
                  <a:pt x="229420" y="72449"/>
                </a:lnTo>
                <a:lnTo>
                  <a:pt x="229420" y="193196"/>
                </a:lnTo>
                <a:lnTo>
                  <a:pt x="156972" y="193196"/>
                </a:lnTo>
                <a:lnTo>
                  <a:pt x="156972" y="72449"/>
                </a:lnTo>
                <a:lnTo>
                  <a:pt x="96598" y="0"/>
                </a:lnTo>
                <a:lnTo>
                  <a:pt x="36224" y="72449"/>
                </a:lnTo>
                <a:lnTo>
                  <a:pt x="36224" y="193196"/>
                </a:lnTo>
                <a:lnTo>
                  <a:pt x="0" y="193196"/>
                </a:lnTo>
                <a:lnTo>
                  <a:pt x="0" y="217346"/>
                </a:lnTo>
                <a:lnTo>
                  <a:pt x="36224" y="217346"/>
                </a:lnTo>
                <a:lnTo>
                  <a:pt x="36224" y="507140"/>
                </a:lnTo>
                <a:lnTo>
                  <a:pt x="0" y="507140"/>
                </a:lnTo>
                <a:lnTo>
                  <a:pt x="0" y="531289"/>
                </a:lnTo>
                <a:lnTo>
                  <a:pt x="36224" y="531289"/>
                </a:lnTo>
                <a:lnTo>
                  <a:pt x="36224" y="676187"/>
                </a:lnTo>
                <a:lnTo>
                  <a:pt x="156972" y="676187"/>
                </a:lnTo>
                <a:lnTo>
                  <a:pt x="156972" y="531289"/>
                </a:lnTo>
                <a:lnTo>
                  <a:pt x="229420" y="531289"/>
                </a:lnTo>
                <a:lnTo>
                  <a:pt x="229420" y="676187"/>
                </a:lnTo>
                <a:lnTo>
                  <a:pt x="350168" y="676187"/>
                </a:lnTo>
                <a:lnTo>
                  <a:pt x="350168" y="531289"/>
                </a:lnTo>
                <a:lnTo>
                  <a:pt x="422617" y="531289"/>
                </a:lnTo>
                <a:lnTo>
                  <a:pt x="422617" y="676187"/>
                </a:lnTo>
                <a:lnTo>
                  <a:pt x="543364" y="676187"/>
                </a:lnTo>
                <a:lnTo>
                  <a:pt x="543364" y="531289"/>
                </a:lnTo>
                <a:lnTo>
                  <a:pt x="615813" y="531289"/>
                </a:lnTo>
                <a:lnTo>
                  <a:pt x="615813" y="676187"/>
                </a:lnTo>
                <a:lnTo>
                  <a:pt x="736560" y="676187"/>
                </a:lnTo>
                <a:lnTo>
                  <a:pt x="736560" y="531289"/>
                </a:lnTo>
                <a:lnTo>
                  <a:pt x="809009" y="531289"/>
                </a:lnTo>
                <a:lnTo>
                  <a:pt x="809009" y="676187"/>
                </a:lnTo>
                <a:lnTo>
                  <a:pt x="929757" y="676187"/>
                </a:lnTo>
                <a:lnTo>
                  <a:pt x="929757" y="531289"/>
                </a:lnTo>
                <a:lnTo>
                  <a:pt x="965981" y="531289"/>
                </a:lnTo>
                <a:lnTo>
                  <a:pt x="965981" y="507140"/>
                </a:lnTo>
                <a:lnTo>
                  <a:pt x="929757" y="507140"/>
                </a:lnTo>
                <a:lnTo>
                  <a:pt x="929757" y="217346"/>
                </a:lnTo>
                <a:close/>
                <a:moveTo>
                  <a:pt x="132822" y="169047"/>
                </a:moveTo>
                <a:lnTo>
                  <a:pt x="132822" y="652037"/>
                </a:lnTo>
                <a:lnTo>
                  <a:pt x="60374" y="652037"/>
                </a:lnTo>
                <a:lnTo>
                  <a:pt x="60374" y="81191"/>
                </a:lnTo>
                <a:lnTo>
                  <a:pt x="96598" y="37722"/>
                </a:lnTo>
                <a:lnTo>
                  <a:pt x="132822" y="81191"/>
                </a:lnTo>
                <a:close/>
                <a:moveTo>
                  <a:pt x="156972" y="507140"/>
                </a:moveTo>
                <a:lnTo>
                  <a:pt x="156972" y="217346"/>
                </a:lnTo>
                <a:lnTo>
                  <a:pt x="229420" y="217346"/>
                </a:lnTo>
                <a:lnTo>
                  <a:pt x="229420" y="507140"/>
                </a:lnTo>
                <a:close/>
                <a:moveTo>
                  <a:pt x="326019" y="169047"/>
                </a:moveTo>
                <a:lnTo>
                  <a:pt x="326019" y="652037"/>
                </a:lnTo>
                <a:lnTo>
                  <a:pt x="253570" y="652037"/>
                </a:lnTo>
                <a:lnTo>
                  <a:pt x="253570" y="81191"/>
                </a:lnTo>
                <a:lnTo>
                  <a:pt x="289794" y="37722"/>
                </a:lnTo>
                <a:lnTo>
                  <a:pt x="326019" y="81191"/>
                </a:lnTo>
                <a:close/>
                <a:moveTo>
                  <a:pt x="350168" y="507140"/>
                </a:moveTo>
                <a:lnTo>
                  <a:pt x="350168" y="217346"/>
                </a:lnTo>
                <a:lnTo>
                  <a:pt x="422617" y="217346"/>
                </a:lnTo>
                <a:lnTo>
                  <a:pt x="422617" y="507140"/>
                </a:lnTo>
                <a:close/>
                <a:moveTo>
                  <a:pt x="519215" y="169047"/>
                </a:moveTo>
                <a:lnTo>
                  <a:pt x="519215" y="652037"/>
                </a:lnTo>
                <a:lnTo>
                  <a:pt x="446766" y="652037"/>
                </a:lnTo>
                <a:lnTo>
                  <a:pt x="446766" y="81191"/>
                </a:lnTo>
                <a:lnTo>
                  <a:pt x="482990" y="37722"/>
                </a:lnTo>
                <a:lnTo>
                  <a:pt x="519215" y="81191"/>
                </a:lnTo>
                <a:close/>
                <a:moveTo>
                  <a:pt x="543364" y="507140"/>
                </a:moveTo>
                <a:lnTo>
                  <a:pt x="543364" y="217346"/>
                </a:lnTo>
                <a:lnTo>
                  <a:pt x="615813" y="217346"/>
                </a:lnTo>
                <a:lnTo>
                  <a:pt x="615813" y="507140"/>
                </a:lnTo>
                <a:close/>
                <a:moveTo>
                  <a:pt x="712411" y="169047"/>
                </a:moveTo>
                <a:lnTo>
                  <a:pt x="712411" y="652037"/>
                </a:lnTo>
                <a:lnTo>
                  <a:pt x="639962" y="652037"/>
                </a:lnTo>
                <a:lnTo>
                  <a:pt x="639962" y="81191"/>
                </a:lnTo>
                <a:lnTo>
                  <a:pt x="676187" y="37722"/>
                </a:lnTo>
                <a:lnTo>
                  <a:pt x="712411" y="81191"/>
                </a:lnTo>
                <a:close/>
                <a:moveTo>
                  <a:pt x="736560" y="507140"/>
                </a:moveTo>
                <a:lnTo>
                  <a:pt x="736560" y="217346"/>
                </a:lnTo>
                <a:lnTo>
                  <a:pt x="809009" y="217346"/>
                </a:lnTo>
                <a:lnTo>
                  <a:pt x="809009" y="507140"/>
                </a:lnTo>
                <a:close/>
                <a:moveTo>
                  <a:pt x="905607" y="169047"/>
                </a:moveTo>
                <a:lnTo>
                  <a:pt x="905607" y="652037"/>
                </a:lnTo>
                <a:lnTo>
                  <a:pt x="833158" y="652037"/>
                </a:lnTo>
                <a:lnTo>
                  <a:pt x="833158" y="81191"/>
                </a:lnTo>
                <a:lnTo>
                  <a:pt x="869383" y="37722"/>
                </a:lnTo>
                <a:lnTo>
                  <a:pt x="905607" y="81191"/>
                </a:lnTo>
                <a:close/>
              </a:path>
            </a:pathLst>
          </a:custGeom>
          <a:solidFill>
            <a:schemeClr val="accent2"/>
          </a:solidFill>
          <a:ln w="12005" cap="flat">
            <a:noFill/>
            <a:prstDash val="solid"/>
            <a:miter/>
          </a:ln>
          <a:scene3d>
            <a:camera prst="orthographicFront">
              <a:rot lat="2400000" lon="3000000" rev="0"/>
            </a:camera>
            <a:lightRig rig="threePt" dir="t"/>
          </a:scene3d>
        </p:spPr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244387-B7A1-417C-111D-863C4536E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41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82821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1.85185E-6 C -6.25E-7 0.01342 -0.02891 0.02454 -0.06458 0.02454 C -0.10599 0.02454 -0.12122 0.01227 -0.1276 0.00486 L -0.13385 -0.00486 C -0.14049 -0.01227 -0.15651 -0.02431 -0.20351 -0.02431 C -0.23359 -0.02431 -0.26771 -0.01343 -0.26771 1.85185E-6 C -0.26771 0.01342 -0.23359 0.02454 -0.20351 0.02454 C -0.15651 0.02454 -0.14049 0.01227 -0.13385 0.00486 L -0.1276 -0.00486 C -0.12122 -0.01227 -0.10599 -0.02431 -0.06458 -0.02431 C -0.02891 -0.02431 -6.25E-7 -0.01343 -6.25E-7 1.85185E-6 Z " pathEditMode="relative" rAng="0" ptsTypes="AAAAAAAAAAA">
                                      <p:cBhvr>
                                        <p:cTn id="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385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0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2.08333E-7 0.01782 C -2.08333E-7 0.01296 -0.02409 0.00902 -0.05352 0.00902 L -0.17721 0.00902 C -0.20664 0.00902 -0.2306 0.01296 -0.2306 0.01782 L -0.2306 0.03842 C -0.2306 0.04328 -0.20664 0.04768 -0.17721 0.04768 L -0.05352 0.04768 C -0.02409 0.04768 -2.08333E-7 0.04328 -2.08333E-7 0.03842 L -2.08333E-7 0.01782 Z " pathEditMode="relative" rAng="0" ptsTypes="AAAAAAAAA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536" y="1042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8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33333E-6 0 L 0.14284 0 L 0.17982 -0.03472 L -0.03411 -0.03472 L -3.33333E-6 0 Z " pathEditMode="relative" rAng="0" ptsTypes="AAAAA">
                                      <p:cBhvr>
                                        <p:cTn id="1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79" y="-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3.7037E-7 C 2.91667E-6 0.01296 0.02487 0.02384 0.05547 0.02384 C 0.09153 0.02384 0.10455 0.01181 0.11002 0.00463 L 0.11562 -0.00486 C 0.12122 -0.01181 0.13502 -0.02292 0.17578 -0.02292 C 0.20169 -0.02292 0.23164 -0.01319 0.23164 3.7037E-7 C 0.23164 0.01296 0.20169 0.02384 0.17578 0.02384 C 0.13502 0.02384 0.12122 0.01181 0.11562 0.00463 L 0.11002 -0.00486 C 0.10455 -0.01181 0.09153 -0.02292 0.05547 -0.02292 C 0.02487 -0.02292 2.91667E-6 -0.01319 2.91667E-6 3.7037E-7 Z " pathEditMode="relative" rAng="0" ptsTypes="AAAAAAAAAAA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576" y="4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8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3.33333E-6 3.33333E-6 L 0.14284 3.33333E-6 L 0.17982 -0.03473 L -0.03411 -0.03473 L -3.33333E-6 3.33333E-6 Z " pathEditMode="relative" rAng="0" ptsTypes="AAAAA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79" y="-1736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26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6.25E-7 1.85185E-6 C -6.25E-7 0.01342 -0.02891 0.02454 -0.06458 0.02454 C -0.10599 0.02454 -0.12122 0.01227 -0.1276 0.00486 L -0.13385 -0.00486 C -0.14049 -0.01227 -0.15651 -0.02431 -0.20351 -0.02431 C -0.23359 -0.02431 -0.26771 -0.01343 -0.26771 1.85185E-6 C -0.26771 0.01342 -0.23359 0.02454 -0.20351 0.02454 C -0.15651 0.02454 -0.14049 0.01227 -0.13385 0.00486 L -0.1276 -0.00486 C -0.12122 -0.01227 -0.10599 -0.02431 -0.06458 -0.02431 C -0.02891 -0.02431 -6.25E-7 -0.01343 -6.25E-7 1.85185E-6 Z " pathEditMode="relative" rAng="0" ptsTypes="AAAAAAAAAAA">
                                      <p:cBhvr>
                                        <p:cTn id="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38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22" grpId="0" animBg="1"/>
      <p:bldP spid="2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F07F8-523E-3B23-F2FE-1C4FF3084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DD2C5-716B-6CC9-72DD-DC7182249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ARM: Acquire / Release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A7B62-0354-EEB9-63A0-63CC5798A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dmb</a:t>
            </a:r>
            <a:r>
              <a:rPr lang="en-US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ld</a:t>
            </a:r>
            <a:endParaRPr lang="en-US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dmb</a:t>
            </a:r>
            <a:r>
              <a:rPr lang="en-US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st</a:t>
            </a:r>
            <a:endParaRPr lang="LID4096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8C78B10-5769-9F3E-1B90-AE13243C5966}"/>
              </a:ext>
            </a:extLst>
          </p:cNvPr>
          <p:cNvCxnSpPr/>
          <p:nvPr/>
        </p:nvCxnSpPr>
        <p:spPr>
          <a:xfrm>
            <a:off x="1765677" y="2543209"/>
            <a:ext cx="8067368" cy="0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AECDB92-E46A-C030-4B3C-B88A6EB19071}"/>
              </a:ext>
            </a:extLst>
          </p:cNvPr>
          <p:cNvSpPr/>
          <p:nvPr/>
        </p:nvSpPr>
        <p:spPr>
          <a:xfrm>
            <a:off x="8726917" y="2690693"/>
            <a:ext cx="1106128" cy="42473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  <a:endParaRPr lang="LID4096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C230EEA-E21D-959C-7181-6B494E950ED2}"/>
              </a:ext>
            </a:extLst>
          </p:cNvPr>
          <p:cNvSpPr/>
          <p:nvPr/>
        </p:nvSpPr>
        <p:spPr>
          <a:xfrm>
            <a:off x="8343459" y="3115424"/>
            <a:ext cx="1106128" cy="42473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  <a:endParaRPr lang="LID4096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CB263E-4602-2BD0-EA44-40773AA1BC6D}"/>
              </a:ext>
            </a:extLst>
          </p:cNvPr>
          <p:cNvCxnSpPr/>
          <p:nvPr/>
        </p:nvCxnSpPr>
        <p:spPr>
          <a:xfrm>
            <a:off x="1765677" y="4730162"/>
            <a:ext cx="8067368" cy="0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21DC15AC-C4A2-9014-C712-A7EA0A33DC18}"/>
              </a:ext>
            </a:extLst>
          </p:cNvPr>
          <p:cNvSpPr/>
          <p:nvPr/>
        </p:nvSpPr>
        <p:spPr>
          <a:xfrm>
            <a:off x="1765677" y="4877646"/>
            <a:ext cx="1106128" cy="42473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  <a:endParaRPr lang="LID4096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C9493A8-E513-DA7E-62AE-2EB5FB9FEED3}"/>
              </a:ext>
            </a:extLst>
          </p:cNvPr>
          <p:cNvSpPr/>
          <p:nvPr/>
        </p:nvSpPr>
        <p:spPr>
          <a:xfrm>
            <a:off x="2423611" y="5302377"/>
            <a:ext cx="1106128" cy="42473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  <a:endParaRPr lang="LID4096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C080CE-12BC-507F-70B0-F63989ED89BD}"/>
              </a:ext>
            </a:extLst>
          </p:cNvPr>
          <p:cNvSpPr txBox="1"/>
          <p:nvPr/>
        </p:nvSpPr>
        <p:spPr>
          <a:xfrm>
            <a:off x="2833081" y="1825625"/>
            <a:ext cx="2190023" cy="480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latin typeface="Consolas" panose="020B0609020204030204" pitchFamily="49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LID4096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92E23C-E953-1394-BCA9-D6B2997CFC29}"/>
              </a:ext>
            </a:extLst>
          </p:cNvPr>
          <p:cNvSpPr txBox="1"/>
          <p:nvPr/>
        </p:nvSpPr>
        <p:spPr>
          <a:xfrm>
            <a:off x="3180913" y="1825625"/>
            <a:ext cx="4418066" cy="480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latin typeface="Consolas" panose="020B0609020204030204" pitchFamily="49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 err="1"/>
              <a:t>ldar</a:t>
            </a:r>
            <a:r>
              <a:rPr lang="en-US" dirty="0"/>
              <a:t> – Load Acquire</a:t>
            </a:r>
            <a:endParaRPr lang="LID4096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5E5C07-7C8A-4B72-A3B6-EBEBB0FEAFCB}"/>
              </a:ext>
            </a:extLst>
          </p:cNvPr>
          <p:cNvSpPr txBox="1"/>
          <p:nvPr/>
        </p:nvSpPr>
        <p:spPr>
          <a:xfrm>
            <a:off x="2430745" y="3871343"/>
            <a:ext cx="2190023" cy="480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latin typeface="Consolas" panose="020B0609020204030204" pitchFamily="49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LID4096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614107-D3E9-C769-DDC6-2BE34B98A5EA}"/>
              </a:ext>
            </a:extLst>
          </p:cNvPr>
          <p:cNvSpPr txBox="1"/>
          <p:nvPr/>
        </p:nvSpPr>
        <p:spPr>
          <a:xfrm>
            <a:off x="3180913" y="3872811"/>
            <a:ext cx="4418066" cy="480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latin typeface="Consolas" panose="020B0609020204030204" pitchFamily="49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 err="1"/>
              <a:t>stlr</a:t>
            </a:r>
            <a:r>
              <a:rPr lang="en-US" dirty="0"/>
              <a:t> – Store Release</a:t>
            </a:r>
            <a:endParaRPr lang="LID4096" dirty="0"/>
          </a:p>
        </p:txBody>
      </p:sp>
      <p:sp>
        <p:nvSpPr>
          <p:cNvPr id="16" name="Graphic 15" descr="Fence outline">
            <a:extLst>
              <a:ext uri="{FF2B5EF4-FFF2-40B4-BE49-F238E27FC236}">
                <a16:creationId xmlns:a16="http://schemas.microsoft.com/office/drawing/2014/main" id="{D64240EF-E360-1B23-C8BD-8A14167FC109}"/>
              </a:ext>
            </a:extLst>
          </p:cNvPr>
          <p:cNvSpPr/>
          <p:nvPr/>
        </p:nvSpPr>
        <p:spPr>
          <a:xfrm>
            <a:off x="4940824" y="2406107"/>
            <a:ext cx="1394576" cy="1047193"/>
          </a:xfrm>
          <a:custGeom>
            <a:avLst/>
            <a:gdLst>
              <a:gd name="csX0" fmla="*/ 965981 w 965980"/>
              <a:gd name="csY0" fmla="*/ 217346 h 676186"/>
              <a:gd name="csX1" fmla="*/ 965981 w 965980"/>
              <a:gd name="csY1" fmla="*/ 193196 h 676186"/>
              <a:gd name="csX2" fmla="*/ 929757 w 965980"/>
              <a:gd name="csY2" fmla="*/ 193196 h 676186"/>
              <a:gd name="csX3" fmla="*/ 929757 w 965980"/>
              <a:gd name="csY3" fmla="*/ 72449 h 676186"/>
              <a:gd name="csX4" fmla="*/ 869383 w 965980"/>
              <a:gd name="csY4" fmla="*/ 0 h 676186"/>
              <a:gd name="csX5" fmla="*/ 809009 w 965980"/>
              <a:gd name="csY5" fmla="*/ 72449 h 676186"/>
              <a:gd name="csX6" fmla="*/ 809009 w 965980"/>
              <a:gd name="csY6" fmla="*/ 193196 h 676186"/>
              <a:gd name="csX7" fmla="*/ 736560 w 965980"/>
              <a:gd name="csY7" fmla="*/ 193196 h 676186"/>
              <a:gd name="csX8" fmla="*/ 736560 w 965980"/>
              <a:gd name="csY8" fmla="*/ 72449 h 676186"/>
              <a:gd name="csX9" fmla="*/ 676187 w 965980"/>
              <a:gd name="csY9" fmla="*/ 0 h 676186"/>
              <a:gd name="csX10" fmla="*/ 615813 w 965980"/>
              <a:gd name="csY10" fmla="*/ 72449 h 676186"/>
              <a:gd name="csX11" fmla="*/ 615813 w 965980"/>
              <a:gd name="csY11" fmla="*/ 193196 h 676186"/>
              <a:gd name="csX12" fmla="*/ 543364 w 965980"/>
              <a:gd name="csY12" fmla="*/ 193196 h 676186"/>
              <a:gd name="csX13" fmla="*/ 543364 w 965980"/>
              <a:gd name="csY13" fmla="*/ 72449 h 676186"/>
              <a:gd name="csX14" fmla="*/ 482990 w 965980"/>
              <a:gd name="csY14" fmla="*/ 0 h 676186"/>
              <a:gd name="csX15" fmla="*/ 422617 w 965980"/>
              <a:gd name="csY15" fmla="*/ 72449 h 676186"/>
              <a:gd name="csX16" fmla="*/ 422617 w 965980"/>
              <a:gd name="csY16" fmla="*/ 193196 h 676186"/>
              <a:gd name="csX17" fmla="*/ 350168 w 965980"/>
              <a:gd name="csY17" fmla="*/ 193196 h 676186"/>
              <a:gd name="csX18" fmla="*/ 350168 w 965980"/>
              <a:gd name="csY18" fmla="*/ 72449 h 676186"/>
              <a:gd name="csX19" fmla="*/ 289794 w 965980"/>
              <a:gd name="csY19" fmla="*/ 0 h 676186"/>
              <a:gd name="csX20" fmla="*/ 229420 w 965980"/>
              <a:gd name="csY20" fmla="*/ 72449 h 676186"/>
              <a:gd name="csX21" fmla="*/ 229420 w 965980"/>
              <a:gd name="csY21" fmla="*/ 193196 h 676186"/>
              <a:gd name="csX22" fmla="*/ 156972 w 965980"/>
              <a:gd name="csY22" fmla="*/ 193196 h 676186"/>
              <a:gd name="csX23" fmla="*/ 156972 w 965980"/>
              <a:gd name="csY23" fmla="*/ 72449 h 676186"/>
              <a:gd name="csX24" fmla="*/ 96598 w 965980"/>
              <a:gd name="csY24" fmla="*/ 0 h 676186"/>
              <a:gd name="csX25" fmla="*/ 36224 w 965980"/>
              <a:gd name="csY25" fmla="*/ 72449 h 676186"/>
              <a:gd name="csX26" fmla="*/ 36224 w 965980"/>
              <a:gd name="csY26" fmla="*/ 193196 h 676186"/>
              <a:gd name="csX27" fmla="*/ 0 w 965980"/>
              <a:gd name="csY27" fmla="*/ 193196 h 676186"/>
              <a:gd name="csX28" fmla="*/ 0 w 965980"/>
              <a:gd name="csY28" fmla="*/ 217346 h 676186"/>
              <a:gd name="csX29" fmla="*/ 36224 w 965980"/>
              <a:gd name="csY29" fmla="*/ 217346 h 676186"/>
              <a:gd name="csX30" fmla="*/ 36224 w 965980"/>
              <a:gd name="csY30" fmla="*/ 507140 h 676186"/>
              <a:gd name="csX31" fmla="*/ 0 w 965980"/>
              <a:gd name="csY31" fmla="*/ 507140 h 676186"/>
              <a:gd name="csX32" fmla="*/ 0 w 965980"/>
              <a:gd name="csY32" fmla="*/ 531289 h 676186"/>
              <a:gd name="csX33" fmla="*/ 36224 w 965980"/>
              <a:gd name="csY33" fmla="*/ 531289 h 676186"/>
              <a:gd name="csX34" fmla="*/ 36224 w 965980"/>
              <a:gd name="csY34" fmla="*/ 676187 h 676186"/>
              <a:gd name="csX35" fmla="*/ 156972 w 965980"/>
              <a:gd name="csY35" fmla="*/ 676187 h 676186"/>
              <a:gd name="csX36" fmla="*/ 156972 w 965980"/>
              <a:gd name="csY36" fmla="*/ 531289 h 676186"/>
              <a:gd name="csX37" fmla="*/ 229420 w 965980"/>
              <a:gd name="csY37" fmla="*/ 531289 h 676186"/>
              <a:gd name="csX38" fmla="*/ 229420 w 965980"/>
              <a:gd name="csY38" fmla="*/ 676187 h 676186"/>
              <a:gd name="csX39" fmla="*/ 350168 w 965980"/>
              <a:gd name="csY39" fmla="*/ 676187 h 676186"/>
              <a:gd name="csX40" fmla="*/ 350168 w 965980"/>
              <a:gd name="csY40" fmla="*/ 531289 h 676186"/>
              <a:gd name="csX41" fmla="*/ 422617 w 965980"/>
              <a:gd name="csY41" fmla="*/ 531289 h 676186"/>
              <a:gd name="csX42" fmla="*/ 422617 w 965980"/>
              <a:gd name="csY42" fmla="*/ 676187 h 676186"/>
              <a:gd name="csX43" fmla="*/ 543364 w 965980"/>
              <a:gd name="csY43" fmla="*/ 676187 h 676186"/>
              <a:gd name="csX44" fmla="*/ 543364 w 965980"/>
              <a:gd name="csY44" fmla="*/ 531289 h 676186"/>
              <a:gd name="csX45" fmla="*/ 615813 w 965980"/>
              <a:gd name="csY45" fmla="*/ 531289 h 676186"/>
              <a:gd name="csX46" fmla="*/ 615813 w 965980"/>
              <a:gd name="csY46" fmla="*/ 676187 h 676186"/>
              <a:gd name="csX47" fmla="*/ 736560 w 965980"/>
              <a:gd name="csY47" fmla="*/ 676187 h 676186"/>
              <a:gd name="csX48" fmla="*/ 736560 w 965980"/>
              <a:gd name="csY48" fmla="*/ 531289 h 676186"/>
              <a:gd name="csX49" fmla="*/ 809009 w 965980"/>
              <a:gd name="csY49" fmla="*/ 531289 h 676186"/>
              <a:gd name="csX50" fmla="*/ 809009 w 965980"/>
              <a:gd name="csY50" fmla="*/ 676187 h 676186"/>
              <a:gd name="csX51" fmla="*/ 929757 w 965980"/>
              <a:gd name="csY51" fmla="*/ 676187 h 676186"/>
              <a:gd name="csX52" fmla="*/ 929757 w 965980"/>
              <a:gd name="csY52" fmla="*/ 531289 h 676186"/>
              <a:gd name="csX53" fmla="*/ 965981 w 965980"/>
              <a:gd name="csY53" fmla="*/ 531289 h 676186"/>
              <a:gd name="csX54" fmla="*/ 965981 w 965980"/>
              <a:gd name="csY54" fmla="*/ 507140 h 676186"/>
              <a:gd name="csX55" fmla="*/ 929757 w 965980"/>
              <a:gd name="csY55" fmla="*/ 507140 h 676186"/>
              <a:gd name="csX56" fmla="*/ 929757 w 965980"/>
              <a:gd name="csY56" fmla="*/ 217346 h 676186"/>
              <a:gd name="csX57" fmla="*/ 132822 w 965980"/>
              <a:gd name="csY57" fmla="*/ 169047 h 676186"/>
              <a:gd name="csX58" fmla="*/ 132822 w 965980"/>
              <a:gd name="csY58" fmla="*/ 652037 h 676186"/>
              <a:gd name="csX59" fmla="*/ 60374 w 965980"/>
              <a:gd name="csY59" fmla="*/ 652037 h 676186"/>
              <a:gd name="csX60" fmla="*/ 60374 w 965980"/>
              <a:gd name="csY60" fmla="*/ 81191 h 676186"/>
              <a:gd name="csX61" fmla="*/ 96598 w 965980"/>
              <a:gd name="csY61" fmla="*/ 37722 h 676186"/>
              <a:gd name="csX62" fmla="*/ 132822 w 965980"/>
              <a:gd name="csY62" fmla="*/ 81191 h 676186"/>
              <a:gd name="csX63" fmla="*/ 156972 w 965980"/>
              <a:gd name="csY63" fmla="*/ 507140 h 676186"/>
              <a:gd name="csX64" fmla="*/ 156972 w 965980"/>
              <a:gd name="csY64" fmla="*/ 217346 h 676186"/>
              <a:gd name="csX65" fmla="*/ 229420 w 965980"/>
              <a:gd name="csY65" fmla="*/ 217346 h 676186"/>
              <a:gd name="csX66" fmla="*/ 229420 w 965980"/>
              <a:gd name="csY66" fmla="*/ 507140 h 676186"/>
              <a:gd name="csX67" fmla="*/ 326019 w 965980"/>
              <a:gd name="csY67" fmla="*/ 169047 h 676186"/>
              <a:gd name="csX68" fmla="*/ 326019 w 965980"/>
              <a:gd name="csY68" fmla="*/ 652037 h 676186"/>
              <a:gd name="csX69" fmla="*/ 253570 w 965980"/>
              <a:gd name="csY69" fmla="*/ 652037 h 676186"/>
              <a:gd name="csX70" fmla="*/ 253570 w 965980"/>
              <a:gd name="csY70" fmla="*/ 81191 h 676186"/>
              <a:gd name="csX71" fmla="*/ 289794 w 965980"/>
              <a:gd name="csY71" fmla="*/ 37722 h 676186"/>
              <a:gd name="csX72" fmla="*/ 326019 w 965980"/>
              <a:gd name="csY72" fmla="*/ 81191 h 676186"/>
              <a:gd name="csX73" fmla="*/ 350168 w 965980"/>
              <a:gd name="csY73" fmla="*/ 507140 h 676186"/>
              <a:gd name="csX74" fmla="*/ 350168 w 965980"/>
              <a:gd name="csY74" fmla="*/ 217346 h 676186"/>
              <a:gd name="csX75" fmla="*/ 422617 w 965980"/>
              <a:gd name="csY75" fmla="*/ 217346 h 676186"/>
              <a:gd name="csX76" fmla="*/ 422617 w 965980"/>
              <a:gd name="csY76" fmla="*/ 507140 h 676186"/>
              <a:gd name="csX77" fmla="*/ 519215 w 965980"/>
              <a:gd name="csY77" fmla="*/ 169047 h 676186"/>
              <a:gd name="csX78" fmla="*/ 519215 w 965980"/>
              <a:gd name="csY78" fmla="*/ 652037 h 676186"/>
              <a:gd name="csX79" fmla="*/ 446766 w 965980"/>
              <a:gd name="csY79" fmla="*/ 652037 h 676186"/>
              <a:gd name="csX80" fmla="*/ 446766 w 965980"/>
              <a:gd name="csY80" fmla="*/ 81191 h 676186"/>
              <a:gd name="csX81" fmla="*/ 482990 w 965980"/>
              <a:gd name="csY81" fmla="*/ 37722 h 676186"/>
              <a:gd name="csX82" fmla="*/ 519215 w 965980"/>
              <a:gd name="csY82" fmla="*/ 81191 h 676186"/>
              <a:gd name="csX83" fmla="*/ 543364 w 965980"/>
              <a:gd name="csY83" fmla="*/ 507140 h 676186"/>
              <a:gd name="csX84" fmla="*/ 543364 w 965980"/>
              <a:gd name="csY84" fmla="*/ 217346 h 676186"/>
              <a:gd name="csX85" fmla="*/ 615813 w 965980"/>
              <a:gd name="csY85" fmla="*/ 217346 h 676186"/>
              <a:gd name="csX86" fmla="*/ 615813 w 965980"/>
              <a:gd name="csY86" fmla="*/ 507140 h 676186"/>
              <a:gd name="csX87" fmla="*/ 712411 w 965980"/>
              <a:gd name="csY87" fmla="*/ 169047 h 676186"/>
              <a:gd name="csX88" fmla="*/ 712411 w 965980"/>
              <a:gd name="csY88" fmla="*/ 652037 h 676186"/>
              <a:gd name="csX89" fmla="*/ 639962 w 965980"/>
              <a:gd name="csY89" fmla="*/ 652037 h 676186"/>
              <a:gd name="csX90" fmla="*/ 639962 w 965980"/>
              <a:gd name="csY90" fmla="*/ 81191 h 676186"/>
              <a:gd name="csX91" fmla="*/ 676187 w 965980"/>
              <a:gd name="csY91" fmla="*/ 37722 h 676186"/>
              <a:gd name="csX92" fmla="*/ 712411 w 965980"/>
              <a:gd name="csY92" fmla="*/ 81191 h 676186"/>
              <a:gd name="csX93" fmla="*/ 736560 w 965980"/>
              <a:gd name="csY93" fmla="*/ 507140 h 676186"/>
              <a:gd name="csX94" fmla="*/ 736560 w 965980"/>
              <a:gd name="csY94" fmla="*/ 217346 h 676186"/>
              <a:gd name="csX95" fmla="*/ 809009 w 965980"/>
              <a:gd name="csY95" fmla="*/ 217346 h 676186"/>
              <a:gd name="csX96" fmla="*/ 809009 w 965980"/>
              <a:gd name="csY96" fmla="*/ 507140 h 676186"/>
              <a:gd name="csX97" fmla="*/ 905607 w 965980"/>
              <a:gd name="csY97" fmla="*/ 169047 h 676186"/>
              <a:gd name="csX98" fmla="*/ 905607 w 965980"/>
              <a:gd name="csY98" fmla="*/ 652037 h 676186"/>
              <a:gd name="csX99" fmla="*/ 833158 w 965980"/>
              <a:gd name="csY99" fmla="*/ 652037 h 676186"/>
              <a:gd name="csX100" fmla="*/ 833158 w 965980"/>
              <a:gd name="csY100" fmla="*/ 81191 h 676186"/>
              <a:gd name="csX101" fmla="*/ 869383 w 965980"/>
              <a:gd name="csY101" fmla="*/ 37722 h 676186"/>
              <a:gd name="csX102" fmla="*/ 905607 w 965980"/>
              <a:gd name="csY102" fmla="*/ 81191 h 6761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</a:cxnLst>
            <a:rect l="l" t="t" r="r" b="b"/>
            <a:pathLst>
              <a:path w="965980" h="676186">
                <a:moveTo>
                  <a:pt x="965981" y="217346"/>
                </a:moveTo>
                <a:lnTo>
                  <a:pt x="965981" y="193196"/>
                </a:lnTo>
                <a:lnTo>
                  <a:pt x="929757" y="193196"/>
                </a:lnTo>
                <a:lnTo>
                  <a:pt x="929757" y="72449"/>
                </a:lnTo>
                <a:lnTo>
                  <a:pt x="869383" y="0"/>
                </a:lnTo>
                <a:lnTo>
                  <a:pt x="809009" y="72449"/>
                </a:lnTo>
                <a:lnTo>
                  <a:pt x="809009" y="193196"/>
                </a:lnTo>
                <a:lnTo>
                  <a:pt x="736560" y="193196"/>
                </a:lnTo>
                <a:lnTo>
                  <a:pt x="736560" y="72449"/>
                </a:lnTo>
                <a:lnTo>
                  <a:pt x="676187" y="0"/>
                </a:lnTo>
                <a:lnTo>
                  <a:pt x="615813" y="72449"/>
                </a:lnTo>
                <a:lnTo>
                  <a:pt x="615813" y="193196"/>
                </a:lnTo>
                <a:lnTo>
                  <a:pt x="543364" y="193196"/>
                </a:lnTo>
                <a:lnTo>
                  <a:pt x="543364" y="72449"/>
                </a:lnTo>
                <a:lnTo>
                  <a:pt x="482990" y="0"/>
                </a:lnTo>
                <a:lnTo>
                  <a:pt x="422617" y="72449"/>
                </a:lnTo>
                <a:lnTo>
                  <a:pt x="422617" y="193196"/>
                </a:lnTo>
                <a:lnTo>
                  <a:pt x="350168" y="193196"/>
                </a:lnTo>
                <a:lnTo>
                  <a:pt x="350168" y="72449"/>
                </a:lnTo>
                <a:lnTo>
                  <a:pt x="289794" y="0"/>
                </a:lnTo>
                <a:lnTo>
                  <a:pt x="229420" y="72449"/>
                </a:lnTo>
                <a:lnTo>
                  <a:pt x="229420" y="193196"/>
                </a:lnTo>
                <a:lnTo>
                  <a:pt x="156972" y="193196"/>
                </a:lnTo>
                <a:lnTo>
                  <a:pt x="156972" y="72449"/>
                </a:lnTo>
                <a:lnTo>
                  <a:pt x="96598" y="0"/>
                </a:lnTo>
                <a:lnTo>
                  <a:pt x="36224" y="72449"/>
                </a:lnTo>
                <a:lnTo>
                  <a:pt x="36224" y="193196"/>
                </a:lnTo>
                <a:lnTo>
                  <a:pt x="0" y="193196"/>
                </a:lnTo>
                <a:lnTo>
                  <a:pt x="0" y="217346"/>
                </a:lnTo>
                <a:lnTo>
                  <a:pt x="36224" y="217346"/>
                </a:lnTo>
                <a:lnTo>
                  <a:pt x="36224" y="507140"/>
                </a:lnTo>
                <a:lnTo>
                  <a:pt x="0" y="507140"/>
                </a:lnTo>
                <a:lnTo>
                  <a:pt x="0" y="531289"/>
                </a:lnTo>
                <a:lnTo>
                  <a:pt x="36224" y="531289"/>
                </a:lnTo>
                <a:lnTo>
                  <a:pt x="36224" y="676187"/>
                </a:lnTo>
                <a:lnTo>
                  <a:pt x="156972" y="676187"/>
                </a:lnTo>
                <a:lnTo>
                  <a:pt x="156972" y="531289"/>
                </a:lnTo>
                <a:lnTo>
                  <a:pt x="229420" y="531289"/>
                </a:lnTo>
                <a:lnTo>
                  <a:pt x="229420" y="676187"/>
                </a:lnTo>
                <a:lnTo>
                  <a:pt x="350168" y="676187"/>
                </a:lnTo>
                <a:lnTo>
                  <a:pt x="350168" y="531289"/>
                </a:lnTo>
                <a:lnTo>
                  <a:pt x="422617" y="531289"/>
                </a:lnTo>
                <a:lnTo>
                  <a:pt x="422617" y="676187"/>
                </a:lnTo>
                <a:lnTo>
                  <a:pt x="543364" y="676187"/>
                </a:lnTo>
                <a:lnTo>
                  <a:pt x="543364" y="531289"/>
                </a:lnTo>
                <a:lnTo>
                  <a:pt x="615813" y="531289"/>
                </a:lnTo>
                <a:lnTo>
                  <a:pt x="615813" y="676187"/>
                </a:lnTo>
                <a:lnTo>
                  <a:pt x="736560" y="676187"/>
                </a:lnTo>
                <a:lnTo>
                  <a:pt x="736560" y="531289"/>
                </a:lnTo>
                <a:lnTo>
                  <a:pt x="809009" y="531289"/>
                </a:lnTo>
                <a:lnTo>
                  <a:pt x="809009" y="676187"/>
                </a:lnTo>
                <a:lnTo>
                  <a:pt x="929757" y="676187"/>
                </a:lnTo>
                <a:lnTo>
                  <a:pt x="929757" y="531289"/>
                </a:lnTo>
                <a:lnTo>
                  <a:pt x="965981" y="531289"/>
                </a:lnTo>
                <a:lnTo>
                  <a:pt x="965981" y="507140"/>
                </a:lnTo>
                <a:lnTo>
                  <a:pt x="929757" y="507140"/>
                </a:lnTo>
                <a:lnTo>
                  <a:pt x="929757" y="217346"/>
                </a:lnTo>
                <a:close/>
                <a:moveTo>
                  <a:pt x="132822" y="169047"/>
                </a:moveTo>
                <a:lnTo>
                  <a:pt x="132822" y="652037"/>
                </a:lnTo>
                <a:lnTo>
                  <a:pt x="60374" y="652037"/>
                </a:lnTo>
                <a:lnTo>
                  <a:pt x="60374" y="81191"/>
                </a:lnTo>
                <a:lnTo>
                  <a:pt x="96598" y="37722"/>
                </a:lnTo>
                <a:lnTo>
                  <a:pt x="132822" y="81191"/>
                </a:lnTo>
                <a:close/>
                <a:moveTo>
                  <a:pt x="156972" y="507140"/>
                </a:moveTo>
                <a:lnTo>
                  <a:pt x="156972" y="217346"/>
                </a:lnTo>
                <a:lnTo>
                  <a:pt x="229420" y="217346"/>
                </a:lnTo>
                <a:lnTo>
                  <a:pt x="229420" y="507140"/>
                </a:lnTo>
                <a:close/>
                <a:moveTo>
                  <a:pt x="326019" y="169047"/>
                </a:moveTo>
                <a:lnTo>
                  <a:pt x="326019" y="652037"/>
                </a:lnTo>
                <a:lnTo>
                  <a:pt x="253570" y="652037"/>
                </a:lnTo>
                <a:lnTo>
                  <a:pt x="253570" y="81191"/>
                </a:lnTo>
                <a:lnTo>
                  <a:pt x="289794" y="37722"/>
                </a:lnTo>
                <a:lnTo>
                  <a:pt x="326019" y="81191"/>
                </a:lnTo>
                <a:close/>
                <a:moveTo>
                  <a:pt x="350168" y="507140"/>
                </a:moveTo>
                <a:lnTo>
                  <a:pt x="350168" y="217346"/>
                </a:lnTo>
                <a:lnTo>
                  <a:pt x="422617" y="217346"/>
                </a:lnTo>
                <a:lnTo>
                  <a:pt x="422617" y="507140"/>
                </a:lnTo>
                <a:close/>
                <a:moveTo>
                  <a:pt x="519215" y="169047"/>
                </a:moveTo>
                <a:lnTo>
                  <a:pt x="519215" y="652037"/>
                </a:lnTo>
                <a:lnTo>
                  <a:pt x="446766" y="652037"/>
                </a:lnTo>
                <a:lnTo>
                  <a:pt x="446766" y="81191"/>
                </a:lnTo>
                <a:lnTo>
                  <a:pt x="482990" y="37722"/>
                </a:lnTo>
                <a:lnTo>
                  <a:pt x="519215" y="81191"/>
                </a:lnTo>
                <a:close/>
                <a:moveTo>
                  <a:pt x="543364" y="507140"/>
                </a:moveTo>
                <a:lnTo>
                  <a:pt x="543364" y="217346"/>
                </a:lnTo>
                <a:lnTo>
                  <a:pt x="615813" y="217346"/>
                </a:lnTo>
                <a:lnTo>
                  <a:pt x="615813" y="507140"/>
                </a:lnTo>
                <a:close/>
                <a:moveTo>
                  <a:pt x="712411" y="169047"/>
                </a:moveTo>
                <a:lnTo>
                  <a:pt x="712411" y="652037"/>
                </a:lnTo>
                <a:lnTo>
                  <a:pt x="639962" y="652037"/>
                </a:lnTo>
                <a:lnTo>
                  <a:pt x="639962" y="81191"/>
                </a:lnTo>
                <a:lnTo>
                  <a:pt x="676187" y="37722"/>
                </a:lnTo>
                <a:lnTo>
                  <a:pt x="712411" y="81191"/>
                </a:lnTo>
                <a:close/>
                <a:moveTo>
                  <a:pt x="736560" y="507140"/>
                </a:moveTo>
                <a:lnTo>
                  <a:pt x="736560" y="217346"/>
                </a:lnTo>
                <a:lnTo>
                  <a:pt x="809009" y="217346"/>
                </a:lnTo>
                <a:lnTo>
                  <a:pt x="809009" y="507140"/>
                </a:lnTo>
                <a:close/>
                <a:moveTo>
                  <a:pt x="905607" y="169047"/>
                </a:moveTo>
                <a:lnTo>
                  <a:pt x="905607" y="652037"/>
                </a:lnTo>
                <a:lnTo>
                  <a:pt x="833158" y="652037"/>
                </a:lnTo>
                <a:lnTo>
                  <a:pt x="833158" y="81191"/>
                </a:lnTo>
                <a:lnTo>
                  <a:pt x="869383" y="37722"/>
                </a:lnTo>
                <a:lnTo>
                  <a:pt x="905607" y="81191"/>
                </a:lnTo>
                <a:close/>
              </a:path>
            </a:pathLst>
          </a:custGeom>
          <a:solidFill>
            <a:schemeClr val="accent2"/>
          </a:solidFill>
          <a:ln w="12005" cap="flat">
            <a:noFill/>
            <a:prstDash val="solid"/>
            <a:miter/>
          </a:ln>
          <a:scene3d>
            <a:camera prst="orthographicFront">
              <a:rot lat="2400000" lon="3000000" rev="0"/>
            </a:camera>
            <a:lightRig rig="threePt" dir="t"/>
          </a:scene3d>
        </p:spPr>
        <p:txBody>
          <a:bodyPr/>
          <a:lstStyle/>
          <a:p>
            <a:endParaRPr lang="LID4096"/>
          </a:p>
        </p:txBody>
      </p:sp>
      <p:sp>
        <p:nvSpPr>
          <p:cNvPr id="15" name="Graphic 15" descr="Fence outline">
            <a:extLst>
              <a:ext uri="{FF2B5EF4-FFF2-40B4-BE49-F238E27FC236}">
                <a16:creationId xmlns:a16="http://schemas.microsoft.com/office/drawing/2014/main" id="{A227C79B-61AB-DB2D-28DF-362B93152706}"/>
              </a:ext>
            </a:extLst>
          </p:cNvPr>
          <p:cNvSpPr/>
          <p:nvPr/>
        </p:nvSpPr>
        <p:spPr>
          <a:xfrm>
            <a:off x="4910344" y="4679915"/>
            <a:ext cx="1394576" cy="1047193"/>
          </a:xfrm>
          <a:custGeom>
            <a:avLst/>
            <a:gdLst>
              <a:gd name="csX0" fmla="*/ 965981 w 965980"/>
              <a:gd name="csY0" fmla="*/ 217346 h 676186"/>
              <a:gd name="csX1" fmla="*/ 965981 w 965980"/>
              <a:gd name="csY1" fmla="*/ 193196 h 676186"/>
              <a:gd name="csX2" fmla="*/ 929757 w 965980"/>
              <a:gd name="csY2" fmla="*/ 193196 h 676186"/>
              <a:gd name="csX3" fmla="*/ 929757 w 965980"/>
              <a:gd name="csY3" fmla="*/ 72449 h 676186"/>
              <a:gd name="csX4" fmla="*/ 869383 w 965980"/>
              <a:gd name="csY4" fmla="*/ 0 h 676186"/>
              <a:gd name="csX5" fmla="*/ 809009 w 965980"/>
              <a:gd name="csY5" fmla="*/ 72449 h 676186"/>
              <a:gd name="csX6" fmla="*/ 809009 w 965980"/>
              <a:gd name="csY6" fmla="*/ 193196 h 676186"/>
              <a:gd name="csX7" fmla="*/ 736560 w 965980"/>
              <a:gd name="csY7" fmla="*/ 193196 h 676186"/>
              <a:gd name="csX8" fmla="*/ 736560 w 965980"/>
              <a:gd name="csY8" fmla="*/ 72449 h 676186"/>
              <a:gd name="csX9" fmla="*/ 676187 w 965980"/>
              <a:gd name="csY9" fmla="*/ 0 h 676186"/>
              <a:gd name="csX10" fmla="*/ 615813 w 965980"/>
              <a:gd name="csY10" fmla="*/ 72449 h 676186"/>
              <a:gd name="csX11" fmla="*/ 615813 w 965980"/>
              <a:gd name="csY11" fmla="*/ 193196 h 676186"/>
              <a:gd name="csX12" fmla="*/ 543364 w 965980"/>
              <a:gd name="csY12" fmla="*/ 193196 h 676186"/>
              <a:gd name="csX13" fmla="*/ 543364 w 965980"/>
              <a:gd name="csY13" fmla="*/ 72449 h 676186"/>
              <a:gd name="csX14" fmla="*/ 482990 w 965980"/>
              <a:gd name="csY14" fmla="*/ 0 h 676186"/>
              <a:gd name="csX15" fmla="*/ 422617 w 965980"/>
              <a:gd name="csY15" fmla="*/ 72449 h 676186"/>
              <a:gd name="csX16" fmla="*/ 422617 w 965980"/>
              <a:gd name="csY16" fmla="*/ 193196 h 676186"/>
              <a:gd name="csX17" fmla="*/ 350168 w 965980"/>
              <a:gd name="csY17" fmla="*/ 193196 h 676186"/>
              <a:gd name="csX18" fmla="*/ 350168 w 965980"/>
              <a:gd name="csY18" fmla="*/ 72449 h 676186"/>
              <a:gd name="csX19" fmla="*/ 289794 w 965980"/>
              <a:gd name="csY19" fmla="*/ 0 h 676186"/>
              <a:gd name="csX20" fmla="*/ 229420 w 965980"/>
              <a:gd name="csY20" fmla="*/ 72449 h 676186"/>
              <a:gd name="csX21" fmla="*/ 229420 w 965980"/>
              <a:gd name="csY21" fmla="*/ 193196 h 676186"/>
              <a:gd name="csX22" fmla="*/ 156972 w 965980"/>
              <a:gd name="csY22" fmla="*/ 193196 h 676186"/>
              <a:gd name="csX23" fmla="*/ 156972 w 965980"/>
              <a:gd name="csY23" fmla="*/ 72449 h 676186"/>
              <a:gd name="csX24" fmla="*/ 96598 w 965980"/>
              <a:gd name="csY24" fmla="*/ 0 h 676186"/>
              <a:gd name="csX25" fmla="*/ 36224 w 965980"/>
              <a:gd name="csY25" fmla="*/ 72449 h 676186"/>
              <a:gd name="csX26" fmla="*/ 36224 w 965980"/>
              <a:gd name="csY26" fmla="*/ 193196 h 676186"/>
              <a:gd name="csX27" fmla="*/ 0 w 965980"/>
              <a:gd name="csY27" fmla="*/ 193196 h 676186"/>
              <a:gd name="csX28" fmla="*/ 0 w 965980"/>
              <a:gd name="csY28" fmla="*/ 217346 h 676186"/>
              <a:gd name="csX29" fmla="*/ 36224 w 965980"/>
              <a:gd name="csY29" fmla="*/ 217346 h 676186"/>
              <a:gd name="csX30" fmla="*/ 36224 w 965980"/>
              <a:gd name="csY30" fmla="*/ 507140 h 676186"/>
              <a:gd name="csX31" fmla="*/ 0 w 965980"/>
              <a:gd name="csY31" fmla="*/ 507140 h 676186"/>
              <a:gd name="csX32" fmla="*/ 0 w 965980"/>
              <a:gd name="csY32" fmla="*/ 531289 h 676186"/>
              <a:gd name="csX33" fmla="*/ 36224 w 965980"/>
              <a:gd name="csY33" fmla="*/ 531289 h 676186"/>
              <a:gd name="csX34" fmla="*/ 36224 w 965980"/>
              <a:gd name="csY34" fmla="*/ 676187 h 676186"/>
              <a:gd name="csX35" fmla="*/ 156972 w 965980"/>
              <a:gd name="csY35" fmla="*/ 676187 h 676186"/>
              <a:gd name="csX36" fmla="*/ 156972 w 965980"/>
              <a:gd name="csY36" fmla="*/ 531289 h 676186"/>
              <a:gd name="csX37" fmla="*/ 229420 w 965980"/>
              <a:gd name="csY37" fmla="*/ 531289 h 676186"/>
              <a:gd name="csX38" fmla="*/ 229420 w 965980"/>
              <a:gd name="csY38" fmla="*/ 676187 h 676186"/>
              <a:gd name="csX39" fmla="*/ 350168 w 965980"/>
              <a:gd name="csY39" fmla="*/ 676187 h 676186"/>
              <a:gd name="csX40" fmla="*/ 350168 w 965980"/>
              <a:gd name="csY40" fmla="*/ 531289 h 676186"/>
              <a:gd name="csX41" fmla="*/ 422617 w 965980"/>
              <a:gd name="csY41" fmla="*/ 531289 h 676186"/>
              <a:gd name="csX42" fmla="*/ 422617 w 965980"/>
              <a:gd name="csY42" fmla="*/ 676187 h 676186"/>
              <a:gd name="csX43" fmla="*/ 543364 w 965980"/>
              <a:gd name="csY43" fmla="*/ 676187 h 676186"/>
              <a:gd name="csX44" fmla="*/ 543364 w 965980"/>
              <a:gd name="csY44" fmla="*/ 531289 h 676186"/>
              <a:gd name="csX45" fmla="*/ 615813 w 965980"/>
              <a:gd name="csY45" fmla="*/ 531289 h 676186"/>
              <a:gd name="csX46" fmla="*/ 615813 w 965980"/>
              <a:gd name="csY46" fmla="*/ 676187 h 676186"/>
              <a:gd name="csX47" fmla="*/ 736560 w 965980"/>
              <a:gd name="csY47" fmla="*/ 676187 h 676186"/>
              <a:gd name="csX48" fmla="*/ 736560 w 965980"/>
              <a:gd name="csY48" fmla="*/ 531289 h 676186"/>
              <a:gd name="csX49" fmla="*/ 809009 w 965980"/>
              <a:gd name="csY49" fmla="*/ 531289 h 676186"/>
              <a:gd name="csX50" fmla="*/ 809009 w 965980"/>
              <a:gd name="csY50" fmla="*/ 676187 h 676186"/>
              <a:gd name="csX51" fmla="*/ 929757 w 965980"/>
              <a:gd name="csY51" fmla="*/ 676187 h 676186"/>
              <a:gd name="csX52" fmla="*/ 929757 w 965980"/>
              <a:gd name="csY52" fmla="*/ 531289 h 676186"/>
              <a:gd name="csX53" fmla="*/ 965981 w 965980"/>
              <a:gd name="csY53" fmla="*/ 531289 h 676186"/>
              <a:gd name="csX54" fmla="*/ 965981 w 965980"/>
              <a:gd name="csY54" fmla="*/ 507140 h 676186"/>
              <a:gd name="csX55" fmla="*/ 929757 w 965980"/>
              <a:gd name="csY55" fmla="*/ 507140 h 676186"/>
              <a:gd name="csX56" fmla="*/ 929757 w 965980"/>
              <a:gd name="csY56" fmla="*/ 217346 h 676186"/>
              <a:gd name="csX57" fmla="*/ 132822 w 965980"/>
              <a:gd name="csY57" fmla="*/ 169047 h 676186"/>
              <a:gd name="csX58" fmla="*/ 132822 w 965980"/>
              <a:gd name="csY58" fmla="*/ 652037 h 676186"/>
              <a:gd name="csX59" fmla="*/ 60374 w 965980"/>
              <a:gd name="csY59" fmla="*/ 652037 h 676186"/>
              <a:gd name="csX60" fmla="*/ 60374 w 965980"/>
              <a:gd name="csY60" fmla="*/ 81191 h 676186"/>
              <a:gd name="csX61" fmla="*/ 96598 w 965980"/>
              <a:gd name="csY61" fmla="*/ 37722 h 676186"/>
              <a:gd name="csX62" fmla="*/ 132822 w 965980"/>
              <a:gd name="csY62" fmla="*/ 81191 h 676186"/>
              <a:gd name="csX63" fmla="*/ 156972 w 965980"/>
              <a:gd name="csY63" fmla="*/ 507140 h 676186"/>
              <a:gd name="csX64" fmla="*/ 156972 w 965980"/>
              <a:gd name="csY64" fmla="*/ 217346 h 676186"/>
              <a:gd name="csX65" fmla="*/ 229420 w 965980"/>
              <a:gd name="csY65" fmla="*/ 217346 h 676186"/>
              <a:gd name="csX66" fmla="*/ 229420 w 965980"/>
              <a:gd name="csY66" fmla="*/ 507140 h 676186"/>
              <a:gd name="csX67" fmla="*/ 326019 w 965980"/>
              <a:gd name="csY67" fmla="*/ 169047 h 676186"/>
              <a:gd name="csX68" fmla="*/ 326019 w 965980"/>
              <a:gd name="csY68" fmla="*/ 652037 h 676186"/>
              <a:gd name="csX69" fmla="*/ 253570 w 965980"/>
              <a:gd name="csY69" fmla="*/ 652037 h 676186"/>
              <a:gd name="csX70" fmla="*/ 253570 w 965980"/>
              <a:gd name="csY70" fmla="*/ 81191 h 676186"/>
              <a:gd name="csX71" fmla="*/ 289794 w 965980"/>
              <a:gd name="csY71" fmla="*/ 37722 h 676186"/>
              <a:gd name="csX72" fmla="*/ 326019 w 965980"/>
              <a:gd name="csY72" fmla="*/ 81191 h 676186"/>
              <a:gd name="csX73" fmla="*/ 350168 w 965980"/>
              <a:gd name="csY73" fmla="*/ 507140 h 676186"/>
              <a:gd name="csX74" fmla="*/ 350168 w 965980"/>
              <a:gd name="csY74" fmla="*/ 217346 h 676186"/>
              <a:gd name="csX75" fmla="*/ 422617 w 965980"/>
              <a:gd name="csY75" fmla="*/ 217346 h 676186"/>
              <a:gd name="csX76" fmla="*/ 422617 w 965980"/>
              <a:gd name="csY76" fmla="*/ 507140 h 676186"/>
              <a:gd name="csX77" fmla="*/ 519215 w 965980"/>
              <a:gd name="csY77" fmla="*/ 169047 h 676186"/>
              <a:gd name="csX78" fmla="*/ 519215 w 965980"/>
              <a:gd name="csY78" fmla="*/ 652037 h 676186"/>
              <a:gd name="csX79" fmla="*/ 446766 w 965980"/>
              <a:gd name="csY79" fmla="*/ 652037 h 676186"/>
              <a:gd name="csX80" fmla="*/ 446766 w 965980"/>
              <a:gd name="csY80" fmla="*/ 81191 h 676186"/>
              <a:gd name="csX81" fmla="*/ 482990 w 965980"/>
              <a:gd name="csY81" fmla="*/ 37722 h 676186"/>
              <a:gd name="csX82" fmla="*/ 519215 w 965980"/>
              <a:gd name="csY82" fmla="*/ 81191 h 676186"/>
              <a:gd name="csX83" fmla="*/ 543364 w 965980"/>
              <a:gd name="csY83" fmla="*/ 507140 h 676186"/>
              <a:gd name="csX84" fmla="*/ 543364 w 965980"/>
              <a:gd name="csY84" fmla="*/ 217346 h 676186"/>
              <a:gd name="csX85" fmla="*/ 615813 w 965980"/>
              <a:gd name="csY85" fmla="*/ 217346 h 676186"/>
              <a:gd name="csX86" fmla="*/ 615813 w 965980"/>
              <a:gd name="csY86" fmla="*/ 507140 h 676186"/>
              <a:gd name="csX87" fmla="*/ 712411 w 965980"/>
              <a:gd name="csY87" fmla="*/ 169047 h 676186"/>
              <a:gd name="csX88" fmla="*/ 712411 w 965980"/>
              <a:gd name="csY88" fmla="*/ 652037 h 676186"/>
              <a:gd name="csX89" fmla="*/ 639962 w 965980"/>
              <a:gd name="csY89" fmla="*/ 652037 h 676186"/>
              <a:gd name="csX90" fmla="*/ 639962 w 965980"/>
              <a:gd name="csY90" fmla="*/ 81191 h 676186"/>
              <a:gd name="csX91" fmla="*/ 676187 w 965980"/>
              <a:gd name="csY91" fmla="*/ 37722 h 676186"/>
              <a:gd name="csX92" fmla="*/ 712411 w 965980"/>
              <a:gd name="csY92" fmla="*/ 81191 h 676186"/>
              <a:gd name="csX93" fmla="*/ 736560 w 965980"/>
              <a:gd name="csY93" fmla="*/ 507140 h 676186"/>
              <a:gd name="csX94" fmla="*/ 736560 w 965980"/>
              <a:gd name="csY94" fmla="*/ 217346 h 676186"/>
              <a:gd name="csX95" fmla="*/ 809009 w 965980"/>
              <a:gd name="csY95" fmla="*/ 217346 h 676186"/>
              <a:gd name="csX96" fmla="*/ 809009 w 965980"/>
              <a:gd name="csY96" fmla="*/ 507140 h 676186"/>
              <a:gd name="csX97" fmla="*/ 905607 w 965980"/>
              <a:gd name="csY97" fmla="*/ 169047 h 676186"/>
              <a:gd name="csX98" fmla="*/ 905607 w 965980"/>
              <a:gd name="csY98" fmla="*/ 652037 h 676186"/>
              <a:gd name="csX99" fmla="*/ 833158 w 965980"/>
              <a:gd name="csY99" fmla="*/ 652037 h 676186"/>
              <a:gd name="csX100" fmla="*/ 833158 w 965980"/>
              <a:gd name="csY100" fmla="*/ 81191 h 676186"/>
              <a:gd name="csX101" fmla="*/ 869383 w 965980"/>
              <a:gd name="csY101" fmla="*/ 37722 h 676186"/>
              <a:gd name="csX102" fmla="*/ 905607 w 965980"/>
              <a:gd name="csY102" fmla="*/ 81191 h 6761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</a:cxnLst>
            <a:rect l="l" t="t" r="r" b="b"/>
            <a:pathLst>
              <a:path w="965980" h="676186">
                <a:moveTo>
                  <a:pt x="965981" y="217346"/>
                </a:moveTo>
                <a:lnTo>
                  <a:pt x="965981" y="193196"/>
                </a:lnTo>
                <a:lnTo>
                  <a:pt x="929757" y="193196"/>
                </a:lnTo>
                <a:lnTo>
                  <a:pt x="929757" y="72449"/>
                </a:lnTo>
                <a:lnTo>
                  <a:pt x="869383" y="0"/>
                </a:lnTo>
                <a:lnTo>
                  <a:pt x="809009" y="72449"/>
                </a:lnTo>
                <a:lnTo>
                  <a:pt x="809009" y="193196"/>
                </a:lnTo>
                <a:lnTo>
                  <a:pt x="736560" y="193196"/>
                </a:lnTo>
                <a:lnTo>
                  <a:pt x="736560" y="72449"/>
                </a:lnTo>
                <a:lnTo>
                  <a:pt x="676187" y="0"/>
                </a:lnTo>
                <a:lnTo>
                  <a:pt x="615813" y="72449"/>
                </a:lnTo>
                <a:lnTo>
                  <a:pt x="615813" y="193196"/>
                </a:lnTo>
                <a:lnTo>
                  <a:pt x="543364" y="193196"/>
                </a:lnTo>
                <a:lnTo>
                  <a:pt x="543364" y="72449"/>
                </a:lnTo>
                <a:lnTo>
                  <a:pt x="482990" y="0"/>
                </a:lnTo>
                <a:lnTo>
                  <a:pt x="422617" y="72449"/>
                </a:lnTo>
                <a:lnTo>
                  <a:pt x="422617" y="193196"/>
                </a:lnTo>
                <a:lnTo>
                  <a:pt x="350168" y="193196"/>
                </a:lnTo>
                <a:lnTo>
                  <a:pt x="350168" y="72449"/>
                </a:lnTo>
                <a:lnTo>
                  <a:pt x="289794" y="0"/>
                </a:lnTo>
                <a:lnTo>
                  <a:pt x="229420" y="72449"/>
                </a:lnTo>
                <a:lnTo>
                  <a:pt x="229420" y="193196"/>
                </a:lnTo>
                <a:lnTo>
                  <a:pt x="156972" y="193196"/>
                </a:lnTo>
                <a:lnTo>
                  <a:pt x="156972" y="72449"/>
                </a:lnTo>
                <a:lnTo>
                  <a:pt x="96598" y="0"/>
                </a:lnTo>
                <a:lnTo>
                  <a:pt x="36224" y="72449"/>
                </a:lnTo>
                <a:lnTo>
                  <a:pt x="36224" y="193196"/>
                </a:lnTo>
                <a:lnTo>
                  <a:pt x="0" y="193196"/>
                </a:lnTo>
                <a:lnTo>
                  <a:pt x="0" y="217346"/>
                </a:lnTo>
                <a:lnTo>
                  <a:pt x="36224" y="217346"/>
                </a:lnTo>
                <a:lnTo>
                  <a:pt x="36224" y="507140"/>
                </a:lnTo>
                <a:lnTo>
                  <a:pt x="0" y="507140"/>
                </a:lnTo>
                <a:lnTo>
                  <a:pt x="0" y="531289"/>
                </a:lnTo>
                <a:lnTo>
                  <a:pt x="36224" y="531289"/>
                </a:lnTo>
                <a:lnTo>
                  <a:pt x="36224" y="676187"/>
                </a:lnTo>
                <a:lnTo>
                  <a:pt x="156972" y="676187"/>
                </a:lnTo>
                <a:lnTo>
                  <a:pt x="156972" y="531289"/>
                </a:lnTo>
                <a:lnTo>
                  <a:pt x="229420" y="531289"/>
                </a:lnTo>
                <a:lnTo>
                  <a:pt x="229420" y="676187"/>
                </a:lnTo>
                <a:lnTo>
                  <a:pt x="350168" y="676187"/>
                </a:lnTo>
                <a:lnTo>
                  <a:pt x="350168" y="531289"/>
                </a:lnTo>
                <a:lnTo>
                  <a:pt x="422617" y="531289"/>
                </a:lnTo>
                <a:lnTo>
                  <a:pt x="422617" y="676187"/>
                </a:lnTo>
                <a:lnTo>
                  <a:pt x="543364" y="676187"/>
                </a:lnTo>
                <a:lnTo>
                  <a:pt x="543364" y="531289"/>
                </a:lnTo>
                <a:lnTo>
                  <a:pt x="615813" y="531289"/>
                </a:lnTo>
                <a:lnTo>
                  <a:pt x="615813" y="676187"/>
                </a:lnTo>
                <a:lnTo>
                  <a:pt x="736560" y="676187"/>
                </a:lnTo>
                <a:lnTo>
                  <a:pt x="736560" y="531289"/>
                </a:lnTo>
                <a:lnTo>
                  <a:pt x="809009" y="531289"/>
                </a:lnTo>
                <a:lnTo>
                  <a:pt x="809009" y="676187"/>
                </a:lnTo>
                <a:lnTo>
                  <a:pt x="929757" y="676187"/>
                </a:lnTo>
                <a:lnTo>
                  <a:pt x="929757" y="531289"/>
                </a:lnTo>
                <a:lnTo>
                  <a:pt x="965981" y="531289"/>
                </a:lnTo>
                <a:lnTo>
                  <a:pt x="965981" y="507140"/>
                </a:lnTo>
                <a:lnTo>
                  <a:pt x="929757" y="507140"/>
                </a:lnTo>
                <a:lnTo>
                  <a:pt x="929757" y="217346"/>
                </a:lnTo>
                <a:close/>
                <a:moveTo>
                  <a:pt x="132822" y="169047"/>
                </a:moveTo>
                <a:lnTo>
                  <a:pt x="132822" y="652037"/>
                </a:lnTo>
                <a:lnTo>
                  <a:pt x="60374" y="652037"/>
                </a:lnTo>
                <a:lnTo>
                  <a:pt x="60374" y="81191"/>
                </a:lnTo>
                <a:lnTo>
                  <a:pt x="96598" y="37722"/>
                </a:lnTo>
                <a:lnTo>
                  <a:pt x="132822" y="81191"/>
                </a:lnTo>
                <a:close/>
                <a:moveTo>
                  <a:pt x="156972" y="507140"/>
                </a:moveTo>
                <a:lnTo>
                  <a:pt x="156972" y="217346"/>
                </a:lnTo>
                <a:lnTo>
                  <a:pt x="229420" y="217346"/>
                </a:lnTo>
                <a:lnTo>
                  <a:pt x="229420" y="507140"/>
                </a:lnTo>
                <a:close/>
                <a:moveTo>
                  <a:pt x="326019" y="169047"/>
                </a:moveTo>
                <a:lnTo>
                  <a:pt x="326019" y="652037"/>
                </a:lnTo>
                <a:lnTo>
                  <a:pt x="253570" y="652037"/>
                </a:lnTo>
                <a:lnTo>
                  <a:pt x="253570" y="81191"/>
                </a:lnTo>
                <a:lnTo>
                  <a:pt x="289794" y="37722"/>
                </a:lnTo>
                <a:lnTo>
                  <a:pt x="326019" y="81191"/>
                </a:lnTo>
                <a:close/>
                <a:moveTo>
                  <a:pt x="350168" y="507140"/>
                </a:moveTo>
                <a:lnTo>
                  <a:pt x="350168" y="217346"/>
                </a:lnTo>
                <a:lnTo>
                  <a:pt x="422617" y="217346"/>
                </a:lnTo>
                <a:lnTo>
                  <a:pt x="422617" y="507140"/>
                </a:lnTo>
                <a:close/>
                <a:moveTo>
                  <a:pt x="519215" y="169047"/>
                </a:moveTo>
                <a:lnTo>
                  <a:pt x="519215" y="652037"/>
                </a:lnTo>
                <a:lnTo>
                  <a:pt x="446766" y="652037"/>
                </a:lnTo>
                <a:lnTo>
                  <a:pt x="446766" y="81191"/>
                </a:lnTo>
                <a:lnTo>
                  <a:pt x="482990" y="37722"/>
                </a:lnTo>
                <a:lnTo>
                  <a:pt x="519215" y="81191"/>
                </a:lnTo>
                <a:close/>
                <a:moveTo>
                  <a:pt x="543364" y="507140"/>
                </a:moveTo>
                <a:lnTo>
                  <a:pt x="543364" y="217346"/>
                </a:lnTo>
                <a:lnTo>
                  <a:pt x="615813" y="217346"/>
                </a:lnTo>
                <a:lnTo>
                  <a:pt x="615813" y="507140"/>
                </a:lnTo>
                <a:close/>
                <a:moveTo>
                  <a:pt x="712411" y="169047"/>
                </a:moveTo>
                <a:lnTo>
                  <a:pt x="712411" y="652037"/>
                </a:lnTo>
                <a:lnTo>
                  <a:pt x="639962" y="652037"/>
                </a:lnTo>
                <a:lnTo>
                  <a:pt x="639962" y="81191"/>
                </a:lnTo>
                <a:lnTo>
                  <a:pt x="676187" y="37722"/>
                </a:lnTo>
                <a:lnTo>
                  <a:pt x="712411" y="81191"/>
                </a:lnTo>
                <a:close/>
                <a:moveTo>
                  <a:pt x="736560" y="507140"/>
                </a:moveTo>
                <a:lnTo>
                  <a:pt x="736560" y="217346"/>
                </a:lnTo>
                <a:lnTo>
                  <a:pt x="809009" y="217346"/>
                </a:lnTo>
                <a:lnTo>
                  <a:pt x="809009" y="507140"/>
                </a:lnTo>
                <a:close/>
                <a:moveTo>
                  <a:pt x="905607" y="169047"/>
                </a:moveTo>
                <a:lnTo>
                  <a:pt x="905607" y="652037"/>
                </a:lnTo>
                <a:lnTo>
                  <a:pt x="833158" y="652037"/>
                </a:lnTo>
                <a:lnTo>
                  <a:pt x="833158" y="81191"/>
                </a:lnTo>
                <a:lnTo>
                  <a:pt x="869383" y="37722"/>
                </a:lnTo>
                <a:lnTo>
                  <a:pt x="905607" y="81191"/>
                </a:lnTo>
                <a:close/>
              </a:path>
            </a:pathLst>
          </a:custGeom>
          <a:solidFill>
            <a:schemeClr val="accent2"/>
          </a:solidFill>
          <a:ln w="12005" cap="flat">
            <a:noFill/>
            <a:prstDash val="solid"/>
            <a:miter/>
          </a:ln>
          <a:scene3d>
            <a:camera prst="orthographicFront">
              <a:rot lat="2400000" lon="3000000" rev="0"/>
            </a:camera>
            <a:lightRig rig="threePt" dir="t"/>
          </a:scene3d>
        </p:spPr>
        <p:txBody>
          <a:bodyPr/>
          <a:lstStyle/>
          <a:p>
            <a:endParaRPr lang="LID4096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8BE1FCE-CDDF-802F-7720-ABCC039125D3}"/>
              </a:ext>
            </a:extLst>
          </p:cNvPr>
          <p:cNvSpPr/>
          <p:nvPr/>
        </p:nvSpPr>
        <p:spPr>
          <a:xfrm>
            <a:off x="4867937" y="3044903"/>
            <a:ext cx="1106128" cy="42473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  <a:endParaRPr lang="LID4096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45D0EEA-6421-A27E-543C-2CE3E20E4BA3}"/>
              </a:ext>
            </a:extLst>
          </p:cNvPr>
          <p:cNvSpPr/>
          <p:nvPr/>
        </p:nvSpPr>
        <p:spPr>
          <a:xfrm>
            <a:off x="5229272" y="4991145"/>
            <a:ext cx="1106128" cy="42473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0E37E-5BF9-2D12-9F12-20CCF6BE3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42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53145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1.85185E-6 C -6.25E-7 0.01342 -0.02891 0.02454 -0.06458 0.02454 C -0.10599 0.02454 -0.12122 0.01227 -0.1276 0.00486 L -0.13385 -0.00486 C -0.14049 -0.01227 -0.15651 -0.02431 -0.20351 -0.02431 C -0.23359 -0.02431 -0.26771 -0.01343 -0.26771 1.85185E-6 C -0.26771 0.01342 -0.23359 0.02454 -0.20351 0.02454 C -0.15651 0.02454 -0.14049 0.01227 -0.13385 0.00486 L -0.1276 -0.00486 C -0.12122 -0.01227 -0.10599 -0.02431 -0.06458 -0.02431 C -0.02891 -0.02431 -6.25E-7 -0.01343 -6.25E-7 1.85185E-6 Z " pathEditMode="relative" rAng="0" ptsTypes="AAAAAAAAAAA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385" y="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20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2.08333E-7 0.01782 C -2.08333E-7 0.01296 -0.02409 0.00902 -0.05352 0.00902 L -0.17721 0.00902 C -0.20664 0.00902 -0.2306 0.01296 -0.2306 0.01782 L -0.2306 0.03842 C -0.2306 0.04328 -0.20664 0.04768 -0.17721 0.04768 L -0.05352 0.04768 C -0.02409 0.04768 -2.08333E-7 0.04328 -2.08333E-7 0.03842 L -2.08333E-7 0.01782 Z " pathEditMode="relative" rAng="0" ptsTypes="AAAAAAAAA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536" y="1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3.7037E-7 C 2.91667E-6 0.01296 0.02487 0.02384 0.05547 0.02384 C 0.09153 0.02384 0.10455 0.01181 0.11002 0.00463 L 0.11562 -0.00486 C 0.12122 -0.01181 0.13502 -0.02292 0.17578 -0.02292 C 0.20169 -0.02292 0.23164 -0.01319 0.23164 3.7037E-7 C 0.23164 0.01296 0.20169 0.02384 0.17578 0.02384 C 0.13502 0.02384 0.12122 0.01181 0.11562 0.00463 L 0.11002 -0.00486 C 0.10455 -0.01181 0.09153 -0.02292 0.05547 -0.02292 C 0.02487 -0.02292 2.91667E-6 -0.01319 2.91667E-6 3.7037E-7 Z " pathEditMode="relative" rAng="0" ptsTypes="AAAAAAAAAAA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576" y="46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8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3.33333E-6 3.33333E-6 L 0.14284 3.33333E-6 L 0.17982 -0.03473 L -0.03411 -0.03473 L -3.33333E-6 3.33333E-6 Z " pathEditMode="relative" rAng="0" ptsTypes="AAAAA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79" y="-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9" grpId="0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C5AD3-84EC-78F5-CB65-1189FDFF3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A39AE-D95A-1B3C-6E8C-9A78D74E2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ARM: Acquire / Release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D4B223-523E-E159-F7A4-AB92665FC4F1}"/>
              </a:ext>
            </a:extLst>
          </p:cNvPr>
          <p:cNvSpPr/>
          <p:nvPr/>
        </p:nvSpPr>
        <p:spPr>
          <a:xfrm>
            <a:off x="2084293" y="2991888"/>
            <a:ext cx="2906807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NEW --&gt;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AB08E7-5696-E580-49C7-440D8FEDDFE2}"/>
              </a:ext>
            </a:extLst>
          </p:cNvPr>
          <p:cNvSpPr/>
          <p:nvPr/>
        </p:nvSpPr>
        <p:spPr>
          <a:xfrm>
            <a:off x="5881255" y="3910807"/>
            <a:ext cx="3855882" cy="692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R1 &lt;--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en-US" sz="2400" dirty="0">
                <a:latin typeface="Consolas" panose="020B0609020204030204" pitchFamily="49" charset="0"/>
              </a:rPr>
              <a:t> ready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8F3B7D-AED8-D61D-9C16-AFF39EBC5DCF}"/>
              </a:ext>
            </a:extLst>
          </p:cNvPr>
          <p:cNvSpPr/>
          <p:nvPr/>
        </p:nvSpPr>
        <p:spPr>
          <a:xfrm>
            <a:off x="5881255" y="5264944"/>
            <a:ext cx="3855882" cy="692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R2 &lt;--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 data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626441-4C5D-62C8-1966-E8F36ADE1FE4}"/>
              </a:ext>
            </a:extLst>
          </p:cNvPr>
          <p:cNvSpPr/>
          <p:nvPr/>
        </p:nvSpPr>
        <p:spPr>
          <a:xfrm>
            <a:off x="5881254" y="4541044"/>
            <a:ext cx="3855882" cy="774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if !R1 </a:t>
            </a:r>
            <a:r>
              <a:rPr lang="en-US" sz="2400" dirty="0" err="1">
                <a:latin typeface="Consolas" panose="020B0609020204030204" pitchFamily="49" charset="0"/>
              </a:rPr>
              <a:t>goto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LoadReady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1CCB4F-362F-7566-5294-0F17F98E2050}"/>
              </a:ext>
            </a:extLst>
          </p:cNvPr>
          <p:cNvSpPr/>
          <p:nvPr/>
        </p:nvSpPr>
        <p:spPr>
          <a:xfrm>
            <a:off x="5881255" y="1786068"/>
            <a:ext cx="3855882" cy="692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u="sng" dirty="0">
                <a:latin typeface="Consolas" panose="020B0609020204030204" pitchFamily="49" charset="0"/>
              </a:rPr>
              <a:t>Reader Core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F164194-1C00-AC36-E66C-6F34F1D09CF9}"/>
              </a:ext>
            </a:extLst>
          </p:cNvPr>
          <p:cNvCxnSpPr>
            <a:cxnSpLocks/>
          </p:cNvCxnSpPr>
          <p:nvPr/>
        </p:nvCxnSpPr>
        <p:spPr>
          <a:xfrm>
            <a:off x="5359400" y="1690688"/>
            <a:ext cx="0" cy="4659312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2FBC49A-2048-C6A8-EC89-7EC8F458FBB1}"/>
              </a:ext>
            </a:extLst>
          </p:cNvPr>
          <p:cNvSpPr/>
          <p:nvPr/>
        </p:nvSpPr>
        <p:spPr>
          <a:xfrm>
            <a:off x="2084293" y="3735258"/>
            <a:ext cx="2906807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TRUE --&gt; ready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E78F60-0140-066E-C1BA-AB7306366C9C}"/>
              </a:ext>
            </a:extLst>
          </p:cNvPr>
          <p:cNvSpPr/>
          <p:nvPr/>
        </p:nvSpPr>
        <p:spPr>
          <a:xfrm>
            <a:off x="2084293" y="1801943"/>
            <a:ext cx="2906807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u="sng" dirty="0">
                <a:latin typeface="Consolas" panose="020B0609020204030204" pitchFamily="49" charset="0"/>
              </a:rPr>
              <a:t>Writer Core</a:t>
            </a:r>
            <a:endParaRPr lang="en-US" sz="2800" b="1" u="sng" dirty="0">
              <a:latin typeface="Consolas" panose="020B0609020204030204" pitchFamily="49" charset="0"/>
              <a:sym typeface="Wingdings" panose="05000000000000000000" pitchFamily="2" charset="2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7CDC71-BEC8-2A0F-2976-895A3EA48847}"/>
              </a:ext>
            </a:extLst>
          </p:cNvPr>
          <p:cNvSpPr/>
          <p:nvPr/>
        </p:nvSpPr>
        <p:spPr>
          <a:xfrm>
            <a:off x="2367195" y="4148428"/>
            <a:ext cx="2906807" cy="6604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latin typeface="Consolas" panose="020B0609020204030204" pitchFamily="49" charset="0"/>
                <a:sym typeface="Wingdings" panose="05000000000000000000" pitchFamily="2" charset="2"/>
              </a:rPr>
              <a:t>stlr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 ready, TRUE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593339-3452-AEB5-A00B-3C293E463C8D}"/>
              </a:ext>
            </a:extLst>
          </p:cNvPr>
          <p:cNvSpPr/>
          <p:nvPr/>
        </p:nvSpPr>
        <p:spPr>
          <a:xfrm>
            <a:off x="6251821" y="3532982"/>
            <a:ext cx="3855882" cy="6921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latin typeface="Consolas" panose="020B0609020204030204" pitchFamily="49" charset="0"/>
              </a:rPr>
              <a:t>ldar</a:t>
            </a:r>
            <a:r>
              <a:rPr lang="en-US" sz="2400" dirty="0">
                <a:latin typeface="Consolas" panose="020B0609020204030204" pitchFamily="49" charset="0"/>
              </a:rPr>
              <a:t> R1, ready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BEA315-1832-DD92-3CC0-FD807BEC4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43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0801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5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5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12" grpId="0" animBg="1"/>
      <p:bldP spid="12" grpId="1" animBg="1"/>
      <p:bldP spid="14" grpId="0" animBg="1"/>
      <p:bldP spid="1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D59B-10CD-3FE0-D5C0-E3A52F848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FE298-2D90-9E74-4B50-EC7523341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ARM: Acquire / Release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0AA00A-0A23-05A3-4EC7-538655A1E7C5}"/>
              </a:ext>
            </a:extLst>
          </p:cNvPr>
          <p:cNvSpPr/>
          <p:nvPr/>
        </p:nvSpPr>
        <p:spPr>
          <a:xfrm>
            <a:off x="1227883" y="1690688"/>
            <a:ext cx="2545832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NEW --&gt;</a:t>
            </a:r>
            <a:r>
              <a:rPr lang="en-US" sz="2000" dirty="0">
                <a:latin typeface="Consolas" panose="020B0609020204030204" pitchFamily="49" charset="0"/>
                <a:sym typeface="Wingdings" panose="05000000000000000000" pitchFamily="2" charset="2"/>
              </a:rPr>
              <a:t> 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BFB185-3331-98BC-76BC-BE9A44875104}"/>
              </a:ext>
            </a:extLst>
          </p:cNvPr>
          <p:cNvSpPr/>
          <p:nvPr/>
        </p:nvSpPr>
        <p:spPr>
          <a:xfrm>
            <a:off x="7255925" y="3106738"/>
            <a:ext cx="3237545" cy="692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R2 &lt;--</a:t>
            </a:r>
            <a:r>
              <a:rPr lang="en-US" sz="2000" dirty="0">
                <a:latin typeface="Consolas" panose="020B0609020204030204" pitchFamily="49" charset="0"/>
                <a:sym typeface="Wingdings" panose="05000000000000000000" pitchFamily="2" charset="2"/>
              </a:rPr>
              <a:t> data</a:t>
            </a: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29621E-D7E7-6C76-59E6-FE9692D21A44}"/>
              </a:ext>
            </a:extLst>
          </p:cNvPr>
          <p:cNvSpPr/>
          <p:nvPr/>
        </p:nvSpPr>
        <p:spPr>
          <a:xfrm>
            <a:off x="7255924" y="2382838"/>
            <a:ext cx="3237545" cy="774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if !R1 </a:t>
            </a:r>
            <a:r>
              <a:rPr lang="en-US" sz="2000" dirty="0" err="1">
                <a:latin typeface="Consolas" panose="020B0609020204030204" pitchFamily="49" charset="0"/>
              </a:rPr>
              <a:t>goto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LoadReady</a:t>
            </a: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BD1B60-89D5-5429-910D-32D1D7F20139}"/>
              </a:ext>
            </a:extLst>
          </p:cNvPr>
          <p:cNvSpPr/>
          <p:nvPr/>
        </p:nvSpPr>
        <p:spPr>
          <a:xfrm>
            <a:off x="1227883" y="2341646"/>
            <a:ext cx="2545832" cy="6604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 err="1">
                <a:latin typeface="Consolas" panose="020B0609020204030204" pitchFamily="49" charset="0"/>
                <a:sym typeface="Wingdings" panose="05000000000000000000" pitchFamily="2" charset="2"/>
              </a:rPr>
              <a:t>stlr</a:t>
            </a:r>
            <a:r>
              <a:rPr lang="en-US" sz="2000" dirty="0">
                <a:latin typeface="Consolas" panose="020B0609020204030204" pitchFamily="49" charset="0"/>
                <a:sym typeface="Wingdings" panose="05000000000000000000" pitchFamily="2" charset="2"/>
              </a:rPr>
              <a:t> ready, TRUE</a:t>
            </a: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7FDB26-C234-C5ED-55BB-0BC18B41EE45}"/>
              </a:ext>
            </a:extLst>
          </p:cNvPr>
          <p:cNvSpPr/>
          <p:nvPr/>
        </p:nvSpPr>
        <p:spPr>
          <a:xfrm>
            <a:off x="7248559" y="1690688"/>
            <a:ext cx="3237545" cy="6921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 err="1">
                <a:latin typeface="Consolas" panose="020B0609020204030204" pitchFamily="49" charset="0"/>
              </a:rPr>
              <a:t>ldar</a:t>
            </a:r>
            <a:r>
              <a:rPr lang="en-US" sz="2000" dirty="0">
                <a:latin typeface="Consolas" panose="020B0609020204030204" pitchFamily="49" charset="0"/>
              </a:rPr>
              <a:t> R1, ready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2298CD-5D9C-0D42-8A6C-997E2015914B}"/>
              </a:ext>
            </a:extLst>
          </p:cNvPr>
          <p:cNvSpPr txBox="1"/>
          <p:nvPr/>
        </p:nvSpPr>
        <p:spPr>
          <a:xfrm>
            <a:off x="381001" y="3429000"/>
            <a:ext cx="4445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data</a:t>
            </a:r>
            <a:r>
              <a:rPr lang="en-US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=</a:t>
            </a:r>
            <a:r>
              <a:rPr lang="en-US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2000" b="1" dirty="0">
                <a:effectLst/>
                <a:latin typeface="Consolas" panose="020B0609020204030204" pitchFamily="49" charset="0"/>
              </a:rPr>
              <a:t>std::atomic&lt;</a:t>
            </a:r>
            <a:r>
              <a:rPr lang="en-US" sz="20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&gt; ready =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0A99B8-7FC1-C046-B41F-BF12F7B9A3BF}"/>
              </a:ext>
            </a:extLst>
          </p:cNvPr>
          <p:cNvSpPr txBox="1"/>
          <p:nvPr/>
        </p:nvSpPr>
        <p:spPr>
          <a:xfrm>
            <a:off x="381001" y="4762500"/>
            <a:ext cx="5714999" cy="163121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write() {</a:t>
            </a:r>
          </a:p>
          <a:p>
            <a:pPr>
              <a:buNone/>
            </a:pPr>
            <a:r>
              <a:rPr lang="en-US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data =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1" dirty="0" err="1">
                <a:effectLst/>
                <a:latin typeface="Consolas" panose="020B0609020204030204" pitchFamily="49" charset="0"/>
              </a:rPr>
              <a:t>ready.store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(true,</a:t>
            </a:r>
          </a:p>
          <a:p>
            <a:pPr>
              <a:buNone/>
            </a:pPr>
            <a:r>
              <a:rPr lang="en-US" sz="2000" b="1" dirty="0">
                <a:latin typeface="Consolas" panose="020B0609020204030204" pitchFamily="49" charset="0"/>
              </a:rPr>
              <a:t>               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effectLst/>
                <a:latin typeface="Consolas" panose="020B0609020204030204" pitchFamily="49" charset="0"/>
              </a:rPr>
              <a:t>memory_order_release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2000" b="1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D69FDA-1741-4DC1-1EFC-EAC440ED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44</a:t>
            </a:fld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06DE42-7905-555F-9F90-31D0687EA821}"/>
              </a:ext>
            </a:extLst>
          </p:cNvPr>
          <p:cNvSpPr txBox="1"/>
          <p:nvPr/>
        </p:nvSpPr>
        <p:spPr>
          <a:xfrm>
            <a:off x="5674658" y="4070350"/>
            <a:ext cx="6395595" cy="132343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read() {</a:t>
            </a:r>
          </a:p>
          <a:p>
            <a:pPr>
              <a:buNone/>
            </a:pPr>
            <a:r>
              <a:rPr lang="en-US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(!</a:t>
            </a:r>
            <a:r>
              <a:rPr lang="en-US" sz="2000" b="1" dirty="0" err="1">
                <a:effectLst/>
                <a:latin typeface="Consolas" panose="020B0609020204030204" pitchFamily="49" charset="0"/>
              </a:rPr>
              <a:t>ready.load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(</a:t>
            </a:r>
            <a:r>
              <a:rPr lang="en-US" sz="2000" b="1" dirty="0" err="1">
                <a:effectLst/>
                <a:latin typeface="Consolas" panose="020B0609020204030204" pitchFamily="49" charset="0"/>
              </a:rPr>
              <a:t>memory_order_acquire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data;</a:t>
            </a:r>
          </a:p>
          <a:p>
            <a:pPr>
              <a:buNone/>
            </a:pPr>
            <a:r>
              <a:rPr lang="en-US" sz="2000" b="1" dirty="0"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77792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5" grpId="0" animBg="1"/>
      <p:bldP spid="2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34101-1118-CF4E-5D73-5E3A9C7C8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 </a:t>
            </a:r>
            <a:r>
              <a:rPr lang="en-US" dirty="0">
                <a:latin typeface="Consolas" panose="020B0609020204030204" pitchFamily="49" charset="0"/>
              </a:rPr>
              <a:t>std::</a:t>
            </a:r>
            <a:r>
              <a:rPr lang="en-US" dirty="0" err="1">
                <a:latin typeface="Consolas" panose="020B0609020204030204" pitchFamily="49" charset="0"/>
              </a:rPr>
              <a:t>memory_order</a:t>
            </a: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74207-33B9-814B-5527-067D4006D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For stores:</a:t>
            </a:r>
          </a:p>
          <a:p>
            <a:pPr lvl="1"/>
            <a:r>
              <a:rPr lang="en-US" dirty="0" err="1"/>
              <a:t>memory_order_release</a:t>
            </a:r>
            <a:endParaRPr lang="en-US" i="1" dirty="0"/>
          </a:p>
          <a:p>
            <a:r>
              <a:rPr lang="en-US" dirty="0"/>
              <a:t>For loads:</a:t>
            </a:r>
          </a:p>
          <a:p>
            <a:pPr lvl="1"/>
            <a:r>
              <a:rPr lang="en-US" dirty="0" err="1"/>
              <a:t>memory_order_acquire</a:t>
            </a:r>
            <a:endParaRPr lang="en-US" i="1" dirty="0"/>
          </a:p>
          <a:p>
            <a:pPr lvl="1"/>
            <a:r>
              <a:rPr lang="en-US" dirty="0"/>
              <a:t>(==</a:t>
            </a:r>
            <a:r>
              <a:rPr lang="en-US" dirty="0" err="1"/>
              <a:t>memory_order_consume</a:t>
            </a:r>
            <a:r>
              <a:rPr lang="en-US" dirty="0"/>
              <a:t>)</a:t>
            </a:r>
          </a:p>
          <a:p>
            <a:r>
              <a:rPr lang="en-US" dirty="0"/>
              <a:t>For Read-Modify-Write (RMW) ops,  such as </a:t>
            </a:r>
            <a:r>
              <a:rPr lang="en-US" dirty="0">
                <a:latin typeface="Consolas" panose="020B0609020204030204" pitchFamily="49" charset="0"/>
              </a:rPr>
              <a:t>+=:</a:t>
            </a:r>
          </a:p>
          <a:p>
            <a:pPr lvl="1"/>
            <a:r>
              <a:rPr lang="en-US" dirty="0" err="1"/>
              <a:t>memory_order_acquire</a:t>
            </a:r>
            <a:r>
              <a:rPr lang="en-US" dirty="0"/>
              <a:t>, </a:t>
            </a:r>
            <a:r>
              <a:rPr lang="en-US" dirty="0" err="1"/>
              <a:t>memory_order_release</a:t>
            </a:r>
            <a:endParaRPr lang="en-US" i="1" dirty="0"/>
          </a:p>
          <a:p>
            <a:pPr lvl="1"/>
            <a:r>
              <a:rPr lang="en-US" dirty="0" err="1"/>
              <a:t>memory_order_acq_rel</a:t>
            </a:r>
            <a:r>
              <a:rPr lang="en-US" dirty="0"/>
              <a:t>:   acquire AND release</a:t>
            </a:r>
          </a:p>
          <a:p>
            <a:r>
              <a:rPr lang="en-US" dirty="0"/>
              <a:t>For all:</a:t>
            </a:r>
          </a:p>
          <a:p>
            <a:pPr lvl="1"/>
            <a:r>
              <a:rPr lang="en-US" dirty="0" err="1"/>
              <a:t>memory_order_relaxed</a:t>
            </a:r>
            <a:r>
              <a:rPr lang="en-US" dirty="0"/>
              <a:t>:   no order guarantees</a:t>
            </a:r>
          </a:p>
          <a:p>
            <a:pPr lvl="1"/>
            <a:r>
              <a:rPr lang="en-US" dirty="0" err="1"/>
              <a:t>memory_order_seq_cst</a:t>
            </a:r>
            <a:r>
              <a:rPr lang="en-US" dirty="0"/>
              <a:t>:   full sequential consistency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FD5108-8149-D1C4-F3A4-1EFE1FEC2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45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0293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8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1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21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AA9E4-16E1-5AF5-5F7A-62839C501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Read-Modify-Write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50BFF-0634-782A-C80C-524E166E2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C++ atomic&lt;&gt; ops: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+=, -=, &amp;=, |=, ^=</a:t>
            </a:r>
          </a:p>
          <a:p>
            <a:pPr lvl="2"/>
            <a:r>
              <a:rPr lang="en-US" dirty="0" err="1">
                <a:latin typeface="Consolas" panose="020B0609020204030204" pitchFamily="49" charset="0"/>
              </a:rPr>
              <a:t>fetch_add</a:t>
            </a:r>
            <a:r>
              <a:rPr lang="en-US" dirty="0">
                <a:latin typeface="Consolas" panose="020B0609020204030204" pitchFamily="49" charset="0"/>
              </a:rPr>
              <a:t>(), </a:t>
            </a:r>
            <a:r>
              <a:rPr lang="en-US" dirty="0" err="1">
                <a:latin typeface="Consolas" panose="020B0609020204030204" pitchFamily="49" charset="0"/>
              </a:rPr>
              <a:t>fetch_sub</a:t>
            </a:r>
            <a:r>
              <a:rPr lang="en-US" dirty="0">
                <a:latin typeface="Consolas" panose="020B0609020204030204" pitchFamily="49" charset="0"/>
              </a:rPr>
              <a:t>(), </a:t>
            </a:r>
            <a:r>
              <a:rPr lang="en-US" dirty="0" err="1">
                <a:latin typeface="Consolas" panose="020B0609020204030204" pitchFamily="49" charset="0"/>
              </a:rPr>
              <a:t>fetch_and</a:t>
            </a:r>
            <a:r>
              <a:rPr lang="en-US" dirty="0">
                <a:latin typeface="Consolas" panose="020B0609020204030204" pitchFamily="49" charset="0"/>
              </a:rPr>
              <a:t>(), </a:t>
            </a:r>
            <a:r>
              <a:rPr lang="en-US" dirty="0" err="1">
                <a:latin typeface="Consolas" panose="020B0609020204030204" pitchFamily="49" charset="0"/>
              </a:rPr>
              <a:t>fetch_or</a:t>
            </a:r>
            <a:r>
              <a:rPr lang="en-US" dirty="0">
                <a:latin typeface="Consolas" panose="020B0609020204030204" pitchFamily="49" charset="0"/>
              </a:rPr>
              <a:t>(), </a:t>
            </a:r>
            <a:r>
              <a:rPr lang="en-US" dirty="0" err="1">
                <a:latin typeface="Consolas" panose="020B0609020204030204" pitchFamily="49" charset="0"/>
              </a:rPr>
              <a:t>fetch_xor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exchange()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compare_exchange_weak</a:t>
            </a:r>
            <a:r>
              <a:rPr lang="en-US" dirty="0">
                <a:latin typeface="Consolas" panose="020B0609020204030204" pitchFamily="49" charset="0"/>
              </a:rPr>
              <a:t>(), </a:t>
            </a:r>
            <a:r>
              <a:rPr lang="en-US" dirty="0" err="1">
                <a:latin typeface="Consolas" panose="020B0609020204030204" pitchFamily="49" charset="0"/>
              </a:rPr>
              <a:t>compare_exchange_strong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  <a:p>
            <a:pPr lvl="1"/>
            <a:endParaRPr lang="en-US" dirty="0">
              <a:latin typeface="Consolas" panose="020B0609020204030204" pitchFamily="49" charset="0"/>
            </a:endParaRPr>
          </a:p>
          <a:p>
            <a:r>
              <a:rPr lang="en-US" dirty="0"/>
              <a:t>In assembly:</a:t>
            </a:r>
          </a:p>
          <a:p>
            <a:pPr lvl="1"/>
            <a:r>
              <a:rPr lang="en-US" dirty="0"/>
              <a:t>X86-64: </a:t>
            </a:r>
            <a:r>
              <a:rPr lang="en-US" dirty="0">
                <a:latin typeface="Consolas" panose="020B0609020204030204" pitchFamily="49" charset="0"/>
              </a:rPr>
              <a:t>LOCK </a:t>
            </a:r>
            <a:r>
              <a:rPr lang="en-US" dirty="0"/>
              <a:t>prefix     (</a:t>
            </a:r>
            <a:r>
              <a:rPr lang="en-US" dirty="0">
                <a:latin typeface="Consolas" panose="020B0609020204030204" pitchFamily="49" charset="0"/>
              </a:rPr>
              <a:t>lock add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lock </a:t>
            </a:r>
            <a:r>
              <a:rPr lang="en-US" dirty="0" err="1">
                <a:latin typeface="Consolas" panose="020B0609020204030204" pitchFamily="49" charset="0"/>
              </a:rPr>
              <a:t>xchg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ARM: LL/SC</a:t>
            </a:r>
            <a:endParaRPr lang="en-US" dirty="0">
              <a:latin typeface="Consolas" panose="020B0609020204030204" pitchFamily="49" charset="0"/>
            </a:endParaRPr>
          </a:p>
          <a:p>
            <a:pPr lvl="2"/>
            <a:r>
              <a:rPr lang="en-US" dirty="0"/>
              <a:t>+ dedicated instructions, in ARM v8.1+</a:t>
            </a: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4D334-BF05-BA09-36C4-69B8A1DE9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46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8798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1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1C6BA-8FFC-5B32-A01F-552A62197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34C53-537C-25EC-7745-38E2C8563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Read-modify-write: x86-64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C3474A-275E-59A6-03BB-2815A73BA7A4}"/>
              </a:ext>
            </a:extLst>
          </p:cNvPr>
          <p:cNvSpPr txBox="1"/>
          <p:nvPr/>
        </p:nvSpPr>
        <p:spPr>
          <a:xfrm>
            <a:off x="4770306" y="5400983"/>
            <a:ext cx="2252516" cy="6463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i="1" dirty="0"/>
              <a:t>Core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04AF5-5BE2-3589-FE39-D6D856951E4B}"/>
              </a:ext>
            </a:extLst>
          </p:cNvPr>
          <p:cNvSpPr txBox="1"/>
          <p:nvPr/>
        </p:nvSpPr>
        <p:spPr>
          <a:xfrm>
            <a:off x="4290504" y="1959428"/>
            <a:ext cx="3178629" cy="2239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dirty="0"/>
              <a:t>L1 Cache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0DE8DD1-A8C7-D4FA-F413-87812C9211FE}"/>
              </a:ext>
            </a:extLst>
          </p:cNvPr>
          <p:cNvCxnSpPr>
            <a:stCxn id="4" idx="0"/>
          </p:cNvCxnSpPr>
          <p:nvPr/>
        </p:nvCxnSpPr>
        <p:spPr>
          <a:xfrm flipV="1">
            <a:off x="5896564" y="3715319"/>
            <a:ext cx="0" cy="1685664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4EC33CC-4586-9D2F-5AE4-2F52697664A7}"/>
              </a:ext>
            </a:extLst>
          </p:cNvPr>
          <p:cNvSpPr txBox="1"/>
          <p:nvPr/>
        </p:nvSpPr>
        <p:spPr>
          <a:xfrm>
            <a:off x="568994" y="1959428"/>
            <a:ext cx="2818819" cy="2239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dirty="0"/>
              <a:t>L1 Cache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1534E5-1ED4-BA42-CF9A-794B757BCD40}"/>
              </a:ext>
            </a:extLst>
          </p:cNvPr>
          <p:cNvSpPr txBox="1"/>
          <p:nvPr/>
        </p:nvSpPr>
        <p:spPr>
          <a:xfrm>
            <a:off x="872460" y="3079186"/>
            <a:ext cx="2252516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3600">
                <a:latin typeface="Consolas" panose="020B0609020204030204" pitchFamily="49" charset="0"/>
              </a:defRPr>
            </a:lvl1pPr>
          </a:lstStyle>
          <a:p>
            <a:r>
              <a:rPr lang="en-US" dirty="0" err="1"/>
              <a:t>deadcafe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E433B6-917B-A473-6AB4-47E9E6AB2B90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124976" y="3402352"/>
            <a:ext cx="1483251" cy="0"/>
          </a:xfrm>
          <a:prstGeom prst="straightConnector1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4A3C2CCE-D7CB-DEBB-362E-49C51D9BBE5F}"/>
              </a:ext>
            </a:extLst>
          </p:cNvPr>
          <p:cNvSpPr/>
          <p:nvPr/>
        </p:nvSpPr>
        <p:spPr>
          <a:xfrm>
            <a:off x="348344" y="3010761"/>
            <a:ext cx="3357192" cy="762783"/>
          </a:xfrm>
          <a:prstGeom prst="mathMultiply">
            <a:avLst/>
          </a:prstGeom>
          <a:solidFill>
            <a:srgbClr val="6C0000">
              <a:alpha val="80000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B8738C-AC47-E395-AAF1-CA5BB71C2209}"/>
              </a:ext>
            </a:extLst>
          </p:cNvPr>
          <p:cNvSpPr txBox="1"/>
          <p:nvPr/>
        </p:nvSpPr>
        <p:spPr>
          <a:xfrm>
            <a:off x="4686566" y="3079186"/>
            <a:ext cx="2252516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3600">
                <a:latin typeface="Consolas" panose="020B0609020204030204" pitchFamily="49" charset="0"/>
              </a:defRPr>
            </a:lvl1pPr>
          </a:lstStyle>
          <a:p>
            <a:r>
              <a:rPr lang="en-US" dirty="0" err="1"/>
              <a:t>deadcafe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581B88-A296-54A4-6F6E-93A8176ECB84}"/>
              </a:ext>
            </a:extLst>
          </p:cNvPr>
          <p:cNvSpPr txBox="1"/>
          <p:nvPr/>
        </p:nvSpPr>
        <p:spPr>
          <a:xfrm>
            <a:off x="4686566" y="3079186"/>
            <a:ext cx="2252516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3600"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deadc</a:t>
            </a:r>
            <a:r>
              <a:rPr lang="en-US" dirty="0">
                <a:highlight>
                  <a:srgbClr val="FFFF00"/>
                </a:highlight>
              </a:rPr>
              <a:t>9</a:t>
            </a:r>
            <a:r>
              <a:rPr lang="en-US" dirty="0"/>
              <a:t>fe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4E78538-7EDC-2215-458A-5797D331C05F}"/>
              </a:ext>
            </a:extLst>
          </p:cNvPr>
          <p:cNvCxnSpPr>
            <a:cxnSpLocks/>
          </p:cNvCxnSpPr>
          <p:nvPr/>
        </p:nvCxnSpPr>
        <p:spPr>
          <a:xfrm>
            <a:off x="5639477" y="3773544"/>
            <a:ext cx="0" cy="163750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4299B30-B455-93FA-AC64-03C8E0EB1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47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9100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xit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3.75E-6 -7.40741E-7 L -3.75E-6 0.00023 " pathEditMode="relative" rAng="0" ptsTypes="AA">
                                      <p:cBhvr>
                                        <p:cTn id="23" dur="125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Rot by="1500000">
                                      <p:cBhvr>
                                        <p:cTn id="24" dur="6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5" dur="63" fill="hold">
                                          <p:stCondLst>
                                            <p:cond delay="63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6" dur="63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7" dur="63" fill="hold">
                                          <p:stCondLst>
                                            <p:cond delay="18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26"/>
                            </p:stCondLst>
                            <p:childTnLst>
                              <p:par>
                                <p:cTn id="2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326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F799E-D6CF-1F4A-D1AC-02F9AAE80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77F8-C896-DBFC-8318-1CE5640BD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Read-modify-write: x86-64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42AF89-4568-9DCB-D0DB-671637398D79}"/>
              </a:ext>
            </a:extLst>
          </p:cNvPr>
          <p:cNvSpPr txBox="1"/>
          <p:nvPr/>
        </p:nvSpPr>
        <p:spPr>
          <a:xfrm>
            <a:off x="4770306" y="5400983"/>
            <a:ext cx="2252516" cy="6463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3600" i="1"/>
            </a:lvl1pPr>
          </a:lstStyle>
          <a:p>
            <a:r>
              <a:rPr lang="en-US" dirty="0"/>
              <a:t>Core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E956BF-2327-2AFB-4737-4BA4CB9EB721}"/>
              </a:ext>
            </a:extLst>
          </p:cNvPr>
          <p:cNvSpPr txBox="1"/>
          <p:nvPr/>
        </p:nvSpPr>
        <p:spPr>
          <a:xfrm>
            <a:off x="4290504" y="1959428"/>
            <a:ext cx="3178629" cy="2239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dirty="0"/>
              <a:t>L1 Cache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47FC3EF-851A-B1D0-4F54-83166D457281}"/>
              </a:ext>
            </a:extLst>
          </p:cNvPr>
          <p:cNvCxnSpPr>
            <a:stCxn id="4" idx="0"/>
          </p:cNvCxnSpPr>
          <p:nvPr/>
        </p:nvCxnSpPr>
        <p:spPr>
          <a:xfrm flipV="1">
            <a:off x="5896564" y="3715319"/>
            <a:ext cx="0" cy="1685664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360CBDA-CEC3-693D-E67D-018CC661C4BD}"/>
              </a:ext>
            </a:extLst>
          </p:cNvPr>
          <p:cNvSpPr txBox="1"/>
          <p:nvPr/>
        </p:nvSpPr>
        <p:spPr>
          <a:xfrm>
            <a:off x="568994" y="1959428"/>
            <a:ext cx="2818819" cy="2239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dirty="0"/>
              <a:t>L1 Cache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2C71CD-714E-F5DF-855C-814376D1D100}"/>
              </a:ext>
            </a:extLst>
          </p:cNvPr>
          <p:cNvSpPr txBox="1"/>
          <p:nvPr/>
        </p:nvSpPr>
        <p:spPr>
          <a:xfrm>
            <a:off x="872460" y="3079186"/>
            <a:ext cx="2252516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3600">
                <a:latin typeface="Consolas" panose="020B0609020204030204" pitchFamily="49" charset="0"/>
              </a:defRPr>
            </a:lvl1pPr>
          </a:lstStyle>
          <a:p>
            <a:r>
              <a:rPr lang="en-US" dirty="0" err="1"/>
              <a:t>deadcafe</a:t>
            </a:r>
            <a:endParaRPr lang="en-US" dirty="0"/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340AC3EE-0898-0143-1CE4-C6176809CAF9}"/>
              </a:ext>
            </a:extLst>
          </p:cNvPr>
          <p:cNvSpPr/>
          <p:nvPr/>
        </p:nvSpPr>
        <p:spPr>
          <a:xfrm>
            <a:off x="348344" y="3010761"/>
            <a:ext cx="3357192" cy="762783"/>
          </a:xfrm>
          <a:prstGeom prst="mathMultiply">
            <a:avLst/>
          </a:prstGeom>
          <a:solidFill>
            <a:srgbClr val="6C0000">
              <a:alpha val="80000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C8920D-0EA5-3EB5-1095-B4947DDD2D92}"/>
              </a:ext>
            </a:extLst>
          </p:cNvPr>
          <p:cNvGrpSpPr/>
          <p:nvPr/>
        </p:nvGrpSpPr>
        <p:grpSpPr>
          <a:xfrm>
            <a:off x="8276593" y="1959428"/>
            <a:ext cx="3178629" cy="2239517"/>
            <a:chOff x="8276593" y="1959428"/>
            <a:chExt cx="3178629" cy="223951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82F2FE5-7362-65C0-E822-5CA828A6CB78}"/>
                </a:ext>
              </a:extLst>
            </p:cNvPr>
            <p:cNvSpPr txBox="1"/>
            <p:nvPr/>
          </p:nvSpPr>
          <p:spPr>
            <a:xfrm>
              <a:off x="8276593" y="1959428"/>
              <a:ext cx="3178629" cy="223951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3600" dirty="0"/>
                <a:t>L1 Cache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B02ABBA-BBFC-E537-4DFA-1709CC5D84B5}"/>
                </a:ext>
              </a:extLst>
            </p:cNvPr>
            <p:cNvSpPr txBox="1"/>
            <p:nvPr/>
          </p:nvSpPr>
          <p:spPr>
            <a:xfrm>
              <a:off x="8836335" y="3079186"/>
              <a:ext cx="2252516" cy="646331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 algn="ctr">
                <a:defRPr sz="3600">
                  <a:latin typeface="Consolas" panose="020B0609020204030204" pitchFamily="49" charset="0"/>
                </a:defRPr>
              </a:lvl1pPr>
            </a:lstStyle>
            <a:p>
              <a:r>
                <a:rPr lang="en-US" dirty="0" err="1">
                  <a:highlight>
                    <a:srgbClr val="FFFF00"/>
                  </a:highlight>
                </a:rPr>
                <a:t>b</a:t>
              </a:r>
              <a:r>
                <a:rPr lang="en-US" dirty="0" err="1"/>
                <a:t>eadcafe</a:t>
              </a:r>
              <a:endParaRPr lang="en-US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9F2A5C0-9AD7-942F-60AD-282B1990373E}"/>
              </a:ext>
            </a:extLst>
          </p:cNvPr>
          <p:cNvSpPr txBox="1"/>
          <p:nvPr/>
        </p:nvSpPr>
        <p:spPr>
          <a:xfrm>
            <a:off x="4686566" y="3079186"/>
            <a:ext cx="2252516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3600">
                <a:latin typeface="Consolas" panose="020B0609020204030204" pitchFamily="49" charset="0"/>
              </a:defRPr>
            </a:lvl1pPr>
          </a:lstStyle>
          <a:p>
            <a:r>
              <a:rPr lang="en-US" dirty="0" err="1"/>
              <a:t>deadcafe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2DD54A-B03A-A2C5-70E8-CD0052BFCB8D}"/>
              </a:ext>
            </a:extLst>
          </p:cNvPr>
          <p:cNvSpPr txBox="1"/>
          <p:nvPr/>
        </p:nvSpPr>
        <p:spPr>
          <a:xfrm>
            <a:off x="4686566" y="3079186"/>
            <a:ext cx="2252516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3600"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deadc</a:t>
            </a:r>
            <a:r>
              <a:rPr lang="en-US" dirty="0">
                <a:highlight>
                  <a:srgbClr val="FFFF00"/>
                </a:highlight>
              </a:rPr>
              <a:t>9</a:t>
            </a:r>
            <a:r>
              <a:rPr lang="en-US" dirty="0"/>
              <a:t>fe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A3DE51-1572-C5CC-0641-7C01606AB792}"/>
              </a:ext>
            </a:extLst>
          </p:cNvPr>
          <p:cNvCxnSpPr>
            <a:cxnSpLocks/>
          </p:cNvCxnSpPr>
          <p:nvPr/>
        </p:nvCxnSpPr>
        <p:spPr>
          <a:xfrm flipH="1">
            <a:off x="7933644" y="3495249"/>
            <a:ext cx="902691" cy="0"/>
          </a:xfrm>
          <a:prstGeom prst="straightConnector1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Graphic 28" descr="Exclamation mark with solid fill">
            <a:extLst>
              <a:ext uri="{FF2B5EF4-FFF2-40B4-BE49-F238E27FC236}">
                <a16:creationId xmlns:a16="http://schemas.microsoft.com/office/drawing/2014/main" id="{C69C4691-0384-BFE1-C04F-4FFFB4B5F1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3239" y="2537637"/>
            <a:ext cx="1685663" cy="1685663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387AF8B-6354-E507-53C9-F1E3E733F6E6}"/>
              </a:ext>
            </a:extLst>
          </p:cNvPr>
          <p:cNvCxnSpPr>
            <a:cxnSpLocks/>
          </p:cNvCxnSpPr>
          <p:nvPr/>
        </p:nvCxnSpPr>
        <p:spPr>
          <a:xfrm>
            <a:off x="5639477" y="3773544"/>
            <a:ext cx="0" cy="163750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BBB5197-A751-082A-A032-264865E27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48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85212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5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750"/>
                            </p:stCondLst>
                            <p:childTnLst>
                              <p:par>
                                <p:cTn id="10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3.75E-6 -7.40741E-7 L -3.75E-6 2.59259E-6 " pathEditMode="relative" rAng="0" ptsTypes="AA">
                                      <p:cBhvr>
                                        <p:cTn id="11" dur="125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66"/>
                                    </p:animMotion>
                                    <p:animRot by="1500000">
                                      <p:cBhvr>
                                        <p:cTn id="12" dur="6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63" fill="hold">
                                          <p:stCondLst>
                                            <p:cond delay="63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63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5" dur="63" fill="hold">
                                          <p:stCondLst>
                                            <p:cond delay="18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76"/>
                            </p:stCondLst>
                            <p:childTnLst>
                              <p:par>
                                <p:cTn id="1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75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1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E94CB-EE90-6B6A-4860-A00842C8A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Read-modify-write: ARM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5B7E2F-340A-D129-75A8-7251B88605B5}"/>
              </a:ext>
            </a:extLst>
          </p:cNvPr>
          <p:cNvSpPr txBox="1"/>
          <p:nvPr/>
        </p:nvSpPr>
        <p:spPr>
          <a:xfrm>
            <a:off x="3072135" y="5400983"/>
            <a:ext cx="2252516" cy="6463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3600" i="1"/>
            </a:lvl1pPr>
          </a:lstStyle>
          <a:p>
            <a:r>
              <a:rPr lang="en-US" dirty="0"/>
              <a:t>Core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570E00-3C7A-65F6-92D3-4D07CB3C915D}"/>
              </a:ext>
            </a:extLst>
          </p:cNvPr>
          <p:cNvSpPr txBox="1"/>
          <p:nvPr/>
        </p:nvSpPr>
        <p:spPr>
          <a:xfrm>
            <a:off x="1683657" y="1959428"/>
            <a:ext cx="4087305" cy="2239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dirty="0"/>
              <a:t>L1 Cache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0764E91-8EA3-868E-20C3-BD02B98E5704}"/>
              </a:ext>
            </a:extLst>
          </p:cNvPr>
          <p:cNvCxnSpPr>
            <a:stCxn id="4" idx="0"/>
          </p:cNvCxnSpPr>
          <p:nvPr/>
        </p:nvCxnSpPr>
        <p:spPr>
          <a:xfrm flipV="1">
            <a:off x="4198393" y="3715319"/>
            <a:ext cx="0" cy="1685664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99E500A-7CB9-2981-4043-6CBA89E66D52}"/>
              </a:ext>
            </a:extLst>
          </p:cNvPr>
          <p:cNvSpPr txBox="1"/>
          <p:nvPr/>
        </p:nvSpPr>
        <p:spPr>
          <a:xfrm>
            <a:off x="2254753" y="3105834"/>
            <a:ext cx="558049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Consolas" panose="020B0609020204030204" pitchFamily="49" charset="0"/>
              </a:rPr>
              <a:t>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B73D2C-64EB-D0E3-8080-1F4D5416079C}"/>
              </a:ext>
            </a:extLst>
          </p:cNvPr>
          <p:cNvSpPr txBox="1"/>
          <p:nvPr/>
        </p:nvSpPr>
        <p:spPr>
          <a:xfrm>
            <a:off x="2988395" y="3079186"/>
            <a:ext cx="2252516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3600">
                <a:latin typeface="Consolas" panose="020B0609020204030204" pitchFamily="49" charset="0"/>
              </a:defRPr>
            </a:lvl1pPr>
          </a:lstStyle>
          <a:p>
            <a:r>
              <a:rPr lang="en-US" dirty="0" err="1"/>
              <a:t>deadcafe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5309A1-30C2-2D4F-69C9-DB5339B3F6E3}"/>
              </a:ext>
            </a:extLst>
          </p:cNvPr>
          <p:cNvSpPr txBox="1"/>
          <p:nvPr/>
        </p:nvSpPr>
        <p:spPr>
          <a:xfrm>
            <a:off x="2988395" y="3079186"/>
            <a:ext cx="2252516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Consolas" panose="020B0609020204030204" pitchFamily="49" charset="0"/>
              </a:rPr>
              <a:t>deadc</a:t>
            </a:r>
            <a:r>
              <a:rPr lang="en-US" sz="3600" b="1" dirty="0">
                <a:highlight>
                  <a:srgbClr val="FFFF00"/>
                </a:highlight>
                <a:latin typeface="Consolas" panose="020B0609020204030204" pitchFamily="49" charset="0"/>
              </a:rPr>
              <a:t>9</a:t>
            </a:r>
            <a:r>
              <a:rPr lang="en-US" sz="3600" dirty="0">
                <a:latin typeface="Consolas" panose="020B0609020204030204" pitchFamily="49" charset="0"/>
              </a:rPr>
              <a:t>fe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A1AD73B-4C31-85ED-23BA-062841549F87}"/>
              </a:ext>
            </a:extLst>
          </p:cNvPr>
          <p:cNvCxnSpPr>
            <a:cxnSpLocks/>
          </p:cNvCxnSpPr>
          <p:nvPr/>
        </p:nvCxnSpPr>
        <p:spPr>
          <a:xfrm>
            <a:off x="3649206" y="3773544"/>
            <a:ext cx="0" cy="163750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EB5E01C-9F68-C8BA-7358-25DAA58297D6}"/>
              </a:ext>
            </a:extLst>
          </p:cNvPr>
          <p:cNvSpPr txBox="1"/>
          <p:nvPr/>
        </p:nvSpPr>
        <p:spPr>
          <a:xfrm>
            <a:off x="2606689" y="453835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LDXR</a:t>
            </a:r>
            <a:endParaRPr lang="LID4096" sz="2800" dirty="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276254-7405-7A63-37CE-A8FBB761387F}"/>
              </a:ext>
            </a:extLst>
          </p:cNvPr>
          <p:cNvSpPr txBox="1"/>
          <p:nvPr/>
        </p:nvSpPr>
        <p:spPr>
          <a:xfrm>
            <a:off x="4323806" y="453835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STXR</a:t>
            </a:r>
            <a:endParaRPr lang="LID4096" sz="2800" dirty="0"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BE5F99-8F64-1667-62F9-1B209E792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49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86106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8.33333E-7 -7.40741E-7 L -8.33333E-7 -1.11111E-6 " pathEditMode="relative" rAng="0" ptsTypes="AA">
                                      <p:cBhvr>
                                        <p:cTn id="19" dur="125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81"/>
                                    </p:animMotion>
                                    <p:animRot by="1500000">
                                      <p:cBhvr>
                                        <p:cTn id="20" dur="6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1" dur="63" fill="hold">
                                          <p:stCondLst>
                                            <p:cond delay="63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2" dur="63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3" dur="63" fill="hold">
                                          <p:stCondLst>
                                            <p:cond delay="18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9" grpId="1" animBg="1"/>
      <p:bldP spid="11" grpId="0" animBg="1"/>
      <p:bldP spid="16" grpId="0"/>
      <p:bldP spid="1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C697F-1DA5-5D2A-9B46-A88516887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E22BA-B7CB-DED4-EC2B-5774BE18D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Read-modify-write: ARM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D365F2-B0C9-37F9-85A1-AAE952659118}"/>
              </a:ext>
            </a:extLst>
          </p:cNvPr>
          <p:cNvSpPr txBox="1"/>
          <p:nvPr/>
        </p:nvSpPr>
        <p:spPr>
          <a:xfrm>
            <a:off x="3072135" y="5400983"/>
            <a:ext cx="2252516" cy="6463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3600" i="1"/>
            </a:lvl1pPr>
          </a:lstStyle>
          <a:p>
            <a:r>
              <a:rPr lang="en-US" dirty="0"/>
              <a:t>Core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479E9F-A2D8-65CE-069E-21295C99574E}"/>
              </a:ext>
            </a:extLst>
          </p:cNvPr>
          <p:cNvSpPr txBox="1"/>
          <p:nvPr/>
        </p:nvSpPr>
        <p:spPr>
          <a:xfrm>
            <a:off x="1683657" y="1959428"/>
            <a:ext cx="4087305" cy="2239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dirty="0"/>
              <a:t>L1 Cache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007FCA5-10EC-3744-1987-B9A6E58FD180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4198393" y="4538354"/>
            <a:ext cx="0" cy="862629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BFC0928-B425-0280-E5EA-3AF621AEE238}"/>
              </a:ext>
            </a:extLst>
          </p:cNvPr>
          <p:cNvSpPr txBox="1"/>
          <p:nvPr/>
        </p:nvSpPr>
        <p:spPr>
          <a:xfrm>
            <a:off x="2254753" y="3105834"/>
            <a:ext cx="558049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3600" b="1"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7CDF1E-EBAF-701E-FECA-EC408CDDCC27}"/>
              </a:ext>
            </a:extLst>
          </p:cNvPr>
          <p:cNvSpPr txBox="1"/>
          <p:nvPr/>
        </p:nvSpPr>
        <p:spPr>
          <a:xfrm>
            <a:off x="2988395" y="3079186"/>
            <a:ext cx="2252516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3600" b="1">
                <a:latin typeface="Consolas" panose="020B0609020204030204" pitchFamily="49" charset="0"/>
              </a:defRPr>
            </a:lvl1pPr>
          </a:lstStyle>
          <a:p>
            <a:r>
              <a:rPr lang="en-US" b="0" dirty="0" err="1"/>
              <a:t>deadcafe</a:t>
            </a:r>
            <a:endParaRPr lang="en-US" b="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E858F11-6D67-EBFB-7177-F45F151E9A24}"/>
              </a:ext>
            </a:extLst>
          </p:cNvPr>
          <p:cNvCxnSpPr>
            <a:cxnSpLocks/>
          </p:cNvCxnSpPr>
          <p:nvPr/>
        </p:nvCxnSpPr>
        <p:spPr>
          <a:xfrm>
            <a:off x="3674606" y="3773544"/>
            <a:ext cx="0" cy="163750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ACD9540-17D5-C319-020B-674CFBA3A969}"/>
              </a:ext>
            </a:extLst>
          </p:cNvPr>
          <p:cNvSpPr txBox="1"/>
          <p:nvPr/>
        </p:nvSpPr>
        <p:spPr>
          <a:xfrm>
            <a:off x="2632089" y="453835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LDXR</a:t>
            </a:r>
            <a:endParaRPr lang="LID4096" sz="2800" dirty="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4A3C8A-95FB-83D3-E435-949EA793386A}"/>
              </a:ext>
            </a:extLst>
          </p:cNvPr>
          <p:cNvSpPr txBox="1"/>
          <p:nvPr/>
        </p:nvSpPr>
        <p:spPr>
          <a:xfrm>
            <a:off x="4323806" y="453835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STXR</a:t>
            </a:r>
            <a:endParaRPr lang="LID4096" sz="28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AF95EE-1425-B235-D5D6-4B46CFD41290}"/>
              </a:ext>
            </a:extLst>
          </p:cNvPr>
          <p:cNvSpPr txBox="1"/>
          <p:nvPr/>
        </p:nvSpPr>
        <p:spPr>
          <a:xfrm>
            <a:off x="6578422" y="1959428"/>
            <a:ext cx="4305478" cy="2239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dirty="0"/>
              <a:t>L1 Cache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07A219-E633-B0E3-3DED-B93E9FCB88CE}"/>
              </a:ext>
            </a:extLst>
          </p:cNvPr>
          <p:cNvSpPr txBox="1"/>
          <p:nvPr/>
        </p:nvSpPr>
        <p:spPr>
          <a:xfrm>
            <a:off x="7336597" y="3079186"/>
            <a:ext cx="3051051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3600" b="1">
                <a:latin typeface="Consolas" panose="020B0609020204030204" pitchFamily="49" charset="0"/>
              </a:defRPr>
            </a:lvl1pPr>
          </a:lstStyle>
          <a:p>
            <a:r>
              <a:rPr lang="en-US" b="0" dirty="0" err="1">
                <a:highlight>
                  <a:srgbClr val="FFFF00"/>
                </a:highlight>
              </a:rPr>
              <a:t>b</a:t>
            </a:r>
            <a:r>
              <a:rPr lang="en-US" b="0" dirty="0" err="1"/>
              <a:t>eadcafe</a:t>
            </a:r>
            <a:endParaRPr lang="en-US" b="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F72F40F-399F-F894-E68A-9E80DAD595D3}"/>
              </a:ext>
            </a:extLst>
          </p:cNvPr>
          <p:cNvCxnSpPr>
            <a:cxnSpLocks/>
          </p:cNvCxnSpPr>
          <p:nvPr/>
        </p:nvCxnSpPr>
        <p:spPr>
          <a:xfrm flipH="1">
            <a:off x="5324651" y="3495249"/>
            <a:ext cx="2011946" cy="0"/>
          </a:xfrm>
          <a:prstGeom prst="straightConnector1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CE4247B-1397-1DC7-F789-F55CEBA4D7C4}"/>
              </a:ext>
            </a:extLst>
          </p:cNvPr>
          <p:cNvSpPr txBox="1"/>
          <p:nvPr/>
        </p:nvSpPr>
        <p:spPr>
          <a:xfrm>
            <a:off x="7840357" y="5400983"/>
            <a:ext cx="2252516" cy="6463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3600" i="1"/>
            </a:lvl1pPr>
          </a:lstStyle>
          <a:p>
            <a:r>
              <a:rPr lang="en-US" dirty="0"/>
              <a:t>Core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462DB7F-19A0-DD5C-E2DF-FFA7C3AF29C1}"/>
              </a:ext>
            </a:extLst>
          </p:cNvPr>
          <p:cNvCxnSpPr>
            <a:stCxn id="15" idx="0"/>
          </p:cNvCxnSpPr>
          <p:nvPr/>
        </p:nvCxnSpPr>
        <p:spPr>
          <a:xfrm flipV="1">
            <a:off x="8966615" y="3715319"/>
            <a:ext cx="0" cy="1685664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BD44BC3-8841-D8DE-056B-EDDDA3131686}"/>
              </a:ext>
            </a:extLst>
          </p:cNvPr>
          <p:cNvSpPr txBox="1"/>
          <p:nvPr/>
        </p:nvSpPr>
        <p:spPr>
          <a:xfrm>
            <a:off x="9092028" y="4538354"/>
            <a:ext cx="776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STR</a:t>
            </a:r>
            <a:endParaRPr lang="LID4096" sz="2800" dirty="0">
              <a:latin typeface="Consolas" panose="020B0609020204030204" pitchFamily="49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EF69DFC-6119-3074-92A8-9D24EC80AF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914569" y="3773544"/>
            <a:ext cx="646332" cy="64633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224178-8DB6-71D8-66FC-6A97A3EBE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50</a:t>
            </a:fld>
            <a:endParaRPr lang="en-US"/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0295D3FD-53C1-7965-E139-565AE7BA9127}"/>
              </a:ext>
            </a:extLst>
          </p:cNvPr>
          <p:cNvSpPr/>
          <p:nvPr/>
        </p:nvSpPr>
        <p:spPr>
          <a:xfrm>
            <a:off x="2436057" y="3010761"/>
            <a:ext cx="3357192" cy="762783"/>
          </a:xfrm>
          <a:prstGeom prst="mathMultiply">
            <a:avLst/>
          </a:prstGeom>
          <a:solidFill>
            <a:srgbClr val="6C0000">
              <a:alpha val="80000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73332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5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25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9" presetClass="exit" presetSubtype="0" ac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8.33333E-7 -7.40741E-7 L -8.33333E-7 -3.7037E-7 " pathEditMode="relative" rAng="0" ptsTypes="AA">
                                      <p:cBhvr>
                                        <p:cTn id="52" dur="125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9"/>
                                    </p:animMotion>
                                    <p:animRot by="1500000">
                                      <p:cBhvr>
                                        <p:cTn id="53" dur="6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4" dur="63" fill="hold">
                                          <p:stCondLst>
                                            <p:cond delay="63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5" dur="63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6" dur="63" fill="hold">
                                          <p:stCondLst>
                                            <p:cond delay="18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26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6"/>
                            </p:stCondLst>
                            <p:childTnLst>
                              <p:par>
                                <p:cTn id="6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9" grpId="1" animBg="1"/>
      <p:bldP spid="16" grpId="0"/>
      <p:bldP spid="17" grpId="0"/>
      <p:bldP spid="8" grpId="0" animBg="1"/>
      <p:bldP spid="21" grpId="0"/>
      <p:bldP spid="1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F139E-48FC-BC73-090A-45B5862EC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EE86E-27C1-AF87-C7A2-0ACEFB15A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Read-modify-write: ARM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746B75-80B3-129B-3BF1-968ADF1DBFD1}"/>
              </a:ext>
            </a:extLst>
          </p:cNvPr>
          <p:cNvSpPr txBox="1"/>
          <p:nvPr/>
        </p:nvSpPr>
        <p:spPr>
          <a:xfrm>
            <a:off x="3072135" y="5400983"/>
            <a:ext cx="2252516" cy="6463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3600" i="1"/>
            </a:lvl1pPr>
          </a:lstStyle>
          <a:p>
            <a:r>
              <a:rPr lang="en-US" dirty="0"/>
              <a:t>Core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FA4E02-E4D1-3844-CA6A-AC588525677D}"/>
              </a:ext>
            </a:extLst>
          </p:cNvPr>
          <p:cNvSpPr txBox="1"/>
          <p:nvPr/>
        </p:nvSpPr>
        <p:spPr>
          <a:xfrm>
            <a:off x="1683657" y="1959428"/>
            <a:ext cx="4087305" cy="2239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dirty="0"/>
              <a:t>L1 Cache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5D0C6FF-B9B5-D010-7F15-6D6633EC3FB5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4198393" y="4538354"/>
            <a:ext cx="0" cy="862629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0427E44-0891-60CA-DDFF-DE70C096F586}"/>
              </a:ext>
            </a:extLst>
          </p:cNvPr>
          <p:cNvSpPr txBox="1"/>
          <p:nvPr/>
        </p:nvSpPr>
        <p:spPr>
          <a:xfrm>
            <a:off x="2988395" y="3079186"/>
            <a:ext cx="2252516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LID4096"/>
            </a:defPPr>
            <a:lvl1pPr algn="ctr">
              <a:defRPr sz="3600" b="1">
                <a:latin typeface="Consolas" panose="020B0609020204030204" pitchFamily="49" charset="0"/>
              </a:defRPr>
            </a:lvl1pPr>
          </a:lstStyle>
          <a:p>
            <a:r>
              <a:rPr lang="en-US" b="0" dirty="0" err="1"/>
              <a:t>deadcafe</a:t>
            </a:r>
            <a:endParaRPr lang="en-US" b="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D991847-A5EC-6B41-CF64-9C75FBB259CA}"/>
              </a:ext>
            </a:extLst>
          </p:cNvPr>
          <p:cNvCxnSpPr>
            <a:cxnSpLocks/>
          </p:cNvCxnSpPr>
          <p:nvPr/>
        </p:nvCxnSpPr>
        <p:spPr>
          <a:xfrm>
            <a:off x="3674606" y="3773544"/>
            <a:ext cx="0" cy="163750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03652B7-7E35-F39D-B244-1D586B9A6E2D}"/>
              </a:ext>
            </a:extLst>
          </p:cNvPr>
          <p:cNvSpPr txBox="1"/>
          <p:nvPr/>
        </p:nvSpPr>
        <p:spPr>
          <a:xfrm>
            <a:off x="2632089" y="453835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LDXR</a:t>
            </a:r>
            <a:endParaRPr lang="LID4096" sz="2800" dirty="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A900AF-7313-66E2-21C4-2102CFFBB44C}"/>
              </a:ext>
            </a:extLst>
          </p:cNvPr>
          <p:cNvSpPr txBox="1"/>
          <p:nvPr/>
        </p:nvSpPr>
        <p:spPr>
          <a:xfrm>
            <a:off x="4323806" y="453835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STXR</a:t>
            </a:r>
            <a:endParaRPr lang="LID4096" sz="2800" dirty="0">
              <a:latin typeface="Consolas" panose="020B0609020204030204" pitchFamily="49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7E4B39B-B707-45C6-D745-F48ACB26F8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914569" y="3773544"/>
            <a:ext cx="646332" cy="6463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8793D2-06A1-8FED-D143-4C1387E26774}"/>
              </a:ext>
            </a:extLst>
          </p:cNvPr>
          <p:cNvSpPr txBox="1"/>
          <p:nvPr/>
        </p:nvSpPr>
        <p:spPr>
          <a:xfrm>
            <a:off x="5946555" y="2798058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800" dirty="0" err="1">
                <a:latin typeface="Consolas" panose="020B0609020204030204" pitchFamily="49" charset="0"/>
              </a:rPr>
              <a:t>compare_exchange_weak</a:t>
            </a:r>
            <a:r>
              <a:rPr lang="en-US" sz="2800" dirty="0">
                <a:latin typeface="Consolas" panose="020B0609020204030204" pitchFamily="49" charset="0"/>
              </a:rPr>
              <a:t>(), </a:t>
            </a:r>
            <a:r>
              <a:rPr lang="en-US" sz="2800" dirty="0" err="1">
                <a:latin typeface="Consolas" panose="020B0609020204030204" pitchFamily="49" charset="0"/>
              </a:rPr>
              <a:t>compare_exchange_strong</a:t>
            </a:r>
            <a:r>
              <a:rPr lang="en-US" sz="2800" dirty="0"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34D8F4-0418-E10E-1A29-14A7DDB19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2065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ECA83-7FC1-B814-5A46-026948C62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Read-modify-write: ARM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3DD17-48A2-8FB8-668C-060F9E592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LDXR/STXR extension: </a:t>
            </a:r>
          </a:p>
          <a:p>
            <a:pPr lvl="1"/>
            <a:r>
              <a:rPr lang="en-US" dirty="0"/>
              <a:t>LDAXR – load-</a:t>
            </a:r>
            <a:r>
              <a:rPr lang="en-US" b="1" dirty="0"/>
              <a:t>acquire</a:t>
            </a:r>
            <a:r>
              <a:rPr lang="en-US" dirty="0"/>
              <a:t> exclusive register</a:t>
            </a:r>
          </a:p>
          <a:p>
            <a:pPr lvl="1"/>
            <a:r>
              <a:rPr lang="en-US" dirty="0"/>
              <a:t>STLXR – store-</a:t>
            </a:r>
            <a:r>
              <a:rPr lang="en-US" b="1" dirty="0"/>
              <a:t>release</a:t>
            </a:r>
            <a:r>
              <a:rPr lang="en-US" dirty="0"/>
              <a:t> exclusive register</a:t>
            </a:r>
          </a:p>
          <a:p>
            <a:pPr lvl="1"/>
            <a:r>
              <a:rPr lang="en-US" dirty="0"/>
              <a:t>Additionally enforce acquire/release ordering, same as LDAR/STLR</a:t>
            </a:r>
          </a:p>
          <a:p>
            <a:pPr lvl="1"/>
            <a:r>
              <a:rPr lang="en-US" dirty="0"/>
              <a:t>Necessary to actually be usable in locks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Riddle: why is the exclusive monitor needed?</a:t>
            </a:r>
          </a:p>
          <a:p>
            <a:pPr lvl="1"/>
            <a:r>
              <a:rPr lang="en-US" dirty="0"/>
              <a:t>Why not a special “store that fails if the </a:t>
            </a:r>
            <a:r>
              <a:rPr lang="en-US" dirty="0" err="1"/>
              <a:t>dest</a:t>
            </a:r>
            <a:r>
              <a:rPr lang="en-US" dirty="0"/>
              <a:t> cache line is invalidated”?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F63C4-3260-0197-79E8-E099E64F1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52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4326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81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E36A8C5-5F3E-505F-867F-09FA803F4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Models</a:t>
            </a:r>
            <a:endParaRPr lang="LID4096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2DF84A-2586-BE3A-40F5-44C69767BB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12342-539D-AB61-96F0-0740CF898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53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43E609-7E8C-F732-4825-A254F202B2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7859" y="3302000"/>
            <a:ext cx="4898103" cy="357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8240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0C7D-2A71-FC5A-D3AB-B20F620F2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85E90-E947-A641-8CE1-F28B2EBEC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Strong:</a:t>
            </a:r>
          </a:p>
          <a:p>
            <a:pPr lvl="1"/>
            <a:r>
              <a:rPr lang="en-US" dirty="0"/>
              <a:t>Strict Consistency</a:t>
            </a:r>
          </a:p>
          <a:p>
            <a:pPr lvl="1"/>
            <a:r>
              <a:rPr lang="en-US" dirty="0"/>
              <a:t>Sequential Consistency (SC)</a:t>
            </a:r>
          </a:p>
          <a:p>
            <a:pPr lvl="1"/>
            <a:endParaRPr lang="en-US" dirty="0"/>
          </a:p>
          <a:p>
            <a:r>
              <a:rPr lang="en-US" dirty="0"/>
              <a:t>Sort-of strong:</a:t>
            </a:r>
          </a:p>
          <a:p>
            <a:pPr lvl="1"/>
            <a:r>
              <a:rPr lang="en-US" dirty="0"/>
              <a:t>TSO</a:t>
            </a:r>
          </a:p>
          <a:p>
            <a:pPr lvl="2"/>
            <a:r>
              <a:rPr lang="en-US" dirty="0"/>
              <a:t>New loads can bypass old stores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87217-7EF1-597E-E7A3-4EAA07BF4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459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F206E-8812-F61B-AE67-639D33711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Relaxed Memory Model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5317D-890B-CF6B-544E-0FFBAAE8C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RISC-V Weak Memory Ordering (RVWMO)</a:t>
            </a:r>
          </a:p>
          <a:p>
            <a:r>
              <a:rPr lang="en-US" dirty="0"/>
              <a:t>Processor Consistency (PC)</a:t>
            </a:r>
          </a:p>
          <a:p>
            <a:r>
              <a:rPr lang="en-US" dirty="0"/>
              <a:t>Release Consistency (RC)</a:t>
            </a:r>
          </a:p>
          <a:p>
            <a:r>
              <a:rPr lang="en-US" dirty="0"/>
              <a:t>…</a:t>
            </a:r>
          </a:p>
          <a:p>
            <a:endParaRPr lang="en-US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8674C-CB02-E199-3960-DC5D5862A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55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2BFF94-8702-E560-0051-E65688262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33" y="2438897"/>
            <a:ext cx="4558362" cy="266024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E1889E-38C7-DEA3-2312-81287992C0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75998" y="3696187"/>
            <a:ext cx="6210333" cy="32792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531883-A83F-062E-4B2C-39B51A2A0ED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3817"/>
          <a:stretch>
            <a:fillRect/>
          </a:stretch>
        </p:blipFill>
        <p:spPr>
          <a:xfrm>
            <a:off x="5626669" y="4134155"/>
            <a:ext cx="4853665" cy="279101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83636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2BD5D-9BCA-684C-C325-C42A6A45F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Memory Model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5369E-AAD9-A0E5-65FC-3A0CB5821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this: 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F134B-696A-9797-12B8-C58749078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56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A10B5D-947E-C006-83F7-D02F5C0FF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1" y="1825625"/>
            <a:ext cx="7378234" cy="470667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610710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3E140-3541-11C8-18F7-77F49306E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40CF2-DB02-4E06-AC23-2EC7EE639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Memory Model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9F7A3-3B96-2414-E293-1AEBE8761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Sequential-Consistency for Data-Race-Free   (SC-DRF)</a:t>
            </a:r>
          </a:p>
          <a:p>
            <a:pPr lvl="1"/>
            <a:r>
              <a:rPr lang="en-US" dirty="0"/>
              <a:t>If the program has no data races, execution would appear to all threads as some interleaving of thread program-orders.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a program is data-race-free, isn’t that obvious?</a:t>
            </a: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34FD5F-FE5A-35FD-5FDB-60C90114C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57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7520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20C29-0589-5B23-CEBA-39405677A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Memory Model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A7BA3-6897-0070-91C8-9235D84E0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threads accessing the same memory, at least one of them writing to it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Two threads accessing the same memory, at least one of them writing to it, </a:t>
            </a:r>
            <a:r>
              <a:rPr lang="en-US" b="1" dirty="0"/>
              <a:t>with no </a:t>
            </a:r>
            <a:r>
              <a:rPr lang="en-US" b="1" i="1" dirty="0"/>
              <a:t>happens-before </a:t>
            </a:r>
            <a:r>
              <a:rPr lang="en-US" b="1" dirty="0"/>
              <a:t>relation between the operations</a:t>
            </a:r>
            <a:endParaRPr lang="LID4096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474DB-14D7-A31F-5BF0-38541DA4D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58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0030FA9-AF19-CEF3-DE09-4D578F7F7BD6}"/>
              </a:ext>
            </a:extLst>
          </p:cNvPr>
          <p:cNvGrpSpPr/>
          <p:nvPr/>
        </p:nvGrpSpPr>
        <p:grpSpPr>
          <a:xfrm>
            <a:off x="3607682" y="2523744"/>
            <a:ext cx="5152270" cy="584775"/>
            <a:chOff x="3607682" y="2523744"/>
            <a:chExt cx="5152270" cy="584775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8151EDA5-DE1D-23C0-3B36-B624640E90FE}"/>
                </a:ext>
              </a:extLst>
            </p:cNvPr>
            <p:cNvCxnSpPr/>
            <p:nvPr/>
          </p:nvCxnSpPr>
          <p:spPr>
            <a:xfrm>
              <a:off x="3607682" y="2816352"/>
              <a:ext cx="2011680" cy="0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7DD2446-E4C4-7228-F904-CA5343C2D343}"/>
                </a:ext>
              </a:extLst>
            </p:cNvPr>
            <p:cNvSpPr txBox="1"/>
            <p:nvPr/>
          </p:nvSpPr>
          <p:spPr>
            <a:xfrm>
              <a:off x="5724144" y="2523744"/>
              <a:ext cx="30358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Data </a:t>
              </a:r>
              <a:r>
                <a:rPr lang="en-US" sz="3200" b="1" dirty="0"/>
                <a:t>conflict</a:t>
              </a:r>
              <a:endParaRPr lang="LID4096" sz="32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617DF59-6550-EC44-88FD-85662AF9FE97}"/>
              </a:ext>
            </a:extLst>
          </p:cNvPr>
          <p:cNvGrpSpPr/>
          <p:nvPr/>
        </p:nvGrpSpPr>
        <p:grpSpPr>
          <a:xfrm>
            <a:off x="3607682" y="4834458"/>
            <a:ext cx="5152270" cy="584775"/>
            <a:chOff x="3607682" y="4834458"/>
            <a:chExt cx="5152270" cy="584775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63F927E-E4A4-B987-4A81-DBBE33B5972C}"/>
                </a:ext>
              </a:extLst>
            </p:cNvPr>
            <p:cNvCxnSpPr/>
            <p:nvPr/>
          </p:nvCxnSpPr>
          <p:spPr>
            <a:xfrm>
              <a:off x="3607682" y="5127066"/>
              <a:ext cx="2011680" cy="0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515C9CB-9AC6-3E8D-1BF2-F07A4628A5D6}"/>
                </a:ext>
              </a:extLst>
            </p:cNvPr>
            <p:cNvSpPr txBox="1"/>
            <p:nvPr/>
          </p:nvSpPr>
          <p:spPr>
            <a:xfrm>
              <a:off x="5724144" y="4834458"/>
              <a:ext cx="30358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Data </a:t>
              </a:r>
              <a:r>
                <a:rPr lang="en-US" sz="3200" b="1" dirty="0"/>
                <a:t>race</a:t>
              </a:r>
              <a:endParaRPr lang="LID4096" sz="3200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959868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91619-E2A6-428C-78E4-7111FDF2C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D5AC6-6D55-30D1-CB1D-E4020BA6D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Memory Model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D4377-BD67-BB1D-2DA7-22E59AFDD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threads accessing the same memory, at least one of them writing to it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Two threads accessing the same memory, at least one of them writing to it, </a:t>
            </a:r>
            <a:r>
              <a:rPr lang="en-US" b="1" dirty="0"/>
              <a:t>with no </a:t>
            </a:r>
            <a:r>
              <a:rPr lang="en-US" b="1" i="1" dirty="0"/>
              <a:t>happens-before </a:t>
            </a:r>
            <a:r>
              <a:rPr lang="en-US" b="1" dirty="0"/>
              <a:t>relation between the operations</a:t>
            </a:r>
            <a:endParaRPr lang="LID4096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75E0D-375C-5997-7141-C32391714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59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E7E96BC-C193-EB4E-687A-76FB72E7BA6B}"/>
              </a:ext>
            </a:extLst>
          </p:cNvPr>
          <p:cNvGrpSpPr/>
          <p:nvPr/>
        </p:nvGrpSpPr>
        <p:grpSpPr>
          <a:xfrm>
            <a:off x="3607682" y="2523744"/>
            <a:ext cx="5152270" cy="584775"/>
            <a:chOff x="3607682" y="2523744"/>
            <a:chExt cx="5152270" cy="584775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B312137F-0E67-E149-63B5-2C1BBB641564}"/>
                </a:ext>
              </a:extLst>
            </p:cNvPr>
            <p:cNvCxnSpPr/>
            <p:nvPr/>
          </p:nvCxnSpPr>
          <p:spPr>
            <a:xfrm>
              <a:off x="3607682" y="2816352"/>
              <a:ext cx="2011680" cy="0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4C82266-2A0F-46A0-4CD6-B7C040D530AA}"/>
                </a:ext>
              </a:extLst>
            </p:cNvPr>
            <p:cNvSpPr txBox="1"/>
            <p:nvPr/>
          </p:nvSpPr>
          <p:spPr>
            <a:xfrm>
              <a:off x="5724144" y="2523744"/>
              <a:ext cx="30358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Data </a:t>
              </a:r>
              <a:r>
                <a:rPr lang="en-US" sz="3200" b="1" dirty="0"/>
                <a:t>conflict</a:t>
              </a:r>
              <a:endParaRPr lang="LID4096" sz="32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8D079C7-B9F2-9BDC-A503-C535C1DDFBEE}"/>
              </a:ext>
            </a:extLst>
          </p:cNvPr>
          <p:cNvGrpSpPr/>
          <p:nvPr/>
        </p:nvGrpSpPr>
        <p:grpSpPr>
          <a:xfrm>
            <a:off x="3607682" y="4834458"/>
            <a:ext cx="5152270" cy="584775"/>
            <a:chOff x="3607682" y="4834458"/>
            <a:chExt cx="5152270" cy="584775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F314CFF-1B6B-8D73-FB9F-92E9118CDBEC}"/>
                </a:ext>
              </a:extLst>
            </p:cNvPr>
            <p:cNvCxnSpPr/>
            <p:nvPr/>
          </p:nvCxnSpPr>
          <p:spPr>
            <a:xfrm>
              <a:off x="3607682" y="5127066"/>
              <a:ext cx="2011680" cy="0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86A677F-243A-682A-BB39-5A687263BD96}"/>
                </a:ext>
              </a:extLst>
            </p:cNvPr>
            <p:cNvSpPr txBox="1"/>
            <p:nvPr/>
          </p:nvSpPr>
          <p:spPr>
            <a:xfrm>
              <a:off x="5724144" y="4834458"/>
              <a:ext cx="30358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Data </a:t>
              </a:r>
              <a:r>
                <a:rPr lang="en-US" sz="3200" b="1" dirty="0"/>
                <a:t>race</a:t>
              </a:r>
              <a:endParaRPr lang="LID4096" sz="3200" dirty="0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C9B858C9-D2E9-0D0D-D799-F01DB33E5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13429">
            <a:off x="2238279" y="1790496"/>
            <a:ext cx="9545382" cy="32008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8C43904-0AA2-9C7D-202F-3DB9E1C515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294600">
            <a:off x="688132" y="2816352"/>
            <a:ext cx="9716856" cy="16861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AA503D0-CC25-589F-1519-808467C73D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77743">
            <a:off x="3656109" y="3299937"/>
            <a:ext cx="8897592" cy="220058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FF5F563-3E12-04AE-410D-5B392A45F4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019377">
            <a:off x="1910478" y="4648210"/>
            <a:ext cx="9754961" cy="1228896"/>
          </a:xfrm>
          <a:prstGeom prst="rect">
            <a:avLst/>
          </a:prstGeom>
        </p:spPr>
      </p:pic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0288DD70-5020-91A5-9268-082D1C5DA3AA}"/>
              </a:ext>
            </a:extLst>
          </p:cNvPr>
          <p:cNvSpPr txBox="1">
            <a:spLocks/>
          </p:cNvSpPr>
          <p:nvPr/>
        </p:nvSpPr>
        <p:spPr>
          <a:xfrm>
            <a:off x="8738287" y="575702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LID4096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91B715-7B1A-466F-BF35-E3F7208B692F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45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A261B-F77B-882A-CC76-9C15D4FE6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7BD41-1F25-1277-7C35-F686AB667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sz="2400" dirty="0">
              <a:hlinkClick r:id="rId3"/>
            </a:endParaRPr>
          </a:p>
          <a:p>
            <a:pPr marL="0" indent="0">
              <a:buNone/>
            </a:pPr>
            <a:endParaRPr lang="en-US" sz="2400" dirty="0">
              <a:hlinkClick r:id="rId3"/>
            </a:endParaRPr>
          </a:p>
          <a:p>
            <a:pPr marL="0" indent="0">
              <a:buNone/>
            </a:pPr>
            <a:endParaRPr lang="en-US" sz="2400" dirty="0">
              <a:hlinkClick r:id="rId3"/>
            </a:endParaRPr>
          </a:p>
          <a:p>
            <a:pPr marL="0" indent="0">
              <a:buNone/>
            </a:pPr>
            <a:endParaRPr lang="en-US" sz="2400" dirty="0">
              <a:hlinkClick r:id="rId3"/>
            </a:endParaRPr>
          </a:p>
          <a:p>
            <a:pPr marL="0" indent="0">
              <a:buNone/>
            </a:pPr>
            <a:endParaRPr lang="en-US" sz="2400" dirty="0">
              <a:hlinkClick r:id="rId3"/>
            </a:endParaRPr>
          </a:p>
          <a:p>
            <a:pPr marL="0" indent="0">
              <a:buNone/>
            </a:pPr>
            <a:endParaRPr lang="en-US" sz="2400" dirty="0">
              <a:hlinkClick r:id="rId3"/>
            </a:endParaRPr>
          </a:p>
          <a:p>
            <a:pPr marL="0" indent="0">
              <a:buNone/>
            </a:pPr>
            <a:endParaRPr lang="en-US" sz="2400" dirty="0">
              <a:hlinkClick r:id="rId3"/>
            </a:endParaRPr>
          </a:p>
          <a:p>
            <a:pPr marL="0" indent="0">
              <a:buNone/>
            </a:pPr>
            <a:endParaRPr lang="en-US" sz="2400" dirty="0">
              <a:hlinkClick r:id="rId3"/>
            </a:endParaRPr>
          </a:p>
          <a:p>
            <a:pPr marL="0" indent="0">
              <a:buNone/>
            </a:pPr>
            <a:endParaRPr lang="en-US" sz="2400" dirty="0">
              <a:hlinkClick r:id="rId3"/>
            </a:endParaRPr>
          </a:p>
          <a:p>
            <a:pPr marL="0" indent="0">
              <a:buNone/>
            </a:pPr>
            <a:endParaRPr lang="en-US" sz="2400" dirty="0">
              <a:hlinkClick r:id="rId3"/>
            </a:endParaRPr>
          </a:p>
          <a:p>
            <a:pPr marL="0" indent="0">
              <a:buNone/>
            </a:pPr>
            <a:endParaRPr lang="en-US" sz="2400" dirty="0">
              <a:hlinkClick r:id="rId3"/>
            </a:endParaRPr>
          </a:p>
          <a:p>
            <a:pPr marL="0" indent="0">
              <a:buNone/>
            </a:pPr>
            <a:r>
              <a:rPr lang="en-US" sz="2400" dirty="0">
                <a:hlinkClick r:id="rId3"/>
              </a:rPr>
              <a:t>https://www.cl.cam.ac.uk/~pes20/rems/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41E12-F231-AD59-BD9D-A1FA1443F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60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589136-787B-2D07-CEEF-4C7E4283A4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8833" y="579437"/>
            <a:ext cx="6652333" cy="496434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20A026-3708-9D76-9393-545C7EC6D2AC}"/>
              </a:ext>
            </a:extLst>
          </p:cNvPr>
          <p:cNvSpPr/>
          <p:nvPr/>
        </p:nvSpPr>
        <p:spPr>
          <a:xfrm>
            <a:off x="4254500" y="4330700"/>
            <a:ext cx="1155700" cy="12130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3202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8602C-A1C0-475E-C374-660699EC8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5036C-CD29-0218-4187-B2E5DE37F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261EC3-88D5-DCF5-101F-ECE3EE56E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61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4A999F-0A60-FAC1-FFBE-A37A5437D3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2" t="3055" b="8659"/>
          <a:stretch>
            <a:fillRect/>
          </a:stretch>
        </p:blipFill>
        <p:spPr>
          <a:xfrm>
            <a:off x="838200" y="1490312"/>
            <a:ext cx="10020794" cy="50025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9766434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89242-5C4D-9C45-5B65-276A64A7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839AA-0050-6388-B337-A7B82DA05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http://svr-pes20-cppmem.cl.cam.ac.uk/cppmem/</a:t>
            </a:r>
            <a:endParaRPr lang="en-US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98B4E-4CC6-71C5-8000-24412766E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62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E945AF-87D0-60CD-C10F-CEB063ABE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363" y="1246514"/>
            <a:ext cx="6743923" cy="44004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89885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5516B-E974-3741-6183-E4866A3A3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1D92F-596F-7898-7AA4-A0A6E8B27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1AE78-69DE-7944-93BA-83F9F8469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6863F-6B5D-A910-5221-5076E5ADA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63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13F091-7500-721E-74C4-D4C95350C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953" y="1622599"/>
            <a:ext cx="9999023" cy="475738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0751122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FF2FE-C1A9-17AC-C145-09AA052AC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Out-of-Thin-Air (OOTA)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E7592-5617-DC30-A720-BC5ABA76C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64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B61FC0-B27E-FD64-4AD2-B6CCD6F849E9}"/>
              </a:ext>
            </a:extLst>
          </p:cNvPr>
          <p:cNvSpPr/>
          <p:nvPr/>
        </p:nvSpPr>
        <p:spPr>
          <a:xfrm>
            <a:off x="4535715" y="2523068"/>
            <a:ext cx="1917700" cy="4248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if (y == 1)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198FD1E-BA8A-F3CC-4BD7-CEC4F0497C85}"/>
              </a:ext>
            </a:extLst>
          </p:cNvPr>
          <p:cNvGrpSpPr/>
          <p:nvPr/>
        </p:nvGrpSpPr>
        <p:grpSpPr>
          <a:xfrm>
            <a:off x="1691905" y="2523068"/>
            <a:ext cx="2205182" cy="878577"/>
            <a:chOff x="1691905" y="2523068"/>
            <a:chExt cx="2205182" cy="87857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01CA9DF-B4CF-FDCA-6414-789CE1487DD8}"/>
                </a:ext>
              </a:extLst>
            </p:cNvPr>
            <p:cNvSpPr/>
            <p:nvPr/>
          </p:nvSpPr>
          <p:spPr>
            <a:xfrm>
              <a:off x="1691905" y="2523068"/>
              <a:ext cx="2205182" cy="4053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latin typeface="Consolas" panose="020B0609020204030204" pitchFamily="49" charset="0"/>
                </a:rPr>
                <a:t>if (x == 1)</a:t>
              </a:r>
              <a:endParaRPr lang="en-US" sz="2000" dirty="0">
                <a:latin typeface="Consolas" panose="020B0609020204030204" pitchFamily="49" charset="0"/>
                <a:sym typeface="Wingdings" panose="05000000000000000000" pitchFamily="2" charset="2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3A51039-5C94-E44E-A0F0-3EE1B4B63CB0}"/>
                </a:ext>
              </a:extLst>
            </p:cNvPr>
            <p:cNvSpPr/>
            <p:nvPr/>
          </p:nvSpPr>
          <p:spPr>
            <a:xfrm>
              <a:off x="1691905" y="2996321"/>
              <a:ext cx="2205182" cy="4053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latin typeface="Consolas" panose="020B0609020204030204" pitchFamily="49" charset="0"/>
                  <a:sym typeface="Wingdings" panose="05000000000000000000" pitchFamily="2" charset="2"/>
                </a:rPr>
                <a:t>   y = 1;</a:t>
              </a:r>
              <a:endParaRPr lang="en-US" sz="2000" dirty="0">
                <a:latin typeface="Consolas" panose="020B0609020204030204" pitchFamily="49" charset="0"/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8F1CBB96-1D42-BA0C-D0F8-371097349B61}"/>
              </a:ext>
            </a:extLst>
          </p:cNvPr>
          <p:cNvSpPr/>
          <p:nvPr/>
        </p:nvSpPr>
        <p:spPr>
          <a:xfrm>
            <a:off x="4532885" y="3013330"/>
            <a:ext cx="1917700" cy="4248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   x = 1;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FE26F8-D3E6-ED36-EAC4-DD340DCA2895}"/>
              </a:ext>
            </a:extLst>
          </p:cNvPr>
          <p:cNvSpPr/>
          <p:nvPr/>
        </p:nvSpPr>
        <p:spPr>
          <a:xfrm>
            <a:off x="3113809" y="1722308"/>
            <a:ext cx="2205182" cy="4053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onsolas" panose="020B0609020204030204" pitchFamily="49" charset="0"/>
                <a:sym typeface="Wingdings" panose="05000000000000000000" pitchFamily="2" charset="2"/>
              </a:rPr>
              <a:t>x = 0, y = 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D6BDA2-80E9-1224-BDAA-3D74D59F5420}"/>
              </a:ext>
            </a:extLst>
          </p:cNvPr>
          <p:cNvSpPr/>
          <p:nvPr/>
        </p:nvSpPr>
        <p:spPr>
          <a:xfrm>
            <a:off x="4167530" y="5551735"/>
            <a:ext cx="4371567" cy="9443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onsolas" panose="020B0609020204030204" pitchFamily="49" charset="0"/>
                <a:sym typeface="Wingdings" panose="05000000000000000000" pitchFamily="2" charset="2"/>
              </a:rPr>
              <a:t>Allowed result: x = 1, y = 1</a:t>
            </a:r>
          </a:p>
          <a:p>
            <a:pPr algn="ctr"/>
            <a:r>
              <a:rPr lang="en-US" sz="2000" dirty="0">
                <a:latin typeface="Consolas" panose="020B0609020204030204" pitchFamily="49" charset="0"/>
                <a:sym typeface="Wingdings" panose="05000000000000000000" pitchFamily="2" charset="2"/>
              </a:rPr>
              <a:t>??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21961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B044B-6E30-2AF2-7424-DFFA64A99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4CBF-6C17-0556-C2E8-1A019299A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Out-of-Thin-Air (OOTA)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2672B-6554-F01B-EF15-BB21DD2F8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65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0D7BD95-9E43-13B4-6ACA-D4B1DE72DB57}"/>
              </a:ext>
            </a:extLst>
          </p:cNvPr>
          <p:cNvGrpSpPr/>
          <p:nvPr/>
        </p:nvGrpSpPr>
        <p:grpSpPr>
          <a:xfrm>
            <a:off x="1691905" y="2523068"/>
            <a:ext cx="2205182" cy="878577"/>
            <a:chOff x="2187205" y="3424768"/>
            <a:chExt cx="2205182" cy="87857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8CB1CA1-FC15-BBFC-B3F4-50108C7D65DE}"/>
                </a:ext>
              </a:extLst>
            </p:cNvPr>
            <p:cNvSpPr/>
            <p:nvPr/>
          </p:nvSpPr>
          <p:spPr>
            <a:xfrm>
              <a:off x="2187205" y="3424768"/>
              <a:ext cx="2205182" cy="4053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latin typeface="Consolas" panose="020B0609020204030204" pitchFamily="49" charset="0"/>
                </a:rPr>
                <a:t>if (x == 1)</a:t>
              </a:r>
              <a:endParaRPr lang="en-US" sz="2000" dirty="0">
                <a:latin typeface="Consolas" panose="020B0609020204030204" pitchFamily="49" charset="0"/>
                <a:sym typeface="Wingdings" panose="05000000000000000000" pitchFamily="2" charset="2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443FCBE-85BA-BAAF-F7CE-392F9A797FE9}"/>
                </a:ext>
              </a:extLst>
            </p:cNvPr>
            <p:cNvSpPr/>
            <p:nvPr/>
          </p:nvSpPr>
          <p:spPr>
            <a:xfrm>
              <a:off x="2187205" y="3898021"/>
              <a:ext cx="2205182" cy="4053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latin typeface="Consolas" panose="020B0609020204030204" pitchFamily="49" charset="0"/>
                  <a:sym typeface="Wingdings" panose="05000000000000000000" pitchFamily="2" charset="2"/>
                </a:rPr>
                <a:t>   y = 1;</a:t>
              </a:r>
              <a:endParaRPr lang="en-US" sz="2000" dirty="0">
                <a:latin typeface="Consolas" panose="020B0609020204030204" pitchFamily="49" charset="0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8E726E70-0DD5-C28A-1E6F-2FD129AB346C}"/>
              </a:ext>
            </a:extLst>
          </p:cNvPr>
          <p:cNvSpPr/>
          <p:nvPr/>
        </p:nvSpPr>
        <p:spPr>
          <a:xfrm>
            <a:off x="4535715" y="2523068"/>
            <a:ext cx="1917700" cy="4248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if (y == 1)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C75C57-2EA9-48C6-448E-1C204520EE45}"/>
              </a:ext>
            </a:extLst>
          </p:cNvPr>
          <p:cNvSpPr/>
          <p:nvPr/>
        </p:nvSpPr>
        <p:spPr>
          <a:xfrm>
            <a:off x="4532885" y="3013330"/>
            <a:ext cx="1917700" cy="4248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   x = 1;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24782A-A534-DAD3-CE5E-1B3B16869D41}"/>
              </a:ext>
            </a:extLst>
          </p:cNvPr>
          <p:cNvSpPr/>
          <p:nvPr/>
        </p:nvSpPr>
        <p:spPr>
          <a:xfrm>
            <a:off x="3113809" y="1722308"/>
            <a:ext cx="2205182" cy="4053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onsolas" panose="020B0609020204030204" pitchFamily="49" charset="0"/>
                <a:sym typeface="Wingdings" panose="05000000000000000000" pitchFamily="2" charset="2"/>
              </a:rPr>
              <a:t>x = 0, y = 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B3CE8B-C889-2FE0-C4D1-67885A80B7C9}"/>
              </a:ext>
            </a:extLst>
          </p:cNvPr>
          <p:cNvSpPr/>
          <p:nvPr/>
        </p:nvSpPr>
        <p:spPr>
          <a:xfrm>
            <a:off x="4535715" y="3503592"/>
            <a:ext cx="1917700" cy="4248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else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DC61B7-66D6-90EA-8DD9-1450A21DBA2C}"/>
              </a:ext>
            </a:extLst>
          </p:cNvPr>
          <p:cNvSpPr/>
          <p:nvPr/>
        </p:nvSpPr>
        <p:spPr>
          <a:xfrm>
            <a:off x="4532885" y="3993854"/>
            <a:ext cx="1917700" cy="4248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    x = 1;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ECB4305-9F1E-2218-B5F8-59A00381428A}"/>
              </a:ext>
            </a:extLst>
          </p:cNvPr>
          <p:cNvGrpSpPr/>
          <p:nvPr/>
        </p:nvGrpSpPr>
        <p:grpSpPr>
          <a:xfrm>
            <a:off x="6735427" y="2828300"/>
            <a:ext cx="4123073" cy="1219682"/>
            <a:chOff x="7230727" y="3730000"/>
            <a:chExt cx="4123073" cy="121968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4892BC-39C4-F9FD-83BC-947D4026D797}"/>
                </a:ext>
              </a:extLst>
            </p:cNvPr>
            <p:cNvSpPr/>
            <p:nvPr/>
          </p:nvSpPr>
          <p:spPr>
            <a:xfrm>
              <a:off x="9436100" y="4130865"/>
              <a:ext cx="1917700" cy="42481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latin typeface="Consolas" panose="020B0609020204030204" pitchFamily="49" charset="0"/>
                </a:rPr>
                <a:t>   x = 1;</a:t>
              </a:r>
            </a:p>
          </p:txBody>
        </p:sp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46E4990E-18A0-6B00-0C24-1849C7307241}"/>
                </a:ext>
              </a:extLst>
            </p:cNvPr>
            <p:cNvSpPr/>
            <p:nvPr/>
          </p:nvSpPr>
          <p:spPr>
            <a:xfrm>
              <a:off x="7230727" y="3730000"/>
              <a:ext cx="1917700" cy="1219682"/>
            </a:xfrm>
            <a:prstGeom prst="rightArrow">
              <a:avLst>
                <a:gd name="adj1" fmla="val 50000"/>
                <a:gd name="adj2" fmla="val 40629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Optimizing compiler</a:t>
              </a:r>
              <a:endParaRPr lang="LID4096" dirty="0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14A4BC3-47D6-F2C7-9AC3-05AFB827AB06}"/>
              </a:ext>
            </a:extLst>
          </p:cNvPr>
          <p:cNvSpPr/>
          <p:nvPr/>
        </p:nvSpPr>
        <p:spPr>
          <a:xfrm>
            <a:off x="4176377" y="5548560"/>
            <a:ext cx="4371567" cy="9443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onsolas" panose="020B0609020204030204" pitchFamily="49" charset="0"/>
                <a:sym typeface="Wingdings" panose="05000000000000000000" pitchFamily="2" charset="2"/>
              </a:rPr>
              <a:t>Allowed result: x = 1, y = 1</a:t>
            </a:r>
          </a:p>
          <a:p>
            <a:pPr algn="ctr"/>
            <a:r>
              <a:rPr lang="en-US" sz="2000" dirty="0">
                <a:latin typeface="Consolas" panose="020B0609020204030204" pitchFamily="49" charset="0"/>
                <a:sym typeface="Wingdings" panose="05000000000000000000" pitchFamily="2" charset="2"/>
              </a:rPr>
              <a:t>!!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4F9D43-258F-5814-ECC8-A6FBCBEE9D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648294">
            <a:off x="3792337" y="1141338"/>
            <a:ext cx="4371567" cy="55741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959382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44444E-6 L 3.33333E-6 0.25 " pathEditMode="relative" rAng="0" ptsTypes="AA">
                                      <p:cBhvr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5FC52-24E6-189B-A112-1A29A6648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FB256-ADC1-B404-9679-2383CB707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 cores can have different views of memory because:</a:t>
            </a:r>
          </a:p>
          <a:p>
            <a:pPr lvl="1"/>
            <a:r>
              <a:rPr lang="en-US" dirty="0"/>
              <a:t>Reasons</a:t>
            </a:r>
          </a:p>
          <a:p>
            <a:r>
              <a:rPr lang="en-US" dirty="0"/>
              <a:t>Software solves these problems by:</a:t>
            </a:r>
          </a:p>
          <a:p>
            <a:pPr lvl="1"/>
            <a:r>
              <a:rPr lang="en-US" dirty="0"/>
              <a:t>Fences</a:t>
            </a:r>
          </a:p>
          <a:p>
            <a:pPr lvl="1"/>
            <a:r>
              <a:rPr lang="en-US" dirty="0"/>
              <a:t>RMW</a:t>
            </a:r>
          </a:p>
          <a:p>
            <a:pPr lvl="1"/>
            <a:r>
              <a:rPr lang="en-US" dirty="0"/>
              <a:t>OS level locks: </a:t>
            </a:r>
            <a:r>
              <a:rPr lang="en-US" dirty="0" err="1"/>
              <a:t>futexes</a:t>
            </a:r>
            <a:r>
              <a:rPr lang="en-US" dirty="0"/>
              <a:t>, mutexes etc.  </a:t>
            </a:r>
          </a:p>
          <a:p>
            <a:r>
              <a:rPr lang="en-US" dirty="0"/>
              <a:t>Memory Models</a:t>
            </a:r>
          </a:p>
          <a:p>
            <a:pPr lvl="1"/>
            <a:r>
              <a:rPr lang="en-US" dirty="0"/>
              <a:t>Your effort is probably better spent on understanding HW memory models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4CAB3-1F43-5038-248C-57844EC13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66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5528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81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82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23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2902C-20D2-03CE-2A90-020698608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 for listening!</a:t>
            </a:r>
            <a:endParaRPr lang="LID4096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334937-3A41-C78C-1C33-5DACA70DD2BC}"/>
              </a:ext>
            </a:extLst>
          </p:cNvPr>
          <p:cNvSpPr txBox="1"/>
          <p:nvPr/>
        </p:nvSpPr>
        <p:spPr>
          <a:xfrm>
            <a:off x="2489996" y="2598003"/>
            <a:ext cx="42090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 </a:t>
            </a:r>
            <a:r>
              <a:rPr lang="en-US" sz="4800" b="1" dirty="0" err="1"/>
              <a:t>OfekShilon</a:t>
            </a:r>
            <a:r>
              <a:rPr lang="en-US" sz="4800" b="1" dirty="0"/>
              <a:t> @</a:t>
            </a:r>
            <a:endParaRPr lang="LID4096" sz="4800" b="1" dirty="0"/>
          </a:p>
        </p:txBody>
      </p:sp>
      <p:pic>
        <p:nvPicPr>
          <p:cNvPr id="2050" name="Picture 2" descr="Gmail Logo and symbol, meaning, history, PNG, brand">
            <a:extLst>
              <a:ext uri="{FF2B5EF4-FFF2-40B4-BE49-F238E27FC236}">
                <a16:creationId xmlns:a16="http://schemas.microsoft.com/office/drawing/2014/main" id="{EA3FAE91-9489-A152-7ECD-36457500C7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9" r="21191"/>
          <a:stretch>
            <a:fillRect/>
          </a:stretch>
        </p:blipFill>
        <p:spPr bwMode="auto">
          <a:xfrm>
            <a:off x="6791214" y="2581994"/>
            <a:ext cx="857250" cy="847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C6ACD851-1443-73FB-4072-4EF408699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9239" y="2652597"/>
            <a:ext cx="705800" cy="70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Download Github, Github Logo, Github Icon. Royalty-Free ...">
            <a:extLst>
              <a:ext uri="{FF2B5EF4-FFF2-40B4-BE49-F238E27FC236}">
                <a16:creationId xmlns:a16="http://schemas.microsoft.com/office/drawing/2014/main" id="{E39E9042-6010-38BD-30D5-8FDBE6FD3D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98" t="12601" r="13515" b="12500"/>
          <a:stretch>
            <a:fillRect/>
          </a:stretch>
        </p:blipFill>
        <p:spPr bwMode="auto">
          <a:xfrm>
            <a:off x="8495816" y="2642929"/>
            <a:ext cx="705799" cy="7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B903C-7621-BBE1-823C-8713DD125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67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2A035F-B38D-09A7-E55C-7724B3191C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6675" y="3586880"/>
            <a:ext cx="4505325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12729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F376E-9644-5DDB-AC3E-B7B80160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12102-E9A5-73D0-F47C-DCAE0AE43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2D8ED-3D4D-3236-2ADF-C9EF08B16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4517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048FA-F55D-1A0F-5C91-35647708D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A2D514-18BE-142D-AC67-BEBFED797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75" y="1754187"/>
            <a:ext cx="3349257" cy="36179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5EA280-0A8D-19E0-5E09-ED79A5C5A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328" y="1768223"/>
            <a:ext cx="2849564" cy="36179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9A5355-07B0-98B1-AA36-14F185E29D5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435" r="6376"/>
          <a:stretch>
            <a:fillRect/>
          </a:stretch>
        </p:blipFill>
        <p:spPr>
          <a:xfrm>
            <a:off x="8468225" y="1690688"/>
            <a:ext cx="1739242" cy="14982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23DAAE-B58B-92E0-D5D2-7106A5B2699D}"/>
              </a:ext>
            </a:extLst>
          </p:cNvPr>
          <p:cNvSpPr txBox="1"/>
          <p:nvPr/>
        </p:nvSpPr>
        <p:spPr>
          <a:xfrm>
            <a:off x="7789955" y="3264545"/>
            <a:ext cx="407565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High Performance Computer Architecture </a:t>
            </a:r>
            <a:r>
              <a:rPr lang="en-US" sz="1600" dirty="0"/>
              <a:t>– Free online course by </a:t>
            </a:r>
            <a:br>
              <a:rPr lang="en-US" sz="1600" dirty="0"/>
            </a:br>
            <a:r>
              <a:rPr lang="en-US" sz="1600" dirty="0"/>
              <a:t>Milos Prvulovic of </a:t>
            </a:r>
            <a:r>
              <a:rPr lang="en-US" sz="1600" dirty="0" err="1"/>
              <a:t>GeorgiaTech</a:t>
            </a:r>
            <a:endParaRPr lang="en-US" sz="1600" dirty="0"/>
          </a:p>
          <a:p>
            <a:endParaRPr lang="LID4096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908D1F-E882-A584-7A1E-39BCC11DA8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7450" y="4290327"/>
            <a:ext cx="1489075" cy="145709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12E40D-4DF5-628E-4862-1C15F07F8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69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BF70D18-D096-67DB-A318-0DAFCB7ED4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9400" y="4706515"/>
            <a:ext cx="1305321" cy="13311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2D67153-7381-6861-98E6-837C534F8C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6167" y="4706515"/>
            <a:ext cx="1301886" cy="129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82910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88387-134B-6F8C-C62B-2A3EE5836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 writes, Write-Combine Buffers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0BC32-C83D-2B6E-0C69-91CFD33DB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(Canonical) Example use case: zero a memory page</a:t>
            </a:r>
          </a:p>
          <a:p>
            <a:r>
              <a:rPr lang="en-US" dirty="0"/>
              <a:t>Telling the processor it is about to overwrite full cache lines</a:t>
            </a:r>
          </a:p>
          <a:p>
            <a:r>
              <a:rPr lang="en-US" dirty="0"/>
              <a:t>WCB: collect multiple writes before sending to the cache coherency system</a:t>
            </a:r>
          </a:p>
          <a:p>
            <a:r>
              <a:rPr lang="en-US" dirty="0"/>
              <a:t>Avoid the inefficient dance of RFO (Read-For-Ownership) request + modification + writeback.</a:t>
            </a:r>
          </a:p>
          <a:p>
            <a:r>
              <a:rPr lang="en-US" dirty="0"/>
              <a:t>MOVNT* instructions, do not undergo the usual coherency route – may be visible only some time in the future.</a:t>
            </a:r>
          </a:p>
          <a:p>
            <a:endParaRPr lang="en-US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BB313-2A19-CA6C-069C-A39F5A842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64856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1F2F-7521-98D0-5738-727A58617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Fences: Implicit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15CE4-277E-DCA3-667D-997C16778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Instructions with some order-serialization </a:t>
            </a:r>
            <a:r>
              <a:rPr lang="en-US" i="1" dirty="0"/>
              <a:t>side effects:</a:t>
            </a:r>
            <a:endParaRPr lang="en-US" dirty="0"/>
          </a:p>
          <a:p>
            <a:pPr lvl="1"/>
            <a:r>
              <a:rPr lang="en-US" dirty="0"/>
              <a:t>x86/64:  </a:t>
            </a:r>
          </a:p>
          <a:p>
            <a:pPr lvl="2"/>
            <a:r>
              <a:rPr lang="en-US" dirty="0"/>
              <a:t>CPUID, IRET, RSM, LOCK *, …</a:t>
            </a:r>
          </a:p>
          <a:p>
            <a:pPr lvl="1"/>
            <a:r>
              <a:rPr lang="en-US" dirty="0"/>
              <a:t>ARM:</a:t>
            </a:r>
          </a:p>
          <a:p>
            <a:pPr lvl="2"/>
            <a:r>
              <a:rPr lang="en-US" dirty="0"/>
              <a:t> MSR, MRS, ERET, SVC, HVC, SMC …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06310-726B-7CC1-D1B2-E58DD5BBA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92826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48991-6017-A42A-21C7-DA211660E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28A82-6BF0-340A-1BBA-46F0BDCA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Fences: Store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88122-1018-AA50-3ACD-AFC6A4B5D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X86-64:    </a:t>
            </a:r>
            <a:r>
              <a:rPr lang="en-US" dirty="0">
                <a:latin typeface="Consolas" panose="020B0609020204030204" pitchFamily="49" charset="0"/>
              </a:rPr>
              <a:t>SFENCE</a:t>
            </a:r>
          </a:p>
          <a:p>
            <a:pPr lvl="1"/>
            <a:r>
              <a:rPr lang="en-US" dirty="0"/>
              <a:t>Controls completion</a:t>
            </a:r>
          </a:p>
          <a:p>
            <a:pPr lvl="1"/>
            <a:r>
              <a:rPr lang="en-US" dirty="0"/>
              <a:t>Drain write buffer, stall until older stores are visible everywhere</a:t>
            </a:r>
          </a:p>
          <a:p>
            <a:pPr lvl="1"/>
            <a:r>
              <a:rPr lang="en-US" dirty="0"/>
              <a:t>Reorder barrier</a:t>
            </a:r>
          </a:p>
          <a:p>
            <a:pPr lvl="1"/>
            <a:r>
              <a:rPr lang="en-US" i="1" dirty="0"/>
              <a:t>Regular stores are already ordered!  </a:t>
            </a:r>
            <a:r>
              <a:rPr lang="en-US" dirty="0"/>
              <a:t>Mostly unneeded</a:t>
            </a:r>
          </a:p>
          <a:p>
            <a:pPr lvl="1"/>
            <a:r>
              <a:rPr lang="en-US" dirty="0"/>
              <a:t>Impacts special non-cached store instructions (MOVNT*).</a:t>
            </a:r>
            <a:endParaRPr lang="en-US" dirty="0">
              <a:latin typeface="Consolas" panose="020B0609020204030204" pitchFamily="49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8CD7015-19B0-D27D-2EB0-C35EFF24AD23}"/>
              </a:ext>
            </a:extLst>
          </p:cNvPr>
          <p:cNvCxnSpPr/>
          <p:nvPr/>
        </p:nvCxnSpPr>
        <p:spPr>
          <a:xfrm>
            <a:off x="1936365" y="5314234"/>
            <a:ext cx="8067368" cy="0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8420EAE9-CDE2-A2E0-32D3-614864E8BC3C}"/>
              </a:ext>
            </a:extLst>
          </p:cNvPr>
          <p:cNvSpPr/>
          <p:nvPr/>
        </p:nvSpPr>
        <p:spPr>
          <a:xfrm>
            <a:off x="1936365" y="5461718"/>
            <a:ext cx="1106128" cy="42473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  <a:endParaRPr lang="LID4096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6CEA9C0-4C3A-127E-5E52-3F545F7D37AF}"/>
              </a:ext>
            </a:extLst>
          </p:cNvPr>
          <p:cNvSpPr/>
          <p:nvPr/>
        </p:nvSpPr>
        <p:spPr>
          <a:xfrm>
            <a:off x="8897605" y="5461718"/>
            <a:ext cx="1106128" cy="42473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  <a:endParaRPr lang="LID4096" dirty="0"/>
          </a:p>
        </p:txBody>
      </p:sp>
      <p:sp>
        <p:nvSpPr>
          <p:cNvPr id="12" name="Graphic 15" descr="Fence outline">
            <a:extLst>
              <a:ext uri="{FF2B5EF4-FFF2-40B4-BE49-F238E27FC236}">
                <a16:creationId xmlns:a16="http://schemas.microsoft.com/office/drawing/2014/main" id="{668F1EF1-455D-0993-F4BD-E3FE0BBAD4FF}"/>
              </a:ext>
            </a:extLst>
          </p:cNvPr>
          <p:cNvSpPr/>
          <p:nvPr/>
        </p:nvSpPr>
        <p:spPr>
          <a:xfrm>
            <a:off x="5081032" y="5129410"/>
            <a:ext cx="1394576" cy="1047193"/>
          </a:xfrm>
          <a:custGeom>
            <a:avLst/>
            <a:gdLst>
              <a:gd name="csX0" fmla="*/ 965981 w 965980"/>
              <a:gd name="csY0" fmla="*/ 217346 h 676186"/>
              <a:gd name="csX1" fmla="*/ 965981 w 965980"/>
              <a:gd name="csY1" fmla="*/ 193196 h 676186"/>
              <a:gd name="csX2" fmla="*/ 929757 w 965980"/>
              <a:gd name="csY2" fmla="*/ 193196 h 676186"/>
              <a:gd name="csX3" fmla="*/ 929757 w 965980"/>
              <a:gd name="csY3" fmla="*/ 72449 h 676186"/>
              <a:gd name="csX4" fmla="*/ 869383 w 965980"/>
              <a:gd name="csY4" fmla="*/ 0 h 676186"/>
              <a:gd name="csX5" fmla="*/ 809009 w 965980"/>
              <a:gd name="csY5" fmla="*/ 72449 h 676186"/>
              <a:gd name="csX6" fmla="*/ 809009 w 965980"/>
              <a:gd name="csY6" fmla="*/ 193196 h 676186"/>
              <a:gd name="csX7" fmla="*/ 736560 w 965980"/>
              <a:gd name="csY7" fmla="*/ 193196 h 676186"/>
              <a:gd name="csX8" fmla="*/ 736560 w 965980"/>
              <a:gd name="csY8" fmla="*/ 72449 h 676186"/>
              <a:gd name="csX9" fmla="*/ 676187 w 965980"/>
              <a:gd name="csY9" fmla="*/ 0 h 676186"/>
              <a:gd name="csX10" fmla="*/ 615813 w 965980"/>
              <a:gd name="csY10" fmla="*/ 72449 h 676186"/>
              <a:gd name="csX11" fmla="*/ 615813 w 965980"/>
              <a:gd name="csY11" fmla="*/ 193196 h 676186"/>
              <a:gd name="csX12" fmla="*/ 543364 w 965980"/>
              <a:gd name="csY12" fmla="*/ 193196 h 676186"/>
              <a:gd name="csX13" fmla="*/ 543364 w 965980"/>
              <a:gd name="csY13" fmla="*/ 72449 h 676186"/>
              <a:gd name="csX14" fmla="*/ 482990 w 965980"/>
              <a:gd name="csY14" fmla="*/ 0 h 676186"/>
              <a:gd name="csX15" fmla="*/ 422617 w 965980"/>
              <a:gd name="csY15" fmla="*/ 72449 h 676186"/>
              <a:gd name="csX16" fmla="*/ 422617 w 965980"/>
              <a:gd name="csY16" fmla="*/ 193196 h 676186"/>
              <a:gd name="csX17" fmla="*/ 350168 w 965980"/>
              <a:gd name="csY17" fmla="*/ 193196 h 676186"/>
              <a:gd name="csX18" fmla="*/ 350168 w 965980"/>
              <a:gd name="csY18" fmla="*/ 72449 h 676186"/>
              <a:gd name="csX19" fmla="*/ 289794 w 965980"/>
              <a:gd name="csY19" fmla="*/ 0 h 676186"/>
              <a:gd name="csX20" fmla="*/ 229420 w 965980"/>
              <a:gd name="csY20" fmla="*/ 72449 h 676186"/>
              <a:gd name="csX21" fmla="*/ 229420 w 965980"/>
              <a:gd name="csY21" fmla="*/ 193196 h 676186"/>
              <a:gd name="csX22" fmla="*/ 156972 w 965980"/>
              <a:gd name="csY22" fmla="*/ 193196 h 676186"/>
              <a:gd name="csX23" fmla="*/ 156972 w 965980"/>
              <a:gd name="csY23" fmla="*/ 72449 h 676186"/>
              <a:gd name="csX24" fmla="*/ 96598 w 965980"/>
              <a:gd name="csY24" fmla="*/ 0 h 676186"/>
              <a:gd name="csX25" fmla="*/ 36224 w 965980"/>
              <a:gd name="csY25" fmla="*/ 72449 h 676186"/>
              <a:gd name="csX26" fmla="*/ 36224 w 965980"/>
              <a:gd name="csY26" fmla="*/ 193196 h 676186"/>
              <a:gd name="csX27" fmla="*/ 0 w 965980"/>
              <a:gd name="csY27" fmla="*/ 193196 h 676186"/>
              <a:gd name="csX28" fmla="*/ 0 w 965980"/>
              <a:gd name="csY28" fmla="*/ 217346 h 676186"/>
              <a:gd name="csX29" fmla="*/ 36224 w 965980"/>
              <a:gd name="csY29" fmla="*/ 217346 h 676186"/>
              <a:gd name="csX30" fmla="*/ 36224 w 965980"/>
              <a:gd name="csY30" fmla="*/ 507140 h 676186"/>
              <a:gd name="csX31" fmla="*/ 0 w 965980"/>
              <a:gd name="csY31" fmla="*/ 507140 h 676186"/>
              <a:gd name="csX32" fmla="*/ 0 w 965980"/>
              <a:gd name="csY32" fmla="*/ 531289 h 676186"/>
              <a:gd name="csX33" fmla="*/ 36224 w 965980"/>
              <a:gd name="csY33" fmla="*/ 531289 h 676186"/>
              <a:gd name="csX34" fmla="*/ 36224 w 965980"/>
              <a:gd name="csY34" fmla="*/ 676187 h 676186"/>
              <a:gd name="csX35" fmla="*/ 156972 w 965980"/>
              <a:gd name="csY35" fmla="*/ 676187 h 676186"/>
              <a:gd name="csX36" fmla="*/ 156972 w 965980"/>
              <a:gd name="csY36" fmla="*/ 531289 h 676186"/>
              <a:gd name="csX37" fmla="*/ 229420 w 965980"/>
              <a:gd name="csY37" fmla="*/ 531289 h 676186"/>
              <a:gd name="csX38" fmla="*/ 229420 w 965980"/>
              <a:gd name="csY38" fmla="*/ 676187 h 676186"/>
              <a:gd name="csX39" fmla="*/ 350168 w 965980"/>
              <a:gd name="csY39" fmla="*/ 676187 h 676186"/>
              <a:gd name="csX40" fmla="*/ 350168 w 965980"/>
              <a:gd name="csY40" fmla="*/ 531289 h 676186"/>
              <a:gd name="csX41" fmla="*/ 422617 w 965980"/>
              <a:gd name="csY41" fmla="*/ 531289 h 676186"/>
              <a:gd name="csX42" fmla="*/ 422617 w 965980"/>
              <a:gd name="csY42" fmla="*/ 676187 h 676186"/>
              <a:gd name="csX43" fmla="*/ 543364 w 965980"/>
              <a:gd name="csY43" fmla="*/ 676187 h 676186"/>
              <a:gd name="csX44" fmla="*/ 543364 w 965980"/>
              <a:gd name="csY44" fmla="*/ 531289 h 676186"/>
              <a:gd name="csX45" fmla="*/ 615813 w 965980"/>
              <a:gd name="csY45" fmla="*/ 531289 h 676186"/>
              <a:gd name="csX46" fmla="*/ 615813 w 965980"/>
              <a:gd name="csY46" fmla="*/ 676187 h 676186"/>
              <a:gd name="csX47" fmla="*/ 736560 w 965980"/>
              <a:gd name="csY47" fmla="*/ 676187 h 676186"/>
              <a:gd name="csX48" fmla="*/ 736560 w 965980"/>
              <a:gd name="csY48" fmla="*/ 531289 h 676186"/>
              <a:gd name="csX49" fmla="*/ 809009 w 965980"/>
              <a:gd name="csY49" fmla="*/ 531289 h 676186"/>
              <a:gd name="csX50" fmla="*/ 809009 w 965980"/>
              <a:gd name="csY50" fmla="*/ 676187 h 676186"/>
              <a:gd name="csX51" fmla="*/ 929757 w 965980"/>
              <a:gd name="csY51" fmla="*/ 676187 h 676186"/>
              <a:gd name="csX52" fmla="*/ 929757 w 965980"/>
              <a:gd name="csY52" fmla="*/ 531289 h 676186"/>
              <a:gd name="csX53" fmla="*/ 965981 w 965980"/>
              <a:gd name="csY53" fmla="*/ 531289 h 676186"/>
              <a:gd name="csX54" fmla="*/ 965981 w 965980"/>
              <a:gd name="csY54" fmla="*/ 507140 h 676186"/>
              <a:gd name="csX55" fmla="*/ 929757 w 965980"/>
              <a:gd name="csY55" fmla="*/ 507140 h 676186"/>
              <a:gd name="csX56" fmla="*/ 929757 w 965980"/>
              <a:gd name="csY56" fmla="*/ 217346 h 676186"/>
              <a:gd name="csX57" fmla="*/ 132822 w 965980"/>
              <a:gd name="csY57" fmla="*/ 169047 h 676186"/>
              <a:gd name="csX58" fmla="*/ 132822 w 965980"/>
              <a:gd name="csY58" fmla="*/ 652037 h 676186"/>
              <a:gd name="csX59" fmla="*/ 60374 w 965980"/>
              <a:gd name="csY59" fmla="*/ 652037 h 676186"/>
              <a:gd name="csX60" fmla="*/ 60374 w 965980"/>
              <a:gd name="csY60" fmla="*/ 81191 h 676186"/>
              <a:gd name="csX61" fmla="*/ 96598 w 965980"/>
              <a:gd name="csY61" fmla="*/ 37722 h 676186"/>
              <a:gd name="csX62" fmla="*/ 132822 w 965980"/>
              <a:gd name="csY62" fmla="*/ 81191 h 676186"/>
              <a:gd name="csX63" fmla="*/ 156972 w 965980"/>
              <a:gd name="csY63" fmla="*/ 507140 h 676186"/>
              <a:gd name="csX64" fmla="*/ 156972 w 965980"/>
              <a:gd name="csY64" fmla="*/ 217346 h 676186"/>
              <a:gd name="csX65" fmla="*/ 229420 w 965980"/>
              <a:gd name="csY65" fmla="*/ 217346 h 676186"/>
              <a:gd name="csX66" fmla="*/ 229420 w 965980"/>
              <a:gd name="csY66" fmla="*/ 507140 h 676186"/>
              <a:gd name="csX67" fmla="*/ 326019 w 965980"/>
              <a:gd name="csY67" fmla="*/ 169047 h 676186"/>
              <a:gd name="csX68" fmla="*/ 326019 w 965980"/>
              <a:gd name="csY68" fmla="*/ 652037 h 676186"/>
              <a:gd name="csX69" fmla="*/ 253570 w 965980"/>
              <a:gd name="csY69" fmla="*/ 652037 h 676186"/>
              <a:gd name="csX70" fmla="*/ 253570 w 965980"/>
              <a:gd name="csY70" fmla="*/ 81191 h 676186"/>
              <a:gd name="csX71" fmla="*/ 289794 w 965980"/>
              <a:gd name="csY71" fmla="*/ 37722 h 676186"/>
              <a:gd name="csX72" fmla="*/ 326019 w 965980"/>
              <a:gd name="csY72" fmla="*/ 81191 h 676186"/>
              <a:gd name="csX73" fmla="*/ 350168 w 965980"/>
              <a:gd name="csY73" fmla="*/ 507140 h 676186"/>
              <a:gd name="csX74" fmla="*/ 350168 w 965980"/>
              <a:gd name="csY74" fmla="*/ 217346 h 676186"/>
              <a:gd name="csX75" fmla="*/ 422617 w 965980"/>
              <a:gd name="csY75" fmla="*/ 217346 h 676186"/>
              <a:gd name="csX76" fmla="*/ 422617 w 965980"/>
              <a:gd name="csY76" fmla="*/ 507140 h 676186"/>
              <a:gd name="csX77" fmla="*/ 519215 w 965980"/>
              <a:gd name="csY77" fmla="*/ 169047 h 676186"/>
              <a:gd name="csX78" fmla="*/ 519215 w 965980"/>
              <a:gd name="csY78" fmla="*/ 652037 h 676186"/>
              <a:gd name="csX79" fmla="*/ 446766 w 965980"/>
              <a:gd name="csY79" fmla="*/ 652037 h 676186"/>
              <a:gd name="csX80" fmla="*/ 446766 w 965980"/>
              <a:gd name="csY80" fmla="*/ 81191 h 676186"/>
              <a:gd name="csX81" fmla="*/ 482990 w 965980"/>
              <a:gd name="csY81" fmla="*/ 37722 h 676186"/>
              <a:gd name="csX82" fmla="*/ 519215 w 965980"/>
              <a:gd name="csY82" fmla="*/ 81191 h 676186"/>
              <a:gd name="csX83" fmla="*/ 543364 w 965980"/>
              <a:gd name="csY83" fmla="*/ 507140 h 676186"/>
              <a:gd name="csX84" fmla="*/ 543364 w 965980"/>
              <a:gd name="csY84" fmla="*/ 217346 h 676186"/>
              <a:gd name="csX85" fmla="*/ 615813 w 965980"/>
              <a:gd name="csY85" fmla="*/ 217346 h 676186"/>
              <a:gd name="csX86" fmla="*/ 615813 w 965980"/>
              <a:gd name="csY86" fmla="*/ 507140 h 676186"/>
              <a:gd name="csX87" fmla="*/ 712411 w 965980"/>
              <a:gd name="csY87" fmla="*/ 169047 h 676186"/>
              <a:gd name="csX88" fmla="*/ 712411 w 965980"/>
              <a:gd name="csY88" fmla="*/ 652037 h 676186"/>
              <a:gd name="csX89" fmla="*/ 639962 w 965980"/>
              <a:gd name="csY89" fmla="*/ 652037 h 676186"/>
              <a:gd name="csX90" fmla="*/ 639962 w 965980"/>
              <a:gd name="csY90" fmla="*/ 81191 h 676186"/>
              <a:gd name="csX91" fmla="*/ 676187 w 965980"/>
              <a:gd name="csY91" fmla="*/ 37722 h 676186"/>
              <a:gd name="csX92" fmla="*/ 712411 w 965980"/>
              <a:gd name="csY92" fmla="*/ 81191 h 676186"/>
              <a:gd name="csX93" fmla="*/ 736560 w 965980"/>
              <a:gd name="csY93" fmla="*/ 507140 h 676186"/>
              <a:gd name="csX94" fmla="*/ 736560 w 965980"/>
              <a:gd name="csY94" fmla="*/ 217346 h 676186"/>
              <a:gd name="csX95" fmla="*/ 809009 w 965980"/>
              <a:gd name="csY95" fmla="*/ 217346 h 676186"/>
              <a:gd name="csX96" fmla="*/ 809009 w 965980"/>
              <a:gd name="csY96" fmla="*/ 507140 h 676186"/>
              <a:gd name="csX97" fmla="*/ 905607 w 965980"/>
              <a:gd name="csY97" fmla="*/ 169047 h 676186"/>
              <a:gd name="csX98" fmla="*/ 905607 w 965980"/>
              <a:gd name="csY98" fmla="*/ 652037 h 676186"/>
              <a:gd name="csX99" fmla="*/ 833158 w 965980"/>
              <a:gd name="csY99" fmla="*/ 652037 h 676186"/>
              <a:gd name="csX100" fmla="*/ 833158 w 965980"/>
              <a:gd name="csY100" fmla="*/ 81191 h 676186"/>
              <a:gd name="csX101" fmla="*/ 869383 w 965980"/>
              <a:gd name="csY101" fmla="*/ 37722 h 676186"/>
              <a:gd name="csX102" fmla="*/ 905607 w 965980"/>
              <a:gd name="csY102" fmla="*/ 81191 h 6761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</a:cxnLst>
            <a:rect l="l" t="t" r="r" b="b"/>
            <a:pathLst>
              <a:path w="965980" h="676186">
                <a:moveTo>
                  <a:pt x="965981" y="217346"/>
                </a:moveTo>
                <a:lnTo>
                  <a:pt x="965981" y="193196"/>
                </a:lnTo>
                <a:lnTo>
                  <a:pt x="929757" y="193196"/>
                </a:lnTo>
                <a:lnTo>
                  <a:pt x="929757" y="72449"/>
                </a:lnTo>
                <a:lnTo>
                  <a:pt x="869383" y="0"/>
                </a:lnTo>
                <a:lnTo>
                  <a:pt x="809009" y="72449"/>
                </a:lnTo>
                <a:lnTo>
                  <a:pt x="809009" y="193196"/>
                </a:lnTo>
                <a:lnTo>
                  <a:pt x="736560" y="193196"/>
                </a:lnTo>
                <a:lnTo>
                  <a:pt x="736560" y="72449"/>
                </a:lnTo>
                <a:lnTo>
                  <a:pt x="676187" y="0"/>
                </a:lnTo>
                <a:lnTo>
                  <a:pt x="615813" y="72449"/>
                </a:lnTo>
                <a:lnTo>
                  <a:pt x="615813" y="193196"/>
                </a:lnTo>
                <a:lnTo>
                  <a:pt x="543364" y="193196"/>
                </a:lnTo>
                <a:lnTo>
                  <a:pt x="543364" y="72449"/>
                </a:lnTo>
                <a:lnTo>
                  <a:pt x="482990" y="0"/>
                </a:lnTo>
                <a:lnTo>
                  <a:pt x="422617" y="72449"/>
                </a:lnTo>
                <a:lnTo>
                  <a:pt x="422617" y="193196"/>
                </a:lnTo>
                <a:lnTo>
                  <a:pt x="350168" y="193196"/>
                </a:lnTo>
                <a:lnTo>
                  <a:pt x="350168" y="72449"/>
                </a:lnTo>
                <a:lnTo>
                  <a:pt x="289794" y="0"/>
                </a:lnTo>
                <a:lnTo>
                  <a:pt x="229420" y="72449"/>
                </a:lnTo>
                <a:lnTo>
                  <a:pt x="229420" y="193196"/>
                </a:lnTo>
                <a:lnTo>
                  <a:pt x="156972" y="193196"/>
                </a:lnTo>
                <a:lnTo>
                  <a:pt x="156972" y="72449"/>
                </a:lnTo>
                <a:lnTo>
                  <a:pt x="96598" y="0"/>
                </a:lnTo>
                <a:lnTo>
                  <a:pt x="36224" y="72449"/>
                </a:lnTo>
                <a:lnTo>
                  <a:pt x="36224" y="193196"/>
                </a:lnTo>
                <a:lnTo>
                  <a:pt x="0" y="193196"/>
                </a:lnTo>
                <a:lnTo>
                  <a:pt x="0" y="217346"/>
                </a:lnTo>
                <a:lnTo>
                  <a:pt x="36224" y="217346"/>
                </a:lnTo>
                <a:lnTo>
                  <a:pt x="36224" y="507140"/>
                </a:lnTo>
                <a:lnTo>
                  <a:pt x="0" y="507140"/>
                </a:lnTo>
                <a:lnTo>
                  <a:pt x="0" y="531289"/>
                </a:lnTo>
                <a:lnTo>
                  <a:pt x="36224" y="531289"/>
                </a:lnTo>
                <a:lnTo>
                  <a:pt x="36224" y="676187"/>
                </a:lnTo>
                <a:lnTo>
                  <a:pt x="156972" y="676187"/>
                </a:lnTo>
                <a:lnTo>
                  <a:pt x="156972" y="531289"/>
                </a:lnTo>
                <a:lnTo>
                  <a:pt x="229420" y="531289"/>
                </a:lnTo>
                <a:lnTo>
                  <a:pt x="229420" y="676187"/>
                </a:lnTo>
                <a:lnTo>
                  <a:pt x="350168" y="676187"/>
                </a:lnTo>
                <a:lnTo>
                  <a:pt x="350168" y="531289"/>
                </a:lnTo>
                <a:lnTo>
                  <a:pt x="422617" y="531289"/>
                </a:lnTo>
                <a:lnTo>
                  <a:pt x="422617" y="676187"/>
                </a:lnTo>
                <a:lnTo>
                  <a:pt x="543364" y="676187"/>
                </a:lnTo>
                <a:lnTo>
                  <a:pt x="543364" y="531289"/>
                </a:lnTo>
                <a:lnTo>
                  <a:pt x="615813" y="531289"/>
                </a:lnTo>
                <a:lnTo>
                  <a:pt x="615813" y="676187"/>
                </a:lnTo>
                <a:lnTo>
                  <a:pt x="736560" y="676187"/>
                </a:lnTo>
                <a:lnTo>
                  <a:pt x="736560" y="531289"/>
                </a:lnTo>
                <a:lnTo>
                  <a:pt x="809009" y="531289"/>
                </a:lnTo>
                <a:lnTo>
                  <a:pt x="809009" y="676187"/>
                </a:lnTo>
                <a:lnTo>
                  <a:pt x="929757" y="676187"/>
                </a:lnTo>
                <a:lnTo>
                  <a:pt x="929757" y="531289"/>
                </a:lnTo>
                <a:lnTo>
                  <a:pt x="965981" y="531289"/>
                </a:lnTo>
                <a:lnTo>
                  <a:pt x="965981" y="507140"/>
                </a:lnTo>
                <a:lnTo>
                  <a:pt x="929757" y="507140"/>
                </a:lnTo>
                <a:lnTo>
                  <a:pt x="929757" y="217346"/>
                </a:lnTo>
                <a:close/>
                <a:moveTo>
                  <a:pt x="132822" y="169047"/>
                </a:moveTo>
                <a:lnTo>
                  <a:pt x="132822" y="652037"/>
                </a:lnTo>
                <a:lnTo>
                  <a:pt x="60374" y="652037"/>
                </a:lnTo>
                <a:lnTo>
                  <a:pt x="60374" y="81191"/>
                </a:lnTo>
                <a:lnTo>
                  <a:pt x="96598" y="37722"/>
                </a:lnTo>
                <a:lnTo>
                  <a:pt x="132822" y="81191"/>
                </a:lnTo>
                <a:close/>
                <a:moveTo>
                  <a:pt x="156972" y="507140"/>
                </a:moveTo>
                <a:lnTo>
                  <a:pt x="156972" y="217346"/>
                </a:lnTo>
                <a:lnTo>
                  <a:pt x="229420" y="217346"/>
                </a:lnTo>
                <a:lnTo>
                  <a:pt x="229420" y="507140"/>
                </a:lnTo>
                <a:close/>
                <a:moveTo>
                  <a:pt x="326019" y="169047"/>
                </a:moveTo>
                <a:lnTo>
                  <a:pt x="326019" y="652037"/>
                </a:lnTo>
                <a:lnTo>
                  <a:pt x="253570" y="652037"/>
                </a:lnTo>
                <a:lnTo>
                  <a:pt x="253570" y="81191"/>
                </a:lnTo>
                <a:lnTo>
                  <a:pt x="289794" y="37722"/>
                </a:lnTo>
                <a:lnTo>
                  <a:pt x="326019" y="81191"/>
                </a:lnTo>
                <a:close/>
                <a:moveTo>
                  <a:pt x="350168" y="507140"/>
                </a:moveTo>
                <a:lnTo>
                  <a:pt x="350168" y="217346"/>
                </a:lnTo>
                <a:lnTo>
                  <a:pt x="422617" y="217346"/>
                </a:lnTo>
                <a:lnTo>
                  <a:pt x="422617" y="507140"/>
                </a:lnTo>
                <a:close/>
                <a:moveTo>
                  <a:pt x="519215" y="169047"/>
                </a:moveTo>
                <a:lnTo>
                  <a:pt x="519215" y="652037"/>
                </a:lnTo>
                <a:lnTo>
                  <a:pt x="446766" y="652037"/>
                </a:lnTo>
                <a:lnTo>
                  <a:pt x="446766" y="81191"/>
                </a:lnTo>
                <a:lnTo>
                  <a:pt x="482990" y="37722"/>
                </a:lnTo>
                <a:lnTo>
                  <a:pt x="519215" y="81191"/>
                </a:lnTo>
                <a:close/>
                <a:moveTo>
                  <a:pt x="543364" y="507140"/>
                </a:moveTo>
                <a:lnTo>
                  <a:pt x="543364" y="217346"/>
                </a:lnTo>
                <a:lnTo>
                  <a:pt x="615813" y="217346"/>
                </a:lnTo>
                <a:lnTo>
                  <a:pt x="615813" y="507140"/>
                </a:lnTo>
                <a:close/>
                <a:moveTo>
                  <a:pt x="712411" y="169047"/>
                </a:moveTo>
                <a:lnTo>
                  <a:pt x="712411" y="652037"/>
                </a:lnTo>
                <a:lnTo>
                  <a:pt x="639962" y="652037"/>
                </a:lnTo>
                <a:lnTo>
                  <a:pt x="639962" y="81191"/>
                </a:lnTo>
                <a:lnTo>
                  <a:pt x="676187" y="37722"/>
                </a:lnTo>
                <a:lnTo>
                  <a:pt x="712411" y="81191"/>
                </a:lnTo>
                <a:close/>
                <a:moveTo>
                  <a:pt x="736560" y="507140"/>
                </a:moveTo>
                <a:lnTo>
                  <a:pt x="736560" y="217346"/>
                </a:lnTo>
                <a:lnTo>
                  <a:pt x="809009" y="217346"/>
                </a:lnTo>
                <a:lnTo>
                  <a:pt x="809009" y="507140"/>
                </a:lnTo>
                <a:close/>
                <a:moveTo>
                  <a:pt x="905607" y="169047"/>
                </a:moveTo>
                <a:lnTo>
                  <a:pt x="905607" y="652037"/>
                </a:lnTo>
                <a:lnTo>
                  <a:pt x="833158" y="652037"/>
                </a:lnTo>
                <a:lnTo>
                  <a:pt x="833158" y="81191"/>
                </a:lnTo>
                <a:lnTo>
                  <a:pt x="869383" y="37722"/>
                </a:lnTo>
                <a:lnTo>
                  <a:pt x="905607" y="81191"/>
                </a:lnTo>
                <a:close/>
              </a:path>
            </a:pathLst>
          </a:custGeom>
          <a:solidFill>
            <a:schemeClr val="accent2"/>
          </a:solidFill>
          <a:ln w="12005" cap="flat">
            <a:noFill/>
            <a:prstDash val="solid"/>
            <a:miter/>
          </a:ln>
          <a:scene3d>
            <a:camera prst="orthographicFront">
              <a:rot lat="2400000" lon="3000000" rev="0"/>
            </a:camera>
            <a:lightRig rig="threePt" dir="t"/>
          </a:scene3d>
        </p:spPr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90B99-3865-3DA7-A40E-BFABC1DDC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603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61"/>
                            </p:stCondLst>
                            <p:childTnLst>
                              <p:par>
                                <p:cTn id="8" presetID="2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4.81481E-6 C 2.91667E-6 0.01297 0.02487 0.02385 0.05547 0.02385 C 0.09153 0.02385 0.10455 0.01181 0.11002 0.00463 L 0.11562 -0.00486 C 0.12122 -0.0118 0.13502 -0.02291 0.17578 -0.02291 C 0.20169 -0.02291 0.23164 -0.01319 0.23164 -4.81481E-6 C 0.23164 0.01297 0.20169 0.02385 0.17578 0.02385 C 0.13502 0.02385 0.12122 0.01181 0.11562 0.00463 L 0.11002 -0.00486 C 0.10455 -0.0118 0.09153 -0.02291 0.05547 -0.02291 C 0.02487 -0.02291 2.91667E-6 -0.01319 2.91667E-6 -4.81481E-6 Z " pathEditMode="relative" rAng="0" ptsTypes="AAAAAAAAAAA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576" y="46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6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6.25E-7 -4.81481E-6 C -6.25E-7 0.01343 -0.02891 0.02454 -0.06458 0.02454 C -0.10599 0.02454 -0.12122 0.01227 -0.1276 0.00487 L -0.13385 -0.00486 C -0.14049 -0.01226 -0.15651 -0.0243 -0.20351 -0.0243 C -0.23359 -0.0243 -0.26771 -0.01342 -0.26771 -4.81481E-6 C -0.26771 0.01343 -0.23359 0.02454 -0.20351 0.02454 C -0.15651 0.02454 -0.14049 0.01227 -0.13385 0.00487 L -0.1276 -0.00486 C -0.12122 -0.01226 -0.10599 -0.0243 -0.06458 -0.0243 C -0.02891 -0.0243 -6.25E-7 -0.01342 -6.25E-7 -4.81481E-6 Z " pathEditMode="relative" rAng="0" ptsTypes="AAAAAAAAAAA">
                                      <p:cBhvr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38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11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97315-A16A-8565-DF3F-2C1F97B4D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DE185-CC3E-3748-CAEF-D0DAF2CA6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Fences: Load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85D9D-CC05-138D-8351-F381F091A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x86/64:    </a:t>
            </a:r>
            <a:r>
              <a:rPr lang="en-US" dirty="0">
                <a:latin typeface="Consolas" panose="020B0609020204030204" pitchFamily="49" charset="0"/>
              </a:rPr>
              <a:t>LFENCE</a:t>
            </a:r>
          </a:p>
          <a:p>
            <a:pPr lvl="1"/>
            <a:r>
              <a:rPr lang="en-US" dirty="0"/>
              <a:t>Block a younger read from issuing until all older reads have completed</a:t>
            </a:r>
          </a:p>
          <a:p>
            <a:pPr lvl="2"/>
            <a:r>
              <a:rPr lang="en-US" dirty="0"/>
              <a:t>Completed = issued + resolved cache misses + retired</a:t>
            </a:r>
          </a:p>
          <a:p>
            <a:pPr lvl="1"/>
            <a:r>
              <a:rPr lang="en-US" dirty="0"/>
              <a:t>Block speculative execution past the fence </a:t>
            </a:r>
          </a:p>
          <a:p>
            <a:pPr lvl="2"/>
            <a:r>
              <a:rPr lang="en-US" dirty="0"/>
              <a:t>only in recent generations – 2018+ (since </a:t>
            </a:r>
            <a:r>
              <a:rPr lang="en-US" dirty="0" err="1"/>
              <a:t>Spectre</a:t>
            </a:r>
            <a:r>
              <a:rPr lang="en-US" dirty="0"/>
              <a:t>)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7F5E121-23BC-6C7E-C084-A6E6B630D9B6}"/>
              </a:ext>
            </a:extLst>
          </p:cNvPr>
          <p:cNvCxnSpPr/>
          <p:nvPr/>
        </p:nvCxnSpPr>
        <p:spPr>
          <a:xfrm>
            <a:off x="1680333" y="5176681"/>
            <a:ext cx="8067368" cy="0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0ABAC580-5C35-F0C1-6EDD-69293319C7E7}"/>
              </a:ext>
            </a:extLst>
          </p:cNvPr>
          <p:cNvSpPr/>
          <p:nvPr/>
        </p:nvSpPr>
        <p:spPr>
          <a:xfrm>
            <a:off x="2338267" y="5419712"/>
            <a:ext cx="1106128" cy="42473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  <a:endParaRPr lang="LID4096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D9DBD19-1E0D-CA88-181C-B3C758DA986A}"/>
              </a:ext>
            </a:extLst>
          </p:cNvPr>
          <p:cNvSpPr/>
          <p:nvPr/>
        </p:nvSpPr>
        <p:spPr>
          <a:xfrm>
            <a:off x="8258115" y="5419712"/>
            <a:ext cx="1106128" cy="42473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  <a:endParaRPr lang="LID4096" dirty="0"/>
          </a:p>
        </p:txBody>
      </p:sp>
      <p:sp>
        <p:nvSpPr>
          <p:cNvPr id="10" name="Graphic 15" descr="Fence outline">
            <a:extLst>
              <a:ext uri="{FF2B5EF4-FFF2-40B4-BE49-F238E27FC236}">
                <a16:creationId xmlns:a16="http://schemas.microsoft.com/office/drawing/2014/main" id="{DDDE7C9E-4144-F83E-EE53-6A9F6DBF504E}"/>
              </a:ext>
            </a:extLst>
          </p:cNvPr>
          <p:cNvSpPr/>
          <p:nvPr/>
        </p:nvSpPr>
        <p:spPr>
          <a:xfrm>
            <a:off x="4774208" y="5108480"/>
            <a:ext cx="1394576" cy="1047193"/>
          </a:xfrm>
          <a:custGeom>
            <a:avLst/>
            <a:gdLst>
              <a:gd name="csX0" fmla="*/ 965981 w 965980"/>
              <a:gd name="csY0" fmla="*/ 217346 h 676186"/>
              <a:gd name="csX1" fmla="*/ 965981 w 965980"/>
              <a:gd name="csY1" fmla="*/ 193196 h 676186"/>
              <a:gd name="csX2" fmla="*/ 929757 w 965980"/>
              <a:gd name="csY2" fmla="*/ 193196 h 676186"/>
              <a:gd name="csX3" fmla="*/ 929757 w 965980"/>
              <a:gd name="csY3" fmla="*/ 72449 h 676186"/>
              <a:gd name="csX4" fmla="*/ 869383 w 965980"/>
              <a:gd name="csY4" fmla="*/ 0 h 676186"/>
              <a:gd name="csX5" fmla="*/ 809009 w 965980"/>
              <a:gd name="csY5" fmla="*/ 72449 h 676186"/>
              <a:gd name="csX6" fmla="*/ 809009 w 965980"/>
              <a:gd name="csY6" fmla="*/ 193196 h 676186"/>
              <a:gd name="csX7" fmla="*/ 736560 w 965980"/>
              <a:gd name="csY7" fmla="*/ 193196 h 676186"/>
              <a:gd name="csX8" fmla="*/ 736560 w 965980"/>
              <a:gd name="csY8" fmla="*/ 72449 h 676186"/>
              <a:gd name="csX9" fmla="*/ 676187 w 965980"/>
              <a:gd name="csY9" fmla="*/ 0 h 676186"/>
              <a:gd name="csX10" fmla="*/ 615813 w 965980"/>
              <a:gd name="csY10" fmla="*/ 72449 h 676186"/>
              <a:gd name="csX11" fmla="*/ 615813 w 965980"/>
              <a:gd name="csY11" fmla="*/ 193196 h 676186"/>
              <a:gd name="csX12" fmla="*/ 543364 w 965980"/>
              <a:gd name="csY12" fmla="*/ 193196 h 676186"/>
              <a:gd name="csX13" fmla="*/ 543364 w 965980"/>
              <a:gd name="csY13" fmla="*/ 72449 h 676186"/>
              <a:gd name="csX14" fmla="*/ 482990 w 965980"/>
              <a:gd name="csY14" fmla="*/ 0 h 676186"/>
              <a:gd name="csX15" fmla="*/ 422617 w 965980"/>
              <a:gd name="csY15" fmla="*/ 72449 h 676186"/>
              <a:gd name="csX16" fmla="*/ 422617 w 965980"/>
              <a:gd name="csY16" fmla="*/ 193196 h 676186"/>
              <a:gd name="csX17" fmla="*/ 350168 w 965980"/>
              <a:gd name="csY17" fmla="*/ 193196 h 676186"/>
              <a:gd name="csX18" fmla="*/ 350168 w 965980"/>
              <a:gd name="csY18" fmla="*/ 72449 h 676186"/>
              <a:gd name="csX19" fmla="*/ 289794 w 965980"/>
              <a:gd name="csY19" fmla="*/ 0 h 676186"/>
              <a:gd name="csX20" fmla="*/ 229420 w 965980"/>
              <a:gd name="csY20" fmla="*/ 72449 h 676186"/>
              <a:gd name="csX21" fmla="*/ 229420 w 965980"/>
              <a:gd name="csY21" fmla="*/ 193196 h 676186"/>
              <a:gd name="csX22" fmla="*/ 156972 w 965980"/>
              <a:gd name="csY22" fmla="*/ 193196 h 676186"/>
              <a:gd name="csX23" fmla="*/ 156972 w 965980"/>
              <a:gd name="csY23" fmla="*/ 72449 h 676186"/>
              <a:gd name="csX24" fmla="*/ 96598 w 965980"/>
              <a:gd name="csY24" fmla="*/ 0 h 676186"/>
              <a:gd name="csX25" fmla="*/ 36224 w 965980"/>
              <a:gd name="csY25" fmla="*/ 72449 h 676186"/>
              <a:gd name="csX26" fmla="*/ 36224 w 965980"/>
              <a:gd name="csY26" fmla="*/ 193196 h 676186"/>
              <a:gd name="csX27" fmla="*/ 0 w 965980"/>
              <a:gd name="csY27" fmla="*/ 193196 h 676186"/>
              <a:gd name="csX28" fmla="*/ 0 w 965980"/>
              <a:gd name="csY28" fmla="*/ 217346 h 676186"/>
              <a:gd name="csX29" fmla="*/ 36224 w 965980"/>
              <a:gd name="csY29" fmla="*/ 217346 h 676186"/>
              <a:gd name="csX30" fmla="*/ 36224 w 965980"/>
              <a:gd name="csY30" fmla="*/ 507140 h 676186"/>
              <a:gd name="csX31" fmla="*/ 0 w 965980"/>
              <a:gd name="csY31" fmla="*/ 507140 h 676186"/>
              <a:gd name="csX32" fmla="*/ 0 w 965980"/>
              <a:gd name="csY32" fmla="*/ 531289 h 676186"/>
              <a:gd name="csX33" fmla="*/ 36224 w 965980"/>
              <a:gd name="csY33" fmla="*/ 531289 h 676186"/>
              <a:gd name="csX34" fmla="*/ 36224 w 965980"/>
              <a:gd name="csY34" fmla="*/ 676187 h 676186"/>
              <a:gd name="csX35" fmla="*/ 156972 w 965980"/>
              <a:gd name="csY35" fmla="*/ 676187 h 676186"/>
              <a:gd name="csX36" fmla="*/ 156972 w 965980"/>
              <a:gd name="csY36" fmla="*/ 531289 h 676186"/>
              <a:gd name="csX37" fmla="*/ 229420 w 965980"/>
              <a:gd name="csY37" fmla="*/ 531289 h 676186"/>
              <a:gd name="csX38" fmla="*/ 229420 w 965980"/>
              <a:gd name="csY38" fmla="*/ 676187 h 676186"/>
              <a:gd name="csX39" fmla="*/ 350168 w 965980"/>
              <a:gd name="csY39" fmla="*/ 676187 h 676186"/>
              <a:gd name="csX40" fmla="*/ 350168 w 965980"/>
              <a:gd name="csY40" fmla="*/ 531289 h 676186"/>
              <a:gd name="csX41" fmla="*/ 422617 w 965980"/>
              <a:gd name="csY41" fmla="*/ 531289 h 676186"/>
              <a:gd name="csX42" fmla="*/ 422617 w 965980"/>
              <a:gd name="csY42" fmla="*/ 676187 h 676186"/>
              <a:gd name="csX43" fmla="*/ 543364 w 965980"/>
              <a:gd name="csY43" fmla="*/ 676187 h 676186"/>
              <a:gd name="csX44" fmla="*/ 543364 w 965980"/>
              <a:gd name="csY44" fmla="*/ 531289 h 676186"/>
              <a:gd name="csX45" fmla="*/ 615813 w 965980"/>
              <a:gd name="csY45" fmla="*/ 531289 h 676186"/>
              <a:gd name="csX46" fmla="*/ 615813 w 965980"/>
              <a:gd name="csY46" fmla="*/ 676187 h 676186"/>
              <a:gd name="csX47" fmla="*/ 736560 w 965980"/>
              <a:gd name="csY47" fmla="*/ 676187 h 676186"/>
              <a:gd name="csX48" fmla="*/ 736560 w 965980"/>
              <a:gd name="csY48" fmla="*/ 531289 h 676186"/>
              <a:gd name="csX49" fmla="*/ 809009 w 965980"/>
              <a:gd name="csY49" fmla="*/ 531289 h 676186"/>
              <a:gd name="csX50" fmla="*/ 809009 w 965980"/>
              <a:gd name="csY50" fmla="*/ 676187 h 676186"/>
              <a:gd name="csX51" fmla="*/ 929757 w 965980"/>
              <a:gd name="csY51" fmla="*/ 676187 h 676186"/>
              <a:gd name="csX52" fmla="*/ 929757 w 965980"/>
              <a:gd name="csY52" fmla="*/ 531289 h 676186"/>
              <a:gd name="csX53" fmla="*/ 965981 w 965980"/>
              <a:gd name="csY53" fmla="*/ 531289 h 676186"/>
              <a:gd name="csX54" fmla="*/ 965981 w 965980"/>
              <a:gd name="csY54" fmla="*/ 507140 h 676186"/>
              <a:gd name="csX55" fmla="*/ 929757 w 965980"/>
              <a:gd name="csY55" fmla="*/ 507140 h 676186"/>
              <a:gd name="csX56" fmla="*/ 929757 w 965980"/>
              <a:gd name="csY56" fmla="*/ 217346 h 676186"/>
              <a:gd name="csX57" fmla="*/ 132822 w 965980"/>
              <a:gd name="csY57" fmla="*/ 169047 h 676186"/>
              <a:gd name="csX58" fmla="*/ 132822 w 965980"/>
              <a:gd name="csY58" fmla="*/ 652037 h 676186"/>
              <a:gd name="csX59" fmla="*/ 60374 w 965980"/>
              <a:gd name="csY59" fmla="*/ 652037 h 676186"/>
              <a:gd name="csX60" fmla="*/ 60374 w 965980"/>
              <a:gd name="csY60" fmla="*/ 81191 h 676186"/>
              <a:gd name="csX61" fmla="*/ 96598 w 965980"/>
              <a:gd name="csY61" fmla="*/ 37722 h 676186"/>
              <a:gd name="csX62" fmla="*/ 132822 w 965980"/>
              <a:gd name="csY62" fmla="*/ 81191 h 676186"/>
              <a:gd name="csX63" fmla="*/ 156972 w 965980"/>
              <a:gd name="csY63" fmla="*/ 507140 h 676186"/>
              <a:gd name="csX64" fmla="*/ 156972 w 965980"/>
              <a:gd name="csY64" fmla="*/ 217346 h 676186"/>
              <a:gd name="csX65" fmla="*/ 229420 w 965980"/>
              <a:gd name="csY65" fmla="*/ 217346 h 676186"/>
              <a:gd name="csX66" fmla="*/ 229420 w 965980"/>
              <a:gd name="csY66" fmla="*/ 507140 h 676186"/>
              <a:gd name="csX67" fmla="*/ 326019 w 965980"/>
              <a:gd name="csY67" fmla="*/ 169047 h 676186"/>
              <a:gd name="csX68" fmla="*/ 326019 w 965980"/>
              <a:gd name="csY68" fmla="*/ 652037 h 676186"/>
              <a:gd name="csX69" fmla="*/ 253570 w 965980"/>
              <a:gd name="csY69" fmla="*/ 652037 h 676186"/>
              <a:gd name="csX70" fmla="*/ 253570 w 965980"/>
              <a:gd name="csY70" fmla="*/ 81191 h 676186"/>
              <a:gd name="csX71" fmla="*/ 289794 w 965980"/>
              <a:gd name="csY71" fmla="*/ 37722 h 676186"/>
              <a:gd name="csX72" fmla="*/ 326019 w 965980"/>
              <a:gd name="csY72" fmla="*/ 81191 h 676186"/>
              <a:gd name="csX73" fmla="*/ 350168 w 965980"/>
              <a:gd name="csY73" fmla="*/ 507140 h 676186"/>
              <a:gd name="csX74" fmla="*/ 350168 w 965980"/>
              <a:gd name="csY74" fmla="*/ 217346 h 676186"/>
              <a:gd name="csX75" fmla="*/ 422617 w 965980"/>
              <a:gd name="csY75" fmla="*/ 217346 h 676186"/>
              <a:gd name="csX76" fmla="*/ 422617 w 965980"/>
              <a:gd name="csY76" fmla="*/ 507140 h 676186"/>
              <a:gd name="csX77" fmla="*/ 519215 w 965980"/>
              <a:gd name="csY77" fmla="*/ 169047 h 676186"/>
              <a:gd name="csX78" fmla="*/ 519215 w 965980"/>
              <a:gd name="csY78" fmla="*/ 652037 h 676186"/>
              <a:gd name="csX79" fmla="*/ 446766 w 965980"/>
              <a:gd name="csY79" fmla="*/ 652037 h 676186"/>
              <a:gd name="csX80" fmla="*/ 446766 w 965980"/>
              <a:gd name="csY80" fmla="*/ 81191 h 676186"/>
              <a:gd name="csX81" fmla="*/ 482990 w 965980"/>
              <a:gd name="csY81" fmla="*/ 37722 h 676186"/>
              <a:gd name="csX82" fmla="*/ 519215 w 965980"/>
              <a:gd name="csY82" fmla="*/ 81191 h 676186"/>
              <a:gd name="csX83" fmla="*/ 543364 w 965980"/>
              <a:gd name="csY83" fmla="*/ 507140 h 676186"/>
              <a:gd name="csX84" fmla="*/ 543364 w 965980"/>
              <a:gd name="csY84" fmla="*/ 217346 h 676186"/>
              <a:gd name="csX85" fmla="*/ 615813 w 965980"/>
              <a:gd name="csY85" fmla="*/ 217346 h 676186"/>
              <a:gd name="csX86" fmla="*/ 615813 w 965980"/>
              <a:gd name="csY86" fmla="*/ 507140 h 676186"/>
              <a:gd name="csX87" fmla="*/ 712411 w 965980"/>
              <a:gd name="csY87" fmla="*/ 169047 h 676186"/>
              <a:gd name="csX88" fmla="*/ 712411 w 965980"/>
              <a:gd name="csY88" fmla="*/ 652037 h 676186"/>
              <a:gd name="csX89" fmla="*/ 639962 w 965980"/>
              <a:gd name="csY89" fmla="*/ 652037 h 676186"/>
              <a:gd name="csX90" fmla="*/ 639962 w 965980"/>
              <a:gd name="csY90" fmla="*/ 81191 h 676186"/>
              <a:gd name="csX91" fmla="*/ 676187 w 965980"/>
              <a:gd name="csY91" fmla="*/ 37722 h 676186"/>
              <a:gd name="csX92" fmla="*/ 712411 w 965980"/>
              <a:gd name="csY92" fmla="*/ 81191 h 676186"/>
              <a:gd name="csX93" fmla="*/ 736560 w 965980"/>
              <a:gd name="csY93" fmla="*/ 507140 h 676186"/>
              <a:gd name="csX94" fmla="*/ 736560 w 965980"/>
              <a:gd name="csY94" fmla="*/ 217346 h 676186"/>
              <a:gd name="csX95" fmla="*/ 809009 w 965980"/>
              <a:gd name="csY95" fmla="*/ 217346 h 676186"/>
              <a:gd name="csX96" fmla="*/ 809009 w 965980"/>
              <a:gd name="csY96" fmla="*/ 507140 h 676186"/>
              <a:gd name="csX97" fmla="*/ 905607 w 965980"/>
              <a:gd name="csY97" fmla="*/ 169047 h 676186"/>
              <a:gd name="csX98" fmla="*/ 905607 w 965980"/>
              <a:gd name="csY98" fmla="*/ 652037 h 676186"/>
              <a:gd name="csX99" fmla="*/ 833158 w 965980"/>
              <a:gd name="csY99" fmla="*/ 652037 h 676186"/>
              <a:gd name="csX100" fmla="*/ 833158 w 965980"/>
              <a:gd name="csY100" fmla="*/ 81191 h 676186"/>
              <a:gd name="csX101" fmla="*/ 869383 w 965980"/>
              <a:gd name="csY101" fmla="*/ 37722 h 676186"/>
              <a:gd name="csX102" fmla="*/ 905607 w 965980"/>
              <a:gd name="csY102" fmla="*/ 81191 h 6761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</a:cxnLst>
            <a:rect l="l" t="t" r="r" b="b"/>
            <a:pathLst>
              <a:path w="965980" h="676186">
                <a:moveTo>
                  <a:pt x="965981" y="217346"/>
                </a:moveTo>
                <a:lnTo>
                  <a:pt x="965981" y="193196"/>
                </a:lnTo>
                <a:lnTo>
                  <a:pt x="929757" y="193196"/>
                </a:lnTo>
                <a:lnTo>
                  <a:pt x="929757" y="72449"/>
                </a:lnTo>
                <a:lnTo>
                  <a:pt x="869383" y="0"/>
                </a:lnTo>
                <a:lnTo>
                  <a:pt x="809009" y="72449"/>
                </a:lnTo>
                <a:lnTo>
                  <a:pt x="809009" y="193196"/>
                </a:lnTo>
                <a:lnTo>
                  <a:pt x="736560" y="193196"/>
                </a:lnTo>
                <a:lnTo>
                  <a:pt x="736560" y="72449"/>
                </a:lnTo>
                <a:lnTo>
                  <a:pt x="676187" y="0"/>
                </a:lnTo>
                <a:lnTo>
                  <a:pt x="615813" y="72449"/>
                </a:lnTo>
                <a:lnTo>
                  <a:pt x="615813" y="193196"/>
                </a:lnTo>
                <a:lnTo>
                  <a:pt x="543364" y="193196"/>
                </a:lnTo>
                <a:lnTo>
                  <a:pt x="543364" y="72449"/>
                </a:lnTo>
                <a:lnTo>
                  <a:pt x="482990" y="0"/>
                </a:lnTo>
                <a:lnTo>
                  <a:pt x="422617" y="72449"/>
                </a:lnTo>
                <a:lnTo>
                  <a:pt x="422617" y="193196"/>
                </a:lnTo>
                <a:lnTo>
                  <a:pt x="350168" y="193196"/>
                </a:lnTo>
                <a:lnTo>
                  <a:pt x="350168" y="72449"/>
                </a:lnTo>
                <a:lnTo>
                  <a:pt x="289794" y="0"/>
                </a:lnTo>
                <a:lnTo>
                  <a:pt x="229420" y="72449"/>
                </a:lnTo>
                <a:lnTo>
                  <a:pt x="229420" y="193196"/>
                </a:lnTo>
                <a:lnTo>
                  <a:pt x="156972" y="193196"/>
                </a:lnTo>
                <a:lnTo>
                  <a:pt x="156972" y="72449"/>
                </a:lnTo>
                <a:lnTo>
                  <a:pt x="96598" y="0"/>
                </a:lnTo>
                <a:lnTo>
                  <a:pt x="36224" y="72449"/>
                </a:lnTo>
                <a:lnTo>
                  <a:pt x="36224" y="193196"/>
                </a:lnTo>
                <a:lnTo>
                  <a:pt x="0" y="193196"/>
                </a:lnTo>
                <a:lnTo>
                  <a:pt x="0" y="217346"/>
                </a:lnTo>
                <a:lnTo>
                  <a:pt x="36224" y="217346"/>
                </a:lnTo>
                <a:lnTo>
                  <a:pt x="36224" y="507140"/>
                </a:lnTo>
                <a:lnTo>
                  <a:pt x="0" y="507140"/>
                </a:lnTo>
                <a:lnTo>
                  <a:pt x="0" y="531289"/>
                </a:lnTo>
                <a:lnTo>
                  <a:pt x="36224" y="531289"/>
                </a:lnTo>
                <a:lnTo>
                  <a:pt x="36224" y="676187"/>
                </a:lnTo>
                <a:lnTo>
                  <a:pt x="156972" y="676187"/>
                </a:lnTo>
                <a:lnTo>
                  <a:pt x="156972" y="531289"/>
                </a:lnTo>
                <a:lnTo>
                  <a:pt x="229420" y="531289"/>
                </a:lnTo>
                <a:lnTo>
                  <a:pt x="229420" y="676187"/>
                </a:lnTo>
                <a:lnTo>
                  <a:pt x="350168" y="676187"/>
                </a:lnTo>
                <a:lnTo>
                  <a:pt x="350168" y="531289"/>
                </a:lnTo>
                <a:lnTo>
                  <a:pt x="422617" y="531289"/>
                </a:lnTo>
                <a:lnTo>
                  <a:pt x="422617" y="676187"/>
                </a:lnTo>
                <a:lnTo>
                  <a:pt x="543364" y="676187"/>
                </a:lnTo>
                <a:lnTo>
                  <a:pt x="543364" y="531289"/>
                </a:lnTo>
                <a:lnTo>
                  <a:pt x="615813" y="531289"/>
                </a:lnTo>
                <a:lnTo>
                  <a:pt x="615813" y="676187"/>
                </a:lnTo>
                <a:lnTo>
                  <a:pt x="736560" y="676187"/>
                </a:lnTo>
                <a:lnTo>
                  <a:pt x="736560" y="531289"/>
                </a:lnTo>
                <a:lnTo>
                  <a:pt x="809009" y="531289"/>
                </a:lnTo>
                <a:lnTo>
                  <a:pt x="809009" y="676187"/>
                </a:lnTo>
                <a:lnTo>
                  <a:pt x="929757" y="676187"/>
                </a:lnTo>
                <a:lnTo>
                  <a:pt x="929757" y="531289"/>
                </a:lnTo>
                <a:lnTo>
                  <a:pt x="965981" y="531289"/>
                </a:lnTo>
                <a:lnTo>
                  <a:pt x="965981" y="507140"/>
                </a:lnTo>
                <a:lnTo>
                  <a:pt x="929757" y="507140"/>
                </a:lnTo>
                <a:lnTo>
                  <a:pt x="929757" y="217346"/>
                </a:lnTo>
                <a:close/>
                <a:moveTo>
                  <a:pt x="132822" y="169047"/>
                </a:moveTo>
                <a:lnTo>
                  <a:pt x="132822" y="652037"/>
                </a:lnTo>
                <a:lnTo>
                  <a:pt x="60374" y="652037"/>
                </a:lnTo>
                <a:lnTo>
                  <a:pt x="60374" y="81191"/>
                </a:lnTo>
                <a:lnTo>
                  <a:pt x="96598" y="37722"/>
                </a:lnTo>
                <a:lnTo>
                  <a:pt x="132822" y="81191"/>
                </a:lnTo>
                <a:close/>
                <a:moveTo>
                  <a:pt x="156972" y="507140"/>
                </a:moveTo>
                <a:lnTo>
                  <a:pt x="156972" y="217346"/>
                </a:lnTo>
                <a:lnTo>
                  <a:pt x="229420" y="217346"/>
                </a:lnTo>
                <a:lnTo>
                  <a:pt x="229420" y="507140"/>
                </a:lnTo>
                <a:close/>
                <a:moveTo>
                  <a:pt x="326019" y="169047"/>
                </a:moveTo>
                <a:lnTo>
                  <a:pt x="326019" y="652037"/>
                </a:lnTo>
                <a:lnTo>
                  <a:pt x="253570" y="652037"/>
                </a:lnTo>
                <a:lnTo>
                  <a:pt x="253570" y="81191"/>
                </a:lnTo>
                <a:lnTo>
                  <a:pt x="289794" y="37722"/>
                </a:lnTo>
                <a:lnTo>
                  <a:pt x="326019" y="81191"/>
                </a:lnTo>
                <a:close/>
                <a:moveTo>
                  <a:pt x="350168" y="507140"/>
                </a:moveTo>
                <a:lnTo>
                  <a:pt x="350168" y="217346"/>
                </a:lnTo>
                <a:lnTo>
                  <a:pt x="422617" y="217346"/>
                </a:lnTo>
                <a:lnTo>
                  <a:pt x="422617" y="507140"/>
                </a:lnTo>
                <a:close/>
                <a:moveTo>
                  <a:pt x="519215" y="169047"/>
                </a:moveTo>
                <a:lnTo>
                  <a:pt x="519215" y="652037"/>
                </a:lnTo>
                <a:lnTo>
                  <a:pt x="446766" y="652037"/>
                </a:lnTo>
                <a:lnTo>
                  <a:pt x="446766" y="81191"/>
                </a:lnTo>
                <a:lnTo>
                  <a:pt x="482990" y="37722"/>
                </a:lnTo>
                <a:lnTo>
                  <a:pt x="519215" y="81191"/>
                </a:lnTo>
                <a:close/>
                <a:moveTo>
                  <a:pt x="543364" y="507140"/>
                </a:moveTo>
                <a:lnTo>
                  <a:pt x="543364" y="217346"/>
                </a:lnTo>
                <a:lnTo>
                  <a:pt x="615813" y="217346"/>
                </a:lnTo>
                <a:lnTo>
                  <a:pt x="615813" y="507140"/>
                </a:lnTo>
                <a:close/>
                <a:moveTo>
                  <a:pt x="712411" y="169047"/>
                </a:moveTo>
                <a:lnTo>
                  <a:pt x="712411" y="652037"/>
                </a:lnTo>
                <a:lnTo>
                  <a:pt x="639962" y="652037"/>
                </a:lnTo>
                <a:lnTo>
                  <a:pt x="639962" y="81191"/>
                </a:lnTo>
                <a:lnTo>
                  <a:pt x="676187" y="37722"/>
                </a:lnTo>
                <a:lnTo>
                  <a:pt x="712411" y="81191"/>
                </a:lnTo>
                <a:close/>
                <a:moveTo>
                  <a:pt x="736560" y="507140"/>
                </a:moveTo>
                <a:lnTo>
                  <a:pt x="736560" y="217346"/>
                </a:lnTo>
                <a:lnTo>
                  <a:pt x="809009" y="217346"/>
                </a:lnTo>
                <a:lnTo>
                  <a:pt x="809009" y="507140"/>
                </a:lnTo>
                <a:close/>
                <a:moveTo>
                  <a:pt x="905607" y="169047"/>
                </a:moveTo>
                <a:lnTo>
                  <a:pt x="905607" y="652037"/>
                </a:lnTo>
                <a:lnTo>
                  <a:pt x="833158" y="652037"/>
                </a:lnTo>
                <a:lnTo>
                  <a:pt x="833158" y="81191"/>
                </a:lnTo>
                <a:lnTo>
                  <a:pt x="869383" y="37722"/>
                </a:lnTo>
                <a:lnTo>
                  <a:pt x="905607" y="81191"/>
                </a:lnTo>
                <a:close/>
              </a:path>
            </a:pathLst>
          </a:custGeom>
          <a:solidFill>
            <a:schemeClr val="accent2"/>
          </a:solidFill>
          <a:ln w="12005" cap="flat">
            <a:noFill/>
            <a:prstDash val="solid"/>
            <a:miter/>
          </a:ln>
          <a:scene3d>
            <a:camera prst="orthographicFront">
              <a:rot lat="2400000" lon="3000000" rev="0"/>
            </a:camera>
            <a:lightRig rig="threePt" dir="t"/>
          </a:scene3d>
        </p:spPr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A1AB6-5DB0-2F42-8562-D6224016B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02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61"/>
                            </p:stCondLst>
                            <p:childTnLst>
                              <p:par>
                                <p:cTn id="8" presetID="8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3.7037E-6 L 0.14284 3.7037E-6 L 0.17982 -0.03473 L -0.03411 -0.03473 L -3.33333E-6 3.7037E-6 Z " pathEditMode="relative" rAng="0" ptsTypes="AAAAA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79" y="-1736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0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2.08333E-7 0.01782 C -2.08333E-7 0.01296 -0.02409 0.00902 -0.05352 0.00902 L -0.17721 0.00902 C -0.20664 0.00902 -0.2306 0.01296 -0.2306 0.01782 L -0.2306 0.03842 C -0.2306 0.04328 -0.20664 0.04768 -0.17721 0.04768 L -0.05352 0.04768 C -0.02409 0.04768 -2.08333E-7 0.04328 -2.08333E-7 0.03842 L -2.08333E-7 0.01782 Z " pathEditMode="relative" rAng="0" ptsTypes="AAAAAAAAA">
                                      <p:cBhvr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536" y="1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41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81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35856-6945-5E53-E168-7E8362C2D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“Pipeline”?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76C01-952E-F965-F527-612D934EA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74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8A68D2-8092-D451-D437-F795CD860B0B}"/>
              </a:ext>
            </a:extLst>
          </p:cNvPr>
          <p:cNvSpPr txBox="1"/>
          <p:nvPr/>
        </p:nvSpPr>
        <p:spPr>
          <a:xfrm>
            <a:off x="957943" y="1872343"/>
            <a:ext cx="1219199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400" dirty="0"/>
              <a:t>Fetch</a:t>
            </a:r>
            <a:endParaRPr lang="LID4096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5E4F76-F0ED-C342-AF2E-D0EC873C1BF7}"/>
              </a:ext>
            </a:extLst>
          </p:cNvPr>
          <p:cNvSpPr txBox="1"/>
          <p:nvPr/>
        </p:nvSpPr>
        <p:spPr>
          <a:xfrm>
            <a:off x="2177141" y="1872342"/>
            <a:ext cx="1219199" cy="45720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400" dirty="0"/>
              <a:t>Decode</a:t>
            </a:r>
            <a:endParaRPr lang="LID4096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2E5636-8BAC-3ACD-CB9D-738697937793}"/>
              </a:ext>
            </a:extLst>
          </p:cNvPr>
          <p:cNvSpPr txBox="1"/>
          <p:nvPr/>
        </p:nvSpPr>
        <p:spPr>
          <a:xfrm>
            <a:off x="3396340" y="1872342"/>
            <a:ext cx="1219199" cy="4572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400" dirty="0"/>
              <a:t>Issue</a:t>
            </a:r>
            <a:endParaRPr lang="LID4096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93A89B-6B64-1541-CC6F-D154AE506B75}"/>
              </a:ext>
            </a:extLst>
          </p:cNvPr>
          <p:cNvSpPr txBox="1"/>
          <p:nvPr/>
        </p:nvSpPr>
        <p:spPr>
          <a:xfrm>
            <a:off x="4615537" y="1872342"/>
            <a:ext cx="1219199" cy="457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400" dirty="0"/>
              <a:t>Exec</a:t>
            </a:r>
            <a:endParaRPr lang="LID4096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8B38BC-A049-8171-EC7A-FA7085E65002}"/>
              </a:ext>
            </a:extLst>
          </p:cNvPr>
          <p:cNvSpPr txBox="1"/>
          <p:nvPr/>
        </p:nvSpPr>
        <p:spPr>
          <a:xfrm>
            <a:off x="5834737" y="1872342"/>
            <a:ext cx="1219199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400" dirty="0"/>
              <a:t>Write</a:t>
            </a:r>
            <a:endParaRPr lang="LID4096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66B4D4-8407-2FA9-AED5-F2F5683496E8}"/>
              </a:ext>
            </a:extLst>
          </p:cNvPr>
          <p:cNvSpPr txBox="1"/>
          <p:nvPr/>
        </p:nvSpPr>
        <p:spPr>
          <a:xfrm>
            <a:off x="7053935" y="1872342"/>
            <a:ext cx="1219199" cy="45720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200" dirty="0"/>
              <a:t>Commit</a:t>
            </a:r>
            <a:endParaRPr lang="LID4096" sz="2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2EE0A7-4848-5385-BFC0-0D859941405F}"/>
              </a:ext>
            </a:extLst>
          </p:cNvPr>
          <p:cNvSpPr txBox="1"/>
          <p:nvPr/>
        </p:nvSpPr>
        <p:spPr>
          <a:xfrm>
            <a:off x="11147534" y="3210062"/>
            <a:ext cx="7505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…</a:t>
            </a:r>
            <a:endParaRPr lang="LID4096" sz="5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EA6ED73-4974-098A-2D84-1B26D7BCA185}"/>
              </a:ext>
            </a:extLst>
          </p:cNvPr>
          <p:cNvSpPr txBox="1"/>
          <p:nvPr/>
        </p:nvSpPr>
        <p:spPr>
          <a:xfrm>
            <a:off x="2177142" y="2329543"/>
            <a:ext cx="1219199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400" dirty="0"/>
              <a:t>Fetch</a:t>
            </a:r>
            <a:endParaRPr lang="LID4096" sz="2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725069-7D83-3F24-81FE-B79B25BD58CF}"/>
              </a:ext>
            </a:extLst>
          </p:cNvPr>
          <p:cNvSpPr txBox="1"/>
          <p:nvPr/>
        </p:nvSpPr>
        <p:spPr>
          <a:xfrm>
            <a:off x="3396340" y="2329542"/>
            <a:ext cx="1219199" cy="45720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400" dirty="0"/>
              <a:t>Decode</a:t>
            </a:r>
            <a:endParaRPr lang="LID4096" sz="2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3EAE95F-CBE6-7B63-8289-CED2F342546B}"/>
              </a:ext>
            </a:extLst>
          </p:cNvPr>
          <p:cNvSpPr txBox="1"/>
          <p:nvPr/>
        </p:nvSpPr>
        <p:spPr>
          <a:xfrm>
            <a:off x="4615539" y="2329542"/>
            <a:ext cx="1219199" cy="4572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400" dirty="0"/>
              <a:t>Issue</a:t>
            </a:r>
            <a:endParaRPr lang="LID4096" sz="2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0D8437-14DF-22B2-4008-929395D36740}"/>
              </a:ext>
            </a:extLst>
          </p:cNvPr>
          <p:cNvSpPr txBox="1"/>
          <p:nvPr/>
        </p:nvSpPr>
        <p:spPr>
          <a:xfrm>
            <a:off x="5834736" y="2329542"/>
            <a:ext cx="1219199" cy="457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400" dirty="0"/>
              <a:t>Exec</a:t>
            </a:r>
            <a:endParaRPr lang="LID4096" sz="2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A7E5C20-E8DB-6BBC-A3B7-1CD701A5630E}"/>
              </a:ext>
            </a:extLst>
          </p:cNvPr>
          <p:cNvSpPr txBox="1"/>
          <p:nvPr/>
        </p:nvSpPr>
        <p:spPr>
          <a:xfrm>
            <a:off x="7053936" y="2329542"/>
            <a:ext cx="1219199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400" dirty="0"/>
              <a:t>Write</a:t>
            </a:r>
            <a:endParaRPr lang="LID4096" sz="2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95B164D-6723-DE6D-9E0A-15EB8709AA22}"/>
              </a:ext>
            </a:extLst>
          </p:cNvPr>
          <p:cNvSpPr txBox="1"/>
          <p:nvPr/>
        </p:nvSpPr>
        <p:spPr>
          <a:xfrm>
            <a:off x="8273134" y="2329542"/>
            <a:ext cx="1219199" cy="45720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200" dirty="0"/>
              <a:t>Commit</a:t>
            </a:r>
            <a:endParaRPr lang="LID4096" sz="2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14F849-EE9F-2761-A9A1-6C2E90D4138E}"/>
              </a:ext>
            </a:extLst>
          </p:cNvPr>
          <p:cNvSpPr txBox="1"/>
          <p:nvPr/>
        </p:nvSpPr>
        <p:spPr>
          <a:xfrm>
            <a:off x="3396341" y="2786743"/>
            <a:ext cx="1219199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400" dirty="0"/>
              <a:t>Fetch</a:t>
            </a:r>
            <a:endParaRPr lang="LID4096" sz="2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BDAEA58-8717-7A9B-7113-F03A229DCB4C}"/>
              </a:ext>
            </a:extLst>
          </p:cNvPr>
          <p:cNvSpPr txBox="1"/>
          <p:nvPr/>
        </p:nvSpPr>
        <p:spPr>
          <a:xfrm>
            <a:off x="4615539" y="2786742"/>
            <a:ext cx="1219199" cy="45720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400" dirty="0"/>
              <a:t>Decode</a:t>
            </a:r>
            <a:endParaRPr lang="LID4096" sz="2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8279338-C50D-10A6-C511-EFAF3B26B40A}"/>
              </a:ext>
            </a:extLst>
          </p:cNvPr>
          <p:cNvSpPr txBox="1"/>
          <p:nvPr/>
        </p:nvSpPr>
        <p:spPr>
          <a:xfrm>
            <a:off x="5834738" y="2786742"/>
            <a:ext cx="1219199" cy="4572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400" dirty="0"/>
              <a:t>Issue</a:t>
            </a:r>
            <a:endParaRPr lang="LID4096" sz="2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16BEC82-8779-9BE7-22D7-F897123102C1}"/>
              </a:ext>
            </a:extLst>
          </p:cNvPr>
          <p:cNvSpPr txBox="1"/>
          <p:nvPr/>
        </p:nvSpPr>
        <p:spPr>
          <a:xfrm>
            <a:off x="7053935" y="2786742"/>
            <a:ext cx="1219199" cy="457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400" dirty="0"/>
              <a:t>Exec</a:t>
            </a:r>
            <a:endParaRPr lang="LID4096" sz="2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28B83F-A2B5-7B26-79BF-D773D5F0AF64}"/>
              </a:ext>
            </a:extLst>
          </p:cNvPr>
          <p:cNvSpPr txBox="1"/>
          <p:nvPr/>
        </p:nvSpPr>
        <p:spPr>
          <a:xfrm>
            <a:off x="8273135" y="2786742"/>
            <a:ext cx="1219199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400" dirty="0"/>
              <a:t>Write</a:t>
            </a:r>
            <a:endParaRPr lang="LID4096" sz="2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EDEA6F0-1D97-FBE8-03D7-BC7E3C9CF68C}"/>
              </a:ext>
            </a:extLst>
          </p:cNvPr>
          <p:cNvSpPr txBox="1"/>
          <p:nvPr/>
        </p:nvSpPr>
        <p:spPr>
          <a:xfrm>
            <a:off x="9492333" y="2786742"/>
            <a:ext cx="1219199" cy="45720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200" dirty="0"/>
              <a:t>Commit</a:t>
            </a:r>
            <a:endParaRPr lang="LID4096" sz="2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082E802-7BF0-CE1B-8D80-CFE37BA9BAB3}"/>
              </a:ext>
            </a:extLst>
          </p:cNvPr>
          <p:cNvSpPr txBox="1"/>
          <p:nvPr/>
        </p:nvSpPr>
        <p:spPr>
          <a:xfrm>
            <a:off x="4615540" y="3226026"/>
            <a:ext cx="1219199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400" dirty="0"/>
              <a:t>Fetch</a:t>
            </a:r>
            <a:endParaRPr lang="LID4096" sz="2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028F5C9-8432-C435-D6A6-B10215D34131}"/>
              </a:ext>
            </a:extLst>
          </p:cNvPr>
          <p:cNvSpPr txBox="1"/>
          <p:nvPr/>
        </p:nvSpPr>
        <p:spPr>
          <a:xfrm>
            <a:off x="5834738" y="3226025"/>
            <a:ext cx="1219199" cy="45720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400" dirty="0"/>
              <a:t>Decode</a:t>
            </a:r>
            <a:endParaRPr lang="LID4096" sz="2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95B3A60-D007-6CDB-4852-CBB88D5BDB60}"/>
              </a:ext>
            </a:extLst>
          </p:cNvPr>
          <p:cNvSpPr txBox="1"/>
          <p:nvPr/>
        </p:nvSpPr>
        <p:spPr>
          <a:xfrm>
            <a:off x="7053937" y="3226025"/>
            <a:ext cx="1219199" cy="4572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400" dirty="0"/>
              <a:t>Issue</a:t>
            </a:r>
            <a:endParaRPr lang="LID4096" sz="2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C28FDCC-733B-A27C-45BF-61D7ADE3E8D6}"/>
              </a:ext>
            </a:extLst>
          </p:cNvPr>
          <p:cNvSpPr txBox="1"/>
          <p:nvPr/>
        </p:nvSpPr>
        <p:spPr>
          <a:xfrm>
            <a:off x="8273134" y="3226025"/>
            <a:ext cx="1219199" cy="457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400" dirty="0"/>
              <a:t>Exec</a:t>
            </a:r>
            <a:endParaRPr lang="LID4096" sz="2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5E5AE6D-E87B-F93F-4591-3DF69A5CBB24}"/>
              </a:ext>
            </a:extLst>
          </p:cNvPr>
          <p:cNvSpPr txBox="1"/>
          <p:nvPr/>
        </p:nvSpPr>
        <p:spPr>
          <a:xfrm>
            <a:off x="9492334" y="3226025"/>
            <a:ext cx="1219199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400" dirty="0"/>
              <a:t>Write</a:t>
            </a:r>
            <a:endParaRPr lang="LID4096" sz="2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8842C6F-D3E3-7BC9-6189-ADE9FA998388}"/>
              </a:ext>
            </a:extLst>
          </p:cNvPr>
          <p:cNvSpPr txBox="1"/>
          <p:nvPr/>
        </p:nvSpPr>
        <p:spPr>
          <a:xfrm>
            <a:off x="5834738" y="3682546"/>
            <a:ext cx="1219199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400" dirty="0"/>
              <a:t>Fetch</a:t>
            </a:r>
            <a:endParaRPr lang="LID4096" sz="2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5AC20C3-2D1E-9832-C2C9-15BDE5EAAA84}"/>
              </a:ext>
            </a:extLst>
          </p:cNvPr>
          <p:cNvSpPr txBox="1"/>
          <p:nvPr/>
        </p:nvSpPr>
        <p:spPr>
          <a:xfrm>
            <a:off x="7053936" y="3682545"/>
            <a:ext cx="1219199" cy="45720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400" dirty="0"/>
              <a:t>Decode</a:t>
            </a:r>
            <a:endParaRPr lang="LID4096" sz="2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9F8002-E2D0-3025-EFBC-E5A34C1A4780}"/>
              </a:ext>
            </a:extLst>
          </p:cNvPr>
          <p:cNvSpPr txBox="1"/>
          <p:nvPr/>
        </p:nvSpPr>
        <p:spPr>
          <a:xfrm>
            <a:off x="8273135" y="3682545"/>
            <a:ext cx="1219199" cy="4572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400" dirty="0"/>
              <a:t>Issue</a:t>
            </a:r>
            <a:endParaRPr lang="LID4096" sz="2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905163F-483E-E9FD-765B-7DB6E3A0DA2F}"/>
              </a:ext>
            </a:extLst>
          </p:cNvPr>
          <p:cNvSpPr txBox="1"/>
          <p:nvPr/>
        </p:nvSpPr>
        <p:spPr>
          <a:xfrm>
            <a:off x="9492332" y="3682545"/>
            <a:ext cx="1219199" cy="457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400" dirty="0"/>
              <a:t>Exec</a:t>
            </a:r>
            <a:endParaRPr lang="LID4096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A8EF920-554E-463A-D7EA-6D4012C0FB83}"/>
              </a:ext>
            </a:extLst>
          </p:cNvPr>
          <p:cNvSpPr txBox="1"/>
          <p:nvPr/>
        </p:nvSpPr>
        <p:spPr>
          <a:xfrm>
            <a:off x="7053935" y="4133393"/>
            <a:ext cx="1219199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400" dirty="0"/>
              <a:t>Fetch</a:t>
            </a:r>
            <a:endParaRPr lang="LID4096" sz="2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85D4F79-CD48-B1DD-59CB-542B7EBA689A}"/>
              </a:ext>
            </a:extLst>
          </p:cNvPr>
          <p:cNvSpPr txBox="1"/>
          <p:nvPr/>
        </p:nvSpPr>
        <p:spPr>
          <a:xfrm>
            <a:off x="8273133" y="4133392"/>
            <a:ext cx="1219199" cy="45720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400" dirty="0"/>
              <a:t>Decode</a:t>
            </a:r>
            <a:endParaRPr lang="LID4096" sz="2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5554779-E6E3-FFDE-0AF9-83452785883A}"/>
              </a:ext>
            </a:extLst>
          </p:cNvPr>
          <p:cNvSpPr txBox="1"/>
          <p:nvPr/>
        </p:nvSpPr>
        <p:spPr>
          <a:xfrm>
            <a:off x="9492332" y="4133392"/>
            <a:ext cx="1219199" cy="4572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400" dirty="0"/>
              <a:t>Issue</a:t>
            </a:r>
            <a:endParaRPr lang="LID4096" sz="24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840A788-5490-81A5-1BF9-092CE11A908B}"/>
              </a:ext>
            </a:extLst>
          </p:cNvPr>
          <p:cNvSpPr txBox="1"/>
          <p:nvPr/>
        </p:nvSpPr>
        <p:spPr>
          <a:xfrm>
            <a:off x="8273131" y="4589912"/>
            <a:ext cx="1219199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400" dirty="0"/>
              <a:t>Fetch</a:t>
            </a:r>
            <a:endParaRPr lang="LID4096" sz="24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F705923-A2EA-01F3-1A07-5DA5435A6D03}"/>
              </a:ext>
            </a:extLst>
          </p:cNvPr>
          <p:cNvSpPr txBox="1"/>
          <p:nvPr/>
        </p:nvSpPr>
        <p:spPr>
          <a:xfrm>
            <a:off x="9492329" y="4589911"/>
            <a:ext cx="1219199" cy="45720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400" dirty="0"/>
              <a:t>Decode</a:t>
            </a:r>
            <a:endParaRPr lang="LID4096" sz="24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9D80964-CBB7-8C73-DAD3-21E5E12ECBCE}"/>
              </a:ext>
            </a:extLst>
          </p:cNvPr>
          <p:cNvSpPr txBox="1"/>
          <p:nvPr/>
        </p:nvSpPr>
        <p:spPr>
          <a:xfrm>
            <a:off x="9492329" y="5047111"/>
            <a:ext cx="1219199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400" dirty="0"/>
              <a:t>Fetch</a:t>
            </a:r>
            <a:endParaRPr lang="LID4096" sz="2400" dirty="0"/>
          </a:p>
        </p:txBody>
      </p:sp>
    </p:spTree>
    <p:extLst>
      <p:ext uri="{BB962C8B-B14F-4D97-AF65-F5344CB8AC3E}">
        <p14:creationId xmlns:p14="http://schemas.microsoft.com/office/powerpoint/2010/main" val="57379195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5B55F-C367-3605-55E8-F2DDB60A5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6CA5-A1B5-9259-401A-C61E7C573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“Pipeline”?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4C529-E6E4-F776-9CD1-13C0571EE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75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F071FC-9769-850D-C41C-5963E320DC09}"/>
              </a:ext>
            </a:extLst>
          </p:cNvPr>
          <p:cNvSpPr txBox="1"/>
          <p:nvPr/>
        </p:nvSpPr>
        <p:spPr>
          <a:xfrm>
            <a:off x="11147534" y="3210062"/>
            <a:ext cx="7505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…</a:t>
            </a:r>
            <a:endParaRPr lang="LID4096" sz="54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D27AA32-229C-7B41-6166-44F5068A98F9}"/>
              </a:ext>
            </a:extLst>
          </p:cNvPr>
          <p:cNvGrpSpPr/>
          <p:nvPr/>
        </p:nvGrpSpPr>
        <p:grpSpPr>
          <a:xfrm>
            <a:off x="957939" y="1872342"/>
            <a:ext cx="7315191" cy="3631969"/>
            <a:chOff x="957939" y="1872342"/>
            <a:chExt cx="7315191" cy="363196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20B0702-47C2-2E16-B023-9730E8DC81A3}"/>
                </a:ext>
              </a:extLst>
            </p:cNvPr>
            <p:cNvSpPr txBox="1"/>
            <p:nvPr/>
          </p:nvSpPr>
          <p:spPr>
            <a:xfrm>
              <a:off x="957943" y="1872343"/>
              <a:ext cx="1219199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400" dirty="0"/>
                <a:t>Fetch</a:t>
              </a:r>
              <a:endParaRPr lang="LID4096" sz="24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68B8349-D39C-4947-8E2E-643ACD57FC51}"/>
                </a:ext>
              </a:extLst>
            </p:cNvPr>
            <p:cNvSpPr txBox="1"/>
            <p:nvPr/>
          </p:nvSpPr>
          <p:spPr>
            <a:xfrm>
              <a:off x="2177141" y="1872342"/>
              <a:ext cx="1219199" cy="457200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400" dirty="0"/>
                <a:t>Decode</a:t>
              </a:r>
              <a:endParaRPr lang="LID4096" sz="24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CD6CB9B-520A-8A2A-F0F3-E439F5EA696F}"/>
                </a:ext>
              </a:extLst>
            </p:cNvPr>
            <p:cNvSpPr txBox="1"/>
            <p:nvPr/>
          </p:nvSpPr>
          <p:spPr>
            <a:xfrm>
              <a:off x="3396340" y="1872342"/>
              <a:ext cx="1219199" cy="4572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400" dirty="0"/>
                <a:t>Issue</a:t>
              </a:r>
              <a:endParaRPr lang="LID4096" sz="24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D2694AB-98EC-BFAC-78FC-20A4DD8A0350}"/>
                </a:ext>
              </a:extLst>
            </p:cNvPr>
            <p:cNvSpPr txBox="1"/>
            <p:nvPr/>
          </p:nvSpPr>
          <p:spPr>
            <a:xfrm>
              <a:off x="957939" y="2329543"/>
              <a:ext cx="1219199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400" dirty="0"/>
                <a:t>Fetch</a:t>
              </a:r>
              <a:endParaRPr lang="LID4096" sz="24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AA19555-00CD-8B76-BA4A-62DC1D1D57A5}"/>
                </a:ext>
              </a:extLst>
            </p:cNvPr>
            <p:cNvSpPr txBox="1"/>
            <p:nvPr/>
          </p:nvSpPr>
          <p:spPr>
            <a:xfrm>
              <a:off x="2177137" y="2329542"/>
              <a:ext cx="1219199" cy="457200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400" dirty="0"/>
                <a:t>Decode</a:t>
              </a:r>
              <a:endParaRPr lang="LID4096" sz="24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617DE64-A0A8-C792-1147-04E2F4A5296C}"/>
                </a:ext>
              </a:extLst>
            </p:cNvPr>
            <p:cNvSpPr txBox="1"/>
            <p:nvPr/>
          </p:nvSpPr>
          <p:spPr>
            <a:xfrm>
              <a:off x="3396336" y="2329542"/>
              <a:ext cx="1219199" cy="4572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400" dirty="0"/>
                <a:t>Issue</a:t>
              </a:r>
              <a:endParaRPr lang="LID4096" sz="24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6CCAD76-3FE9-471F-D415-9BB41EB39544}"/>
                </a:ext>
              </a:extLst>
            </p:cNvPr>
            <p:cNvSpPr txBox="1"/>
            <p:nvPr/>
          </p:nvSpPr>
          <p:spPr>
            <a:xfrm>
              <a:off x="2177138" y="2786743"/>
              <a:ext cx="1219199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400" dirty="0"/>
                <a:t>Fetch</a:t>
              </a:r>
              <a:endParaRPr lang="LID4096" sz="24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6DDE637-3047-D3AE-92B0-2F2BD14830AB}"/>
                </a:ext>
              </a:extLst>
            </p:cNvPr>
            <p:cNvSpPr txBox="1"/>
            <p:nvPr/>
          </p:nvSpPr>
          <p:spPr>
            <a:xfrm>
              <a:off x="3396336" y="2786742"/>
              <a:ext cx="1219199" cy="457200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400" dirty="0"/>
                <a:t>Decode</a:t>
              </a:r>
              <a:endParaRPr lang="LID4096" sz="2400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516CACA-0A23-7C6C-D57D-DF192D114832}"/>
                </a:ext>
              </a:extLst>
            </p:cNvPr>
            <p:cNvSpPr txBox="1"/>
            <p:nvPr/>
          </p:nvSpPr>
          <p:spPr>
            <a:xfrm>
              <a:off x="4615535" y="2786742"/>
              <a:ext cx="1219199" cy="4572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400" dirty="0"/>
                <a:t>Issue</a:t>
              </a:r>
              <a:endParaRPr lang="LID4096" sz="24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FACEDF3-4704-990F-05D1-93459D4F8A39}"/>
                </a:ext>
              </a:extLst>
            </p:cNvPr>
            <p:cNvSpPr txBox="1"/>
            <p:nvPr/>
          </p:nvSpPr>
          <p:spPr>
            <a:xfrm>
              <a:off x="3396337" y="3226026"/>
              <a:ext cx="1219199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400" dirty="0"/>
                <a:t>Fetch</a:t>
              </a:r>
              <a:endParaRPr lang="LID4096" sz="24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436EBF1-93D4-F219-A14B-11322A1AA605}"/>
                </a:ext>
              </a:extLst>
            </p:cNvPr>
            <p:cNvSpPr txBox="1"/>
            <p:nvPr/>
          </p:nvSpPr>
          <p:spPr>
            <a:xfrm>
              <a:off x="4615535" y="3226025"/>
              <a:ext cx="1219199" cy="457200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400" dirty="0"/>
                <a:t>Decode</a:t>
              </a:r>
              <a:endParaRPr lang="LID4096" sz="24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771E3E0-F009-0A01-B8FE-70F961B606E3}"/>
                </a:ext>
              </a:extLst>
            </p:cNvPr>
            <p:cNvSpPr txBox="1"/>
            <p:nvPr/>
          </p:nvSpPr>
          <p:spPr>
            <a:xfrm>
              <a:off x="5834734" y="3226025"/>
              <a:ext cx="1219199" cy="4572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400" dirty="0"/>
                <a:t>Issue</a:t>
              </a:r>
              <a:endParaRPr lang="LID4096" sz="2400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8278C67-2594-34DC-C4B6-8F57A58E2361}"/>
                </a:ext>
              </a:extLst>
            </p:cNvPr>
            <p:cNvSpPr txBox="1"/>
            <p:nvPr/>
          </p:nvSpPr>
          <p:spPr>
            <a:xfrm>
              <a:off x="3396337" y="3682546"/>
              <a:ext cx="1219199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400" dirty="0"/>
                <a:t>Fetch</a:t>
              </a:r>
              <a:endParaRPr lang="LID4096" sz="2400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6C57B36-5A21-6EBF-B298-31EA98692507}"/>
                </a:ext>
              </a:extLst>
            </p:cNvPr>
            <p:cNvSpPr txBox="1"/>
            <p:nvPr/>
          </p:nvSpPr>
          <p:spPr>
            <a:xfrm>
              <a:off x="4615535" y="3682545"/>
              <a:ext cx="1219199" cy="457200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400" dirty="0"/>
                <a:t>Decode</a:t>
              </a:r>
              <a:endParaRPr lang="LID4096" sz="2400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2B7508C-D9AB-0401-5CBC-B50E680C48DE}"/>
                </a:ext>
              </a:extLst>
            </p:cNvPr>
            <p:cNvSpPr txBox="1"/>
            <p:nvPr/>
          </p:nvSpPr>
          <p:spPr>
            <a:xfrm>
              <a:off x="5834734" y="3682545"/>
              <a:ext cx="1219199" cy="4572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400" dirty="0"/>
                <a:t>Issue</a:t>
              </a:r>
              <a:endParaRPr lang="LID4096" sz="2400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3ECD04D-BC01-8276-61B5-3B5BEFD2F0A5}"/>
                </a:ext>
              </a:extLst>
            </p:cNvPr>
            <p:cNvSpPr txBox="1"/>
            <p:nvPr/>
          </p:nvSpPr>
          <p:spPr>
            <a:xfrm>
              <a:off x="4615534" y="4133393"/>
              <a:ext cx="1219199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400" dirty="0"/>
                <a:t>Fetch</a:t>
              </a:r>
              <a:endParaRPr lang="LID4096" sz="2400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F9A0CE9-E734-5C2C-12E4-9399AF020508}"/>
                </a:ext>
              </a:extLst>
            </p:cNvPr>
            <p:cNvSpPr txBox="1"/>
            <p:nvPr/>
          </p:nvSpPr>
          <p:spPr>
            <a:xfrm>
              <a:off x="5834732" y="4133392"/>
              <a:ext cx="1219199" cy="457200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400" dirty="0"/>
                <a:t>Decode</a:t>
              </a:r>
              <a:endParaRPr lang="LID4096" sz="2400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11BE213-4D0B-A802-42A7-FA0EEC83D7C0}"/>
                </a:ext>
              </a:extLst>
            </p:cNvPr>
            <p:cNvSpPr txBox="1"/>
            <p:nvPr/>
          </p:nvSpPr>
          <p:spPr>
            <a:xfrm>
              <a:off x="7053931" y="4133392"/>
              <a:ext cx="1219199" cy="4572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400" dirty="0"/>
                <a:t>Issue</a:t>
              </a:r>
              <a:endParaRPr lang="LID4096" sz="2400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A10F9C8-3909-9E32-0ADD-AEE6EDF800A0}"/>
                </a:ext>
              </a:extLst>
            </p:cNvPr>
            <p:cNvSpPr txBox="1"/>
            <p:nvPr/>
          </p:nvSpPr>
          <p:spPr>
            <a:xfrm>
              <a:off x="5834730" y="4589912"/>
              <a:ext cx="1219199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400" dirty="0"/>
                <a:t>Fetch</a:t>
              </a:r>
              <a:endParaRPr lang="LID4096" sz="2400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6E46B9C-7B20-1B19-68E3-90777EE7907B}"/>
                </a:ext>
              </a:extLst>
            </p:cNvPr>
            <p:cNvSpPr txBox="1"/>
            <p:nvPr/>
          </p:nvSpPr>
          <p:spPr>
            <a:xfrm>
              <a:off x="7053928" y="4589911"/>
              <a:ext cx="1219199" cy="457200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400" dirty="0"/>
                <a:t>Decode</a:t>
              </a:r>
              <a:endParaRPr lang="LID4096" sz="2400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BC85F61-973D-694B-B141-8FF25499159E}"/>
                </a:ext>
              </a:extLst>
            </p:cNvPr>
            <p:cNvSpPr txBox="1"/>
            <p:nvPr/>
          </p:nvSpPr>
          <p:spPr>
            <a:xfrm>
              <a:off x="7053928" y="5047111"/>
              <a:ext cx="1219199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400" dirty="0"/>
                <a:t>Fetch</a:t>
              </a:r>
              <a:endParaRPr lang="LID4096" sz="24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CFA945A-DF34-A55E-77BA-56A41F81EB22}"/>
              </a:ext>
            </a:extLst>
          </p:cNvPr>
          <p:cNvGrpSpPr/>
          <p:nvPr/>
        </p:nvGrpSpPr>
        <p:grpSpPr>
          <a:xfrm>
            <a:off x="4615533" y="1872342"/>
            <a:ext cx="4876797" cy="3631969"/>
            <a:chOff x="4615533" y="1872342"/>
            <a:chExt cx="4876797" cy="363196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015750-555D-A19C-8370-1943E529B855}"/>
                </a:ext>
              </a:extLst>
            </p:cNvPr>
            <p:cNvSpPr txBox="1"/>
            <p:nvPr/>
          </p:nvSpPr>
          <p:spPr>
            <a:xfrm>
              <a:off x="4615537" y="1872342"/>
              <a:ext cx="1219199" cy="457200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5">
                    <a:lumMod val="40000"/>
                    <a:lumOff val="60000"/>
                  </a:schemeClr>
                </a:gs>
                <a:gs pos="82000">
                  <a:schemeClr val="accent2">
                    <a:lumMod val="40000"/>
                    <a:lumOff val="60000"/>
                  </a:schemeClr>
                </a:gs>
              </a:gsLst>
              <a:lin ang="2700000" scaled="1"/>
              <a:tileRect/>
            </a:gradFill>
          </p:spPr>
          <p:txBody>
            <a:bodyPr wrap="square" rtlCol="0">
              <a:noAutofit/>
            </a:bodyPr>
            <a:lstStyle/>
            <a:p>
              <a:pPr algn="ctr"/>
              <a:endParaRPr lang="LID4096" sz="24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4F12575-8C20-86F7-A7E2-CD191773A07D}"/>
                </a:ext>
              </a:extLst>
            </p:cNvPr>
            <p:cNvSpPr txBox="1"/>
            <p:nvPr/>
          </p:nvSpPr>
          <p:spPr>
            <a:xfrm>
              <a:off x="5834737" y="1872342"/>
              <a:ext cx="1219199" cy="457200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5">
                    <a:lumMod val="40000"/>
                    <a:lumOff val="60000"/>
                  </a:schemeClr>
                </a:gs>
                <a:gs pos="82000">
                  <a:schemeClr val="accent2">
                    <a:lumMod val="40000"/>
                    <a:lumOff val="60000"/>
                  </a:schemeClr>
                </a:gs>
              </a:gsLst>
              <a:lin ang="2700000" scaled="1"/>
              <a:tileRect/>
            </a:gradFill>
          </p:spPr>
          <p:txBody>
            <a:bodyPr wrap="square" rtlCol="0">
              <a:noAutofit/>
            </a:bodyPr>
            <a:lstStyle>
              <a:defPPr>
                <a:defRPr lang="LID4096"/>
              </a:defPPr>
              <a:lvl1pPr algn="ctr">
                <a:defRPr sz="2400"/>
              </a:lvl1pPr>
            </a:lstStyle>
            <a:p>
              <a:endParaRPr lang="LID4096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B7564A9-0AC5-1A48-BCF1-FF791838C0FA}"/>
                </a:ext>
              </a:extLst>
            </p:cNvPr>
            <p:cNvSpPr txBox="1"/>
            <p:nvPr/>
          </p:nvSpPr>
          <p:spPr>
            <a:xfrm>
              <a:off x="4615533" y="2329542"/>
              <a:ext cx="1219199" cy="457200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5">
                    <a:lumMod val="40000"/>
                    <a:lumOff val="60000"/>
                  </a:schemeClr>
                </a:gs>
                <a:gs pos="82000">
                  <a:schemeClr val="accent2">
                    <a:lumMod val="40000"/>
                    <a:lumOff val="60000"/>
                  </a:schemeClr>
                </a:gs>
              </a:gsLst>
              <a:lin ang="2700000" scaled="1"/>
              <a:tileRect/>
            </a:gradFill>
          </p:spPr>
          <p:txBody>
            <a:bodyPr wrap="square" rtlCol="0">
              <a:noAutofit/>
            </a:bodyPr>
            <a:lstStyle>
              <a:defPPr>
                <a:defRPr lang="LID4096"/>
              </a:defPPr>
              <a:lvl1pPr algn="ctr">
                <a:defRPr sz="2400"/>
              </a:lvl1pPr>
            </a:lstStyle>
            <a:p>
              <a:endParaRPr lang="LID4096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1B5DD2A-8B2B-64BA-12C0-77FA6FB06C98}"/>
                </a:ext>
              </a:extLst>
            </p:cNvPr>
            <p:cNvSpPr txBox="1"/>
            <p:nvPr/>
          </p:nvSpPr>
          <p:spPr>
            <a:xfrm>
              <a:off x="5834733" y="2329542"/>
              <a:ext cx="1219199" cy="457200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5">
                    <a:lumMod val="40000"/>
                    <a:lumOff val="60000"/>
                  </a:schemeClr>
                </a:gs>
                <a:gs pos="82000">
                  <a:schemeClr val="accent2">
                    <a:lumMod val="40000"/>
                    <a:lumOff val="60000"/>
                  </a:schemeClr>
                </a:gs>
              </a:gsLst>
              <a:lin ang="2700000" scaled="1"/>
              <a:tileRect/>
            </a:gradFill>
          </p:spPr>
          <p:txBody>
            <a:bodyPr wrap="square" rtlCol="0">
              <a:noAutofit/>
            </a:bodyPr>
            <a:lstStyle>
              <a:defPPr>
                <a:defRPr lang="LID4096"/>
              </a:defPPr>
              <a:lvl1pPr algn="ctr">
                <a:defRPr sz="2400"/>
              </a:lvl1pPr>
            </a:lstStyle>
            <a:p>
              <a:endParaRPr lang="LID4096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A25545F-3EF7-4C65-BBE9-7D308A3379A4}"/>
                </a:ext>
              </a:extLst>
            </p:cNvPr>
            <p:cNvSpPr txBox="1"/>
            <p:nvPr/>
          </p:nvSpPr>
          <p:spPr>
            <a:xfrm>
              <a:off x="5834732" y="2786742"/>
              <a:ext cx="1219199" cy="457200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5">
                    <a:lumMod val="40000"/>
                    <a:lumOff val="60000"/>
                  </a:schemeClr>
                </a:gs>
                <a:gs pos="82000">
                  <a:schemeClr val="accent2">
                    <a:lumMod val="40000"/>
                    <a:lumOff val="60000"/>
                  </a:schemeClr>
                </a:gs>
              </a:gsLst>
              <a:lin ang="2700000" scaled="1"/>
              <a:tileRect/>
            </a:gradFill>
          </p:spPr>
          <p:txBody>
            <a:bodyPr wrap="square" rtlCol="0">
              <a:noAutofit/>
            </a:bodyPr>
            <a:lstStyle>
              <a:defPPr>
                <a:defRPr lang="LID4096"/>
              </a:defPPr>
              <a:lvl1pPr algn="ctr">
                <a:defRPr sz="2400"/>
              </a:lvl1pPr>
            </a:lstStyle>
            <a:p>
              <a:endParaRPr lang="LID4096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B5BF85B-C912-2466-43BD-638C11A88EBA}"/>
                </a:ext>
              </a:extLst>
            </p:cNvPr>
            <p:cNvSpPr txBox="1"/>
            <p:nvPr/>
          </p:nvSpPr>
          <p:spPr>
            <a:xfrm>
              <a:off x="7053932" y="2786742"/>
              <a:ext cx="1219199" cy="457200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5">
                    <a:lumMod val="40000"/>
                    <a:lumOff val="60000"/>
                  </a:schemeClr>
                </a:gs>
                <a:gs pos="82000">
                  <a:schemeClr val="accent2">
                    <a:lumMod val="40000"/>
                    <a:lumOff val="60000"/>
                  </a:schemeClr>
                </a:gs>
              </a:gsLst>
              <a:lin ang="2700000" scaled="1"/>
              <a:tileRect/>
            </a:gradFill>
          </p:spPr>
          <p:txBody>
            <a:bodyPr wrap="square" rtlCol="0">
              <a:noAutofit/>
            </a:bodyPr>
            <a:lstStyle>
              <a:defPPr>
                <a:defRPr lang="LID4096"/>
              </a:defPPr>
              <a:lvl1pPr algn="ctr">
                <a:defRPr sz="2400"/>
              </a:lvl1pPr>
            </a:lstStyle>
            <a:p>
              <a:endParaRPr lang="LID4096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3A2C80C-ABA1-44FF-300C-12E31667E1D1}"/>
                </a:ext>
              </a:extLst>
            </p:cNvPr>
            <p:cNvSpPr txBox="1"/>
            <p:nvPr/>
          </p:nvSpPr>
          <p:spPr>
            <a:xfrm>
              <a:off x="7053931" y="3226025"/>
              <a:ext cx="1219199" cy="457200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5">
                    <a:lumMod val="40000"/>
                    <a:lumOff val="60000"/>
                  </a:schemeClr>
                </a:gs>
                <a:gs pos="82000">
                  <a:schemeClr val="accent2">
                    <a:lumMod val="40000"/>
                    <a:lumOff val="60000"/>
                  </a:schemeClr>
                </a:gs>
              </a:gsLst>
              <a:lin ang="2700000" scaled="1"/>
              <a:tileRect/>
            </a:gradFill>
          </p:spPr>
          <p:txBody>
            <a:bodyPr wrap="square" rtlCol="0">
              <a:noAutofit/>
            </a:bodyPr>
            <a:lstStyle>
              <a:defPPr>
                <a:defRPr lang="LID4096"/>
              </a:defPPr>
              <a:lvl1pPr algn="ctr">
                <a:defRPr sz="2400"/>
              </a:lvl1pPr>
            </a:lstStyle>
            <a:p>
              <a:endParaRPr lang="LID4096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9DCB0C1-467F-CD34-FE82-5E5542DFE568}"/>
                </a:ext>
              </a:extLst>
            </p:cNvPr>
            <p:cNvSpPr txBox="1"/>
            <p:nvPr/>
          </p:nvSpPr>
          <p:spPr>
            <a:xfrm>
              <a:off x="8273131" y="3226025"/>
              <a:ext cx="1219199" cy="457200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5">
                    <a:lumMod val="40000"/>
                    <a:lumOff val="60000"/>
                  </a:schemeClr>
                </a:gs>
                <a:gs pos="82000">
                  <a:schemeClr val="accent2">
                    <a:lumMod val="40000"/>
                    <a:lumOff val="60000"/>
                  </a:schemeClr>
                </a:gs>
              </a:gsLst>
              <a:lin ang="2700000" scaled="1"/>
              <a:tileRect/>
            </a:gradFill>
          </p:spPr>
          <p:txBody>
            <a:bodyPr wrap="square" rtlCol="0">
              <a:noAutofit/>
            </a:bodyPr>
            <a:lstStyle>
              <a:defPPr>
                <a:defRPr lang="LID4096"/>
              </a:defPPr>
              <a:lvl1pPr algn="ctr">
                <a:defRPr sz="2400"/>
              </a:lvl1pPr>
            </a:lstStyle>
            <a:p>
              <a:endParaRPr lang="LID4096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8F45408-117B-E69C-F0C4-F59FEA17C1DF}"/>
                </a:ext>
              </a:extLst>
            </p:cNvPr>
            <p:cNvSpPr txBox="1"/>
            <p:nvPr/>
          </p:nvSpPr>
          <p:spPr>
            <a:xfrm>
              <a:off x="7053931" y="3682545"/>
              <a:ext cx="1219199" cy="457200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5">
                    <a:lumMod val="40000"/>
                    <a:lumOff val="60000"/>
                  </a:schemeClr>
                </a:gs>
                <a:gs pos="82000">
                  <a:schemeClr val="accent2">
                    <a:lumMod val="40000"/>
                    <a:lumOff val="60000"/>
                  </a:schemeClr>
                </a:gs>
              </a:gsLst>
              <a:lin ang="2700000" scaled="1"/>
              <a:tileRect/>
            </a:gradFill>
          </p:spPr>
          <p:txBody>
            <a:bodyPr wrap="square" rtlCol="0">
              <a:noAutofit/>
            </a:bodyPr>
            <a:lstStyle>
              <a:defPPr>
                <a:defRPr lang="LID4096"/>
              </a:defPPr>
              <a:lvl1pPr algn="ctr">
                <a:defRPr sz="2400"/>
              </a:lvl1pPr>
            </a:lstStyle>
            <a:p>
              <a:endParaRPr lang="LID4096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5D845B8-7CF5-153D-4867-BECE4E0DF86A}"/>
                </a:ext>
              </a:extLst>
            </p:cNvPr>
            <p:cNvSpPr txBox="1"/>
            <p:nvPr/>
          </p:nvSpPr>
          <p:spPr>
            <a:xfrm>
              <a:off x="7053936" y="1872342"/>
              <a:ext cx="1219199" cy="457200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5">
                    <a:lumMod val="40000"/>
                    <a:lumOff val="60000"/>
                  </a:schemeClr>
                </a:gs>
                <a:gs pos="82000">
                  <a:schemeClr val="accent2">
                    <a:lumMod val="40000"/>
                    <a:lumOff val="60000"/>
                  </a:schemeClr>
                </a:gs>
              </a:gsLst>
              <a:lin ang="2700000" scaled="1"/>
              <a:tileRect/>
            </a:gradFill>
          </p:spPr>
          <p:txBody>
            <a:bodyPr wrap="square" rtlCol="0">
              <a:noAutofit/>
            </a:bodyPr>
            <a:lstStyle>
              <a:defPPr>
                <a:defRPr lang="LID4096"/>
              </a:defPPr>
              <a:lvl1pPr algn="ctr">
                <a:defRPr sz="2400"/>
              </a:lvl1pPr>
            </a:lstStyle>
            <a:p>
              <a:endParaRPr lang="LID4096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FC5B0DA-CFAC-C649-DE71-8DF2325FCF51}"/>
                </a:ext>
              </a:extLst>
            </p:cNvPr>
            <p:cNvSpPr txBox="1"/>
            <p:nvPr/>
          </p:nvSpPr>
          <p:spPr>
            <a:xfrm>
              <a:off x="8273127" y="4132021"/>
              <a:ext cx="1219199" cy="457200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5">
                    <a:lumMod val="40000"/>
                    <a:lumOff val="60000"/>
                  </a:schemeClr>
                </a:gs>
                <a:gs pos="82000">
                  <a:schemeClr val="accent2">
                    <a:lumMod val="40000"/>
                    <a:lumOff val="60000"/>
                  </a:schemeClr>
                </a:gs>
              </a:gsLst>
              <a:lin ang="2700000" scaled="1"/>
              <a:tileRect/>
            </a:gradFill>
          </p:spPr>
          <p:txBody>
            <a:bodyPr wrap="square" rtlCol="0">
              <a:noAutofit/>
            </a:bodyPr>
            <a:lstStyle>
              <a:defPPr>
                <a:defRPr lang="LID4096"/>
              </a:defPPr>
              <a:lvl1pPr algn="ctr">
                <a:defRPr sz="2400"/>
              </a:lvl1pPr>
            </a:lstStyle>
            <a:p>
              <a:endParaRPr lang="LID4096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9C92E7A-B881-4DF2-F47A-9AA32A73CFFF}"/>
                </a:ext>
              </a:extLst>
            </p:cNvPr>
            <p:cNvSpPr txBox="1"/>
            <p:nvPr/>
          </p:nvSpPr>
          <p:spPr>
            <a:xfrm>
              <a:off x="8273127" y="4589221"/>
              <a:ext cx="1219199" cy="457200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5">
                    <a:lumMod val="40000"/>
                    <a:lumOff val="60000"/>
                  </a:schemeClr>
                </a:gs>
                <a:gs pos="82000">
                  <a:schemeClr val="accent2">
                    <a:lumMod val="40000"/>
                    <a:lumOff val="60000"/>
                  </a:schemeClr>
                </a:gs>
              </a:gsLst>
              <a:lin ang="2700000" scaled="1"/>
              <a:tileRect/>
            </a:gradFill>
          </p:spPr>
          <p:txBody>
            <a:bodyPr wrap="square" rtlCol="0">
              <a:noAutofit/>
            </a:bodyPr>
            <a:lstStyle>
              <a:defPPr>
                <a:defRPr lang="LID4096"/>
              </a:defPPr>
              <a:lvl1pPr algn="ctr">
                <a:defRPr sz="2400"/>
              </a:lvl1pPr>
            </a:lstStyle>
            <a:p>
              <a:endParaRPr lang="LID4096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FBAD37D-D433-17A3-23B0-86E31A3A2D53}"/>
                </a:ext>
              </a:extLst>
            </p:cNvPr>
            <p:cNvSpPr txBox="1"/>
            <p:nvPr/>
          </p:nvSpPr>
          <p:spPr>
            <a:xfrm>
              <a:off x="8273123" y="5047111"/>
              <a:ext cx="1219199" cy="457200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5">
                    <a:lumMod val="40000"/>
                    <a:lumOff val="60000"/>
                  </a:schemeClr>
                </a:gs>
                <a:gs pos="82000">
                  <a:schemeClr val="accent2">
                    <a:lumMod val="40000"/>
                    <a:lumOff val="60000"/>
                  </a:schemeClr>
                </a:gs>
              </a:gsLst>
              <a:lin ang="2700000" scaled="1"/>
              <a:tileRect/>
            </a:gradFill>
          </p:spPr>
          <p:txBody>
            <a:bodyPr wrap="square" rtlCol="0">
              <a:noAutofit/>
            </a:bodyPr>
            <a:lstStyle>
              <a:defPPr>
                <a:defRPr lang="LID4096"/>
              </a:defPPr>
              <a:lvl1pPr algn="ctr">
                <a:defRPr sz="2400"/>
              </a:lvl1pPr>
            </a:lstStyle>
            <a:p>
              <a:endParaRPr lang="LID4096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DF2B527-0F4D-D5EF-4B6B-754282EAF455}"/>
              </a:ext>
            </a:extLst>
          </p:cNvPr>
          <p:cNvGrpSpPr/>
          <p:nvPr/>
        </p:nvGrpSpPr>
        <p:grpSpPr>
          <a:xfrm>
            <a:off x="8273130" y="1872342"/>
            <a:ext cx="2438391" cy="2723595"/>
            <a:chOff x="8273130" y="1872342"/>
            <a:chExt cx="2438391" cy="272359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6EE7EA3-AB3D-F26E-EF0D-A3F532F56987}"/>
                </a:ext>
              </a:extLst>
            </p:cNvPr>
            <p:cNvSpPr txBox="1"/>
            <p:nvPr/>
          </p:nvSpPr>
          <p:spPr>
            <a:xfrm>
              <a:off x="8273131" y="1872342"/>
              <a:ext cx="1219199" cy="45720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200" dirty="0"/>
                <a:t>Commit</a:t>
              </a:r>
              <a:endParaRPr lang="LID4096" sz="22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F94F0E7-63CD-4B31-C6F0-5211C14044F1}"/>
                </a:ext>
              </a:extLst>
            </p:cNvPr>
            <p:cNvSpPr txBox="1"/>
            <p:nvPr/>
          </p:nvSpPr>
          <p:spPr>
            <a:xfrm>
              <a:off x="8273134" y="2329542"/>
              <a:ext cx="1219199" cy="45720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200" dirty="0"/>
                <a:t>Commit</a:t>
              </a:r>
              <a:endParaRPr lang="LID4096" sz="220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CECB853-6481-B421-88AD-C573882ED6F6}"/>
                </a:ext>
              </a:extLst>
            </p:cNvPr>
            <p:cNvSpPr txBox="1"/>
            <p:nvPr/>
          </p:nvSpPr>
          <p:spPr>
            <a:xfrm>
              <a:off x="8273130" y="2786742"/>
              <a:ext cx="1219199" cy="45720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200" dirty="0"/>
                <a:t>Commit</a:t>
              </a:r>
              <a:endParaRPr lang="LID4096" sz="22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6E1691B-3861-3E79-0878-7EC0D4150FF0}"/>
                </a:ext>
              </a:extLst>
            </p:cNvPr>
            <p:cNvSpPr txBox="1"/>
            <p:nvPr/>
          </p:nvSpPr>
          <p:spPr>
            <a:xfrm>
              <a:off x="9492322" y="3225708"/>
              <a:ext cx="1219199" cy="45720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200" dirty="0"/>
                <a:t>Commit</a:t>
              </a:r>
              <a:endParaRPr lang="LID4096" sz="22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4D2A2A2-3991-AACC-7C64-1544990D082F}"/>
                </a:ext>
              </a:extLst>
            </p:cNvPr>
            <p:cNvSpPr txBox="1"/>
            <p:nvPr/>
          </p:nvSpPr>
          <p:spPr>
            <a:xfrm>
              <a:off x="9492322" y="4138737"/>
              <a:ext cx="1219199" cy="45720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200" dirty="0"/>
                <a:t>Commit</a:t>
              </a:r>
              <a:endParaRPr lang="LID4096" sz="2200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596717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AC87B-FFD0-C2DF-475A-F290363FA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 of Order Execution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951A8-80AE-6C3C-035A-41A3127C5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76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F324FF-C94C-1F44-FBF4-23EFE2697ED9}"/>
              </a:ext>
            </a:extLst>
          </p:cNvPr>
          <p:cNvSpPr/>
          <p:nvPr/>
        </p:nvSpPr>
        <p:spPr>
          <a:xfrm>
            <a:off x="571501" y="3093882"/>
            <a:ext cx="1930399" cy="52387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R1 = R2 + R3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DB74AC-60B4-E1D1-7C31-30BF1257E6B9}"/>
              </a:ext>
            </a:extLst>
          </p:cNvPr>
          <p:cNvSpPr/>
          <p:nvPr/>
        </p:nvSpPr>
        <p:spPr>
          <a:xfrm>
            <a:off x="571501" y="3617757"/>
            <a:ext cx="1930399" cy="52387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R4 = R1 – R2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14018A-22CA-EC65-420E-03F7E67BEF21}"/>
              </a:ext>
            </a:extLst>
          </p:cNvPr>
          <p:cNvSpPr/>
          <p:nvPr/>
        </p:nvSpPr>
        <p:spPr>
          <a:xfrm>
            <a:off x="571501" y="4143218"/>
            <a:ext cx="1930399" cy="52387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R1 = R2 / R3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723F85-B0EE-0747-0F23-ABC2CF63A45C}"/>
              </a:ext>
            </a:extLst>
          </p:cNvPr>
          <p:cNvSpPr/>
          <p:nvPr/>
        </p:nvSpPr>
        <p:spPr>
          <a:xfrm>
            <a:off x="571501" y="4667093"/>
            <a:ext cx="1930399" cy="52387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R2 = R4 + R1</a:t>
            </a:r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76610FF2-B2D9-43A5-7C00-16AADE539CFA}"/>
              </a:ext>
            </a:extLst>
          </p:cNvPr>
          <p:cNvGrpSpPr/>
          <p:nvPr/>
        </p:nvGrpSpPr>
        <p:grpSpPr>
          <a:xfrm>
            <a:off x="958850" y="1448803"/>
            <a:ext cx="1168399" cy="1125232"/>
            <a:chOff x="952500" y="1887005"/>
            <a:chExt cx="1168399" cy="112523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18BF5C0-9290-2A67-11CE-34F778F2489D}"/>
                </a:ext>
              </a:extLst>
            </p:cNvPr>
            <p:cNvSpPr/>
            <p:nvPr/>
          </p:nvSpPr>
          <p:spPr>
            <a:xfrm>
              <a:off x="952500" y="1887005"/>
              <a:ext cx="1168399" cy="523875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i="1" dirty="0">
                  <a:solidFill>
                    <a:schemeClr val="tx1"/>
                  </a:solidFill>
                  <a:latin typeface="+mj-lt"/>
                </a:rPr>
                <a:t>Fetch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A64BD48-8978-9CF0-576B-2D5B53EA282A}"/>
                </a:ext>
              </a:extLst>
            </p:cNvPr>
            <p:cNvCxnSpPr>
              <a:cxnSpLocks/>
            </p:cNvCxnSpPr>
            <p:nvPr/>
          </p:nvCxnSpPr>
          <p:spPr>
            <a:xfrm>
              <a:off x="1536700" y="2329235"/>
              <a:ext cx="1" cy="683002"/>
            </a:xfrm>
            <a:prstGeom prst="straightConnector1">
              <a:avLst/>
            </a:prstGeom>
            <a:ln w="4762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19C4ED29-6E18-4D28-43F7-460DA31D02B1}"/>
              </a:ext>
            </a:extLst>
          </p:cNvPr>
          <p:cNvGrpSpPr/>
          <p:nvPr/>
        </p:nvGrpSpPr>
        <p:grpSpPr>
          <a:xfrm>
            <a:off x="9715500" y="1163242"/>
            <a:ext cx="1841499" cy="1978821"/>
            <a:chOff x="9715500" y="1163242"/>
            <a:chExt cx="1841499" cy="197882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B521DA5-4971-99D4-9F25-49D393337A79}"/>
                </a:ext>
              </a:extLst>
            </p:cNvPr>
            <p:cNvSpPr/>
            <p:nvPr/>
          </p:nvSpPr>
          <p:spPr>
            <a:xfrm>
              <a:off x="10026650" y="1687117"/>
              <a:ext cx="1206500" cy="365125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latin typeface="Consolas" panose="020B0609020204030204" pitchFamily="49" charset="0"/>
                </a:rPr>
                <a:t>R1: 2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A6E9760-B6DF-9DD6-9841-9693CC597441}"/>
                </a:ext>
              </a:extLst>
            </p:cNvPr>
            <p:cNvSpPr/>
            <p:nvPr/>
          </p:nvSpPr>
          <p:spPr>
            <a:xfrm>
              <a:off x="10026650" y="2052242"/>
              <a:ext cx="1206500" cy="365125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latin typeface="Consolas" panose="020B0609020204030204" pitchFamily="49" charset="0"/>
                </a:rPr>
                <a:t>R2: -1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6E1C06C-9C28-5E1C-3470-1291FE033C56}"/>
                </a:ext>
              </a:extLst>
            </p:cNvPr>
            <p:cNvSpPr/>
            <p:nvPr/>
          </p:nvSpPr>
          <p:spPr>
            <a:xfrm>
              <a:off x="10026650" y="2411813"/>
              <a:ext cx="1206500" cy="365125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latin typeface="Consolas" panose="020B0609020204030204" pitchFamily="49" charset="0"/>
                </a:rPr>
                <a:t>R3: 3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9CFB870-4952-EFC1-D27A-02BA19271B0F}"/>
                </a:ext>
              </a:extLst>
            </p:cNvPr>
            <p:cNvSpPr/>
            <p:nvPr/>
          </p:nvSpPr>
          <p:spPr>
            <a:xfrm>
              <a:off x="10026650" y="2776938"/>
              <a:ext cx="1206500" cy="365125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latin typeface="Consolas" panose="020B0609020204030204" pitchFamily="49" charset="0"/>
                </a:rPr>
                <a:t>R4: 1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DC96533-5578-74E9-B433-5414C1066E3A}"/>
                </a:ext>
              </a:extLst>
            </p:cNvPr>
            <p:cNvSpPr/>
            <p:nvPr/>
          </p:nvSpPr>
          <p:spPr>
            <a:xfrm>
              <a:off x="9715500" y="1163242"/>
              <a:ext cx="1841499" cy="523875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+mj-lt"/>
                </a:rPr>
                <a:t>Register File</a:t>
              </a:r>
            </a:p>
          </p:txBody>
        </p:sp>
      </p:grpSp>
      <p:sp>
        <p:nvSpPr>
          <p:cNvPr id="22" name="Cube 21">
            <a:extLst>
              <a:ext uri="{FF2B5EF4-FFF2-40B4-BE49-F238E27FC236}">
                <a16:creationId xmlns:a16="http://schemas.microsoft.com/office/drawing/2014/main" id="{4931E514-D327-090D-DEE3-93D2B2922C29}"/>
              </a:ext>
            </a:extLst>
          </p:cNvPr>
          <p:cNvSpPr/>
          <p:nvPr/>
        </p:nvSpPr>
        <p:spPr>
          <a:xfrm>
            <a:off x="4910654" y="5726112"/>
            <a:ext cx="1244600" cy="706438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</a:t>
            </a:r>
            <a:endParaRPr lang="LID4096" dirty="0"/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13F62F76-58BB-9ECF-2C31-383C8D9E4556}"/>
              </a:ext>
            </a:extLst>
          </p:cNvPr>
          <p:cNvGrpSpPr/>
          <p:nvPr/>
        </p:nvGrpSpPr>
        <p:grpSpPr>
          <a:xfrm>
            <a:off x="2405624" y="4046288"/>
            <a:ext cx="1527293" cy="1381578"/>
            <a:chOff x="2405624" y="4046288"/>
            <a:chExt cx="1527293" cy="1381578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44FCC722-32DE-3D2A-E924-3D20628C739C}"/>
                </a:ext>
              </a:extLst>
            </p:cNvPr>
            <p:cNvSpPr/>
            <p:nvPr/>
          </p:nvSpPr>
          <p:spPr>
            <a:xfrm>
              <a:off x="2405624" y="4903991"/>
              <a:ext cx="1168399" cy="523875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i="1" dirty="0">
                  <a:solidFill>
                    <a:schemeClr val="tx1"/>
                  </a:solidFill>
                  <a:latin typeface="+mj-lt"/>
                </a:rPr>
                <a:t>Issue</a:t>
              </a:r>
            </a:p>
          </p:txBody>
        </p:sp>
        <p:cxnSp>
          <p:nvCxnSpPr>
            <p:cNvPr id="118" name="Connector: Elbow 117">
              <a:extLst>
                <a:ext uri="{FF2B5EF4-FFF2-40B4-BE49-F238E27FC236}">
                  <a16:creationId xmlns:a16="http://schemas.microsoft.com/office/drawing/2014/main" id="{77EEED22-536D-1F03-480A-29EA9B7542A6}"/>
                </a:ext>
              </a:extLst>
            </p:cNvPr>
            <p:cNvCxnSpPr>
              <a:cxnSpLocks/>
              <a:stCxn id="8" idx="3"/>
              <a:endCxn id="75" idx="1"/>
            </p:cNvCxnSpPr>
            <p:nvPr/>
          </p:nvCxnSpPr>
          <p:spPr>
            <a:xfrm flipV="1">
              <a:off x="2501900" y="4046288"/>
              <a:ext cx="1431017" cy="882743"/>
            </a:xfrm>
            <a:prstGeom prst="bentConnector3">
              <a:avLst>
                <a:gd name="adj1" fmla="val 50000"/>
              </a:avLst>
            </a:prstGeom>
            <a:ln w="444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5" name="Cube 134">
            <a:extLst>
              <a:ext uri="{FF2B5EF4-FFF2-40B4-BE49-F238E27FC236}">
                <a16:creationId xmlns:a16="http://schemas.microsoft.com/office/drawing/2014/main" id="{F5F9DB96-6B77-A1E0-D8C5-27D85F106D24}"/>
              </a:ext>
            </a:extLst>
          </p:cNvPr>
          <p:cNvSpPr/>
          <p:nvPr/>
        </p:nvSpPr>
        <p:spPr>
          <a:xfrm>
            <a:off x="8199954" y="5634434"/>
            <a:ext cx="1244600" cy="706438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MUL</a:t>
            </a:r>
            <a:endParaRPr lang="LID4096" dirty="0"/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30F49219-C908-F011-528D-480A1DF43FDE}"/>
              </a:ext>
            </a:extLst>
          </p:cNvPr>
          <p:cNvGrpSpPr/>
          <p:nvPr/>
        </p:nvGrpSpPr>
        <p:grpSpPr>
          <a:xfrm>
            <a:off x="3849220" y="3808973"/>
            <a:ext cx="5929925" cy="1287859"/>
            <a:chOff x="3363443" y="3808973"/>
            <a:chExt cx="5929925" cy="1287859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8803A13-14D9-5356-6B20-E7156FAFCC9E}"/>
                </a:ext>
              </a:extLst>
            </p:cNvPr>
            <p:cNvSpPr/>
            <p:nvPr/>
          </p:nvSpPr>
          <p:spPr>
            <a:xfrm>
              <a:off x="3447140" y="3867574"/>
              <a:ext cx="647701" cy="357427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+mj-lt"/>
                </a:rPr>
                <a:t>RS1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3893A24F-1E32-9EE7-C7C7-9D9AAB5CE87D}"/>
                </a:ext>
              </a:extLst>
            </p:cNvPr>
            <p:cNvSpPr/>
            <p:nvPr/>
          </p:nvSpPr>
          <p:spPr>
            <a:xfrm>
              <a:off x="3363443" y="4160206"/>
              <a:ext cx="776668" cy="523875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+mj-lt"/>
                </a:rPr>
                <a:t>RS2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E13CBC2-C67E-C240-24E5-EBC1D4A8498A}"/>
                </a:ext>
              </a:extLst>
            </p:cNvPr>
            <p:cNvSpPr/>
            <p:nvPr/>
          </p:nvSpPr>
          <p:spPr>
            <a:xfrm>
              <a:off x="3363443" y="4572957"/>
              <a:ext cx="776668" cy="523875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+mj-lt"/>
                </a:rPr>
                <a:t>RS3</a:t>
              </a:r>
            </a:p>
          </p:txBody>
        </p: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FAD5220D-6070-CD5F-FC81-35DEE8B74576}"/>
                </a:ext>
              </a:extLst>
            </p:cNvPr>
            <p:cNvGrpSpPr/>
            <p:nvPr/>
          </p:nvGrpSpPr>
          <p:grpSpPr>
            <a:xfrm>
              <a:off x="4075627" y="3808973"/>
              <a:ext cx="5217741" cy="1232298"/>
              <a:chOff x="4075627" y="3808973"/>
              <a:chExt cx="5217741" cy="1232298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9A73EF6A-BA8D-DB48-3CC9-9A1A60EECD72}"/>
                  </a:ext>
                </a:extLst>
              </p:cNvPr>
              <p:cNvGrpSpPr/>
              <p:nvPr/>
            </p:nvGrpSpPr>
            <p:grpSpPr>
              <a:xfrm>
                <a:off x="4075627" y="4628520"/>
                <a:ext cx="2210202" cy="412751"/>
                <a:chOff x="4686300" y="4286249"/>
                <a:chExt cx="2210202" cy="412751"/>
              </a:xfrm>
            </p:grpSpPr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FF16CDD8-0CF4-24E3-47C7-466105DE8808}"/>
                    </a:ext>
                  </a:extLst>
                </p:cNvPr>
                <p:cNvSpPr/>
                <p:nvPr/>
              </p:nvSpPr>
              <p:spPr>
                <a:xfrm>
                  <a:off x="4686300" y="4286249"/>
                  <a:ext cx="647700" cy="412751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024BD637-13F5-1312-0E45-13FFDEB99EC4}"/>
                    </a:ext>
                  </a:extLst>
                </p:cNvPr>
                <p:cNvSpPr/>
                <p:nvPr/>
              </p:nvSpPr>
              <p:spPr>
                <a:xfrm>
                  <a:off x="5334000" y="4286249"/>
                  <a:ext cx="647700" cy="412751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B47A18E7-6CAF-E066-EC7D-1D1CB34CA652}"/>
                    </a:ext>
                  </a:extLst>
                </p:cNvPr>
                <p:cNvSpPr/>
                <p:nvPr/>
              </p:nvSpPr>
              <p:spPr>
                <a:xfrm>
                  <a:off x="5981700" y="4286249"/>
                  <a:ext cx="647700" cy="412751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C81ECE50-AE2E-0912-5B00-7D78C20AF658}"/>
                    </a:ext>
                  </a:extLst>
                </p:cNvPr>
                <p:cNvSpPr/>
                <p:nvPr/>
              </p:nvSpPr>
              <p:spPr>
                <a:xfrm>
                  <a:off x="6629400" y="4286249"/>
                  <a:ext cx="267102" cy="412751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77860D72-EB22-7E3A-77CE-5D14C0B6BC67}"/>
                  </a:ext>
                </a:extLst>
              </p:cNvPr>
              <p:cNvGrpSpPr/>
              <p:nvPr/>
            </p:nvGrpSpPr>
            <p:grpSpPr>
              <a:xfrm>
                <a:off x="4075627" y="4215769"/>
                <a:ext cx="2210473" cy="412751"/>
                <a:chOff x="4686300" y="4286249"/>
                <a:chExt cx="2210473" cy="412751"/>
              </a:xfrm>
            </p:grpSpPr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5E97BC31-FEF3-91C1-61F6-6D88B691B651}"/>
                    </a:ext>
                  </a:extLst>
                </p:cNvPr>
                <p:cNvSpPr/>
                <p:nvPr/>
              </p:nvSpPr>
              <p:spPr>
                <a:xfrm>
                  <a:off x="4686300" y="4286249"/>
                  <a:ext cx="647700" cy="412751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67D6D829-9697-D306-C828-A398A49008E4}"/>
                    </a:ext>
                  </a:extLst>
                </p:cNvPr>
                <p:cNvSpPr/>
                <p:nvPr/>
              </p:nvSpPr>
              <p:spPr>
                <a:xfrm>
                  <a:off x="5334000" y="4286249"/>
                  <a:ext cx="647700" cy="412751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A0766D80-1D4A-1CAB-7EDA-FEC49AA286CE}"/>
                    </a:ext>
                  </a:extLst>
                </p:cNvPr>
                <p:cNvSpPr/>
                <p:nvPr/>
              </p:nvSpPr>
              <p:spPr>
                <a:xfrm>
                  <a:off x="5981700" y="4286249"/>
                  <a:ext cx="647700" cy="412751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B91CA8CC-6102-805E-64C0-B5611E68D2FE}"/>
                    </a:ext>
                  </a:extLst>
                </p:cNvPr>
                <p:cNvSpPr/>
                <p:nvPr/>
              </p:nvSpPr>
              <p:spPr>
                <a:xfrm>
                  <a:off x="6629671" y="4286249"/>
                  <a:ext cx="267102" cy="412751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C7799BEB-D8E1-7A0B-5345-549CA97579C8}"/>
                  </a:ext>
                </a:extLst>
              </p:cNvPr>
              <p:cNvGrpSpPr/>
              <p:nvPr/>
            </p:nvGrpSpPr>
            <p:grpSpPr>
              <a:xfrm>
                <a:off x="4075627" y="3808973"/>
                <a:ext cx="2210202" cy="412751"/>
                <a:chOff x="4686300" y="4286249"/>
                <a:chExt cx="2210202" cy="412751"/>
              </a:xfrm>
            </p:grpSpPr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26948C8C-EB12-DA38-C045-40D13522314C}"/>
                    </a:ext>
                  </a:extLst>
                </p:cNvPr>
                <p:cNvSpPr/>
                <p:nvPr/>
              </p:nvSpPr>
              <p:spPr>
                <a:xfrm>
                  <a:off x="4686300" y="4286249"/>
                  <a:ext cx="647700" cy="412751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937D056C-DF8B-2CE7-1BC9-0245D82C0FAA}"/>
                    </a:ext>
                  </a:extLst>
                </p:cNvPr>
                <p:cNvSpPr/>
                <p:nvPr/>
              </p:nvSpPr>
              <p:spPr>
                <a:xfrm>
                  <a:off x="5334000" y="4286249"/>
                  <a:ext cx="647700" cy="412751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6EE8BA5E-F5D8-A992-389D-8D9D005BA004}"/>
                    </a:ext>
                  </a:extLst>
                </p:cNvPr>
                <p:cNvSpPr/>
                <p:nvPr/>
              </p:nvSpPr>
              <p:spPr>
                <a:xfrm>
                  <a:off x="5981700" y="4286249"/>
                  <a:ext cx="647700" cy="412751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AFA9EFB7-3B4D-D556-331B-8EC623F0FF66}"/>
                    </a:ext>
                  </a:extLst>
                </p:cNvPr>
                <p:cNvSpPr/>
                <p:nvPr/>
              </p:nvSpPr>
              <p:spPr>
                <a:xfrm>
                  <a:off x="6629919" y="4286249"/>
                  <a:ext cx="266583" cy="412751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DD69882A-F1B9-5E72-4BD7-548856525665}"/>
                  </a:ext>
                </a:extLst>
              </p:cNvPr>
              <p:cNvGrpSpPr/>
              <p:nvPr/>
            </p:nvGrpSpPr>
            <p:grpSpPr>
              <a:xfrm>
                <a:off x="7350268" y="4516280"/>
                <a:ext cx="1943100" cy="412751"/>
                <a:chOff x="4686300" y="4286249"/>
                <a:chExt cx="1943100" cy="412751"/>
              </a:xfrm>
            </p:grpSpPr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33E64BA4-7D76-F5BE-BB47-24493D61F3E1}"/>
                    </a:ext>
                  </a:extLst>
                </p:cNvPr>
                <p:cNvSpPr/>
                <p:nvPr/>
              </p:nvSpPr>
              <p:spPr>
                <a:xfrm>
                  <a:off x="4686300" y="4286249"/>
                  <a:ext cx="647700" cy="412751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8F79DE3F-2853-CB07-1EDE-EA3489C11E96}"/>
                    </a:ext>
                  </a:extLst>
                </p:cNvPr>
                <p:cNvSpPr/>
                <p:nvPr/>
              </p:nvSpPr>
              <p:spPr>
                <a:xfrm>
                  <a:off x="5334000" y="4286249"/>
                  <a:ext cx="647700" cy="412751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39" name="Rectangle 138">
                  <a:extLst>
                    <a:ext uri="{FF2B5EF4-FFF2-40B4-BE49-F238E27FC236}">
                      <a16:creationId xmlns:a16="http://schemas.microsoft.com/office/drawing/2014/main" id="{091DDB15-4822-B2A7-6B4E-9508AB8CA14E}"/>
                    </a:ext>
                  </a:extLst>
                </p:cNvPr>
                <p:cNvSpPr/>
                <p:nvPr/>
              </p:nvSpPr>
              <p:spPr>
                <a:xfrm>
                  <a:off x="5981700" y="4286249"/>
                  <a:ext cx="647700" cy="412751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</p:grpSp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45678BFA-0C57-6CE2-16D9-ECE4A7D6EE5A}"/>
                  </a:ext>
                </a:extLst>
              </p:cNvPr>
              <p:cNvGrpSpPr/>
              <p:nvPr/>
            </p:nvGrpSpPr>
            <p:grpSpPr>
              <a:xfrm>
                <a:off x="7350268" y="4103529"/>
                <a:ext cx="1943100" cy="412751"/>
                <a:chOff x="4686300" y="4286249"/>
                <a:chExt cx="1943100" cy="412751"/>
              </a:xfrm>
            </p:grpSpPr>
            <p:sp>
              <p:nvSpPr>
                <p:cNvPr id="141" name="Rectangle 140">
                  <a:extLst>
                    <a:ext uri="{FF2B5EF4-FFF2-40B4-BE49-F238E27FC236}">
                      <a16:creationId xmlns:a16="http://schemas.microsoft.com/office/drawing/2014/main" id="{72A2637D-27B5-A81A-14A5-EF08D039AB36}"/>
                    </a:ext>
                  </a:extLst>
                </p:cNvPr>
                <p:cNvSpPr/>
                <p:nvPr/>
              </p:nvSpPr>
              <p:spPr>
                <a:xfrm>
                  <a:off x="4686300" y="4286249"/>
                  <a:ext cx="647700" cy="412751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42" name="Rectangle 141">
                  <a:extLst>
                    <a:ext uri="{FF2B5EF4-FFF2-40B4-BE49-F238E27FC236}">
                      <a16:creationId xmlns:a16="http://schemas.microsoft.com/office/drawing/2014/main" id="{0BA36EB0-9E95-8361-E255-EC94797D88DD}"/>
                    </a:ext>
                  </a:extLst>
                </p:cNvPr>
                <p:cNvSpPr/>
                <p:nvPr/>
              </p:nvSpPr>
              <p:spPr>
                <a:xfrm>
                  <a:off x="5334000" y="4286249"/>
                  <a:ext cx="647700" cy="412751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43" name="Rectangle 142">
                  <a:extLst>
                    <a:ext uri="{FF2B5EF4-FFF2-40B4-BE49-F238E27FC236}">
                      <a16:creationId xmlns:a16="http://schemas.microsoft.com/office/drawing/2014/main" id="{A1F3BA87-BDC2-1B92-AA17-0C32B1F82CFE}"/>
                    </a:ext>
                  </a:extLst>
                </p:cNvPr>
                <p:cNvSpPr/>
                <p:nvPr/>
              </p:nvSpPr>
              <p:spPr>
                <a:xfrm>
                  <a:off x="5981700" y="4286249"/>
                  <a:ext cx="647700" cy="412751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</p:grp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222C0CF8-1E36-F240-33A5-533784E2386F}"/>
                  </a:ext>
                </a:extLst>
              </p:cNvPr>
              <p:cNvSpPr/>
              <p:nvPr/>
            </p:nvSpPr>
            <p:spPr>
              <a:xfrm>
                <a:off x="6663931" y="4047966"/>
                <a:ext cx="776668" cy="523875"/>
              </a:xfrm>
              <a:prstGeom prst="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RS4</a:t>
                </a:r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B4963A3D-2895-DEFB-C936-0CD044B62412}"/>
                  </a:ext>
                </a:extLst>
              </p:cNvPr>
              <p:cNvSpPr/>
              <p:nvPr/>
            </p:nvSpPr>
            <p:spPr>
              <a:xfrm>
                <a:off x="6663931" y="4471500"/>
                <a:ext cx="776668" cy="523875"/>
              </a:xfrm>
              <a:prstGeom prst="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RS5</a:t>
                </a:r>
              </a:p>
            </p:txBody>
          </p:sp>
        </p:grp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5149E860-3124-4782-2DD0-6639176C7A17}"/>
              </a:ext>
            </a:extLst>
          </p:cNvPr>
          <p:cNvSpPr/>
          <p:nvPr/>
        </p:nvSpPr>
        <p:spPr>
          <a:xfrm>
            <a:off x="196997" y="2530878"/>
            <a:ext cx="2679403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Instruction Queue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391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"/>
                            </p:stCondLst>
                            <p:childTnLst>
                              <p:par>
                                <p:cTn id="2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50"/>
                            </p:stCondLst>
                            <p:childTnLst>
                              <p:par>
                                <p:cTn id="3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  <p:bldP spid="22" grpId="0" animBg="1"/>
      <p:bldP spid="135" grpId="0" animBg="1"/>
      <p:bldP spid="5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08507-3FE4-4CEB-BFE1-1342B0693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E3C2A-7CD8-0D94-A90C-5D977BF91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 of Order Execution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7651B-8534-9D46-22AB-FF2A7B2E7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77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9373DC-20D5-3A0F-FD9D-36684438E43A}"/>
              </a:ext>
            </a:extLst>
          </p:cNvPr>
          <p:cNvSpPr/>
          <p:nvPr/>
        </p:nvSpPr>
        <p:spPr>
          <a:xfrm>
            <a:off x="571501" y="3093882"/>
            <a:ext cx="1930399" cy="52387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R1 = R2 + R3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DE3793-84F2-9690-EA0E-CD5EAD541C71}"/>
              </a:ext>
            </a:extLst>
          </p:cNvPr>
          <p:cNvSpPr/>
          <p:nvPr/>
        </p:nvSpPr>
        <p:spPr>
          <a:xfrm>
            <a:off x="571501" y="3617757"/>
            <a:ext cx="1930399" cy="52387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R4 = R1 – R2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048184-F953-D580-9476-64349C4E3A70}"/>
              </a:ext>
            </a:extLst>
          </p:cNvPr>
          <p:cNvSpPr/>
          <p:nvPr/>
        </p:nvSpPr>
        <p:spPr>
          <a:xfrm>
            <a:off x="571501" y="4143218"/>
            <a:ext cx="1930399" cy="52387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R1 = R2 / R3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4E731E-5ADE-5623-3B12-71EA277FF2D2}"/>
              </a:ext>
            </a:extLst>
          </p:cNvPr>
          <p:cNvSpPr/>
          <p:nvPr/>
        </p:nvSpPr>
        <p:spPr>
          <a:xfrm>
            <a:off x="571501" y="4667093"/>
            <a:ext cx="1930399" cy="52387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R2 = R4 + R1</a:t>
            </a:r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972EB060-4DAE-B16B-E7B7-5618A76285FE}"/>
              </a:ext>
            </a:extLst>
          </p:cNvPr>
          <p:cNvGrpSpPr/>
          <p:nvPr/>
        </p:nvGrpSpPr>
        <p:grpSpPr>
          <a:xfrm>
            <a:off x="9715500" y="1163242"/>
            <a:ext cx="1841499" cy="1978821"/>
            <a:chOff x="9715500" y="1163242"/>
            <a:chExt cx="1841499" cy="197882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809A371-4B4F-D1E6-B0EA-0FFF7C5B0915}"/>
                </a:ext>
              </a:extLst>
            </p:cNvPr>
            <p:cNvSpPr/>
            <p:nvPr/>
          </p:nvSpPr>
          <p:spPr>
            <a:xfrm>
              <a:off x="10026650" y="1687117"/>
              <a:ext cx="1206500" cy="365125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latin typeface="Consolas" panose="020B0609020204030204" pitchFamily="49" charset="0"/>
                </a:rPr>
                <a:t>R1: 2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A6485F-4F17-00DE-3FD1-95A6481B03C5}"/>
                </a:ext>
              </a:extLst>
            </p:cNvPr>
            <p:cNvSpPr/>
            <p:nvPr/>
          </p:nvSpPr>
          <p:spPr>
            <a:xfrm>
              <a:off x="10026650" y="2052242"/>
              <a:ext cx="1206500" cy="365125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latin typeface="Consolas" panose="020B0609020204030204" pitchFamily="49" charset="0"/>
                </a:rPr>
                <a:t>R2: -1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ADB96BF-C12E-DB1E-6004-884B6336B9D4}"/>
                </a:ext>
              </a:extLst>
            </p:cNvPr>
            <p:cNvSpPr/>
            <p:nvPr/>
          </p:nvSpPr>
          <p:spPr>
            <a:xfrm>
              <a:off x="10026650" y="2411813"/>
              <a:ext cx="1206500" cy="365125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latin typeface="Consolas" panose="020B0609020204030204" pitchFamily="49" charset="0"/>
                </a:rPr>
                <a:t>R3: 3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F9D27E2-BBCB-6880-197E-F403EFC90CFF}"/>
                </a:ext>
              </a:extLst>
            </p:cNvPr>
            <p:cNvSpPr/>
            <p:nvPr/>
          </p:nvSpPr>
          <p:spPr>
            <a:xfrm>
              <a:off x="10026650" y="2776938"/>
              <a:ext cx="1206500" cy="365125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latin typeface="Consolas" panose="020B0609020204030204" pitchFamily="49" charset="0"/>
                </a:rPr>
                <a:t>R4: 1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BF2A90C-5D30-BA4C-DA2C-3D715794E547}"/>
                </a:ext>
              </a:extLst>
            </p:cNvPr>
            <p:cNvSpPr/>
            <p:nvPr/>
          </p:nvSpPr>
          <p:spPr>
            <a:xfrm>
              <a:off x="9715500" y="1163242"/>
              <a:ext cx="1841499" cy="523875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+mj-lt"/>
                </a:rPr>
                <a:t>Register File</a:t>
              </a:r>
            </a:p>
          </p:txBody>
        </p:sp>
      </p:grpSp>
      <p:sp>
        <p:nvSpPr>
          <p:cNvPr id="22" name="Cube 21">
            <a:extLst>
              <a:ext uri="{FF2B5EF4-FFF2-40B4-BE49-F238E27FC236}">
                <a16:creationId xmlns:a16="http://schemas.microsoft.com/office/drawing/2014/main" id="{34FAB62D-E29A-66DC-5879-C8D879AED775}"/>
              </a:ext>
            </a:extLst>
          </p:cNvPr>
          <p:cNvSpPr/>
          <p:nvPr/>
        </p:nvSpPr>
        <p:spPr>
          <a:xfrm>
            <a:off x="4910654" y="5726112"/>
            <a:ext cx="1244600" cy="706438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</a:t>
            </a:r>
            <a:endParaRPr lang="LID4096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C4C6FF0-2439-DD27-5369-2EA23F143F3E}"/>
              </a:ext>
            </a:extLst>
          </p:cNvPr>
          <p:cNvSpPr/>
          <p:nvPr/>
        </p:nvSpPr>
        <p:spPr>
          <a:xfrm>
            <a:off x="4075627" y="1377832"/>
            <a:ext cx="2814157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Register Alias Table (RAT)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7C64610-35A8-191F-E43D-747D4B1FFD00}"/>
              </a:ext>
            </a:extLst>
          </p:cNvPr>
          <p:cNvSpPr/>
          <p:nvPr/>
        </p:nvSpPr>
        <p:spPr>
          <a:xfrm>
            <a:off x="4520260" y="1901707"/>
            <a:ext cx="1375105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R1: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602E84E-7084-5BE9-340A-BD853211E12E}"/>
              </a:ext>
            </a:extLst>
          </p:cNvPr>
          <p:cNvSpPr/>
          <p:nvPr/>
        </p:nvSpPr>
        <p:spPr>
          <a:xfrm>
            <a:off x="4520260" y="2266832"/>
            <a:ext cx="1375105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R2: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9C289FF-475E-D8B6-0CD9-EA1AB5DD501C}"/>
              </a:ext>
            </a:extLst>
          </p:cNvPr>
          <p:cNvSpPr/>
          <p:nvPr/>
        </p:nvSpPr>
        <p:spPr>
          <a:xfrm>
            <a:off x="4520260" y="2626403"/>
            <a:ext cx="1375105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R3: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DD589B4-00B8-602D-FCB5-79267F960D0B}"/>
              </a:ext>
            </a:extLst>
          </p:cNvPr>
          <p:cNvSpPr/>
          <p:nvPr/>
        </p:nvSpPr>
        <p:spPr>
          <a:xfrm>
            <a:off x="4520260" y="2991528"/>
            <a:ext cx="1375105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R4:</a:t>
            </a:r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EC842384-7069-2228-03BF-1707DF61413F}"/>
              </a:ext>
            </a:extLst>
          </p:cNvPr>
          <p:cNvGrpSpPr/>
          <p:nvPr/>
        </p:nvGrpSpPr>
        <p:grpSpPr>
          <a:xfrm>
            <a:off x="2405624" y="4041398"/>
            <a:ext cx="1527293" cy="1386468"/>
            <a:chOff x="2405624" y="4041398"/>
            <a:chExt cx="1527293" cy="1386468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ED9864A-D2F8-04D3-BCB8-99865CA81A46}"/>
                </a:ext>
              </a:extLst>
            </p:cNvPr>
            <p:cNvSpPr/>
            <p:nvPr/>
          </p:nvSpPr>
          <p:spPr>
            <a:xfrm>
              <a:off x="2405624" y="4903991"/>
              <a:ext cx="1168399" cy="523875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i="1" dirty="0">
                  <a:solidFill>
                    <a:schemeClr val="tx1"/>
                  </a:solidFill>
                  <a:latin typeface="+mj-lt"/>
                </a:rPr>
                <a:t>Issue</a:t>
              </a:r>
            </a:p>
          </p:txBody>
        </p:sp>
        <p:cxnSp>
          <p:nvCxnSpPr>
            <p:cNvPr id="118" name="Connector: Elbow 117">
              <a:extLst>
                <a:ext uri="{FF2B5EF4-FFF2-40B4-BE49-F238E27FC236}">
                  <a16:creationId xmlns:a16="http://schemas.microsoft.com/office/drawing/2014/main" id="{9E85BBC2-9338-861C-1E04-6A329A448B68}"/>
                </a:ext>
              </a:extLst>
            </p:cNvPr>
            <p:cNvCxnSpPr>
              <a:cxnSpLocks/>
              <a:stCxn id="8" idx="3"/>
              <a:endCxn id="75" idx="1"/>
            </p:cNvCxnSpPr>
            <p:nvPr/>
          </p:nvCxnSpPr>
          <p:spPr>
            <a:xfrm flipV="1">
              <a:off x="2501900" y="4041398"/>
              <a:ext cx="1431017" cy="887633"/>
            </a:xfrm>
            <a:prstGeom prst="bentConnector3">
              <a:avLst>
                <a:gd name="adj1" fmla="val 50000"/>
              </a:avLst>
            </a:prstGeom>
            <a:ln w="444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5" name="Cube 134">
            <a:extLst>
              <a:ext uri="{FF2B5EF4-FFF2-40B4-BE49-F238E27FC236}">
                <a16:creationId xmlns:a16="http://schemas.microsoft.com/office/drawing/2014/main" id="{1B74010A-773A-7071-FADC-56023848A469}"/>
              </a:ext>
            </a:extLst>
          </p:cNvPr>
          <p:cNvSpPr/>
          <p:nvPr/>
        </p:nvSpPr>
        <p:spPr>
          <a:xfrm>
            <a:off x="8199954" y="5634434"/>
            <a:ext cx="1244600" cy="706438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MUL</a:t>
            </a:r>
            <a:endParaRPr lang="LID4096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4AABA7E-E016-20D2-DE36-E3593C4EE604}"/>
              </a:ext>
            </a:extLst>
          </p:cNvPr>
          <p:cNvSpPr/>
          <p:nvPr/>
        </p:nvSpPr>
        <p:spPr>
          <a:xfrm>
            <a:off x="3932917" y="3862684"/>
            <a:ext cx="647701" cy="357427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RS1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0A31F82-76DA-FEA0-D5F4-63E10D36EFD0}"/>
              </a:ext>
            </a:extLst>
          </p:cNvPr>
          <p:cNvSpPr/>
          <p:nvPr/>
        </p:nvSpPr>
        <p:spPr>
          <a:xfrm>
            <a:off x="3849220" y="4155316"/>
            <a:ext cx="776668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RS2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2E7D8A4-5033-97C8-E8D7-5797B9678126}"/>
              </a:ext>
            </a:extLst>
          </p:cNvPr>
          <p:cNvSpPr/>
          <p:nvPr/>
        </p:nvSpPr>
        <p:spPr>
          <a:xfrm>
            <a:off x="3849220" y="4568067"/>
            <a:ext cx="776668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RS3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8087394-CE26-4A06-7C45-D5F939A26F9E}"/>
              </a:ext>
            </a:extLst>
          </p:cNvPr>
          <p:cNvGrpSpPr/>
          <p:nvPr/>
        </p:nvGrpSpPr>
        <p:grpSpPr>
          <a:xfrm>
            <a:off x="4561404" y="4623630"/>
            <a:ext cx="2210202" cy="412751"/>
            <a:chOff x="4686300" y="4286249"/>
            <a:chExt cx="2210202" cy="41275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8DF0543-9B2F-7911-608D-2C746253D929}"/>
                </a:ext>
              </a:extLst>
            </p:cNvPr>
            <p:cNvSpPr/>
            <p:nvPr/>
          </p:nvSpPr>
          <p:spPr>
            <a:xfrm>
              <a:off x="46863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36CD16B-DED4-1851-CD0A-3A30DCB62E7E}"/>
                </a:ext>
              </a:extLst>
            </p:cNvPr>
            <p:cNvSpPr/>
            <p:nvPr/>
          </p:nvSpPr>
          <p:spPr>
            <a:xfrm>
              <a:off x="53340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854224D-7B70-8918-BEFA-57A71E6F3F9D}"/>
                </a:ext>
              </a:extLst>
            </p:cNvPr>
            <p:cNvSpPr/>
            <p:nvPr/>
          </p:nvSpPr>
          <p:spPr>
            <a:xfrm>
              <a:off x="59817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CB2E037-C082-3767-9450-E3C639E0BA28}"/>
                </a:ext>
              </a:extLst>
            </p:cNvPr>
            <p:cNvSpPr/>
            <p:nvPr/>
          </p:nvSpPr>
          <p:spPr>
            <a:xfrm>
              <a:off x="6629400" y="4286249"/>
              <a:ext cx="267102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CFAB220-B9F8-AE9E-1146-52BF47D26CBB}"/>
              </a:ext>
            </a:extLst>
          </p:cNvPr>
          <p:cNvGrpSpPr/>
          <p:nvPr/>
        </p:nvGrpSpPr>
        <p:grpSpPr>
          <a:xfrm>
            <a:off x="4561404" y="4210879"/>
            <a:ext cx="2210473" cy="412751"/>
            <a:chOff x="4686300" y="4286249"/>
            <a:chExt cx="2210473" cy="412751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5C3173E-080B-70F1-50EC-63437A0DC0E1}"/>
                </a:ext>
              </a:extLst>
            </p:cNvPr>
            <p:cNvSpPr/>
            <p:nvPr/>
          </p:nvSpPr>
          <p:spPr>
            <a:xfrm>
              <a:off x="46863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B2ED06B-6FD7-F549-81C5-1800197E8C1B}"/>
                </a:ext>
              </a:extLst>
            </p:cNvPr>
            <p:cNvSpPr/>
            <p:nvPr/>
          </p:nvSpPr>
          <p:spPr>
            <a:xfrm>
              <a:off x="53340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C3E7ADCC-33FC-F485-2CFC-F542EE402DF1}"/>
                </a:ext>
              </a:extLst>
            </p:cNvPr>
            <p:cNvSpPr/>
            <p:nvPr/>
          </p:nvSpPr>
          <p:spPr>
            <a:xfrm>
              <a:off x="59817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43229C8-B9CE-1011-F12C-326F9D20B3F8}"/>
                </a:ext>
              </a:extLst>
            </p:cNvPr>
            <p:cNvSpPr/>
            <p:nvPr/>
          </p:nvSpPr>
          <p:spPr>
            <a:xfrm>
              <a:off x="6629671" y="4286249"/>
              <a:ext cx="267102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64BEC2B-0609-C802-DB75-292695E266A2}"/>
              </a:ext>
            </a:extLst>
          </p:cNvPr>
          <p:cNvGrpSpPr/>
          <p:nvPr/>
        </p:nvGrpSpPr>
        <p:grpSpPr>
          <a:xfrm>
            <a:off x="4561404" y="3804083"/>
            <a:ext cx="2210202" cy="412751"/>
            <a:chOff x="4686300" y="4286249"/>
            <a:chExt cx="2210202" cy="412751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830C66B-2E57-CD88-3B55-BFB8CB6DDB6D}"/>
                </a:ext>
              </a:extLst>
            </p:cNvPr>
            <p:cNvSpPr/>
            <p:nvPr/>
          </p:nvSpPr>
          <p:spPr>
            <a:xfrm>
              <a:off x="46863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>
                <a:solidFill>
                  <a:schemeClr val="tx1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F0E7DCF6-338B-03AC-5C5D-F1D62B19E0AD}"/>
                </a:ext>
              </a:extLst>
            </p:cNvPr>
            <p:cNvSpPr/>
            <p:nvPr/>
          </p:nvSpPr>
          <p:spPr>
            <a:xfrm>
              <a:off x="53340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>
                <a:solidFill>
                  <a:schemeClr val="tx1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63D60AC6-EA6C-76B1-D81A-68337B1406FA}"/>
                </a:ext>
              </a:extLst>
            </p:cNvPr>
            <p:cNvSpPr/>
            <p:nvPr/>
          </p:nvSpPr>
          <p:spPr>
            <a:xfrm>
              <a:off x="59817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>
                <a:solidFill>
                  <a:schemeClr val="tx1"/>
                </a:solidFill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15A7D2B8-4B39-B4DB-C86D-80FF6F64A3DD}"/>
                </a:ext>
              </a:extLst>
            </p:cNvPr>
            <p:cNvSpPr/>
            <p:nvPr/>
          </p:nvSpPr>
          <p:spPr>
            <a:xfrm>
              <a:off x="6629919" y="4286249"/>
              <a:ext cx="266583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827E405A-8985-9483-2781-EADCBA2F70D4}"/>
              </a:ext>
            </a:extLst>
          </p:cNvPr>
          <p:cNvGrpSpPr/>
          <p:nvPr/>
        </p:nvGrpSpPr>
        <p:grpSpPr>
          <a:xfrm>
            <a:off x="7836045" y="4511390"/>
            <a:ext cx="1943100" cy="412751"/>
            <a:chOff x="4686300" y="4286249"/>
            <a:chExt cx="1943100" cy="412751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4E917215-4076-E8DD-F012-58ADC01428D5}"/>
                </a:ext>
              </a:extLst>
            </p:cNvPr>
            <p:cNvSpPr/>
            <p:nvPr/>
          </p:nvSpPr>
          <p:spPr>
            <a:xfrm>
              <a:off x="46863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766DEEF4-1631-A5C4-6C6C-A0A7735A0280}"/>
                </a:ext>
              </a:extLst>
            </p:cNvPr>
            <p:cNvSpPr/>
            <p:nvPr/>
          </p:nvSpPr>
          <p:spPr>
            <a:xfrm>
              <a:off x="53340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00F33055-AF03-DC9F-77BE-92DBF195B122}"/>
                </a:ext>
              </a:extLst>
            </p:cNvPr>
            <p:cNvSpPr/>
            <p:nvPr/>
          </p:nvSpPr>
          <p:spPr>
            <a:xfrm>
              <a:off x="59817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1EBD31DA-EB68-A551-EA20-1344244F7EE9}"/>
              </a:ext>
            </a:extLst>
          </p:cNvPr>
          <p:cNvGrpSpPr/>
          <p:nvPr/>
        </p:nvGrpSpPr>
        <p:grpSpPr>
          <a:xfrm>
            <a:off x="7836045" y="4098639"/>
            <a:ext cx="1943100" cy="412751"/>
            <a:chOff x="4686300" y="4286249"/>
            <a:chExt cx="1943100" cy="412751"/>
          </a:xfrm>
        </p:grpSpPr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9431E5DD-C8DE-1D9D-9EA5-3AC691E7675A}"/>
                </a:ext>
              </a:extLst>
            </p:cNvPr>
            <p:cNvSpPr/>
            <p:nvPr/>
          </p:nvSpPr>
          <p:spPr>
            <a:xfrm>
              <a:off x="46863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BDFBE0BC-0641-A514-7A1E-316D72D69BC3}"/>
                </a:ext>
              </a:extLst>
            </p:cNvPr>
            <p:cNvSpPr/>
            <p:nvPr/>
          </p:nvSpPr>
          <p:spPr>
            <a:xfrm>
              <a:off x="53340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DEBFDA09-BB05-3C15-BC2F-C1B0AF780929}"/>
                </a:ext>
              </a:extLst>
            </p:cNvPr>
            <p:cNvSpPr/>
            <p:nvPr/>
          </p:nvSpPr>
          <p:spPr>
            <a:xfrm>
              <a:off x="59817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144" name="Rectangle 143">
            <a:extLst>
              <a:ext uri="{FF2B5EF4-FFF2-40B4-BE49-F238E27FC236}">
                <a16:creationId xmlns:a16="http://schemas.microsoft.com/office/drawing/2014/main" id="{F94BA273-9D6C-F0EF-BA8B-C26F202C9DB9}"/>
              </a:ext>
            </a:extLst>
          </p:cNvPr>
          <p:cNvSpPr/>
          <p:nvPr/>
        </p:nvSpPr>
        <p:spPr>
          <a:xfrm>
            <a:off x="7149708" y="4043076"/>
            <a:ext cx="776668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RS4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EE80DC3C-41F4-8494-518C-24BB062B79E7}"/>
              </a:ext>
            </a:extLst>
          </p:cNvPr>
          <p:cNvSpPr/>
          <p:nvPr/>
        </p:nvSpPr>
        <p:spPr>
          <a:xfrm>
            <a:off x="7149708" y="4466610"/>
            <a:ext cx="776668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RS5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FBACB2-966E-F63D-5940-BE8B01F4C576}"/>
              </a:ext>
            </a:extLst>
          </p:cNvPr>
          <p:cNvSpPr/>
          <p:nvPr/>
        </p:nvSpPr>
        <p:spPr>
          <a:xfrm>
            <a:off x="4560112" y="3806917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+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3F9C2B-C1DB-A793-790E-9C720F74DCB7}"/>
              </a:ext>
            </a:extLst>
          </p:cNvPr>
          <p:cNvSpPr/>
          <p:nvPr/>
        </p:nvSpPr>
        <p:spPr>
          <a:xfrm>
            <a:off x="5208458" y="3806771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DF373F-0D83-39B1-B9F3-186622E569BE}"/>
              </a:ext>
            </a:extLst>
          </p:cNvPr>
          <p:cNvSpPr/>
          <p:nvPr/>
        </p:nvSpPr>
        <p:spPr>
          <a:xfrm>
            <a:off x="5857528" y="3806771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139229F-2B04-9783-BB67-6538FB51AFB8}"/>
              </a:ext>
            </a:extLst>
          </p:cNvPr>
          <p:cNvSpPr/>
          <p:nvPr/>
        </p:nvSpPr>
        <p:spPr>
          <a:xfrm>
            <a:off x="6505726" y="3804492"/>
            <a:ext cx="266583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D7912CF-BBC7-AB54-40B2-AC03CDF46CBE}"/>
              </a:ext>
            </a:extLst>
          </p:cNvPr>
          <p:cNvSpPr/>
          <p:nvPr/>
        </p:nvSpPr>
        <p:spPr>
          <a:xfrm>
            <a:off x="4520259" y="2263229"/>
            <a:ext cx="1375105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R2: RS1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7556AF5-D049-45B9-CDC9-16248E484093}"/>
              </a:ext>
            </a:extLst>
          </p:cNvPr>
          <p:cNvCxnSpPr>
            <a:cxnSpLocks/>
            <a:stCxn id="20" idx="1"/>
            <a:endCxn id="11" idx="0"/>
          </p:cNvCxnSpPr>
          <p:nvPr/>
        </p:nvCxnSpPr>
        <p:spPr>
          <a:xfrm flipH="1">
            <a:off x="5532308" y="2959501"/>
            <a:ext cx="4494342" cy="847270"/>
          </a:xfrm>
          <a:prstGeom prst="straightConnector1">
            <a:avLst/>
          </a:prstGeom>
          <a:ln w="476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E0E4D49-94AC-7A24-963E-4007161757C5}"/>
              </a:ext>
            </a:extLst>
          </p:cNvPr>
          <p:cNvCxnSpPr>
            <a:cxnSpLocks/>
            <a:stCxn id="15" idx="1"/>
            <a:endCxn id="68" idx="0"/>
          </p:cNvCxnSpPr>
          <p:nvPr/>
        </p:nvCxnSpPr>
        <p:spPr>
          <a:xfrm flipH="1">
            <a:off x="6180654" y="1869680"/>
            <a:ext cx="3845996" cy="1934403"/>
          </a:xfrm>
          <a:prstGeom prst="straightConnector1">
            <a:avLst/>
          </a:prstGeom>
          <a:ln w="476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1CD5FA54-F9C4-3474-756C-F2AB7E3CCFBC}"/>
              </a:ext>
            </a:extLst>
          </p:cNvPr>
          <p:cNvGrpSpPr/>
          <p:nvPr/>
        </p:nvGrpSpPr>
        <p:grpSpPr>
          <a:xfrm>
            <a:off x="958850" y="1448803"/>
            <a:ext cx="1168399" cy="1125232"/>
            <a:chOff x="952500" y="1887005"/>
            <a:chExt cx="1168399" cy="112523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25238AA-A366-731B-6C53-B2C742A9EF2B}"/>
                </a:ext>
              </a:extLst>
            </p:cNvPr>
            <p:cNvSpPr/>
            <p:nvPr/>
          </p:nvSpPr>
          <p:spPr>
            <a:xfrm>
              <a:off x="952500" y="1887005"/>
              <a:ext cx="1168399" cy="523875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i="1" dirty="0">
                  <a:solidFill>
                    <a:schemeClr val="tx1"/>
                  </a:solidFill>
                  <a:latin typeface="+mj-lt"/>
                </a:rPr>
                <a:t>Fetch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6791031-70DE-0DCF-7FD5-023AA2550650}"/>
                </a:ext>
              </a:extLst>
            </p:cNvPr>
            <p:cNvCxnSpPr>
              <a:cxnSpLocks/>
            </p:cNvCxnSpPr>
            <p:nvPr/>
          </p:nvCxnSpPr>
          <p:spPr>
            <a:xfrm>
              <a:off x="1536700" y="2329235"/>
              <a:ext cx="1" cy="683002"/>
            </a:xfrm>
            <a:prstGeom prst="straightConnector1">
              <a:avLst/>
            </a:prstGeom>
            <a:ln w="4762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B9B00634-4C3B-8137-1021-972556FDA413}"/>
              </a:ext>
            </a:extLst>
          </p:cNvPr>
          <p:cNvSpPr/>
          <p:nvPr/>
        </p:nvSpPr>
        <p:spPr>
          <a:xfrm>
            <a:off x="196997" y="2530878"/>
            <a:ext cx="2679403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Instruction Queue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974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"/>
                            </p:stCondLst>
                            <p:childTnLst>
                              <p:par>
                                <p:cTn id="16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7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"/>
                            </p:stCondLst>
                            <p:childTnLst>
                              <p:par>
                                <p:cTn id="26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7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42" presetClass="path" presetSubtype="0" accel="50000" decel="5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1.66667E-6 -1.85185E-6 L -1.66667E-6 0.07638 " pathEditMode="relative" rAng="0" ptsTypes="AA">
                                      <p:cBhvr>
                                        <p:cTn id="5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81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7.40741E-7 L -1.66667E-6 0.07662 " pathEditMode="relative" rAng="0" ptsTypes="AA">
                                      <p:cBhvr>
                                        <p:cTn id="6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819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1.66667E-6 -1.11111E-6 L -1.66667E-6 0.0757 " pathEditMode="relative" rAng="0" ptsTypes="AA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7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  <p:bldP spid="83" grpId="0"/>
      <p:bldP spid="84" grpId="0" animBg="1"/>
      <p:bldP spid="85" grpId="0" animBg="1"/>
      <p:bldP spid="86" grpId="0" animBg="1"/>
      <p:bldP spid="87" grpId="0" animBg="1"/>
      <p:bldP spid="10" grpId="0" animBg="1"/>
      <p:bldP spid="11" grpId="0" animBg="1"/>
      <p:bldP spid="13" grpId="0" animBg="1"/>
      <p:bldP spid="24" grpId="0" animBg="1"/>
      <p:bldP spid="26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D8A9B-995D-DF8C-9F5E-53B158BAD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ADC4EFC9-1EEC-2AEA-DFFA-69EB1AFB5CEF}"/>
              </a:ext>
            </a:extLst>
          </p:cNvPr>
          <p:cNvCxnSpPr>
            <a:cxnSpLocks/>
            <a:endCxn id="144" idx="1"/>
          </p:cNvCxnSpPr>
          <p:nvPr/>
        </p:nvCxnSpPr>
        <p:spPr>
          <a:xfrm flipV="1">
            <a:off x="2501900" y="3670014"/>
            <a:ext cx="4647808" cy="1259017"/>
          </a:xfrm>
          <a:prstGeom prst="bentConnector3">
            <a:avLst>
              <a:gd name="adj1" fmla="val 21309"/>
            </a:avLst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FB86A8D-FF0B-9A11-51B7-83E1846F8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 of Order Execution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36EAE-CEA9-9F85-EA21-2FB314777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78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AC6F77-9E39-4FF4-4907-2D0A0E8568BE}"/>
              </a:ext>
            </a:extLst>
          </p:cNvPr>
          <p:cNvSpPr/>
          <p:nvPr/>
        </p:nvSpPr>
        <p:spPr>
          <a:xfrm>
            <a:off x="571501" y="3614582"/>
            <a:ext cx="1930399" cy="52387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R1 = R2 + R3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186AB3-6489-9874-4F93-B641EEC29055}"/>
              </a:ext>
            </a:extLst>
          </p:cNvPr>
          <p:cNvSpPr/>
          <p:nvPr/>
        </p:nvSpPr>
        <p:spPr>
          <a:xfrm>
            <a:off x="571501" y="4138457"/>
            <a:ext cx="1930399" cy="52387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R4 = R1 – R2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E1927B-7604-2CB9-E86F-EF974E98D091}"/>
              </a:ext>
            </a:extLst>
          </p:cNvPr>
          <p:cNvSpPr/>
          <p:nvPr/>
        </p:nvSpPr>
        <p:spPr>
          <a:xfrm>
            <a:off x="571501" y="4663918"/>
            <a:ext cx="1930399" cy="52387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R1 = R2 / R3</a:t>
            </a:r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F0BAE401-B2DB-F94D-D7E4-5503D2B145FC}"/>
              </a:ext>
            </a:extLst>
          </p:cNvPr>
          <p:cNvGrpSpPr/>
          <p:nvPr/>
        </p:nvGrpSpPr>
        <p:grpSpPr>
          <a:xfrm>
            <a:off x="9715500" y="1163242"/>
            <a:ext cx="1841499" cy="1978821"/>
            <a:chOff x="9715500" y="1163242"/>
            <a:chExt cx="1841499" cy="197882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A687458-DCF4-2BE4-DDA7-3EB1CB42DA63}"/>
                </a:ext>
              </a:extLst>
            </p:cNvPr>
            <p:cNvSpPr/>
            <p:nvPr/>
          </p:nvSpPr>
          <p:spPr>
            <a:xfrm>
              <a:off x="10026650" y="1687117"/>
              <a:ext cx="1206500" cy="365125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latin typeface="Consolas" panose="020B0609020204030204" pitchFamily="49" charset="0"/>
                </a:rPr>
                <a:t>R1: 2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874924B-3C1B-55A9-92A2-E6DAA6C8B212}"/>
                </a:ext>
              </a:extLst>
            </p:cNvPr>
            <p:cNvSpPr/>
            <p:nvPr/>
          </p:nvSpPr>
          <p:spPr>
            <a:xfrm>
              <a:off x="10026650" y="2052242"/>
              <a:ext cx="1206500" cy="365125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latin typeface="Consolas" panose="020B0609020204030204" pitchFamily="49" charset="0"/>
                </a:rPr>
                <a:t>R2: -1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D366F4E-ED32-D442-16B2-839418A3006A}"/>
                </a:ext>
              </a:extLst>
            </p:cNvPr>
            <p:cNvSpPr/>
            <p:nvPr/>
          </p:nvSpPr>
          <p:spPr>
            <a:xfrm>
              <a:off x="10026650" y="2411813"/>
              <a:ext cx="1206500" cy="365125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latin typeface="Consolas" panose="020B0609020204030204" pitchFamily="49" charset="0"/>
                </a:rPr>
                <a:t>R3: 3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9BD889C-68C9-1D18-2D05-6A7E57FA42EB}"/>
                </a:ext>
              </a:extLst>
            </p:cNvPr>
            <p:cNvSpPr/>
            <p:nvPr/>
          </p:nvSpPr>
          <p:spPr>
            <a:xfrm>
              <a:off x="10026650" y="2776938"/>
              <a:ext cx="1206500" cy="365125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latin typeface="Consolas" panose="020B0609020204030204" pitchFamily="49" charset="0"/>
                </a:rPr>
                <a:t>R4: 1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3F94413-4C15-6319-F0B7-2E3C92451B52}"/>
                </a:ext>
              </a:extLst>
            </p:cNvPr>
            <p:cNvSpPr/>
            <p:nvPr/>
          </p:nvSpPr>
          <p:spPr>
            <a:xfrm>
              <a:off x="9715500" y="1163242"/>
              <a:ext cx="1841499" cy="523875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+mj-lt"/>
                </a:rPr>
                <a:t>Register File</a:t>
              </a:r>
            </a:p>
          </p:txBody>
        </p:sp>
      </p:grpSp>
      <p:sp>
        <p:nvSpPr>
          <p:cNvPr id="22" name="Cube 21">
            <a:extLst>
              <a:ext uri="{FF2B5EF4-FFF2-40B4-BE49-F238E27FC236}">
                <a16:creationId xmlns:a16="http://schemas.microsoft.com/office/drawing/2014/main" id="{E4D5D131-0B53-195F-4727-B2C2E78D5A1D}"/>
              </a:ext>
            </a:extLst>
          </p:cNvPr>
          <p:cNvSpPr/>
          <p:nvPr/>
        </p:nvSpPr>
        <p:spPr>
          <a:xfrm>
            <a:off x="4910654" y="5726112"/>
            <a:ext cx="1244600" cy="706438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</a:t>
            </a:r>
            <a:endParaRPr lang="LID4096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3FAB471-F872-435C-33DC-F57040ED54E8}"/>
              </a:ext>
            </a:extLst>
          </p:cNvPr>
          <p:cNvSpPr/>
          <p:nvPr/>
        </p:nvSpPr>
        <p:spPr>
          <a:xfrm>
            <a:off x="4075627" y="1377832"/>
            <a:ext cx="2814157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Register Alias Table (RAT)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02FC929-199D-A2FB-41D9-005D4A537BD3}"/>
              </a:ext>
            </a:extLst>
          </p:cNvPr>
          <p:cNvSpPr/>
          <p:nvPr/>
        </p:nvSpPr>
        <p:spPr>
          <a:xfrm>
            <a:off x="4520260" y="1901707"/>
            <a:ext cx="1375105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R1: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A16F921-7DC4-FFB1-4566-3229F84E2815}"/>
              </a:ext>
            </a:extLst>
          </p:cNvPr>
          <p:cNvSpPr/>
          <p:nvPr/>
        </p:nvSpPr>
        <p:spPr>
          <a:xfrm>
            <a:off x="4520260" y="2266832"/>
            <a:ext cx="1375105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R2: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6249F56-7BA8-F3B9-95EE-28597E5737A0}"/>
              </a:ext>
            </a:extLst>
          </p:cNvPr>
          <p:cNvSpPr/>
          <p:nvPr/>
        </p:nvSpPr>
        <p:spPr>
          <a:xfrm>
            <a:off x="4520260" y="2626403"/>
            <a:ext cx="1375105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R3: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6B67ED5-C034-CB48-1702-80E59664381A}"/>
              </a:ext>
            </a:extLst>
          </p:cNvPr>
          <p:cNvSpPr/>
          <p:nvPr/>
        </p:nvSpPr>
        <p:spPr>
          <a:xfrm>
            <a:off x="4520260" y="2991528"/>
            <a:ext cx="1375105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R4:</a:t>
            </a:r>
          </a:p>
        </p:txBody>
      </p:sp>
      <p:sp>
        <p:nvSpPr>
          <p:cNvPr id="135" name="Cube 134">
            <a:extLst>
              <a:ext uri="{FF2B5EF4-FFF2-40B4-BE49-F238E27FC236}">
                <a16:creationId xmlns:a16="http://schemas.microsoft.com/office/drawing/2014/main" id="{FD5D5469-1C73-5C7F-FB08-B4270681BE54}"/>
              </a:ext>
            </a:extLst>
          </p:cNvPr>
          <p:cNvSpPr/>
          <p:nvPr/>
        </p:nvSpPr>
        <p:spPr>
          <a:xfrm>
            <a:off x="8199954" y="5634434"/>
            <a:ext cx="1244600" cy="706438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MUL</a:t>
            </a:r>
            <a:endParaRPr lang="LID4096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3671422-5347-78D8-EC40-E8E088B315A5}"/>
              </a:ext>
            </a:extLst>
          </p:cNvPr>
          <p:cNvSpPr/>
          <p:nvPr/>
        </p:nvSpPr>
        <p:spPr>
          <a:xfrm>
            <a:off x="3932917" y="3955445"/>
            <a:ext cx="647701" cy="357427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RS1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4C8BC1C-C3A7-ECBD-6AE7-E3CB677425E9}"/>
              </a:ext>
            </a:extLst>
          </p:cNvPr>
          <p:cNvSpPr/>
          <p:nvPr/>
        </p:nvSpPr>
        <p:spPr>
          <a:xfrm>
            <a:off x="3849220" y="4248077"/>
            <a:ext cx="776668" cy="52387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RS2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28D54FB-E71F-2EE4-D474-3467BA2164F6}"/>
              </a:ext>
            </a:extLst>
          </p:cNvPr>
          <p:cNvSpPr/>
          <p:nvPr/>
        </p:nvSpPr>
        <p:spPr>
          <a:xfrm>
            <a:off x="3849220" y="4660828"/>
            <a:ext cx="776668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RS3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B56A9E3-D4A0-AD86-AD8D-74F9C65AC208}"/>
              </a:ext>
            </a:extLst>
          </p:cNvPr>
          <p:cNvGrpSpPr/>
          <p:nvPr/>
        </p:nvGrpSpPr>
        <p:grpSpPr>
          <a:xfrm>
            <a:off x="4561404" y="4716391"/>
            <a:ext cx="2210202" cy="412751"/>
            <a:chOff x="4686300" y="4286249"/>
            <a:chExt cx="2210202" cy="41275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D85FA3A-642E-220A-2B8A-DF83A8487BE8}"/>
                </a:ext>
              </a:extLst>
            </p:cNvPr>
            <p:cNvSpPr/>
            <p:nvPr/>
          </p:nvSpPr>
          <p:spPr>
            <a:xfrm>
              <a:off x="46863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1AF1B2D-C62E-2A64-54C9-39F431CA65DF}"/>
                </a:ext>
              </a:extLst>
            </p:cNvPr>
            <p:cNvSpPr/>
            <p:nvPr/>
          </p:nvSpPr>
          <p:spPr>
            <a:xfrm>
              <a:off x="53340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ECCAE49-B997-9CB7-AA7E-6E6A172C02E2}"/>
                </a:ext>
              </a:extLst>
            </p:cNvPr>
            <p:cNvSpPr/>
            <p:nvPr/>
          </p:nvSpPr>
          <p:spPr>
            <a:xfrm>
              <a:off x="59817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B5B6ABE-6313-292F-86AC-8C23E7B07FAF}"/>
                </a:ext>
              </a:extLst>
            </p:cNvPr>
            <p:cNvSpPr/>
            <p:nvPr/>
          </p:nvSpPr>
          <p:spPr>
            <a:xfrm>
              <a:off x="6629400" y="4286249"/>
              <a:ext cx="267102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B273CA9-4A66-EDCA-51A3-CD1303D7BDA3}"/>
              </a:ext>
            </a:extLst>
          </p:cNvPr>
          <p:cNvGrpSpPr/>
          <p:nvPr/>
        </p:nvGrpSpPr>
        <p:grpSpPr>
          <a:xfrm>
            <a:off x="4561404" y="4303640"/>
            <a:ext cx="2210473" cy="412751"/>
            <a:chOff x="4686300" y="4286249"/>
            <a:chExt cx="2210473" cy="412751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7944FBF-B8DC-5751-8265-8D3840905110}"/>
                </a:ext>
              </a:extLst>
            </p:cNvPr>
            <p:cNvSpPr/>
            <p:nvPr/>
          </p:nvSpPr>
          <p:spPr>
            <a:xfrm>
              <a:off x="46863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C440AA4-8D41-40B7-B5AE-CB4E06FA2A47}"/>
                </a:ext>
              </a:extLst>
            </p:cNvPr>
            <p:cNvSpPr/>
            <p:nvPr/>
          </p:nvSpPr>
          <p:spPr>
            <a:xfrm>
              <a:off x="53340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9A2DD13-C462-5509-7292-17F301B75897}"/>
                </a:ext>
              </a:extLst>
            </p:cNvPr>
            <p:cNvSpPr/>
            <p:nvPr/>
          </p:nvSpPr>
          <p:spPr>
            <a:xfrm>
              <a:off x="59817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04C81D0-942E-7C09-8CCB-666371F3E298}"/>
                </a:ext>
              </a:extLst>
            </p:cNvPr>
            <p:cNvSpPr/>
            <p:nvPr/>
          </p:nvSpPr>
          <p:spPr>
            <a:xfrm>
              <a:off x="6629671" y="4286249"/>
              <a:ext cx="267102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946834B-E4F9-ED19-295A-469257833DEB}"/>
              </a:ext>
            </a:extLst>
          </p:cNvPr>
          <p:cNvGrpSpPr/>
          <p:nvPr/>
        </p:nvGrpSpPr>
        <p:grpSpPr>
          <a:xfrm>
            <a:off x="4561404" y="3896844"/>
            <a:ext cx="2210202" cy="412751"/>
            <a:chOff x="4686300" y="4286249"/>
            <a:chExt cx="2210202" cy="412751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2BE1FDCF-261C-9CA2-1BF6-88B6E8F51C7B}"/>
                </a:ext>
              </a:extLst>
            </p:cNvPr>
            <p:cNvSpPr/>
            <p:nvPr/>
          </p:nvSpPr>
          <p:spPr>
            <a:xfrm>
              <a:off x="46863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>
                <a:solidFill>
                  <a:schemeClr val="tx1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EE98E9AE-4E4E-B346-DAB2-3FB277C6816A}"/>
                </a:ext>
              </a:extLst>
            </p:cNvPr>
            <p:cNvSpPr/>
            <p:nvPr/>
          </p:nvSpPr>
          <p:spPr>
            <a:xfrm>
              <a:off x="53340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>
                <a:solidFill>
                  <a:schemeClr val="tx1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702A30D6-328C-A8AA-83E2-87E34B2825B5}"/>
                </a:ext>
              </a:extLst>
            </p:cNvPr>
            <p:cNvSpPr/>
            <p:nvPr/>
          </p:nvSpPr>
          <p:spPr>
            <a:xfrm>
              <a:off x="59817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>
                <a:solidFill>
                  <a:schemeClr val="tx1"/>
                </a:solidFill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1B53A52-A6A2-A8A6-744D-6E0A6F9E5CA0}"/>
                </a:ext>
              </a:extLst>
            </p:cNvPr>
            <p:cNvSpPr/>
            <p:nvPr/>
          </p:nvSpPr>
          <p:spPr>
            <a:xfrm>
              <a:off x="6629919" y="4286249"/>
              <a:ext cx="266583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1E3B5CB1-BCDB-868A-D57A-28EECC583616}"/>
              </a:ext>
            </a:extLst>
          </p:cNvPr>
          <p:cNvGrpSpPr/>
          <p:nvPr/>
        </p:nvGrpSpPr>
        <p:grpSpPr>
          <a:xfrm>
            <a:off x="7836045" y="3876390"/>
            <a:ext cx="1943100" cy="412751"/>
            <a:chOff x="4686300" y="4286249"/>
            <a:chExt cx="1943100" cy="412751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2C216624-EED9-C313-5C0F-1A09837210DE}"/>
                </a:ext>
              </a:extLst>
            </p:cNvPr>
            <p:cNvSpPr/>
            <p:nvPr/>
          </p:nvSpPr>
          <p:spPr>
            <a:xfrm>
              <a:off x="46863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23277DFC-0C0E-8733-1631-3A3409EF26AD}"/>
                </a:ext>
              </a:extLst>
            </p:cNvPr>
            <p:cNvSpPr/>
            <p:nvPr/>
          </p:nvSpPr>
          <p:spPr>
            <a:xfrm>
              <a:off x="53340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67A539D9-D571-63DA-11BB-2C4F8DD2CF99}"/>
                </a:ext>
              </a:extLst>
            </p:cNvPr>
            <p:cNvSpPr/>
            <p:nvPr/>
          </p:nvSpPr>
          <p:spPr>
            <a:xfrm>
              <a:off x="59817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</p:grpSp>
      <p:sp>
        <p:nvSpPr>
          <p:cNvPr id="141" name="Rectangle 140">
            <a:extLst>
              <a:ext uri="{FF2B5EF4-FFF2-40B4-BE49-F238E27FC236}">
                <a16:creationId xmlns:a16="http://schemas.microsoft.com/office/drawing/2014/main" id="{F9644658-2D57-CA3A-3C79-A5710EFE61D3}"/>
              </a:ext>
            </a:extLst>
          </p:cNvPr>
          <p:cNvSpPr/>
          <p:nvPr/>
        </p:nvSpPr>
        <p:spPr>
          <a:xfrm>
            <a:off x="7836045" y="3463639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B90C930-9FAB-C550-E4E4-82DA69972855}"/>
              </a:ext>
            </a:extLst>
          </p:cNvPr>
          <p:cNvSpPr/>
          <p:nvPr/>
        </p:nvSpPr>
        <p:spPr>
          <a:xfrm>
            <a:off x="8483745" y="3463639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FCEDE633-92AF-7C29-CAF6-913333AB5214}"/>
              </a:ext>
            </a:extLst>
          </p:cNvPr>
          <p:cNvSpPr/>
          <p:nvPr/>
        </p:nvSpPr>
        <p:spPr>
          <a:xfrm>
            <a:off x="9131445" y="3463639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8AFFD14-2B88-6462-2D91-F93C1F186411}"/>
              </a:ext>
            </a:extLst>
          </p:cNvPr>
          <p:cNvSpPr/>
          <p:nvPr/>
        </p:nvSpPr>
        <p:spPr>
          <a:xfrm>
            <a:off x="7836045" y="3463639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/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4EF57856-3628-648E-6BA5-DE92DA9FCF3D}"/>
              </a:ext>
            </a:extLst>
          </p:cNvPr>
          <p:cNvSpPr/>
          <p:nvPr/>
        </p:nvSpPr>
        <p:spPr>
          <a:xfrm>
            <a:off x="7149708" y="3408076"/>
            <a:ext cx="776668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RS4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9E102CF8-650E-A323-D33D-077A6432F9E5}"/>
              </a:ext>
            </a:extLst>
          </p:cNvPr>
          <p:cNvSpPr/>
          <p:nvPr/>
        </p:nvSpPr>
        <p:spPr>
          <a:xfrm>
            <a:off x="7149708" y="3831610"/>
            <a:ext cx="776668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RS5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6B7C49-75E8-5B29-3B57-70B589FF3D8C}"/>
              </a:ext>
            </a:extLst>
          </p:cNvPr>
          <p:cNvSpPr/>
          <p:nvPr/>
        </p:nvSpPr>
        <p:spPr>
          <a:xfrm>
            <a:off x="4560112" y="3899678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+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7D7777-E460-F7DF-EA7B-0F133B0A969F}"/>
              </a:ext>
            </a:extLst>
          </p:cNvPr>
          <p:cNvSpPr/>
          <p:nvPr/>
        </p:nvSpPr>
        <p:spPr>
          <a:xfrm>
            <a:off x="5208458" y="3899532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8CCFB6-0BBF-7049-787F-07B6E02B35B5}"/>
              </a:ext>
            </a:extLst>
          </p:cNvPr>
          <p:cNvSpPr/>
          <p:nvPr/>
        </p:nvSpPr>
        <p:spPr>
          <a:xfrm>
            <a:off x="5857528" y="3899532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84F136-1C0D-D23E-84A4-B3C88A2AEA64}"/>
              </a:ext>
            </a:extLst>
          </p:cNvPr>
          <p:cNvSpPr/>
          <p:nvPr/>
        </p:nvSpPr>
        <p:spPr>
          <a:xfrm>
            <a:off x="6505726" y="3897253"/>
            <a:ext cx="266583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4FF9FC7-3C49-D673-84E2-518BB2F9BA00}"/>
              </a:ext>
            </a:extLst>
          </p:cNvPr>
          <p:cNvSpPr/>
          <p:nvPr/>
        </p:nvSpPr>
        <p:spPr>
          <a:xfrm>
            <a:off x="4520259" y="2263229"/>
            <a:ext cx="1375105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R2: RS1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BFFC5A-51CF-52D3-343D-ABE1614EE56B}"/>
              </a:ext>
            </a:extLst>
          </p:cNvPr>
          <p:cNvSpPr/>
          <p:nvPr/>
        </p:nvSpPr>
        <p:spPr>
          <a:xfrm>
            <a:off x="2405624" y="4903991"/>
            <a:ext cx="1168399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1"/>
                </a:solidFill>
                <a:latin typeface="+mj-lt"/>
              </a:rPr>
              <a:t>Issue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2BABFC3-C2B8-F7B3-B101-C0C8AC5627B7}"/>
              </a:ext>
            </a:extLst>
          </p:cNvPr>
          <p:cNvSpPr/>
          <p:nvPr/>
        </p:nvSpPr>
        <p:spPr>
          <a:xfrm>
            <a:off x="8486993" y="3463639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R2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8784899-490B-AB50-746A-82303F8877C7}"/>
              </a:ext>
            </a:extLst>
          </p:cNvPr>
          <p:cNvSpPr/>
          <p:nvPr/>
        </p:nvSpPr>
        <p:spPr>
          <a:xfrm>
            <a:off x="9137257" y="3463639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R3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AD27A0E-6F21-21E2-B46C-A6AA58765ACA}"/>
              </a:ext>
            </a:extLst>
          </p:cNvPr>
          <p:cNvSpPr/>
          <p:nvPr/>
        </p:nvSpPr>
        <p:spPr>
          <a:xfrm>
            <a:off x="9132253" y="3463639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CCCA686-3C6E-D271-D4DC-6F214A976304}"/>
              </a:ext>
            </a:extLst>
          </p:cNvPr>
          <p:cNvSpPr/>
          <p:nvPr/>
        </p:nvSpPr>
        <p:spPr>
          <a:xfrm>
            <a:off x="8482937" y="3463639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RS1</a:t>
            </a:r>
            <a:endParaRPr lang="LID4096" dirty="0">
              <a:solidFill>
                <a:schemeClr val="tx1"/>
              </a:solidFill>
            </a:endParaRP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99B0352A-613B-1CA0-EF7F-8E3F419E1E45}"/>
              </a:ext>
            </a:extLst>
          </p:cNvPr>
          <p:cNvCxnSpPr>
            <a:cxnSpLocks/>
            <a:stCxn id="26" idx="3"/>
            <a:endCxn id="47" idx="0"/>
          </p:cNvCxnSpPr>
          <p:nvPr/>
        </p:nvCxnSpPr>
        <p:spPr>
          <a:xfrm>
            <a:off x="5895364" y="2445792"/>
            <a:ext cx="2911423" cy="1017847"/>
          </a:xfrm>
          <a:prstGeom prst="bentConnector2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5ECD0AA-EDBD-09DD-7E8B-92E6F5EF2685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5621259" y="5129142"/>
            <a:ext cx="0" cy="596970"/>
          </a:xfrm>
          <a:prstGeom prst="straightConnector1">
            <a:avLst/>
          </a:prstGeom>
          <a:ln w="476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E19A07AF-5BE9-55BD-0F1E-E36828716CD2}"/>
              </a:ext>
            </a:extLst>
          </p:cNvPr>
          <p:cNvSpPr/>
          <p:nvPr/>
        </p:nvSpPr>
        <p:spPr>
          <a:xfrm>
            <a:off x="3959298" y="5155861"/>
            <a:ext cx="1733011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1"/>
                </a:solidFill>
                <a:latin typeface="+mj-lt"/>
              </a:rPr>
              <a:t>Dispatch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5308B288-1296-E53E-3190-FE3E98276F31}"/>
              </a:ext>
            </a:extLst>
          </p:cNvPr>
          <p:cNvCxnSpPr>
            <a:cxnSpLocks/>
            <a:stCxn id="19" idx="1"/>
            <a:endCxn id="46" idx="0"/>
          </p:cNvCxnSpPr>
          <p:nvPr/>
        </p:nvCxnSpPr>
        <p:spPr>
          <a:xfrm rot="10800000" flipV="1">
            <a:off x="9456104" y="2594375"/>
            <a:ext cx="570547" cy="869263"/>
          </a:xfrm>
          <a:prstGeom prst="bentConnector2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FC37EDB-4756-F410-6829-94DE1746F8ED}"/>
              </a:ext>
            </a:extLst>
          </p:cNvPr>
          <p:cNvSpPr/>
          <p:nvPr/>
        </p:nvSpPr>
        <p:spPr>
          <a:xfrm>
            <a:off x="4520258" y="1901707"/>
            <a:ext cx="1375105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R1: RS4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CB93B9-1EFB-0F8A-74AE-36A7D3FFEB43}"/>
              </a:ext>
            </a:extLst>
          </p:cNvPr>
          <p:cNvSpPr/>
          <p:nvPr/>
        </p:nvSpPr>
        <p:spPr>
          <a:xfrm>
            <a:off x="196997" y="2530878"/>
            <a:ext cx="2679403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Instruction Queue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5983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8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50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37" grpId="0" animBg="1"/>
      <p:bldP spid="26" grpId="0" animBg="1"/>
      <p:bldP spid="14" grpId="0"/>
      <p:bldP spid="41" grpId="0" animBg="1"/>
      <p:bldP spid="42" grpId="0" animBg="1"/>
      <p:bldP spid="46" grpId="0" animBg="1"/>
      <p:bldP spid="47" grpId="0" animBg="1"/>
      <p:bldP spid="52" grpId="0"/>
      <p:bldP spid="8" grpId="0" animBg="1"/>
      <p:bldP spid="8" grpId="1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ECAAB-8F5A-7D53-87B6-8976510E6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70B30-CBDF-7BD9-85D3-92E41C215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 of Order Execution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15EAF-36A9-C575-1D0E-DEF48895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79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29E280-B73A-C154-77A2-A25C628C5472}"/>
              </a:ext>
            </a:extLst>
          </p:cNvPr>
          <p:cNvSpPr/>
          <p:nvPr/>
        </p:nvSpPr>
        <p:spPr>
          <a:xfrm>
            <a:off x="571501" y="3614582"/>
            <a:ext cx="1930399" cy="52387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R1 = R2 + R3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F9ED1F-1E66-82D9-E115-4D0F905FDFD1}"/>
              </a:ext>
            </a:extLst>
          </p:cNvPr>
          <p:cNvSpPr/>
          <p:nvPr/>
        </p:nvSpPr>
        <p:spPr>
          <a:xfrm>
            <a:off x="571501" y="4138457"/>
            <a:ext cx="1930399" cy="52387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R4 = R1 – R2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9C85B2-05DC-A607-4EBC-7A45D13BCF06}"/>
              </a:ext>
            </a:extLst>
          </p:cNvPr>
          <p:cNvSpPr/>
          <p:nvPr/>
        </p:nvSpPr>
        <p:spPr>
          <a:xfrm>
            <a:off x="571501" y="4663918"/>
            <a:ext cx="1930399" cy="52387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R1 = R2 / R3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201942-93D5-46DC-53E6-1067C47CBEEC}"/>
              </a:ext>
            </a:extLst>
          </p:cNvPr>
          <p:cNvSpPr/>
          <p:nvPr/>
        </p:nvSpPr>
        <p:spPr>
          <a:xfrm>
            <a:off x="9368928" y="1687117"/>
            <a:ext cx="1206500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R1: 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B70267-B6DE-7581-3548-8DE22A86C713}"/>
              </a:ext>
            </a:extLst>
          </p:cNvPr>
          <p:cNvSpPr/>
          <p:nvPr/>
        </p:nvSpPr>
        <p:spPr>
          <a:xfrm>
            <a:off x="9368928" y="2052242"/>
            <a:ext cx="1206500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R2: -1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3E96E1-EC0C-44CD-80EA-107351D076F0}"/>
              </a:ext>
            </a:extLst>
          </p:cNvPr>
          <p:cNvSpPr/>
          <p:nvPr/>
        </p:nvSpPr>
        <p:spPr>
          <a:xfrm>
            <a:off x="9368928" y="2411813"/>
            <a:ext cx="1206500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R3: 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DE6E88-86CE-863A-1E5A-DB7C2571463B}"/>
              </a:ext>
            </a:extLst>
          </p:cNvPr>
          <p:cNvSpPr/>
          <p:nvPr/>
        </p:nvSpPr>
        <p:spPr>
          <a:xfrm>
            <a:off x="9368928" y="2776938"/>
            <a:ext cx="1206500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R4: 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0E82CC-9823-CA2C-E88C-431C35514397}"/>
              </a:ext>
            </a:extLst>
          </p:cNvPr>
          <p:cNvSpPr/>
          <p:nvPr/>
        </p:nvSpPr>
        <p:spPr>
          <a:xfrm>
            <a:off x="9057778" y="1163242"/>
            <a:ext cx="1841499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Register File</a:t>
            </a:r>
          </a:p>
        </p:txBody>
      </p:sp>
      <p:sp>
        <p:nvSpPr>
          <p:cNvPr id="22" name="Cube 21">
            <a:extLst>
              <a:ext uri="{FF2B5EF4-FFF2-40B4-BE49-F238E27FC236}">
                <a16:creationId xmlns:a16="http://schemas.microsoft.com/office/drawing/2014/main" id="{FFA0B872-79AE-B0F9-CA39-D531EE97512F}"/>
              </a:ext>
            </a:extLst>
          </p:cNvPr>
          <p:cNvSpPr/>
          <p:nvPr/>
        </p:nvSpPr>
        <p:spPr>
          <a:xfrm>
            <a:off x="4910654" y="5726112"/>
            <a:ext cx="1244600" cy="706438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</a:t>
            </a:r>
            <a:endParaRPr lang="LID4096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83BDDED-0F66-8118-671C-E918553DBB47}"/>
              </a:ext>
            </a:extLst>
          </p:cNvPr>
          <p:cNvSpPr/>
          <p:nvPr/>
        </p:nvSpPr>
        <p:spPr>
          <a:xfrm>
            <a:off x="4075627" y="1377832"/>
            <a:ext cx="2814157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Register Alias Table (RAT)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93AEBE3-439D-993D-DBE8-89AF90239488}"/>
              </a:ext>
            </a:extLst>
          </p:cNvPr>
          <p:cNvSpPr/>
          <p:nvPr/>
        </p:nvSpPr>
        <p:spPr>
          <a:xfrm>
            <a:off x="4520260" y="1901707"/>
            <a:ext cx="1375105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R1: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E01AAE3-4BF2-5936-0048-586513F956D2}"/>
              </a:ext>
            </a:extLst>
          </p:cNvPr>
          <p:cNvSpPr/>
          <p:nvPr/>
        </p:nvSpPr>
        <p:spPr>
          <a:xfrm>
            <a:off x="4520260" y="2266832"/>
            <a:ext cx="1375105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R2: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652F5E9-4D54-4DAC-8837-5DD0DEA2DC5D}"/>
              </a:ext>
            </a:extLst>
          </p:cNvPr>
          <p:cNvSpPr/>
          <p:nvPr/>
        </p:nvSpPr>
        <p:spPr>
          <a:xfrm>
            <a:off x="4520260" y="2626403"/>
            <a:ext cx="1375105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R3: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6486311-B532-A25D-1A2A-F1C43851F500}"/>
              </a:ext>
            </a:extLst>
          </p:cNvPr>
          <p:cNvSpPr/>
          <p:nvPr/>
        </p:nvSpPr>
        <p:spPr>
          <a:xfrm>
            <a:off x="4520260" y="2991528"/>
            <a:ext cx="1375105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R4:</a:t>
            </a:r>
          </a:p>
        </p:txBody>
      </p:sp>
      <p:sp>
        <p:nvSpPr>
          <p:cNvPr id="135" name="Cube 134">
            <a:extLst>
              <a:ext uri="{FF2B5EF4-FFF2-40B4-BE49-F238E27FC236}">
                <a16:creationId xmlns:a16="http://schemas.microsoft.com/office/drawing/2014/main" id="{8E90C8F8-0016-4D26-B942-3735678D50C6}"/>
              </a:ext>
            </a:extLst>
          </p:cNvPr>
          <p:cNvSpPr/>
          <p:nvPr/>
        </p:nvSpPr>
        <p:spPr>
          <a:xfrm>
            <a:off x="8199954" y="4751274"/>
            <a:ext cx="1244600" cy="706438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MUL</a:t>
            </a:r>
            <a:endParaRPr lang="LID4096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53DD320-5A7B-33FE-4276-B38F49D4ED65}"/>
              </a:ext>
            </a:extLst>
          </p:cNvPr>
          <p:cNvSpPr/>
          <p:nvPr/>
        </p:nvSpPr>
        <p:spPr>
          <a:xfrm>
            <a:off x="3932917" y="3955445"/>
            <a:ext cx="647701" cy="357427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RS1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22E0C7B-3728-924F-88FB-59EF95F4C3C1}"/>
              </a:ext>
            </a:extLst>
          </p:cNvPr>
          <p:cNvSpPr/>
          <p:nvPr/>
        </p:nvSpPr>
        <p:spPr>
          <a:xfrm>
            <a:off x="3849220" y="4248077"/>
            <a:ext cx="776668" cy="52387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RS2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FA54C19-D84B-860D-ECBE-4756A14D469D}"/>
              </a:ext>
            </a:extLst>
          </p:cNvPr>
          <p:cNvSpPr/>
          <p:nvPr/>
        </p:nvSpPr>
        <p:spPr>
          <a:xfrm>
            <a:off x="3849220" y="4660828"/>
            <a:ext cx="776668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RS3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05F2FD6-2791-BA75-5D6D-C1B039C318C0}"/>
              </a:ext>
            </a:extLst>
          </p:cNvPr>
          <p:cNvGrpSpPr/>
          <p:nvPr/>
        </p:nvGrpSpPr>
        <p:grpSpPr>
          <a:xfrm>
            <a:off x="4561404" y="4716391"/>
            <a:ext cx="2210202" cy="412751"/>
            <a:chOff x="4686300" y="4286249"/>
            <a:chExt cx="2210202" cy="41275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E680550-734D-6A70-85DF-E00CF5900579}"/>
                </a:ext>
              </a:extLst>
            </p:cNvPr>
            <p:cNvSpPr/>
            <p:nvPr/>
          </p:nvSpPr>
          <p:spPr>
            <a:xfrm>
              <a:off x="46863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E11E85A-A237-F5D5-7BF0-AFB2FE191A7C}"/>
                </a:ext>
              </a:extLst>
            </p:cNvPr>
            <p:cNvSpPr/>
            <p:nvPr/>
          </p:nvSpPr>
          <p:spPr>
            <a:xfrm>
              <a:off x="53340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CB9D409-9AE6-902A-37BE-EE3A8C6ADCE7}"/>
                </a:ext>
              </a:extLst>
            </p:cNvPr>
            <p:cNvSpPr/>
            <p:nvPr/>
          </p:nvSpPr>
          <p:spPr>
            <a:xfrm>
              <a:off x="59817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47C689B-5AD0-2C59-8C35-62D6CC4B5BE7}"/>
                </a:ext>
              </a:extLst>
            </p:cNvPr>
            <p:cNvSpPr/>
            <p:nvPr/>
          </p:nvSpPr>
          <p:spPr>
            <a:xfrm>
              <a:off x="6629400" y="4286249"/>
              <a:ext cx="267102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5BBCB44-4D61-A45F-0322-C0E58B77BE37}"/>
              </a:ext>
            </a:extLst>
          </p:cNvPr>
          <p:cNvGrpSpPr/>
          <p:nvPr/>
        </p:nvGrpSpPr>
        <p:grpSpPr>
          <a:xfrm>
            <a:off x="4561404" y="4303640"/>
            <a:ext cx="2210473" cy="412751"/>
            <a:chOff x="4686300" y="4286249"/>
            <a:chExt cx="2210473" cy="412751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8762D10-DBC1-B476-C7EE-31729403DD70}"/>
                </a:ext>
              </a:extLst>
            </p:cNvPr>
            <p:cNvSpPr/>
            <p:nvPr/>
          </p:nvSpPr>
          <p:spPr>
            <a:xfrm>
              <a:off x="46863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2EF5A4C-6C1A-7782-E480-D47415921C5E}"/>
                </a:ext>
              </a:extLst>
            </p:cNvPr>
            <p:cNvSpPr/>
            <p:nvPr/>
          </p:nvSpPr>
          <p:spPr>
            <a:xfrm>
              <a:off x="53340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610FCFD-907B-25F1-4429-AF89A1680085}"/>
                </a:ext>
              </a:extLst>
            </p:cNvPr>
            <p:cNvSpPr/>
            <p:nvPr/>
          </p:nvSpPr>
          <p:spPr>
            <a:xfrm>
              <a:off x="59817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CE1804A0-A6E5-E4C3-A56F-28C61DEF45A3}"/>
                </a:ext>
              </a:extLst>
            </p:cNvPr>
            <p:cNvSpPr/>
            <p:nvPr/>
          </p:nvSpPr>
          <p:spPr>
            <a:xfrm>
              <a:off x="6629671" y="4286249"/>
              <a:ext cx="267102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C94160F-359B-40FD-676E-67759B5CA149}"/>
              </a:ext>
            </a:extLst>
          </p:cNvPr>
          <p:cNvGrpSpPr/>
          <p:nvPr/>
        </p:nvGrpSpPr>
        <p:grpSpPr>
          <a:xfrm>
            <a:off x="4561404" y="3896844"/>
            <a:ext cx="2210202" cy="412751"/>
            <a:chOff x="4686300" y="4286249"/>
            <a:chExt cx="2210202" cy="412751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9B522E0-14F2-4DCA-0237-0D02BD636836}"/>
                </a:ext>
              </a:extLst>
            </p:cNvPr>
            <p:cNvSpPr/>
            <p:nvPr/>
          </p:nvSpPr>
          <p:spPr>
            <a:xfrm>
              <a:off x="46863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>
                <a:solidFill>
                  <a:schemeClr val="tx1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3BE6FB75-2DFE-5E03-FCE9-1435687CC2D9}"/>
                </a:ext>
              </a:extLst>
            </p:cNvPr>
            <p:cNvSpPr/>
            <p:nvPr/>
          </p:nvSpPr>
          <p:spPr>
            <a:xfrm>
              <a:off x="53340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>
                <a:solidFill>
                  <a:schemeClr val="tx1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BD5CCCD-DE75-791F-0855-FE46B3623367}"/>
                </a:ext>
              </a:extLst>
            </p:cNvPr>
            <p:cNvSpPr/>
            <p:nvPr/>
          </p:nvSpPr>
          <p:spPr>
            <a:xfrm>
              <a:off x="59817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>
                <a:solidFill>
                  <a:schemeClr val="tx1"/>
                </a:solidFill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7C4F98D0-2455-7D1C-63DC-7C99C7175A7B}"/>
                </a:ext>
              </a:extLst>
            </p:cNvPr>
            <p:cNvSpPr/>
            <p:nvPr/>
          </p:nvSpPr>
          <p:spPr>
            <a:xfrm>
              <a:off x="6629919" y="4286249"/>
              <a:ext cx="266583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713F5C11-EFE9-CD50-1A05-3EBF60679979}"/>
              </a:ext>
            </a:extLst>
          </p:cNvPr>
          <p:cNvGrpSpPr/>
          <p:nvPr/>
        </p:nvGrpSpPr>
        <p:grpSpPr>
          <a:xfrm>
            <a:off x="7836045" y="4052852"/>
            <a:ext cx="1943100" cy="412751"/>
            <a:chOff x="4686300" y="4286249"/>
            <a:chExt cx="1943100" cy="412751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F190A0C1-685C-B05D-8D71-530A556F7255}"/>
                </a:ext>
              </a:extLst>
            </p:cNvPr>
            <p:cNvSpPr/>
            <p:nvPr/>
          </p:nvSpPr>
          <p:spPr>
            <a:xfrm>
              <a:off x="46863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BE4B3D8A-16C4-C4C3-03A7-24C8C22632EC}"/>
                </a:ext>
              </a:extLst>
            </p:cNvPr>
            <p:cNvSpPr/>
            <p:nvPr/>
          </p:nvSpPr>
          <p:spPr>
            <a:xfrm>
              <a:off x="53340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88366572-B813-C3F9-294D-ED072E3A30C4}"/>
                </a:ext>
              </a:extLst>
            </p:cNvPr>
            <p:cNvSpPr/>
            <p:nvPr/>
          </p:nvSpPr>
          <p:spPr>
            <a:xfrm>
              <a:off x="59817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</p:grpSp>
      <p:sp>
        <p:nvSpPr>
          <p:cNvPr id="141" name="Rectangle 140">
            <a:extLst>
              <a:ext uri="{FF2B5EF4-FFF2-40B4-BE49-F238E27FC236}">
                <a16:creationId xmlns:a16="http://schemas.microsoft.com/office/drawing/2014/main" id="{8278A895-EFED-DB7A-3E58-6570207DD44B}"/>
              </a:ext>
            </a:extLst>
          </p:cNvPr>
          <p:cNvSpPr/>
          <p:nvPr/>
        </p:nvSpPr>
        <p:spPr>
          <a:xfrm>
            <a:off x="7836045" y="3640101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5CCAB755-C5A1-A09F-B9D3-83720D24ED2F}"/>
              </a:ext>
            </a:extLst>
          </p:cNvPr>
          <p:cNvSpPr/>
          <p:nvPr/>
        </p:nvSpPr>
        <p:spPr>
          <a:xfrm>
            <a:off x="8483745" y="3640101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D3D54941-8544-EF34-671C-ACC4BB4A96E8}"/>
              </a:ext>
            </a:extLst>
          </p:cNvPr>
          <p:cNvSpPr/>
          <p:nvPr/>
        </p:nvSpPr>
        <p:spPr>
          <a:xfrm>
            <a:off x="9131445" y="3640101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0C5EFF8-FC59-3CD1-9DE8-DE16964EA512}"/>
              </a:ext>
            </a:extLst>
          </p:cNvPr>
          <p:cNvSpPr/>
          <p:nvPr/>
        </p:nvSpPr>
        <p:spPr>
          <a:xfrm>
            <a:off x="7836045" y="3640101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/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C2421FA3-2D61-B7EB-EC12-AB1661003BCF}"/>
              </a:ext>
            </a:extLst>
          </p:cNvPr>
          <p:cNvSpPr/>
          <p:nvPr/>
        </p:nvSpPr>
        <p:spPr>
          <a:xfrm>
            <a:off x="7149708" y="3584538"/>
            <a:ext cx="776668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RS4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ADF9DE83-7B90-B995-B85B-23DA5B64A5B0}"/>
              </a:ext>
            </a:extLst>
          </p:cNvPr>
          <p:cNvSpPr/>
          <p:nvPr/>
        </p:nvSpPr>
        <p:spPr>
          <a:xfrm>
            <a:off x="7149708" y="4008072"/>
            <a:ext cx="776668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RS5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25AECC-7394-3ADB-BC43-ADC7138E2E6C}"/>
              </a:ext>
            </a:extLst>
          </p:cNvPr>
          <p:cNvSpPr/>
          <p:nvPr/>
        </p:nvSpPr>
        <p:spPr>
          <a:xfrm>
            <a:off x="4560112" y="3899678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+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AA30B0-3866-E8DF-AAB9-19C53EEA12D8}"/>
              </a:ext>
            </a:extLst>
          </p:cNvPr>
          <p:cNvSpPr/>
          <p:nvPr/>
        </p:nvSpPr>
        <p:spPr>
          <a:xfrm>
            <a:off x="5208458" y="3899532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4C0A9E-DDC0-4A72-FC2A-F80CE5E61D96}"/>
              </a:ext>
            </a:extLst>
          </p:cNvPr>
          <p:cNvSpPr/>
          <p:nvPr/>
        </p:nvSpPr>
        <p:spPr>
          <a:xfrm>
            <a:off x="5857528" y="3899532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DBBBA1E-85A0-4B33-33CA-665C5663A21E}"/>
              </a:ext>
            </a:extLst>
          </p:cNvPr>
          <p:cNvSpPr/>
          <p:nvPr/>
        </p:nvSpPr>
        <p:spPr>
          <a:xfrm>
            <a:off x="6505726" y="3897253"/>
            <a:ext cx="266583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3502991-B45D-DB65-6E4A-2923E68116D3}"/>
              </a:ext>
            </a:extLst>
          </p:cNvPr>
          <p:cNvSpPr/>
          <p:nvPr/>
        </p:nvSpPr>
        <p:spPr>
          <a:xfrm>
            <a:off x="4520259" y="2263229"/>
            <a:ext cx="1375105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R2: RS1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271773B-FC38-0FD1-F2BA-CC28D928A3D0}"/>
              </a:ext>
            </a:extLst>
          </p:cNvPr>
          <p:cNvSpPr/>
          <p:nvPr/>
        </p:nvSpPr>
        <p:spPr>
          <a:xfrm>
            <a:off x="8486993" y="3640101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R2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31B71EE-70BC-A50A-290A-545198B688A4}"/>
              </a:ext>
            </a:extLst>
          </p:cNvPr>
          <p:cNvSpPr/>
          <p:nvPr/>
        </p:nvSpPr>
        <p:spPr>
          <a:xfrm>
            <a:off x="9137257" y="3640101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R3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F19F2E7-95A8-D5BE-47AC-DC6987264CAA}"/>
              </a:ext>
            </a:extLst>
          </p:cNvPr>
          <p:cNvSpPr/>
          <p:nvPr/>
        </p:nvSpPr>
        <p:spPr>
          <a:xfrm>
            <a:off x="9132253" y="3640101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CB70527-A04C-1399-4171-7F401707D2B1}"/>
              </a:ext>
            </a:extLst>
          </p:cNvPr>
          <p:cNvSpPr/>
          <p:nvPr/>
        </p:nvSpPr>
        <p:spPr>
          <a:xfrm>
            <a:off x="8482937" y="3640101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RS1</a:t>
            </a:r>
            <a:endParaRPr lang="LID4096" dirty="0">
              <a:solidFill>
                <a:schemeClr val="tx1"/>
              </a:solidFill>
            </a:endParaRP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8C731B02-7518-7A79-011B-6DAFFF85A983}"/>
              </a:ext>
            </a:extLst>
          </p:cNvPr>
          <p:cNvCxnSpPr>
            <a:cxnSpLocks/>
            <a:stCxn id="22" idx="4"/>
            <a:endCxn id="17" idx="3"/>
          </p:cNvCxnSpPr>
          <p:nvPr/>
        </p:nvCxnSpPr>
        <p:spPr>
          <a:xfrm flipV="1">
            <a:off x="5978645" y="2234805"/>
            <a:ext cx="4596783" cy="3932831"/>
          </a:xfrm>
          <a:prstGeom prst="bentConnector3">
            <a:avLst>
              <a:gd name="adj1" fmla="val 119096"/>
            </a:avLst>
          </a:prstGeom>
          <a:ln w="47625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E987AC38-9786-99EF-3C88-3F4671A29437}"/>
              </a:ext>
            </a:extLst>
          </p:cNvPr>
          <p:cNvSpPr/>
          <p:nvPr/>
        </p:nvSpPr>
        <p:spPr>
          <a:xfrm>
            <a:off x="6478657" y="5607517"/>
            <a:ext cx="2004279" cy="615551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1"/>
                </a:solidFill>
                <a:latin typeface="+mj-lt"/>
              </a:rPr>
              <a:t>Broadcast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4C0282-55D5-1790-8BBD-CA63E5206605}"/>
              </a:ext>
            </a:extLst>
          </p:cNvPr>
          <p:cNvSpPr/>
          <p:nvPr/>
        </p:nvSpPr>
        <p:spPr>
          <a:xfrm>
            <a:off x="9369204" y="2052242"/>
            <a:ext cx="1206500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R2: 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2DE1B3B-532C-2957-8EFD-EB60452FEE86}"/>
              </a:ext>
            </a:extLst>
          </p:cNvPr>
          <p:cNvSpPr/>
          <p:nvPr/>
        </p:nvSpPr>
        <p:spPr>
          <a:xfrm>
            <a:off x="10459599" y="1565475"/>
            <a:ext cx="2004279" cy="615551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1"/>
                </a:solidFill>
                <a:latin typeface="+mj-lt"/>
              </a:rPr>
              <a:t>Commit</a:t>
            </a: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C25B55CF-0ABF-B351-10CA-122565F1C774}"/>
              </a:ext>
            </a:extLst>
          </p:cNvPr>
          <p:cNvCxnSpPr>
            <a:cxnSpLocks/>
            <a:endCxn id="47" idx="0"/>
          </p:cNvCxnSpPr>
          <p:nvPr/>
        </p:nvCxnSpPr>
        <p:spPr>
          <a:xfrm rot="10800000" flipV="1">
            <a:off x="8806787" y="3437443"/>
            <a:ext cx="2649052" cy="202657"/>
          </a:xfrm>
          <a:prstGeom prst="bentConnector2">
            <a:avLst/>
          </a:prstGeom>
          <a:ln w="47625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2ED3D8E2-77DF-5969-AF77-487AB7B61C09}"/>
              </a:ext>
            </a:extLst>
          </p:cNvPr>
          <p:cNvSpPr/>
          <p:nvPr/>
        </p:nvSpPr>
        <p:spPr>
          <a:xfrm>
            <a:off x="8477933" y="3640101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901A185-14EF-FF51-2240-36AD428CC804}"/>
              </a:ext>
            </a:extLst>
          </p:cNvPr>
          <p:cNvSpPr/>
          <p:nvPr/>
        </p:nvSpPr>
        <p:spPr>
          <a:xfrm>
            <a:off x="9779243" y="3638727"/>
            <a:ext cx="266583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</a:t>
            </a:r>
            <a:endParaRPr lang="LID4096" dirty="0">
              <a:solidFill>
                <a:schemeClr val="tx1"/>
              </a:solidFill>
            </a:endParaRPr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B6C296DB-F8A4-DE67-FAE5-EEDF7F75695A}"/>
              </a:ext>
            </a:extLst>
          </p:cNvPr>
          <p:cNvCxnSpPr>
            <a:cxnSpLocks/>
            <a:endCxn id="26" idx="3"/>
          </p:cNvCxnSpPr>
          <p:nvPr/>
        </p:nvCxnSpPr>
        <p:spPr>
          <a:xfrm rot="10800000">
            <a:off x="5895365" y="2445792"/>
            <a:ext cx="3990653" cy="990704"/>
          </a:xfrm>
          <a:prstGeom prst="bentConnector3">
            <a:avLst>
              <a:gd name="adj1" fmla="val 50000"/>
            </a:avLst>
          </a:prstGeom>
          <a:ln w="47625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26833FFA-3AB9-224D-F6F6-BE9384502BF3}"/>
              </a:ext>
            </a:extLst>
          </p:cNvPr>
          <p:cNvSpPr/>
          <p:nvPr/>
        </p:nvSpPr>
        <p:spPr>
          <a:xfrm>
            <a:off x="4522150" y="2263229"/>
            <a:ext cx="1375105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R2: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936C38-E01A-92B7-E519-D23D4014B3B5}"/>
              </a:ext>
            </a:extLst>
          </p:cNvPr>
          <p:cNvSpPr/>
          <p:nvPr/>
        </p:nvSpPr>
        <p:spPr>
          <a:xfrm>
            <a:off x="196997" y="2530878"/>
            <a:ext cx="2679403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Instruction Queue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2663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7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8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9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0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1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 decel="100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50" accel="1000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50" accel="1000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6" grpId="0" autoUpdateAnimBg="0"/>
      <p:bldP spid="25" grpId="0"/>
      <p:bldP spid="28" grpId="0" animBg="1"/>
      <p:bldP spid="31" grpId="0"/>
      <p:bldP spid="39" grpId="0" animBg="1"/>
      <p:bldP spid="40" grpId="0" animBg="1"/>
      <p:bldP spid="6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C1EAF-BA3B-817F-E0C3-EE2488425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AB940-27C2-E02F-BAC8-CE2689F39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 of Order Execution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7B35B-6D64-EF7E-0F7E-347003E0D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80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6AA3CC-95A6-B970-0B01-B64162EE41CC}"/>
              </a:ext>
            </a:extLst>
          </p:cNvPr>
          <p:cNvSpPr/>
          <p:nvPr/>
        </p:nvSpPr>
        <p:spPr>
          <a:xfrm>
            <a:off x="571501" y="3614582"/>
            <a:ext cx="1930399" cy="52387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R1 = R2 + R3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472BD4-EB43-3685-A91B-DF7DC9660F25}"/>
              </a:ext>
            </a:extLst>
          </p:cNvPr>
          <p:cNvSpPr/>
          <p:nvPr/>
        </p:nvSpPr>
        <p:spPr>
          <a:xfrm>
            <a:off x="571501" y="4138457"/>
            <a:ext cx="1930399" cy="52387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R4 = R1 – R2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519940-A53B-C902-A389-0BD8BD13078D}"/>
              </a:ext>
            </a:extLst>
          </p:cNvPr>
          <p:cNvSpPr/>
          <p:nvPr/>
        </p:nvSpPr>
        <p:spPr>
          <a:xfrm>
            <a:off x="571501" y="4663918"/>
            <a:ext cx="1930399" cy="52387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R1 = R2 / R3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AC8DC6-A275-70A5-24F2-562A5B7503A4}"/>
              </a:ext>
            </a:extLst>
          </p:cNvPr>
          <p:cNvSpPr/>
          <p:nvPr/>
        </p:nvSpPr>
        <p:spPr>
          <a:xfrm>
            <a:off x="9368928" y="1687117"/>
            <a:ext cx="1206500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R1: 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43C3AE-B0C6-BE42-3EC7-3EAAD7FF0D74}"/>
              </a:ext>
            </a:extLst>
          </p:cNvPr>
          <p:cNvSpPr/>
          <p:nvPr/>
        </p:nvSpPr>
        <p:spPr>
          <a:xfrm>
            <a:off x="9368928" y="2052242"/>
            <a:ext cx="1206500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R2: -1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F9042B-98E1-2D7A-47DD-AB57CE2475ED}"/>
              </a:ext>
            </a:extLst>
          </p:cNvPr>
          <p:cNvSpPr/>
          <p:nvPr/>
        </p:nvSpPr>
        <p:spPr>
          <a:xfrm>
            <a:off x="9368928" y="2411813"/>
            <a:ext cx="1206500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R3: 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5AB350-80BB-1E0B-5BB2-809E9E736977}"/>
              </a:ext>
            </a:extLst>
          </p:cNvPr>
          <p:cNvSpPr/>
          <p:nvPr/>
        </p:nvSpPr>
        <p:spPr>
          <a:xfrm>
            <a:off x="9368928" y="2776938"/>
            <a:ext cx="1206500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R4: 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9D9BBD-1630-AC28-F717-C18E0FFFB9E7}"/>
              </a:ext>
            </a:extLst>
          </p:cNvPr>
          <p:cNvSpPr/>
          <p:nvPr/>
        </p:nvSpPr>
        <p:spPr>
          <a:xfrm>
            <a:off x="9057778" y="1163242"/>
            <a:ext cx="1841499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Register File</a:t>
            </a:r>
          </a:p>
        </p:txBody>
      </p:sp>
      <p:sp>
        <p:nvSpPr>
          <p:cNvPr id="22" name="Cube 21">
            <a:extLst>
              <a:ext uri="{FF2B5EF4-FFF2-40B4-BE49-F238E27FC236}">
                <a16:creationId xmlns:a16="http://schemas.microsoft.com/office/drawing/2014/main" id="{4685DF79-138C-A128-8A27-09A22454600B}"/>
              </a:ext>
            </a:extLst>
          </p:cNvPr>
          <p:cNvSpPr/>
          <p:nvPr/>
        </p:nvSpPr>
        <p:spPr>
          <a:xfrm>
            <a:off x="4910654" y="5726112"/>
            <a:ext cx="1244600" cy="706438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</a:t>
            </a:r>
            <a:endParaRPr lang="LID4096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71D764E-9C6D-EEB8-C2C4-1456F9E12F7C}"/>
              </a:ext>
            </a:extLst>
          </p:cNvPr>
          <p:cNvSpPr/>
          <p:nvPr/>
        </p:nvSpPr>
        <p:spPr>
          <a:xfrm>
            <a:off x="4075627" y="1377832"/>
            <a:ext cx="2814157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Register Alias Table (RAT)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BA75DC7-4779-8CCF-7CBC-431007A2492F}"/>
              </a:ext>
            </a:extLst>
          </p:cNvPr>
          <p:cNvSpPr/>
          <p:nvPr/>
        </p:nvSpPr>
        <p:spPr>
          <a:xfrm>
            <a:off x="4520260" y="1901707"/>
            <a:ext cx="1375105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R1: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C0CF443-6F39-C50D-3B53-FC13E13B1F19}"/>
              </a:ext>
            </a:extLst>
          </p:cNvPr>
          <p:cNvSpPr/>
          <p:nvPr/>
        </p:nvSpPr>
        <p:spPr>
          <a:xfrm>
            <a:off x="4520260" y="2266832"/>
            <a:ext cx="1375105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R2: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3423C29-0335-20B6-F056-B2C88736C5A6}"/>
              </a:ext>
            </a:extLst>
          </p:cNvPr>
          <p:cNvSpPr/>
          <p:nvPr/>
        </p:nvSpPr>
        <p:spPr>
          <a:xfrm>
            <a:off x="4520260" y="2626403"/>
            <a:ext cx="1375105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R3: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F181130-95B5-FDDE-F227-DF1228536C8E}"/>
              </a:ext>
            </a:extLst>
          </p:cNvPr>
          <p:cNvSpPr/>
          <p:nvPr/>
        </p:nvSpPr>
        <p:spPr>
          <a:xfrm>
            <a:off x="4520260" y="2991528"/>
            <a:ext cx="1375105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R4:</a:t>
            </a:r>
          </a:p>
        </p:txBody>
      </p:sp>
      <p:sp>
        <p:nvSpPr>
          <p:cNvPr id="135" name="Cube 134">
            <a:extLst>
              <a:ext uri="{FF2B5EF4-FFF2-40B4-BE49-F238E27FC236}">
                <a16:creationId xmlns:a16="http://schemas.microsoft.com/office/drawing/2014/main" id="{A22A652A-3D7A-31A0-B2BD-7F29D01D6866}"/>
              </a:ext>
            </a:extLst>
          </p:cNvPr>
          <p:cNvSpPr/>
          <p:nvPr/>
        </p:nvSpPr>
        <p:spPr>
          <a:xfrm>
            <a:off x="8199954" y="4751274"/>
            <a:ext cx="1244600" cy="706438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MUL</a:t>
            </a:r>
            <a:endParaRPr lang="LID4096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9CA2284-1549-A4EF-C8CE-7DD2D108AD81}"/>
              </a:ext>
            </a:extLst>
          </p:cNvPr>
          <p:cNvSpPr/>
          <p:nvPr/>
        </p:nvSpPr>
        <p:spPr>
          <a:xfrm>
            <a:off x="3932917" y="3955445"/>
            <a:ext cx="647701" cy="357427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RS1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F5B93F7-B754-68D3-C695-5619D13374C0}"/>
              </a:ext>
            </a:extLst>
          </p:cNvPr>
          <p:cNvSpPr/>
          <p:nvPr/>
        </p:nvSpPr>
        <p:spPr>
          <a:xfrm>
            <a:off x="3849220" y="4248077"/>
            <a:ext cx="776668" cy="52387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RS2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74CEFA1-83A2-1AF5-9F16-867C83FC68F4}"/>
              </a:ext>
            </a:extLst>
          </p:cNvPr>
          <p:cNvSpPr/>
          <p:nvPr/>
        </p:nvSpPr>
        <p:spPr>
          <a:xfrm>
            <a:off x="3849220" y="4660828"/>
            <a:ext cx="776668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RS3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A44ECB7-DB9F-9E3B-C83D-1D5A0F31099B}"/>
              </a:ext>
            </a:extLst>
          </p:cNvPr>
          <p:cNvGrpSpPr/>
          <p:nvPr/>
        </p:nvGrpSpPr>
        <p:grpSpPr>
          <a:xfrm>
            <a:off x="4561404" y="4716391"/>
            <a:ext cx="2210202" cy="412751"/>
            <a:chOff x="4686300" y="4286249"/>
            <a:chExt cx="2210202" cy="41275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BF5BDA4-921C-91CE-1DAE-A1EFB86F48B6}"/>
                </a:ext>
              </a:extLst>
            </p:cNvPr>
            <p:cNvSpPr/>
            <p:nvPr/>
          </p:nvSpPr>
          <p:spPr>
            <a:xfrm>
              <a:off x="46863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566D05B-43B8-62C2-DDF4-DD4E9423F9AB}"/>
                </a:ext>
              </a:extLst>
            </p:cNvPr>
            <p:cNvSpPr/>
            <p:nvPr/>
          </p:nvSpPr>
          <p:spPr>
            <a:xfrm>
              <a:off x="53340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12AA95A-20A1-CE9D-72DD-53769D781916}"/>
                </a:ext>
              </a:extLst>
            </p:cNvPr>
            <p:cNvSpPr/>
            <p:nvPr/>
          </p:nvSpPr>
          <p:spPr>
            <a:xfrm>
              <a:off x="59817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F273333-31C4-D832-33A7-52A9053D2146}"/>
                </a:ext>
              </a:extLst>
            </p:cNvPr>
            <p:cNvSpPr/>
            <p:nvPr/>
          </p:nvSpPr>
          <p:spPr>
            <a:xfrm>
              <a:off x="6629400" y="4286249"/>
              <a:ext cx="267102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39E29C0-6387-3B3C-2C41-0FEE2F3B429B}"/>
              </a:ext>
            </a:extLst>
          </p:cNvPr>
          <p:cNvGrpSpPr/>
          <p:nvPr/>
        </p:nvGrpSpPr>
        <p:grpSpPr>
          <a:xfrm>
            <a:off x="4561404" y="4303640"/>
            <a:ext cx="2210473" cy="412751"/>
            <a:chOff x="4686300" y="4286249"/>
            <a:chExt cx="2210473" cy="412751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B26A4F7-C1E8-095A-0C78-DDC125A164BA}"/>
                </a:ext>
              </a:extLst>
            </p:cNvPr>
            <p:cNvSpPr/>
            <p:nvPr/>
          </p:nvSpPr>
          <p:spPr>
            <a:xfrm>
              <a:off x="46863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AB7280E-A882-A2EA-C2F0-C8190B862D1B}"/>
                </a:ext>
              </a:extLst>
            </p:cNvPr>
            <p:cNvSpPr/>
            <p:nvPr/>
          </p:nvSpPr>
          <p:spPr>
            <a:xfrm>
              <a:off x="53340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F9C8675-A875-5D72-B95D-7106B11A09BB}"/>
                </a:ext>
              </a:extLst>
            </p:cNvPr>
            <p:cNvSpPr/>
            <p:nvPr/>
          </p:nvSpPr>
          <p:spPr>
            <a:xfrm>
              <a:off x="59817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8180301-7B0F-5010-0039-2F562B6CAC2E}"/>
                </a:ext>
              </a:extLst>
            </p:cNvPr>
            <p:cNvSpPr/>
            <p:nvPr/>
          </p:nvSpPr>
          <p:spPr>
            <a:xfrm>
              <a:off x="6629671" y="4286249"/>
              <a:ext cx="267102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3E16710-7FBC-6606-D000-11CBFF9EC15A}"/>
              </a:ext>
            </a:extLst>
          </p:cNvPr>
          <p:cNvGrpSpPr/>
          <p:nvPr/>
        </p:nvGrpSpPr>
        <p:grpSpPr>
          <a:xfrm>
            <a:off x="4561404" y="3896844"/>
            <a:ext cx="2210202" cy="412751"/>
            <a:chOff x="4686300" y="4286249"/>
            <a:chExt cx="2210202" cy="412751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F1F755A-3366-FB8E-2053-0CB731424DF1}"/>
                </a:ext>
              </a:extLst>
            </p:cNvPr>
            <p:cNvSpPr/>
            <p:nvPr/>
          </p:nvSpPr>
          <p:spPr>
            <a:xfrm>
              <a:off x="46863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>
                <a:solidFill>
                  <a:schemeClr val="tx1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152A279D-CB63-AA6A-EC01-D85FFD8C3CCA}"/>
                </a:ext>
              </a:extLst>
            </p:cNvPr>
            <p:cNvSpPr/>
            <p:nvPr/>
          </p:nvSpPr>
          <p:spPr>
            <a:xfrm>
              <a:off x="53340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>
                <a:solidFill>
                  <a:schemeClr val="tx1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05A503CF-C6EE-0903-72C3-5531D2DD9AC8}"/>
                </a:ext>
              </a:extLst>
            </p:cNvPr>
            <p:cNvSpPr/>
            <p:nvPr/>
          </p:nvSpPr>
          <p:spPr>
            <a:xfrm>
              <a:off x="59817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>
                <a:solidFill>
                  <a:schemeClr val="tx1"/>
                </a:solidFill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719CE5B8-7959-3001-EC40-DDEFDE08344D}"/>
                </a:ext>
              </a:extLst>
            </p:cNvPr>
            <p:cNvSpPr/>
            <p:nvPr/>
          </p:nvSpPr>
          <p:spPr>
            <a:xfrm>
              <a:off x="6629919" y="4286249"/>
              <a:ext cx="266583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20928ADE-7611-AFD1-22C5-00C5906E369F}"/>
              </a:ext>
            </a:extLst>
          </p:cNvPr>
          <p:cNvGrpSpPr/>
          <p:nvPr/>
        </p:nvGrpSpPr>
        <p:grpSpPr>
          <a:xfrm>
            <a:off x="7836045" y="4052852"/>
            <a:ext cx="1943100" cy="412751"/>
            <a:chOff x="4686300" y="4286249"/>
            <a:chExt cx="1943100" cy="412751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A86F01DB-3686-DBF3-0CEF-8D6F2F523634}"/>
                </a:ext>
              </a:extLst>
            </p:cNvPr>
            <p:cNvSpPr/>
            <p:nvPr/>
          </p:nvSpPr>
          <p:spPr>
            <a:xfrm>
              <a:off x="46863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181489BA-26C8-3905-8CC0-7530DB588876}"/>
                </a:ext>
              </a:extLst>
            </p:cNvPr>
            <p:cNvSpPr/>
            <p:nvPr/>
          </p:nvSpPr>
          <p:spPr>
            <a:xfrm>
              <a:off x="53340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79BCE0A7-DB24-BD9A-5067-089FF80276B5}"/>
                </a:ext>
              </a:extLst>
            </p:cNvPr>
            <p:cNvSpPr/>
            <p:nvPr/>
          </p:nvSpPr>
          <p:spPr>
            <a:xfrm>
              <a:off x="59817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</p:grpSp>
      <p:sp>
        <p:nvSpPr>
          <p:cNvPr id="141" name="Rectangle 140">
            <a:extLst>
              <a:ext uri="{FF2B5EF4-FFF2-40B4-BE49-F238E27FC236}">
                <a16:creationId xmlns:a16="http://schemas.microsoft.com/office/drawing/2014/main" id="{7158B868-7957-610D-82A7-E1BF89906E04}"/>
              </a:ext>
            </a:extLst>
          </p:cNvPr>
          <p:cNvSpPr/>
          <p:nvPr/>
        </p:nvSpPr>
        <p:spPr>
          <a:xfrm>
            <a:off x="7836045" y="3640101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C5A1980-E27E-D287-410E-586CC28B27C7}"/>
              </a:ext>
            </a:extLst>
          </p:cNvPr>
          <p:cNvSpPr/>
          <p:nvPr/>
        </p:nvSpPr>
        <p:spPr>
          <a:xfrm>
            <a:off x="8483745" y="3640101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D8154792-0BA8-2F44-4441-B22E5CC6E3F2}"/>
              </a:ext>
            </a:extLst>
          </p:cNvPr>
          <p:cNvSpPr/>
          <p:nvPr/>
        </p:nvSpPr>
        <p:spPr>
          <a:xfrm>
            <a:off x="9131445" y="3640101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BC131B9-BD1A-D457-C74D-C38CD55CFB05}"/>
              </a:ext>
            </a:extLst>
          </p:cNvPr>
          <p:cNvSpPr/>
          <p:nvPr/>
        </p:nvSpPr>
        <p:spPr>
          <a:xfrm>
            <a:off x="7836045" y="3640101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/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64CA29C-A4A3-AE57-71CF-13B5809EFCF2}"/>
              </a:ext>
            </a:extLst>
          </p:cNvPr>
          <p:cNvSpPr/>
          <p:nvPr/>
        </p:nvSpPr>
        <p:spPr>
          <a:xfrm>
            <a:off x="7149708" y="3584538"/>
            <a:ext cx="776668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RS4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B12AAF98-0014-BFF9-4F76-E59D7E301669}"/>
              </a:ext>
            </a:extLst>
          </p:cNvPr>
          <p:cNvSpPr/>
          <p:nvPr/>
        </p:nvSpPr>
        <p:spPr>
          <a:xfrm>
            <a:off x="7149708" y="4008072"/>
            <a:ext cx="776668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RS5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351F14-1C5A-0013-1151-CCD5E76695D3}"/>
              </a:ext>
            </a:extLst>
          </p:cNvPr>
          <p:cNvSpPr/>
          <p:nvPr/>
        </p:nvSpPr>
        <p:spPr>
          <a:xfrm>
            <a:off x="4560112" y="3899678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+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FBC39B-69D7-765F-A4C3-CF61F10429A6}"/>
              </a:ext>
            </a:extLst>
          </p:cNvPr>
          <p:cNvSpPr/>
          <p:nvPr/>
        </p:nvSpPr>
        <p:spPr>
          <a:xfrm>
            <a:off x="5208458" y="3899532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F3C9A0-B009-4248-E48B-5364E398D2C9}"/>
              </a:ext>
            </a:extLst>
          </p:cNvPr>
          <p:cNvSpPr/>
          <p:nvPr/>
        </p:nvSpPr>
        <p:spPr>
          <a:xfrm>
            <a:off x="5857528" y="3899532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D90092-28C6-5610-9D7E-DE3B97D3FA2B}"/>
              </a:ext>
            </a:extLst>
          </p:cNvPr>
          <p:cNvSpPr/>
          <p:nvPr/>
        </p:nvSpPr>
        <p:spPr>
          <a:xfrm>
            <a:off x="6505726" y="3897253"/>
            <a:ext cx="266583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15C2A1-072A-A901-23CF-B0DB5A0E2B86}"/>
              </a:ext>
            </a:extLst>
          </p:cNvPr>
          <p:cNvSpPr/>
          <p:nvPr/>
        </p:nvSpPr>
        <p:spPr>
          <a:xfrm>
            <a:off x="4520259" y="2263229"/>
            <a:ext cx="1375105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R2: RS1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76EFEE6-CC45-9910-879B-AF7731137E42}"/>
              </a:ext>
            </a:extLst>
          </p:cNvPr>
          <p:cNvSpPr/>
          <p:nvPr/>
        </p:nvSpPr>
        <p:spPr>
          <a:xfrm>
            <a:off x="8486993" y="3640101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R2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622F4BE-F1AC-B98B-3A2B-D47BE57789F7}"/>
              </a:ext>
            </a:extLst>
          </p:cNvPr>
          <p:cNvSpPr/>
          <p:nvPr/>
        </p:nvSpPr>
        <p:spPr>
          <a:xfrm>
            <a:off x="9137257" y="3640101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R3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D0330F3-6839-CB14-5693-28B3D90E690F}"/>
              </a:ext>
            </a:extLst>
          </p:cNvPr>
          <p:cNvSpPr/>
          <p:nvPr/>
        </p:nvSpPr>
        <p:spPr>
          <a:xfrm>
            <a:off x="9132253" y="3640101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A64DEE1-967D-3F29-3CF6-9B2A2EEEE9D5}"/>
              </a:ext>
            </a:extLst>
          </p:cNvPr>
          <p:cNvSpPr/>
          <p:nvPr/>
        </p:nvSpPr>
        <p:spPr>
          <a:xfrm>
            <a:off x="8482937" y="3640101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RS1</a:t>
            </a:r>
            <a:endParaRPr lang="LID4096" dirty="0">
              <a:solidFill>
                <a:schemeClr val="tx1"/>
              </a:solidFill>
            </a:endParaRP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CFC62777-1E17-0EF7-5789-4803494023DD}"/>
              </a:ext>
            </a:extLst>
          </p:cNvPr>
          <p:cNvCxnSpPr>
            <a:cxnSpLocks/>
            <a:stCxn id="22" idx="4"/>
            <a:endCxn id="17" idx="3"/>
          </p:cNvCxnSpPr>
          <p:nvPr/>
        </p:nvCxnSpPr>
        <p:spPr>
          <a:xfrm flipV="1">
            <a:off x="5978645" y="2234805"/>
            <a:ext cx="4596783" cy="3932831"/>
          </a:xfrm>
          <a:prstGeom prst="bentConnector3">
            <a:avLst>
              <a:gd name="adj1" fmla="val 119096"/>
            </a:avLst>
          </a:prstGeom>
          <a:ln w="47625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179DD91-ECE4-FB78-F665-E353B15B46B2}"/>
              </a:ext>
            </a:extLst>
          </p:cNvPr>
          <p:cNvSpPr/>
          <p:nvPr/>
        </p:nvSpPr>
        <p:spPr>
          <a:xfrm>
            <a:off x="6478657" y="5607517"/>
            <a:ext cx="2004279" cy="615551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1"/>
                </a:solidFill>
                <a:latin typeface="+mj-lt"/>
              </a:rPr>
              <a:t>Broadcast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44E03F-D66D-7A31-23BB-CED5B28BC567}"/>
              </a:ext>
            </a:extLst>
          </p:cNvPr>
          <p:cNvSpPr/>
          <p:nvPr/>
        </p:nvSpPr>
        <p:spPr>
          <a:xfrm>
            <a:off x="9369204" y="2052242"/>
            <a:ext cx="1206500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R2: 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BC518B2-7C7C-0CF0-234F-C9188F5730C4}"/>
              </a:ext>
            </a:extLst>
          </p:cNvPr>
          <p:cNvSpPr/>
          <p:nvPr/>
        </p:nvSpPr>
        <p:spPr>
          <a:xfrm>
            <a:off x="10459599" y="1565475"/>
            <a:ext cx="2004279" cy="615551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1"/>
                </a:solidFill>
                <a:latin typeface="+mj-lt"/>
              </a:rPr>
              <a:t>Commit</a:t>
            </a: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98A98208-7F0C-4021-4F7D-E9A9B5453809}"/>
              </a:ext>
            </a:extLst>
          </p:cNvPr>
          <p:cNvCxnSpPr>
            <a:cxnSpLocks/>
            <a:endCxn id="47" idx="0"/>
          </p:cNvCxnSpPr>
          <p:nvPr/>
        </p:nvCxnSpPr>
        <p:spPr>
          <a:xfrm rot="10800000" flipV="1">
            <a:off x="8806787" y="3437443"/>
            <a:ext cx="2649052" cy="202657"/>
          </a:xfrm>
          <a:prstGeom prst="bentConnector2">
            <a:avLst/>
          </a:prstGeom>
          <a:ln w="47625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92B325FD-D406-A4CF-B9F5-56F938E9F49D}"/>
              </a:ext>
            </a:extLst>
          </p:cNvPr>
          <p:cNvSpPr/>
          <p:nvPr/>
        </p:nvSpPr>
        <p:spPr>
          <a:xfrm>
            <a:off x="8477933" y="3640101"/>
            <a:ext cx="647700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7A2DA19-23DD-20DE-1A4D-1B9345E1EBAC}"/>
              </a:ext>
            </a:extLst>
          </p:cNvPr>
          <p:cNvSpPr/>
          <p:nvPr/>
        </p:nvSpPr>
        <p:spPr>
          <a:xfrm>
            <a:off x="9779243" y="3638727"/>
            <a:ext cx="266583" cy="4127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</a:t>
            </a:r>
            <a:endParaRPr lang="LID4096" dirty="0">
              <a:solidFill>
                <a:schemeClr val="tx1"/>
              </a:solidFill>
            </a:endParaRPr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F661F28E-8FC9-4B53-192D-BD7D2CF58B0A}"/>
              </a:ext>
            </a:extLst>
          </p:cNvPr>
          <p:cNvCxnSpPr>
            <a:cxnSpLocks/>
            <a:endCxn id="26" idx="3"/>
          </p:cNvCxnSpPr>
          <p:nvPr/>
        </p:nvCxnSpPr>
        <p:spPr>
          <a:xfrm rot="10800000">
            <a:off x="5895365" y="2445792"/>
            <a:ext cx="3990653" cy="990704"/>
          </a:xfrm>
          <a:prstGeom prst="bentConnector3">
            <a:avLst>
              <a:gd name="adj1" fmla="val 50000"/>
            </a:avLst>
          </a:prstGeom>
          <a:ln w="47625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ED67E8E8-2737-1A8D-AC7B-ED1DA8DEED4B}"/>
              </a:ext>
            </a:extLst>
          </p:cNvPr>
          <p:cNvSpPr/>
          <p:nvPr/>
        </p:nvSpPr>
        <p:spPr>
          <a:xfrm>
            <a:off x="4522150" y="2263229"/>
            <a:ext cx="1375105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R2: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6F263B-0344-D1D5-24BA-0F092E673C82}"/>
              </a:ext>
            </a:extLst>
          </p:cNvPr>
          <p:cNvSpPr/>
          <p:nvPr/>
        </p:nvSpPr>
        <p:spPr>
          <a:xfrm>
            <a:off x="948422" y="1425179"/>
            <a:ext cx="1168399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1"/>
                </a:solidFill>
                <a:latin typeface="+mj-lt"/>
              </a:rPr>
              <a:t>Fetch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816F050-8CD1-3B07-4C46-08D7DFF86BA8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1532622" y="1949054"/>
            <a:ext cx="0" cy="1407162"/>
          </a:xfrm>
          <a:prstGeom prst="straightConnector1">
            <a:avLst/>
          </a:prstGeom>
          <a:ln w="476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A9E8513-EF44-EEB2-C768-8C169DA6CDD0}"/>
              </a:ext>
            </a:extLst>
          </p:cNvPr>
          <p:cNvSpPr/>
          <p:nvPr/>
        </p:nvSpPr>
        <p:spPr>
          <a:xfrm>
            <a:off x="811048" y="1939686"/>
            <a:ext cx="1272205" cy="1684265"/>
          </a:xfrm>
          <a:custGeom>
            <a:avLst/>
            <a:gdLst>
              <a:gd name="csX0" fmla="*/ 0 w 1513377"/>
              <a:gd name="csY0" fmla="*/ 273127 h 1670127"/>
              <a:gd name="csX1" fmla="*/ 1117600 w 1513377"/>
              <a:gd name="csY1" fmla="*/ 25477 h 1670127"/>
              <a:gd name="csX2" fmla="*/ 1111250 w 1513377"/>
              <a:gd name="csY2" fmla="*/ 819227 h 1670127"/>
              <a:gd name="csX3" fmla="*/ 425450 w 1513377"/>
              <a:gd name="csY3" fmla="*/ 609677 h 1670127"/>
              <a:gd name="csX4" fmla="*/ 1511300 w 1513377"/>
              <a:gd name="csY4" fmla="*/ 101677 h 1670127"/>
              <a:gd name="csX5" fmla="*/ 692150 w 1513377"/>
              <a:gd name="csY5" fmla="*/ 1270077 h 1670127"/>
              <a:gd name="csX6" fmla="*/ 419100 w 1513377"/>
              <a:gd name="csY6" fmla="*/ 946227 h 1670127"/>
              <a:gd name="csX7" fmla="*/ 1104900 w 1513377"/>
              <a:gd name="csY7" fmla="*/ 1270077 h 1670127"/>
              <a:gd name="csX8" fmla="*/ 1225550 w 1513377"/>
              <a:gd name="csY8" fmla="*/ 1670127 h 1670127"/>
              <a:gd name="csX9" fmla="*/ 1416050 w 1513377"/>
              <a:gd name="csY9" fmla="*/ 1270077 h 1670127"/>
              <a:gd name="csX10" fmla="*/ 1365250 w 1513377"/>
              <a:gd name="csY10" fmla="*/ 1035127 h 1670127"/>
              <a:gd name="csX0" fmla="*/ 0 w 1513377"/>
              <a:gd name="csY0" fmla="*/ 273127 h 1681534"/>
              <a:gd name="csX1" fmla="*/ 1117600 w 1513377"/>
              <a:gd name="csY1" fmla="*/ 25477 h 1681534"/>
              <a:gd name="csX2" fmla="*/ 1111250 w 1513377"/>
              <a:gd name="csY2" fmla="*/ 819227 h 1681534"/>
              <a:gd name="csX3" fmla="*/ 425450 w 1513377"/>
              <a:gd name="csY3" fmla="*/ 609677 h 1681534"/>
              <a:gd name="csX4" fmla="*/ 1511300 w 1513377"/>
              <a:gd name="csY4" fmla="*/ 101677 h 1681534"/>
              <a:gd name="csX5" fmla="*/ 692150 w 1513377"/>
              <a:gd name="csY5" fmla="*/ 1270077 h 1681534"/>
              <a:gd name="csX6" fmla="*/ 419100 w 1513377"/>
              <a:gd name="csY6" fmla="*/ 946227 h 1681534"/>
              <a:gd name="csX7" fmla="*/ 1104900 w 1513377"/>
              <a:gd name="csY7" fmla="*/ 1270077 h 1681534"/>
              <a:gd name="csX8" fmla="*/ 1225550 w 1513377"/>
              <a:gd name="csY8" fmla="*/ 1670127 h 1681534"/>
              <a:gd name="csX9" fmla="*/ 1416050 w 1513377"/>
              <a:gd name="csY9" fmla="*/ 1270077 h 1681534"/>
              <a:gd name="csX10" fmla="*/ 1028700 w 1513377"/>
              <a:gd name="csY10" fmla="*/ 1676477 h 1681534"/>
              <a:gd name="csX0" fmla="*/ 0 w 1513377"/>
              <a:gd name="csY0" fmla="*/ 273127 h 1832931"/>
              <a:gd name="csX1" fmla="*/ 1117600 w 1513377"/>
              <a:gd name="csY1" fmla="*/ 25477 h 1832931"/>
              <a:gd name="csX2" fmla="*/ 1111250 w 1513377"/>
              <a:gd name="csY2" fmla="*/ 819227 h 1832931"/>
              <a:gd name="csX3" fmla="*/ 425450 w 1513377"/>
              <a:gd name="csY3" fmla="*/ 609677 h 1832931"/>
              <a:gd name="csX4" fmla="*/ 1511300 w 1513377"/>
              <a:gd name="csY4" fmla="*/ 101677 h 1832931"/>
              <a:gd name="csX5" fmla="*/ 692150 w 1513377"/>
              <a:gd name="csY5" fmla="*/ 1270077 h 1832931"/>
              <a:gd name="csX6" fmla="*/ 419100 w 1513377"/>
              <a:gd name="csY6" fmla="*/ 946227 h 1832931"/>
              <a:gd name="csX7" fmla="*/ 1104900 w 1513377"/>
              <a:gd name="csY7" fmla="*/ 1270077 h 1832931"/>
              <a:gd name="csX8" fmla="*/ 1225550 w 1513377"/>
              <a:gd name="csY8" fmla="*/ 1670127 h 1832931"/>
              <a:gd name="csX9" fmla="*/ 1416050 w 1513377"/>
              <a:gd name="csY9" fmla="*/ 1270077 h 1832931"/>
              <a:gd name="csX10" fmla="*/ 1377950 w 1513377"/>
              <a:gd name="csY10" fmla="*/ 1828876 h 1832931"/>
              <a:gd name="csX0" fmla="*/ 651313 w 1110590"/>
              <a:gd name="csY0" fmla="*/ 50425 h 2169030"/>
              <a:gd name="csX1" fmla="*/ 714813 w 1110590"/>
              <a:gd name="csY1" fmla="*/ 361576 h 2169030"/>
              <a:gd name="csX2" fmla="*/ 708463 w 1110590"/>
              <a:gd name="csY2" fmla="*/ 1155326 h 2169030"/>
              <a:gd name="csX3" fmla="*/ 22663 w 1110590"/>
              <a:gd name="csY3" fmla="*/ 945776 h 2169030"/>
              <a:gd name="csX4" fmla="*/ 1108513 w 1110590"/>
              <a:gd name="csY4" fmla="*/ 437776 h 2169030"/>
              <a:gd name="csX5" fmla="*/ 289363 w 1110590"/>
              <a:gd name="csY5" fmla="*/ 1606176 h 2169030"/>
              <a:gd name="csX6" fmla="*/ 16313 w 1110590"/>
              <a:gd name="csY6" fmla="*/ 1282326 h 2169030"/>
              <a:gd name="csX7" fmla="*/ 702113 w 1110590"/>
              <a:gd name="csY7" fmla="*/ 1606176 h 2169030"/>
              <a:gd name="csX8" fmla="*/ 822763 w 1110590"/>
              <a:gd name="csY8" fmla="*/ 2006226 h 2169030"/>
              <a:gd name="csX9" fmla="*/ 1013263 w 1110590"/>
              <a:gd name="csY9" fmla="*/ 1606176 h 2169030"/>
              <a:gd name="csX10" fmla="*/ 975163 w 1110590"/>
              <a:gd name="csY10" fmla="*/ 2164975 h 2169030"/>
              <a:gd name="csX0" fmla="*/ 708462 w 1110590"/>
              <a:gd name="csY0" fmla="*/ 37303 h 2340058"/>
              <a:gd name="csX1" fmla="*/ 714813 w 1110590"/>
              <a:gd name="csY1" fmla="*/ 532604 h 2340058"/>
              <a:gd name="csX2" fmla="*/ 708463 w 1110590"/>
              <a:gd name="csY2" fmla="*/ 1326354 h 2340058"/>
              <a:gd name="csX3" fmla="*/ 22663 w 1110590"/>
              <a:gd name="csY3" fmla="*/ 1116804 h 2340058"/>
              <a:gd name="csX4" fmla="*/ 1108513 w 1110590"/>
              <a:gd name="csY4" fmla="*/ 608804 h 2340058"/>
              <a:gd name="csX5" fmla="*/ 289363 w 1110590"/>
              <a:gd name="csY5" fmla="*/ 1777204 h 2340058"/>
              <a:gd name="csX6" fmla="*/ 16313 w 1110590"/>
              <a:gd name="csY6" fmla="*/ 1453354 h 2340058"/>
              <a:gd name="csX7" fmla="*/ 702113 w 1110590"/>
              <a:gd name="csY7" fmla="*/ 1777204 h 2340058"/>
              <a:gd name="csX8" fmla="*/ 822763 w 1110590"/>
              <a:gd name="csY8" fmla="*/ 2177254 h 2340058"/>
              <a:gd name="csX9" fmla="*/ 1013263 w 1110590"/>
              <a:gd name="csY9" fmla="*/ 1777204 h 2340058"/>
              <a:gd name="csX10" fmla="*/ 975163 w 1110590"/>
              <a:gd name="csY10" fmla="*/ 2336003 h 2340058"/>
              <a:gd name="csX0" fmla="*/ 708462 w 1158432"/>
              <a:gd name="csY0" fmla="*/ 36383 h 2339138"/>
              <a:gd name="csX1" fmla="*/ 714813 w 1158432"/>
              <a:gd name="csY1" fmla="*/ 531684 h 2339138"/>
              <a:gd name="csX2" fmla="*/ 1140262 w 1158432"/>
              <a:gd name="csY2" fmla="*/ 1230183 h 2339138"/>
              <a:gd name="csX3" fmla="*/ 22663 w 1158432"/>
              <a:gd name="csY3" fmla="*/ 1115884 h 2339138"/>
              <a:gd name="csX4" fmla="*/ 1108513 w 1158432"/>
              <a:gd name="csY4" fmla="*/ 607884 h 2339138"/>
              <a:gd name="csX5" fmla="*/ 289363 w 1158432"/>
              <a:gd name="csY5" fmla="*/ 1776284 h 2339138"/>
              <a:gd name="csX6" fmla="*/ 16313 w 1158432"/>
              <a:gd name="csY6" fmla="*/ 1452434 h 2339138"/>
              <a:gd name="csX7" fmla="*/ 702113 w 1158432"/>
              <a:gd name="csY7" fmla="*/ 1776284 h 2339138"/>
              <a:gd name="csX8" fmla="*/ 822763 w 1158432"/>
              <a:gd name="csY8" fmla="*/ 2176334 h 2339138"/>
              <a:gd name="csX9" fmla="*/ 1013263 w 1158432"/>
              <a:gd name="csY9" fmla="*/ 1776284 h 2339138"/>
              <a:gd name="csX10" fmla="*/ 975163 w 1158432"/>
              <a:gd name="csY10" fmla="*/ 2335083 h 2339138"/>
              <a:gd name="csX0" fmla="*/ 708462 w 1158432"/>
              <a:gd name="csY0" fmla="*/ 0 h 2302755"/>
              <a:gd name="csX1" fmla="*/ 714813 w 1158432"/>
              <a:gd name="csY1" fmla="*/ 495301 h 2302755"/>
              <a:gd name="csX2" fmla="*/ 1140262 w 1158432"/>
              <a:gd name="csY2" fmla="*/ 1193800 h 2302755"/>
              <a:gd name="csX3" fmla="*/ 22663 w 1158432"/>
              <a:gd name="csY3" fmla="*/ 1079501 h 2302755"/>
              <a:gd name="csX4" fmla="*/ 1108513 w 1158432"/>
              <a:gd name="csY4" fmla="*/ 571501 h 2302755"/>
              <a:gd name="csX5" fmla="*/ 289363 w 1158432"/>
              <a:gd name="csY5" fmla="*/ 1739901 h 2302755"/>
              <a:gd name="csX6" fmla="*/ 16313 w 1158432"/>
              <a:gd name="csY6" fmla="*/ 1416051 h 2302755"/>
              <a:gd name="csX7" fmla="*/ 702113 w 1158432"/>
              <a:gd name="csY7" fmla="*/ 1739901 h 2302755"/>
              <a:gd name="csX8" fmla="*/ 822763 w 1158432"/>
              <a:gd name="csY8" fmla="*/ 2139951 h 2302755"/>
              <a:gd name="csX9" fmla="*/ 1013263 w 1158432"/>
              <a:gd name="csY9" fmla="*/ 1739901 h 2302755"/>
              <a:gd name="csX10" fmla="*/ 975163 w 1158432"/>
              <a:gd name="csY10" fmla="*/ 2298700 h 2302755"/>
              <a:gd name="csX0" fmla="*/ 708462 w 1247831"/>
              <a:gd name="csY0" fmla="*/ 0 h 2302755"/>
              <a:gd name="csX1" fmla="*/ 714813 w 1247831"/>
              <a:gd name="csY1" fmla="*/ 495301 h 2302755"/>
              <a:gd name="csX2" fmla="*/ 1140262 w 1247831"/>
              <a:gd name="csY2" fmla="*/ 1193800 h 2302755"/>
              <a:gd name="csX3" fmla="*/ 22663 w 1247831"/>
              <a:gd name="csY3" fmla="*/ 1079501 h 2302755"/>
              <a:gd name="csX4" fmla="*/ 1108513 w 1247831"/>
              <a:gd name="csY4" fmla="*/ 571501 h 2302755"/>
              <a:gd name="csX5" fmla="*/ 289363 w 1247831"/>
              <a:gd name="csY5" fmla="*/ 1739901 h 2302755"/>
              <a:gd name="csX6" fmla="*/ 16313 w 1247831"/>
              <a:gd name="csY6" fmla="*/ 1416051 h 2302755"/>
              <a:gd name="csX7" fmla="*/ 702113 w 1247831"/>
              <a:gd name="csY7" fmla="*/ 1739901 h 2302755"/>
              <a:gd name="csX8" fmla="*/ 1241862 w 1247831"/>
              <a:gd name="csY8" fmla="*/ 1460500 h 2302755"/>
              <a:gd name="csX9" fmla="*/ 1013263 w 1247831"/>
              <a:gd name="csY9" fmla="*/ 1739901 h 2302755"/>
              <a:gd name="csX10" fmla="*/ 975163 w 1247831"/>
              <a:gd name="csY10" fmla="*/ 2298700 h 2302755"/>
              <a:gd name="csX0" fmla="*/ 708462 w 1247831"/>
              <a:gd name="csY0" fmla="*/ 0 h 2303121"/>
              <a:gd name="csX1" fmla="*/ 714813 w 1247831"/>
              <a:gd name="csY1" fmla="*/ 495301 h 2303121"/>
              <a:gd name="csX2" fmla="*/ 1140262 w 1247831"/>
              <a:gd name="csY2" fmla="*/ 1193800 h 2303121"/>
              <a:gd name="csX3" fmla="*/ 22663 w 1247831"/>
              <a:gd name="csY3" fmla="*/ 1079501 h 2303121"/>
              <a:gd name="csX4" fmla="*/ 1108513 w 1247831"/>
              <a:gd name="csY4" fmla="*/ 571501 h 2303121"/>
              <a:gd name="csX5" fmla="*/ 289363 w 1247831"/>
              <a:gd name="csY5" fmla="*/ 1739901 h 2303121"/>
              <a:gd name="csX6" fmla="*/ 16313 w 1247831"/>
              <a:gd name="csY6" fmla="*/ 1416051 h 2303121"/>
              <a:gd name="csX7" fmla="*/ 702113 w 1247831"/>
              <a:gd name="csY7" fmla="*/ 1739901 h 2303121"/>
              <a:gd name="csX8" fmla="*/ 1241862 w 1247831"/>
              <a:gd name="csY8" fmla="*/ 1460500 h 2303121"/>
              <a:gd name="csX9" fmla="*/ 1013263 w 1247831"/>
              <a:gd name="csY9" fmla="*/ 1803696 h 2303121"/>
              <a:gd name="csX10" fmla="*/ 975163 w 1247831"/>
              <a:gd name="csY10" fmla="*/ 2298700 h 2303121"/>
              <a:gd name="csX0" fmla="*/ 708462 w 1272205"/>
              <a:gd name="csY0" fmla="*/ 0 h 2303121"/>
              <a:gd name="csX1" fmla="*/ 714813 w 1272205"/>
              <a:gd name="csY1" fmla="*/ 495301 h 2303121"/>
              <a:gd name="csX2" fmla="*/ 1140262 w 1272205"/>
              <a:gd name="csY2" fmla="*/ 1193800 h 2303121"/>
              <a:gd name="csX3" fmla="*/ 22663 w 1272205"/>
              <a:gd name="csY3" fmla="*/ 1079501 h 2303121"/>
              <a:gd name="csX4" fmla="*/ 1108513 w 1272205"/>
              <a:gd name="csY4" fmla="*/ 571501 h 2303121"/>
              <a:gd name="csX5" fmla="*/ 289363 w 1272205"/>
              <a:gd name="csY5" fmla="*/ 1739901 h 2303121"/>
              <a:gd name="csX6" fmla="*/ 16313 w 1272205"/>
              <a:gd name="csY6" fmla="*/ 1416051 h 2303121"/>
              <a:gd name="csX7" fmla="*/ 702113 w 1272205"/>
              <a:gd name="csY7" fmla="*/ 1739901 h 2303121"/>
              <a:gd name="csX8" fmla="*/ 1241862 w 1272205"/>
              <a:gd name="csY8" fmla="*/ 1460500 h 2303121"/>
              <a:gd name="csX9" fmla="*/ 1013263 w 1272205"/>
              <a:gd name="csY9" fmla="*/ 1803696 h 2303121"/>
              <a:gd name="csX10" fmla="*/ 975163 w 1272205"/>
              <a:gd name="csY10" fmla="*/ 2298700 h 2303121"/>
              <a:gd name="csX0" fmla="*/ 708462 w 1272205"/>
              <a:gd name="csY0" fmla="*/ 0 h 2308101"/>
              <a:gd name="csX1" fmla="*/ 714813 w 1272205"/>
              <a:gd name="csY1" fmla="*/ 495301 h 2308101"/>
              <a:gd name="csX2" fmla="*/ 1140262 w 1272205"/>
              <a:gd name="csY2" fmla="*/ 1193800 h 2308101"/>
              <a:gd name="csX3" fmla="*/ 22663 w 1272205"/>
              <a:gd name="csY3" fmla="*/ 1079501 h 2308101"/>
              <a:gd name="csX4" fmla="*/ 1108513 w 1272205"/>
              <a:gd name="csY4" fmla="*/ 571501 h 2308101"/>
              <a:gd name="csX5" fmla="*/ 289363 w 1272205"/>
              <a:gd name="csY5" fmla="*/ 1739901 h 2308101"/>
              <a:gd name="csX6" fmla="*/ 16313 w 1272205"/>
              <a:gd name="csY6" fmla="*/ 1416051 h 2308101"/>
              <a:gd name="csX7" fmla="*/ 702113 w 1272205"/>
              <a:gd name="csY7" fmla="*/ 1739901 h 2308101"/>
              <a:gd name="csX8" fmla="*/ 1241862 w 1272205"/>
              <a:gd name="csY8" fmla="*/ 1460500 h 2308101"/>
              <a:gd name="csX9" fmla="*/ 1013263 w 1272205"/>
              <a:gd name="csY9" fmla="*/ 1803696 h 2308101"/>
              <a:gd name="csX10" fmla="*/ 975163 w 1272205"/>
              <a:gd name="csY10" fmla="*/ 2298700 h 2308101"/>
              <a:gd name="csX0" fmla="*/ 708462 w 1272205"/>
              <a:gd name="csY0" fmla="*/ 0 h 2305739"/>
              <a:gd name="csX1" fmla="*/ 714813 w 1272205"/>
              <a:gd name="csY1" fmla="*/ 495301 h 2305739"/>
              <a:gd name="csX2" fmla="*/ 1140262 w 1272205"/>
              <a:gd name="csY2" fmla="*/ 1193800 h 2305739"/>
              <a:gd name="csX3" fmla="*/ 22663 w 1272205"/>
              <a:gd name="csY3" fmla="*/ 1079501 h 2305739"/>
              <a:gd name="csX4" fmla="*/ 1108513 w 1272205"/>
              <a:gd name="csY4" fmla="*/ 571501 h 2305739"/>
              <a:gd name="csX5" fmla="*/ 289363 w 1272205"/>
              <a:gd name="csY5" fmla="*/ 1739901 h 2305739"/>
              <a:gd name="csX6" fmla="*/ 16313 w 1272205"/>
              <a:gd name="csY6" fmla="*/ 1416051 h 2305739"/>
              <a:gd name="csX7" fmla="*/ 702113 w 1272205"/>
              <a:gd name="csY7" fmla="*/ 1739901 h 2305739"/>
              <a:gd name="csX8" fmla="*/ 1241862 w 1272205"/>
              <a:gd name="csY8" fmla="*/ 1460500 h 2305739"/>
              <a:gd name="csX9" fmla="*/ 1013263 w 1272205"/>
              <a:gd name="csY9" fmla="*/ 1803696 h 2305739"/>
              <a:gd name="csX10" fmla="*/ 975163 w 1272205"/>
              <a:gd name="csY10" fmla="*/ 2298700 h 2305739"/>
              <a:gd name="csX0" fmla="*/ 708462 w 1272205"/>
              <a:gd name="csY0" fmla="*/ 0 h 2315369"/>
              <a:gd name="csX1" fmla="*/ 714813 w 1272205"/>
              <a:gd name="csY1" fmla="*/ 495301 h 2315369"/>
              <a:gd name="csX2" fmla="*/ 1140262 w 1272205"/>
              <a:gd name="csY2" fmla="*/ 1193800 h 2315369"/>
              <a:gd name="csX3" fmla="*/ 22663 w 1272205"/>
              <a:gd name="csY3" fmla="*/ 1079501 h 2315369"/>
              <a:gd name="csX4" fmla="*/ 1108513 w 1272205"/>
              <a:gd name="csY4" fmla="*/ 571501 h 2315369"/>
              <a:gd name="csX5" fmla="*/ 289363 w 1272205"/>
              <a:gd name="csY5" fmla="*/ 1739901 h 2315369"/>
              <a:gd name="csX6" fmla="*/ 16313 w 1272205"/>
              <a:gd name="csY6" fmla="*/ 1416051 h 2315369"/>
              <a:gd name="csX7" fmla="*/ 702113 w 1272205"/>
              <a:gd name="csY7" fmla="*/ 1739901 h 2315369"/>
              <a:gd name="csX8" fmla="*/ 1241862 w 1272205"/>
              <a:gd name="csY8" fmla="*/ 1460500 h 2315369"/>
              <a:gd name="csX9" fmla="*/ 1013263 w 1272205"/>
              <a:gd name="csY9" fmla="*/ 1803696 h 2315369"/>
              <a:gd name="csX10" fmla="*/ 906705 w 1272205"/>
              <a:gd name="csY10" fmla="*/ 2308480 h 23153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72205" h="2315369">
                <a:moveTo>
                  <a:pt x="708462" y="0"/>
                </a:moveTo>
                <a:cubicBezTo>
                  <a:pt x="727512" y="190500"/>
                  <a:pt x="642846" y="296334"/>
                  <a:pt x="714813" y="495301"/>
                </a:cubicBezTo>
                <a:cubicBezTo>
                  <a:pt x="786780" y="694268"/>
                  <a:pt x="1255620" y="1096433"/>
                  <a:pt x="1140262" y="1193800"/>
                </a:cubicBezTo>
                <a:cubicBezTo>
                  <a:pt x="1024904" y="1291167"/>
                  <a:pt x="27955" y="1183218"/>
                  <a:pt x="22663" y="1079501"/>
                </a:cubicBezTo>
                <a:cubicBezTo>
                  <a:pt x="17372" y="975785"/>
                  <a:pt x="1064063" y="461435"/>
                  <a:pt x="1108513" y="571501"/>
                </a:cubicBezTo>
                <a:cubicBezTo>
                  <a:pt x="1152963" y="681567"/>
                  <a:pt x="471396" y="1599143"/>
                  <a:pt x="289363" y="1739901"/>
                </a:cubicBezTo>
                <a:cubicBezTo>
                  <a:pt x="107330" y="1880659"/>
                  <a:pt x="-52479" y="1416051"/>
                  <a:pt x="16313" y="1416051"/>
                </a:cubicBezTo>
                <a:cubicBezTo>
                  <a:pt x="85105" y="1416051"/>
                  <a:pt x="497855" y="1732493"/>
                  <a:pt x="702113" y="1739901"/>
                </a:cubicBezTo>
                <a:cubicBezTo>
                  <a:pt x="906371" y="1747309"/>
                  <a:pt x="1190004" y="1449868"/>
                  <a:pt x="1241862" y="1460500"/>
                </a:cubicBezTo>
                <a:cubicBezTo>
                  <a:pt x="1293720" y="1471133"/>
                  <a:pt x="1312709" y="1625918"/>
                  <a:pt x="1013263" y="1803696"/>
                </a:cubicBezTo>
                <a:cubicBezTo>
                  <a:pt x="845842" y="1966803"/>
                  <a:pt x="943746" y="2373038"/>
                  <a:pt x="906705" y="2308480"/>
                </a:cubicBezTo>
              </a:path>
            </a:pathLst>
          </a:custGeom>
          <a:noFill/>
          <a:ln w="38100">
            <a:solidFill>
              <a:schemeClr val="accent1"/>
            </a:solidFill>
            <a:tailEnd type="triangle" w="lg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4D056BC-5D49-CDA3-4393-9453464957BF}"/>
              </a:ext>
            </a:extLst>
          </p:cNvPr>
          <p:cNvSpPr/>
          <p:nvPr/>
        </p:nvSpPr>
        <p:spPr>
          <a:xfrm>
            <a:off x="1883240" y="2286536"/>
            <a:ext cx="2004279" cy="615551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1"/>
                </a:solidFill>
                <a:latin typeface="+mj-lt"/>
              </a:rPr>
              <a:t>Branch Prediction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2191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 animBg="1"/>
      <p:bldP spid="23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71C11-A85A-D369-45FA-3F0D3141D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0E9E5-ADC4-E5A3-15BB-9C3AB5683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 of Order Execution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A1328-F82E-9595-4309-02903BF92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81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6F6C3F-8BDF-BF3F-E49C-CF77797FE1D1}"/>
              </a:ext>
            </a:extLst>
          </p:cNvPr>
          <p:cNvSpPr/>
          <p:nvPr/>
        </p:nvSpPr>
        <p:spPr>
          <a:xfrm>
            <a:off x="196997" y="2617729"/>
            <a:ext cx="2679403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Instruction Queue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E36EA5-A435-E98A-108C-B19DB83D0AF7}"/>
              </a:ext>
            </a:extLst>
          </p:cNvPr>
          <p:cNvSpPr/>
          <p:nvPr/>
        </p:nvSpPr>
        <p:spPr>
          <a:xfrm>
            <a:off x="571501" y="3093882"/>
            <a:ext cx="1930399" cy="52387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R1 = R2 + R3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40CC66-2A33-FA26-8AF9-60D0C35E85D9}"/>
              </a:ext>
            </a:extLst>
          </p:cNvPr>
          <p:cNvSpPr/>
          <p:nvPr/>
        </p:nvSpPr>
        <p:spPr>
          <a:xfrm>
            <a:off x="571501" y="3617757"/>
            <a:ext cx="1930399" cy="52387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R4 = R1 – R2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5C9BE7-B269-5471-205E-36DFBDD99007}"/>
              </a:ext>
            </a:extLst>
          </p:cNvPr>
          <p:cNvSpPr/>
          <p:nvPr/>
        </p:nvSpPr>
        <p:spPr>
          <a:xfrm>
            <a:off x="571501" y="4143218"/>
            <a:ext cx="1930399" cy="52387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R1 = R2 / R3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0552EF-13F7-3039-9CB2-CBCCB4903FEA}"/>
              </a:ext>
            </a:extLst>
          </p:cNvPr>
          <p:cNvSpPr/>
          <p:nvPr/>
        </p:nvSpPr>
        <p:spPr>
          <a:xfrm>
            <a:off x="571501" y="4667093"/>
            <a:ext cx="1930399" cy="52387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R2 = R4 + R1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189281-F1A6-E905-E559-21051E6D46A8}"/>
              </a:ext>
            </a:extLst>
          </p:cNvPr>
          <p:cNvSpPr/>
          <p:nvPr/>
        </p:nvSpPr>
        <p:spPr>
          <a:xfrm>
            <a:off x="952500" y="1472901"/>
            <a:ext cx="1168399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1"/>
                </a:solidFill>
                <a:latin typeface="+mj-lt"/>
              </a:rPr>
              <a:t>Fetch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228E118-8A44-150B-8063-62AD089FDA0E}"/>
              </a:ext>
            </a:extLst>
          </p:cNvPr>
          <p:cNvCxnSpPr>
            <a:cxnSpLocks/>
            <a:stCxn id="16" idx="2"/>
            <a:endCxn id="5" idx="0"/>
          </p:cNvCxnSpPr>
          <p:nvPr/>
        </p:nvCxnSpPr>
        <p:spPr>
          <a:xfrm flipH="1">
            <a:off x="1536699" y="1996776"/>
            <a:ext cx="1" cy="620953"/>
          </a:xfrm>
          <a:prstGeom prst="straightConnector1">
            <a:avLst/>
          </a:prstGeom>
          <a:ln w="476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F02C8394-8A02-3CBB-2CBB-6F304EDDBA7B}"/>
              </a:ext>
            </a:extLst>
          </p:cNvPr>
          <p:cNvSpPr/>
          <p:nvPr/>
        </p:nvSpPr>
        <p:spPr>
          <a:xfrm>
            <a:off x="10026650" y="1687117"/>
            <a:ext cx="1206500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R1: 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CA41DA-CA7C-5FD6-ADEE-C716DA443C35}"/>
              </a:ext>
            </a:extLst>
          </p:cNvPr>
          <p:cNvSpPr/>
          <p:nvPr/>
        </p:nvSpPr>
        <p:spPr>
          <a:xfrm>
            <a:off x="10026650" y="2052242"/>
            <a:ext cx="1206500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R2: -1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472A84-4C9A-EA84-2B10-D0E147636403}"/>
              </a:ext>
            </a:extLst>
          </p:cNvPr>
          <p:cNvSpPr/>
          <p:nvPr/>
        </p:nvSpPr>
        <p:spPr>
          <a:xfrm>
            <a:off x="10026650" y="2411813"/>
            <a:ext cx="1206500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R3: 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099CF51-0417-43D9-2294-5F61CD6AA37F}"/>
              </a:ext>
            </a:extLst>
          </p:cNvPr>
          <p:cNvSpPr/>
          <p:nvPr/>
        </p:nvSpPr>
        <p:spPr>
          <a:xfrm>
            <a:off x="10026650" y="2776938"/>
            <a:ext cx="1206500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R4: 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736CDFC-DD5F-958A-BC7C-796238EA19C0}"/>
              </a:ext>
            </a:extLst>
          </p:cNvPr>
          <p:cNvSpPr/>
          <p:nvPr/>
        </p:nvSpPr>
        <p:spPr>
          <a:xfrm>
            <a:off x="9715500" y="1163242"/>
            <a:ext cx="1841499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Register File</a:t>
            </a:r>
          </a:p>
        </p:txBody>
      </p:sp>
      <p:sp>
        <p:nvSpPr>
          <p:cNvPr id="28" name="Cube 27">
            <a:extLst>
              <a:ext uri="{FF2B5EF4-FFF2-40B4-BE49-F238E27FC236}">
                <a16:creationId xmlns:a16="http://schemas.microsoft.com/office/drawing/2014/main" id="{853D2B63-EEAC-9491-1B06-F793334B3C50}"/>
              </a:ext>
            </a:extLst>
          </p:cNvPr>
          <p:cNvSpPr/>
          <p:nvPr/>
        </p:nvSpPr>
        <p:spPr>
          <a:xfrm>
            <a:off x="4424877" y="5726112"/>
            <a:ext cx="1244600" cy="706438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</a:t>
            </a:r>
            <a:endParaRPr lang="LID4096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BC60D08-D641-2A10-9905-DBFA08BB23EF}"/>
              </a:ext>
            </a:extLst>
          </p:cNvPr>
          <p:cNvGrpSpPr/>
          <p:nvPr/>
        </p:nvGrpSpPr>
        <p:grpSpPr>
          <a:xfrm>
            <a:off x="4075627" y="4628520"/>
            <a:ext cx="2210202" cy="412751"/>
            <a:chOff x="4686300" y="4286249"/>
            <a:chExt cx="2210202" cy="412751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1C9BE47-1CB9-C010-307B-94AADF4E6BCA}"/>
                </a:ext>
              </a:extLst>
            </p:cNvPr>
            <p:cNvSpPr/>
            <p:nvPr/>
          </p:nvSpPr>
          <p:spPr>
            <a:xfrm>
              <a:off x="46863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1EF53EE-6B41-7D8A-3A91-938247C3C0E4}"/>
                </a:ext>
              </a:extLst>
            </p:cNvPr>
            <p:cNvSpPr/>
            <p:nvPr/>
          </p:nvSpPr>
          <p:spPr>
            <a:xfrm>
              <a:off x="53340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27FB200-9124-0725-C079-1DAFE8BAAEFA}"/>
                </a:ext>
              </a:extLst>
            </p:cNvPr>
            <p:cNvSpPr/>
            <p:nvPr/>
          </p:nvSpPr>
          <p:spPr>
            <a:xfrm>
              <a:off x="59817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F378BAA-B272-5CA8-70CE-766D11CE8128}"/>
                </a:ext>
              </a:extLst>
            </p:cNvPr>
            <p:cNvSpPr/>
            <p:nvPr/>
          </p:nvSpPr>
          <p:spPr>
            <a:xfrm>
              <a:off x="6629400" y="4286249"/>
              <a:ext cx="267102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F4B4B24-7B0B-375C-FFC1-83EB03930CF9}"/>
              </a:ext>
            </a:extLst>
          </p:cNvPr>
          <p:cNvGrpSpPr/>
          <p:nvPr/>
        </p:nvGrpSpPr>
        <p:grpSpPr>
          <a:xfrm>
            <a:off x="4075627" y="4215769"/>
            <a:ext cx="2210473" cy="412751"/>
            <a:chOff x="4686300" y="4286249"/>
            <a:chExt cx="2210473" cy="412751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6D77846-CAE4-2162-76B9-D8C33556DAF7}"/>
                </a:ext>
              </a:extLst>
            </p:cNvPr>
            <p:cNvSpPr/>
            <p:nvPr/>
          </p:nvSpPr>
          <p:spPr>
            <a:xfrm>
              <a:off x="46863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3D57F53-387D-753A-B4AC-395E2F027574}"/>
                </a:ext>
              </a:extLst>
            </p:cNvPr>
            <p:cNvSpPr/>
            <p:nvPr/>
          </p:nvSpPr>
          <p:spPr>
            <a:xfrm>
              <a:off x="53340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ACBF10D-AFA5-77D3-DE6B-6F86F2F62D8A}"/>
                </a:ext>
              </a:extLst>
            </p:cNvPr>
            <p:cNvSpPr/>
            <p:nvPr/>
          </p:nvSpPr>
          <p:spPr>
            <a:xfrm>
              <a:off x="59817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ED5D75E-F8AC-D3C0-AB90-7118448E7DA0}"/>
                </a:ext>
              </a:extLst>
            </p:cNvPr>
            <p:cNvSpPr/>
            <p:nvPr/>
          </p:nvSpPr>
          <p:spPr>
            <a:xfrm>
              <a:off x="6629671" y="4286249"/>
              <a:ext cx="267102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ADCB512-841B-F0F1-1B72-C6EB73D13420}"/>
              </a:ext>
            </a:extLst>
          </p:cNvPr>
          <p:cNvGrpSpPr/>
          <p:nvPr/>
        </p:nvGrpSpPr>
        <p:grpSpPr>
          <a:xfrm>
            <a:off x="4075627" y="3808973"/>
            <a:ext cx="2210202" cy="412751"/>
            <a:chOff x="4686300" y="4286249"/>
            <a:chExt cx="2210202" cy="412751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F222E99-C900-ECB1-3136-A45C0C201E68}"/>
                </a:ext>
              </a:extLst>
            </p:cNvPr>
            <p:cNvSpPr/>
            <p:nvPr/>
          </p:nvSpPr>
          <p:spPr>
            <a:xfrm>
              <a:off x="46863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+</a:t>
              </a:r>
              <a:endParaRPr lang="LID4096" dirty="0">
                <a:solidFill>
                  <a:schemeClr val="tx1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3F41B2A-62D1-2987-1A37-A1B37BFDA554}"/>
                </a:ext>
              </a:extLst>
            </p:cNvPr>
            <p:cNvSpPr/>
            <p:nvPr/>
          </p:nvSpPr>
          <p:spPr>
            <a:xfrm>
              <a:off x="53340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  <a:endParaRPr lang="LID4096" dirty="0">
                <a:solidFill>
                  <a:schemeClr val="tx1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A072FBB-2DD4-329B-E70D-7CEB43ED5126}"/>
                </a:ext>
              </a:extLst>
            </p:cNvPr>
            <p:cNvSpPr/>
            <p:nvPr/>
          </p:nvSpPr>
          <p:spPr>
            <a:xfrm>
              <a:off x="5981700" y="4286249"/>
              <a:ext cx="647700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  <a:endParaRPr lang="LID4096" dirty="0">
                <a:solidFill>
                  <a:schemeClr val="tx1"/>
                </a:solidFill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D4D3A9F-1AF3-CE99-CBBD-1110E595D166}"/>
                </a:ext>
              </a:extLst>
            </p:cNvPr>
            <p:cNvSpPr/>
            <p:nvPr/>
          </p:nvSpPr>
          <p:spPr>
            <a:xfrm>
              <a:off x="6629919" y="4286249"/>
              <a:ext cx="266583" cy="4127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V</a:t>
              </a:r>
              <a:endParaRPr lang="LID4096" dirty="0">
                <a:solidFill>
                  <a:schemeClr val="tx1"/>
                </a:solidFill>
              </a:endParaRPr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6927F419-B224-B4FF-C3B0-A919BD27ECD9}"/>
              </a:ext>
            </a:extLst>
          </p:cNvPr>
          <p:cNvSpPr/>
          <p:nvPr/>
        </p:nvSpPr>
        <p:spPr>
          <a:xfrm>
            <a:off x="3447140" y="3867574"/>
            <a:ext cx="647701" cy="357427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RS1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42F2CA1-3FEE-FBED-6FC3-2E53AF284BF9}"/>
              </a:ext>
            </a:extLst>
          </p:cNvPr>
          <p:cNvSpPr/>
          <p:nvPr/>
        </p:nvSpPr>
        <p:spPr>
          <a:xfrm>
            <a:off x="3363443" y="4160206"/>
            <a:ext cx="776668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RS2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6E08FFD-928B-C955-0901-095D8347D1A0}"/>
              </a:ext>
            </a:extLst>
          </p:cNvPr>
          <p:cNvSpPr/>
          <p:nvPr/>
        </p:nvSpPr>
        <p:spPr>
          <a:xfrm>
            <a:off x="3363443" y="4572957"/>
            <a:ext cx="776668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RS3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19DDB79-DBDC-F9BA-E167-9C7B4093C864}"/>
              </a:ext>
            </a:extLst>
          </p:cNvPr>
          <p:cNvSpPr/>
          <p:nvPr/>
        </p:nvSpPr>
        <p:spPr>
          <a:xfrm>
            <a:off x="2475695" y="4903991"/>
            <a:ext cx="1168399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1"/>
                </a:solidFill>
                <a:latin typeface="+mj-lt"/>
              </a:rPr>
              <a:t>Issue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A811A00-2D2A-0082-3666-E2B36C622B7B}"/>
              </a:ext>
            </a:extLst>
          </p:cNvPr>
          <p:cNvCxnSpPr>
            <a:cxnSpLocks/>
            <a:endCxn id="28" idx="0"/>
          </p:cNvCxnSpPr>
          <p:nvPr/>
        </p:nvCxnSpPr>
        <p:spPr>
          <a:xfrm flipH="1">
            <a:off x="5135482" y="5054600"/>
            <a:ext cx="20718" cy="671512"/>
          </a:xfrm>
          <a:prstGeom prst="straightConnector1">
            <a:avLst/>
          </a:prstGeom>
          <a:ln w="476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27387F1-C237-76FC-0108-D5B357D53991}"/>
              </a:ext>
            </a:extLst>
          </p:cNvPr>
          <p:cNvSpPr/>
          <p:nvPr/>
        </p:nvSpPr>
        <p:spPr>
          <a:xfrm>
            <a:off x="5047177" y="5115016"/>
            <a:ext cx="1733011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1"/>
                </a:solidFill>
                <a:latin typeface="+mj-lt"/>
              </a:rPr>
              <a:t>Dispatch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2B266B-50CB-D352-1450-31DEF16F17C1}"/>
              </a:ext>
            </a:extLst>
          </p:cNvPr>
          <p:cNvSpPr/>
          <p:nvPr/>
        </p:nvSpPr>
        <p:spPr>
          <a:xfrm>
            <a:off x="4075627" y="1377832"/>
            <a:ext cx="2904993" cy="52387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Register Alias Table (RAT)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207745-4264-1F00-6B35-B80376C42CB2}"/>
              </a:ext>
            </a:extLst>
          </p:cNvPr>
          <p:cNvSpPr/>
          <p:nvPr/>
        </p:nvSpPr>
        <p:spPr>
          <a:xfrm>
            <a:off x="4520260" y="1901707"/>
            <a:ext cx="1375105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R1: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212ADE-65A1-CE3F-CE9B-645AB6752C6F}"/>
              </a:ext>
            </a:extLst>
          </p:cNvPr>
          <p:cNvSpPr/>
          <p:nvPr/>
        </p:nvSpPr>
        <p:spPr>
          <a:xfrm>
            <a:off x="4520260" y="2266832"/>
            <a:ext cx="1375105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R2: RS1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4ECB7D-C71E-0BBD-6DC3-DAAFE86E28E7}"/>
              </a:ext>
            </a:extLst>
          </p:cNvPr>
          <p:cNvSpPr/>
          <p:nvPr/>
        </p:nvSpPr>
        <p:spPr>
          <a:xfrm>
            <a:off x="4520260" y="2626403"/>
            <a:ext cx="1375105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R3: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A38DD3-2C26-3AEB-02CC-311D1A2621C2}"/>
              </a:ext>
            </a:extLst>
          </p:cNvPr>
          <p:cNvSpPr/>
          <p:nvPr/>
        </p:nvSpPr>
        <p:spPr>
          <a:xfrm>
            <a:off x="4520260" y="2991528"/>
            <a:ext cx="1375105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R4:</a:t>
            </a:r>
          </a:p>
        </p:txBody>
      </p: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6F117FE5-1EBD-C62B-15E2-1F07CEC87EDB}"/>
              </a:ext>
            </a:extLst>
          </p:cNvPr>
          <p:cNvCxnSpPr>
            <a:cxnSpLocks/>
            <a:stCxn id="14" idx="3"/>
            <a:endCxn id="61" idx="1"/>
          </p:cNvCxnSpPr>
          <p:nvPr/>
        </p:nvCxnSpPr>
        <p:spPr>
          <a:xfrm flipV="1">
            <a:off x="2501900" y="4046288"/>
            <a:ext cx="945240" cy="882743"/>
          </a:xfrm>
          <a:prstGeom prst="bentConnector3">
            <a:avLst>
              <a:gd name="adj1" fmla="val 50000"/>
            </a:avLst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B91B9205-F04D-2E9E-E44D-D97981A9480D}"/>
              </a:ext>
            </a:extLst>
          </p:cNvPr>
          <p:cNvCxnSpPr>
            <a:cxnSpLocks/>
            <a:stCxn id="14" idx="3"/>
            <a:endCxn id="92" idx="1"/>
          </p:cNvCxnSpPr>
          <p:nvPr/>
        </p:nvCxnSpPr>
        <p:spPr>
          <a:xfrm flipV="1">
            <a:off x="2501900" y="3556574"/>
            <a:ext cx="4106395" cy="1372457"/>
          </a:xfrm>
          <a:prstGeom prst="bentConnector3">
            <a:avLst>
              <a:gd name="adj1" fmla="val 11341"/>
            </a:avLst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607721CD-CAFC-5526-ABBD-EDF3A30F4A91}"/>
              </a:ext>
            </a:extLst>
          </p:cNvPr>
          <p:cNvCxnSpPr>
            <a:cxnSpLocks/>
            <a:stCxn id="14" idx="3"/>
            <a:endCxn id="9" idx="1"/>
          </p:cNvCxnSpPr>
          <p:nvPr/>
        </p:nvCxnSpPr>
        <p:spPr>
          <a:xfrm flipV="1">
            <a:off x="2501900" y="2449395"/>
            <a:ext cx="2018360" cy="2479636"/>
          </a:xfrm>
          <a:prstGeom prst="bentConnector3">
            <a:avLst>
              <a:gd name="adj1" fmla="val 22943"/>
            </a:avLst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9AE6A95A-D635-875C-C7E3-AE12735504A4}"/>
              </a:ext>
            </a:extLst>
          </p:cNvPr>
          <p:cNvCxnSpPr>
            <a:cxnSpLocks/>
            <a:stCxn id="28" idx="5"/>
            <a:endCxn id="86" idx="3"/>
          </p:cNvCxnSpPr>
          <p:nvPr/>
        </p:nvCxnSpPr>
        <p:spPr>
          <a:xfrm flipV="1">
            <a:off x="5669477" y="3565967"/>
            <a:ext cx="3644245" cy="2425059"/>
          </a:xfrm>
          <a:prstGeom prst="bentConnector3">
            <a:avLst>
              <a:gd name="adj1" fmla="val 138594"/>
            </a:avLst>
          </a:prstGeom>
          <a:ln w="47625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628B1EA9-13DD-A084-6C4A-A718D84B4917}"/>
              </a:ext>
            </a:extLst>
          </p:cNvPr>
          <p:cNvCxnSpPr>
            <a:cxnSpLocks/>
            <a:stCxn id="28" idx="5"/>
            <a:endCxn id="15" idx="3"/>
          </p:cNvCxnSpPr>
          <p:nvPr/>
        </p:nvCxnSpPr>
        <p:spPr>
          <a:xfrm flipV="1">
            <a:off x="5669477" y="4834896"/>
            <a:ext cx="616352" cy="1156130"/>
          </a:xfrm>
          <a:prstGeom prst="bentConnector3">
            <a:avLst>
              <a:gd name="adj1" fmla="val 486607"/>
            </a:avLst>
          </a:prstGeom>
          <a:ln w="47625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: Elbow 138">
            <a:extLst>
              <a:ext uri="{FF2B5EF4-FFF2-40B4-BE49-F238E27FC236}">
                <a16:creationId xmlns:a16="http://schemas.microsoft.com/office/drawing/2014/main" id="{944760CD-6696-AFE3-35D2-49F86E4A37D4}"/>
              </a:ext>
            </a:extLst>
          </p:cNvPr>
          <p:cNvCxnSpPr>
            <a:cxnSpLocks/>
            <a:endCxn id="9" idx="3"/>
          </p:cNvCxnSpPr>
          <p:nvPr/>
        </p:nvCxnSpPr>
        <p:spPr>
          <a:xfrm rot="10800000" flipV="1">
            <a:off x="5895365" y="1901707"/>
            <a:ext cx="1062180" cy="547688"/>
          </a:xfrm>
          <a:prstGeom prst="bentConnector3">
            <a:avLst>
              <a:gd name="adj1" fmla="val 50000"/>
            </a:avLst>
          </a:prstGeom>
          <a:ln w="47625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913C1088-D899-07CE-2B4F-5A02DE8421AC}"/>
              </a:ext>
            </a:extLst>
          </p:cNvPr>
          <p:cNvSpPr/>
          <p:nvPr/>
        </p:nvSpPr>
        <p:spPr>
          <a:xfrm>
            <a:off x="4520259" y="2266832"/>
            <a:ext cx="1375105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R2: ROB3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E75D709-55D0-9D4B-B7EE-AC2B4366943F}"/>
              </a:ext>
            </a:extLst>
          </p:cNvPr>
          <p:cNvSpPr/>
          <p:nvPr/>
        </p:nvSpPr>
        <p:spPr>
          <a:xfrm>
            <a:off x="4520258" y="2268470"/>
            <a:ext cx="1375105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R2: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CA5B71C-0C12-E5F2-5A77-DC99B9835631}"/>
              </a:ext>
            </a:extLst>
          </p:cNvPr>
          <p:cNvGrpSpPr/>
          <p:nvPr/>
        </p:nvGrpSpPr>
        <p:grpSpPr>
          <a:xfrm>
            <a:off x="6608295" y="1588117"/>
            <a:ext cx="3044034" cy="3003772"/>
            <a:chOff x="6608295" y="1588117"/>
            <a:chExt cx="3044034" cy="3003772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2AC6B16-6F30-172D-661C-4CC43081631D}"/>
                </a:ext>
              </a:extLst>
            </p:cNvPr>
            <p:cNvSpPr/>
            <p:nvPr/>
          </p:nvSpPr>
          <p:spPr>
            <a:xfrm>
              <a:off x="7370622" y="2954499"/>
              <a:ext cx="647700" cy="41275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*</a:t>
              </a:r>
              <a:endParaRPr lang="LID4096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8912841-AEAC-FF1E-359E-F2F090B4E105}"/>
                </a:ext>
              </a:extLst>
            </p:cNvPr>
            <p:cNvSpPr/>
            <p:nvPr/>
          </p:nvSpPr>
          <p:spPr>
            <a:xfrm>
              <a:off x="8018322" y="2954499"/>
              <a:ext cx="647700" cy="41275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*</a:t>
              </a:r>
              <a:endParaRPr lang="LID4096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77835A0-53A9-60BC-07D3-8ACFBDF40EB7}"/>
                </a:ext>
              </a:extLst>
            </p:cNvPr>
            <p:cNvSpPr/>
            <p:nvPr/>
          </p:nvSpPr>
          <p:spPr>
            <a:xfrm>
              <a:off x="8666022" y="2954499"/>
              <a:ext cx="647700" cy="41275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61C88EA-F59B-C864-939C-C50819F6A895}"/>
                </a:ext>
              </a:extLst>
            </p:cNvPr>
            <p:cNvSpPr/>
            <p:nvPr/>
          </p:nvSpPr>
          <p:spPr>
            <a:xfrm>
              <a:off x="7370622" y="2541748"/>
              <a:ext cx="647700" cy="41275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*</a:t>
              </a:r>
              <a:endParaRPr lang="LID4096" dirty="0">
                <a:solidFill>
                  <a:schemeClr val="tx1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4A08961-4DDB-66FF-7297-4F4FE7CEF2CB}"/>
                </a:ext>
              </a:extLst>
            </p:cNvPr>
            <p:cNvSpPr/>
            <p:nvPr/>
          </p:nvSpPr>
          <p:spPr>
            <a:xfrm>
              <a:off x="8018322" y="2541748"/>
              <a:ext cx="647700" cy="41275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*</a:t>
              </a:r>
              <a:endParaRPr lang="LID4096" dirty="0">
                <a:solidFill>
                  <a:schemeClr val="tx1"/>
                </a:solidFill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01C9190-849F-7B93-85BE-C596A68ED705}"/>
                </a:ext>
              </a:extLst>
            </p:cNvPr>
            <p:cNvSpPr/>
            <p:nvPr/>
          </p:nvSpPr>
          <p:spPr>
            <a:xfrm>
              <a:off x="8666022" y="2541748"/>
              <a:ext cx="647700" cy="41275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>
                <a:solidFill>
                  <a:schemeClr val="tx1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062B4E4-EDA9-9F6B-A494-9FF9D050A1FF}"/>
                </a:ext>
              </a:extLst>
            </p:cNvPr>
            <p:cNvSpPr/>
            <p:nvPr/>
          </p:nvSpPr>
          <p:spPr>
            <a:xfrm>
              <a:off x="7370622" y="2134952"/>
              <a:ext cx="647700" cy="41275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reg</a:t>
              </a:r>
              <a:endParaRPr lang="LID4096" dirty="0">
                <a:solidFill>
                  <a:schemeClr val="tx1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895C641-6E27-0807-AFE1-B30C5E7E3219}"/>
                </a:ext>
              </a:extLst>
            </p:cNvPr>
            <p:cNvSpPr/>
            <p:nvPr/>
          </p:nvSpPr>
          <p:spPr>
            <a:xfrm>
              <a:off x="8018322" y="2134952"/>
              <a:ext cx="647700" cy="41275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val</a:t>
              </a:r>
              <a:endParaRPr lang="LID4096" dirty="0">
                <a:solidFill>
                  <a:schemeClr val="tx1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6D7A957-8BA5-15C3-61FE-EF5DEC96A039}"/>
                </a:ext>
              </a:extLst>
            </p:cNvPr>
            <p:cNvSpPr/>
            <p:nvPr/>
          </p:nvSpPr>
          <p:spPr>
            <a:xfrm>
              <a:off x="8666022" y="2134952"/>
              <a:ext cx="647700" cy="41275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done</a:t>
              </a:r>
              <a:endParaRPr lang="LID4096" sz="1600" dirty="0">
                <a:solidFill>
                  <a:schemeClr val="tx1"/>
                </a:solidFill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5B267D07-F6BA-BC83-C08B-72012C3A2327}"/>
                </a:ext>
              </a:extLst>
            </p:cNvPr>
            <p:cNvSpPr/>
            <p:nvPr/>
          </p:nvSpPr>
          <p:spPr>
            <a:xfrm>
              <a:off x="7370622" y="4179138"/>
              <a:ext cx="647700" cy="41275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B297A79-5992-E3FB-4BA8-70429901B48A}"/>
                </a:ext>
              </a:extLst>
            </p:cNvPr>
            <p:cNvSpPr/>
            <p:nvPr/>
          </p:nvSpPr>
          <p:spPr>
            <a:xfrm>
              <a:off x="8018322" y="4179138"/>
              <a:ext cx="647700" cy="41275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2E53D09-8675-4E5B-77E3-7CE6ED465440}"/>
                </a:ext>
              </a:extLst>
            </p:cNvPr>
            <p:cNvSpPr/>
            <p:nvPr/>
          </p:nvSpPr>
          <p:spPr>
            <a:xfrm>
              <a:off x="8666022" y="4179138"/>
              <a:ext cx="647700" cy="41275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CAA29254-6EC4-E722-45B8-ECF7F62ACC27}"/>
                </a:ext>
              </a:extLst>
            </p:cNvPr>
            <p:cNvSpPr/>
            <p:nvPr/>
          </p:nvSpPr>
          <p:spPr>
            <a:xfrm>
              <a:off x="7370622" y="3766387"/>
              <a:ext cx="647700" cy="41275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F82DAAF5-A01C-1D26-B2D0-5B86140C9D92}"/>
                </a:ext>
              </a:extLst>
            </p:cNvPr>
            <p:cNvSpPr/>
            <p:nvPr/>
          </p:nvSpPr>
          <p:spPr>
            <a:xfrm>
              <a:off x="8018322" y="3766387"/>
              <a:ext cx="647700" cy="41275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17B1D6D0-F9DB-6AC6-6ADC-5165F37D58A1}"/>
                </a:ext>
              </a:extLst>
            </p:cNvPr>
            <p:cNvSpPr/>
            <p:nvPr/>
          </p:nvSpPr>
          <p:spPr>
            <a:xfrm>
              <a:off x="8666022" y="3766387"/>
              <a:ext cx="647700" cy="41275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65B3ADC1-99F3-80C1-A914-AD61E40229AE}"/>
                </a:ext>
              </a:extLst>
            </p:cNvPr>
            <p:cNvSpPr/>
            <p:nvPr/>
          </p:nvSpPr>
          <p:spPr>
            <a:xfrm>
              <a:off x="7370622" y="3359591"/>
              <a:ext cx="647700" cy="41275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>
                <a:solidFill>
                  <a:schemeClr val="tx1"/>
                </a:solidFill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E74C7DFD-5E19-840D-2307-38C6FFFA51B6}"/>
                </a:ext>
              </a:extLst>
            </p:cNvPr>
            <p:cNvSpPr/>
            <p:nvPr/>
          </p:nvSpPr>
          <p:spPr>
            <a:xfrm>
              <a:off x="8018322" y="3359591"/>
              <a:ext cx="647700" cy="41275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>
                <a:solidFill>
                  <a:schemeClr val="tx1"/>
                </a:solidFill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BCC7B20-B237-2135-2429-8A9A74A32FD6}"/>
                </a:ext>
              </a:extLst>
            </p:cNvPr>
            <p:cNvSpPr/>
            <p:nvPr/>
          </p:nvSpPr>
          <p:spPr>
            <a:xfrm>
              <a:off x="8666022" y="3359591"/>
              <a:ext cx="647700" cy="41275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>
                <a:solidFill>
                  <a:schemeClr val="tx1"/>
                </a:solidFill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E2E379CD-C253-ED36-EB3B-FC91BF58A8B6}"/>
                </a:ext>
              </a:extLst>
            </p:cNvPr>
            <p:cNvSpPr/>
            <p:nvPr/>
          </p:nvSpPr>
          <p:spPr>
            <a:xfrm>
              <a:off x="7183819" y="1588117"/>
              <a:ext cx="2468510" cy="523875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+mj-lt"/>
                </a:rPr>
                <a:t>Reorder Buffer (ROB)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FC974F1-C864-A84E-9B81-6D6099DDF65F}"/>
                </a:ext>
              </a:extLst>
            </p:cNvPr>
            <p:cNvSpPr/>
            <p:nvPr/>
          </p:nvSpPr>
          <p:spPr>
            <a:xfrm>
              <a:off x="6608295" y="2628563"/>
              <a:ext cx="800755" cy="251031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+mj-lt"/>
                </a:rPr>
                <a:t>ROB1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5E27CD6D-77D5-3606-EF28-F9A5CA7C44AE}"/>
                </a:ext>
              </a:extLst>
            </p:cNvPr>
            <p:cNvSpPr/>
            <p:nvPr/>
          </p:nvSpPr>
          <p:spPr>
            <a:xfrm>
              <a:off x="6608295" y="3035358"/>
              <a:ext cx="800755" cy="251031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+mj-lt"/>
                </a:rPr>
                <a:t>ROB2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1A515269-C5F8-50AD-7022-A84090C603B0}"/>
                </a:ext>
              </a:extLst>
            </p:cNvPr>
            <p:cNvSpPr/>
            <p:nvPr/>
          </p:nvSpPr>
          <p:spPr>
            <a:xfrm>
              <a:off x="6608295" y="3431058"/>
              <a:ext cx="800755" cy="251031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+mj-lt"/>
                </a:rPr>
                <a:t>ROB3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EA9C99C5-910E-0FF0-9F04-F0E22B425F9E}"/>
                </a:ext>
              </a:extLst>
            </p:cNvPr>
            <p:cNvSpPr/>
            <p:nvPr/>
          </p:nvSpPr>
          <p:spPr>
            <a:xfrm>
              <a:off x="6608295" y="3826758"/>
              <a:ext cx="800755" cy="251031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+mj-lt"/>
                </a:rPr>
                <a:t>ROB4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8CA8E126-C0D3-9FFC-7559-AD0E261FDCB7}"/>
                </a:ext>
              </a:extLst>
            </p:cNvPr>
            <p:cNvSpPr/>
            <p:nvPr/>
          </p:nvSpPr>
          <p:spPr>
            <a:xfrm>
              <a:off x="6608295" y="4244975"/>
              <a:ext cx="800755" cy="251031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+mj-lt"/>
                </a:rPr>
                <a:t>ROB5</a:t>
              </a:r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566EDCB6-F403-4B78-745B-6FAE87E0CB39}"/>
              </a:ext>
            </a:extLst>
          </p:cNvPr>
          <p:cNvSpPr/>
          <p:nvPr/>
        </p:nvSpPr>
        <p:spPr>
          <a:xfrm>
            <a:off x="8668197" y="2541748"/>
            <a:ext cx="647700" cy="4127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AF0169F-40BA-89D6-0B2B-D0791B08BD1B}"/>
              </a:ext>
            </a:extLst>
          </p:cNvPr>
          <p:cNvSpPr/>
          <p:nvPr/>
        </p:nvSpPr>
        <p:spPr>
          <a:xfrm>
            <a:off x="8668197" y="2948206"/>
            <a:ext cx="647700" cy="4127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</a:t>
            </a:r>
            <a:endParaRPr lang="LID4096" dirty="0">
              <a:solidFill>
                <a:schemeClr val="tx1"/>
              </a:solidFill>
            </a:endParaRP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3282E705-8CA0-8E57-4F7B-CC315D66E700}"/>
              </a:ext>
            </a:extLst>
          </p:cNvPr>
          <p:cNvCxnSpPr>
            <a:cxnSpLocks/>
            <a:stCxn id="50" idx="3"/>
            <a:endCxn id="24" idx="1"/>
          </p:cNvCxnSpPr>
          <p:nvPr/>
        </p:nvCxnSpPr>
        <p:spPr>
          <a:xfrm flipV="1">
            <a:off x="9312376" y="2234805"/>
            <a:ext cx="714274" cy="1331854"/>
          </a:xfrm>
          <a:prstGeom prst="bentConnector3">
            <a:avLst>
              <a:gd name="adj1" fmla="val 50000"/>
            </a:avLst>
          </a:prstGeom>
          <a:ln w="47625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A9559829-423C-609D-ADC0-828A4463B6AA}"/>
              </a:ext>
            </a:extLst>
          </p:cNvPr>
          <p:cNvSpPr/>
          <p:nvPr/>
        </p:nvSpPr>
        <p:spPr>
          <a:xfrm>
            <a:off x="10028903" y="2052242"/>
            <a:ext cx="1206500" cy="36512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R2: 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431923-FFF9-E7EC-7D21-6BB2CB49BBDC}"/>
              </a:ext>
            </a:extLst>
          </p:cNvPr>
          <p:cNvSpPr/>
          <p:nvPr/>
        </p:nvSpPr>
        <p:spPr>
          <a:xfrm>
            <a:off x="7369276" y="3359591"/>
            <a:ext cx="647700" cy="4127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R2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F279829-919C-1FDA-0FE5-6455F2C8B113}"/>
              </a:ext>
            </a:extLst>
          </p:cNvPr>
          <p:cNvSpPr/>
          <p:nvPr/>
        </p:nvSpPr>
        <p:spPr>
          <a:xfrm>
            <a:off x="8019371" y="3359591"/>
            <a:ext cx="647700" cy="4127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65B44B4-5091-7FCB-E017-04971476464D}"/>
              </a:ext>
            </a:extLst>
          </p:cNvPr>
          <p:cNvSpPr/>
          <p:nvPr/>
        </p:nvSpPr>
        <p:spPr>
          <a:xfrm>
            <a:off x="8664676" y="3360283"/>
            <a:ext cx="647700" cy="4127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</a:t>
            </a:r>
            <a:endParaRPr lang="LID4096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9817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"/>
                            </p:stCondLst>
                            <p:childTnLst>
                              <p:par>
                                <p:cTn id="2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19" grpId="0"/>
      <p:bldP spid="45" grpId="0" animBg="1"/>
      <p:bldP spid="46" grpId="0" animBg="1"/>
      <p:bldP spid="48" grpId="0" animBg="1"/>
      <p:bldP spid="49" grpId="0" animBg="1"/>
      <p:bldP spid="65" grpId="0" animBg="1"/>
      <p:bldP spid="29" grpId="0" animBg="1"/>
      <p:bldP spid="47" grpId="0" animBg="1"/>
      <p:bldP spid="50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B5FCA-11A8-1AE6-EA97-A83587553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5E516-714D-D26F-7BBD-50B59E560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Issue</a:t>
            </a:r>
          </a:p>
          <a:p>
            <a:r>
              <a:rPr lang="en-US" dirty="0"/>
              <a:t>Dispatch</a:t>
            </a:r>
          </a:p>
          <a:p>
            <a:r>
              <a:rPr lang="en-US" dirty="0"/>
              <a:t>Commit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FE5CC-9607-03CC-494A-5E9D094A7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82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810217-3209-2B96-97C8-8088B483C862}"/>
              </a:ext>
            </a:extLst>
          </p:cNvPr>
          <p:cNvSpPr txBox="1"/>
          <p:nvPr/>
        </p:nvSpPr>
        <p:spPr>
          <a:xfrm>
            <a:off x="3554086" y="1808372"/>
            <a:ext cx="5865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Allocate, Dispatch</a:t>
            </a:r>
            <a:endParaRPr lang="LID4096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664E8D-894C-8F01-E88C-A5277962C111}"/>
              </a:ext>
            </a:extLst>
          </p:cNvPr>
          <p:cNvSpPr txBox="1"/>
          <p:nvPr/>
        </p:nvSpPr>
        <p:spPr>
          <a:xfrm>
            <a:off x="3554086" y="2357091"/>
            <a:ext cx="5865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Execute, Issue</a:t>
            </a:r>
            <a:endParaRPr lang="LID4096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4BD69D-5F71-DCB8-ED79-FC5C812F2C22}"/>
              </a:ext>
            </a:extLst>
          </p:cNvPr>
          <p:cNvSpPr txBox="1"/>
          <p:nvPr/>
        </p:nvSpPr>
        <p:spPr>
          <a:xfrm>
            <a:off x="3554086" y="2905810"/>
            <a:ext cx="5865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Complete, Retire, Graduate</a:t>
            </a:r>
            <a:endParaRPr lang="LID4096" sz="2400" dirty="0"/>
          </a:p>
        </p:txBody>
      </p:sp>
      <p:pic>
        <p:nvPicPr>
          <p:cNvPr id="9" name="Graphic 8" descr="Crying face with solid fill with solid fill">
            <a:extLst>
              <a:ext uri="{FF2B5EF4-FFF2-40B4-BE49-F238E27FC236}">
                <a16:creationId xmlns:a16="http://schemas.microsoft.com/office/drawing/2014/main" id="{81968A1E-A670-B973-D8F9-70E922DE6A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7314" y="3633533"/>
            <a:ext cx="2277371" cy="227737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81937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7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1|7.7|4.8|3.8|11.7|17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1|0.5|0.7|0.5|0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1|0.5|0.7|0.5|0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1|0.5|0.7|0.5|0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1|0.5|0.7|0.5|0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4|11.3|18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|7.1|6.6|6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4|16.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9|13.5|7.1|7.8|11.1|6.3|8.9|1.3|9.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5|1.9|4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3|11.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3|7.5|10.4|8.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1|37.4|9.8|95.4|2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1|4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1.8|6.6|1.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|17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1|7.7|4.8|3.8|11.7|17.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1|7.7|4.8|3.8|11.7|17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1|7.7|4.8|3.8|11.7|17.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6|15.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|5.9|3.6|6.6|7.4|3.8|9.2|4.6|4.4|7.6|3.5|12.8|21.3|35.4|3.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|5.9|3.6|6.6|7.4|3.8|9.2|4.6|4.4|7.6|3.5|12.8|21.3|35.4|3.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5.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7|30.9|26.6|3.6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4|11.8|12.8|11.1|8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4|11.3|18.8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8|13.6|4.8|1.9|5.8|3.7|4|8.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8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1|14.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5|27.7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2|2.6|12.8|3.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5.3|9.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7|11.6|19.4|10.3|21|9.4|19.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6|4.9|5.7|16.2|3.7|15.1|21.5|7.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8.4|7.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6|16.6|13.7|5.8|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9|9|3.4|8.8|5.2|9.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9|13.6|8.8|9.9|16.5|7.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2|3.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|7.7|25.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6|6.8|4.5|11.6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2|4|5.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2|4|5.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5|3.6|8|13.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5.5|7.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9|5.8|2|3.1|27|6.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|5.5|8.6|4.7|16.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|10.7|6.6|13.8|6.4|6.8|15.6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12.3|6.4|6.2|6|9.1|7.9|6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2.4|14.8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8|45.2|3.4|1.3|21.2|14.5|4.1|6.8|3.2|12.8|7.5|0.9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6|11.9|8.3|8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82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38E65C7-1CBF-4A3B-BAD3-AAD657554C3F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9d913966-3542-4282-b3d2-6546daaa66d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79039</TotalTime>
  <Words>2883</Words>
  <Application>Microsoft Office PowerPoint</Application>
  <PresentationFormat>Widescreen</PresentationFormat>
  <Paragraphs>1080</Paragraphs>
  <Slides>82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9" baseType="lpstr">
      <vt:lpstr>Aptos</vt:lpstr>
      <vt:lpstr>Aptos Display</vt:lpstr>
      <vt:lpstr>Arial</vt:lpstr>
      <vt:lpstr>Calibri</vt:lpstr>
      <vt:lpstr>Consolas</vt:lpstr>
      <vt:lpstr>Wingdings</vt:lpstr>
      <vt:lpstr>Office Theme</vt:lpstr>
      <vt:lpstr>On Processor Design and Memory Models</vt:lpstr>
      <vt:lpstr>PowerPoint Presentation</vt:lpstr>
      <vt:lpstr>Example Program</vt:lpstr>
      <vt:lpstr>Strict Consistency</vt:lpstr>
      <vt:lpstr>Sequential Consistency (SC)</vt:lpstr>
      <vt:lpstr>Sequential Consistency (SC)</vt:lpstr>
      <vt:lpstr>Sequential Consistency (SC)</vt:lpstr>
      <vt:lpstr>Why not SC?</vt:lpstr>
      <vt:lpstr>Reasons</vt:lpstr>
      <vt:lpstr>Non-answer: private caches</vt:lpstr>
      <vt:lpstr>Non-answer: private caches</vt:lpstr>
      <vt:lpstr>Non-answer: private caches</vt:lpstr>
      <vt:lpstr>Cache Coherence</vt:lpstr>
      <vt:lpstr>Answer #1: Invalidate queues</vt:lpstr>
      <vt:lpstr>Answer #1: Invalidate queues</vt:lpstr>
      <vt:lpstr>Answer #1: Invalidate queues</vt:lpstr>
      <vt:lpstr>Answer #2: non multi-copy atomicity</vt:lpstr>
      <vt:lpstr>Write Buffers</vt:lpstr>
      <vt:lpstr>Write Buffers</vt:lpstr>
      <vt:lpstr>Write Buffers </vt:lpstr>
      <vt:lpstr>FIFO write buffers </vt:lpstr>
      <vt:lpstr>Dekker/Peterson Algorithm</vt:lpstr>
      <vt:lpstr>Dekker/Peterson Algorithm</vt:lpstr>
      <vt:lpstr>Dekker/Peterson Algorithm</vt:lpstr>
      <vt:lpstr>FIFO write buffers </vt:lpstr>
      <vt:lpstr>Intel Memory Model</vt:lpstr>
      <vt:lpstr>Coalescing write buffers</vt:lpstr>
      <vt:lpstr>Coalescing write buffers</vt:lpstr>
      <vt:lpstr>Coalescing write buffers</vt:lpstr>
      <vt:lpstr>Answers so far</vt:lpstr>
      <vt:lpstr>Out of Order – Memory Ops</vt:lpstr>
      <vt:lpstr>Out of Order – Memory Ops</vt:lpstr>
      <vt:lpstr>What could go wrong?</vt:lpstr>
      <vt:lpstr>Answer #4: Out-of-Order Execution</vt:lpstr>
      <vt:lpstr>More Rabbit Holes for the Curious</vt:lpstr>
      <vt:lpstr>Answer #5: Speculative Execution</vt:lpstr>
      <vt:lpstr>Some Answers</vt:lpstr>
      <vt:lpstr>Solutions</vt:lpstr>
      <vt:lpstr>Fences: Full</vt:lpstr>
      <vt:lpstr>Fences: Full</vt:lpstr>
      <vt:lpstr>ARM: Acquire / Release</vt:lpstr>
      <vt:lpstr>ARM: Acquire / Release</vt:lpstr>
      <vt:lpstr>ARM: Acquire / Release</vt:lpstr>
      <vt:lpstr>ARM: Acquire / Release</vt:lpstr>
      <vt:lpstr>C++  std::memory_order</vt:lpstr>
      <vt:lpstr>Read-Modify-Write</vt:lpstr>
      <vt:lpstr>Read-modify-write: x86-64</vt:lpstr>
      <vt:lpstr>Read-modify-write: x86-64</vt:lpstr>
      <vt:lpstr>Read-modify-write: ARM</vt:lpstr>
      <vt:lpstr>Read-modify-write: ARM</vt:lpstr>
      <vt:lpstr>Read-modify-write: ARM</vt:lpstr>
      <vt:lpstr>Read-modify-write: ARM</vt:lpstr>
      <vt:lpstr>Memory Models</vt:lpstr>
      <vt:lpstr>Recall:</vt:lpstr>
      <vt:lpstr>Relaxed Memory Model</vt:lpstr>
      <vt:lpstr>C++ Memory Model</vt:lpstr>
      <vt:lpstr>C++ Memory Model</vt:lpstr>
      <vt:lpstr>C++ Memory Model</vt:lpstr>
      <vt:lpstr>C++ Memory Model</vt:lpstr>
      <vt:lpstr>PowerPoint Presentation</vt:lpstr>
      <vt:lpstr>REMS</vt:lpstr>
      <vt:lpstr>REMS</vt:lpstr>
      <vt:lpstr>REMS</vt:lpstr>
      <vt:lpstr>Out-of-Thin-Air (OOTA)</vt:lpstr>
      <vt:lpstr>Out-of-Thin-Air (OOTA)</vt:lpstr>
      <vt:lpstr>Summary</vt:lpstr>
      <vt:lpstr>Thanks for listening!</vt:lpstr>
      <vt:lpstr>PowerPoint Presentation</vt:lpstr>
      <vt:lpstr>Resources</vt:lpstr>
      <vt:lpstr>NT writes, Write-Combine Buffers</vt:lpstr>
      <vt:lpstr>Fences: Implicit</vt:lpstr>
      <vt:lpstr>Fences: Store</vt:lpstr>
      <vt:lpstr>Fences: Load</vt:lpstr>
      <vt:lpstr>“Pipeline”?</vt:lpstr>
      <vt:lpstr>“Pipeline”?</vt:lpstr>
      <vt:lpstr>Out of Order Execution</vt:lpstr>
      <vt:lpstr>Out of Order Execution</vt:lpstr>
      <vt:lpstr>Out of Order Execution</vt:lpstr>
      <vt:lpstr>Out of Order Execution</vt:lpstr>
      <vt:lpstr>Out of Order Execution</vt:lpstr>
      <vt:lpstr>Out of Order Execution</vt:lpstr>
      <vt:lpstr>Terminology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Ofek Shilon</dc:creator>
  <cp:lastModifiedBy>Ofek Shilon</cp:lastModifiedBy>
  <cp:revision>52</cp:revision>
  <dcterms:created xsi:type="dcterms:W3CDTF">2026-01-11T22:48:12Z</dcterms:created>
  <dcterms:modified xsi:type="dcterms:W3CDTF">2026-09-17T04:13:58Z</dcterms:modified>
</cp:coreProperties>
</file>