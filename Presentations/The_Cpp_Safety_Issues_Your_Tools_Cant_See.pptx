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64" r:id="rId2"/>
    <p:sldId id="555" r:id="rId3"/>
    <p:sldId id="326" r:id="rId4"/>
    <p:sldId id="256" r:id="rId5"/>
    <p:sldId id="399" r:id="rId6"/>
    <p:sldId id="307" r:id="rId7"/>
    <p:sldId id="277" r:id="rId8"/>
    <p:sldId id="308" r:id="rId9"/>
    <p:sldId id="359" r:id="rId10"/>
    <p:sldId id="292" r:id="rId11"/>
    <p:sldId id="331" r:id="rId12"/>
    <p:sldId id="330" r:id="rId13"/>
    <p:sldId id="350" r:id="rId14"/>
    <p:sldId id="357" r:id="rId15"/>
    <p:sldId id="482" r:id="rId16"/>
    <p:sldId id="483" r:id="rId17"/>
    <p:sldId id="379" r:id="rId18"/>
    <p:sldId id="484" r:id="rId19"/>
    <p:sldId id="486" r:id="rId20"/>
    <p:sldId id="488" r:id="rId21"/>
    <p:sldId id="382" r:id="rId22"/>
    <p:sldId id="540" r:id="rId23"/>
    <p:sldId id="352" r:id="rId24"/>
    <p:sldId id="403" r:id="rId25"/>
    <p:sldId id="401" r:id="rId26"/>
    <p:sldId id="460" r:id="rId27"/>
    <p:sldId id="461" r:id="rId28"/>
    <p:sldId id="492" r:id="rId29"/>
    <p:sldId id="416" r:id="rId30"/>
    <p:sldId id="427" r:id="rId31"/>
    <p:sldId id="436" r:id="rId32"/>
    <p:sldId id="434" r:id="rId33"/>
    <p:sldId id="440" r:id="rId34"/>
    <p:sldId id="441" r:id="rId35"/>
    <p:sldId id="442" r:id="rId36"/>
    <p:sldId id="443" r:id="rId37"/>
    <p:sldId id="412" r:id="rId38"/>
    <p:sldId id="423" r:id="rId39"/>
    <p:sldId id="466" r:id="rId40"/>
    <p:sldId id="469" r:id="rId41"/>
    <p:sldId id="489" r:id="rId42"/>
    <p:sldId id="471" r:id="rId43"/>
    <p:sldId id="490" r:id="rId44"/>
    <p:sldId id="472" r:id="rId45"/>
    <p:sldId id="493" r:id="rId46"/>
    <p:sldId id="473" r:id="rId47"/>
    <p:sldId id="494" r:id="rId48"/>
    <p:sldId id="474" r:id="rId49"/>
    <p:sldId id="497" r:id="rId50"/>
    <p:sldId id="475" r:id="rId51"/>
    <p:sldId id="499" r:id="rId52"/>
    <p:sldId id="505" r:id="rId53"/>
    <p:sldId id="545" r:id="rId54"/>
    <p:sldId id="258" r:id="rId55"/>
    <p:sldId id="259" r:id="rId56"/>
    <p:sldId id="548" r:id="rId57"/>
    <p:sldId id="546" r:id="rId58"/>
    <p:sldId id="547" r:id="rId59"/>
    <p:sldId id="285" r:id="rId60"/>
    <p:sldId id="343" r:id="rId61"/>
    <p:sldId id="544" r:id="rId62"/>
    <p:sldId id="344" r:id="rId63"/>
    <p:sldId id="480" r:id="rId64"/>
    <p:sldId id="481" r:id="rId65"/>
    <p:sldId id="365" r:id="rId66"/>
    <p:sldId id="452" r:id="rId67"/>
    <p:sldId id="456" r:id="rId68"/>
    <p:sldId id="500" r:id="rId69"/>
    <p:sldId id="457" r:id="rId70"/>
    <p:sldId id="501" r:id="rId71"/>
    <p:sldId id="504" r:id="rId72"/>
    <p:sldId id="458" r:id="rId73"/>
    <p:sldId id="516" r:id="rId74"/>
    <p:sldId id="369" r:id="rId75"/>
    <p:sldId id="368" r:id="rId76"/>
    <p:sldId id="455" r:id="rId77"/>
    <p:sldId id="257" r:id="rId78"/>
    <p:sldId id="454" r:id="rId79"/>
    <p:sldId id="530" r:id="rId80"/>
    <p:sldId id="517" r:id="rId81"/>
    <p:sldId id="528" r:id="rId82"/>
    <p:sldId id="538" r:id="rId83"/>
    <p:sldId id="453" r:id="rId84"/>
    <p:sldId id="513" r:id="rId85"/>
    <p:sldId id="531" r:id="rId86"/>
    <p:sldId id="536" r:id="rId87"/>
    <p:sldId id="396" r:id="rId88"/>
    <p:sldId id="511" r:id="rId89"/>
    <p:sldId id="503" r:id="rId90"/>
    <p:sldId id="502" r:id="rId91"/>
    <p:sldId id="534" r:id="rId92"/>
    <p:sldId id="533" r:id="rId93"/>
    <p:sldId id="518" r:id="rId94"/>
    <p:sldId id="519" r:id="rId95"/>
    <p:sldId id="522" r:id="rId96"/>
    <p:sldId id="552" r:id="rId97"/>
    <p:sldId id="553" r:id="rId98"/>
    <p:sldId id="288" r:id="rId99"/>
    <p:sldId id="498" r:id="rId100"/>
    <p:sldId id="495" r:id="rId101"/>
    <p:sldId id="514" r:id="rId102"/>
    <p:sldId id="526" r:id="rId103"/>
    <p:sldId id="263" r:id="rId104"/>
    <p:sldId id="535" r:id="rId105"/>
    <p:sldId id="527" r:id="rId106"/>
    <p:sldId id="261" r:id="rId107"/>
    <p:sldId id="260" r:id="rId108"/>
    <p:sldId id="543" r:id="rId109"/>
    <p:sldId id="554" r:id="rId110"/>
    <p:sldId id="262" r:id="rId111"/>
    <p:sldId id="549"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113888D-4094-41E3-9B34-61F13B1009FF}">
          <p14:sldIdLst>
            <p14:sldId id="264"/>
            <p14:sldId id="555"/>
            <p14:sldId id="326"/>
            <p14:sldId id="256"/>
          </p14:sldIdLst>
        </p14:section>
        <p14:section name="Why another safety talk" id="{E4E0B934-D6B0-4DC8-83A6-C113863BCB6A}">
          <p14:sldIdLst>
            <p14:sldId id="399"/>
            <p14:sldId id="307"/>
            <p14:sldId id="277"/>
            <p14:sldId id="308"/>
            <p14:sldId id="359"/>
          </p14:sldIdLst>
        </p14:section>
        <p14:section name="Where are we" id="{B211F687-8D10-4DF0-9B26-9844EE68C65C}">
          <p14:sldIdLst>
            <p14:sldId id="292"/>
            <p14:sldId id="331"/>
            <p14:sldId id="330"/>
            <p14:sldId id="350"/>
            <p14:sldId id="357"/>
            <p14:sldId id="482"/>
            <p14:sldId id="483"/>
            <p14:sldId id="379"/>
            <p14:sldId id="484"/>
            <p14:sldId id="486"/>
            <p14:sldId id="488"/>
            <p14:sldId id="382"/>
            <p14:sldId id="540"/>
            <p14:sldId id="352"/>
            <p14:sldId id="403"/>
            <p14:sldId id="401"/>
            <p14:sldId id="460"/>
            <p14:sldId id="461"/>
            <p14:sldId id="492"/>
            <p14:sldId id="416"/>
            <p14:sldId id="427"/>
            <p14:sldId id="436"/>
            <p14:sldId id="434"/>
            <p14:sldId id="440"/>
            <p14:sldId id="441"/>
            <p14:sldId id="442"/>
            <p14:sldId id="443"/>
            <p14:sldId id="412"/>
            <p14:sldId id="423"/>
            <p14:sldId id="466"/>
            <p14:sldId id="469"/>
            <p14:sldId id="489"/>
            <p14:sldId id="471"/>
            <p14:sldId id="490"/>
            <p14:sldId id="472"/>
            <p14:sldId id="493"/>
            <p14:sldId id="473"/>
            <p14:sldId id="494"/>
            <p14:sldId id="474"/>
            <p14:sldId id="497"/>
            <p14:sldId id="475"/>
            <p14:sldId id="499"/>
            <p14:sldId id="505"/>
            <p14:sldId id="545"/>
            <p14:sldId id="258"/>
            <p14:sldId id="259"/>
            <p14:sldId id="548"/>
            <p14:sldId id="546"/>
            <p14:sldId id="547"/>
          </p14:sldIdLst>
        </p14:section>
        <p14:section name="Solution Space" id="{0B1B8DF2-A1F1-4B6B-A4D0-3E2583035243}">
          <p14:sldIdLst>
            <p14:sldId id="285"/>
            <p14:sldId id="343"/>
            <p14:sldId id="544"/>
            <p14:sldId id="344"/>
            <p14:sldId id="480"/>
            <p14:sldId id="481"/>
            <p14:sldId id="365"/>
            <p14:sldId id="452"/>
            <p14:sldId id="456"/>
            <p14:sldId id="500"/>
            <p14:sldId id="457"/>
            <p14:sldId id="501"/>
            <p14:sldId id="504"/>
            <p14:sldId id="458"/>
            <p14:sldId id="516"/>
            <p14:sldId id="369"/>
            <p14:sldId id="368"/>
            <p14:sldId id="455"/>
            <p14:sldId id="257"/>
            <p14:sldId id="454"/>
            <p14:sldId id="530"/>
            <p14:sldId id="517"/>
            <p14:sldId id="528"/>
            <p14:sldId id="538"/>
            <p14:sldId id="453"/>
            <p14:sldId id="513"/>
            <p14:sldId id="531"/>
            <p14:sldId id="536"/>
            <p14:sldId id="396"/>
            <p14:sldId id="511"/>
            <p14:sldId id="503"/>
            <p14:sldId id="502"/>
            <p14:sldId id="534"/>
            <p14:sldId id="533"/>
            <p14:sldId id="518"/>
            <p14:sldId id="519"/>
            <p14:sldId id="522"/>
            <p14:sldId id="552"/>
            <p14:sldId id="553"/>
          </p14:sldIdLst>
        </p14:section>
        <p14:section name="Where do we go from here" id="{8E39782B-0EEC-414E-893B-2468982F374A}">
          <p14:sldIdLst>
            <p14:sldId id="288"/>
            <p14:sldId id="498"/>
            <p14:sldId id="495"/>
            <p14:sldId id="514"/>
            <p14:sldId id="526"/>
            <p14:sldId id="263"/>
            <p14:sldId id="535"/>
            <p14:sldId id="527"/>
            <p14:sldId id="261"/>
            <p14:sldId id="260"/>
            <p14:sldId id="543"/>
            <p14:sldId id="554"/>
            <p14:sldId id="262"/>
            <p14:sldId id="54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FA"/>
    <a:srgbClr val="885DE7"/>
    <a:srgbClr val="7B4BE4"/>
    <a:srgbClr val="D9A63A"/>
    <a:srgbClr val="4E9A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1" autoAdjust="0"/>
    <p:restoredTop sz="89728" autoAdjust="0"/>
  </p:normalViewPr>
  <p:slideViewPr>
    <p:cSldViewPr snapToGrid="0">
      <p:cViewPr varScale="1">
        <p:scale>
          <a:sx n="124" d="100"/>
          <a:sy n="124" d="100"/>
        </p:scale>
        <p:origin x="384"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E1466-08C2-4F43-B48D-63D59484EE29}"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40787-E97D-45F3-A711-9B7374994593}" type="slidenum">
              <a:rPr lang="en-US" smtClean="0"/>
              <a:t>‹#›</a:t>
            </a:fld>
            <a:endParaRPr lang="en-US"/>
          </a:p>
        </p:txBody>
      </p:sp>
    </p:spTree>
    <p:extLst>
      <p:ext uri="{BB962C8B-B14F-4D97-AF65-F5344CB8AC3E}">
        <p14:creationId xmlns:p14="http://schemas.microsoft.com/office/powerpoint/2010/main" val="4281567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&lt;introduction&gt;</a:t>
            </a:r>
            <a:br>
              <a:rPr lang="en-US" dirty="0"/>
            </a:br>
            <a:br>
              <a:rPr lang="en-US" dirty="0"/>
            </a:br>
            <a:r>
              <a:rPr lang="en-US" dirty="0"/>
              <a:t>Welcome folks. My name is Ion Todirel, I’m an engineering lead at Microsoft in the C++ team.</a:t>
            </a:r>
          </a:p>
          <a:p>
            <a:endParaRPr lang="en-US" dirty="0"/>
          </a:p>
          <a:p>
            <a:r>
              <a:rPr lang="en-US" dirty="0"/>
              <a:t>Thank you for coming to my talk!</a:t>
            </a:r>
          </a:p>
        </p:txBody>
      </p:sp>
      <p:sp>
        <p:nvSpPr>
          <p:cNvPr id="4" name="Slide Number Placeholder 3"/>
          <p:cNvSpPr>
            <a:spLocks noGrp="1"/>
          </p:cNvSpPr>
          <p:nvPr>
            <p:ph type="sldNum" sz="quarter" idx="5"/>
          </p:nvPr>
        </p:nvSpPr>
        <p:spPr/>
        <p:txBody>
          <a:bodyPr/>
          <a:lstStyle/>
          <a:p>
            <a:fld id="{18640787-E97D-45F3-A711-9B7374994593}" type="slidenum">
              <a:rPr lang="en-US" smtClean="0"/>
              <a:t>1</a:t>
            </a:fld>
            <a:endParaRPr lang="en-US"/>
          </a:p>
        </p:txBody>
      </p:sp>
    </p:spTree>
    <p:extLst>
      <p:ext uri="{BB962C8B-B14F-4D97-AF65-F5344CB8AC3E}">
        <p14:creationId xmlns:p14="http://schemas.microsoft.com/office/powerpoint/2010/main" val="376218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 the style of the deck.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E6697-A968-9093-1193-0DB8B95DD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5B20E1-949B-875B-D794-0579BA22E7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3DCBC6-078D-2618-AFA1-9147BFB69762}"/>
              </a:ext>
            </a:extLst>
          </p:cNvPr>
          <p:cNvSpPr>
            <a:spLocks noGrp="1"/>
          </p:cNvSpPr>
          <p:nvPr>
            <p:ph type="body" idx="1"/>
          </p:nvPr>
        </p:nvSpPr>
        <p:spPr/>
        <p:txBody>
          <a:bodyPr/>
          <a:lstStyle/>
          <a:p>
            <a:r>
              <a:rPr lang="en-US" dirty="0"/>
              <a:t>Microsoft had 5 talks this year. This is the last talk in the series. I hope you had a great </a:t>
            </a:r>
            <a:r>
              <a:rPr lang="en-US" dirty="0" err="1"/>
              <a:t>cppcon</a:t>
            </a:r>
            <a:r>
              <a:rPr lang="en-US" dirty="0"/>
              <a:t> experience so far.</a:t>
            </a:r>
          </a:p>
          <a:p>
            <a:endParaRPr lang="en-US" dirty="0"/>
          </a:p>
          <a:p>
            <a:r>
              <a:rPr lang="en-US" dirty="0"/>
              <a:t>Come find us at the booth.</a:t>
            </a:r>
          </a:p>
        </p:txBody>
      </p:sp>
      <p:sp>
        <p:nvSpPr>
          <p:cNvPr id="4" name="Slide Number Placeholder 3">
            <a:extLst>
              <a:ext uri="{FF2B5EF4-FFF2-40B4-BE49-F238E27FC236}">
                <a16:creationId xmlns:a16="http://schemas.microsoft.com/office/drawing/2014/main" id="{D8DC9836-6DD0-A059-4BEF-01AF3E02606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74407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We’ve got a lot of discussion about C++ safety in the last 10 years</a:t>
            </a:r>
          </a:p>
          <a:p>
            <a:endParaRPr lang="en-US" dirty="0"/>
          </a:p>
          <a:p>
            <a:r>
              <a:rPr lang="en-US" dirty="0"/>
              <a:t>I’ve counted over 50 talks at various conferences. And the number of talks on safety has only been increasing recently.</a:t>
            </a:r>
          </a:p>
        </p:txBody>
      </p:sp>
      <p:sp>
        <p:nvSpPr>
          <p:cNvPr id="4" name="Slide Number Placeholder 3"/>
          <p:cNvSpPr>
            <a:spLocks noGrp="1"/>
          </p:cNvSpPr>
          <p:nvPr>
            <p:ph type="sldNum" sz="quarter" idx="5"/>
          </p:nvPr>
        </p:nvSpPr>
        <p:spPr/>
        <p:txBody>
          <a:bodyPr/>
          <a:lstStyle/>
          <a:p>
            <a:fld id="{18640787-E97D-45F3-A711-9B7374994593}" type="slidenum">
              <a:rPr lang="en-US" smtClean="0"/>
              <a:t>6</a:t>
            </a:fld>
            <a:endParaRPr lang="en-US"/>
          </a:p>
        </p:txBody>
      </p:sp>
    </p:spTree>
    <p:extLst>
      <p:ext uri="{BB962C8B-B14F-4D97-AF65-F5344CB8AC3E}">
        <p14:creationId xmlns:p14="http://schemas.microsoft.com/office/powerpoint/2010/main" val="288758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8</a:t>
            </a:fld>
            <a:endParaRPr lang="en-US"/>
          </a:p>
        </p:txBody>
      </p:sp>
    </p:spTree>
    <p:extLst>
      <p:ext uri="{BB962C8B-B14F-4D97-AF65-F5344CB8AC3E}">
        <p14:creationId xmlns:p14="http://schemas.microsoft.com/office/powerpoint/2010/main" val="3156095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&lt;rust entered&gt;</a:t>
            </a:r>
            <a:br>
              <a:rPr lang="en-US" dirty="0"/>
            </a:br>
            <a:br>
              <a:rPr lang="en-US" dirty="0"/>
            </a:br>
            <a:r>
              <a:rPr lang="en-US" dirty="0"/>
              <a:t>Four things changed in the last 10 years.</a:t>
            </a:r>
          </a:p>
          <a:p>
            <a:r>
              <a:rPr lang="en-US" dirty="0"/>
              <a:t>Rust entered the TIOBE top 10 and got adopted in many large organizations. Most notably the Linux kernel and Windows.</a:t>
            </a:r>
          </a:p>
          <a:p>
            <a:r>
              <a:rPr lang="en-US" dirty="0"/>
              <a:t>The NSA tells the industry to leave C/C++ for memory safe alternatives, like Rust.</a:t>
            </a:r>
          </a:p>
          <a:p>
            <a:r>
              <a:rPr lang="en-US" dirty="0"/>
              <a:t>The numbers of reported CVE, doubled 25K in 2022 and 48K in 2025. A new record.</a:t>
            </a:r>
          </a:p>
          <a:p>
            <a:r>
              <a:rPr lang="en-US" dirty="0"/>
              <a:t>ChatGPT lunches, Anthropic gets funded, both delivering frontier models that allow writing code at scale.</a:t>
            </a:r>
          </a:p>
          <a:p>
            <a:r>
              <a:rPr lang="en-US" dirty="0"/>
              <a:t>C++ developers grew 73 percent, 9.4 million to 16.3 million according to Slashdot.</a:t>
            </a:r>
          </a:p>
          <a:p>
            <a:r>
              <a:rPr lang="en-US" dirty="0"/>
              <a:t>Meanwhile 5.6 percent of four standards’ (C++17, C++20, C++23, C++26) worth of new wording is about safety.</a:t>
            </a:r>
          </a:p>
          <a:p>
            <a:r>
              <a:rPr lang="en-US" dirty="0"/>
              <a:t>As long as C++ is unsafe, I think we must talk about safety.</a:t>
            </a:r>
          </a:p>
        </p:txBody>
      </p:sp>
      <p:sp>
        <p:nvSpPr>
          <p:cNvPr id="4" name="Slide Number Placeholder 3"/>
          <p:cNvSpPr>
            <a:spLocks noGrp="1"/>
          </p:cNvSpPr>
          <p:nvPr>
            <p:ph type="sldNum" sz="quarter" idx="5"/>
          </p:nvPr>
        </p:nvSpPr>
        <p:spPr/>
        <p:txBody>
          <a:bodyPr/>
          <a:lstStyle/>
          <a:p>
            <a:fld id="{18640787-E97D-45F3-A711-9B7374994593}" type="slidenum">
              <a:rPr lang="en-US" smtClean="0"/>
              <a:t>9</a:t>
            </a:fld>
            <a:endParaRPr lang="en-US"/>
          </a:p>
        </p:txBody>
      </p:sp>
    </p:spTree>
    <p:extLst>
      <p:ext uri="{BB962C8B-B14F-4D97-AF65-F5344CB8AC3E}">
        <p14:creationId xmlns:p14="http://schemas.microsoft.com/office/powerpoint/2010/main" val="1065130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&lt;we have to care about safety&gt;</a:t>
            </a:r>
            <a:br>
              <a:rPr lang="en-US" dirty="0"/>
            </a:br>
            <a:br>
              <a:rPr lang="en-US" dirty="0"/>
            </a:br>
            <a:r>
              <a:rPr lang="en-US" dirty="0"/>
              <a:t>We have to care about safety.</a:t>
            </a:r>
          </a:p>
          <a:p>
            <a:r>
              <a:rPr lang="en-US" dirty="0"/>
              <a:t>Bad software and software bugs have real world consequences.</a:t>
            </a:r>
          </a:p>
          <a:p>
            <a:r>
              <a:rPr lang="en-US" dirty="0"/>
              <a:t>You might not be in an industry where safety has a big impact, but one way or another it is impacting or will be impacting your customers.</a:t>
            </a:r>
          </a:p>
          <a:p>
            <a:r>
              <a:rPr lang="en-US" dirty="0"/>
              <a:t>Therac-25 and Ariane 5 are the classics that everyone knows.</a:t>
            </a:r>
          </a:p>
        </p:txBody>
      </p:sp>
      <p:sp>
        <p:nvSpPr>
          <p:cNvPr id="4" name="Slide Number Placeholder 3"/>
          <p:cNvSpPr>
            <a:spLocks noGrp="1"/>
          </p:cNvSpPr>
          <p:nvPr>
            <p:ph type="sldNum" sz="quarter" idx="5"/>
          </p:nvPr>
        </p:nvSpPr>
        <p:spPr/>
        <p:txBody>
          <a:bodyPr/>
          <a:lstStyle/>
          <a:p>
            <a:fld id="{18640787-E97D-45F3-A711-9B7374994593}" type="slidenum">
              <a:rPr lang="en-US" smtClean="0"/>
              <a:t>11</a:t>
            </a:fld>
            <a:endParaRPr lang="en-US"/>
          </a:p>
        </p:txBody>
      </p:sp>
    </p:spTree>
    <p:extLst>
      <p:ext uri="{BB962C8B-B14F-4D97-AF65-F5344CB8AC3E}">
        <p14:creationId xmlns:p14="http://schemas.microsoft.com/office/powerpoint/2010/main" val="2899967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Here's the story we all know.</a:t>
            </a:r>
          </a:p>
          <a:p>
            <a:r>
              <a:rPr lang="en-US" dirty="0"/>
              <a:t>70 percent of vulnerabilities are memory bugs, buffer overflow is the classic, memory safe languages fix it.</a:t>
            </a:r>
          </a:p>
          <a:p>
            <a:endParaRPr lang="en-US" dirty="0"/>
          </a:p>
          <a:p>
            <a:r>
              <a:rPr lang="en-US" dirty="0"/>
              <a:t>It is not wrong, but it is incomplete.</a:t>
            </a:r>
          </a:p>
        </p:txBody>
      </p:sp>
      <p:sp>
        <p:nvSpPr>
          <p:cNvPr id="4" name="Slide Number Placeholder 3"/>
          <p:cNvSpPr>
            <a:spLocks noGrp="1"/>
          </p:cNvSpPr>
          <p:nvPr>
            <p:ph type="sldNum" sz="quarter" idx="5"/>
          </p:nvPr>
        </p:nvSpPr>
        <p:spPr/>
        <p:txBody>
          <a:bodyPr/>
          <a:lstStyle/>
          <a:p>
            <a:fld id="{18640787-E97D-45F3-A711-9B7374994593}" type="slidenum">
              <a:rPr lang="en-US" smtClean="0"/>
              <a:t>12</a:t>
            </a:fld>
            <a:endParaRPr lang="en-US"/>
          </a:p>
        </p:txBody>
      </p:sp>
    </p:spTree>
    <p:extLst>
      <p:ext uri="{BB962C8B-B14F-4D97-AF65-F5344CB8AC3E}">
        <p14:creationId xmlns:p14="http://schemas.microsoft.com/office/powerpoint/2010/main" val="993442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85C2A-D16C-6C78-AAEC-F3C58052B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7133DF-9A76-749E-3696-BDB3FB80EF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557337-5383-4E98-2F02-967B308BF95E}"/>
              </a:ext>
            </a:extLst>
          </p:cNvPr>
          <p:cNvSpPr>
            <a:spLocks noGrp="1"/>
          </p:cNvSpPr>
          <p:nvPr>
            <p:ph type="body" idx="1"/>
          </p:nvPr>
        </p:nvSpPr>
        <p:spPr/>
        <p:txBody>
          <a:bodyPr/>
          <a:lstStyle/>
          <a:p>
            <a:r>
              <a:rPr lang="en-US" dirty="0"/>
              <a:t>&lt;I pulled&gt;</a:t>
            </a:r>
            <a:br>
              <a:rPr lang="en-US" dirty="0"/>
            </a:br>
            <a:br>
              <a:rPr lang="en-US" dirty="0"/>
            </a:br>
            <a:r>
              <a:rPr lang="en-US" dirty="0"/>
              <a:t>I pulled every CVE from 2016 to 2026 and grouped them by product.</a:t>
            </a:r>
          </a:p>
          <a:p>
            <a:r>
              <a:rPr lang="en-US" dirty="0"/>
              <a:t>This table shows the top 100 products with most CVE reports.</a:t>
            </a:r>
          </a:p>
          <a:p>
            <a:r>
              <a:rPr lang="en-US" dirty="0"/>
              <a:t>Operating systems alone take a 53% share.</a:t>
            </a:r>
          </a:p>
          <a:p>
            <a:r>
              <a:rPr lang="en-US" dirty="0"/>
              <a:t>And if we look at the products where we see vulnerabilities are, this seems to scale with popularity.</a:t>
            </a:r>
          </a:p>
          <a:p>
            <a:r>
              <a:rPr lang="en-US" dirty="0"/>
              <a:t>Operating systems and browsers are products everyone is using.</a:t>
            </a:r>
          </a:p>
        </p:txBody>
      </p:sp>
      <p:sp>
        <p:nvSpPr>
          <p:cNvPr id="4" name="Slide Number Placeholder 3">
            <a:extLst>
              <a:ext uri="{FF2B5EF4-FFF2-40B4-BE49-F238E27FC236}">
                <a16:creationId xmlns:a16="http://schemas.microsoft.com/office/drawing/2014/main" id="{CE31ED19-B625-04C5-2B9D-CC19CA419372}"/>
              </a:ext>
            </a:extLst>
          </p:cNvPr>
          <p:cNvSpPr>
            <a:spLocks noGrp="1"/>
          </p:cNvSpPr>
          <p:nvPr>
            <p:ph type="sldNum" sz="quarter" idx="5"/>
          </p:nvPr>
        </p:nvSpPr>
        <p:spPr/>
        <p:txBody>
          <a:bodyPr/>
          <a:lstStyle/>
          <a:p>
            <a:fld id="{18640787-E97D-45F3-A711-9B7374994593}" type="slidenum">
              <a:rPr lang="en-US" smtClean="0"/>
              <a:t>13</a:t>
            </a:fld>
            <a:endParaRPr lang="en-US"/>
          </a:p>
        </p:txBody>
      </p:sp>
    </p:spTree>
    <p:extLst>
      <p:ext uri="{BB962C8B-B14F-4D97-AF65-F5344CB8AC3E}">
        <p14:creationId xmlns:p14="http://schemas.microsoft.com/office/powerpoint/2010/main" val="2056062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Now by defect. Out-of-bounds is half of everything classified, memory safety as a group is 68 percent.</a:t>
            </a:r>
          </a:p>
          <a:p>
            <a:r>
              <a:rPr lang="en-US" dirty="0"/>
              <a:t>But look at the rest. Resource exhaustion, integer overflow, races, infinite loops.</a:t>
            </a:r>
          </a:p>
          <a:p>
            <a:r>
              <a:rPr lang="en-US" dirty="0"/>
              <a:t>A third of the problem is not memory.</a:t>
            </a:r>
          </a:p>
        </p:txBody>
      </p:sp>
      <p:sp>
        <p:nvSpPr>
          <p:cNvPr id="4" name="Slide Number Placeholder 3"/>
          <p:cNvSpPr>
            <a:spLocks noGrp="1"/>
          </p:cNvSpPr>
          <p:nvPr>
            <p:ph type="sldNum" sz="quarter" idx="5"/>
          </p:nvPr>
        </p:nvSpPr>
        <p:spPr/>
        <p:txBody>
          <a:bodyPr/>
          <a:lstStyle/>
          <a:p>
            <a:fld id="{18640787-E97D-45F3-A711-9B7374994593}" type="slidenum">
              <a:rPr lang="en-US" smtClean="0"/>
              <a:t>14</a:t>
            </a:fld>
            <a:endParaRPr lang="en-US"/>
          </a:p>
        </p:txBody>
      </p:sp>
    </p:spTree>
    <p:extLst>
      <p:ext uri="{BB962C8B-B14F-4D97-AF65-F5344CB8AC3E}">
        <p14:creationId xmlns:p14="http://schemas.microsoft.com/office/powerpoint/2010/main" val="1570591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&lt;but another 17% is about data and interface, 1/3 is not memory safety&gt;</a:t>
            </a:r>
          </a:p>
        </p:txBody>
      </p:sp>
      <p:sp>
        <p:nvSpPr>
          <p:cNvPr id="4" name="Slide Number Placeholder 3"/>
          <p:cNvSpPr>
            <a:spLocks noGrp="1"/>
          </p:cNvSpPr>
          <p:nvPr>
            <p:ph type="sldNum" sz="quarter" idx="5"/>
          </p:nvPr>
        </p:nvSpPr>
        <p:spPr/>
        <p:txBody>
          <a:bodyPr/>
          <a:lstStyle/>
          <a:p>
            <a:fld id="{18640787-E97D-45F3-A711-9B7374994593}" type="slidenum">
              <a:rPr lang="en-US" smtClean="0"/>
              <a:t>16</a:t>
            </a:fld>
            <a:endParaRPr lang="en-US"/>
          </a:p>
        </p:txBody>
      </p:sp>
    </p:spTree>
    <p:extLst>
      <p:ext uri="{BB962C8B-B14F-4D97-AF65-F5344CB8AC3E}">
        <p14:creationId xmlns:p14="http://schemas.microsoft.com/office/powerpoint/2010/main" val="60823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Now filter to the 1,500 CVEs CISA confirmed were exploited in the wild.</a:t>
            </a:r>
          </a:p>
          <a:p>
            <a:r>
              <a:rPr lang="en-US" dirty="0"/>
              <a:t>Interface and data issues are 34 percent, memory safety drops to 22 percent, app security is 20 percent.</a:t>
            </a:r>
          </a:p>
          <a:p>
            <a:r>
              <a:rPr lang="en-US" dirty="0"/>
              <a:t>Attackers don't care about our categories.</a:t>
            </a:r>
          </a:p>
          <a:p>
            <a:r>
              <a:rPr lang="en-US" dirty="0"/>
              <a:t>Memory unsafety is what gets exploited when nothing easier is available.</a:t>
            </a:r>
          </a:p>
        </p:txBody>
      </p:sp>
      <p:sp>
        <p:nvSpPr>
          <p:cNvPr id="4" name="Slide Number Placeholder 3"/>
          <p:cNvSpPr>
            <a:spLocks noGrp="1"/>
          </p:cNvSpPr>
          <p:nvPr>
            <p:ph type="sldNum" sz="quarter" idx="5"/>
          </p:nvPr>
        </p:nvSpPr>
        <p:spPr/>
        <p:txBody>
          <a:bodyPr/>
          <a:lstStyle/>
          <a:p>
            <a:fld id="{18640787-E97D-45F3-A711-9B7374994593}" type="slidenum">
              <a:rPr lang="en-US" smtClean="0"/>
              <a:t>17</a:t>
            </a:fld>
            <a:endParaRPr lang="en-US"/>
          </a:p>
        </p:txBody>
      </p:sp>
    </p:spTree>
    <p:extLst>
      <p:ext uri="{BB962C8B-B14F-4D97-AF65-F5344CB8AC3E}">
        <p14:creationId xmlns:p14="http://schemas.microsoft.com/office/powerpoint/2010/main" val="3604161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18</a:t>
            </a:fld>
            <a:endParaRPr lang="en-US"/>
          </a:p>
        </p:txBody>
      </p:sp>
    </p:spTree>
    <p:extLst>
      <p:ext uri="{BB962C8B-B14F-4D97-AF65-F5344CB8AC3E}">
        <p14:creationId xmlns:p14="http://schemas.microsoft.com/office/powerpoint/2010/main" val="1001467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&lt;Interface and data issues are 34 percent&gt;</a:t>
            </a:r>
          </a:p>
        </p:txBody>
      </p:sp>
      <p:sp>
        <p:nvSpPr>
          <p:cNvPr id="4" name="Slide Number Placeholder 3"/>
          <p:cNvSpPr>
            <a:spLocks noGrp="1"/>
          </p:cNvSpPr>
          <p:nvPr>
            <p:ph type="sldNum" sz="quarter" idx="5"/>
          </p:nvPr>
        </p:nvSpPr>
        <p:spPr/>
        <p:txBody>
          <a:bodyPr/>
          <a:lstStyle/>
          <a:p>
            <a:fld id="{18640787-E97D-45F3-A711-9B7374994593}" type="slidenum">
              <a:rPr lang="en-US" smtClean="0"/>
              <a:t>19</a:t>
            </a:fld>
            <a:endParaRPr lang="en-US"/>
          </a:p>
        </p:txBody>
      </p:sp>
    </p:spTree>
    <p:extLst>
      <p:ext uri="{BB962C8B-B14F-4D97-AF65-F5344CB8AC3E}">
        <p14:creationId xmlns:p14="http://schemas.microsoft.com/office/powerpoint/2010/main" val="418096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 groups</a:t>
            </a:r>
            <a:br>
              <a:rPr lang="en-US" dirty="0"/>
            </a:br>
            <a:r>
              <a:rPr lang="en-US" dirty="0"/>
              <a:t>33 categories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taxonomy</a:t>
            </a:r>
          </a:p>
        </p:txBody>
      </p:sp>
      <p:sp>
        <p:nvSpPr>
          <p:cNvPr id="4" name="Slide Number Placeholder 3"/>
          <p:cNvSpPr>
            <a:spLocks noGrp="1"/>
          </p:cNvSpPr>
          <p:nvPr>
            <p:ph type="sldNum" sz="quarter" idx="5"/>
          </p:nvPr>
        </p:nvSpPr>
        <p:spPr/>
        <p:txBody>
          <a:bodyPr/>
          <a:lstStyle/>
          <a:p>
            <a:fld id="{18640787-E97D-45F3-A711-9B7374994593}" type="slidenum">
              <a:rPr lang="en-US" smtClean="0"/>
              <a:t>20</a:t>
            </a:fld>
            <a:endParaRPr lang="en-US"/>
          </a:p>
        </p:txBody>
      </p:sp>
    </p:spTree>
    <p:extLst>
      <p:ext uri="{BB962C8B-B14F-4D97-AF65-F5344CB8AC3E}">
        <p14:creationId xmlns:p14="http://schemas.microsoft.com/office/powerpoint/2010/main" val="2274167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FE67-D0BA-38EB-5537-F44CBD889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50002-EB8B-9A63-D5DF-8014229E6A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74DBA0-24C3-ABBB-1B83-164F56601E72}"/>
              </a:ext>
            </a:extLst>
          </p:cNvPr>
          <p:cNvSpPr>
            <a:spLocks noGrp="1"/>
          </p:cNvSpPr>
          <p:nvPr>
            <p:ph type="body" idx="1"/>
          </p:nvPr>
        </p:nvSpPr>
        <p:spPr/>
        <p:txBody>
          <a:bodyPr/>
          <a:lstStyle/>
          <a:p>
            <a:r>
              <a:rPr lang="en-US" dirty="0"/>
              <a:t>I built a taxonomy.</a:t>
            </a:r>
          </a:p>
          <a:p>
            <a:r>
              <a:rPr lang="en-US" dirty="0"/>
              <a:t>Seven groups, 33 categories.</a:t>
            </a:r>
          </a:p>
          <a:p>
            <a:r>
              <a:rPr lang="en-US" dirty="0"/>
              <a:t>Memory safety is one group of seven.</a:t>
            </a:r>
          </a:p>
          <a:p>
            <a:r>
              <a:rPr lang="en-US" dirty="0"/>
              <a:t>&lt;Talk more here&gt;</a:t>
            </a:r>
          </a:p>
        </p:txBody>
      </p:sp>
      <p:sp>
        <p:nvSpPr>
          <p:cNvPr id="4" name="Slide Number Placeholder 3">
            <a:extLst>
              <a:ext uri="{FF2B5EF4-FFF2-40B4-BE49-F238E27FC236}">
                <a16:creationId xmlns:a16="http://schemas.microsoft.com/office/drawing/2014/main" id="{5B290F62-71E9-F8C5-4C4A-A23ED2C2D1E1}"/>
              </a:ext>
            </a:extLst>
          </p:cNvPr>
          <p:cNvSpPr>
            <a:spLocks noGrp="1"/>
          </p:cNvSpPr>
          <p:nvPr>
            <p:ph type="sldNum" sz="quarter" idx="5"/>
          </p:nvPr>
        </p:nvSpPr>
        <p:spPr/>
        <p:txBody>
          <a:bodyPr/>
          <a:lstStyle/>
          <a:p>
            <a:fld id="{18640787-E97D-45F3-A711-9B7374994593}" type="slidenum">
              <a:rPr lang="en-US" smtClean="0"/>
              <a:t>21</a:t>
            </a:fld>
            <a:endParaRPr lang="en-US"/>
          </a:p>
        </p:txBody>
      </p:sp>
    </p:spTree>
    <p:extLst>
      <p:ext uri="{BB962C8B-B14F-4D97-AF65-F5344CB8AC3E}">
        <p14:creationId xmlns:p14="http://schemas.microsoft.com/office/powerpoint/2010/main" val="2437274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7FE67-D0BA-38EB-5537-F44CBD889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50002-EB8B-9A63-D5DF-8014229E6A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74DBA0-24C3-ABBB-1B83-164F56601E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290F62-71E9-F8C5-4C4A-A23ED2C2D1E1}"/>
              </a:ext>
            </a:extLst>
          </p:cNvPr>
          <p:cNvSpPr>
            <a:spLocks noGrp="1"/>
          </p:cNvSpPr>
          <p:nvPr>
            <p:ph type="sldNum" sz="quarter" idx="5"/>
          </p:nvPr>
        </p:nvSpPr>
        <p:spPr/>
        <p:txBody>
          <a:bodyPr/>
          <a:lstStyle/>
          <a:p>
            <a:fld id="{18640787-E97D-45F3-A711-9B7374994593}" type="slidenum">
              <a:rPr lang="en-US" smtClean="0"/>
              <a:t>22</a:t>
            </a:fld>
            <a:endParaRPr lang="en-US"/>
          </a:p>
        </p:txBody>
      </p:sp>
    </p:spTree>
    <p:extLst>
      <p:ext uri="{BB962C8B-B14F-4D97-AF65-F5344CB8AC3E}">
        <p14:creationId xmlns:p14="http://schemas.microsoft.com/office/powerpoint/2010/main" val="24372749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94D07-3019-1C16-B1E5-DFE0ED54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7B1A-1635-5683-BBB2-0E091121A3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2D8690-5BA6-5D47-46A6-7868385CBB43}"/>
              </a:ext>
            </a:extLst>
          </p:cNvPr>
          <p:cNvSpPr>
            <a:spLocks noGrp="1"/>
          </p:cNvSpPr>
          <p:nvPr>
            <p:ph type="body" idx="1"/>
          </p:nvPr>
        </p:nvSpPr>
        <p:spPr/>
        <p:txBody>
          <a:bodyPr/>
          <a:lstStyle/>
          <a:p>
            <a:r>
              <a:rPr lang="en-US" dirty="0"/>
              <a:t>Now overlay the CVE counts.</a:t>
            </a:r>
          </a:p>
          <a:p>
            <a:r>
              <a:rPr lang="en-US" dirty="0"/>
              <a:t>The heat is in bounds, lifetime and null, exactly where everyone expects.</a:t>
            </a:r>
          </a:p>
          <a:p>
            <a:r>
              <a:rPr lang="en-US" dirty="0"/>
              <a:t>But it's not zero anywhere.</a:t>
            </a:r>
          </a:p>
          <a:p>
            <a:r>
              <a:rPr lang="en-US" dirty="0"/>
              <a:t>Every cell on this grid has real CVEs behind it.</a:t>
            </a:r>
          </a:p>
        </p:txBody>
      </p:sp>
      <p:sp>
        <p:nvSpPr>
          <p:cNvPr id="4" name="Slide Number Placeholder 3">
            <a:extLst>
              <a:ext uri="{FF2B5EF4-FFF2-40B4-BE49-F238E27FC236}">
                <a16:creationId xmlns:a16="http://schemas.microsoft.com/office/drawing/2014/main" id="{6C693E49-BCD4-1D68-DAE6-F8768C3F5E26}"/>
              </a:ext>
            </a:extLst>
          </p:cNvPr>
          <p:cNvSpPr>
            <a:spLocks noGrp="1"/>
          </p:cNvSpPr>
          <p:nvPr>
            <p:ph type="sldNum" sz="quarter" idx="5"/>
          </p:nvPr>
        </p:nvSpPr>
        <p:spPr/>
        <p:txBody>
          <a:bodyPr/>
          <a:lstStyle/>
          <a:p>
            <a:fld id="{18640787-E97D-45F3-A711-9B7374994593}" type="slidenum">
              <a:rPr lang="en-US" smtClean="0"/>
              <a:t>23</a:t>
            </a:fld>
            <a:endParaRPr lang="en-US"/>
          </a:p>
        </p:txBody>
      </p:sp>
    </p:spTree>
    <p:extLst>
      <p:ext uri="{BB962C8B-B14F-4D97-AF65-F5344CB8AC3E}">
        <p14:creationId xmlns:p14="http://schemas.microsoft.com/office/powerpoint/2010/main" val="316795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&lt;variation, is data lie to us&gt;</a:t>
            </a:r>
            <a:br>
              <a:rPr lang="en-US" dirty="0"/>
            </a:br>
            <a:br>
              <a:rPr lang="en-US" dirty="0"/>
            </a:br>
            <a:r>
              <a:rPr lang="en-US" dirty="0"/>
              <a:t>Fair question, does this depend on who classified the data. </a:t>
            </a:r>
          </a:p>
          <a:p>
            <a:r>
              <a:rPr lang="en-US" dirty="0"/>
              <a:t>This graph shows there is variation across providers, but our taxonomy hot spot holds.</a:t>
            </a:r>
          </a:p>
          <a:p>
            <a:r>
              <a:rPr lang="en-US" dirty="0"/>
              <a:t>NVD and MSRC classify vulnerabilities independently, and the other five providers build on the CVE corpus with their own enrichment and filtering.</a:t>
            </a:r>
          </a:p>
        </p:txBody>
      </p:sp>
      <p:sp>
        <p:nvSpPr>
          <p:cNvPr id="4" name="Slide Number Placeholder 3"/>
          <p:cNvSpPr>
            <a:spLocks noGrp="1"/>
          </p:cNvSpPr>
          <p:nvPr>
            <p:ph type="sldNum" sz="quarter" idx="5"/>
          </p:nvPr>
        </p:nvSpPr>
        <p:spPr/>
        <p:txBody>
          <a:bodyPr/>
          <a:lstStyle/>
          <a:p>
            <a:fld id="{18640787-E97D-45F3-A711-9B7374994593}" type="slidenum">
              <a:rPr lang="en-US" smtClean="0"/>
              <a:t>24</a:t>
            </a:fld>
            <a:endParaRPr lang="en-US"/>
          </a:p>
        </p:txBody>
      </p:sp>
    </p:spTree>
    <p:extLst>
      <p:ext uri="{BB962C8B-B14F-4D97-AF65-F5344CB8AC3E}">
        <p14:creationId xmlns:p14="http://schemas.microsoft.com/office/powerpoint/2010/main" val="2996199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94D07-3019-1C16-B1E5-DFE0ED54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7B1A-1635-5683-BBB2-0E091121A3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2D8690-5BA6-5D47-46A6-7868385CBB43}"/>
              </a:ext>
            </a:extLst>
          </p:cNvPr>
          <p:cNvSpPr>
            <a:spLocks noGrp="1"/>
          </p:cNvSpPr>
          <p:nvPr>
            <p:ph type="body" idx="1"/>
          </p:nvPr>
        </p:nvSpPr>
        <p:spPr/>
        <p:txBody>
          <a:bodyPr/>
          <a:lstStyle/>
          <a:p>
            <a:r>
              <a:rPr lang="en-US" dirty="0"/>
              <a:t>And here we look at the hot spot variation across the providers.</a:t>
            </a:r>
          </a:p>
        </p:txBody>
      </p:sp>
      <p:sp>
        <p:nvSpPr>
          <p:cNvPr id="4" name="Slide Number Placeholder 3">
            <a:extLst>
              <a:ext uri="{FF2B5EF4-FFF2-40B4-BE49-F238E27FC236}">
                <a16:creationId xmlns:a16="http://schemas.microsoft.com/office/drawing/2014/main" id="{6C693E49-BCD4-1D68-DAE6-F8768C3F5E26}"/>
              </a:ext>
            </a:extLst>
          </p:cNvPr>
          <p:cNvSpPr>
            <a:spLocks noGrp="1"/>
          </p:cNvSpPr>
          <p:nvPr>
            <p:ph type="sldNum" sz="quarter" idx="5"/>
          </p:nvPr>
        </p:nvSpPr>
        <p:spPr/>
        <p:txBody>
          <a:bodyPr/>
          <a:lstStyle/>
          <a:p>
            <a:fld id="{18640787-E97D-45F3-A711-9B7374994593}" type="slidenum">
              <a:rPr lang="en-US" smtClean="0"/>
              <a:t>25</a:t>
            </a:fld>
            <a:endParaRPr lang="en-US"/>
          </a:p>
        </p:txBody>
      </p:sp>
    </p:spTree>
    <p:extLst>
      <p:ext uri="{BB962C8B-B14F-4D97-AF65-F5344CB8AC3E}">
        <p14:creationId xmlns:p14="http://schemas.microsoft.com/office/powerpoint/2010/main" val="3167959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94D07-3019-1C16-B1E5-DFE0ED54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7B1A-1635-5683-BBB2-0E091121A3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2D8690-5BA6-5D47-46A6-7868385CBB43}"/>
              </a:ext>
            </a:extLst>
          </p:cNvPr>
          <p:cNvSpPr>
            <a:spLocks noGrp="1"/>
          </p:cNvSpPr>
          <p:nvPr>
            <p:ph type="body" idx="1"/>
          </p:nvPr>
        </p:nvSpPr>
        <p:spPr/>
        <p:txBody>
          <a:bodyPr/>
          <a:lstStyle/>
          <a:p>
            <a:r>
              <a:rPr lang="en-US" dirty="0"/>
              <a:t>Drill one level down, based on data from NVD.</a:t>
            </a:r>
          </a:p>
        </p:txBody>
      </p:sp>
      <p:sp>
        <p:nvSpPr>
          <p:cNvPr id="4" name="Slide Number Placeholder 3">
            <a:extLst>
              <a:ext uri="{FF2B5EF4-FFF2-40B4-BE49-F238E27FC236}">
                <a16:creationId xmlns:a16="http://schemas.microsoft.com/office/drawing/2014/main" id="{6C693E49-BCD4-1D68-DAE6-F8768C3F5E26}"/>
              </a:ext>
            </a:extLst>
          </p:cNvPr>
          <p:cNvSpPr>
            <a:spLocks noGrp="1"/>
          </p:cNvSpPr>
          <p:nvPr>
            <p:ph type="sldNum" sz="quarter" idx="5"/>
          </p:nvPr>
        </p:nvSpPr>
        <p:spPr/>
        <p:txBody>
          <a:bodyPr/>
          <a:lstStyle/>
          <a:p>
            <a:fld id="{18640787-E97D-45F3-A711-9B7374994593}" type="slidenum">
              <a:rPr lang="en-US" smtClean="0"/>
              <a:t>26</a:t>
            </a:fld>
            <a:endParaRPr lang="en-US"/>
          </a:p>
        </p:txBody>
      </p:sp>
    </p:spTree>
    <p:extLst>
      <p:ext uri="{BB962C8B-B14F-4D97-AF65-F5344CB8AC3E}">
        <p14:creationId xmlns:p14="http://schemas.microsoft.com/office/powerpoint/2010/main" val="19417020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B2DBD-8352-3881-1BAE-A5DFF1A01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8E74E-CE7A-8FA4-3C53-439A392AA9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F97079-9E97-982C-5743-EE57DAA2CD09}"/>
              </a:ext>
            </a:extLst>
          </p:cNvPr>
          <p:cNvSpPr>
            <a:spLocks noGrp="1"/>
          </p:cNvSpPr>
          <p:nvPr>
            <p:ph type="body" idx="1"/>
          </p:nvPr>
        </p:nvSpPr>
        <p:spPr/>
        <p:txBody>
          <a:bodyPr/>
          <a:lstStyle/>
          <a:p>
            <a:r>
              <a:rPr lang="en-US" dirty="0"/>
              <a:t>These ten are where the volume is.</a:t>
            </a:r>
          </a:p>
          <a:p>
            <a:r>
              <a:rPr lang="en-US" dirty="0"/>
              <a:t>Out-of-bounds write and read, use after free, null </a:t>
            </a:r>
            <a:r>
              <a:rPr lang="en-US" dirty="0" err="1"/>
              <a:t>deref</a:t>
            </a:r>
            <a:r>
              <a:rPr lang="en-US" dirty="0"/>
              <a:t>, resource exhaustion, integer overflow, allocation without limits, untrusted deserialization, data races, uninitialized reads, type confusion.</a:t>
            </a:r>
          </a:p>
        </p:txBody>
      </p:sp>
      <p:sp>
        <p:nvSpPr>
          <p:cNvPr id="4" name="Slide Number Placeholder 3">
            <a:extLst>
              <a:ext uri="{FF2B5EF4-FFF2-40B4-BE49-F238E27FC236}">
                <a16:creationId xmlns:a16="http://schemas.microsoft.com/office/drawing/2014/main" id="{9287D482-F00B-AA44-679F-3D01AA7C7697}"/>
              </a:ext>
            </a:extLst>
          </p:cNvPr>
          <p:cNvSpPr>
            <a:spLocks noGrp="1"/>
          </p:cNvSpPr>
          <p:nvPr>
            <p:ph type="sldNum" sz="quarter" idx="5"/>
          </p:nvPr>
        </p:nvSpPr>
        <p:spPr/>
        <p:txBody>
          <a:bodyPr/>
          <a:lstStyle/>
          <a:p>
            <a:fld id="{18640787-E97D-45F3-A711-9B7374994593}" type="slidenum">
              <a:rPr lang="en-US" smtClean="0"/>
              <a:t>27</a:t>
            </a:fld>
            <a:endParaRPr lang="en-US"/>
          </a:p>
        </p:txBody>
      </p:sp>
    </p:spTree>
    <p:extLst>
      <p:ext uri="{BB962C8B-B14F-4D97-AF65-F5344CB8AC3E}">
        <p14:creationId xmlns:p14="http://schemas.microsoft.com/office/powerpoint/2010/main" val="21365271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28</a:t>
            </a:fld>
            <a:endParaRPr lang="en-US"/>
          </a:p>
        </p:txBody>
      </p:sp>
    </p:spTree>
    <p:extLst>
      <p:ext uri="{BB962C8B-B14F-4D97-AF65-F5344CB8AC3E}">
        <p14:creationId xmlns:p14="http://schemas.microsoft.com/office/powerpoint/2010/main" val="3938970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C/C++ has been in the news a lot lately.</a:t>
            </a:r>
          </a:p>
          <a:p>
            <a:br>
              <a:rPr lang="en-US" dirty="0"/>
            </a:br>
            <a:r>
              <a:rPr lang="en-US" dirty="0"/>
              <a:t>Governments recommending memory safe alternatives.</a:t>
            </a:r>
          </a:p>
          <a:p>
            <a:r>
              <a:rPr lang="en-US" dirty="0"/>
              <a:t>DARPA project tractor to convert unsafe C code to Rust.</a:t>
            </a:r>
          </a:p>
          <a:p>
            <a:r>
              <a:rPr lang="en-US" dirty="0"/>
              <a:t>Rust adoption stories , like Google and Microsoft adopting it in Android and Windows kernel.</a:t>
            </a:r>
          </a:p>
          <a:p>
            <a:r>
              <a:rPr lang="en-US" dirty="0"/>
              <a:t>Various memory safety stats from the Chromium project.</a:t>
            </a:r>
          </a:p>
        </p:txBody>
      </p:sp>
      <p:sp>
        <p:nvSpPr>
          <p:cNvPr id="4" name="Slide Number Placeholder 3"/>
          <p:cNvSpPr>
            <a:spLocks noGrp="1"/>
          </p:cNvSpPr>
          <p:nvPr>
            <p:ph type="sldNum" sz="quarter" idx="5"/>
          </p:nvPr>
        </p:nvSpPr>
        <p:spPr/>
        <p:txBody>
          <a:bodyPr/>
          <a:lstStyle/>
          <a:p>
            <a:fld id="{18640787-E97D-45F3-A711-9B7374994593}" type="slidenum">
              <a:rPr lang="en-US" smtClean="0"/>
              <a:t>30</a:t>
            </a:fld>
            <a:endParaRPr lang="en-US"/>
          </a:p>
        </p:txBody>
      </p:sp>
    </p:spTree>
    <p:extLst>
      <p:ext uri="{BB962C8B-B14F-4D97-AF65-F5344CB8AC3E}">
        <p14:creationId xmlns:p14="http://schemas.microsoft.com/office/powerpoint/2010/main" val="28933672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5DE9F-F7F6-5BAD-7B1B-F712252AF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2AF7C-41E7-E607-7AA8-8559A828E2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053F1C3-5D28-61B8-85EE-6DB21772E28A}"/>
              </a:ext>
            </a:extLst>
          </p:cNvPr>
          <p:cNvSpPr>
            <a:spLocks noGrp="1"/>
          </p:cNvSpPr>
          <p:nvPr>
            <p:ph type="body" idx="1"/>
          </p:nvPr>
        </p:nvSpPr>
        <p:spPr/>
        <p:txBody>
          <a:bodyPr/>
          <a:lstStyle/>
          <a:p>
            <a:r>
              <a:rPr lang="en-US" dirty="0"/>
              <a:t>This is valid C23 program and it compiles cleanly in C.</a:t>
            </a:r>
          </a:p>
          <a:p>
            <a:r>
              <a:rPr lang="en-US" dirty="0"/>
              <a:t>But not in C++.</a:t>
            </a:r>
          </a:p>
          <a:p>
            <a:r>
              <a:rPr lang="en-US" dirty="0"/>
              <a:t>Eight lines are errors in C++.</a:t>
            </a:r>
          </a:p>
          <a:p>
            <a:r>
              <a:rPr lang="en-US" dirty="0"/>
              <a:t>void* to int*, int to </a:t>
            </a:r>
            <a:r>
              <a:rPr lang="en-US" dirty="0" err="1"/>
              <a:t>enum</a:t>
            </a:r>
            <a:r>
              <a:rPr lang="en-US" dirty="0"/>
              <a:t>, non-const string literal, char[4] with no terminator, out-of-order and nested designators, VLAs, </a:t>
            </a:r>
            <a:r>
              <a:rPr lang="en-US" dirty="0" err="1"/>
              <a:t>goto</a:t>
            </a:r>
            <a:r>
              <a:rPr lang="en-US" dirty="0"/>
              <a:t> past an </a:t>
            </a:r>
            <a:r>
              <a:rPr lang="en-US" dirty="0" err="1"/>
              <a:t>init.</a:t>
            </a:r>
            <a:endParaRPr lang="en-US" dirty="0"/>
          </a:p>
        </p:txBody>
      </p:sp>
      <p:sp>
        <p:nvSpPr>
          <p:cNvPr id="4" name="Slide Number Placeholder 3">
            <a:extLst>
              <a:ext uri="{FF2B5EF4-FFF2-40B4-BE49-F238E27FC236}">
                <a16:creationId xmlns:a16="http://schemas.microsoft.com/office/drawing/2014/main" id="{91BEC6E5-CED7-324F-5CCD-5B934FBA4E22}"/>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8681442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 is not C.</a:t>
            </a:r>
            <a:br>
              <a:rPr lang="en-US" dirty="0"/>
            </a:br>
            <a:r>
              <a:rPr lang="en-US" dirty="0"/>
              <a:t>We started with a portable C core: functions, basic data types, structs, preprocessor, C library.</a:t>
            </a:r>
            <a:br>
              <a:rPr lang="en-US" dirty="0"/>
            </a:br>
            <a:r>
              <a:rPr lang="en-US" dirty="0"/>
              <a:t>We did not take everything from C: VLAs is the classic one.</a:t>
            </a:r>
            <a:br>
              <a:rPr lang="en-US" dirty="0"/>
            </a:br>
            <a:r>
              <a:rPr lang="en-US" dirty="0"/>
              <a:t>We added powerful abstractions: classes with single and multiple inheritance, operator overloading, </a:t>
            </a:r>
            <a:r>
              <a:rPr lang="en-US" dirty="0" err="1"/>
              <a:t>ctor</a:t>
            </a:r>
            <a:r>
              <a:rPr lang="en-US" dirty="0"/>
              <a:t>/</a:t>
            </a:r>
            <a:r>
              <a:rPr lang="en-US" dirty="0" err="1"/>
              <a:t>dtor</a:t>
            </a:r>
            <a:r>
              <a:rPr lang="en-US" dirty="0"/>
              <a:t> and move semantics, smart pointers, etc.</a:t>
            </a:r>
          </a:p>
          <a:p>
            <a:br>
              <a:rPr lang="en-US" dirty="0"/>
            </a:br>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34</a:t>
            </a:fld>
            <a:endParaRPr lang="en-US"/>
          </a:p>
        </p:txBody>
      </p:sp>
    </p:spTree>
    <p:extLst>
      <p:ext uri="{BB962C8B-B14F-4D97-AF65-F5344CB8AC3E}">
        <p14:creationId xmlns:p14="http://schemas.microsoft.com/office/powerpoint/2010/main" val="3374928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35</a:t>
            </a:fld>
            <a:endParaRPr lang="en-US"/>
          </a:p>
        </p:txBody>
      </p:sp>
    </p:spTree>
    <p:extLst>
      <p:ext uri="{BB962C8B-B14F-4D97-AF65-F5344CB8AC3E}">
        <p14:creationId xmlns:p14="http://schemas.microsoft.com/office/powerpoint/2010/main" val="12808730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also did a lot of work on safety.</a:t>
            </a:r>
          </a:p>
          <a:p>
            <a:r>
              <a:rPr lang="en-US" dirty="0" err="1"/>
              <a:t>Ctor</a:t>
            </a:r>
            <a:r>
              <a:rPr lang="en-US" dirty="0"/>
              <a:t>/</a:t>
            </a:r>
            <a:r>
              <a:rPr lang="en-US" dirty="0" err="1"/>
              <a:t>dtor</a:t>
            </a:r>
            <a:r>
              <a:rPr lang="en-US" dirty="0"/>
              <a:t> enable RAII, which enables safe memory allocations, and non memory management.</a:t>
            </a:r>
          </a:p>
          <a:p>
            <a:r>
              <a:rPr lang="en-US" dirty="0"/>
              <a:t>Smart pointers can remove an entire class of memory issues.</a:t>
            </a:r>
          </a:p>
          <a:p>
            <a:r>
              <a:rPr lang="en-US" dirty="0"/>
              <a:t>Span and String view allow non owning views over types.</a:t>
            </a:r>
          </a:p>
          <a:p>
            <a:r>
              <a:rPr lang="en-US" dirty="0"/>
              <a:t>Contracts</a:t>
            </a:r>
          </a:p>
          <a:p>
            <a:r>
              <a:rPr lang="en-US" dirty="0"/>
              <a:t>STL Hardening, Uninitialized reads</a:t>
            </a:r>
          </a:p>
        </p:txBody>
      </p:sp>
      <p:sp>
        <p:nvSpPr>
          <p:cNvPr id="4" name="Slide Number Placeholder 3"/>
          <p:cNvSpPr>
            <a:spLocks noGrp="1"/>
          </p:cNvSpPr>
          <p:nvPr>
            <p:ph type="sldNum" sz="quarter" idx="5"/>
          </p:nvPr>
        </p:nvSpPr>
        <p:spPr/>
        <p:txBody>
          <a:bodyPr/>
          <a:lstStyle/>
          <a:p>
            <a:fld id="{18640787-E97D-45F3-A711-9B7374994593}" type="slidenum">
              <a:rPr lang="en-US" smtClean="0"/>
              <a:t>36</a:t>
            </a:fld>
            <a:endParaRPr lang="en-US"/>
          </a:p>
        </p:txBody>
      </p:sp>
    </p:spTree>
    <p:extLst>
      <p:ext uri="{BB962C8B-B14F-4D97-AF65-F5344CB8AC3E}">
        <p14:creationId xmlns:p14="http://schemas.microsoft.com/office/powerpoint/2010/main" val="41031457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94D07-3019-1C16-B1E5-DFE0ED54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7B1A-1635-5683-BBB2-0E091121A3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2D8690-5BA6-5D47-46A6-7868385CBB43}"/>
              </a:ext>
            </a:extLst>
          </p:cNvPr>
          <p:cNvSpPr>
            <a:spLocks noGrp="1"/>
          </p:cNvSpPr>
          <p:nvPr>
            <p:ph type="body" idx="1"/>
          </p:nvPr>
        </p:nvSpPr>
        <p:spPr/>
        <p:txBody>
          <a:bodyPr/>
          <a:lstStyle/>
          <a:p>
            <a:r>
              <a:rPr lang="en-US" dirty="0"/>
              <a:t>I tried to fetch all published papers that I could find. And overlayed it on the safety taxonomy.</a:t>
            </a:r>
            <a:br>
              <a:rPr lang="en-US" dirty="0"/>
            </a:br>
            <a:r>
              <a:rPr lang="en-US" dirty="0"/>
              <a:t>Red means not adopted, Green means adopted.</a:t>
            </a:r>
          </a:p>
        </p:txBody>
      </p:sp>
      <p:sp>
        <p:nvSpPr>
          <p:cNvPr id="4" name="Slide Number Placeholder 3">
            <a:extLst>
              <a:ext uri="{FF2B5EF4-FFF2-40B4-BE49-F238E27FC236}">
                <a16:creationId xmlns:a16="http://schemas.microsoft.com/office/drawing/2014/main" id="{6C693E49-BCD4-1D68-DAE6-F8768C3F5E26}"/>
              </a:ext>
            </a:extLst>
          </p:cNvPr>
          <p:cNvSpPr>
            <a:spLocks noGrp="1"/>
          </p:cNvSpPr>
          <p:nvPr>
            <p:ph type="sldNum" sz="quarter" idx="5"/>
          </p:nvPr>
        </p:nvSpPr>
        <p:spPr/>
        <p:txBody>
          <a:bodyPr/>
          <a:lstStyle/>
          <a:p>
            <a:fld id="{18640787-E97D-45F3-A711-9B7374994593}" type="slidenum">
              <a:rPr lang="en-US" smtClean="0"/>
              <a:t>37</a:t>
            </a:fld>
            <a:endParaRPr lang="en-US"/>
          </a:p>
        </p:txBody>
      </p:sp>
    </p:spTree>
    <p:extLst>
      <p:ext uri="{BB962C8B-B14F-4D97-AF65-F5344CB8AC3E}">
        <p14:creationId xmlns:p14="http://schemas.microsoft.com/office/powerpoint/2010/main" val="3167959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94D07-3019-1C16-B1E5-DFE0ED54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7B1A-1635-5683-BBB2-0E091121A3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2D8690-5BA6-5D47-46A6-7868385CBB43}"/>
              </a:ext>
            </a:extLst>
          </p:cNvPr>
          <p:cNvSpPr>
            <a:spLocks noGrp="1"/>
          </p:cNvSpPr>
          <p:nvPr>
            <p:ph type="body" idx="1"/>
          </p:nvPr>
        </p:nvSpPr>
        <p:spPr/>
        <p:txBody>
          <a:bodyPr/>
          <a:lstStyle/>
          <a:p>
            <a:r>
              <a:rPr lang="en-US" dirty="0"/>
              <a:t>Watch the grid morph from CVE heat to WG21 paper heat.</a:t>
            </a:r>
          </a:p>
          <a:p>
            <a:r>
              <a:rPr lang="en-US" dirty="0"/>
              <a:t>Until very recently we had almost no work on bounds.</a:t>
            </a:r>
          </a:p>
          <a:p>
            <a:r>
              <a:rPr lang="en-US" dirty="0"/>
              <a:t>We did a huge amount of work on error handling, that's contracts, 211 papers.</a:t>
            </a:r>
          </a:p>
          <a:p>
            <a:r>
              <a:rPr lang="en-US" dirty="0"/>
              <a:t>And we did almost nothing on lifetime, which is the second biggest bucket of CVEs.</a:t>
            </a:r>
          </a:p>
        </p:txBody>
      </p:sp>
      <p:sp>
        <p:nvSpPr>
          <p:cNvPr id="4" name="Slide Number Placeholder 3">
            <a:extLst>
              <a:ext uri="{FF2B5EF4-FFF2-40B4-BE49-F238E27FC236}">
                <a16:creationId xmlns:a16="http://schemas.microsoft.com/office/drawing/2014/main" id="{6C693E49-BCD4-1D68-DAE6-F8768C3F5E26}"/>
              </a:ext>
            </a:extLst>
          </p:cNvPr>
          <p:cNvSpPr>
            <a:spLocks noGrp="1"/>
          </p:cNvSpPr>
          <p:nvPr>
            <p:ph type="sldNum" sz="quarter" idx="5"/>
          </p:nvPr>
        </p:nvSpPr>
        <p:spPr/>
        <p:txBody>
          <a:bodyPr/>
          <a:lstStyle/>
          <a:p>
            <a:fld id="{18640787-E97D-45F3-A711-9B7374994593}" type="slidenum">
              <a:rPr lang="en-US" smtClean="0"/>
              <a:t>38</a:t>
            </a:fld>
            <a:endParaRPr lang="en-US"/>
          </a:p>
        </p:txBody>
      </p:sp>
    </p:spTree>
    <p:extLst>
      <p:ext uri="{BB962C8B-B14F-4D97-AF65-F5344CB8AC3E}">
        <p14:creationId xmlns:p14="http://schemas.microsoft.com/office/powerpoint/2010/main" val="3167959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 which issues are actually C++ issues, not C issues. I compared C++ against Rust, Go and Swift, category by category, using only the safe subset of each language.</a:t>
            </a:r>
          </a:p>
        </p:txBody>
      </p:sp>
      <p:sp>
        <p:nvSpPr>
          <p:cNvPr id="4" name="Slide Number Placeholder 3"/>
          <p:cNvSpPr>
            <a:spLocks noGrp="1"/>
          </p:cNvSpPr>
          <p:nvPr>
            <p:ph type="sldNum" sz="quarter" idx="5"/>
          </p:nvPr>
        </p:nvSpPr>
        <p:spPr/>
        <p:txBody>
          <a:bodyPr/>
          <a:lstStyle/>
          <a:p>
            <a:fld id="{18640787-E97D-45F3-A711-9B7374994593}" type="slidenum">
              <a:rPr lang="en-US" smtClean="0"/>
              <a:t>39</a:t>
            </a:fld>
            <a:endParaRPr lang="en-US"/>
          </a:p>
        </p:txBody>
      </p:sp>
    </p:spTree>
    <p:extLst>
      <p:ext uri="{BB962C8B-B14F-4D97-AF65-F5344CB8AC3E}">
        <p14:creationId xmlns:p14="http://schemas.microsoft.com/office/powerpoint/2010/main" val="37403189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Bounds is opt-in, at() and hardened STL, everyone else traps. What happens is implementation defined for C++.</a:t>
            </a:r>
          </a:p>
          <a:p>
            <a:r>
              <a:rPr lang="en-US" dirty="0"/>
              <a:t>Lifetime is four rows and every one is Undefined, views and references dangle, iterators invalidate, coroutine frames, getters exposing pointers. </a:t>
            </a:r>
          </a:p>
          <a:p>
            <a:r>
              <a:rPr lang="en-US" dirty="0"/>
              <a:t>Rust is a compile error, Go and Swift are by design. </a:t>
            </a:r>
          </a:p>
          <a:p>
            <a:r>
              <a:rPr lang="en-US" dirty="0"/>
              <a:t>Null is Undefined for C++, and by design or a trap for everyone else. </a:t>
            </a:r>
          </a:p>
          <a:p>
            <a:r>
              <a:rPr lang="en-US" dirty="0"/>
              <a:t>Initialization is the one bright spot.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41</a:t>
            </a:fld>
            <a:endParaRPr lang="en-US"/>
          </a:p>
        </p:txBody>
      </p:sp>
    </p:spTree>
    <p:extLst>
      <p:ext uri="{BB962C8B-B14F-4D97-AF65-F5344CB8AC3E}">
        <p14:creationId xmlns:p14="http://schemas.microsoft.com/office/powerpoint/2010/main" val="5017302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Static init order Undefined for us, by design elsewhere. Signed overflow Undefined, Go wraps, Swift traps. Data races Undefined for us and for Go, compile error in Rust.</a:t>
            </a:r>
          </a:p>
          <a:p>
            <a:r>
              <a:rPr lang="en-US" dirty="0"/>
              <a:t>Allocation, non-memory resources, RAII is by design and it's as good as anyone's.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43</a:t>
            </a:fld>
            <a:endParaRPr lang="en-US"/>
          </a:p>
        </p:txBody>
      </p:sp>
    </p:spTree>
    <p:extLst>
      <p:ext uri="{BB962C8B-B14F-4D97-AF65-F5344CB8AC3E}">
        <p14:creationId xmlns:p14="http://schemas.microsoft.com/office/powerpoint/2010/main" val="23850861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Type confusion is opt-in with </a:t>
            </a:r>
            <a:r>
              <a:rPr lang="en-US" dirty="0" err="1"/>
              <a:t>dynamic_cast</a:t>
            </a:r>
            <a:r>
              <a:rPr lang="en-US" dirty="0"/>
              <a:t>, slicing is partial. Narrowing is opt-in with braces.</a:t>
            </a:r>
          </a:p>
          <a:p>
            <a:r>
              <a:rPr lang="en-US" dirty="0"/>
              <a:t>Union punning Undefined. Moved-from is partial.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45</a:t>
            </a:fld>
            <a:endParaRPr lang="en-US"/>
          </a:p>
        </p:txBody>
      </p:sp>
    </p:spTree>
    <p:extLst>
      <p:ext uri="{BB962C8B-B14F-4D97-AF65-F5344CB8AC3E}">
        <p14:creationId xmlns:p14="http://schemas.microsoft.com/office/powerpoint/2010/main" val="6874092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Format in 20 helped variadic.</a:t>
            </a:r>
            <a:br>
              <a:rPr lang="en-US" dirty="0"/>
            </a:br>
            <a:r>
              <a:rPr lang="en-US" dirty="0"/>
              <a:t>Strict aliasing, misaligned reads, out-of-range </a:t>
            </a:r>
            <a:r>
              <a:rPr lang="en-US" dirty="0" err="1"/>
              <a:t>enums</a:t>
            </a:r>
            <a:r>
              <a:rPr lang="en-US" dirty="0"/>
              <a:t> are all Undefined. Const is opt-in and </a:t>
            </a:r>
            <a:r>
              <a:rPr lang="en-US" dirty="0" err="1"/>
              <a:t>const_cast</a:t>
            </a:r>
            <a:r>
              <a:rPr lang="en-US" dirty="0"/>
              <a:t> removes it.</a:t>
            </a:r>
          </a:p>
          <a:p>
            <a:r>
              <a:rPr lang="en-US" dirty="0"/>
              <a:t>Exception safety with RAII is by design and Rust, Go and Swift do the same thing.</a:t>
            </a:r>
          </a:p>
          <a:p>
            <a:r>
              <a:rPr lang="en-US" dirty="0"/>
              <a:t>Forward progress is fixed in 26, trivial infinite loops are now defined, but only for trivial loops.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Argument evaluation order is still </a:t>
            </a:r>
            <a:r>
              <a:rPr lang="en-US" dirty="0" err="1"/>
              <a:t>unsequenced</a:t>
            </a:r>
            <a:r>
              <a:rPr lang="en-US" dirty="0"/>
              <a:t>. Memory orderings are unchecked.</a:t>
            </a:r>
          </a:p>
          <a:p>
            <a:r>
              <a:rPr lang="en-US" dirty="0"/>
              <a:t>Stack overflow Undefined for us, a trap for others.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49</a:t>
            </a:fld>
            <a:endParaRPr lang="en-US"/>
          </a:p>
        </p:txBody>
      </p:sp>
    </p:spTree>
    <p:extLst>
      <p:ext uri="{BB962C8B-B14F-4D97-AF65-F5344CB8AC3E}">
        <p14:creationId xmlns:p14="http://schemas.microsoft.com/office/powerpoint/2010/main" val="40892380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Unhygienic macros.</a:t>
            </a:r>
          </a:p>
          <a:p>
            <a:r>
              <a:rPr lang="en-US" dirty="0" err="1"/>
              <a:t>constexpr</a:t>
            </a:r>
            <a:r>
              <a:rPr lang="en-US" dirty="0"/>
              <a:t> rejecting UB is a compile error and Rust's const </a:t>
            </a:r>
            <a:r>
              <a:rPr lang="en-US" dirty="0" err="1"/>
              <a:t>fn</a:t>
            </a:r>
            <a:r>
              <a:rPr lang="en-US" dirty="0"/>
              <a:t> is the same.</a:t>
            </a:r>
          </a:p>
          <a:p>
            <a:r>
              <a:rPr lang="en-US" dirty="0"/>
              <a:t>A bad comparator is UB for us.</a:t>
            </a:r>
            <a:br>
              <a:rPr lang="en-US" dirty="0"/>
            </a:br>
            <a:br>
              <a:rPr lang="en-US" dirty="0"/>
            </a:br>
            <a:r>
              <a:rPr lang="en-US" dirty="0"/>
              <a:t>Of the 33 categories, C++ is Undefined in about half, and the other languages are compile error or by design in almost all of those.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51</a:t>
            </a:fld>
            <a:endParaRPr lang="en-US"/>
          </a:p>
        </p:txBody>
      </p:sp>
    </p:spTree>
    <p:extLst>
      <p:ext uri="{BB962C8B-B14F-4D97-AF65-F5344CB8AC3E}">
        <p14:creationId xmlns:p14="http://schemas.microsoft.com/office/powerpoint/2010/main" val="35226140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&lt;we can solve all of the other issues&gt;</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I'm going to be critical, and I want to say up front that the people who built these tools are world class and we'd be in real trouble without them.</a:t>
            </a:r>
          </a:p>
        </p:txBody>
      </p:sp>
      <p:sp>
        <p:nvSpPr>
          <p:cNvPr id="4" name="Slide Number Placeholder 3"/>
          <p:cNvSpPr>
            <a:spLocks noGrp="1"/>
          </p:cNvSpPr>
          <p:nvPr>
            <p:ph type="sldNum" sz="quarter" idx="5"/>
          </p:nvPr>
        </p:nvSpPr>
        <p:spPr/>
        <p:txBody>
          <a:bodyPr/>
          <a:lstStyle/>
          <a:p>
            <a:fld id="{18640787-E97D-45F3-A711-9B7374994593}" type="slidenum">
              <a:rPr lang="en-US" smtClean="0"/>
              <a:t>59</a:t>
            </a:fld>
            <a:endParaRPr lang="en-US"/>
          </a:p>
        </p:txBody>
      </p:sp>
    </p:spTree>
    <p:extLst>
      <p:ext uri="{BB962C8B-B14F-4D97-AF65-F5344CB8AC3E}">
        <p14:creationId xmlns:p14="http://schemas.microsoft.com/office/powerpoint/2010/main" val="20620256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60</a:t>
            </a:fld>
            <a:endParaRPr lang="en-US"/>
          </a:p>
        </p:txBody>
      </p:sp>
    </p:spTree>
    <p:extLst>
      <p:ext uri="{BB962C8B-B14F-4D97-AF65-F5344CB8AC3E}">
        <p14:creationId xmlns:p14="http://schemas.microsoft.com/office/powerpoint/2010/main" val="9934424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Rust, Swift and Go are safe by design, five million Rust developers and climbing, TIOBE top 10.</a:t>
            </a:r>
            <a:br>
              <a:rPr lang="en-US" dirty="0"/>
            </a:br>
            <a:br>
              <a:rPr lang="en-US" dirty="0"/>
            </a:br>
            <a:r>
              <a:rPr lang="en-US" dirty="0"/>
              <a:t>Large organizations have adopted Rust and are writing new code in memory safe alternatives.</a:t>
            </a:r>
          </a:p>
          <a:p>
            <a:r>
              <a:rPr lang="en-US" dirty="0"/>
              <a:t>Some organizations are exploring converting C and C++ to Rust.</a:t>
            </a:r>
            <a:br>
              <a:rPr lang="en-US" dirty="0"/>
            </a:br>
            <a:br>
              <a:rPr lang="en-US" dirty="0"/>
            </a:br>
            <a:r>
              <a:rPr lang="en-US" dirty="0"/>
              <a:t>The other side.</a:t>
            </a:r>
            <a:br>
              <a:rPr lang="en-US" dirty="0"/>
            </a:br>
            <a:br>
              <a:rPr lang="en-US" dirty="0"/>
            </a:br>
            <a:r>
              <a:rPr lang="en-US" dirty="0"/>
              <a:t>Nobody rewrites tens of billions of lines.</a:t>
            </a:r>
          </a:p>
          <a:p>
            <a:r>
              <a:rPr lang="en-US" dirty="0"/>
              <a:t>Memory safety is one problem out of a dozen on the grid.</a:t>
            </a:r>
          </a:p>
          <a:p>
            <a:r>
              <a:rPr lang="en-US" dirty="0"/>
              <a:t>Today's bugs stay right where they are.</a:t>
            </a:r>
          </a:p>
          <a:p>
            <a:r>
              <a:rPr lang="en-US" dirty="0"/>
              <a:t>And C++ gained more developers last year than Rust has in total. </a:t>
            </a:r>
          </a:p>
        </p:txBody>
      </p:sp>
      <p:sp>
        <p:nvSpPr>
          <p:cNvPr id="4" name="Slide Number Placeholder 3"/>
          <p:cNvSpPr>
            <a:spLocks noGrp="1"/>
          </p:cNvSpPr>
          <p:nvPr>
            <p:ph type="sldNum" sz="quarter" idx="5"/>
          </p:nvPr>
        </p:nvSpPr>
        <p:spPr/>
        <p:txBody>
          <a:bodyPr/>
          <a:lstStyle/>
          <a:p>
            <a:fld id="{18640787-E97D-45F3-A711-9B7374994593}" type="slidenum">
              <a:rPr lang="en-US" smtClean="0"/>
              <a:t>62</a:t>
            </a:fld>
            <a:endParaRPr lang="en-US"/>
          </a:p>
        </p:txBody>
      </p:sp>
    </p:spTree>
    <p:extLst>
      <p:ext uri="{BB962C8B-B14F-4D97-AF65-F5344CB8AC3E}">
        <p14:creationId xmlns:p14="http://schemas.microsoft.com/office/powerpoint/2010/main" val="9934424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&lt;Program construction sections&gt;</a:t>
            </a:r>
          </a:p>
        </p:txBody>
      </p:sp>
      <p:sp>
        <p:nvSpPr>
          <p:cNvPr id="4" name="Slide Number Placeholder 3"/>
          <p:cNvSpPr>
            <a:spLocks noGrp="1"/>
          </p:cNvSpPr>
          <p:nvPr>
            <p:ph type="sldNum" sz="quarter" idx="5"/>
          </p:nvPr>
        </p:nvSpPr>
        <p:spPr/>
        <p:txBody>
          <a:bodyPr/>
          <a:lstStyle/>
          <a:p>
            <a:fld id="{18640787-E97D-45F3-A711-9B7374994593}" type="slidenum">
              <a:rPr lang="en-US" smtClean="0"/>
              <a:t>64</a:t>
            </a:fld>
            <a:endParaRPr lang="en-US"/>
          </a:p>
        </p:txBody>
      </p:sp>
    </p:spTree>
    <p:extLst>
      <p:ext uri="{BB962C8B-B14F-4D97-AF65-F5344CB8AC3E}">
        <p14:creationId xmlns:p14="http://schemas.microsoft.com/office/powerpoint/2010/main" val="22741678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8640787-E97D-45F3-A711-9B7374994593}" type="slidenum">
              <a:rPr lang="en-US" smtClean="0"/>
              <a:t>65</a:t>
            </a:fld>
            <a:endParaRPr lang="en-US"/>
          </a:p>
        </p:txBody>
      </p:sp>
    </p:spTree>
    <p:extLst>
      <p:ext uri="{BB962C8B-B14F-4D97-AF65-F5344CB8AC3E}">
        <p14:creationId xmlns:p14="http://schemas.microsoft.com/office/powerpoint/2010/main" val="30112865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&lt;runtime checks… give examples&gt;&lt;bound checks, stack canaries&gt;</a:t>
            </a:r>
            <a:br>
              <a:rPr lang="en-US" dirty="0"/>
            </a:br>
            <a:br>
              <a:rPr lang="en-US" dirty="0"/>
            </a:br>
            <a:r>
              <a:rPr lang="en-US" dirty="0"/>
              <a:t>Hardening is checks the compiler, library, OS and hardware add to the binary you ship.</a:t>
            </a:r>
          </a:p>
          <a:p>
            <a:r>
              <a:rPr lang="en-US" dirty="0"/>
              <a:t>The bug stays in your source. Hardening makes sure that when it fires, the program dies instead of getting taken over.</a:t>
            </a:r>
            <a:br>
              <a:rPr lang="en-US" dirty="0"/>
            </a:br>
            <a:br>
              <a:rPr lang="en-US" dirty="0"/>
            </a:br>
            <a:r>
              <a:rPr lang="en-US" dirty="0"/>
              <a:t>It lives in the implementation, same source, different flags, library, allocator or CPU. It stays on in production and terminates on failure.</a:t>
            </a:r>
            <a:br>
              <a:rPr lang="en-US" dirty="0"/>
            </a:br>
            <a:br>
              <a:rPr lang="en-US" dirty="0"/>
            </a:br>
            <a:r>
              <a:rPr lang="en-US" dirty="0"/>
              <a:t>And the vendor picks it, not you. Microsoft, Apple, Google and the distros decide what's on, and most developers might not know which switches are set.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availability of these tools vary by platform, hardware or default.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18C03-8824-DA0D-89EB-095AB8C28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C4C19-A789-E7F0-5A78-B2E13A94F4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254708-A714-C1B1-5A30-D7CE84BB35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6DB045-0480-DA86-3952-DDDC07E463AC}"/>
              </a:ext>
            </a:extLst>
          </p:cNvPr>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21338628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06C3-A31B-CEEB-C813-FA04D14D5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07A4B-482A-1CB5-AC81-999C29D1E6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679BA1-382F-CA3D-A9E8-4F72F782B948}"/>
              </a:ext>
            </a:extLst>
          </p:cNvPr>
          <p:cNvSpPr>
            <a:spLocks noGrp="1"/>
          </p:cNvSpPr>
          <p:nvPr>
            <p:ph type="body" idx="1"/>
          </p:nvPr>
        </p:nvSpPr>
        <p:spPr/>
        <p:txBody>
          <a:bodyPr/>
          <a:lstStyle/>
          <a:p>
            <a:r>
              <a:rPr lang="en-US" dirty="0"/>
              <a:t>The list is likely incomplete.</a:t>
            </a:r>
          </a:p>
        </p:txBody>
      </p:sp>
      <p:sp>
        <p:nvSpPr>
          <p:cNvPr id="4" name="Slide Number Placeholder 3">
            <a:extLst>
              <a:ext uri="{FF2B5EF4-FFF2-40B4-BE49-F238E27FC236}">
                <a16:creationId xmlns:a16="http://schemas.microsoft.com/office/drawing/2014/main" id="{6408DEC6-4C97-9569-A9AC-B1F6DE7BF955}"/>
              </a:ext>
            </a:extLst>
          </p:cNvPr>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2200937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list is likely incomplete.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contains, it doesn't prevent. It barely reaches lifetime, use after free is 9.4 percent of CVEs and only memory tagging stops it, on hardware most machines lack.</a:t>
            </a:r>
            <a:br>
              <a:rPr lang="en-US" dirty="0"/>
            </a:br>
            <a:r>
              <a:rPr lang="en-US" dirty="0"/>
              <a:t>And availability is inconsistent, hardened STL on for Apple and Android, off for MSVC.</a:t>
            </a:r>
            <a:br>
              <a:rPr lang="en-US" dirty="0"/>
            </a:br>
            <a:br>
              <a:rPr lang="en-US" dirty="0"/>
            </a:br>
            <a:r>
              <a:rPr lang="en-US" dirty="0"/>
              <a:t>World class engineers have dedicated their careers and time for stunning work in these spaces</a:t>
            </a:r>
          </a:p>
          <a:p>
            <a:r>
              <a:rPr lang="en-US" dirty="0"/>
              <a:t>We would be in a word of trouble without this work.</a:t>
            </a:r>
          </a:p>
        </p:txBody>
      </p:sp>
      <p:sp>
        <p:nvSpPr>
          <p:cNvPr id="4" name="Slide Number Placeholder 3"/>
          <p:cNvSpPr>
            <a:spLocks noGrp="1"/>
          </p:cNvSpPr>
          <p:nvPr>
            <p:ph type="sldNum" sz="quarter" idx="5"/>
          </p:nvPr>
        </p:nvSpPr>
        <p:spPr/>
        <p:txBody>
          <a:bodyPr/>
          <a:lstStyle/>
          <a:p>
            <a:fld id="{18640787-E97D-45F3-A711-9B7374994593}" type="slidenum">
              <a:rPr lang="en-US" smtClean="0"/>
              <a:t>74</a:t>
            </a:fld>
            <a:endParaRPr lang="en-US"/>
          </a:p>
        </p:txBody>
      </p:sp>
    </p:spTree>
    <p:extLst>
      <p:ext uri="{BB962C8B-B14F-4D97-AF65-F5344CB8AC3E}">
        <p14:creationId xmlns:p14="http://schemas.microsoft.com/office/powerpoint/2010/main" val="22741678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94D07-3019-1C16-B1E5-DFE0ED54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27B1A-1635-5683-BBB2-0E091121A3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2D8690-5BA6-5D47-46A6-7868385CBB43}"/>
              </a:ext>
            </a:extLst>
          </p:cNvPr>
          <p:cNvSpPr>
            <a:spLocks noGrp="1"/>
          </p:cNvSpPr>
          <p:nvPr>
            <p:ph type="body" idx="1"/>
          </p:nvPr>
        </p:nvSpPr>
        <p:spPr/>
        <p:txBody>
          <a:bodyPr/>
          <a:lstStyle/>
          <a:p>
            <a:r>
              <a:rPr lang="en-US" dirty="0"/>
              <a:t>Thanks to erroneous behavior and the format library we can call these areas green.</a:t>
            </a:r>
          </a:p>
        </p:txBody>
      </p:sp>
      <p:sp>
        <p:nvSpPr>
          <p:cNvPr id="4" name="Slide Number Placeholder 3">
            <a:extLst>
              <a:ext uri="{FF2B5EF4-FFF2-40B4-BE49-F238E27FC236}">
                <a16:creationId xmlns:a16="http://schemas.microsoft.com/office/drawing/2014/main" id="{6C693E49-BCD4-1D68-DAE6-F8768C3F5E26}"/>
              </a:ext>
            </a:extLst>
          </p:cNvPr>
          <p:cNvSpPr>
            <a:spLocks noGrp="1"/>
          </p:cNvSpPr>
          <p:nvPr>
            <p:ph type="sldNum" sz="quarter" idx="5"/>
          </p:nvPr>
        </p:nvSpPr>
        <p:spPr/>
        <p:txBody>
          <a:bodyPr/>
          <a:lstStyle/>
          <a:p>
            <a:fld id="{18640787-E97D-45F3-A711-9B7374994593}" type="slidenum">
              <a:rPr lang="en-US" smtClean="0"/>
              <a:t>75</a:t>
            </a:fld>
            <a:endParaRPr lang="en-US"/>
          </a:p>
        </p:txBody>
      </p:sp>
    </p:spTree>
    <p:extLst>
      <p:ext uri="{BB962C8B-B14F-4D97-AF65-F5344CB8AC3E}">
        <p14:creationId xmlns:p14="http://schemas.microsoft.com/office/powerpoint/2010/main" val="3167959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8AAEF-F341-BC87-C165-33E5853C5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E1250-431C-F319-3B23-54D3C0F28F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97B23C-BFF4-E799-97D3-183A51D06EE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3B2C665-8B7B-1350-9E04-76BC5F842089}"/>
              </a:ext>
            </a:extLst>
          </p:cNvPr>
          <p:cNvSpPr>
            <a:spLocks noGrp="1"/>
          </p:cNvSpPr>
          <p:nvPr>
            <p:ph type="sldNum" sz="quarter" idx="5"/>
          </p:nvPr>
        </p:nvSpPr>
        <p:spPr/>
        <p:txBody>
          <a:bodyPr/>
          <a:lstStyle/>
          <a:p>
            <a:fld id="{18640787-E97D-45F3-A711-9B7374994593}" type="slidenum">
              <a:rPr lang="en-US" smtClean="0"/>
              <a:t>76</a:t>
            </a:fld>
            <a:endParaRPr lang="en-US"/>
          </a:p>
        </p:txBody>
      </p:sp>
    </p:spTree>
    <p:extLst>
      <p:ext uri="{BB962C8B-B14F-4D97-AF65-F5344CB8AC3E}">
        <p14:creationId xmlns:p14="http://schemas.microsoft.com/office/powerpoint/2010/main" val="2256100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&lt;opposite shape&gt;</a:t>
            </a:r>
            <a:br>
              <a:rPr lang="en-US" dirty="0"/>
            </a:br>
            <a:br>
              <a:rPr lang="en-US" dirty="0"/>
            </a:br>
            <a:r>
              <a:rPr lang="en-US" dirty="0"/>
              <a:t>Detection is the opposite shape from hardening. It runs on a test build, so the binary the customer gets carries none of it.</a:t>
            </a:r>
          </a:p>
          <a:p>
            <a:r>
              <a:rPr lang="en-US" dirty="0"/>
              <a:t>It reports, it doesn't stop anything, a finding is a line in a log that someone has to read, believe and fix, and nothing prevents shipping with it open.</a:t>
            </a:r>
          </a:p>
          <a:p>
            <a:r>
              <a:rPr lang="en-US" dirty="0"/>
              <a:t>And it only sees what you compile and what you run.</a:t>
            </a:r>
          </a:p>
          <a:p>
            <a:r>
              <a:rPr lang="en-US" dirty="0"/>
              <a:t>Static tools see the code you point them at.</a:t>
            </a:r>
          </a:p>
          <a:p>
            <a:r>
              <a:rPr lang="en-US" dirty="0"/>
              <a:t>Dynamic tools see the paths your tests execute. Everything else is invisible.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Warnings are pattern matching inside one function at compile time. </a:t>
            </a:r>
          </a:p>
          <a:p>
            <a:r>
              <a:rPr lang="en-US" dirty="0"/>
              <a:t>-</a:t>
            </a:r>
            <a:r>
              <a:rPr lang="en-US" dirty="0" err="1"/>
              <a:t>Wdangling</a:t>
            </a:r>
            <a:r>
              <a:rPr lang="en-US" dirty="0"/>
              <a:t> catches a reference bound to a temporary, -</a:t>
            </a:r>
            <a:r>
              <a:rPr lang="en-US" dirty="0" err="1"/>
              <a:t>Wconversion</a:t>
            </a:r>
            <a:r>
              <a:rPr lang="en-US" dirty="0"/>
              <a:t> catches narrowing</a:t>
            </a:r>
            <a:br>
              <a:rPr lang="en-US" dirty="0"/>
            </a:br>
            <a:r>
              <a:rPr lang="en-US" dirty="0"/>
              <a:t>Static analysis is path sensitive, it knows the null check on line 40 doesn't guard line 62, but it stops at library boundaries and virtual calls and reports false positives.</a:t>
            </a:r>
            <a:br>
              <a:rPr lang="en-US" dirty="0"/>
            </a:br>
            <a:r>
              <a:rPr lang="en-US" dirty="0" err="1"/>
              <a:t>ASan</a:t>
            </a:r>
            <a:r>
              <a:rPr lang="en-US" dirty="0"/>
              <a:t> checks every load and store against shadow memory, so overflow, use after free and double free are detected reliably. But at a 2x runtime cost.</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39873342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0B242-361C-5BED-0A49-7EDB218A4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735E7-6800-1152-90AF-809CB5943F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21FD14-E3C7-DF45-7881-6EC850E543B7}"/>
              </a:ext>
            </a:extLst>
          </p:cNvPr>
          <p:cNvSpPr>
            <a:spLocks noGrp="1"/>
          </p:cNvSpPr>
          <p:nvPr>
            <p:ph type="body" idx="1"/>
          </p:nvPr>
        </p:nvSpPr>
        <p:spPr/>
        <p:txBody>
          <a:bodyPr/>
          <a:lstStyle/>
          <a:p>
            <a:r>
              <a:rPr lang="en-US" dirty="0"/>
              <a:t>Warnings are pattern matching inside one function at compile time. </a:t>
            </a:r>
          </a:p>
          <a:p>
            <a:r>
              <a:rPr lang="en-US" dirty="0"/>
              <a:t>-</a:t>
            </a:r>
            <a:r>
              <a:rPr lang="en-US" dirty="0" err="1"/>
              <a:t>Wdangling</a:t>
            </a:r>
            <a:r>
              <a:rPr lang="en-US" dirty="0"/>
              <a:t> catches a reference bound to a temporary, -</a:t>
            </a:r>
            <a:r>
              <a:rPr lang="en-US" dirty="0" err="1"/>
              <a:t>Wconversion</a:t>
            </a:r>
            <a:r>
              <a:rPr lang="en-US" dirty="0"/>
              <a:t> catches narrowing</a:t>
            </a:r>
            <a:br>
              <a:rPr lang="en-US" dirty="0"/>
            </a:br>
            <a:r>
              <a:rPr lang="en-US" dirty="0"/>
              <a:t>Static analysis is path sensitive, it knows the null check on line 40 doesn't guard line 62, but it stops at library boundaries and virtual calls and reports false positives.</a:t>
            </a:r>
            <a:br>
              <a:rPr lang="en-US" dirty="0"/>
            </a:br>
            <a:r>
              <a:rPr lang="en-US" dirty="0" err="1"/>
              <a:t>ASan</a:t>
            </a:r>
            <a:r>
              <a:rPr lang="en-US" dirty="0"/>
              <a:t> checks every load and store against shadow memory, so overflow, use after free and double free are detected reliably. But at a 2x runtime cost.</a:t>
            </a:r>
          </a:p>
        </p:txBody>
      </p:sp>
      <p:sp>
        <p:nvSpPr>
          <p:cNvPr id="4" name="Slide Number Placeholder 3">
            <a:extLst>
              <a:ext uri="{FF2B5EF4-FFF2-40B4-BE49-F238E27FC236}">
                <a16:creationId xmlns:a16="http://schemas.microsoft.com/office/drawing/2014/main" id="{80CA2BFA-2B8D-CE9E-8FBC-7514C93630DB}"/>
              </a:ext>
            </a:extLst>
          </p:cNvPr>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38201497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&lt;conversion is very reliable&gt;</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6918-56C9-0F5B-C4CB-93E8A245D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38CA7-35F0-B8E1-AEAA-82719795E6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F84280-C715-63F3-C991-48F96AE4DC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40F549-A6DF-C609-7EE6-6F08D5BF2998}"/>
              </a:ext>
            </a:extLst>
          </p:cNvPr>
          <p:cNvSpPr>
            <a:spLocks noGrp="1"/>
          </p:cNvSpPr>
          <p:nvPr>
            <p:ph type="sldNum" sz="quarter" idx="5"/>
          </p:nvPr>
        </p:nvSpPr>
        <p:spPr/>
        <p:txBody>
          <a:bodyPr/>
          <a:lstStyle/>
          <a:p>
            <a:fld id="{18640787-E97D-45F3-A711-9B7374994593}" type="slidenum">
              <a:rPr lang="en-US" smtClean="0"/>
              <a:t>82</a:t>
            </a:fld>
            <a:endParaRPr lang="en-US"/>
          </a:p>
        </p:txBody>
      </p:sp>
    </p:spTree>
    <p:extLst>
      <p:ext uri="{BB962C8B-B14F-4D97-AF65-F5344CB8AC3E}">
        <p14:creationId xmlns:p14="http://schemas.microsoft.com/office/powerpoint/2010/main" val="34919531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It only covers what runs.</a:t>
            </a:r>
          </a:p>
          <a:p>
            <a:r>
              <a:rPr lang="en-US" dirty="0"/>
              <a:t>A bug on an untested path isn't found.</a:t>
            </a:r>
          </a:p>
          <a:p>
            <a:r>
              <a:rPr lang="en-US" dirty="0"/>
              <a:t>It's off by default and easy to ignore, clang-tidy runs zero checks out of the box, /analyze is opt-in, /W4 doesn't fail the build without /WX, most projects never turn these on.</a:t>
            </a:r>
          </a:p>
          <a:p>
            <a:r>
              <a:rPr lang="en-US" dirty="0"/>
              <a:t>And none of it is a guarantee.</a:t>
            </a:r>
          </a:p>
          <a:p>
            <a:r>
              <a:rPr lang="en-US" dirty="0"/>
              <a:t>Chromium and Microsoft run all of this at scale, and still report about 70 percent of serious security bugs are memory safety.</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taxonomy, with the ASan error list mapped onto it. Green is a category ASan covers on an executed path, and that is Bounds and Lifetime, ten of the 17 reports and 2 of the 33 categories. The other seven reports are checks at a library call and do not cover a category. Allocation stays grey because there is no leak detection on Windows, alloc-dealloc-mismatch is off by default there, and the size checks only catch a wrapped or negative size. Strings stays grey because a missing terminator or an overflowing strcpy is already counted as a Bounds report, and the two overlap reports check one precondition. Object Model stays grey because new-delete-type-mismatch only fires when the derived class is bigger than the base.</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 expectations and promises; or requirements</a:t>
            </a:r>
            <a:br>
              <a:rPr lang="en-US" dirty="0"/>
            </a:br>
            <a:r>
              <a:rPr lang="en-US" dirty="0"/>
              <a:t>Profiles: policies or rule-sets</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&lt;what you can express in the code&gt;</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DEC24-A6C5-978C-9542-1A8201218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12924-1409-4F58-3E12-3CE786C78C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F8C1AF-0CDA-079F-B008-A3B8A686EB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D4A40E-2A70-2764-0309-24ED9403A71B}"/>
              </a:ext>
            </a:extLst>
          </p:cNvPr>
          <p:cNvSpPr>
            <a:spLocks noGrp="1"/>
          </p:cNvSpPr>
          <p:nvPr>
            <p:ph type="sldNum" sz="quarter" idx="5"/>
          </p:nvPr>
        </p:nvSpPr>
        <p:spPr/>
        <p:txBody>
          <a:bodyPr/>
          <a:lstStyle/>
          <a:p>
            <a:fld id="{18640787-E97D-45F3-A711-9B7374994593}" type="slidenum">
              <a:rPr lang="en-US" smtClean="0"/>
              <a:t>94</a:t>
            </a:fld>
            <a:endParaRPr lang="en-US"/>
          </a:p>
        </p:txBody>
      </p:sp>
    </p:spTree>
    <p:extLst>
      <p:ext uri="{BB962C8B-B14F-4D97-AF65-F5344CB8AC3E}">
        <p14:creationId xmlns:p14="http://schemas.microsoft.com/office/powerpoint/2010/main" val="345446536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 cost</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&lt;feedback loop and boundary conditions&gt;</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BEC1-485D-2A3D-865C-0CFA56F375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FB65AB-A5FD-7C17-B3DB-64EF441F29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724DF1-6C41-2113-24DE-B73F3624D4F2}"/>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5" name="Footer Placeholder 4">
            <a:extLst>
              <a:ext uri="{FF2B5EF4-FFF2-40B4-BE49-F238E27FC236}">
                <a16:creationId xmlns:a16="http://schemas.microsoft.com/office/drawing/2014/main" id="{CDB1E648-5DA0-A497-12F3-171928AF22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CCDE35-96BB-D255-C9E7-3FA0E566EA2E}"/>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3084114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F803-6E90-CFF1-B3B0-8519EB36A8B6}"/>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32AB8282-3836-8AB3-1BBB-BE4859528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71C98C-8C2B-CFAC-0457-26B694F9AB8C}"/>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5" name="Footer Placeholder 4">
            <a:extLst>
              <a:ext uri="{FF2B5EF4-FFF2-40B4-BE49-F238E27FC236}">
                <a16:creationId xmlns:a16="http://schemas.microsoft.com/office/drawing/2014/main" id="{5F28C378-8B37-04BE-2313-82AD53461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14A493-66CA-44A5-108C-9242F63971B9}"/>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2457218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48C28-B88D-418B-6532-EE884F616844}"/>
              </a:ext>
            </a:extLst>
          </p:cNvPr>
          <p:cNvSpPr>
            <a:spLocks noGrp="1"/>
          </p:cNvSpPr>
          <p:nvPr>
            <p:ph type="title"/>
          </p:nvPr>
        </p:nvSpPr>
        <p:spPr>
          <a:xfrm>
            <a:off x="831850" y="1709738"/>
            <a:ext cx="10515600" cy="2852737"/>
          </a:xfrm>
        </p:spPr>
        <p:txBody>
          <a:bodyPr anchor="b"/>
          <a:lstStyle>
            <a:lvl1pPr>
              <a:defRPr sz="6000">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64164D3A-6403-EE8A-343A-AFF25F0AF0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AC6EAC-AF27-62EE-487D-4A0465D1597E}"/>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5" name="Footer Placeholder 4">
            <a:extLst>
              <a:ext uri="{FF2B5EF4-FFF2-40B4-BE49-F238E27FC236}">
                <a16:creationId xmlns:a16="http://schemas.microsoft.com/office/drawing/2014/main" id="{9FBC7669-A5F2-1D85-7E38-81977219F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761090-6FB6-CF56-6378-8C640C6E6E43}"/>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1885629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B852-29CF-2B12-3E43-ED3C88788160}"/>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B876348-0CD0-7D5E-DF25-B691F9B5CE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C0597E-087D-1A56-0983-704F530941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585012-4E3C-4900-28BC-AD64A80A01C2}"/>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6" name="Footer Placeholder 5">
            <a:extLst>
              <a:ext uri="{FF2B5EF4-FFF2-40B4-BE49-F238E27FC236}">
                <a16:creationId xmlns:a16="http://schemas.microsoft.com/office/drawing/2014/main" id="{94442CC9-BC10-96D8-C1FB-F4CF5830AD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5DC040-B916-19A5-EEDC-996C7C945B3E}"/>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306525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BB61-AB5A-3EEE-7428-28BEC16CC728}"/>
              </a:ext>
            </a:extLst>
          </p:cNvPr>
          <p:cNvSpPr>
            <a:spLocks noGrp="1"/>
          </p:cNvSpPr>
          <p:nvPr>
            <p:ph type="title"/>
          </p:nvPr>
        </p:nvSpPr>
        <p:spPr>
          <a:xfrm>
            <a:off x="839788" y="365125"/>
            <a:ext cx="10515600" cy="1325563"/>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A92D1BC6-C825-D34D-F512-6EA972D890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824CAB-5E74-8DA5-6584-50FB41F9C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BB463A-3FB9-5C2E-6574-08B9B4D443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57DE4A-C067-A8F9-283A-D6A530CF26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7A171D-766A-5B08-165A-7DC1999C0D11}"/>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8" name="Footer Placeholder 7">
            <a:extLst>
              <a:ext uri="{FF2B5EF4-FFF2-40B4-BE49-F238E27FC236}">
                <a16:creationId xmlns:a16="http://schemas.microsoft.com/office/drawing/2014/main" id="{B304F502-081C-8224-D3E3-935C252250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BDB418-6757-3068-B0BE-77B6A47AA5FA}"/>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2735583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E7870-70B3-FA83-1164-0925157F1DDF}"/>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C83EB3C1-CBC4-FB9B-60F8-9030F3C47C53}"/>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4" name="Footer Placeholder 3">
            <a:extLst>
              <a:ext uri="{FF2B5EF4-FFF2-40B4-BE49-F238E27FC236}">
                <a16:creationId xmlns:a16="http://schemas.microsoft.com/office/drawing/2014/main" id="{7D8AA283-8DE3-ED1C-2804-517822CC0C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6D4F2F-4A3E-1E8F-FA23-9A612FA3048F}"/>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533771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0AC728-DC43-9D54-C250-D51E2BA424E2}"/>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3" name="Footer Placeholder 2">
            <a:extLst>
              <a:ext uri="{FF2B5EF4-FFF2-40B4-BE49-F238E27FC236}">
                <a16:creationId xmlns:a16="http://schemas.microsoft.com/office/drawing/2014/main" id="{970CCCD3-8F02-F335-2FD4-A1A46D92B1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31DB05-D5B4-E1E9-A5A9-9A7C3E33DAEE}"/>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622506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D3199-F9D3-4A8C-1452-77D44827EA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573A2E-E2D5-3FC8-BCCF-0FB9A2B481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4530E7-48EB-5C14-ABBF-6C04A21EFB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3C72F-F9B8-27FA-6518-9ED6FAD54A2B}"/>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6" name="Footer Placeholder 5">
            <a:extLst>
              <a:ext uri="{FF2B5EF4-FFF2-40B4-BE49-F238E27FC236}">
                <a16:creationId xmlns:a16="http://schemas.microsoft.com/office/drawing/2014/main" id="{13514377-FDDD-9CF8-D19F-B68D2E2E25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379074-3794-BE21-7347-FD504DFA0AE5}"/>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1780347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72657-8378-4BB4-4AE2-E788FC00A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130F8F-B7D0-6B99-C76A-FA14527EB5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AE19A2-A456-4D23-F906-4CEA759DC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FC3BF6-3C2D-7139-2E06-85F11002AAB1}"/>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6" name="Footer Placeholder 5">
            <a:extLst>
              <a:ext uri="{FF2B5EF4-FFF2-40B4-BE49-F238E27FC236}">
                <a16:creationId xmlns:a16="http://schemas.microsoft.com/office/drawing/2014/main" id="{F441C5FE-142C-1399-428E-49B71D6AE0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B63A1B-C8F6-9E76-A2A2-08FE9DFCA4F8}"/>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3359779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B8F2-6C57-5932-D5C3-DDD869E35640}"/>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75782184-D2A9-316C-404C-CBAEA16B22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450383-4854-BCF6-0607-53D03A07B4C5}"/>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5" name="Footer Placeholder 4">
            <a:extLst>
              <a:ext uri="{FF2B5EF4-FFF2-40B4-BE49-F238E27FC236}">
                <a16:creationId xmlns:a16="http://schemas.microsoft.com/office/drawing/2014/main" id="{A6F0BA79-C6DF-7457-3780-A6D671A6A7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3BE01-F516-13C5-B5FD-E3CD55E57096}"/>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334189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CE55E2-1864-F308-0C5F-D28E3B781DD9}"/>
              </a:ext>
            </a:extLst>
          </p:cNvPr>
          <p:cNvSpPr>
            <a:spLocks noGrp="1"/>
          </p:cNvSpPr>
          <p:nvPr>
            <p:ph type="title" orient="vert"/>
          </p:nvPr>
        </p:nvSpPr>
        <p:spPr>
          <a:xfrm>
            <a:off x="8724900" y="365125"/>
            <a:ext cx="2628900" cy="5811838"/>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AA96BC1-8023-39F7-DE7E-D7E032D269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D4362-127E-C427-E708-A7166B0E1B44}"/>
              </a:ext>
            </a:extLst>
          </p:cNvPr>
          <p:cNvSpPr>
            <a:spLocks noGrp="1"/>
          </p:cNvSpPr>
          <p:nvPr>
            <p:ph type="dt" sz="half" idx="10"/>
          </p:nvPr>
        </p:nvSpPr>
        <p:spPr/>
        <p:txBody>
          <a:bodyPr/>
          <a:lstStyle/>
          <a:p>
            <a:fld id="{1349CB4C-E078-4F92-8814-2240B295C61E}" type="datetimeFigureOut">
              <a:rPr lang="en-US" smtClean="0"/>
              <a:t>9/17/2026</a:t>
            </a:fld>
            <a:endParaRPr lang="en-US"/>
          </a:p>
        </p:txBody>
      </p:sp>
      <p:sp>
        <p:nvSpPr>
          <p:cNvPr id="5" name="Footer Placeholder 4">
            <a:extLst>
              <a:ext uri="{FF2B5EF4-FFF2-40B4-BE49-F238E27FC236}">
                <a16:creationId xmlns:a16="http://schemas.microsoft.com/office/drawing/2014/main" id="{892B62A5-3A4A-29EA-3CEB-28FC1593CE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97C9B-2C17-C7D2-7EB6-D10940168F92}"/>
              </a:ext>
            </a:extLst>
          </p:cNvPr>
          <p:cNvSpPr>
            <a:spLocks noGrp="1"/>
          </p:cNvSpPr>
          <p:nvPr>
            <p:ph type="sldNum" sz="quarter" idx="12"/>
          </p:nvPr>
        </p:nvSpPr>
        <p:spPr/>
        <p:txBody>
          <a:bodyPr/>
          <a:lstStyle/>
          <a:p>
            <a:fld id="{B18F2352-19A1-4309-8E3A-6370799066B3}" type="slidenum">
              <a:rPr lang="en-US" smtClean="0"/>
              <a:t>‹#›</a:t>
            </a:fld>
            <a:endParaRPr lang="en-US"/>
          </a:p>
        </p:txBody>
      </p:sp>
    </p:spTree>
    <p:extLst>
      <p:ext uri="{BB962C8B-B14F-4D97-AF65-F5344CB8AC3E}">
        <p14:creationId xmlns:p14="http://schemas.microsoft.com/office/powerpoint/2010/main" val="2492697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605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_ONLY">
    <p:bg>
      <p:bgPr>
        <a:solidFill>
          <a:srgbClr val="FFFAF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65760"/>
            <a:ext cx="10515600" cy="1325880"/>
          </a:xfrm>
          <a:prstGeom prst="rect">
            <a:avLst/>
          </a:prstGeom>
          <a:noFill/>
          <a:ln/>
        </p:spPr>
        <p:txBody>
          <a:bodyPr wrap="square" rtlCol="0"/>
          <a:lstStyle>
            <a:lvl1pPr marL="0" indent="0" algn="l">
              <a:buNone/>
              <a:defRPr lang="en-US" sz="4400" b="1" dirty="0">
                <a:solidFill>
                  <a:srgbClr val="000000"/>
                </a:solidFill>
                <a:latin typeface="Aptos Display" pitchFamily="34" charset="0"/>
                <a:ea typeface="Aptos Display" pitchFamily="34" charset="-122"/>
                <a:cs typeface="Aptos Display" pitchFamily="34" charset="-120"/>
              </a:defRPr>
            </a:lvl1pPr>
          </a:lstStyle>
          <a:p>
            <a:pPr marL="0" indent="0" algn="l">
              <a:buNone/>
            </a:pPr>
            <a:endParaRPr lang="en-US" sz="4400" dirty="0"/>
          </a:p>
        </p:txBody>
      </p:sp>
    </p:spTree>
    <p:extLst>
      <p:ext uri="{BB962C8B-B14F-4D97-AF65-F5344CB8AC3E}">
        <p14:creationId xmlns:p14="http://schemas.microsoft.com/office/powerpoint/2010/main" val="2681180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Only">
    <p:bg>
      <p:bgPr>
        <a:solidFill>
          <a:srgbClr val="FFFAF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32688" y="557784"/>
            <a:ext cx="10332720" cy="914400"/>
          </a:xfrm>
          <a:prstGeom prst="rect">
            <a:avLst/>
          </a:prstGeom>
          <a:noFill/>
          <a:ln/>
        </p:spPr>
        <p:txBody>
          <a:bodyPr wrap="square" rtlCol="0"/>
          <a:lstStyle>
            <a:lvl1pPr marL="0" indent="0" algn="l">
              <a:buNone/>
              <a:defRPr lang="en-US" sz="4400" b="1" dirty="0">
                <a:solidFill>
                  <a:srgbClr val="000000"/>
                </a:solidFill>
                <a:latin typeface="Aptos Display" pitchFamily="34" charset="0"/>
                <a:ea typeface="Aptos Display" pitchFamily="34" charset="-122"/>
                <a:cs typeface="Aptos Display" pitchFamily="34" charset="-120"/>
              </a:defRPr>
            </a:lvl1pPr>
          </a:lstStyle>
          <a:p>
            <a:pPr marL="0" indent="0" algn="l">
              <a:buNone/>
            </a:pPr>
            <a:endParaRPr lang="en-US" sz="4400" dirty="0"/>
          </a:p>
        </p:txBody>
      </p:sp>
    </p:spTree>
    <p:extLst>
      <p:ext uri="{BB962C8B-B14F-4D97-AF65-F5344CB8AC3E}">
        <p14:creationId xmlns:p14="http://schemas.microsoft.com/office/powerpoint/2010/main" val="10640736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_60">
    <p:bg>
      <p:bgPr>
        <a:solidFill>
          <a:srgbClr val="FFFAF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2544318"/>
            <a:ext cx="10515600" cy="2194560"/>
          </a:xfrm>
          <a:prstGeom prst="rect">
            <a:avLst/>
          </a:prstGeom>
          <a:noFill/>
          <a:ln/>
        </p:spPr>
        <p:txBody>
          <a:bodyPr wrap="square" rtlCol="0"/>
          <a:lstStyle>
            <a:lvl1pPr marL="0" indent="0" algn="l">
              <a:buNone/>
              <a:defRPr lang="en-US" sz="6000" b="1" dirty="0">
                <a:solidFill>
                  <a:srgbClr val="000000"/>
                </a:solidFill>
                <a:latin typeface="Aptos Display" pitchFamily="34" charset="0"/>
                <a:ea typeface="Aptos Display" pitchFamily="34" charset="-122"/>
                <a:cs typeface="Aptos Display" pitchFamily="34" charset="-120"/>
              </a:defRPr>
            </a:lvl1pPr>
          </a:lstStyle>
          <a:p>
            <a:pPr marL="0" indent="0" algn="l">
              <a:buNone/>
            </a:pPr>
            <a:endParaRPr lang="en-US" sz="6000" dirty="0"/>
          </a:p>
        </p:txBody>
      </p:sp>
    </p:spTree>
    <p:extLst>
      <p:ext uri="{BB962C8B-B14F-4D97-AF65-F5344CB8AC3E}">
        <p14:creationId xmlns:p14="http://schemas.microsoft.com/office/powerpoint/2010/main" val="3526451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0000">
            <a:alpha val="2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7B43F9-5EB1-9260-8373-D370514291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8B79854-58E3-166F-BC34-3A90BACECE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672FA-EF0C-38C4-8D49-CC8A95E07E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49CB4C-E078-4F92-8814-2240B295C61E}" type="datetimeFigureOut">
              <a:rPr lang="en-US" smtClean="0"/>
              <a:t>9/17/2026</a:t>
            </a:fld>
            <a:endParaRPr lang="en-US"/>
          </a:p>
        </p:txBody>
      </p:sp>
      <p:sp>
        <p:nvSpPr>
          <p:cNvPr id="5" name="Footer Placeholder 4">
            <a:extLst>
              <a:ext uri="{FF2B5EF4-FFF2-40B4-BE49-F238E27FC236}">
                <a16:creationId xmlns:a16="http://schemas.microsoft.com/office/drawing/2014/main" id="{BB6F8682-2B5D-6439-263F-1745EFDDC0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51829D-55E2-FD09-9149-50A0E762EA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8F2352-19A1-4309-8E3A-6370799066B3}" type="slidenum">
              <a:rPr lang="en-US" smtClean="0"/>
              <a:t>‹#›</a:t>
            </a:fld>
            <a:endParaRPr lang="en-US"/>
          </a:p>
        </p:txBody>
      </p:sp>
    </p:spTree>
    <p:extLst>
      <p:ext uri="{BB962C8B-B14F-4D97-AF65-F5344CB8AC3E}">
        <p14:creationId xmlns:p14="http://schemas.microsoft.com/office/powerpoint/2010/main" val="739055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notesSlide" Target="../notesSlides/notesSlide25.xml"/><Relationship Id="rId16"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3" Type="http://schemas.openxmlformats.org/officeDocument/2006/relationships/image" Target="../media/image60.png"/><Relationship Id="rId18" Type="http://schemas.openxmlformats.org/officeDocument/2006/relationships/image" Target="../media/image65.png"/><Relationship Id="rId26" Type="http://schemas.openxmlformats.org/officeDocument/2006/relationships/image" Target="../media/image73.png"/><Relationship Id="rId21" Type="http://schemas.openxmlformats.org/officeDocument/2006/relationships/image" Target="../media/image68.png"/><Relationship Id="rId34" Type="http://schemas.openxmlformats.org/officeDocument/2006/relationships/image" Target="../media/image81.png"/><Relationship Id="rId7" Type="http://schemas.openxmlformats.org/officeDocument/2006/relationships/image" Target="../media/image54.png"/><Relationship Id="rId12" Type="http://schemas.openxmlformats.org/officeDocument/2006/relationships/image" Target="../media/image59.png"/><Relationship Id="rId17" Type="http://schemas.openxmlformats.org/officeDocument/2006/relationships/image" Target="../media/image64.png"/><Relationship Id="rId25" Type="http://schemas.openxmlformats.org/officeDocument/2006/relationships/image" Target="../media/image72.png"/><Relationship Id="rId33" Type="http://schemas.openxmlformats.org/officeDocument/2006/relationships/image" Target="../media/image80.png"/><Relationship Id="rId38" Type="http://schemas.openxmlformats.org/officeDocument/2006/relationships/image" Target="../media/image85.png"/><Relationship Id="rId2" Type="http://schemas.openxmlformats.org/officeDocument/2006/relationships/notesSlide" Target="../notesSlides/notesSlide31.xml"/><Relationship Id="rId16" Type="http://schemas.openxmlformats.org/officeDocument/2006/relationships/image" Target="../media/image63.png"/><Relationship Id="rId20" Type="http://schemas.openxmlformats.org/officeDocument/2006/relationships/image" Target="../media/image67.png"/><Relationship Id="rId29"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24" Type="http://schemas.openxmlformats.org/officeDocument/2006/relationships/image" Target="../media/image71.png"/><Relationship Id="rId32" Type="http://schemas.openxmlformats.org/officeDocument/2006/relationships/image" Target="../media/image79.png"/><Relationship Id="rId37" Type="http://schemas.openxmlformats.org/officeDocument/2006/relationships/image" Target="../media/image84.png"/><Relationship Id="rId5" Type="http://schemas.openxmlformats.org/officeDocument/2006/relationships/image" Target="../media/image52.png"/><Relationship Id="rId15" Type="http://schemas.openxmlformats.org/officeDocument/2006/relationships/image" Target="../media/image62.png"/><Relationship Id="rId23" Type="http://schemas.openxmlformats.org/officeDocument/2006/relationships/image" Target="../media/image70.png"/><Relationship Id="rId28" Type="http://schemas.openxmlformats.org/officeDocument/2006/relationships/image" Target="../media/image75.png"/><Relationship Id="rId36" Type="http://schemas.openxmlformats.org/officeDocument/2006/relationships/image" Target="../media/image83.png"/><Relationship Id="rId10" Type="http://schemas.openxmlformats.org/officeDocument/2006/relationships/image" Target="../media/image57.png"/><Relationship Id="rId19" Type="http://schemas.openxmlformats.org/officeDocument/2006/relationships/image" Target="../media/image66.png"/><Relationship Id="rId31" Type="http://schemas.openxmlformats.org/officeDocument/2006/relationships/image" Target="../media/image78.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4.png"/><Relationship Id="rId30" Type="http://schemas.openxmlformats.org/officeDocument/2006/relationships/image" Target="../media/image77.png"/><Relationship Id="rId35" Type="http://schemas.openxmlformats.org/officeDocument/2006/relationships/image" Target="../media/image82.png"/><Relationship Id="rId8" Type="http://schemas.openxmlformats.org/officeDocument/2006/relationships/image" Target="../media/image55.png"/><Relationship Id="rId3" Type="http://schemas.openxmlformats.org/officeDocument/2006/relationships/image" Target="../media/image5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hyperlink" Target="https://github.com/iontodirel/libmodem" TargetMode="External"/><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hyperlink" Target="https://red.anthropic.com/2026/mythos-preview/" TargetMode="External"/><Relationship Id="rId2" Type="http://schemas.openxmlformats.org/officeDocument/2006/relationships/notesSlide" Target="../notesSlides/notesSlide90.xml"/><Relationship Id="rId1" Type="http://schemas.openxmlformats.org/officeDocument/2006/relationships/slideLayout" Target="../slideLayouts/slideLayout6.xml"/><Relationship Id="rId4" Type="http://schemas.openxmlformats.org/officeDocument/2006/relationships/hyperlink" Target="https://arxiv.org/abs/2506.02548" TargetMode="External"/></Relationships>
</file>

<file path=ppt/slides/_rels/slide110.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91.xml"/><Relationship Id="rId1" Type="http://schemas.openxmlformats.org/officeDocument/2006/relationships/slideLayout" Target="../slideLayouts/slideLayout13.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31E912-B990-4562-4D48-7F571EE25D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10276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2544318"/>
            <a:ext cx="10515600" cy="2194560"/>
          </a:xfrm>
          <a:prstGeom prst="rect">
            <a:avLst/>
          </a:prstGeom>
          <a:noFill/>
          <a:ln/>
        </p:spPr>
        <p:txBody>
          <a:bodyPr wrap="square" rtlCol="0" anchor="ctr"/>
          <a:lstStyle/>
          <a:p>
            <a:pPr marL="0" indent="0" algn="l">
              <a:lnSpc>
                <a:spcPct val="90000"/>
              </a:lnSpc>
              <a:buNone/>
            </a:pPr>
            <a:r>
              <a:rPr lang="en-US" sz="6000" b="1" dirty="0">
                <a:solidFill>
                  <a:srgbClr val="000000"/>
                </a:solidFill>
                <a:latin typeface="Aptos Display"/>
                <a:ea typeface="Aptos Display"/>
                <a:cs typeface="Aptos Display"/>
              </a:rPr>
              <a:t>The C++ Safety Issues</a:t>
            </a:r>
            <a:endParaRPr lang="en-US" sz="6000" dirty="0"/>
          </a:p>
          <a:p>
            <a:pPr marL="0" indent="0" algn="l">
              <a:lnSpc>
                <a:spcPct val="90000"/>
              </a:lnSpc>
              <a:buNone/>
            </a:pPr>
            <a:r>
              <a:rPr lang="en-US" sz="6000" b="1" dirty="0">
                <a:solidFill>
                  <a:srgbClr val="000000"/>
                </a:solidFill>
                <a:latin typeface="Aptos Display"/>
                <a:ea typeface="Aptos Display"/>
                <a:cs typeface="Aptos Display"/>
              </a:rPr>
              <a:t>Your Tools </a:t>
            </a:r>
            <a:r>
              <a:rPr lang="en-US" sz="6000" b="1" dirty="0">
                <a:solidFill>
                  <a:srgbClr val="000000">
                    <a:alpha val="80000"/>
                  </a:srgbClr>
                </a:solidFill>
                <a:latin typeface="Aptos Display"/>
                <a:ea typeface="Aptos Display"/>
                <a:cs typeface="Aptos Display"/>
              </a:rPr>
              <a:t>C</a:t>
            </a:r>
            <a:r>
              <a:rPr lang="en-US" sz="6000" b="1" dirty="0">
                <a:solidFill>
                  <a:srgbClr val="000000">
                    <a:alpha val="70571"/>
                  </a:srgbClr>
                </a:solidFill>
                <a:latin typeface="Aptos Display"/>
                <a:ea typeface="Aptos Display"/>
                <a:cs typeface="Aptos Display"/>
              </a:rPr>
              <a:t>a</a:t>
            </a:r>
            <a:r>
              <a:rPr lang="en-US" sz="6000" b="1" dirty="0">
                <a:solidFill>
                  <a:srgbClr val="000000">
                    <a:alpha val="61143"/>
                  </a:srgbClr>
                </a:solidFill>
                <a:latin typeface="Aptos Display"/>
                <a:ea typeface="Aptos Display"/>
                <a:cs typeface="Aptos Display"/>
              </a:rPr>
              <a:t>n</a:t>
            </a:r>
            <a:r>
              <a:rPr lang="en-US" sz="6000" b="1" dirty="0">
                <a:solidFill>
                  <a:srgbClr val="000000">
                    <a:alpha val="51714"/>
                  </a:srgbClr>
                </a:solidFill>
                <a:latin typeface="Aptos Display"/>
                <a:ea typeface="Aptos Display"/>
                <a:cs typeface="Aptos Display"/>
              </a:rPr>
              <a:t>’</a:t>
            </a:r>
            <a:r>
              <a:rPr lang="en-US" sz="6000" b="1" dirty="0">
                <a:solidFill>
                  <a:srgbClr val="000000">
                    <a:alpha val="42286"/>
                  </a:srgbClr>
                </a:solidFill>
                <a:latin typeface="Aptos Display"/>
                <a:ea typeface="Aptos Display"/>
                <a:cs typeface="Aptos Display"/>
              </a:rPr>
              <a:t>t</a:t>
            </a:r>
            <a:r>
              <a:rPr lang="en-US" sz="6000" b="1" dirty="0">
                <a:solidFill>
                  <a:srgbClr val="000000"/>
                </a:solidFill>
                <a:latin typeface="Aptos Display"/>
                <a:ea typeface="Aptos Display"/>
                <a:cs typeface="Aptos Display"/>
              </a:rPr>
              <a:t> </a:t>
            </a:r>
            <a:r>
              <a:rPr lang="en-US" sz="6000" b="1" dirty="0">
                <a:solidFill>
                  <a:srgbClr val="000000">
                    <a:alpha val="32857"/>
                  </a:srgbClr>
                </a:solidFill>
                <a:latin typeface="Aptos Display"/>
                <a:ea typeface="Aptos Display"/>
                <a:cs typeface="Aptos Display"/>
              </a:rPr>
              <a:t>S</a:t>
            </a:r>
            <a:r>
              <a:rPr lang="en-US" sz="6000" b="1" dirty="0">
                <a:solidFill>
                  <a:srgbClr val="000000">
                    <a:alpha val="23429"/>
                  </a:srgbClr>
                </a:solidFill>
                <a:latin typeface="Aptos Display"/>
                <a:ea typeface="Aptos Display"/>
                <a:cs typeface="Aptos Display"/>
              </a:rPr>
              <a:t>e</a:t>
            </a:r>
            <a:r>
              <a:rPr lang="en-US" sz="6000" b="1" dirty="0">
                <a:solidFill>
                  <a:srgbClr val="000000">
                    <a:alpha val="14000"/>
                  </a:srgbClr>
                </a:solidFill>
                <a:latin typeface="Aptos Display"/>
                <a:ea typeface="Aptos Display"/>
                <a:cs typeface="Aptos Display"/>
              </a:rPr>
              <a:t>e</a:t>
            </a:r>
            <a:endParaRPr lang="en-US" sz="6000" dirty="0"/>
          </a:p>
        </p:txBody>
      </p:sp>
      <p:sp>
        <p:nvSpPr>
          <p:cNvPr id="11" name="Conference"/>
          <p:cNvSpPr txBox="1"/>
          <p:nvPr/>
        </p:nvSpPr>
        <p:spPr>
          <a:xfrm>
            <a:off x="932688" y="2395728"/>
            <a:ext cx="5486400" cy="329184"/>
          </a:xfrm>
          <a:prstGeom prst="rect">
            <a:avLst/>
          </a:prstGeom>
          <a:noFill/>
          <a:ln>
            <a:noFill/>
          </a:ln>
        </p:spPr>
        <p:txBody>
          <a:bodyPr wrap="none" lIns="0" tIns="0" rIns="0" bIns="0" rtlCol="0" anchor="t">
            <a:noAutofit/>
          </a:bodyPr>
          <a:lstStyle/>
          <a:p>
            <a:pPr marL="0" indent="0" algn="l">
              <a:buNone/>
            </a:pPr>
            <a:r>
              <a:rPr lang="en-US" sz="1800" b="1" dirty="0">
                <a:solidFill>
                  <a:srgbClr val="156082"/>
                </a:solidFill>
                <a:latin typeface="Aptos"/>
                <a:ea typeface="Aptos"/>
                <a:cs typeface="Aptos"/>
              </a:rPr>
              <a:t>CppCon 2026</a:t>
            </a:r>
          </a:p>
        </p:txBody>
      </p:sp>
      <p:cxnSp>
        <p:nvCxnSpPr>
          <p:cNvPr id="12" name="Rule"/>
          <p:cNvCxnSpPr/>
          <p:nvPr/>
        </p:nvCxnSpPr>
        <p:spPr>
          <a:xfrm>
            <a:off x="932688" y="4754880"/>
            <a:ext cx="10387584" cy="0"/>
          </a:xfrm>
          <a:prstGeom prst="line">
            <a:avLst/>
          </a:prstGeom>
          <a:ln w="6350">
            <a:solidFill>
              <a:srgbClr val="C9C4C1"/>
            </a:solidFill>
          </a:ln>
        </p:spPr>
      </p:cxnSp>
      <p:sp>
        <p:nvSpPr>
          <p:cNvPr id="13" name="Speaker"/>
          <p:cNvSpPr txBox="1"/>
          <p:nvPr/>
        </p:nvSpPr>
        <p:spPr>
          <a:xfrm>
            <a:off x="932688" y="4956048"/>
            <a:ext cx="5486400" cy="384048"/>
          </a:xfrm>
          <a:prstGeom prst="rect">
            <a:avLst/>
          </a:prstGeom>
          <a:noFill/>
          <a:ln>
            <a:noFill/>
          </a:ln>
        </p:spPr>
        <p:txBody>
          <a:bodyPr wrap="none" lIns="0" tIns="0" rIns="0" bIns="0" rtlCol="0" anchor="t">
            <a:noAutofit/>
          </a:bodyPr>
          <a:lstStyle/>
          <a:p>
            <a:pPr marL="0" indent="0" algn="l">
              <a:buNone/>
            </a:pPr>
            <a:r>
              <a:rPr lang="en-US" sz="2400" b="1" dirty="0">
                <a:solidFill>
                  <a:srgbClr val="1A1A1A"/>
                </a:solidFill>
                <a:latin typeface="Aptos"/>
                <a:ea typeface="Aptos"/>
                <a:cs typeface="Aptos"/>
              </a:rPr>
              <a:t>Ion Todirel</a:t>
            </a:r>
          </a:p>
        </p:txBody>
      </p:sp>
      <p:sp>
        <p:nvSpPr>
          <p:cNvPr id="14" name="Role"/>
          <p:cNvSpPr txBox="1"/>
          <p:nvPr/>
        </p:nvSpPr>
        <p:spPr>
          <a:xfrm>
            <a:off x="932688" y="5413248"/>
            <a:ext cx="7315200" cy="292608"/>
          </a:xfrm>
          <a:prstGeom prst="rect">
            <a:avLst/>
          </a:prstGeom>
          <a:noFill/>
          <a:ln>
            <a:noFill/>
          </a:ln>
        </p:spPr>
        <p:txBody>
          <a:bodyPr wrap="none" lIns="0" tIns="0" rIns="0" bIns="0" rtlCol="0" anchor="t">
            <a:noAutofit/>
          </a:bodyPr>
          <a:lstStyle/>
          <a:p>
            <a:pPr marL="0" indent="0" algn="l">
              <a:buNone/>
            </a:pPr>
            <a:r>
              <a:rPr lang="en-US" sz="1600" b="0" dirty="0">
                <a:solidFill>
                  <a:srgbClr val="595959"/>
                </a:solidFill>
                <a:latin typeface="Aptos"/>
                <a:ea typeface="Aptos"/>
                <a:cs typeface="Aptos"/>
              </a:rPr>
              <a:t>Engineering lead at Microsoft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85DE7">
            <a:alpha val="99000"/>
          </a:srgbClr>
        </a:solidFill>
        <a:effectLst/>
      </p:bgPr>
    </p:bg>
    <p:spTree>
      <p:nvGrpSpPr>
        <p:cNvPr id="1" name="">
          <a:extLst>
            <a:ext uri="{FF2B5EF4-FFF2-40B4-BE49-F238E27FC236}">
              <a16:creationId xmlns:a16="http://schemas.microsoft.com/office/drawing/2014/main" id="{36548FE2-578C-4031-309D-7380AC688F4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18760FB-469E-53E7-9B76-DFD6BAF4C51A}"/>
              </a:ext>
            </a:extLst>
          </p:cNvPr>
          <p:cNvSpPr txBox="1"/>
          <p:nvPr/>
        </p:nvSpPr>
        <p:spPr>
          <a:xfrm>
            <a:off x="966797" y="1250818"/>
            <a:ext cx="10972800" cy="426720"/>
          </a:xfrm>
          <a:prstGeom prst="rect">
            <a:avLst/>
          </a:prstGeom>
          <a:noFill/>
          <a:ln/>
        </p:spPr>
        <p:txBody>
          <a:bodyPr wrap="square" lIns="0" tIns="0" rIns="0" bIns="0" rtlCol="0" anchor="ctr"/>
          <a:lstStyle/>
          <a:p>
            <a:r>
              <a:rPr lang="en-US" sz="1867" dirty="0">
                <a:solidFill>
                  <a:schemeClr val="bg1">
                    <a:lumMod val="85000"/>
                  </a:schemeClr>
                </a:solidFill>
                <a:latin typeface="Calibri" pitchFamily="34" charset="0"/>
                <a:ea typeface="Calibri" pitchFamily="34" charset="-122"/>
                <a:cs typeface="Calibri" pitchFamily="34" charset="-120"/>
              </a:rPr>
              <a:t>Five sessions from Microsoft and the C++ team. Come find us at the booth.</a:t>
            </a:r>
            <a:endParaRPr lang="en-US" sz="1867" dirty="0">
              <a:solidFill>
                <a:schemeClr val="bg1">
                  <a:lumMod val="85000"/>
                </a:schemeClr>
              </a:solidFill>
            </a:endParaRPr>
          </a:p>
        </p:txBody>
      </p:sp>
      <p:sp>
        <p:nvSpPr>
          <p:cNvPr id="101" name="Shape 19">
            <a:extLst>
              <a:ext uri="{FF2B5EF4-FFF2-40B4-BE49-F238E27FC236}">
                <a16:creationId xmlns:a16="http://schemas.microsoft.com/office/drawing/2014/main" id="{31C644EF-7794-4838-B5AA-962B9DD68C19}"/>
              </a:ext>
            </a:extLst>
          </p:cNvPr>
          <p:cNvSpPr/>
          <p:nvPr/>
        </p:nvSpPr>
        <p:spPr>
          <a:xfrm>
            <a:off x="966798" y="1730844"/>
            <a:ext cx="10166978" cy="880000"/>
          </a:xfrm>
          <a:prstGeom prst="roundRect">
            <a:avLst>
              <a:gd name="adj" fmla="val 9195"/>
            </a:avLst>
          </a:prstGeom>
          <a:solidFill>
            <a:srgbClr val="1C1C3A"/>
          </a:solidFill>
          <a:ln w="12700">
            <a:solidFill>
              <a:srgbClr val="1C1C3A"/>
            </a:solidFill>
            <a:prstDash val="solid"/>
          </a:ln>
          <a:effectLst>
            <a:outerShdw blurRad="76200" dist="25400" dir="5400000" algn="bl" rotWithShape="0">
              <a:srgbClr val="000000">
                <a:alpha val="35000"/>
              </a:srgbClr>
            </a:outerShdw>
          </a:effectLst>
        </p:spPr>
        <p:txBody>
          <a:bodyPr/>
          <a:lstStyle/>
          <a:p>
            <a:endParaRPr lang="en-US" sz="2400"/>
          </a:p>
        </p:txBody>
      </p:sp>
      <p:sp>
        <p:nvSpPr>
          <p:cNvPr id="102" name="Shape 20">
            <a:extLst>
              <a:ext uri="{FF2B5EF4-FFF2-40B4-BE49-F238E27FC236}">
                <a16:creationId xmlns:a16="http://schemas.microsoft.com/office/drawing/2014/main" id="{7890DAE6-8264-418C-A851-2846B3F7BA8B}"/>
              </a:ext>
            </a:extLst>
          </p:cNvPr>
          <p:cNvSpPr/>
          <p:nvPr/>
        </p:nvSpPr>
        <p:spPr>
          <a:xfrm>
            <a:off x="1149677" y="1850844"/>
            <a:ext cx="1402080" cy="640000"/>
          </a:xfrm>
          <a:prstGeom prst="roundRect">
            <a:avLst>
              <a:gd name="adj" fmla="val 9524"/>
            </a:avLst>
          </a:prstGeom>
          <a:solidFill>
            <a:srgbClr val="5C2D91"/>
          </a:solidFill>
          <a:ln w="12700">
            <a:solidFill>
              <a:srgbClr val="5C2D91"/>
            </a:solidFill>
            <a:prstDash val="solid"/>
          </a:ln>
        </p:spPr>
        <p:txBody>
          <a:bodyPr/>
          <a:lstStyle/>
          <a:p>
            <a:endParaRPr lang="en-US" sz="2400"/>
          </a:p>
        </p:txBody>
      </p:sp>
      <p:sp>
        <p:nvSpPr>
          <p:cNvPr id="103" name="Text 21">
            <a:extLst>
              <a:ext uri="{FF2B5EF4-FFF2-40B4-BE49-F238E27FC236}">
                <a16:creationId xmlns:a16="http://schemas.microsoft.com/office/drawing/2014/main" id="{69219739-CBA7-4E18-914C-F76435E6241E}"/>
              </a:ext>
            </a:extLst>
          </p:cNvPr>
          <p:cNvSpPr txBox="1"/>
          <p:nvPr/>
        </p:nvSpPr>
        <p:spPr>
          <a:xfrm>
            <a:off x="1149677" y="1850844"/>
            <a:ext cx="1402080" cy="640000"/>
          </a:xfrm>
          <a:prstGeom prst="rect">
            <a:avLst/>
          </a:prstGeom>
          <a:noFill/>
          <a:ln/>
        </p:spPr>
        <p:txBody>
          <a:bodyPr wrap="square" lIns="0" tIns="0" rIns="0" bIns="0" rtlCol="0" anchor="ctr"/>
          <a:lstStyle/>
          <a:p>
            <a:pPr algn="ctr"/>
            <a:r>
              <a:rPr lang="en-US" sz="1800" b="1" dirty="0">
                <a:solidFill>
                  <a:srgbClr val="FFFFFF"/>
                </a:solidFill>
                <a:latin typeface="Calibri" pitchFamily="34" charset="0"/>
                <a:ea typeface="Calibri" pitchFamily="34" charset="-122"/>
                <a:cs typeface="Calibri" pitchFamily="34" charset="-120"/>
              </a:rPr>
              <a:t>MON</a:t>
            </a:r>
            <a:endParaRPr lang="en-US" sz="1800" dirty="0"/>
          </a:p>
          <a:p>
            <a:pPr algn="ctr"/>
            <a:r>
              <a:rPr lang="en-US" sz="1200" dirty="0">
                <a:solidFill>
                  <a:srgbClr val="D6D6EA"/>
                </a:solidFill>
                <a:latin typeface="Calibri" pitchFamily="34" charset="0"/>
                <a:ea typeface="Calibri" pitchFamily="34" charset="-122"/>
                <a:cs typeface="Calibri" pitchFamily="34" charset="-120"/>
              </a:rPr>
              <a:t>Sep 14</a:t>
            </a:r>
            <a:endParaRPr lang="en-US" sz="1800" dirty="0"/>
          </a:p>
        </p:txBody>
      </p:sp>
      <p:sp>
        <p:nvSpPr>
          <p:cNvPr id="104" name="Text 22">
            <a:extLst>
              <a:ext uri="{FF2B5EF4-FFF2-40B4-BE49-F238E27FC236}">
                <a16:creationId xmlns:a16="http://schemas.microsoft.com/office/drawing/2014/main" id="{8B1E1BA5-012D-402A-BD52-8A63E60455B4}"/>
              </a:ext>
            </a:extLst>
          </p:cNvPr>
          <p:cNvSpPr txBox="1"/>
          <p:nvPr/>
        </p:nvSpPr>
        <p:spPr>
          <a:xfrm>
            <a:off x="2734637" y="1850844"/>
            <a:ext cx="1463040" cy="640000"/>
          </a:xfrm>
          <a:prstGeom prst="rect">
            <a:avLst/>
          </a:prstGeom>
          <a:noFill/>
          <a:ln/>
        </p:spPr>
        <p:txBody>
          <a:bodyPr wrap="square" lIns="0" tIns="0" rIns="0" bIns="0" rtlCol="0" anchor="ctr"/>
          <a:lstStyle/>
          <a:p>
            <a:r>
              <a:rPr lang="en-US" sz="1600" b="1" dirty="0">
                <a:solidFill>
                  <a:srgbClr val="9B6DFF"/>
                </a:solidFill>
                <a:latin typeface="Calibri" pitchFamily="34" charset="0"/>
                <a:ea typeface="Calibri" pitchFamily="34" charset="-122"/>
                <a:cs typeface="Calibri" pitchFamily="34" charset="-120"/>
              </a:rPr>
              <a:t>15:15 - 16:15</a:t>
            </a:r>
            <a:endParaRPr lang="en-US" sz="1600" dirty="0"/>
          </a:p>
        </p:txBody>
      </p:sp>
      <p:sp>
        <p:nvSpPr>
          <p:cNvPr id="105" name="Text 23">
            <a:extLst>
              <a:ext uri="{FF2B5EF4-FFF2-40B4-BE49-F238E27FC236}">
                <a16:creationId xmlns:a16="http://schemas.microsoft.com/office/drawing/2014/main" id="{2948EBE2-25B8-4693-8B5C-53D83FDA85DF}"/>
              </a:ext>
            </a:extLst>
          </p:cNvPr>
          <p:cNvSpPr txBox="1"/>
          <p:nvPr/>
        </p:nvSpPr>
        <p:spPr>
          <a:xfrm>
            <a:off x="4319597" y="1780844"/>
            <a:ext cx="7376160" cy="780000"/>
          </a:xfrm>
          <a:prstGeom prst="rect">
            <a:avLst/>
          </a:prstGeom>
          <a:noFill/>
          <a:ln/>
        </p:spPr>
        <p:txBody>
          <a:bodyPr wrap="square" lIns="0" tIns="0" rIns="0" bIns="0" rtlCol="0" anchor="ctr"/>
          <a:lstStyle/>
          <a:p>
            <a:pPr>
              <a:spcAft>
                <a:spcPts val="200"/>
              </a:spcAft>
            </a:pPr>
            <a:r>
              <a:rPr lang="en-US" sz="1500" b="1" dirty="0">
                <a:solidFill>
                  <a:srgbClr val="FFFFFF"/>
                </a:solidFill>
                <a:latin typeface="Calibri" pitchFamily="34" charset="0"/>
                <a:ea typeface="Calibri" pitchFamily="34" charset="-122"/>
                <a:cs typeface="Calibri" pitchFamily="34" charset="-120"/>
              </a:rPr>
              <a:t>The journey to "/W4 /WX": How hard could it be?</a:t>
            </a:r>
            <a:endParaRPr lang="en-US" sz="1500" dirty="0"/>
          </a:p>
          <a:p>
            <a:pPr>
              <a:spcAft>
                <a:spcPts val="200"/>
              </a:spcAft>
            </a:pPr>
            <a:r>
              <a:rPr lang="en-US" sz="1300" dirty="0">
                <a:solidFill>
                  <a:srgbClr val="A9A9C7"/>
                </a:solidFill>
                <a:latin typeface="Calibri" pitchFamily="34" charset="0"/>
                <a:ea typeface="Calibri" pitchFamily="34" charset="-122"/>
                <a:cs typeface="Calibri" pitchFamily="34" charset="-120"/>
              </a:rPr>
              <a:t>Keith Stockdale   ·   GameDev</a:t>
            </a:r>
            <a:endParaRPr lang="en-US" sz="1500" dirty="0"/>
          </a:p>
        </p:txBody>
      </p:sp>
      <p:sp>
        <p:nvSpPr>
          <p:cNvPr id="106" name="Shape 19">
            <a:extLst>
              <a:ext uri="{FF2B5EF4-FFF2-40B4-BE49-F238E27FC236}">
                <a16:creationId xmlns:a16="http://schemas.microsoft.com/office/drawing/2014/main" id="{978814F7-8869-4F91-A444-7B5C46543716}"/>
              </a:ext>
            </a:extLst>
          </p:cNvPr>
          <p:cNvSpPr/>
          <p:nvPr/>
        </p:nvSpPr>
        <p:spPr>
          <a:xfrm>
            <a:off x="966798" y="2680844"/>
            <a:ext cx="10166978" cy="880000"/>
          </a:xfrm>
          <a:prstGeom prst="roundRect">
            <a:avLst>
              <a:gd name="adj" fmla="val 9195"/>
            </a:avLst>
          </a:prstGeom>
          <a:solidFill>
            <a:srgbClr val="1C1C3A"/>
          </a:solidFill>
          <a:ln w="12700">
            <a:solidFill>
              <a:srgbClr val="1C1C3A"/>
            </a:solidFill>
            <a:prstDash val="solid"/>
          </a:ln>
          <a:effectLst>
            <a:outerShdw blurRad="76200" dist="25400" dir="5400000" algn="bl" rotWithShape="0">
              <a:srgbClr val="000000">
                <a:alpha val="35000"/>
              </a:srgbClr>
            </a:outerShdw>
          </a:effectLst>
        </p:spPr>
        <p:txBody>
          <a:bodyPr/>
          <a:lstStyle/>
          <a:p>
            <a:endParaRPr lang="en-US" sz="2400"/>
          </a:p>
        </p:txBody>
      </p:sp>
      <p:sp>
        <p:nvSpPr>
          <p:cNvPr id="107" name="Shape 20">
            <a:extLst>
              <a:ext uri="{FF2B5EF4-FFF2-40B4-BE49-F238E27FC236}">
                <a16:creationId xmlns:a16="http://schemas.microsoft.com/office/drawing/2014/main" id="{50FF4484-E0C6-4D46-BB32-273BEEE1BA9B}"/>
              </a:ext>
            </a:extLst>
          </p:cNvPr>
          <p:cNvSpPr/>
          <p:nvPr/>
        </p:nvSpPr>
        <p:spPr>
          <a:xfrm>
            <a:off x="1149677" y="2800844"/>
            <a:ext cx="1402080" cy="640000"/>
          </a:xfrm>
          <a:prstGeom prst="roundRect">
            <a:avLst>
              <a:gd name="adj" fmla="val 9524"/>
            </a:avLst>
          </a:prstGeom>
          <a:solidFill>
            <a:srgbClr val="5C2D91"/>
          </a:solidFill>
          <a:ln w="12700">
            <a:solidFill>
              <a:srgbClr val="5C2D91"/>
            </a:solidFill>
            <a:prstDash val="solid"/>
          </a:ln>
        </p:spPr>
        <p:txBody>
          <a:bodyPr/>
          <a:lstStyle/>
          <a:p>
            <a:endParaRPr lang="en-US" sz="2400"/>
          </a:p>
        </p:txBody>
      </p:sp>
      <p:sp>
        <p:nvSpPr>
          <p:cNvPr id="108" name="Text 21">
            <a:extLst>
              <a:ext uri="{FF2B5EF4-FFF2-40B4-BE49-F238E27FC236}">
                <a16:creationId xmlns:a16="http://schemas.microsoft.com/office/drawing/2014/main" id="{07B7E057-7908-4559-9577-57AB4E8DCF31}"/>
              </a:ext>
            </a:extLst>
          </p:cNvPr>
          <p:cNvSpPr txBox="1"/>
          <p:nvPr/>
        </p:nvSpPr>
        <p:spPr>
          <a:xfrm>
            <a:off x="1149677" y="2800844"/>
            <a:ext cx="1402080" cy="640000"/>
          </a:xfrm>
          <a:prstGeom prst="rect">
            <a:avLst/>
          </a:prstGeom>
          <a:noFill/>
          <a:ln/>
        </p:spPr>
        <p:txBody>
          <a:bodyPr wrap="square" lIns="0" tIns="0" rIns="0" bIns="0" rtlCol="0" anchor="ctr"/>
          <a:lstStyle/>
          <a:p>
            <a:pPr algn="ctr"/>
            <a:r>
              <a:rPr lang="en-US" sz="1800" b="1" dirty="0">
                <a:solidFill>
                  <a:srgbClr val="FFFFFF"/>
                </a:solidFill>
                <a:latin typeface="Calibri" pitchFamily="34" charset="0"/>
                <a:ea typeface="Calibri" pitchFamily="34" charset="-122"/>
                <a:cs typeface="Calibri" pitchFamily="34" charset="-120"/>
              </a:rPr>
              <a:t>MON</a:t>
            </a:r>
            <a:endParaRPr lang="en-US" sz="1800" dirty="0"/>
          </a:p>
          <a:p>
            <a:pPr algn="ctr"/>
            <a:r>
              <a:rPr lang="en-US" sz="1200" dirty="0">
                <a:solidFill>
                  <a:srgbClr val="D6D6EA"/>
                </a:solidFill>
                <a:latin typeface="Calibri" pitchFamily="34" charset="0"/>
                <a:ea typeface="Calibri" pitchFamily="34" charset="-122"/>
                <a:cs typeface="Calibri" pitchFamily="34" charset="-120"/>
              </a:rPr>
              <a:t>Sep 14</a:t>
            </a:r>
            <a:endParaRPr lang="en-US" sz="1800" dirty="0"/>
          </a:p>
        </p:txBody>
      </p:sp>
      <p:sp>
        <p:nvSpPr>
          <p:cNvPr id="109" name="Text 22">
            <a:extLst>
              <a:ext uri="{FF2B5EF4-FFF2-40B4-BE49-F238E27FC236}">
                <a16:creationId xmlns:a16="http://schemas.microsoft.com/office/drawing/2014/main" id="{FB91E782-0F9B-4B95-90F6-53CCC3F76CCA}"/>
              </a:ext>
            </a:extLst>
          </p:cNvPr>
          <p:cNvSpPr txBox="1"/>
          <p:nvPr/>
        </p:nvSpPr>
        <p:spPr>
          <a:xfrm>
            <a:off x="2734637" y="2800844"/>
            <a:ext cx="1463040" cy="640000"/>
          </a:xfrm>
          <a:prstGeom prst="rect">
            <a:avLst/>
          </a:prstGeom>
          <a:noFill/>
          <a:ln/>
        </p:spPr>
        <p:txBody>
          <a:bodyPr wrap="square" lIns="0" tIns="0" rIns="0" bIns="0" rtlCol="0" anchor="ctr"/>
          <a:lstStyle/>
          <a:p>
            <a:r>
              <a:rPr lang="en-US" sz="1600" b="1" dirty="0">
                <a:solidFill>
                  <a:srgbClr val="9B6DFF"/>
                </a:solidFill>
                <a:latin typeface="Calibri" pitchFamily="34" charset="0"/>
                <a:ea typeface="Calibri" pitchFamily="34" charset="-122"/>
                <a:cs typeface="Calibri" pitchFamily="34" charset="-120"/>
              </a:rPr>
              <a:t>16:45 - 17:45</a:t>
            </a:r>
            <a:endParaRPr lang="en-US" sz="1600" dirty="0"/>
          </a:p>
        </p:txBody>
      </p:sp>
      <p:sp>
        <p:nvSpPr>
          <p:cNvPr id="110" name="Text 23">
            <a:extLst>
              <a:ext uri="{FF2B5EF4-FFF2-40B4-BE49-F238E27FC236}">
                <a16:creationId xmlns:a16="http://schemas.microsoft.com/office/drawing/2014/main" id="{02A663BE-B807-4DAC-9C76-9793E5D47F15}"/>
              </a:ext>
            </a:extLst>
          </p:cNvPr>
          <p:cNvSpPr txBox="1"/>
          <p:nvPr/>
        </p:nvSpPr>
        <p:spPr>
          <a:xfrm>
            <a:off x="4319597" y="2730844"/>
            <a:ext cx="7376160" cy="780000"/>
          </a:xfrm>
          <a:prstGeom prst="rect">
            <a:avLst/>
          </a:prstGeom>
          <a:noFill/>
          <a:ln/>
        </p:spPr>
        <p:txBody>
          <a:bodyPr wrap="square" lIns="0" tIns="0" rIns="0" bIns="0" rtlCol="0" anchor="ctr"/>
          <a:lstStyle/>
          <a:p>
            <a:pPr>
              <a:spcAft>
                <a:spcPts val="200"/>
              </a:spcAft>
            </a:pPr>
            <a:r>
              <a:rPr lang="en-US" sz="1500" b="1" dirty="0">
                <a:solidFill>
                  <a:srgbClr val="FFFFFF"/>
                </a:solidFill>
                <a:latin typeface="Calibri" pitchFamily="34" charset="0"/>
                <a:ea typeface="Calibri" pitchFamily="34" charset="-122"/>
                <a:cs typeface="Calibri" pitchFamily="34" charset="-120"/>
              </a:rPr>
              <a:t>C++ in the Age of AI: How Visual Studio Is Evolving</a:t>
            </a:r>
            <a:endParaRPr lang="en-US" sz="1500" dirty="0"/>
          </a:p>
          <a:p>
            <a:pPr>
              <a:spcAft>
                <a:spcPts val="200"/>
              </a:spcAft>
            </a:pPr>
            <a:r>
              <a:rPr lang="en-US" sz="1300" dirty="0">
                <a:solidFill>
                  <a:srgbClr val="A9A9C7"/>
                </a:solidFill>
                <a:latin typeface="Calibri" pitchFamily="34" charset="0"/>
                <a:ea typeface="Calibri" pitchFamily="34" charset="-122"/>
                <a:cs typeface="Calibri" pitchFamily="34" charset="-120"/>
              </a:rPr>
              <a:t>David Li, Augustin Popa   ·   Performance, Safety, Security, Standard Library, Tooling/Utilities</a:t>
            </a:r>
            <a:endParaRPr lang="en-US" sz="1500" dirty="0"/>
          </a:p>
        </p:txBody>
      </p:sp>
      <p:sp>
        <p:nvSpPr>
          <p:cNvPr id="111" name="Shape 19">
            <a:extLst>
              <a:ext uri="{FF2B5EF4-FFF2-40B4-BE49-F238E27FC236}">
                <a16:creationId xmlns:a16="http://schemas.microsoft.com/office/drawing/2014/main" id="{28968C32-8D9C-4622-AEA0-18F50F6F6943}"/>
              </a:ext>
            </a:extLst>
          </p:cNvPr>
          <p:cNvSpPr/>
          <p:nvPr/>
        </p:nvSpPr>
        <p:spPr>
          <a:xfrm>
            <a:off x="966798" y="3630844"/>
            <a:ext cx="10166978" cy="880000"/>
          </a:xfrm>
          <a:prstGeom prst="roundRect">
            <a:avLst>
              <a:gd name="adj" fmla="val 9195"/>
            </a:avLst>
          </a:prstGeom>
          <a:solidFill>
            <a:srgbClr val="1C1C3A"/>
          </a:solidFill>
          <a:ln w="12700">
            <a:solidFill>
              <a:srgbClr val="1C1C3A"/>
            </a:solidFill>
            <a:prstDash val="solid"/>
          </a:ln>
          <a:effectLst>
            <a:outerShdw blurRad="76200" dist="25400" dir="5400000" algn="bl" rotWithShape="0">
              <a:srgbClr val="000000">
                <a:alpha val="35000"/>
              </a:srgbClr>
            </a:outerShdw>
          </a:effectLst>
        </p:spPr>
        <p:txBody>
          <a:bodyPr/>
          <a:lstStyle/>
          <a:p>
            <a:endParaRPr lang="en-US" sz="2400"/>
          </a:p>
        </p:txBody>
      </p:sp>
      <p:sp>
        <p:nvSpPr>
          <p:cNvPr id="112" name="Shape 20">
            <a:extLst>
              <a:ext uri="{FF2B5EF4-FFF2-40B4-BE49-F238E27FC236}">
                <a16:creationId xmlns:a16="http://schemas.microsoft.com/office/drawing/2014/main" id="{0E15CC27-3BEE-42B5-BF29-39389550EF84}"/>
              </a:ext>
            </a:extLst>
          </p:cNvPr>
          <p:cNvSpPr/>
          <p:nvPr/>
        </p:nvSpPr>
        <p:spPr>
          <a:xfrm>
            <a:off x="1149677" y="3750844"/>
            <a:ext cx="1402080" cy="640000"/>
          </a:xfrm>
          <a:prstGeom prst="roundRect">
            <a:avLst>
              <a:gd name="adj" fmla="val 9524"/>
            </a:avLst>
          </a:prstGeom>
          <a:solidFill>
            <a:srgbClr val="5C2D91"/>
          </a:solidFill>
          <a:ln w="12700">
            <a:solidFill>
              <a:srgbClr val="5C2D91"/>
            </a:solidFill>
            <a:prstDash val="solid"/>
          </a:ln>
        </p:spPr>
        <p:txBody>
          <a:bodyPr/>
          <a:lstStyle/>
          <a:p>
            <a:endParaRPr lang="en-US" sz="2400"/>
          </a:p>
        </p:txBody>
      </p:sp>
      <p:sp>
        <p:nvSpPr>
          <p:cNvPr id="113" name="Text 21">
            <a:extLst>
              <a:ext uri="{FF2B5EF4-FFF2-40B4-BE49-F238E27FC236}">
                <a16:creationId xmlns:a16="http://schemas.microsoft.com/office/drawing/2014/main" id="{BC6A8A15-EC19-43A1-BB4A-68A715ADC33F}"/>
              </a:ext>
            </a:extLst>
          </p:cNvPr>
          <p:cNvSpPr txBox="1"/>
          <p:nvPr/>
        </p:nvSpPr>
        <p:spPr>
          <a:xfrm>
            <a:off x="1149677" y="3750844"/>
            <a:ext cx="1402080" cy="640000"/>
          </a:xfrm>
          <a:prstGeom prst="rect">
            <a:avLst/>
          </a:prstGeom>
          <a:noFill/>
          <a:ln/>
        </p:spPr>
        <p:txBody>
          <a:bodyPr wrap="square" lIns="0" tIns="0" rIns="0" bIns="0" rtlCol="0" anchor="ctr"/>
          <a:lstStyle/>
          <a:p>
            <a:pPr algn="ctr"/>
            <a:r>
              <a:rPr lang="en-US" sz="1800" b="1" dirty="0">
                <a:solidFill>
                  <a:srgbClr val="FFFFFF"/>
                </a:solidFill>
                <a:latin typeface="Calibri" pitchFamily="34" charset="0"/>
                <a:ea typeface="Calibri" pitchFamily="34" charset="-122"/>
                <a:cs typeface="Calibri" pitchFamily="34" charset="-120"/>
              </a:rPr>
              <a:t>TUE</a:t>
            </a:r>
            <a:endParaRPr lang="en-US" sz="1800" dirty="0"/>
          </a:p>
          <a:p>
            <a:pPr algn="ctr"/>
            <a:r>
              <a:rPr lang="en-US" sz="1200" dirty="0">
                <a:solidFill>
                  <a:srgbClr val="D6D6EA"/>
                </a:solidFill>
                <a:latin typeface="Calibri" pitchFamily="34" charset="0"/>
                <a:ea typeface="Calibri" pitchFamily="34" charset="-122"/>
                <a:cs typeface="Calibri" pitchFamily="34" charset="-120"/>
              </a:rPr>
              <a:t>Sep 15</a:t>
            </a:r>
            <a:endParaRPr lang="en-US" sz="1800" dirty="0"/>
          </a:p>
        </p:txBody>
      </p:sp>
      <p:sp>
        <p:nvSpPr>
          <p:cNvPr id="114" name="Text 22">
            <a:extLst>
              <a:ext uri="{FF2B5EF4-FFF2-40B4-BE49-F238E27FC236}">
                <a16:creationId xmlns:a16="http://schemas.microsoft.com/office/drawing/2014/main" id="{97D6319D-4A72-4D76-B15F-F0770A94206C}"/>
              </a:ext>
            </a:extLst>
          </p:cNvPr>
          <p:cNvSpPr txBox="1"/>
          <p:nvPr/>
        </p:nvSpPr>
        <p:spPr>
          <a:xfrm>
            <a:off x="2734637" y="3750844"/>
            <a:ext cx="1463040" cy="640000"/>
          </a:xfrm>
          <a:prstGeom prst="rect">
            <a:avLst/>
          </a:prstGeom>
          <a:noFill/>
          <a:ln/>
        </p:spPr>
        <p:txBody>
          <a:bodyPr wrap="square" lIns="0" tIns="0" rIns="0" bIns="0" rtlCol="0" anchor="ctr"/>
          <a:lstStyle/>
          <a:p>
            <a:r>
              <a:rPr lang="en-US" sz="1600" b="1" dirty="0">
                <a:solidFill>
                  <a:srgbClr val="9B6DFF"/>
                </a:solidFill>
                <a:latin typeface="Calibri" pitchFamily="34" charset="0"/>
                <a:ea typeface="Calibri" pitchFamily="34" charset="-122"/>
                <a:cs typeface="Calibri" pitchFamily="34" charset="-120"/>
              </a:rPr>
              <a:t>09:00 - 10:00</a:t>
            </a:r>
            <a:endParaRPr lang="en-US" sz="1600" dirty="0"/>
          </a:p>
        </p:txBody>
      </p:sp>
      <p:sp>
        <p:nvSpPr>
          <p:cNvPr id="115" name="Text 23">
            <a:extLst>
              <a:ext uri="{FF2B5EF4-FFF2-40B4-BE49-F238E27FC236}">
                <a16:creationId xmlns:a16="http://schemas.microsoft.com/office/drawing/2014/main" id="{C3552E0A-71C4-4157-9C5B-1C7B4761966D}"/>
              </a:ext>
            </a:extLst>
          </p:cNvPr>
          <p:cNvSpPr txBox="1"/>
          <p:nvPr/>
        </p:nvSpPr>
        <p:spPr>
          <a:xfrm>
            <a:off x="4319597" y="3680844"/>
            <a:ext cx="6785604" cy="780000"/>
          </a:xfrm>
          <a:prstGeom prst="rect">
            <a:avLst/>
          </a:prstGeom>
          <a:noFill/>
          <a:ln/>
        </p:spPr>
        <p:txBody>
          <a:bodyPr wrap="square" lIns="0" tIns="0" rIns="0" bIns="0" rtlCol="0" anchor="ctr"/>
          <a:lstStyle/>
          <a:p>
            <a:pPr>
              <a:spcAft>
                <a:spcPts val="200"/>
              </a:spcAft>
            </a:pPr>
            <a:r>
              <a:rPr lang="en-US" sz="1500" b="1" dirty="0">
                <a:solidFill>
                  <a:srgbClr val="FFFFFF"/>
                </a:solidFill>
                <a:latin typeface="Calibri" pitchFamily="34" charset="0"/>
                <a:ea typeface="Calibri" pitchFamily="34" charset="-122"/>
                <a:cs typeface="Calibri" pitchFamily="34" charset="-120"/>
              </a:rPr>
              <a:t>What's New for C++ in Visual Studio Code: C++ and AI Tooling for Your Build, Your Code, Your Workflow</a:t>
            </a:r>
            <a:endParaRPr lang="en-US" sz="1500" dirty="0"/>
          </a:p>
          <a:p>
            <a:pPr>
              <a:spcAft>
                <a:spcPts val="200"/>
              </a:spcAft>
            </a:pPr>
            <a:r>
              <a:rPr lang="en-US" sz="1300" dirty="0">
                <a:solidFill>
                  <a:srgbClr val="A9A9C7"/>
                </a:solidFill>
                <a:latin typeface="Calibri" pitchFamily="34" charset="0"/>
                <a:ea typeface="Calibri" pitchFamily="34" charset="-122"/>
                <a:cs typeface="Calibri" pitchFamily="34" charset="-120"/>
              </a:rPr>
              <a:t>Sinem Akinci, Ben McMorran   ·   Tooling &amp; Ecosystem</a:t>
            </a:r>
            <a:endParaRPr lang="en-US" sz="1500" dirty="0"/>
          </a:p>
        </p:txBody>
      </p:sp>
      <p:sp>
        <p:nvSpPr>
          <p:cNvPr id="116" name="Shape 19">
            <a:extLst>
              <a:ext uri="{FF2B5EF4-FFF2-40B4-BE49-F238E27FC236}">
                <a16:creationId xmlns:a16="http://schemas.microsoft.com/office/drawing/2014/main" id="{6A988E5E-6B3B-4C3E-B0A3-583E930C0356}"/>
              </a:ext>
            </a:extLst>
          </p:cNvPr>
          <p:cNvSpPr/>
          <p:nvPr/>
        </p:nvSpPr>
        <p:spPr>
          <a:xfrm>
            <a:off x="966798" y="4580844"/>
            <a:ext cx="10166978" cy="880000"/>
          </a:xfrm>
          <a:prstGeom prst="roundRect">
            <a:avLst>
              <a:gd name="adj" fmla="val 9195"/>
            </a:avLst>
          </a:prstGeom>
          <a:solidFill>
            <a:srgbClr val="1C1C3A"/>
          </a:solidFill>
          <a:ln w="12700">
            <a:solidFill>
              <a:srgbClr val="1C1C3A"/>
            </a:solidFill>
            <a:prstDash val="solid"/>
          </a:ln>
          <a:effectLst>
            <a:outerShdw blurRad="76200" dist="25400" dir="5400000" algn="bl" rotWithShape="0">
              <a:srgbClr val="000000">
                <a:alpha val="35000"/>
              </a:srgbClr>
            </a:outerShdw>
          </a:effectLst>
        </p:spPr>
        <p:txBody>
          <a:bodyPr/>
          <a:lstStyle/>
          <a:p>
            <a:endParaRPr lang="en-US" sz="2400"/>
          </a:p>
        </p:txBody>
      </p:sp>
      <p:sp>
        <p:nvSpPr>
          <p:cNvPr id="117" name="Shape 20">
            <a:extLst>
              <a:ext uri="{FF2B5EF4-FFF2-40B4-BE49-F238E27FC236}">
                <a16:creationId xmlns:a16="http://schemas.microsoft.com/office/drawing/2014/main" id="{28C2963D-678D-463C-81C6-59B342503BFA}"/>
              </a:ext>
            </a:extLst>
          </p:cNvPr>
          <p:cNvSpPr/>
          <p:nvPr/>
        </p:nvSpPr>
        <p:spPr>
          <a:xfrm>
            <a:off x="1149677" y="4700844"/>
            <a:ext cx="1402080" cy="640000"/>
          </a:xfrm>
          <a:prstGeom prst="roundRect">
            <a:avLst>
              <a:gd name="adj" fmla="val 9524"/>
            </a:avLst>
          </a:prstGeom>
          <a:solidFill>
            <a:srgbClr val="5C2D91"/>
          </a:solidFill>
          <a:ln w="12700">
            <a:solidFill>
              <a:srgbClr val="5C2D91"/>
            </a:solidFill>
            <a:prstDash val="solid"/>
          </a:ln>
        </p:spPr>
        <p:txBody>
          <a:bodyPr/>
          <a:lstStyle/>
          <a:p>
            <a:endParaRPr lang="en-US" sz="2400"/>
          </a:p>
        </p:txBody>
      </p:sp>
      <p:sp>
        <p:nvSpPr>
          <p:cNvPr id="118" name="Text 21">
            <a:extLst>
              <a:ext uri="{FF2B5EF4-FFF2-40B4-BE49-F238E27FC236}">
                <a16:creationId xmlns:a16="http://schemas.microsoft.com/office/drawing/2014/main" id="{C3547B5B-709C-4144-8C0C-32FE8A1C1A45}"/>
              </a:ext>
            </a:extLst>
          </p:cNvPr>
          <p:cNvSpPr txBox="1"/>
          <p:nvPr/>
        </p:nvSpPr>
        <p:spPr>
          <a:xfrm>
            <a:off x="1149677" y="4700844"/>
            <a:ext cx="1402080" cy="640000"/>
          </a:xfrm>
          <a:prstGeom prst="rect">
            <a:avLst/>
          </a:prstGeom>
          <a:noFill/>
          <a:ln/>
        </p:spPr>
        <p:txBody>
          <a:bodyPr wrap="square" lIns="0" tIns="0" rIns="0" bIns="0" rtlCol="0" anchor="ctr"/>
          <a:lstStyle/>
          <a:p>
            <a:pPr algn="ctr"/>
            <a:r>
              <a:rPr lang="en-US" sz="1800" b="1" dirty="0">
                <a:solidFill>
                  <a:srgbClr val="FFFFFF"/>
                </a:solidFill>
                <a:latin typeface="Calibri" pitchFamily="34" charset="0"/>
                <a:ea typeface="Calibri" pitchFamily="34" charset="-122"/>
                <a:cs typeface="Calibri" pitchFamily="34" charset="-120"/>
              </a:rPr>
              <a:t>WED</a:t>
            </a:r>
            <a:endParaRPr lang="en-US" sz="1800" dirty="0"/>
          </a:p>
          <a:p>
            <a:pPr algn="ctr"/>
            <a:r>
              <a:rPr lang="en-US" sz="1200" dirty="0">
                <a:solidFill>
                  <a:srgbClr val="D6D6EA"/>
                </a:solidFill>
                <a:latin typeface="Calibri" pitchFamily="34" charset="0"/>
                <a:ea typeface="Calibri" pitchFamily="34" charset="-122"/>
                <a:cs typeface="Calibri" pitchFamily="34" charset="-120"/>
              </a:rPr>
              <a:t>Sep 16</a:t>
            </a:r>
            <a:endParaRPr lang="en-US" sz="1800" dirty="0"/>
          </a:p>
        </p:txBody>
      </p:sp>
      <p:sp>
        <p:nvSpPr>
          <p:cNvPr id="119" name="Text 22">
            <a:extLst>
              <a:ext uri="{FF2B5EF4-FFF2-40B4-BE49-F238E27FC236}">
                <a16:creationId xmlns:a16="http://schemas.microsoft.com/office/drawing/2014/main" id="{D6888E26-5104-4AF3-9C50-01F0F022B510}"/>
              </a:ext>
            </a:extLst>
          </p:cNvPr>
          <p:cNvSpPr txBox="1"/>
          <p:nvPr/>
        </p:nvSpPr>
        <p:spPr>
          <a:xfrm>
            <a:off x="2734637" y="4700844"/>
            <a:ext cx="1463040" cy="640000"/>
          </a:xfrm>
          <a:prstGeom prst="rect">
            <a:avLst/>
          </a:prstGeom>
          <a:noFill/>
          <a:ln/>
        </p:spPr>
        <p:txBody>
          <a:bodyPr wrap="square" lIns="0" tIns="0" rIns="0" bIns="0" rtlCol="0" anchor="ctr"/>
          <a:lstStyle/>
          <a:p>
            <a:r>
              <a:rPr lang="en-US" sz="1600" b="1" dirty="0">
                <a:solidFill>
                  <a:srgbClr val="9B6DFF"/>
                </a:solidFill>
                <a:latin typeface="Calibri" pitchFamily="34" charset="0"/>
                <a:ea typeface="Calibri" pitchFamily="34" charset="-122"/>
                <a:cs typeface="Calibri" pitchFamily="34" charset="-120"/>
              </a:rPr>
              <a:t>14:00 - 15:00</a:t>
            </a:r>
            <a:endParaRPr lang="en-US" sz="1600" dirty="0"/>
          </a:p>
        </p:txBody>
      </p:sp>
      <p:sp>
        <p:nvSpPr>
          <p:cNvPr id="120" name="Text 23">
            <a:extLst>
              <a:ext uri="{FF2B5EF4-FFF2-40B4-BE49-F238E27FC236}">
                <a16:creationId xmlns:a16="http://schemas.microsoft.com/office/drawing/2014/main" id="{2CFFC380-515E-439A-B75D-A98DDC95D10E}"/>
              </a:ext>
            </a:extLst>
          </p:cNvPr>
          <p:cNvSpPr txBox="1"/>
          <p:nvPr/>
        </p:nvSpPr>
        <p:spPr>
          <a:xfrm>
            <a:off x="4319597" y="4630844"/>
            <a:ext cx="7376160" cy="780000"/>
          </a:xfrm>
          <a:prstGeom prst="rect">
            <a:avLst/>
          </a:prstGeom>
          <a:noFill/>
          <a:ln/>
        </p:spPr>
        <p:txBody>
          <a:bodyPr wrap="square" lIns="0" tIns="0" rIns="0" bIns="0" rtlCol="0" anchor="ctr"/>
          <a:lstStyle/>
          <a:p>
            <a:pPr>
              <a:spcAft>
                <a:spcPts val="200"/>
              </a:spcAft>
            </a:pPr>
            <a:r>
              <a:rPr lang="en-US" sz="1500" b="1" dirty="0">
                <a:solidFill>
                  <a:srgbClr val="FFFFFF"/>
                </a:solidFill>
                <a:latin typeface="Calibri" pitchFamily="34" charset="0"/>
                <a:ea typeface="Calibri" pitchFamily="34" charset="-122"/>
                <a:cs typeface="Calibri" pitchFamily="34" charset="-120"/>
              </a:rPr>
              <a:t>Turbocharging Native Code Performance: Compiler Optimizations, Profile-guided Optimizations, and Beyond</a:t>
            </a:r>
            <a:endParaRPr lang="en-US" sz="1500" dirty="0"/>
          </a:p>
          <a:p>
            <a:pPr>
              <a:spcAft>
                <a:spcPts val="200"/>
              </a:spcAft>
            </a:pPr>
            <a:r>
              <a:rPr lang="en-US" sz="1300" dirty="0">
                <a:solidFill>
                  <a:srgbClr val="A9A9C7"/>
                </a:solidFill>
                <a:latin typeface="Calibri" pitchFamily="34" charset="0"/>
                <a:ea typeface="Calibri" pitchFamily="34" charset="-122"/>
                <a:cs typeface="Calibri" pitchFamily="34" charset="-120"/>
              </a:rPr>
              <a:t>Eric Brumer   ·   Tooling &amp; Ecosystem</a:t>
            </a:r>
            <a:endParaRPr lang="en-US" sz="1500" dirty="0"/>
          </a:p>
        </p:txBody>
      </p:sp>
      <p:sp>
        <p:nvSpPr>
          <p:cNvPr id="121" name="Shape 12">
            <a:extLst>
              <a:ext uri="{FF2B5EF4-FFF2-40B4-BE49-F238E27FC236}">
                <a16:creationId xmlns:a16="http://schemas.microsoft.com/office/drawing/2014/main" id="{F7F53854-174B-4760-BECA-B68B8F11C480}"/>
              </a:ext>
            </a:extLst>
          </p:cNvPr>
          <p:cNvSpPr/>
          <p:nvPr/>
        </p:nvSpPr>
        <p:spPr>
          <a:xfrm>
            <a:off x="948907" y="5516114"/>
            <a:ext cx="10184870" cy="880000"/>
          </a:xfrm>
          <a:prstGeom prst="roundRect">
            <a:avLst>
              <a:gd name="adj" fmla="val 9195"/>
            </a:avLst>
          </a:prstGeom>
          <a:solidFill>
            <a:srgbClr val="241C44"/>
          </a:solidFill>
          <a:ln w="19050">
            <a:solidFill>
              <a:srgbClr val="9B6DFF"/>
            </a:solidFill>
            <a:prstDash val="solid"/>
          </a:ln>
          <a:effectLst>
            <a:outerShdw blurRad="76200" dist="25400" dir="5400000" algn="bl" rotWithShape="0">
              <a:srgbClr val="000000">
                <a:alpha val="35000"/>
              </a:srgbClr>
            </a:outerShdw>
          </a:effectLst>
        </p:spPr>
        <p:txBody>
          <a:bodyPr/>
          <a:lstStyle/>
          <a:p>
            <a:endParaRPr lang="en-US" sz="2400"/>
          </a:p>
        </p:txBody>
      </p:sp>
      <p:sp>
        <p:nvSpPr>
          <p:cNvPr id="122" name="Shape 20">
            <a:extLst>
              <a:ext uri="{FF2B5EF4-FFF2-40B4-BE49-F238E27FC236}">
                <a16:creationId xmlns:a16="http://schemas.microsoft.com/office/drawing/2014/main" id="{2A62CA60-CFDC-4549-8623-DDB34B454FEC}"/>
              </a:ext>
            </a:extLst>
          </p:cNvPr>
          <p:cNvSpPr/>
          <p:nvPr/>
        </p:nvSpPr>
        <p:spPr>
          <a:xfrm>
            <a:off x="1149677" y="5636114"/>
            <a:ext cx="1402080" cy="640000"/>
          </a:xfrm>
          <a:prstGeom prst="roundRect">
            <a:avLst>
              <a:gd name="adj" fmla="val 9524"/>
            </a:avLst>
          </a:prstGeom>
          <a:solidFill>
            <a:srgbClr val="5C2D91"/>
          </a:solidFill>
          <a:ln w="12700">
            <a:solidFill>
              <a:srgbClr val="5C2D91"/>
            </a:solidFill>
            <a:prstDash val="solid"/>
          </a:ln>
        </p:spPr>
        <p:txBody>
          <a:bodyPr/>
          <a:lstStyle/>
          <a:p>
            <a:endParaRPr lang="en-US" sz="2400"/>
          </a:p>
        </p:txBody>
      </p:sp>
      <p:sp>
        <p:nvSpPr>
          <p:cNvPr id="123" name="Text 21">
            <a:extLst>
              <a:ext uri="{FF2B5EF4-FFF2-40B4-BE49-F238E27FC236}">
                <a16:creationId xmlns:a16="http://schemas.microsoft.com/office/drawing/2014/main" id="{B023A151-8D9A-40F9-B441-81CBC09916D0}"/>
              </a:ext>
            </a:extLst>
          </p:cNvPr>
          <p:cNvSpPr txBox="1"/>
          <p:nvPr/>
        </p:nvSpPr>
        <p:spPr>
          <a:xfrm>
            <a:off x="1149677" y="5636114"/>
            <a:ext cx="1402080" cy="640000"/>
          </a:xfrm>
          <a:prstGeom prst="rect">
            <a:avLst/>
          </a:prstGeom>
          <a:noFill/>
          <a:ln/>
        </p:spPr>
        <p:txBody>
          <a:bodyPr wrap="square" lIns="0" tIns="0" rIns="0" bIns="0" rtlCol="0" anchor="ctr"/>
          <a:lstStyle/>
          <a:p>
            <a:pPr algn="ctr"/>
            <a:r>
              <a:rPr lang="en-US" sz="1800" b="1" dirty="0">
                <a:solidFill>
                  <a:srgbClr val="FFFFFF"/>
                </a:solidFill>
                <a:latin typeface="Calibri" pitchFamily="34" charset="0"/>
                <a:ea typeface="Calibri" pitchFamily="34" charset="-122"/>
                <a:cs typeface="Calibri" pitchFamily="34" charset="-120"/>
              </a:rPr>
              <a:t>THU</a:t>
            </a:r>
            <a:endParaRPr lang="en-US" sz="1800" dirty="0"/>
          </a:p>
          <a:p>
            <a:pPr algn="ctr"/>
            <a:r>
              <a:rPr lang="en-US" sz="1200" dirty="0">
                <a:solidFill>
                  <a:srgbClr val="D6D6EA"/>
                </a:solidFill>
                <a:latin typeface="Calibri" pitchFamily="34" charset="0"/>
                <a:ea typeface="Calibri" pitchFamily="34" charset="-122"/>
                <a:cs typeface="Calibri" pitchFamily="34" charset="-120"/>
              </a:rPr>
              <a:t>Sep 17</a:t>
            </a:r>
            <a:endParaRPr lang="en-US" sz="1800" dirty="0"/>
          </a:p>
        </p:txBody>
      </p:sp>
      <p:sp>
        <p:nvSpPr>
          <p:cNvPr id="124" name="Text 22">
            <a:extLst>
              <a:ext uri="{FF2B5EF4-FFF2-40B4-BE49-F238E27FC236}">
                <a16:creationId xmlns:a16="http://schemas.microsoft.com/office/drawing/2014/main" id="{2015E84C-7042-4739-A595-6DC92BE76662}"/>
              </a:ext>
            </a:extLst>
          </p:cNvPr>
          <p:cNvSpPr txBox="1"/>
          <p:nvPr/>
        </p:nvSpPr>
        <p:spPr>
          <a:xfrm>
            <a:off x="2734637" y="5636114"/>
            <a:ext cx="1463040" cy="640000"/>
          </a:xfrm>
          <a:prstGeom prst="rect">
            <a:avLst/>
          </a:prstGeom>
          <a:noFill/>
          <a:ln/>
        </p:spPr>
        <p:txBody>
          <a:bodyPr wrap="square" lIns="0" tIns="0" rIns="0" bIns="0" rtlCol="0" anchor="ctr"/>
          <a:lstStyle/>
          <a:p>
            <a:r>
              <a:rPr lang="en-US" sz="1600" b="1" dirty="0">
                <a:solidFill>
                  <a:srgbClr val="9B6DFF"/>
                </a:solidFill>
                <a:latin typeface="Calibri" pitchFamily="34" charset="0"/>
                <a:ea typeface="Calibri" pitchFamily="34" charset="-122"/>
                <a:cs typeface="Calibri" pitchFamily="34" charset="-120"/>
              </a:rPr>
              <a:t>15:15 - 16:15</a:t>
            </a:r>
            <a:endParaRPr lang="en-US" sz="1600" dirty="0"/>
          </a:p>
        </p:txBody>
      </p:sp>
      <p:sp>
        <p:nvSpPr>
          <p:cNvPr id="125" name="Text 16">
            <a:extLst>
              <a:ext uri="{FF2B5EF4-FFF2-40B4-BE49-F238E27FC236}">
                <a16:creationId xmlns:a16="http://schemas.microsoft.com/office/drawing/2014/main" id="{5D96C151-DFEA-4816-BBFF-57902304A1DC}"/>
              </a:ext>
            </a:extLst>
          </p:cNvPr>
          <p:cNvSpPr txBox="1"/>
          <p:nvPr/>
        </p:nvSpPr>
        <p:spPr>
          <a:xfrm>
            <a:off x="4319597" y="5566114"/>
            <a:ext cx="5913120" cy="780000"/>
          </a:xfrm>
          <a:prstGeom prst="rect">
            <a:avLst/>
          </a:prstGeom>
          <a:noFill/>
          <a:ln/>
        </p:spPr>
        <p:txBody>
          <a:bodyPr wrap="square" lIns="0" tIns="0" rIns="0" bIns="0" rtlCol="0" anchor="ctr"/>
          <a:lstStyle/>
          <a:p>
            <a:pPr>
              <a:spcAft>
                <a:spcPts val="200"/>
              </a:spcAft>
            </a:pPr>
            <a:r>
              <a:rPr lang="en-US" sz="1500" b="1" dirty="0">
                <a:solidFill>
                  <a:srgbClr val="FFFFFF"/>
                </a:solidFill>
                <a:latin typeface="Calibri" pitchFamily="34" charset="0"/>
                <a:ea typeface="Calibri" pitchFamily="34" charset="-122"/>
                <a:cs typeface="Calibri" pitchFamily="34" charset="-120"/>
              </a:rPr>
              <a:t>The C++ Safety Issues Your Tools Can't See</a:t>
            </a:r>
            <a:endParaRPr lang="en-US" sz="1500" dirty="0"/>
          </a:p>
          <a:p>
            <a:pPr>
              <a:spcAft>
                <a:spcPts val="200"/>
              </a:spcAft>
            </a:pPr>
            <a:r>
              <a:rPr lang="en-US" sz="1300" dirty="0">
                <a:solidFill>
                  <a:srgbClr val="A9A9C7"/>
                </a:solidFill>
                <a:latin typeface="Calibri" pitchFamily="34" charset="0"/>
                <a:ea typeface="Calibri" pitchFamily="34" charset="-122"/>
                <a:cs typeface="Calibri" pitchFamily="34" charset="-120"/>
              </a:rPr>
              <a:t>Ion Todirel   ·   Future C++, Safety, Security, Software Quality</a:t>
            </a:r>
            <a:endParaRPr lang="en-US" sz="1500" dirty="0"/>
          </a:p>
        </p:txBody>
      </p:sp>
      <p:grpSp>
        <p:nvGrpSpPr>
          <p:cNvPr id="4" name="Group 3">
            <a:extLst>
              <a:ext uri="{FF2B5EF4-FFF2-40B4-BE49-F238E27FC236}">
                <a16:creationId xmlns:a16="http://schemas.microsoft.com/office/drawing/2014/main" id="{372A2B9A-21A8-BE55-93F8-10E7B298C894}"/>
              </a:ext>
            </a:extLst>
          </p:cNvPr>
          <p:cNvGrpSpPr/>
          <p:nvPr/>
        </p:nvGrpSpPr>
        <p:grpSpPr>
          <a:xfrm>
            <a:off x="9383081" y="5773234"/>
            <a:ext cx="1430654" cy="365760"/>
            <a:chOff x="9703121" y="5787964"/>
            <a:chExt cx="1430654" cy="365760"/>
          </a:xfrm>
        </p:grpSpPr>
        <p:sp>
          <p:nvSpPr>
            <p:cNvPr id="126" name="Shape 17">
              <a:extLst>
                <a:ext uri="{FF2B5EF4-FFF2-40B4-BE49-F238E27FC236}">
                  <a16:creationId xmlns:a16="http://schemas.microsoft.com/office/drawing/2014/main" id="{71B5DB07-7606-4F0B-9811-B625B7FB9F13}"/>
                </a:ext>
              </a:extLst>
            </p:cNvPr>
            <p:cNvSpPr/>
            <p:nvPr/>
          </p:nvSpPr>
          <p:spPr>
            <a:xfrm>
              <a:off x="9703121" y="5787964"/>
              <a:ext cx="1402080" cy="365760"/>
            </a:xfrm>
            <a:prstGeom prst="roundRect">
              <a:avLst>
                <a:gd name="adj" fmla="val 50000"/>
              </a:avLst>
            </a:prstGeom>
            <a:solidFill>
              <a:srgbClr val="9B6DFF"/>
            </a:solidFill>
            <a:ln w="12700">
              <a:solidFill>
                <a:srgbClr val="9B6DFF"/>
              </a:solidFill>
              <a:prstDash val="solid"/>
            </a:ln>
          </p:spPr>
          <p:txBody>
            <a:bodyPr/>
            <a:lstStyle/>
            <a:p>
              <a:endParaRPr lang="en-US" sz="2400"/>
            </a:p>
          </p:txBody>
        </p:sp>
        <p:sp>
          <p:nvSpPr>
            <p:cNvPr id="127" name="Text 18">
              <a:extLst>
                <a:ext uri="{FF2B5EF4-FFF2-40B4-BE49-F238E27FC236}">
                  <a16:creationId xmlns:a16="http://schemas.microsoft.com/office/drawing/2014/main" id="{B46B27BC-D9D7-44BE-99C5-45BC59036C3E}"/>
                </a:ext>
              </a:extLst>
            </p:cNvPr>
            <p:cNvSpPr txBox="1"/>
            <p:nvPr/>
          </p:nvSpPr>
          <p:spPr>
            <a:xfrm>
              <a:off x="9731695" y="5787964"/>
              <a:ext cx="1402080" cy="365760"/>
            </a:xfrm>
            <a:prstGeom prst="rect">
              <a:avLst/>
            </a:prstGeom>
            <a:noFill/>
            <a:ln/>
          </p:spPr>
          <p:txBody>
            <a:bodyPr wrap="square" lIns="0" tIns="0" rIns="0" bIns="0" rtlCol="0" anchor="ctr"/>
            <a:lstStyle/>
            <a:p>
              <a:pPr algn="ctr"/>
              <a:r>
                <a:rPr lang="en-US" sz="1333" b="1" dirty="0">
                  <a:solidFill>
                    <a:srgbClr val="121226"/>
                  </a:solidFill>
                  <a:latin typeface="Calibri" pitchFamily="34" charset="0"/>
                  <a:ea typeface="Calibri" pitchFamily="34" charset="-122"/>
                  <a:cs typeface="Calibri" pitchFamily="34" charset="-120"/>
                </a:rPr>
                <a:t>You are here</a:t>
              </a:r>
              <a:endParaRPr lang="en-US" sz="1333" dirty="0"/>
            </a:p>
          </p:txBody>
        </p:sp>
      </p:grpSp>
      <p:sp>
        <p:nvSpPr>
          <p:cNvPr id="26" name="Text 24">
            <a:extLst>
              <a:ext uri="{FF2B5EF4-FFF2-40B4-BE49-F238E27FC236}">
                <a16:creationId xmlns:a16="http://schemas.microsoft.com/office/drawing/2014/main" id="{45E038FF-6522-6D73-E709-1B0F713059AB}"/>
              </a:ext>
            </a:extLst>
          </p:cNvPr>
          <p:cNvSpPr txBox="1"/>
          <p:nvPr/>
        </p:nvSpPr>
        <p:spPr>
          <a:xfrm>
            <a:off x="776287" y="6486144"/>
            <a:ext cx="10357489" cy="268224"/>
          </a:xfrm>
          <a:prstGeom prst="rect">
            <a:avLst/>
          </a:prstGeom>
          <a:noFill/>
          <a:ln/>
        </p:spPr>
        <p:txBody>
          <a:bodyPr wrap="square" lIns="0" tIns="0" rIns="0" bIns="0" rtlCol="0" anchor="ctr"/>
          <a:lstStyle/>
          <a:p>
            <a:pPr algn="r"/>
            <a:r>
              <a:rPr lang="en-US" sz="1200" dirty="0">
                <a:solidFill>
                  <a:schemeClr val="bg1">
                    <a:lumMod val="85000"/>
                  </a:schemeClr>
                </a:solidFill>
                <a:latin typeface="Calibri" pitchFamily="34" charset="0"/>
                <a:ea typeface="Calibri" pitchFamily="34" charset="-122"/>
                <a:cs typeface="Calibri" pitchFamily="34" charset="-120"/>
              </a:rPr>
              <a:t>cppcon2026</a:t>
            </a:r>
            <a:r>
              <a:rPr lang="en-US" sz="1200" dirty="0">
                <a:solidFill>
                  <a:srgbClr val="A9A9C7"/>
                </a:solidFill>
                <a:latin typeface="Calibri" pitchFamily="34" charset="0"/>
                <a:ea typeface="Calibri" pitchFamily="34" charset="-122"/>
                <a:cs typeface="Calibri" pitchFamily="34" charset="-120"/>
              </a:rPr>
              <a:t>.sched.com</a:t>
            </a:r>
            <a:endParaRPr lang="en-US" sz="1200" dirty="0"/>
          </a:p>
        </p:txBody>
      </p:sp>
      <p:sp>
        <p:nvSpPr>
          <p:cNvPr id="27" name="Title 26">
            <a:extLst>
              <a:ext uri="{FF2B5EF4-FFF2-40B4-BE49-F238E27FC236}">
                <a16:creationId xmlns:a16="http://schemas.microsoft.com/office/drawing/2014/main" id="{F5F31AD9-2901-C4A5-18D4-ED6747841708}"/>
              </a:ext>
            </a:extLst>
          </p:cNvPr>
          <p:cNvSpPr>
            <a:spLocks noGrp="1"/>
          </p:cNvSpPr>
          <p:nvPr>
            <p:ph type="title"/>
          </p:nvPr>
        </p:nvSpPr>
        <p:spPr/>
        <p:txBody>
          <a:bodyPr/>
          <a:lstStyle/>
          <a:p>
            <a:r>
              <a:rPr lang="en-US" dirty="0">
                <a:solidFill>
                  <a:schemeClr val="bg1"/>
                </a:solidFill>
              </a:rPr>
              <a:t>Microsoft at CppCon 2026</a:t>
            </a:r>
          </a:p>
        </p:txBody>
      </p:sp>
    </p:spTree>
    <p:extLst>
      <p:ext uri="{BB962C8B-B14F-4D97-AF65-F5344CB8AC3E}">
        <p14:creationId xmlns:p14="http://schemas.microsoft.com/office/powerpoint/2010/main" val="336667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002060">
            <a:alpha val="88000"/>
          </a:srgbClr>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566928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Take the survey,</a:t>
            </a:r>
            <a:endParaRPr lang="en-US" sz="4000" dirty="0"/>
          </a:p>
        </p:txBody>
      </p:sp>
      <p:sp>
        <p:nvSpPr>
          <p:cNvPr id="3" name="Text 1"/>
          <p:cNvSpPr txBox="1"/>
          <p:nvPr/>
        </p:nvSpPr>
        <p:spPr>
          <a:xfrm>
            <a:off x="640080" y="1234440"/>
            <a:ext cx="5669280" cy="731520"/>
          </a:xfrm>
          <a:prstGeom prst="rect">
            <a:avLst/>
          </a:prstGeom>
          <a:noFill/>
          <a:ln/>
        </p:spPr>
        <p:txBody>
          <a:bodyPr wrap="square" lIns="0" tIns="0" rIns="0" bIns="0" rtlCol="0" anchor="ctr"/>
          <a:lstStyle/>
          <a:p>
            <a:pPr marL="0" indent="0">
              <a:buNone/>
            </a:pPr>
            <a:r>
              <a:rPr lang="en-US" sz="4000" b="1" dirty="0">
                <a:solidFill>
                  <a:srgbClr val="F5A623"/>
                </a:solidFill>
                <a:latin typeface="Calibri" pitchFamily="34" charset="0"/>
                <a:ea typeface="Calibri" pitchFamily="34" charset="-122"/>
                <a:cs typeface="Calibri" pitchFamily="34" charset="-120"/>
              </a:rPr>
              <a:t>win a LEGO set</a:t>
            </a:r>
            <a:endParaRPr lang="en-US" sz="4000" dirty="0"/>
          </a:p>
        </p:txBody>
      </p:sp>
      <p:sp>
        <p:nvSpPr>
          <p:cNvPr id="4" name="Text 2"/>
          <p:cNvSpPr txBox="1"/>
          <p:nvPr/>
        </p:nvSpPr>
        <p:spPr>
          <a:xfrm>
            <a:off x="640080" y="2057400"/>
            <a:ext cx="5486400" cy="411480"/>
          </a:xfrm>
          <a:prstGeom prst="rect">
            <a:avLst/>
          </a:prstGeom>
          <a:noFill/>
          <a:ln/>
        </p:spPr>
        <p:txBody>
          <a:bodyPr wrap="square" lIns="0" tIns="0" rIns="0" bIns="0" rtlCol="0" anchor="ctr"/>
          <a:lstStyle/>
          <a:p>
            <a:pPr marL="0" indent="0">
              <a:buNone/>
            </a:pPr>
            <a:r>
              <a:rPr lang="en-US" sz="1600" dirty="0">
                <a:solidFill>
                  <a:srgbClr val="C9D3E6"/>
                </a:solidFill>
                <a:latin typeface="Calibri" pitchFamily="34" charset="0"/>
                <a:ea typeface="Calibri" pitchFamily="34" charset="-122"/>
                <a:cs typeface="Calibri" pitchFamily="34" charset="-120"/>
              </a:rPr>
              <a:t>Scan the code with your phone. Takes about two minutes.</a:t>
            </a:r>
            <a:endParaRPr lang="en-US" sz="1600" dirty="0"/>
          </a:p>
        </p:txBody>
      </p:sp>
      <p:sp>
        <p:nvSpPr>
          <p:cNvPr id="5" name="Shape 3"/>
          <p:cNvSpPr/>
          <p:nvPr/>
        </p:nvSpPr>
        <p:spPr>
          <a:xfrm>
            <a:off x="640080" y="2697480"/>
            <a:ext cx="3566160" cy="3566160"/>
          </a:xfrm>
          <a:prstGeom prst="roundRect">
            <a:avLst>
              <a:gd name="adj" fmla="val 3846"/>
            </a:avLst>
          </a:prstGeom>
          <a:solidFill>
            <a:srgbClr val="FFFFFF"/>
          </a:solidFill>
          <a:ln/>
          <a:effectLst>
            <a:outerShdw blurRad="152400" dist="50800" dir="5400000" algn="bl" rotWithShape="0">
              <a:srgbClr val="000000">
                <a:alpha val="35000"/>
              </a:srgbClr>
            </a:outerShdw>
          </a:effectLst>
        </p:spPr>
        <p:txBody>
          <a:bodyPr/>
          <a:lstStyle/>
          <a:p>
            <a:endParaRPr lang="en-US"/>
          </a:p>
        </p:txBody>
      </p:sp>
      <p:pic>
        <p:nvPicPr>
          <p:cNvPr id="6" name="Image 0" descr="qr.png"/>
          <p:cNvPicPr>
            <a:picLocks noChangeAspect="1"/>
          </p:cNvPicPr>
          <p:nvPr/>
        </p:nvPicPr>
        <p:blipFill>
          <a:blip r:embed="rId3"/>
          <a:stretch>
            <a:fillRect/>
          </a:stretch>
        </p:blipFill>
        <p:spPr>
          <a:xfrm>
            <a:off x="822960" y="2880360"/>
            <a:ext cx="3200400" cy="3200400"/>
          </a:xfrm>
          <a:prstGeom prst="rect">
            <a:avLst/>
          </a:prstGeom>
        </p:spPr>
      </p:pic>
      <p:sp>
        <p:nvSpPr>
          <p:cNvPr id="7" name="Shape 4"/>
          <p:cNvSpPr/>
          <p:nvPr/>
        </p:nvSpPr>
        <p:spPr>
          <a:xfrm>
            <a:off x="6675120" y="868680"/>
            <a:ext cx="2377440" cy="2148840"/>
          </a:xfrm>
          <a:prstGeom prst="roundRect">
            <a:avLst>
              <a:gd name="adj" fmla="val 5106"/>
            </a:avLst>
          </a:prstGeom>
          <a:solidFill>
            <a:srgbClr val="FFFFFF"/>
          </a:solidFill>
          <a:ln/>
          <a:effectLst>
            <a:outerShdw blurRad="127000" dist="38100" dir="5400000" algn="bl" rotWithShape="0">
              <a:srgbClr val="000000">
                <a:alpha val="30000"/>
              </a:srgbClr>
            </a:outerShdw>
          </a:effectLst>
        </p:spPr>
        <p:txBody>
          <a:bodyPr/>
          <a:lstStyle/>
          <a:p>
            <a:endParaRPr lang="en-US"/>
          </a:p>
        </p:txBody>
      </p:sp>
      <p:pic>
        <p:nvPicPr>
          <p:cNvPr id="8" name="Image 1" descr="camera.png"/>
          <p:cNvPicPr>
            <a:picLocks noChangeAspect="1"/>
          </p:cNvPicPr>
          <p:nvPr/>
        </p:nvPicPr>
        <p:blipFill>
          <a:blip r:embed="rId4"/>
          <a:srcRect/>
          <a:stretch/>
        </p:blipFill>
        <p:spPr>
          <a:xfrm>
            <a:off x="6812280" y="1005840"/>
            <a:ext cx="2103120" cy="1874520"/>
          </a:xfrm>
          <a:prstGeom prst="rect">
            <a:avLst/>
          </a:prstGeom>
        </p:spPr>
      </p:pic>
      <p:sp>
        <p:nvSpPr>
          <p:cNvPr id="9" name="Text 5"/>
          <p:cNvSpPr txBox="1"/>
          <p:nvPr/>
        </p:nvSpPr>
        <p:spPr>
          <a:xfrm>
            <a:off x="6675120" y="3063240"/>
            <a:ext cx="237744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LEGO Creator 3-in-1</a:t>
            </a:r>
            <a:endParaRPr lang="en-US" sz="1300" dirty="0"/>
          </a:p>
          <a:p>
            <a:pPr marL="0" indent="0">
              <a:buNone/>
            </a:pPr>
            <a:r>
              <a:rPr lang="en-US" sz="1200" dirty="0">
                <a:solidFill>
                  <a:srgbClr val="C9D3E6"/>
                </a:solidFill>
                <a:latin typeface="Calibri" pitchFamily="34" charset="0"/>
                <a:ea typeface="Calibri" pitchFamily="34" charset="-122"/>
                <a:cs typeface="Calibri" pitchFamily="34" charset="-120"/>
              </a:rPr>
              <a:t>Retro camera</a:t>
            </a:r>
            <a:endParaRPr lang="en-US" sz="1300" dirty="0"/>
          </a:p>
        </p:txBody>
      </p:sp>
      <p:sp>
        <p:nvSpPr>
          <p:cNvPr id="10" name="Shape 6"/>
          <p:cNvSpPr/>
          <p:nvPr/>
        </p:nvSpPr>
        <p:spPr>
          <a:xfrm>
            <a:off x="9372600" y="868680"/>
            <a:ext cx="2377440" cy="2148840"/>
          </a:xfrm>
          <a:prstGeom prst="roundRect">
            <a:avLst>
              <a:gd name="adj" fmla="val 5106"/>
            </a:avLst>
          </a:prstGeom>
          <a:solidFill>
            <a:srgbClr val="FFFFFF"/>
          </a:solidFill>
          <a:ln/>
          <a:effectLst>
            <a:outerShdw blurRad="127000" dist="38100" dir="5400000" algn="bl" rotWithShape="0">
              <a:srgbClr val="000000">
                <a:alpha val="30000"/>
              </a:srgbClr>
            </a:outerShdw>
          </a:effectLst>
        </p:spPr>
        <p:txBody>
          <a:bodyPr/>
          <a:lstStyle/>
          <a:p>
            <a:endParaRPr lang="en-US"/>
          </a:p>
        </p:txBody>
      </p:sp>
      <p:pic>
        <p:nvPicPr>
          <p:cNvPr id="11" name="Image 2" descr="console.png"/>
          <p:cNvPicPr>
            <a:picLocks noChangeAspect="1"/>
          </p:cNvPicPr>
          <p:nvPr/>
        </p:nvPicPr>
        <p:blipFill>
          <a:blip r:embed="rId5"/>
          <a:srcRect/>
          <a:stretch/>
        </p:blipFill>
        <p:spPr>
          <a:xfrm>
            <a:off x="9509760" y="1005840"/>
            <a:ext cx="2103120" cy="1874520"/>
          </a:xfrm>
          <a:prstGeom prst="rect">
            <a:avLst/>
          </a:prstGeom>
        </p:spPr>
      </p:pic>
      <p:sp>
        <p:nvSpPr>
          <p:cNvPr id="12" name="Text 7"/>
          <p:cNvSpPr txBox="1"/>
          <p:nvPr/>
        </p:nvSpPr>
        <p:spPr>
          <a:xfrm>
            <a:off x="9372600" y="3063240"/>
            <a:ext cx="237744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LEGO Creator 3-in-1</a:t>
            </a:r>
            <a:endParaRPr lang="en-US" sz="1300" dirty="0"/>
          </a:p>
          <a:p>
            <a:pPr marL="0" indent="0">
              <a:buNone/>
            </a:pPr>
            <a:r>
              <a:rPr lang="en-US" sz="1200" dirty="0">
                <a:solidFill>
                  <a:srgbClr val="C9D3E6"/>
                </a:solidFill>
                <a:latin typeface="Calibri" pitchFamily="34" charset="0"/>
                <a:ea typeface="Calibri" pitchFamily="34" charset="-122"/>
                <a:cs typeface="Calibri" pitchFamily="34" charset="-120"/>
              </a:rPr>
              <a:t>Game console</a:t>
            </a:r>
            <a:endParaRPr lang="en-US" sz="1300" dirty="0"/>
          </a:p>
        </p:txBody>
      </p:sp>
      <p:sp>
        <p:nvSpPr>
          <p:cNvPr id="13" name="Shape 8"/>
          <p:cNvSpPr/>
          <p:nvPr/>
        </p:nvSpPr>
        <p:spPr>
          <a:xfrm>
            <a:off x="6675120" y="3657600"/>
            <a:ext cx="2377440" cy="2148840"/>
          </a:xfrm>
          <a:prstGeom prst="roundRect">
            <a:avLst>
              <a:gd name="adj" fmla="val 5106"/>
            </a:avLst>
          </a:prstGeom>
          <a:solidFill>
            <a:srgbClr val="FFFFFF"/>
          </a:solidFill>
          <a:ln/>
          <a:effectLst>
            <a:outerShdw blurRad="127000" dist="38100" dir="5400000" algn="bl" rotWithShape="0">
              <a:srgbClr val="000000">
                <a:alpha val="30000"/>
              </a:srgbClr>
            </a:outerShdw>
          </a:effectLst>
        </p:spPr>
        <p:txBody>
          <a:bodyPr/>
          <a:lstStyle/>
          <a:p>
            <a:endParaRPr lang="en-US"/>
          </a:p>
        </p:txBody>
      </p:sp>
      <p:pic>
        <p:nvPicPr>
          <p:cNvPr id="14" name="Image 3" descr="orchid.png"/>
          <p:cNvPicPr>
            <a:picLocks noChangeAspect="1"/>
          </p:cNvPicPr>
          <p:nvPr/>
        </p:nvPicPr>
        <p:blipFill>
          <a:blip r:embed="rId6"/>
          <a:srcRect/>
          <a:stretch/>
        </p:blipFill>
        <p:spPr>
          <a:xfrm>
            <a:off x="6812280" y="3794760"/>
            <a:ext cx="2103120" cy="1874520"/>
          </a:xfrm>
          <a:prstGeom prst="rect">
            <a:avLst/>
          </a:prstGeom>
        </p:spPr>
      </p:pic>
      <p:sp>
        <p:nvSpPr>
          <p:cNvPr id="15" name="Text 9"/>
          <p:cNvSpPr txBox="1"/>
          <p:nvPr/>
        </p:nvSpPr>
        <p:spPr>
          <a:xfrm>
            <a:off x="6675120" y="5852160"/>
            <a:ext cx="237744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LEGO Botanicals</a:t>
            </a:r>
            <a:endParaRPr lang="en-US" sz="1300" dirty="0"/>
          </a:p>
          <a:p>
            <a:pPr marL="0" indent="0">
              <a:buNone/>
            </a:pPr>
            <a:r>
              <a:rPr lang="en-US" sz="1200" dirty="0">
                <a:solidFill>
                  <a:srgbClr val="C9D3E6"/>
                </a:solidFill>
                <a:latin typeface="Calibri" pitchFamily="34" charset="0"/>
                <a:ea typeface="Calibri" pitchFamily="34" charset="-122"/>
                <a:cs typeface="Calibri" pitchFamily="34" charset="-120"/>
              </a:rPr>
              <a:t>Orchid</a:t>
            </a:r>
            <a:endParaRPr lang="en-US" sz="1300" dirty="0"/>
          </a:p>
        </p:txBody>
      </p:sp>
      <p:sp>
        <p:nvSpPr>
          <p:cNvPr id="16" name="Shape 10"/>
          <p:cNvSpPr/>
          <p:nvPr/>
        </p:nvSpPr>
        <p:spPr>
          <a:xfrm>
            <a:off x="9372600" y="3657600"/>
            <a:ext cx="2377440" cy="2148840"/>
          </a:xfrm>
          <a:prstGeom prst="roundRect">
            <a:avLst>
              <a:gd name="adj" fmla="val 5106"/>
            </a:avLst>
          </a:prstGeom>
          <a:solidFill>
            <a:srgbClr val="FFFFFF"/>
          </a:solidFill>
          <a:ln/>
          <a:effectLst>
            <a:outerShdw blurRad="127000" dist="38100" dir="5400000" algn="bl" rotWithShape="0">
              <a:srgbClr val="000000">
                <a:alpha val="30000"/>
              </a:srgbClr>
            </a:outerShdw>
          </a:effectLst>
        </p:spPr>
        <p:txBody>
          <a:bodyPr/>
          <a:lstStyle/>
          <a:p>
            <a:endParaRPr lang="en-US"/>
          </a:p>
        </p:txBody>
      </p:sp>
      <p:pic>
        <p:nvPicPr>
          <p:cNvPr id="17" name="Image 4" descr="galaxy.png"/>
          <p:cNvPicPr>
            <a:picLocks noChangeAspect="1"/>
          </p:cNvPicPr>
          <p:nvPr/>
        </p:nvPicPr>
        <p:blipFill>
          <a:blip r:embed="rId7"/>
          <a:srcRect/>
          <a:stretch/>
        </p:blipFill>
        <p:spPr>
          <a:xfrm>
            <a:off x="9509760" y="3794760"/>
            <a:ext cx="2103120" cy="1874520"/>
          </a:xfrm>
          <a:prstGeom prst="rect">
            <a:avLst/>
          </a:prstGeom>
        </p:spPr>
      </p:pic>
      <p:sp>
        <p:nvSpPr>
          <p:cNvPr id="18" name="Text 11"/>
          <p:cNvSpPr txBox="1"/>
          <p:nvPr/>
        </p:nvSpPr>
        <p:spPr>
          <a:xfrm>
            <a:off x="9372600" y="5852160"/>
            <a:ext cx="237744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LEGO Art</a:t>
            </a:r>
            <a:endParaRPr lang="en-US" sz="1300" dirty="0"/>
          </a:p>
          <a:p>
            <a:pPr marL="0" indent="0">
              <a:buNone/>
            </a:pPr>
            <a:r>
              <a:rPr lang="en-US" sz="1200" dirty="0">
                <a:solidFill>
                  <a:srgbClr val="C9D3E6"/>
                </a:solidFill>
                <a:latin typeface="Calibri" pitchFamily="34" charset="0"/>
                <a:ea typeface="Calibri" pitchFamily="34" charset="-122"/>
                <a:cs typeface="Calibri" pitchFamily="34" charset="-120"/>
              </a:rPr>
              <a:t>Milky Way galaxy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3436B-9075-65AF-7CF9-1310C999D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9BC5F-C304-4180-79FA-DDD89793B5F7}"/>
              </a:ext>
            </a:extLst>
          </p:cNvPr>
          <p:cNvSpPr>
            <a:spLocks noGrp="1"/>
          </p:cNvSpPr>
          <p:nvPr>
            <p:ph type="title"/>
          </p:nvPr>
        </p:nvSpPr>
        <p:spPr/>
        <p:txBody>
          <a:bodyPr/>
          <a:lstStyle/>
          <a:p>
            <a:r>
              <a:rPr lang="en-US" dirty="0"/>
              <a:t>Why another safety talk</a:t>
            </a:r>
          </a:p>
        </p:txBody>
      </p:sp>
      <p:sp>
        <p:nvSpPr>
          <p:cNvPr id="3" name="Text Placeholder 2">
            <a:extLst>
              <a:ext uri="{FF2B5EF4-FFF2-40B4-BE49-F238E27FC236}">
                <a16:creationId xmlns:a16="http://schemas.microsoft.com/office/drawing/2014/main" id="{933A92A1-04CA-8922-9520-FDCA8B02440E}"/>
              </a:ext>
            </a:extLst>
          </p:cNvPr>
          <p:cNvSpPr>
            <a:spLocks noGrp="1"/>
          </p:cNvSpPr>
          <p:nvPr>
            <p:ph type="body" idx="1"/>
          </p:nvPr>
        </p:nvSpPr>
        <p:spPr/>
        <p:txBody>
          <a:bodyPr/>
          <a:lstStyle/>
          <a:p>
            <a:endParaRPr lang="en-US" dirty="0"/>
          </a:p>
        </p:txBody>
      </p:sp>
      <p:sp>
        <p:nvSpPr>
          <p:cNvPr id="4" name="TextBox 3">
            <a:extLst>
              <a:ext uri="{FF2B5EF4-FFF2-40B4-BE49-F238E27FC236}">
                <a16:creationId xmlns:a16="http://schemas.microsoft.com/office/drawing/2014/main" id="{EC021631-3C58-D401-646D-51B6ABE7E8BB}"/>
              </a:ext>
            </a:extLst>
          </p:cNvPr>
          <p:cNvSpPr txBox="1"/>
          <p:nvPr/>
        </p:nvSpPr>
        <p:spPr>
          <a:xfrm>
            <a:off x="831850" y="2906078"/>
            <a:ext cx="1752600" cy="707886"/>
          </a:xfrm>
          <a:prstGeom prst="rect">
            <a:avLst/>
          </a:prstGeom>
          <a:noFill/>
        </p:spPr>
        <p:txBody>
          <a:bodyPr wrap="square" rtlCol="0">
            <a:spAutoFit/>
          </a:bodyPr>
          <a:lstStyle/>
          <a:p>
            <a:r>
              <a:rPr lang="en-US" sz="4000" dirty="0">
                <a:solidFill>
                  <a:schemeClr val="bg1">
                    <a:lumMod val="65000"/>
                  </a:schemeClr>
                </a:solidFill>
              </a:rPr>
              <a:t>Part I</a:t>
            </a:r>
          </a:p>
        </p:txBody>
      </p:sp>
    </p:spTree>
    <p:extLst>
      <p:ext uri="{BB962C8B-B14F-4D97-AF65-F5344CB8AC3E}">
        <p14:creationId xmlns:p14="http://schemas.microsoft.com/office/powerpoint/2010/main" val="2527187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ppcon.png"/>
          <p:cNvPicPr>
            <a:picLocks noChangeAspect="1"/>
          </p:cNvPicPr>
          <p:nvPr/>
        </p:nvPicPr>
        <p:blipFill>
          <a:blip r:embed="rId3"/>
          <a:stretch>
            <a:fillRect/>
          </a:stretch>
        </p:blipFill>
        <p:spPr>
          <a:xfrm>
            <a:off x="912114" y="1595628"/>
            <a:ext cx="288036" cy="329184"/>
          </a:xfrm>
          <a:prstGeom prst="rect">
            <a:avLst/>
          </a:prstGeom>
        </p:spPr>
      </p:pic>
      <p:sp>
        <p:nvSpPr>
          <p:cNvPr id="4" name="TextBox 3"/>
          <p:cNvSpPr txBox="1"/>
          <p:nvPr/>
        </p:nvSpPr>
        <p:spPr>
          <a:xfrm>
            <a:off x="1348740" y="1577340"/>
            <a:ext cx="5029200" cy="457200"/>
          </a:xfrm>
          <a:prstGeom prst="rect">
            <a:avLst/>
          </a:prstGeom>
          <a:noFill/>
        </p:spPr>
        <p:txBody>
          <a:bodyPr wrap="square" lIns="0" tIns="0" rIns="0" bIns="0">
            <a:spAutoFit/>
          </a:bodyPr>
          <a:lstStyle/>
          <a:p>
            <a:pPr algn="l"/>
            <a:r>
              <a:rPr sz="1100" b="1" dirty="0">
                <a:solidFill>
                  <a:srgbClr val="1A1A1A"/>
                </a:solidFill>
                <a:latin typeface="Aptos"/>
              </a:rPr>
              <a:t>A. Tzur-El  </a:t>
            </a:r>
            <a:r>
              <a:rPr sz="1050" dirty="0">
                <a:solidFill>
                  <a:srgbClr val="1A1A1A"/>
                </a:solidFill>
                <a:latin typeface="Aptos"/>
              </a:rPr>
              <a:t>The Dangers of C++: Write Safe C++ (2025)</a:t>
            </a:r>
          </a:p>
          <a:p>
            <a:pPr algn="l"/>
            <a:r>
              <a:rPr sz="850" dirty="0">
                <a:solidFill>
                  <a:srgbClr val="8A8880"/>
                </a:solidFill>
                <a:latin typeface="Aptos"/>
              </a:rPr>
              <a:t>youtu.be/6eYCMcOYbYA</a:t>
            </a:r>
          </a:p>
        </p:txBody>
      </p:sp>
      <p:pic>
        <p:nvPicPr>
          <p:cNvPr id="5" name="Picture 4" descr="cppcon.png"/>
          <p:cNvPicPr>
            <a:picLocks noChangeAspect="1"/>
          </p:cNvPicPr>
          <p:nvPr/>
        </p:nvPicPr>
        <p:blipFill>
          <a:blip r:embed="rId3"/>
          <a:stretch>
            <a:fillRect/>
          </a:stretch>
        </p:blipFill>
        <p:spPr>
          <a:xfrm>
            <a:off x="912114" y="2052828"/>
            <a:ext cx="288036" cy="329184"/>
          </a:xfrm>
          <a:prstGeom prst="rect">
            <a:avLst/>
          </a:prstGeom>
        </p:spPr>
      </p:pic>
      <p:sp>
        <p:nvSpPr>
          <p:cNvPr id="6" name="TextBox 5"/>
          <p:cNvSpPr txBox="1"/>
          <p:nvPr/>
        </p:nvSpPr>
        <p:spPr>
          <a:xfrm>
            <a:off x="1348740" y="2034540"/>
            <a:ext cx="5029200" cy="457200"/>
          </a:xfrm>
          <a:prstGeom prst="rect">
            <a:avLst/>
          </a:prstGeom>
          <a:noFill/>
        </p:spPr>
        <p:txBody>
          <a:bodyPr wrap="square" lIns="0" tIns="0" rIns="0" bIns="0">
            <a:spAutoFit/>
          </a:bodyPr>
          <a:lstStyle/>
          <a:p>
            <a:pPr algn="l"/>
            <a:r>
              <a:rPr sz="1100" b="1">
                <a:solidFill>
                  <a:srgbClr val="1A1A1A"/>
                </a:solidFill>
                <a:latin typeface="Aptos"/>
              </a:rPr>
              <a:t>B. Moczulski  </a:t>
            </a:r>
            <a:r>
              <a:rPr sz="1050">
                <a:solidFill>
                  <a:srgbClr val="1A1A1A"/>
                </a:solidFill>
                <a:latin typeface="Aptos"/>
              </a:rPr>
              <a:t>Shadow Stack: Ultimate C/C++ Safety (2025)</a:t>
            </a:r>
          </a:p>
          <a:p>
            <a:pPr algn="l"/>
            <a:r>
              <a:rPr sz="850">
                <a:solidFill>
                  <a:srgbClr val="8A8880"/>
                </a:solidFill>
                <a:latin typeface="Aptos"/>
              </a:rPr>
              <a:t>youtu.be/-Qg0GaONwPE</a:t>
            </a:r>
          </a:p>
        </p:txBody>
      </p:sp>
      <p:pic>
        <p:nvPicPr>
          <p:cNvPr id="7" name="Picture 6" descr="cppcon.png"/>
          <p:cNvPicPr>
            <a:picLocks noChangeAspect="1"/>
          </p:cNvPicPr>
          <p:nvPr/>
        </p:nvPicPr>
        <p:blipFill>
          <a:blip r:embed="rId3"/>
          <a:stretch>
            <a:fillRect/>
          </a:stretch>
        </p:blipFill>
        <p:spPr>
          <a:xfrm>
            <a:off x="912114" y="2510028"/>
            <a:ext cx="288036" cy="329184"/>
          </a:xfrm>
          <a:prstGeom prst="rect">
            <a:avLst/>
          </a:prstGeom>
        </p:spPr>
      </p:pic>
      <p:sp>
        <p:nvSpPr>
          <p:cNvPr id="8" name="TextBox 7"/>
          <p:cNvSpPr txBox="1"/>
          <p:nvPr/>
        </p:nvSpPr>
        <p:spPr>
          <a:xfrm>
            <a:off x="1348740" y="2491740"/>
            <a:ext cx="5029200" cy="457200"/>
          </a:xfrm>
          <a:prstGeom prst="rect">
            <a:avLst/>
          </a:prstGeom>
          <a:noFill/>
        </p:spPr>
        <p:txBody>
          <a:bodyPr wrap="square" lIns="0" tIns="0" rIns="0" bIns="0">
            <a:spAutoFit/>
          </a:bodyPr>
          <a:lstStyle/>
          <a:p>
            <a:pPr algn="l"/>
            <a:r>
              <a:rPr sz="1100" b="1">
                <a:solidFill>
                  <a:srgbClr val="1A1A1A"/>
                </a:solidFill>
                <a:latin typeface="Aptos"/>
              </a:rPr>
              <a:t>J. Lakos  </a:t>
            </a:r>
            <a:r>
              <a:rPr sz="1050">
                <a:solidFill>
                  <a:srgbClr val="1A1A1A"/>
                </a:solidFill>
                <a:latin typeface="Aptos"/>
              </a:rPr>
              <a:t>Making C++ Safe, Healthy, and Efficient (2025)</a:t>
            </a:r>
          </a:p>
          <a:p>
            <a:pPr algn="l"/>
            <a:r>
              <a:rPr sz="850">
                <a:solidFill>
                  <a:srgbClr val="8A8880"/>
                </a:solidFill>
                <a:latin typeface="Aptos"/>
              </a:rPr>
              <a:t>youtu.be/p52mNWsh-qs</a:t>
            </a:r>
          </a:p>
        </p:txBody>
      </p:sp>
      <p:pic>
        <p:nvPicPr>
          <p:cNvPr id="9" name="Picture 8" descr="cppcon.png"/>
          <p:cNvPicPr>
            <a:picLocks noChangeAspect="1"/>
          </p:cNvPicPr>
          <p:nvPr/>
        </p:nvPicPr>
        <p:blipFill>
          <a:blip r:embed="rId3"/>
          <a:stretch>
            <a:fillRect/>
          </a:stretch>
        </p:blipFill>
        <p:spPr>
          <a:xfrm>
            <a:off x="912114" y="2967228"/>
            <a:ext cx="288036" cy="329184"/>
          </a:xfrm>
          <a:prstGeom prst="rect">
            <a:avLst/>
          </a:prstGeom>
        </p:spPr>
      </p:pic>
      <p:sp>
        <p:nvSpPr>
          <p:cNvPr id="10" name="TextBox 9"/>
          <p:cNvSpPr txBox="1"/>
          <p:nvPr/>
        </p:nvSpPr>
        <p:spPr>
          <a:xfrm>
            <a:off x="1348740" y="2948940"/>
            <a:ext cx="5029200" cy="457200"/>
          </a:xfrm>
          <a:prstGeom prst="rect">
            <a:avLst/>
          </a:prstGeom>
          <a:noFill/>
        </p:spPr>
        <p:txBody>
          <a:bodyPr wrap="square" lIns="0" tIns="0" rIns="0" bIns="0">
            <a:spAutoFit/>
          </a:bodyPr>
          <a:lstStyle/>
          <a:p>
            <a:pPr algn="l"/>
            <a:r>
              <a:rPr sz="1100" b="1" dirty="0">
                <a:solidFill>
                  <a:srgbClr val="1A1A1A"/>
                </a:solidFill>
                <a:latin typeface="Aptos"/>
              </a:rPr>
              <a:t>H. Sutter  </a:t>
            </a:r>
            <a:r>
              <a:rPr sz="1050" dirty="0">
                <a:solidFill>
                  <a:srgbClr val="1A1A1A"/>
                </a:solidFill>
                <a:latin typeface="Aptos"/>
              </a:rPr>
              <a:t>The Joy of C++26 Contracts (2025)</a:t>
            </a:r>
          </a:p>
          <a:p>
            <a:pPr algn="l"/>
            <a:r>
              <a:rPr sz="850" dirty="0">
                <a:solidFill>
                  <a:srgbClr val="8A8880"/>
                </a:solidFill>
                <a:latin typeface="Aptos"/>
              </a:rPr>
              <a:t>youtu.be/oitYvDe4nps</a:t>
            </a:r>
          </a:p>
        </p:txBody>
      </p:sp>
      <p:pic>
        <p:nvPicPr>
          <p:cNvPr id="11" name="Picture 10" descr="meetingcpp.png"/>
          <p:cNvPicPr>
            <a:picLocks noChangeAspect="1"/>
          </p:cNvPicPr>
          <p:nvPr/>
        </p:nvPicPr>
        <p:blipFill>
          <a:blip r:embed="rId4"/>
          <a:stretch>
            <a:fillRect/>
          </a:stretch>
        </p:blipFill>
        <p:spPr>
          <a:xfrm>
            <a:off x="891540" y="3424428"/>
            <a:ext cx="329184" cy="329184"/>
          </a:xfrm>
          <a:prstGeom prst="rect">
            <a:avLst/>
          </a:prstGeom>
        </p:spPr>
      </p:pic>
      <p:sp>
        <p:nvSpPr>
          <p:cNvPr id="12" name="TextBox 11"/>
          <p:cNvSpPr txBox="1"/>
          <p:nvPr/>
        </p:nvSpPr>
        <p:spPr>
          <a:xfrm>
            <a:off x="1348740" y="3406140"/>
            <a:ext cx="5029200" cy="457200"/>
          </a:xfrm>
          <a:prstGeom prst="rect">
            <a:avLst/>
          </a:prstGeom>
          <a:noFill/>
        </p:spPr>
        <p:txBody>
          <a:bodyPr wrap="square" lIns="0" tIns="0" rIns="0" bIns="0">
            <a:spAutoFit/>
          </a:bodyPr>
          <a:lstStyle/>
          <a:p>
            <a:pPr algn="l"/>
            <a:r>
              <a:rPr sz="1100" b="1">
                <a:solidFill>
                  <a:srgbClr val="1A1A1A"/>
                </a:solidFill>
                <a:latin typeface="Aptos"/>
              </a:rPr>
              <a:t>M. Svetkin  </a:t>
            </a:r>
            <a:r>
              <a:rPr sz="1050">
                <a:solidFill>
                  <a:srgbClr val="1A1A1A"/>
                </a:solidFill>
                <a:latin typeface="Aptos"/>
              </a:rPr>
              <a:t>Harnessing constexpr: A Path to Safer C++ (2025)</a:t>
            </a:r>
          </a:p>
          <a:p>
            <a:pPr algn="l"/>
            <a:r>
              <a:rPr sz="850">
                <a:solidFill>
                  <a:srgbClr val="8A8880"/>
                </a:solidFill>
                <a:latin typeface="Aptos"/>
              </a:rPr>
              <a:t>youtu.be/2WDPizKCaZo</a:t>
            </a:r>
          </a:p>
        </p:txBody>
      </p:sp>
      <p:pic>
        <p:nvPicPr>
          <p:cNvPr id="13" name="Picture 12" descr="cpponsea.png"/>
          <p:cNvPicPr>
            <a:picLocks noChangeAspect="1"/>
          </p:cNvPicPr>
          <p:nvPr/>
        </p:nvPicPr>
        <p:blipFill>
          <a:blip r:embed="rId5"/>
          <a:stretch>
            <a:fillRect/>
          </a:stretch>
        </p:blipFill>
        <p:spPr>
          <a:xfrm>
            <a:off x="891540" y="3886200"/>
            <a:ext cx="329184" cy="320040"/>
          </a:xfrm>
          <a:prstGeom prst="rect">
            <a:avLst/>
          </a:prstGeom>
        </p:spPr>
      </p:pic>
      <p:sp>
        <p:nvSpPr>
          <p:cNvPr id="14" name="TextBox 13"/>
          <p:cNvSpPr txBox="1"/>
          <p:nvPr/>
        </p:nvSpPr>
        <p:spPr>
          <a:xfrm>
            <a:off x="1348740" y="3863340"/>
            <a:ext cx="5029200" cy="457200"/>
          </a:xfrm>
          <a:prstGeom prst="rect">
            <a:avLst/>
          </a:prstGeom>
          <a:noFill/>
        </p:spPr>
        <p:txBody>
          <a:bodyPr wrap="square" lIns="0" tIns="0" rIns="0" bIns="0">
            <a:spAutoFit/>
          </a:bodyPr>
          <a:lstStyle/>
          <a:p>
            <a:pPr algn="l"/>
            <a:r>
              <a:rPr sz="1100" b="1">
                <a:solidFill>
                  <a:srgbClr val="1A1A1A"/>
                </a:solidFill>
                <a:latin typeface="Aptos"/>
              </a:rPr>
              <a:t>J. Lakos  </a:t>
            </a:r>
            <a:r>
              <a:rPr sz="1050">
                <a:solidFill>
                  <a:srgbClr val="1A1A1A"/>
                </a:solidFill>
                <a:latin typeface="Aptos"/>
              </a:rPr>
              <a:t>What C++ Needs to be Safe (2025)</a:t>
            </a:r>
          </a:p>
          <a:p>
            <a:pPr algn="l"/>
            <a:r>
              <a:rPr sz="850">
                <a:solidFill>
                  <a:srgbClr val="8A8880"/>
                </a:solidFill>
                <a:latin typeface="Aptos"/>
              </a:rPr>
              <a:t>youtu.be/3eqhtK3hV9A</a:t>
            </a:r>
          </a:p>
        </p:txBody>
      </p:sp>
      <p:pic>
        <p:nvPicPr>
          <p:cNvPr id="15" name="Picture 14" descr="cpponsea.png"/>
          <p:cNvPicPr>
            <a:picLocks noChangeAspect="1"/>
          </p:cNvPicPr>
          <p:nvPr/>
        </p:nvPicPr>
        <p:blipFill>
          <a:blip r:embed="rId5"/>
          <a:stretch>
            <a:fillRect/>
          </a:stretch>
        </p:blipFill>
        <p:spPr>
          <a:xfrm>
            <a:off x="891540" y="4343399"/>
            <a:ext cx="329184" cy="320040"/>
          </a:xfrm>
          <a:prstGeom prst="rect">
            <a:avLst/>
          </a:prstGeom>
        </p:spPr>
      </p:pic>
      <p:sp>
        <p:nvSpPr>
          <p:cNvPr id="16" name="TextBox 15"/>
          <p:cNvSpPr txBox="1"/>
          <p:nvPr/>
        </p:nvSpPr>
        <p:spPr>
          <a:xfrm>
            <a:off x="1348740" y="4320540"/>
            <a:ext cx="5029200" cy="457200"/>
          </a:xfrm>
          <a:prstGeom prst="rect">
            <a:avLst/>
          </a:prstGeom>
          <a:noFill/>
        </p:spPr>
        <p:txBody>
          <a:bodyPr wrap="square" lIns="0" tIns="0" rIns="0" bIns="0">
            <a:spAutoFit/>
          </a:bodyPr>
          <a:lstStyle/>
          <a:p>
            <a:pPr algn="l"/>
            <a:r>
              <a:rPr sz="1100" b="1">
                <a:solidFill>
                  <a:srgbClr val="1A1A1A"/>
                </a:solidFill>
                <a:latin typeface="Aptos"/>
              </a:rPr>
              <a:t>T. Doumler  </a:t>
            </a:r>
            <a:r>
              <a:rPr sz="1050">
                <a:solidFill>
                  <a:srgbClr val="1A1A1A"/>
                </a:solidFill>
                <a:latin typeface="Aptos"/>
              </a:rPr>
              <a:t>Contracts, Safety &amp; Cat Herding (keynote) (2025)</a:t>
            </a:r>
          </a:p>
          <a:p>
            <a:pPr algn="l"/>
            <a:r>
              <a:rPr sz="850">
                <a:solidFill>
                  <a:srgbClr val="8A8880"/>
                </a:solidFill>
                <a:latin typeface="Aptos"/>
              </a:rPr>
              <a:t>youtu.be/gtFFTjQ4eFU</a:t>
            </a:r>
          </a:p>
        </p:txBody>
      </p:sp>
      <p:pic>
        <p:nvPicPr>
          <p:cNvPr id="17" name="Picture 16" descr="accu.png"/>
          <p:cNvPicPr>
            <a:picLocks noChangeAspect="1"/>
          </p:cNvPicPr>
          <p:nvPr/>
        </p:nvPicPr>
        <p:blipFill>
          <a:blip r:embed="rId6"/>
          <a:stretch>
            <a:fillRect/>
          </a:stretch>
        </p:blipFill>
        <p:spPr>
          <a:xfrm>
            <a:off x="891540" y="4939633"/>
            <a:ext cx="329184" cy="41973"/>
          </a:xfrm>
          <a:prstGeom prst="rect">
            <a:avLst/>
          </a:prstGeom>
        </p:spPr>
      </p:pic>
      <p:sp>
        <p:nvSpPr>
          <p:cNvPr id="18" name="TextBox 17"/>
          <p:cNvSpPr txBox="1"/>
          <p:nvPr/>
        </p:nvSpPr>
        <p:spPr>
          <a:xfrm>
            <a:off x="1348740" y="4777740"/>
            <a:ext cx="5029200" cy="457200"/>
          </a:xfrm>
          <a:prstGeom prst="rect">
            <a:avLst/>
          </a:prstGeom>
          <a:noFill/>
        </p:spPr>
        <p:txBody>
          <a:bodyPr wrap="square" lIns="0" tIns="0" rIns="0" bIns="0">
            <a:spAutoFit/>
          </a:bodyPr>
          <a:lstStyle/>
          <a:p>
            <a:pPr algn="l"/>
            <a:r>
              <a:rPr sz="1100" b="1">
                <a:solidFill>
                  <a:srgbClr val="1A1A1A"/>
                </a:solidFill>
                <a:latin typeface="Aptos"/>
              </a:rPr>
              <a:t>J. Lakos  </a:t>
            </a:r>
            <a:r>
              <a:rPr sz="1050">
                <a:solidFill>
                  <a:srgbClr val="1A1A1A"/>
                </a:solidFill>
                <a:latin typeface="Aptos"/>
              </a:rPr>
              <a:t>What C++ Needs to be Safe (2025)</a:t>
            </a:r>
          </a:p>
          <a:p>
            <a:pPr algn="l"/>
            <a:r>
              <a:rPr sz="850">
                <a:solidFill>
                  <a:srgbClr val="8A8880"/>
                </a:solidFill>
                <a:latin typeface="Aptos"/>
              </a:rPr>
              <a:t>youtu.be/6-MrKxsR__I</a:t>
            </a:r>
          </a:p>
        </p:txBody>
      </p:sp>
      <p:pic>
        <p:nvPicPr>
          <p:cNvPr id="19" name="Picture 18" descr="meetingcpp.png"/>
          <p:cNvPicPr>
            <a:picLocks noChangeAspect="1"/>
          </p:cNvPicPr>
          <p:nvPr/>
        </p:nvPicPr>
        <p:blipFill>
          <a:blip r:embed="rId4"/>
          <a:stretch>
            <a:fillRect/>
          </a:stretch>
        </p:blipFill>
        <p:spPr>
          <a:xfrm>
            <a:off x="891540" y="5253228"/>
            <a:ext cx="329184" cy="329184"/>
          </a:xfrm>
          <a:prstGeom prst="rect">
            <a:avLst/>
          </a:prstGeom>
        </p:spPr>
      </p:pic>
      <p:sp>
        <p:nvSpPr>
          <p:cNvPr id="20" name="TextBox 19"/>
          <p:cNvSpPr txBox="1"/>
          <p:nvPr/>
        </p:nvSpPr>
        <p:spPr>
          <a:xfrm>
            <a:off x="1348740" y="5234940"/>
            <a:ext cx="5029200" cy="457200"/>
          </a:xfrm>
          <a:prstGeom prst="rect">
            <a:avLst/>
          </a:prstGeom>
          <a:noFill/>
        </p:spPr>
        <p:txBody>
          <a:bodyPr wrap="square" lIns="0" tIns="0" rIns="0" bIns="0">
            <a:spAutoFit/>
          </a:bodyPr>
          <a:lstStyle/>
          <a:p>
            <a:pPr algn="l"/>
            <a:r>
              <a:rPr sz="1100" b="1">
                <a:solidFill>
                  <a:srgbClr val="1A1A1A"/>
                </a:solidFill>
                <a:latin typeface="Aptos"/>
              </a:rPr>
              <a:t>A. Williams  </a:t>
            </a:r>
            <a:r>
              <a:rPr sz="1050">
                <a:solidFill>
                  <a:srgbClr val="1A1A1A"/>
                </a:solidFill>
                <a:latin typeface="Aptos"/>
              </a:rPr>
              <a:t>Software and Safety (keynote) (2025)</a:t>
            </a:r>
          </a:p>
          <a:p>
            <a:pPr algn="l"/>
            <a:r>
              <a:rPr sz="850">
                <a:solidFill>
                  <a:srgbClr val="8A8880"/>
                </a:solidFill>
                <a:latin typeface="Aptos"/>
              </a:rPr>
              <a:t>youtu.be/wKGkOmpUTH8</a:t>
            </a:r>
          </a:p>
        </p:txBody>
      </p:sp>
      <p:pic>
        <p:nvPicPr>
          <p:cNvPr id="21" name="Picture 20" descr="ndc.png"/>
          <p:cNvPicPr>
            <a:picLocks noChangeAspect="1"/>
          </p:cNvPicPr>
          <p:nvPr/>
        </p:nvPicPr>
        <p:blipFill>
          <a:blip r:embed="rId7"/>
          <a:stretch>
            <a:fillRect/>
          </a:stretch>
        </p:blipFill>
        <p:spPr>
          <a:xfrm>
            <a:off x="891540" y="5730058"/>
            <a:ext cx="329184" cy="289923"/>
          </a:xfrm>
          <a:prstGeom prst="rect">
            <a:avLst/>
          </a:prstGeom>
        </p:spPr>
      </p:pic>
      <p:sp>
        <p:nvSpPr>
          <p:cNvPr id="22" name="TextBox 21"/>
          <p:cNvSpPr txBox="1"/>
          <p:nvPr/>
        </p:nvSpPr>
        <p:spPr>
          <a:xfrm>
            <a:off x="1348740" y="5692140"/>
            <a:ext cx="5029200" cy="457200"/>
          </a:xfrm>
          <a:prstGeom prst="rect">
            <a:avLst/>
          </a:prstGeom>
          <a:noFill/>
        </p:spPr>
        <p:txBody>
          <a:bodyPr wrap="square" lIns="0" tIns="0" rIns="0" bIns="0">
            <a:spAutoFit/>
          </a:bodyPr>
          <a:lstStyle/>
          <a:p>
            <a:pPr algn="l"/>
            <a:r>
              <a:rPr sz="1100" b="1">
                <a:solidFill>
                  <a:srgbClr val="1A1A1A"/>
                </a:solidFill>
                <a:latin typeface="Aptos"/>
              </a:rPr>
              <a:t>H. Penne  </a:t>
            </a:r>
            <a:r>
              <a:rPr sz="1050">
                <a:solidFill>
                  <a:srgbClr val="1A1A1A"/>
                </a:solidFill>
                <a:latin typeface="Aptos"/>
              </a:rPr>
              <a:t>Rust is not about memory safety (keynote) (2025)</a:t>
            </a:r>
          </a:p>
          <a:p>
            <a:pPr algn="l"/>
            <a:r>
              <a:rPr sz="850">
                <a:solidFill>
                  <a:srgbClr val="8A8880"/>
                </a:solidFill>
                <a:latin typeface="Aptos"/>
              </a:rPr>
              <a:t>youtu.be/ngTZN09poqk</a:t>
            </a:r>
          </a:p>
        </p:txBody>
      </p:sp>
      <p:pic>
        <p:nvPicPr>
          <p:cNvPr id="23" name="Picture 22" descr="ndc.png"/>
          <p:cNvPicPr>
            <a:picLocks noChangeAspect="1"/>
          </p:cNvPicPr>
          <p:nvPr/>
        </p:nvPicPr>
        <p:blipFill>
          <a:blip r:embed="rId7"/>
          <a:stretch>
            <a:fillRect/>
          </a:stretch>
        </p:blipFill>
        <p:spPr>
          <a:xfrm>
            <a:off x="891540" y="6187258"/>
            <a:ext cx="329184" cy="289923"/>
          </a:xfrm>
          <a:prstGeom prst="rect">
            <a:avLst/>
          </a:prstGeom>
        </p:spPr>
      </p:pic>
      <p:sp>
        <p:nvSpPr>
          <p:cNvPr id="24" name="TextBox 23"/>
          <p:cNvSpPr txBox="1"/>
          <p:nvPr/>
        </p:nvSpPr>
        <p:spPr>
          <a:xfrm>
            <a:off x="1348740" y="6149340"/>
            <a:ext cx="5029200" cy="457200"/>
          </a:xfrm>
          <a:prstGeom prst="rect">
            <a:avLst/>
          </a:prstGeom>
          <a:noFill/>
        </p:spPr>
        <p:txBody>
          <a:bodyPr wrap="square" lIns="0" tIns="0" rIns="0" bIns="0">
            <a:spAutoFit/>
          </a:bodyPr>
          <a:lstStyle/>
          <a:p>
            <a:pPr algn="l"/>
            <a:r>
              <a:rPr sz="1100" b="1">
                <a:solidFill>
                  <a:srgbClr val="1A1A1A"/>
                </a:solidFill>
                <a:latin typeface="Aptos"/>
              </a:rPr>
              <a:t>A. S. Knatten  </a:t>
            </a:r>
            <a:r>
              <a:rPr sz="1050">
                <a:solidFill>
                  <a:srgbClr val="1A1A1A"/>
                </a:solidFill>
                <a:latin typeface="Aptos"/>
              </a:rPr>
              <a:t>Real-time Safety — Guaranteed by the Compiler (2025)</a:t>
            </a:r>
          </a:p>
          <a:p>
            <a:pPr algn="l"/>
            <a:r>
              <a:rPr sz="850">
                <a:solidFill>
                  <a:srgbClr val="8A8880"/>
                </a:solidFill>
                <a:latin typeface="Aptos"/>
              </a:rPr>
              <a:t>youtu.be/IEgn25DzEMM</a:t>
            </a:r>
          </a:p>
        </p:txBody>
      </p:sp>
      <p:pic>
        <p:nvPicPr>
          <p:cNvPr id="25" name="Picture 24" descr="ndc.png"/>
          <p:cNvPicPr>
            <a:picLocks noChangeAspect="1"/>
          </p:cNvPicPr>
          <p:nvPr/>
        </p:nvPicPr>
        <p:blipFill>
          <a:blip r:embed="rId7"/>
          <a:stretch>
            <a:fillRect/>
          </a:stretch>
        </p:blipFill>
        <p:spPr>
          <a:xfrm>
            <a:off x="6652260" y="1615258"/>
            <a:ext cx="329184" cy="289923"/>
          </a:xfrm>
          <a:prstGeom prst="rect">
            <a:avLst/>
          </a:prstGeom>
        </p:spPr>
      </p:pic>
      <p:sp>
        <p:nvSpPr>
          <p:cNvPr id="26" name="TextBox 25"/>
          <p:cNvSpPr txBox="1"/>
          <p:nvPr/>
        </p:nvSpPr>
        <p:spPr>
          <a:xfrm>
            <a:off x="7109460" y="1577340"/>
            <a:ext cx="5029200" cy="457200"/>
          </a:xfrm>
          <a:prstGeom prst="rect">
            <a:avLst/>
          </a:prstGeom>
          <a:noFill/>
        </p:spPr>
        <p:txBody>
          <a:bodyPr wrap="square" lIns="0" tIns="0" rIns="0" bIns="0">
            <a:spAutoFit/>
          </a:bodyPr>
          <a:lstStyle/>
          <a:p>
            <a:pPr algn="l"/>
            <a:r>
              <a:rPr sz="1100" b="1">
                <a:solidFill>
                  <a:srgbClr val="1A1A1A"/>
                </a:solidFill>
                <a:latin typeface="Aptos"/>
              </a:rPr>
              <a:t>K. Iglberger  </a:t>
            </a:r>
            <a:r>
              <a:rPr sz="1050">
                <a:solidFill>
                  <a:srgbClr val="1A1A1A"/>
                </a:solidFill>
                <a:latin typeface="Aptos"/>
              </a:rPr>
              <a:t>The Real Problem of C++ (2025)</a:t>
            </a:r>
          </a:p>
          <a:p>
            <a:pPr algn="l"/>
            <a:r>
              <a:rPr sz="850">
                <a:solidFill>
                  <a:srgbClr val="8A8880"/>
                </a:solidFill>
                <a:latin typeface="Aptos"/>
              </a:rPr>
              <a:t>youtu.be/gHarUq_k-_Y</a:t>
            </a:r>
          </a:p>
        </p:txBody>
      </p:sp>
      <p:pic>
        <p:nvPicPr>
          <p:cNvPr id="27" name="Picture 26" descr="cppcon.png"/>
          <p:cNvPicPr>
            <a:picLocks noChangeAspect="1"/>
          </p:cNvPicPr>
          <p:nvPr/>
        </p:nvPicPr>
        <p:blipFill>
          <a:blip r:embed="rId3"/>
          <a:stretch>
            <a:fillRect/>
          </a:stretch>
        </p:blipFill>
        <p:spPr>
          <a:xfrm>
            <a:off x="6672834" y="2052828"/>
            <a:ext cx="288036" cy="329184"/>
          </a:xfrm>
          <a:prstGeom prst="rect">
            <a:avLst/>
          </a:prstGeom>
        </p:spPr>
      </p:pic>
      <p:sp>
        <p:nvSpPr>
          <p:cNvPr id="28" name="TextBox 27"/>
          <p:cNvSpPr txBox="1"/>
          <p:nvPr/>
        </p:nvSpPr>
        <p:spPr>
          <a:xfrm>
            <a:off x="7109460" y="2034540"/>
            <a:ext cx="5029200" cy="457200"/>
          </a:xfrm>
          <a:prstGeom prst="rect">
            <a:avLst/>
          </a:prstGeom>
          <a:noFill/>
        </p:spPr>
        <p:txBody>
          <a:bodyPr wrap="square" lIns="0" tIns="0" rIns="0" bIns="0">
            <a:spAutoFit/>
          </a:bodyPr>
          <a:lstStyle/>
          <a:p>
            <a:pPr algn="l"/>
            <a:r>
              <a:rPr sz="1100" b="1">
                <a:solidFill>
                  <a:srgbClr val="1A1A1A"/>
                </a:solidFill>
                <a:latin typeface="Aptos"/>
              </a:rPr>
              <a:t>Martin &amp; Fairhurst  </a:t>
            </a:r>
            <a:r>
              <a:rPr sz="1050">
                <a:solidFill>
                  <a:srgbClr val="1A1A1A"/>
                </a:solidFill>
                <a:latin typeface="Aptos"/>
              </a:rPr>
              <a:t>Validating Contracts with Static Analysis (2025)</a:t>
            </a:r>
          </a:p>
          <a:p>
            <a:pPr algn="l"/>
            <a:r>
              <a:rPr sz="850">
                <a:solidFill>
                  <a:srgbClr val="8A8880"/>
                </a:solidFill>
                <a:latin typeface="Aptos"/>
              </a:rPr>
              <a:t>youtu.be/3DDqDKaKmio</a:t>
            </a:r>
          </a:p>
        </p:txBody>
      </p:sp>
      <p:pic>
        <p:nvPicPr>
          <p:cNvPr id="29" name="Picture 28" descr="cppcon.png"/>
          <p:cNvPicPr>
            <a:picLocks noChangeAspect="1"/>
          </p:cNvPicPr>
          <p:nvPr/>
        </p:nvPicPr>
        <p:blipFill>
          <a:blip r:embed="rId3"/>
          <a:stretch>
            <a:fillRect/>
          </a:stretch>
        </p:blipFill>
        <p:spPr>
          <a:xfrm>
            <a:off x="6672834" y="2510028"/>
            <a:ext cx="288036" cy="329184"/>
          </a:xfrm>
          <a:prstGeom prst="rect">
            <a:avLst/>
          </a:prstGeom>
        </p:spPr>
      </p:pic>
      <p:sp>
        <p:nvSpPr>
          <p:cNvPr id="30" name="TextBox 29"/>
          <p:cNvSpPr txBox="1"/>
          <p:nvPr/>
        </p:nvSpPr>
        <p:spPr>
          <a:xfrm>
            <a:off x="7109460" y="2491740"/>
            <a:ext cx="5029200" cy="457200"/>
          </a:xfrm>
          <a:prstGeom prst="rect">
            <a:avLst/>
          </a:prstGeom>
          <a:noFill/>
        </p:spPr>
        <p:txBody>
          <a:bodyPr wrap="square" lIns="0" tIns="0" rIns="0" bIns="0">
            <a:spAutoFit/>
          </a:bodyPr>
          <a:lstStyle/>
          <a:p>
            <a:pPr algn="l"/>
            <a:r>
              <a:rPr sz="1100" b="1">
                <a:solidFill>
                  <a:srgbClr val="1A1A1A"/>
                </a:solidFill>
                <a:latin typeface="Aptos"/>
              </a:rPr>
              <a:t>V. G. Nath  </a:t>
            </a:r>
            <a:r>
              <a:rPr sz="1050">
                <a:solidFill>
                  <a:srgbClr val="1A1A1A"/>
                </a:solidFill>
                <a:latin typeface="Aptos"/>
              </a:rPr>
              <a:t>Sanitize It Before You Ship It: Concurrency Bugs (2025)</a:t>
            </a:r>
          </a:p>
          <a:p>
            <a:pPr algn="l"/>
            <a:r>
              <a:rPr sz="850">
                <a:solidFill>
                  <a:srgbClr val="8A8880"/>
                </a:solidFill>
                <a:latin typeface="Aptos"/>
              </a:rPr>
              <a:t>youtu.be/jzcGATR78Mk</a:t>
            </a:r>
          </a:p>
        </p:txBody>
      </p:sp>
      <p:pic>
        <p:nvPicPr>
          <p:cNvPr id="31" name="Picture 30" descr="cppcon.png"/>
          <p:cNvPicPr>
            <a:picLocks noChangeAspect="1"/>
          </p:cNvPicPr>
          <p:nvPr/>
        </p:nvPicPr>
        <p:blipFill>
          <a:blip r:embed="rId3"/>
          <a:stretch>
            <a:fillRect/>
          </a:stretch>
        </p:blipFill>
        <p:spPr>
          <a:xfrm>
            <a:off x="6672834" y="2967228"/>
            <a:ext cx="288036" cy="329184"/>
          </a:xfrm>
          <a:prstGeom prst="rect">
            <a:avLst/>
          </a:prstGeom>
        </p:spPr>
      </p:pic>
      <p:sp>
        <p:nvSpPr>
          <p:cNvPr id="32" name="TextBox 31"/>
          <p:cNvSpPr txBox="1"/>
          <p:nvPr/>
        </p:nvSpPr>
        <p:spPr>
          <a:xfrm>
            <a:off x="7109460" y="2948940"/>
            <a:ext cx="5029200" cy="457200"/>
          </a:xfrm>
          <a:prstGeom prst="rect">
            <a:avLst/>
          </a:prstGeom>
          <a:noFill/>
        </p:spPr>
        <p:txBody>
          <a:bodyPr wrap="square" lIns="0" tIns="0" rIns="0" bIns="0">
            <a:spAutoFit/>
          </a:bodyPr>
          <a:lstStyle/>
          <a:p>
            <a:pPr algn="l"/>
            <a:r>
              <a:rPr sz="1100" b="1">
                <a:solidFill>
                  <a:srgbClr val="1A1A1A"/>
                </a:solidFill>
                <a:latin typeface="Aptos"/>
              </a:rPr>
              <a:t>H. Sutter  </a:t>
            </a:r>
            <a:r>
              <a:rPr sz="1050">
                <a:solidFill>
                  <a:srgbClr val="1A1A1A"/>
                </a:solidFill>
                <a:latin typeface="Aptos"/>
              </a:rPr>
              <a:t>Peering Forward — C++’s Next Decade (2024)</a:t>
            </a:r>
          </a:p>
          <a:p>
            <a:pPr algn="l"/>
            <a:r>
              <a:rPr sz="850">
                <a:solidFill>
                  <a:srgbClr val="8A8880"/>
                </a:solidFill>
                <a:latin typeface="Aptos"/>
              </a:rPr>
              <a:t>youtu.be/FNi1-x4pojs</a:t>
            </a:r>
          </a:p>
        </p:txBody>
      </p:sp>
      <p:pic>
        <p:nvPicPr>
          <p:cNvPr id="33" name="Picture 32" descr="cppcon.png"/>
          <p:cNvPicPr>
            <a:picLocks noChangeAspect="1"/>
          </p:cNvPicPr>
          <p:nvPr/>
        </p:nvPicPr>
        <p:blipFill>
          <a:blip r:embed="rId3"/>
          <a:stretch>
            <a:fillRect/>
          </a:stretch>
        </p:blipFill>
        <p:spPr>
          <a:xfrm>
            <a:off x="6672834" y="3424428"/>
            <a:ext cx="288036" cy="329184"/>
          </a:xfrm>
          <a:prstGeom prst="rect">
            <a:avLst/>
          </a:prstGeom>
        </p:spPr>
      </p:pic>
      <p:sp>
        <p:nvSpPr>
          <p:cNvPr id="34" name="TextBox 33"/>
          <p:cNvSpPr txBox="1"/>
          <p:nvPr/>
        </p:nvSpPr>
        <p:spPr>
          <a:xfrm>
            <a:off x="7109460" y="3406140"/>
            <a:ext cx="5029200" cy="457200"/>
          </a:xfrm>
          <a:prstGeom prst="rect">
            <a:avLst/>
          </a:prstGeom>
          <a:noFill/>
        </p:spPr>
        <p:txBody>
          <a:bodyPr wrap="square" lIns="0" tIns="0" rIns="0" bIns="0">
            <a:spAutoFit/>
          </a:bodyPr>
          <a:lstStyle/>
          <a:p>
            <a:pPr algn="l"/>
            <a:r>
              <a:rPr sz="1100" b="1">
                <a:solidFill>
                  <a:srgbClr val="1A1A1A"/>
                </a:solidFill>
                <a:latin typeface="Aptos"/>
              </a:rPr>
              <a:t>A. Rousseau  </a:t>
            </a:r>
            <a:r>
              <a:rPr sz="1050">
                <a:solidFill>
                  <a:srgbClr val="1A1A1A"/>
                </a:solidFill>
                <a:latin typeface="Aptos"/>
              </a:rPr>
              <a:t>An Adversarial Mindset for C++ Security (keynote) (2024)</a:t>
            </a:r>
          </a:p>
          <a:p>
            <a:pPr algn="l"/>
            <a:r>
              <a:rPr sz="850">
                <a:solidFill>
                  <a:srgbClr val="8A8880"/>
                </a:solidFill>
                <a:latin typeface="Aptos"/>
              </a:rPr>
              <a:t>youtu.be/glkMbNLogZE</a:t>
            </a:r>
          </a:p>
        </p:txBody>
      </p:sp>
      <p:pic>
        <p:nvPicPr>
          <p:cNvPr id="35" name="Picture 34" descr="cppcon.png"/>
          <p:cNvPicPr>
            <a:picLocks noChangeAspect="1"/>
          </p:cNvPicPr>
          <p:nvPr/>
        </p:nvPicPr>
        <p:blipFill>
          <a:blip r:embed="rId3"/>
          <a:stretch>
            <a:fillRect/>
          </a:stretch>
        </p:blipFill>
        <p:spPr>
          <a:xfrm>
            <a:off x="6672834" y="3881628"/>
            <a:ext cx="288036" cy="329184"/>
          </a:xfrm>
          <a:prstGeom prst="rect">
            <a:avLst/>
          </a:prstGeom>
        </p:spPr>
      </p:pic>
      <p:sp>
        <p:nvSpPr>
          <p:cNvPr id="36" name="TextBox 35"/>
          <p:cNvSpPr txBox="1"/>
          <p:nvPr/>
        </p:nvSpPr>
        <p:spPr>
          <a:xfrm>
            <a:off x="7109460" y="3863340"/>
            <a:ext cx="5029200" cy="457200"/>
          </a:xfrm>
          <a:prstGeom prst="rect">
            <a:avLst/>
          </a:prstGeom>
          <a:noFill/>
        </p:spPr>
        <p:txBody>
          <a:bodyPr wrap="square" lIns="0" tIns="0" rIns="0" bIns="0">
            <a:spAutoFit/>
          </a:bodyPr>
          <a:lstStyle/>
          <a:p>
            <a:pPr algn="l"/>
            <a:r>
              <a:rPr sz="1100" b="1">
                <a:solidFill>
                  <a:srgbClr val="1A1A1A"/>
                </a:solidFill>
                <a:latin typeface="Aptos"/>
              </a:rPr>
              <a:t>M. Hoffmann  </a:t>
            </a:r>
            <a:r>
              <a:rPr sz="1050">
                <a:solidFill>
                  <a:srgbClr val="1A1A1A"/>
                </a:solidFill>
                <a:latin typeface="Aptos"/>
              </a:rPr>
              <a:t>Security Beyond Memory Safety (2024)</a:t>
            </a:r>
          </a:p>
          <a:p>
            <a:pPr algn="l"/>
            <a:r>
              <a:rPr sz="850">
                <a:solidFill>
                  <a:srgbClr val="8A8880"/>
                </a:solidFill>
                <a:latin typeface="Aptos"/>
              </a:rPr>
              <a:t>youtu.be/mv0SQ8dX7Cc</a:t>
            </a:r>
          </a:p>
        </p:txBody>
      </p:sp>
      <p:pic>
        <p:nvPicPr>
          <p:cNvPr id="37" name="Picture 36" descr="cppcon.png"/>
          <p:cNvPicPr>
            <a:picLocks noChangeAspect="1"/>
          </p:cNvPicPr>
          <p:nvPr/>
        </p:nvPicPr>
        <p:blipFill>
          <a:blip r:embed="rId3"/>
          <a:stretch>
            <a:fillRect/>
          </a:stretch>
        </p:blipFill>
        <p:spPr>
          <a:xfrm>
            <a:off x="6672834" y="4338828"/>
            <a:ext cx="288036" cy="329184"/>
          </a:xfrm>
          <a:prstGeom prst="rect">
            <a:avLst/>
          </a:prstGeom>
        </p:spPr>
      </p:pic>
      <p:sp>
        <p:nvSpPr>
          <p:cNvPr id="38" name="TextBox 37"/>
          <p:cNvSpPr txBox="1"/>
          <p:nvPr/>
        </p:nvSpPr>
        <p:spPr>
          <a:xfrm>
            <a:off x="7109460" y="4320540"/>
            <a:ext cx="5029200" cy="457200"/>
          </a:xfrm>
          <a:prstGeom prst="rect">
            <a:avLst/>
          </a:prstGeom>
          <a:noFill/>
        </p:spPr>
        <p:txBody>
          <a:bodyPr wrap="square" lIns="0" tIns="0" rIns="0" bIns="0">
            <a:spAutoFit/>
          </a:bodyPr>
          <a:lstStyle/>
          <a:p>
            <a:pPr algn="l"/>
            <a:r>
              <a:rPr sz="1100" b="1">
                <a:solidFill>
                  <a:srgbClr val="1A1A1A"/>
                </a:solidFill>
                <a:latin typeface="Aptos"/>
              </a:rPr>
              <a:t>T. Doumler  </a:t>
            </a:r>
            <a:r>
              <a:rPr sz="1050">
                <a:solidFill>
                  <a:srgbClr val="1A1A1A"/>
                </a:solidFill>
                <a:latin typeface="Aptos"/>
              </a:rPr>
              <a:t>Contracts for C++ (2024)</a:t>
            </a:r>
          </a:p>
          <a:p>
            <a:pPr algn="l"/>
            <a:r>
              <a:rPr sz="850">
                <a:solidFill>
                  <a:srgbClr val="8A8880"/>
                </a:solidFill>
                <a:latin typeface="Aptos"/>
              </a:rPr>
              <a:t>youtu.be/u73ZB_vml_c</a:t>
            </a:r>
          </a:p>
        </p:txBody>
      </p:sp>
      <p:pic>
        <p:nvPicPr>
          <p:cNvPr id="39" name="Picture 38" descr="cppcon.png"/>
          <p:cNvPicPr>
            <a:picLocks noChangeAspect="1"/>
          </p:cNvPicPr>
          <p:nvPr/>
        </p:nvPicPr>
        <p:blipFill>
          <a:blip r:embed="rId3"/>
          <a:stretch>
            <a:fillRect/>
          </a:stretch>
        </p:blipFill>
        <p:spPr>
          <a:xfrm>
            <a:off x="6672834" y="4796028"/>
            <a:ext cx="288036" cy="329184"/>
          </a:xfrm>
          <a:prstGeom prst="rect">
            <a:avLst/>
          </a:prstGeom>
        </p:spPr>
      </p:pic>
      <p:sp>
        <p:nvSpPr>
          <p:cNvPr id="40" name="TextBox 39"/>
          <p:cNvSpPr txBox="1"/>
          <p:nvPr/>
        </p:nvSpPr>
        <p:spPr>
          <a:xfrm>
            <a:off x="7109460" y="4777740"/>
            <a:ext cx="5029200" cy="457200"/>
          </a:xfrm>
          <a:prstGeom prst="rect">
            <a:avLst/>
          </a:prstGeom>
          <a:noFill/>
        </p:spPr>
        <p:txBody>
          <a:bodyPr wrap="square" lIns="0" tIns="0" rIns="0" bIns="0">
            <a:spAutoFit/>
          </a:bodyPr>
          <a:lstStyle/>
          <a:p>
            <a:pPr algn="l"/>
            <a:r>
              <a:rPr sz="1100" b="1">
                <a:solidFill>
                  <a:srgbClr val="1A1A1A"/>
                </a:solidFill>
                <a:latin typeface="Aptos"/>
              </a:rPr>
              <a:t>L. Lippincott  </a:t>
            </a:r>
            <a:r>
              <a:rPr sz="1050">
                <a:solidFill>
                  <a:srgbClr val="1A1A1A"/>
                </a:solidFill>
                <a:latin typeface="Aptos"/>
              </a:rPr>
              <a:t>Perspectives on Contracts for C++ (2024)</a:t>
            </a:r>
          </a:p>
          <a:p>
            <a:pPr algn="l"/>
            <a:r>
              <a:rPr sz="850">
                <a:solidFill>
                  <a:srgbClr val="8A8880"/>
                </a:solidFill>
                <a:latin typeface="Aptos"/>
              </a:rPr>
              <a:t>youtu.be/yhhSW-FSWkE</a:t>
            </a:r>
          </a:p>
        </p:txBody>
      </p:sp>
      <p:pic>
        <p:nvPicPr>
          <p:cNvPr id="41" name="Picture 40" descr="accu.png"/>
          <p:cNvPicPr>
            <a:picLocks noChangeAspect="1"/>
          </p:cNvPicPr>
          <p:nvPr/>
        </p:nvPicPr>
        <p:blipFill>
          <a:blip r:embed="rId6"/>
          <a:stretch>
            <a:fillRect/>
          </a:stretch>
        </p:blipFill>
        <p:spPr>
          <a:xfrm>
            <a:off x="6652260" y="5396833"/>
            <a:ext cx="329184" cy="41973"/>
          </a:xfrm>
          <a:prstGeom prst="rect">
            <a:avLst/>
          </a:prstGeom>
        </p:spPr>
      </p:pic>
      <p:sp>
        <p:nvSpPr>
          <p:cNvPr id="42" name="TextBox 41"/>
          <p:cNvSpPr txBox="1"/>
          <p:nvPr/>
        </p:nvSpPr>
        <p:spPr>
          <a:xfrm>
            <a:off x="7109460" y="5234940"/>
            <a:ext cx="5029200" cy="457200"/>
          </a:xfrm>
          <a:prstGeom prst="rect">
            <a:avLst/>
          </a:prstGeom>
          <a:noFill/>
        </p:spPr>
        <p:txBody>
          <a:bodyPr wrap="square" lIns="0" tIns="0" rIns="0" bIns="0">
            <a:spAutoFit/>
          </a:bodyPr>
          <a:lstStyle/>
          <a:p>
            <a:pPr algn="l"/>
            <a:r>
              <a:rPr sz="1100" b="1">
                <a:solidFill>
                  <a:srgbClr val="1A1A1A"/>
                </a:solidFill>
                <a:latin typeface="Aptos"/>
              </a:rPr>
              <a:t>T. Doumler  </a:t>
            </a:r>
            <a:r>
              <a:rPr sz="1050">
                <a:solidFill>
                  <a:srgbClr val="1A1A1A"/>
                </a:solidFill>
                <a:latin typeface="Aptos"/>
              </a:rPr>
              <a:t>Contracts for C++ (2024)</a:t>
            </a:r>
          </a:p>
          <a:p>
            <a:pPr algn="l"/>
            <a:r>
              <a:rPr sz="850">
                <a:solidFill>
                  <a:srgbClr val="8A8880"/>
                </a:solidFill>
                <a:latin typeface="Aptos"/>
              </a:rPr>
              <a:t>youtu.be/lHRyuTFig0U</a:t>
            </a:r>
          </a:p>
        </p:txBody>
      </p:sp>
      <p:pic>
        <p:nvPicPr>
          <p:cNvPr id="43" name="Picture 42" descr="meetingcpp.png"/>
          <p:cNvPicPr>
            <a:picLocks noChangeAspect="1"/>
          </p:cNvPicPr>
          <p:nvPr/>
        </p:nvPicPr>
        <p:blipFill>
          <a:blip r:embed="rId4"/>
          <a:stretch>
            <a:fillRect/>
          </a:stretch>
        </p:blipFill>
        <p:spPr>
          <a:xfrm>
            <a:off x="6652260" y="5710428"/>
            <a:ext cx="329184" cy="329184"/>
          </a:xfrm>
          <a:prstGeom prst="rect">
            <a:avLst/>
          </a:prstGeom>
        </p:spPr>
      </p:pic>
      <p:sp>
        <p:nvSpPr>
          <p:cNvPr id="44" name="TextBox 43"/>
          <p:cNvSpPr txBox="1"/>
          <p:nvPr/>
        </p:nvSpPr>
        <p:spPr>
          <a:xfrm>
            <a:off x="7109460" y="5692140"/>
            <a:ext cx="5029200" cy="457200"/>
          </a:xfrm>
          <a:prstGeom prst="rect">
            <a:avLst/>
          </a:prstGeom>
          <a:noFill/>
        </p:spPr>
        <p:txBody>
          <a:bodyPr wrap="square" lIns="0" tIns="0" rIns="0" bIns="0">
            <a:spAutoFit/>
          </a:bodyPr>
          <a:lstStyle/>
          <a:p>
            <a:pPr algn="l"/>
            <a:r>
              <a:rPr sz="1100" b="1">
                <a:solidFill>
                  <a:srgbClr val="1A1A1A"/>
                </a:solidFill>
                <a:latin typeface="Aptos"/>
              </a:rPr>
              <a:t>H. Sutter  </a:t>
            </a:r>
            <a:r>
              <a:rPr sz="1050">
                <a:solidFill>
                  <a:srgbClr val="1A1A1A"/>
                </a:solidFill>
                <a:latin typeface="Aptos"/>
              </a:rPr>
              <a:t>Peering Forward (keynote) (2024)</a:t>
            </a:r>
          </a:p>
          <a:p>
            <a:pPr algn="l"/>
            <a:r>
              <a:rPr sz="850">
                <a:solidFill>
                  <a:srgbClr val="8A8880"/>
                </a:solidFill>
                <a:latin typeface="Aptos"/>
              </a:rPr>
              <a:t>youtu.be/sbcOdb37n8o</a:t>
            </a:r>
          </a:p>
        </p:txBody>
      </p:sp>
      <p:pic>
        <p:nvPicPr>
          <p:cNvPr id="45" name="Picture 44" descr="ndc.png"/>
          <p:cNvPicPr>
            <a:picLocks noChangeAspect="1"/>
          </p:cNvPicPr>
          <p:nvPr/>
        </p:nvPicPr>
        <p:blipFill>
          <a:blip r:embed="rId7"/>
          <a:stretch>
            <a:fillRect/>
          </a:stretch>
        </p:blipFill>
        <p:spPr>
          <a:xfrm>
            <a:off x="6652260" y="6187258"/>
            <a:ext cx="329184" cy="289923"/>
          </a:xfrm>
          <a:prstGeom prst="rect">
            <a:avLst/>
          </a:prstGeom>
        </p:spPr>
      </p:pic>
      <p:sp>
        <p:nvSpPr>
          <p:cNvPr id="46" name="TextBox 45"/>
          <p:cNvSpPr txBox="1"/>
          <p:nvPr/>
        </p:nvSpPr>
        <p:spPr>
          <a:xfrm>
            <a:off x="7109460" y="6149340"/>
            <a:ext cx="5029200" cy="457200"/>
          </a:xfrm>
          <a:prstGeom prst="rect">
            <a:avLst/>
          </a:prstGeom>
          <a:noFill/>
        </p:spPr>
        <p:txBody>
          <a:bodyPr wrap="square" lIns="0" tIns="0" rIns="0" bIns="0">
            <a:spAutoFit/>
          </a:bodyPr>
          <a:lstStyle/>
          <a:p>
            <a:pPr algn="l"/>
            <a:r>
              <a:rPr sz="1100" b="1">
                <a:solidFill>
                  <a:srgbClr val="1A1A1A"/>
                </a:solidFill>
                <a:latin typeface="Aptos"/>
              </a:rPr>
              <a:t>H. Penne  </a:t>
            </a:r>
            <a:r>
              <a:rPr sz="1050">
                <a:solidFill>
                  <a:srgbClr val="1A1A1A"/>
                </a:solidFill>
                <a:latin typeface="Aptos"/>
              </a:rPr>
              <a:t>The existential threat against C++ (2024)</a:t>
            </a:r>
          </a:p>
          <a:p>
            <a:pPr algn="l"/>
            <a:r>
              <a:rPr sz="850">
                <a:solidFill>
                  <a:srgbClr val="8A8880"/>
                </a:solidFill>
                <a:latin typeface="Aptos"/>
              </a:rPr>
              <a:t>youtu.be/gG4BJ23BFBE</a:t>
            </a:r>
          </a:p>
        </p:txBody>
      </p:sp>
      <p:sp>
        <p:nvSpPr>
          <p:cNvPr id="48" name="Title 47">
            <a:extLst>
              <a:ext uri="{FF2B5EF4-FFF2-40B4-BE49-F238E27FC236}">
                <a16:creationId xmlns:a16="http://schemas.microsoft.com/office/drawing/2014/main" id="{FAC020B3-699A-7DF3-5821-19E75A37724B}"/>
              </a:ext>
            </a:extLst>
          </p:cNvPr>
          <p:cNvSpPr>
            <a:spLocks noGrp="1"/>
          </p:cNvSpPr>
          <p:nvPr>
            <p:ph type="title"/>
          </p:nvPr>
        </p:nvSpPr>
        <p:spPr/>
        <p:txBody>
          <a:bodyPr/>
          <a:lstStyle/>
          <a:p>
            <a:r>
              <a:rPr lang="en-US" dirty="0"/>
              <a:t>A decade of C++ safety talks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dc.png"/>
          <p:cNvPicPr>
            <a:picLocks noChangeAspect="1"/>
          </p:cNvPicPr>
          <p:nvPr/>
        </p:nvPicPr>
        <p:blipFill>
          <a:blip r:embed="rId2"/>
          <a:stretch>
            <a:fillRect/>
          </a:stretch>
        </p:blipFill>
        <p:spPr>
          <a:xfrm>
            <a:off x="944880" y="1615258"/>
            <a:ext cx="329184" cy="289923"/>
          </a:xfrm>
          <a:prstGeom prst="rect">
            <a:avLst/>
          </a:prstGeom>
        </p:spPr>
      </p:pic>
      <p:sp>
        <p:nvSpPr>
          <p:cNvPr id="4" name="TextBox 3"/>
          <p:cNvSpPr txBox="1"/>
          <p:nvPr/>
        </p:nvSpPr>
        <p:spPr>
          <a:xfrm>
            <a:off x="1402080" y="1577340"/>
            <a:ext cx="5029200" cy="457200"/>
          </a:xfrm>
          <a:prstGeom prst="rect">
            <a:avLst/>
          </a:prstGeom>
          <a:noFill/>
        </p:spPr>
        <p:txBody>
          <a:bodyPr wrap="square" lIns="0" tIns="0" rIns="0" bIns="0">
            <a:spAutoFit/>
          </a:bodyPr>
          <a:lstStyle/>
          <a:p>
            <a:pPr algn="l"/>
            <a:r>
              <a:rPr sz="1100" b="1" dirty="0">
                <a:solidFill>
                  <a:srgbClr val="1A1A1A"/>
                </a:solidFill>
                <a:latin typeface="Aptos"/>
              </a:rPr>
              <a:t>R. Seacord  </a:t>
            </a:r>
            <a:r>
              <a:rPr sz="1050" dirty="0">
                <a:solidFill>
                  <a:srgbClr val="1A1A1A"/>
                </a:solidFill>
                <a:latin typeface="Aptos"/>
              </a:rPr>
              <a:t>Correct Use of Integers in Safety-critical Systems (2024)</a:t>
            </a:r>
          </a:p>
          <a:p>
            <a:pPr algn="l"/>
            <a:r>
              <a:rPr sz="850" dirty="0">
                <a:solidFill>
                  <a:srgbClr val="8A8880"/>
                </a:solidFill>
                <a:latin typeface="Aptos"/>
              </a:rPr>
              <a:t>youtu.be/E8p5ASNglKc</a:t>
            </a:r>
          </a:p>
        </p:txBody>
      </p:sp>
      <p:pic>
        <p:nvPicPr>
          <p:cNvPr id="5" name="Picture 4" descr="web.png"/>
          <p:cNvPicPr>
            <a:picLocks noChangeAspect="1"/>
          </p:cNvPicPr>
          <p:nvPr/>
        </p:nvPicPr>
        <p:blipFill>
          <a:blip r:embed="rId3"/>
          <a:stretch>
            <a:fillRect/>
          </a:stretch>
        </p:blipFill>
        <p:spPr>
          <a:xfrm>
            <a:off x="944880" y="2102921"/>
            <a:ext cx="329184" cy="228997"/>
          </a:xfrm>
          <a:prstGeom prst="rect">
            <a:avLst/>
          </a:prstGeom>
        </p:spPr>
      </p:pic>
      <p:sp>
        <p:nvSpPr>
          <p:cNvPr id="6" name="TextBox 5"/>
          <p:cNvSpPr txBox="1"/>
          <p:nvPr/>
        </p:nvSpPr>
        <p:spPr>
          <a:xfrm>
            <a:off x="1402080" y="2034540"/>
            <a:ext cx="5029200" cy="457200"/>
          </a:xfrm>
          <a:prstGeom prst="rect">
            <a:avLst/>
          </a:prstGeom>
          <a:noFill/>
        </p:spPr>
        <p:txBody>
          <a:bodyPr wrap="square" lIns="0" tIns="0" rIns="0" bIns="0">
            <a:spAutoFit/>
          </a:bodyPr>
          <a:lstStyle/>
          <a:p>
            <a:pPr algn="l"/>
            <a:r>
              <a:rPr sz="1100" b="1">
                <a:solidFill>
                  <a:srgbClr val="1A1A1A"/>
                </a:solidFill>
                <a:latin typeface="Aptos"/>
              </a:rPr>
              <a:t>S. Baxter  </a:t>
            </a:r>
            <a:r>
              <a:rPr sz="1050">
                <a:solidFill>
                  <a:srgbClr val="1A1A1A"/>
                </a:solidFill>
                <a:latin typeface="Aptos"/>
              </a:rPr>
              <a:t>Safe C++ (P3390) (2024)</a:t>
            </a:r>
          </a:p>
          <a:p>
            <a:pPr algn="l"/>
            <a:r>
              <a:rPr sz="850">
                <a:solidFill>
                  <a:srgbClr val="8A8880"/>
                </a:solidFill>
                <a:latin typeface="Aptos"/>
              </a:rPr>
              <a:t>youtu.be/5Q1awoAwBgQ</a:t>
            </a:r>
          </a:p>
        </p:txBody>
      </p:sp>
      <p:pic>
        <p:nvPicPr>
          <p:cNvPr id="7" name="Picture 6" descr="cppcon.png"/>
          <p:cNvPicPr>
            <a:picLocks noChangeAspect="1"/>
          </p:cNvPicPr>
          <p:nvPr/>
        </p:nvPicPr>
        <p:blipFill>
          <a:blip r:embed="rId4"/>
          <a:stretch>
            <a:fillRect/>
          </a:stretch>
        </p:blipFill>
        <p:spPr>
          <a:xfrm>
            <a:off x="965454" y="2510028"/>
            <a:ext cx="288036" cy="329184"/>
          </a:xfrm>
          <a:prstGeom prst="rect">
            <a:avLst/>
          </a:prstGeom>
        </p:spPr>
      </p:pic>
      <p:sp>
        <p:nvSpPr>
          <p:cNvPr id="8" name="TextBox 7"/>
          <p:cNvSpPr txBox="1"/>
          <p:nvPr/>
        </p:nvSpPr>
        <p:spPr>
          <a:xfrm>
            <a:off x="1402080" y="2491740"/>
            <a:ext cx="5029200" cy="457200"/>
          </a:xfrm>
          <a:prstGeom prst="rect">
            <a:avLst/>
          </a:prstGeom>
          <a:noFill/>
        </p:spPr>
        <p:txBody>
          <a:bodyPr wrap="square" lIns="0" tIns="0" rIns="0" bIns="0">
            <a:spAutoFit/>
          </a:bodyPr>
          <a:lstStyle/>
          <a:p>
            <a:pPr algn="l"/>
            <a:r>
              <a:rPr sz="1100" b="1" dirty="0">
                <a:solidFill>
                  <a:srgbClr val="1A1A1A"/>
                </a:solidFill>
                <a:latin typeface="Aptos"/>
              </a:rPr>
              <a:t>Apple &amp; Trevelyan  </a:t>
            </a:r>
            <a:r>
              <a:rPr sz="1050" dirty="0">
                <a:solidFill>
                  <a:srgbClr val="1A1A1A"/>
                </a:solidFill>
                <a:latin typeface="Aptos"/>
              </a:rPr>
              <a:t>LLVM’s Realtime Safety Revolution (2024)</a:t>
            </a:r>
          </a:p>
          <a:p>
            <a:pPr algn="l"/>
            <a:r>
              <a:rPr sz="850" dirty="0">
                <a:solidFill>
                  <a:srgbClr val="8A8880"/>
                </a:solidFill>
                <a:latin typeface="Aptos"/>
              </a:rPr>
              <a:t>youtu.be/KvhgNdxX6Uw</a:t>
            </a:r>
          </a:p>
        </p:txBody>
      </p:sp>
      <p:pic>
        <p:nvPicPr>
          <p:cNvPr id="9" name="Picture 8" descr="cppcon.png"/>
          <p:cNvPicPr>
            <a:picLocks noChangeAspect="1"/>
          </p:cNvPicPr>
          <p:nvPr/>
        </p:nvPicPr>
        <p:blipFill>
          <a:blip r:embed="rId4"/>
          <a:stretch>
            <a:fillRect/>
          </a:stretch>
        </p:blipFill>
        <p:spPr>
          <a:xfrm>
            <a:off x="965454" y="2967228"/>
            <a:ext cx="288036" cy="329184"/>
          </a:xfrm>
          <a:prstGeom prst="rect">
            <a:avLst/>
          </a:prstGeom>
        </p:spPr>
      </p:pic>
      <p:sp>
        <p:nvSpPr>
          <p:cNvPr id="10" name="TextBox 9"/>
          <p:cNvSpPr txBox="1"/>
          <p:nvPr/>
        </p:nvSpPr>
        <p:spPr>
          <a:xfrm>
            <a:off x="1402080" y="2948940"/>
            <a:ext cx="5029200" cy="457200"/>
          </a:xfrm>
          <a:prstGeom prst="rect">
            <a:avLst/>
          </a:prstGeom>
          <a:noFill/>
        </p:spPr>
        <p:txBody>
          <a:bodyPr wrap="square" lIns="0" tIns="0" rIns="0" bIns="0">
            <a:spAutoFit/>
          </a:bodyPr>
          <a:lstStyle/>
          <a:p>
            <a:pPr algn="l"/>
            <a:r>
              <a:rPr sz="1100" b="1">
                <a:solidFill>
                  <a:srgbClr val="1A1A1A"/>
                </a:solidFill>
                <a:latin typeface="Aptos"/>
              </a:rPr>
              <a:t>M. Pusz  </a:t>
            </a:r>
            <a:r>
              <a:rPr sz="1050">
                <a:solidFill>
                  <a:srgbClr val="1A1A1A"/>
                </a:solidFill>
                <a:latin typeface="Aptos"/>
              </a:rPr>
              <a:t>Safety With a Quantities &amp; Units Library (2024)</a:t>
            </a:r>
          </a:p>
          <a:p>
            <a:pPr algn="l"/>
            <a:r>
              <a:rPr sz="850">
                <a:solidFill>
                  <a:srgbClr val="8A8880"/>
                </a:solidFill>
                <a:latin typeface="Aptos"/>
              </a:rPr>
              <a:t>youtu.be/pPSdmrmMdjY</a:t>
            </a:r>
          </a:p>
        </p:txBody>
      </p:sp>
      <p:pic>
        <p:nvPicPr>
          <p:cNvPr id="11" name="Picture 10" descr="cppcon.png"/>
          <p:cNvPicPr>
            <a:picLocks noChangeAspect="1"/>
          </p:cNvPicPr>
          <p:nvPr/>
        </p:nvPicPr>
        <p:blipFill>
          <a:blip r:embed="rId4"/>
          <a:stretch>
            <a:fillRect/>
          </a:stretch>
        </p:blipFill>
        <p:spPr>
          <a:xfrm>
            <a:off x="965454" y="3424428"/>
            <a:ext cx="288036" cy="329184"/>
          </a:xfrm>
          <a:prstGeom prst="rect">
            <a:avLst/>
          </a:prstGeom>
        </p:spPr>
      </p:pic>
      <p:sp>
        <p:nvSpPr>
          <p:cNvPr id="12" name="TextBox 11"/>
          <p:cNvSpPr txBox="1"/>
          <p:nvPr/>
        </p:nvSpPr>
        <p:spPr>
          <a:xfrm>
            <a:off x="1402080" y="3406140"/>
            <a:ext cx="5029200" cy="457200"/>
          </a:xfrm>
          <a:prstGeom prst="rect">
            <a:avLst/>
          </a:prstGeom>
          <a:noFill/>
        </p:spPr>
        <p:txBody>
          <a:bodyPr wrap="square" lIns="0" tIns="0" rIns="0" bIns="0">
            <a:spAutoFit/>
          </a:bodyPr>
          <a:lstStyle/>
          <a:p>
            <a:pPr algn="l"/>
            <a:r>
              <a:rPr sz="1100" b="1">
                <a:solidFill>
                  <a:srgbClr val="1A1A1A"/>
                </a:solidFill>
                <a:latin typeface="Aptos"/>
              </a:rPr>
              <a:t>B. Stroustrup  </a:t>
            </a:r>
            <a:r>
              <a:rPr sz="1050">
                <a:solidFill>
                  <a:srgbClr val="1A1A1A"/>
                </a:solidFill>
                <a:latin typeface="Aptos"/>
              </a:rPr>
              <a:t>Delivering Safe C++ (keynote) (2023)</a:t>
            </a:r>
          </a:p>
          <a:p>
            <a:pPr algn="l"/>
            <a:r>
              <a:rPr sz="850">
                <a:solidFill>
                  <a:srgbClr val="8A8880"/>
                </a:solidFill>
                <a:latin typeface="Aptos"/>
              </a:rPr>
              <a:t>youtu.be/I8UvQKvOSSw</a:t>
            </a:r>
          </a:p>
        </p:txBody>
      </p:sp>
      <p:pic>
        <p:nvPicPr>
          <p:cNvPr id="13" name="Picture 12" descr="cppcon.png"/>
          <p:cNvPicPr>
            <a:picLocks noChangeAspect="1"/>
          </p:cNvPicPr>
          <p:nvPr/>
        </p:nvPicPr>
        <p:blipFill>
          <a:blip r:embed="rId4"/>
          <a:stretch>
            <a:fillRect/>
          </a:stretch>
        </p:blipFill>
        <p:spPr>
          <a:xfrm>
            <a:off x="965454" y="3881628"/>
            <a:ext cx="288036" cy="329184"/>
          </a:xfrm>
          <a:prstGeom prst="rect">
            <a:avLst/>
          </a:prstGeom>
        </p:spPr>
      </p:pic>
      <p:sp>
        <p:nvSpPr>
          <p:cNvPr id="14" name="TextBox 13"/>
          <p:cNvSpPr txBox="1"/>
          <p:nvPr/>
        </p:nvSpPr>
        <p:spPr>
          <a:xfrm>
            <a:off x="1402080" y="3863340"/>
            <a:ext cx="5029200" cy="457200"/>
          </a:xfrm>
          <a:prstGeom prst="rect">
            <a:avLst/>
          </a:prstGeom>
          <a:noFill/>
        </p:spPr>
        <p:txBody>
          <a:bodyPr wrap="square" lIns="0" tIns="0" rIns="0" bIns="0">
            <a:spAutoFit/>
          </a:bodyPr>
          <a:lstStyle/>
          <a:p>
            <a:pPr algn="l"/>
            <a:r>
              <a:rPr sz="1100" b="1">
                <a:solidFill>
                  <a:srgbClr val="1A1A1A"/>
                </a:solidFill>
                <a:latin typeface="Aptos"/>
              </a:rPr>
              <a:t>H. Sutter  </a:t>
            </a:r>
            <a:r>
              <a:rPr sz="1050">
                <a:solidFill>
                  <a:srgbClr val="1A1A1A"/>
                </a:solidFill>
                <a:latin typeface="Aptos"/>
              </a:rPr>
              <a:t>Cooperative C++ Evolution (2023)</a:t>
            </a:r>
          </a:p>
          <a:p>
            <a:pPr algn="l"/>
            <a:r>
              <a:rPr sz="850">
                <a:solidFill>
                  <a:srgbClr val="8A8880"/>
                </a:solidFill>
                <a:latin typeface="Aptos"/>
              </a:rPr>
              <a:t>youtu.be/8U3hl8XMm8c</a:t>
            </a:r>
          </a:p>
        </p:txBody>
      </p:sp>
      <p:pic>
        <p:nvPicPr>
          <p:cNvPr id="15" name="Picture 14" descr="cppcon.png"/>
          <p:cNvPicPr>
            <a:picLocks noChangeAspect="1"/>
          </p:cNvPicPr>
          <p:nvPr/>
        </p:nvPicPr>
        <p:blipFill>
          <a:blip r:embed="rId4"/>
          <a:stretch>
            <a:fillRect/>
          </a:stretch>
        </p:blipFill>
        <p:spPr>
          <a:xfrm>
            <a:off x="965454" y="4338828"/>
            <a:ext cx="288036" cy="329184"/>
          </a:xfrm>
          <a:prstGeom prst="rect">
            <a:avLst/>
          </a:prstGeom>
        </p:spPr>
      </p:pic>
      <p:sp>
        <p:nvSpPr>
          <p:cNvPr id="16" name="TextBox 15"/>
          <p:cNvSpPr txBox="1"/>
          <p:nvPr/>
        </p:nvSpPr>
        <p:spPr>
          <a:xfrm>
            <a:off x="1402080" y="4320540"/>
            <a:ext cx="5029200" cy="457200"/>
          </a:xfrm>
          <a:prstGeom prst="rect">
            <a:avLst/>
          </a:prstGeom>
          <a:noFill/>
        </p:spPr>
        <p:txBody>
          <a:bodyPr wrap="square" lIns="0" tIns="0" rIns="0" bIns="0">
            <a:spAutoFit/>
          </a:bodyPr>
          <a:lstStyle/>
          <a:p>
            <a:pPr algn="l"/>
            <a:r>
              <a:rPr sz="1100" b="1">
                <a:solidFill>
                  <a:srgbClr val="1A1A1A"/>
                </a:solidFill>
                <a:latin typeface="Aptos"/>
              </a:rPr>
              <a:t>F. Pikus  </a:t>
            </a:r>
            <a:r>
              <a:rPr sz="1050">
                <a:solidFill>
                  <a:srgbClr val="1A1A1A"/>
                </a:solidFill>
                <a:latin typeface="Aptos"/>
              </a:rPr>
              <a:t>Undefined Behavior: Know and Fear (2023)</a:t>
            </a:r>
          </a:p>
          <a:p>
            <a:pPr algn="l"/>
            <a:r>
              <a:rPr sz="850">
                <a:solidFill>
                  <a:srgbClr val="8A8880"/>
                </a:solidFill>
                <a:latin typeface="Aptos"/>
              </a:rPr>
              <a:t>youtu.be/k9N8OrhrSZw</a:t>
            </a:r>
          </a:p>
        </p:txBody>
      </p:sp>
      <p:pic>
        <p:nvPicPr>
          <p:cNvPr id="17" name="Picture 16" descr="cppcon.png"/>
          <p:cNvPicPr>
            <a:picLocks noChangeAspect="1"/>
          </p:cNvPicPr>
          <p:nvPr/>
        </p:nvPicPr>
        <p:blipFill>
          <a:blip r:embed="rId4"/>
          <a:stretch>
            <a:fillRect/>
          </a:stretch>
        </p:blipFill>
        <p:spPr>
          <a:xfrm>
            <a:off x="965454" y="4796028"/>
            <a:ext cx="288036" cy="329184"/>
          </a:xfrm>
          <a:prstGeom prst="rect">
            <a:avLst/>
          </a:prstGeom>
        </p:spPr>
      </p:pic>
      <p:sp>
        <p:nvSpPr>
          <p:cNvPr id="18" name="TextBox 17"/>
          <p:cNvSpPr txBox="1"/>
          <p:nvPr/>
        </p:nvSpPr>
        <p:spPr>
          <a:xfrm>
            <a:off x="1402080" y="4777740"/>
            <a:ext cx="5029200" cy="457200"/>
          </a:xfrm>
          <a:prstGeom prst="rect">
            <a:avLst/>
          </a:prstGeom>
          <a:noFill/>
        </p:spPr>
        <p:txBody>
          <a:bodyPr wrap="square" lIns="0" tIns="0" rIns="0" bIns="0">
            <a:spAutoFit/>
          </a:bodyPr>
          <a:lstStyle/>
          <a:p>
            <a:pPr algn="l"/>
            <a:r>
              <a:rPr sz="1100" b="1">
                <a:solidFill>
                  <a:srgbClr val="1A1A1A"/>
                </a:solidFill>
                <a:latin typeface="Aptos"/>
              </a:rPr>
              <a:t>Wong et al.  </a:t>
            </a:r>
            <a:r>
              <a:rPr sz="1050">
                <a:solidFill>
                  <a:srgbClr val="1A1A1A"/>
                </a:solidFill>
                <a:latin typeface="Aptos"/>
              </a:rPr>
              <a:t>Safety and Security Panel (2023)</a:t>
            </a:r>
          </a:p>
          <a:p>
            <a:pPr algn="l"/>
            <a:r>
              <a:rPr sz="850">
                <a:solidFill>
                  <a:srgbClr val="8A8880"/>
                </a:solidFill>
                <a:latin typeface="Aptos"/>
              </a:rPr>
              <a:t>youtu.be/R10pXWHpPn4</a:t>
            </a:r>
          </a:p>
        </p:txBody>
      </p:sp>
      <p:pic>
        <p:nvPicPr>
          <p:cNvPr id="19" name="Picture 18" descr="cppcon.png"/>
          <p:cNvPicPr>
            <a:picLocks noChangeAspect="1"/>
          </p:cNvPicPr>
          <p:nvPr/>
        </p:nvPicPr>
        <p:blipFill>
          <a:blip r:embed="rId4"/>
          <a:stretch>
            <a:fillRect/>
          </a:stretch>
        </p:blipFill>
        <p:spPr>
          <a:xfrm>
            <a:off x="965454" y="5253228"/>
            <a:ext cx="288036" cy="329184"/>
          </a:xfrm>
          <a:prstGeom prst="rect">
            <a:avLst/>
          </a:prstGeom>
        </p:spPr>
      </p:pic>
      <p:sp>
        <p:nvSpPr>
          <p:cNvPr id="20" name="TextBox 19"/>
          <p:cNvSpPr txBox="1"/>
          <p:nvPr/>
        </p:nvSpPr>
        <p:spPr>
          <a:xfrm>
            <a:off x="1402080" y="5234940"/>
            <a:ext cx="5029200" cy="457200"/>
          </a:xfrm>
          <a:prstGeom prst="rect">
            <a:avLst/>
          </a:prstGeom>
          <a:noFill/>
        </p:spPr>
        <p:txBody>
          <a:bodyPr wrap="square" lIns="0" tIns="0" rIns="0" bIns="0">
            <a:spAutoFit/>
          </a:bodyPr>
          <a:lstStyle/>
          <a:p>
            <a:pPr algn="l"/>
            <a:r>
              <a:rPr sz="1100" b="1">
                <a:solidFill>
                  <a:srgbClr val="1A1A1A"/>
                </a:solidFill>
                <a:latin typeface="Aptos"/>
              </a:rPr>
              <a:t>T. Brindle  </a:t>
            </a:r>
            <a:r>
              <a:rPr sz="1050">
                <a:solidFill>
                  <a:srgbClr val="1A1A1A"/>
                </a:solidFill>
                <a:latin typeface="Aptos"/>
              </a:rPr>
              <a:t>A Safer Iteration Model for C++ (2023)</a:t>
            </a:r>
          </a:p>
          <a:p>
            <a:pPr algn="l"/>
            <a:r>
              <a:rPr sz="850">
                <a:solidFill>
                  <a:srgbClr val="8A8880"/>
                </a:solidFill>
                <a:latin typeface="Aptos"/>
              </a:rPr>
              <a:t>youtu.be/4dADc4RRC48</a:t>
            </a:r>
          </a:p>
        </p:txBody>
      </p:sp>
      <p:pic>
        <p:nvPicPr>
          <p:cNvPr id="21" name="Picture 20" descr="cppnow.png"/>
          <p:cNvPicPr>
            <a:picLocks noChangeAspect="1"/>
          </p:cNvPicPr>
          <p:nvPr/>
        </p:nvPicPr>
        <p:blipFill>
          <a:blip r:embed="rId5"/>
          <a:stretch>
            <a:fillRect/>
          </a:stretch>
        </p:blipFill>
        <p:spPr>
          <a:xfrm>
            <a:off x="944880" y="5710428"/>
            <a:ext cx="329184" cy="329184"/>
          </a:xfrm>
          <a:prstGeom prst="rect">
            <a:avLst/>
          </a:prstGeom>
        </p:spPr>
      </p:pic>
      <p:sp>
        <p:nvSpPr>
          <p:cNvPr id="22" name="TextBox 21"/>
          <p:cNvSpPr txBox="1"/>
          <p:nvPr/>
        </p:nvSpPr>
        <p:spPr>
          <a:xfrm>
            <a:off x="1402080" y="5692140"/>
            <a:ext cx="5029200" cy="457200"/>
          </a:xfrm>
          <a:prstGeom prst="rect">
            <a:avLst/>
          </a:prstGeom>
          <a:noFill/>
        </p:spPr>
        <p:txBody>
          <a:bodyPr wrap="square" lIns="0" tIns="0" rIns="0" bIns="0">
            <a:spAutoFit/>
          </a:bodyPr>
          <a:lstStyle/>
          <a:p>
            <a:pPr algn="l"/>
            <a:r>
              <a:rPr sz="1100" b="1">
                <a:solidFill>
                  <a:srgbClr val="1A1A1A"/>
                </a:solidFill>
                <a:latin typeface="Aptos"/>
              </a:rPr>
              <a:t>S. Parent  </a:t>
            </a:r>
            <a:r>
              <a:rPr sz="1050">
                <a:solidFill>
                  <a:srgbClr val="1A1A1A"/>
                </a:solidFill>
                <a:latin typeface="Aptos"/>
              </a:rPr>
              <a:t>All the Safeties (2023)</a:t>
            </a:r>
          </a:p>
          <a:p>
            <a:pPr algn="l"/>
            <a:r>
              <a:rPr sz="850">
                <a:solidFill>
                  <a:srgbClr val="8A8880"/>
                </a:solidFill>
                <a:latin typeface="Aptos"/>
              </a:rPr>
              <a:t>youtu.be/MO-qehjc04s</a:t>
            </a:r>
          </a:p>
        </p:txBody>
      </p:sp>
      <p:pic>
        <p:nvPicPr>
          <p:cNvPr id="23" name="Picture 22" descr="cppnow.png"/>
          <p:cNvPicPr>
            <a:picLocks noChangeAspect="1"/>
          </p:cNvPicPr>
          <p:nvPr/>
        </p:nvPicPr>
        <p:blipFill>
          <a:blip r:embed="rId5"/>
          <a:stretch>
            <a:fillRect/>
          </a:stretch>
        </p:blipFill>
        <p:spPr>
          <a:xfrm>
            <a:off x="944880" y="6167628"/>
            <a:ext cx="329184" cy="329184"/>
          </a:xfrm>
          <a:prstGeom prst="rect">
            <a:avLst/>
          </a:prstGeom>
        </p:spPr>
      </p:pic>
      <p:sp>
        <p:nvSpPr>
          <p:cNvPr id="24" name="TextBox 23"/>
          <p:cNvSpPr txBox="1"/>
          <p:nvPr/>
        </p:nvSpPr>
        <p:spPr>
          <a:xfrm>
            <a:off x="1402080" y="6149340"/>
            <a:ext cx="5029200" cy="457200"/>
          </a:xfrm>
          <a:prstGeom prst="rect">
            <a:avLst/>
          </a:prstGeom>
          <a:noFill/>
        </p:spPr>
        <p:txBody>
          <a:bodyPr wrap="square" lIns="0" tIns="0" rIns="0" bIns="0">
            <a:spAutoFit/>
          </a:bodyPr>
          <a:lstStyle/>
          <a:p>
            <a:pPr algn="l"/>
            <a:r>
              <a:rPr sz="1100" b="1" dirty="0">
                <a:solidFill>
                  <a:srgbClr val="1A1A1A"/>
                </a:solidFill>
                <a:latin typeface="Aptos"/>
              </a:rPr>
              <a:t>JF Bastien  </a:t>
            </a:r>
            <a:r>
              <a:rPr sz="1050" dirty="0">
                <a:solidFill>
                  <a:srgbClr val="1A1A1A"/>
                </a:solidFill>
                <a:latin typeface="Aptos"/>
              </a:rPr>
              <a:t>Safety &amp; Security: The Future of C++ (keynote) (2023)</a:t>
            </a:r>
          </a:p>
          <a:p>
            <a:pPr algn="l"/>
            <a:r>
              <a:rPr sz="850" dirty="0">
                <a:solidFill>
                  <a:srgbClr val="8A8880"/>
                </a:solidFill>
                <a:latin typeface="Aptos"/>
              </a:rPr>
              <a:t>youtu.be/Gh79wcGJdTg</a:t>
            </a:r>
          </a:p>
        </p:txBody>
      </p:sp>
      <p:pic>
        <p:nvPicPr>
          <p:cNvPr id="25" name="Picture 24" descr="cppnow.png"/>
          <p:cNvPicPr>
            <a:picLocks noChangeAspect="1"/>
          </p:cNvPicPr>
          <p:nvPr/>
        </p:nvPicPr>
        <p:blipFill>
          <a:blip r:embed="rId5"/>
          <a:stretch>
            <a:fillRect/>
          </a:stretch>
        </p:blipFill>
        <p:spPr>
          <a:xfrm>
            <a:off x="6705600" y="1595628"/>
            <a:ext cx="329184" cy="329184"/>
          </a:xfrm>
          <a:prstGeom prst="rect">
            <a:avLst/>
          </a:prstGeom>
        </p:spPr>
      </p:pic>
      <p:sp>
        <p:nvSpPr>
          <p:cNvPr id="26" name="TextBox 25"/>
          <p:cNvSpPr txBox="1"/>
          <p:nvPr/>
        </p:nvSpPr>
        <p:spPr>
          <a:xfrm>
            <a:off x="7162800" y="1577340"/>
            <a:ext cx="5029200" cy="457200"/>
          </a:xfrm>
          <a:prstGeom prst="rect">
            <a:avLst/>
          </a:prstGeom>
          <a:noFill/>
        </p:spPr>
        <p:txBody>
          <a:bodyPr wrap="square" lIns="0" tIns="0" rIns="0" bIns="0">
            <a:spAutoFit/>
          </a:bodyPr>
          <a:lstStyle/>
          <a:p>
            <a:pPr algn="l"/>
            <a:r>
              <a:rPr sz="1100" b="1">
                <a:solidFill>
                  <a:srgbClr val="1A1A1A"/>
                </a:solidFill>
                <a:latin typeface="Aptos"/>
              </a:rPr>
              <a:t>C. Carruth  </a:t>
            </a:r>
            <a:r>
              <a:rPr sz="1050">
                <a:solidFill>
                  <a:srgbClr val="1A1A1A"/>
                </a:solidFill>
                <a:latin typeface="Aptos"/>
              </a:rPr>
              <a:t>Carbon’s Successor Strategy (keynote) (2023)</a:t>
            </a:r>
          </a:p>
          <a:p>
            <a:pPr algn="l"/>
            <a:r>
              <a:rPr sz="850">
                <a:solidFill>
                  <a:srgbClr val="8A8880"/>
                </a:solidFill>
                <a:latin typeface="Aptos"/>
              </a:rPr>
              <a:t>youtu.be/1ZTJ9omXOQ0</a:t>
            </a:r>
          </a:p>
        </p:txBody>
      </p:sp>
      <p:pic>
        <p:nvPicPr>
          <p:cNvPr id="27" name="Picture 26" descr="cppnow.png"/>
          <p:cNvPicPr>
            <a:picLocks noChangeAspect="1"/>
          </p:cNvPicPr>
          <p:nvPr/>
        </p:nvPicPr>
        <p:blipFill>
          <a:blip r:embed="rId5"/>
          <a:stretch>
            <a:fillRect/>
          </a:stretch>
        </p:blipFill>
        <p:spPr>
          <a:xfrm>
            <a:off x="6705600" y="2052828"/>
            <a:ext cx="329184" cy="329184"/>
          </a:xfrm>
          <a:prstGeom prst="rect">
            <a:avLst/>
          </a:prstGeom>
        </p:spPr>
      </p:pic>
      <p:sp>
        <p:nvSpPr>
          <p:cNvPr id="28" name="TextBox 27"/>
          <p:cNvSpPr txBox="1"/>
          <p:nvPr/>
        </p:nvSpPr>
        <p:spPr>
          <a:xfrm>
            <a:off x="7162800" y="2034540"/>
            <a:ext cx="5029200" cy="457200"/>
          </a:xfrm>
          <a:prstGeom prst="rect">
            <a:avLst/>
          </a:prstGeom>
          <a:noFill/>
        </p:spPr>
        <p:txBody>
          <a:bodyPr wrap="square" lIns="0" tIns="0" rIns="0" bIns="0">
            <a:spAutoFit/>
          </a:bodyPr>
          <a:lstStyle/>
          <a:p>
            <a:pPr algn="l"/>
            <a:r>
              <a:rPr sz="1100" b="1">
                <a:solidFill>
                  <a:srgbClr val="1A1A1A"/>
                </a:solidFill>
                <a:latin typeface="Aptos"/>
              </a:rPr>
              <a:t>Panel  </a:t>
            </a:r>
            <a:r>
              <a:rPr sz="1050">
                <a:solidFill>
                  <a:srgbClr val="1A1A1A"/>
                </a:solidFill>
                <a:latin typeface="Aptos"/>
              </a:rPr>
              <a:t>Coding for Safety, Security, Sustainability (2023)</a:t>
            </a:r>
          </a:p>
          <a:p>
            <a:pPr algn="l"/>
            <a:r>
              <a:rPr sz="850">
                <a:solidFill>
                  <a:srgbClr val="8A8880"/>
                </a:solidFill>
                <a:latin typeface="Aptos"/>
              </a:rPr>
              <a:t>youtu.be/jFi5cILjbA4</a:t>
            </a:r>
          </a:p>
        </p:txBody>
      </p:sp>
      <p:pic>
        <p:nvPicPr>
          <p:cNvPr id="29" name="Picture 28" descr="cpponsea.png"/>
          <p:cNvPicPr>
            <a:picLocks noChangeAspect="1"/>
          </p:cNvPicPr>
          <p:nvPr/>
        </p:nvPicPr>
        <p:blipFill>
          <a:blip r:embed="rId6"/>
          <a:stretch>
            <a:fillRect/>
          </a:stretch>
        </p:blipFill>
        <p:spPr>
          <a:xfrm>
            <a:off x="6705600" y="2514600"/>
            <a:ext cx="329184" cy="320040"/>
          </a:xfrm>
          <a:prstGeom prst="rect">
            <a:avLst/>
          </a:prstGeom>
        </p:spPr>
      </p:pic>
      <p:sp>
        <p:nvSpPr>
          <p:cNvPr id="30" name="TextBox 29"/>
          <p:cNvSpPr txBox="1"/>
          <p:nvPr/>
        </p:nvSpPr>
        <p:spPr>
          <a:xfrm>
            <a:off x="7162800" y="2491740"/>
            <a:ext cx="5029200" cy="457200"/>
          </a:xfrm>
          <a:prstGeom prst="rect">
            <a:avLst/>
          </a:prstGeom>
          <a:noFill/>
        </p:spPr>
        <p:txBody>
          <a:bodyPr wrap="square" lIns="0" tIns="0" rIns="0" bIns="0">
            <a:spAutoFit/>
          </a:bodyPr>
          <a:lstStyle/>
          <a:p>
            <a:pPr algn="l"/>
            <a:r>
              <a:rPr sz="1100" b="1">
                <a:solidFill>
                  <a:srgbClr val="1A1A1A"/>
                </a:solidFill>
                <a:latin typeface="Aptos"/>
              </a:rPr>
              <a:t>T. Doumler  </a:t>
            </a:r>
            <a:r>
              <a:rPr sz="1050">
                <a:solidFill>
                  <a:srgbClr val="1A1A1A"/>
                </a:solidFill>
                <a:latin typeface="Aptos"/>
              </a:rPr>
              <a:t>C++ and Safety (2023)</a:t>
            </a:r>
          </a:p>
          <a:p>
            <a:pPr algn="l"/>
            <a:r>
              <a:rPr sz="850">
                <a:solidFill>
                  <a:srgbClr val="8A8880"/>
                </a:solidFill>
                <a:latin typeface="Aptos"/>
              </a:rPr>
              <a:t>youtu.be/WsswOOTxlIM</a:t>
            </a:r>
          </a:p>
        </p:txBody>
      </p:sp>
      <p:pic>
        <p:nvPicPr>
          <p:cNvPr id="31" name="Picture 30" descr="cpponsea.png"/>
          <p:cNvPicPr>
            <a:picLocks noChangeAspect="1"/>
          </p:cNvPicPr>
          <p:nvPr/>
        </p:nvPicPr>
        <p:blipFill>
          <a:blip r:embed="rId6"/>
          <a:stretch>
            <a:fillRect/>
          </a:stretch>
        </p:blipFill>
        <p:spPr>
          <a:xfrm>
            <a:off x="6705600" y="2971800"/>
            <a:ext cx="329184" cy="320040"/>
          </a:xfrm>
          <a:prstGeom prst="rect">
            <a:avLst/>
          </a:prstGeom>
        </p:spPr>
      </p:pic>
      <p:sp>
        <p:nvSpPr>
          <p:cNvPr id="32" name="TextBox 31"/>
          <p:cNvSpPr txBox="1"/>
          <p:nvPr/>
        </p:nvSpPr>
        <p:spPr>
          <a:xfrm>
            <a:off x="7162800" y="2948940"/>
            <a:ext cx="5029200" cy="457200"/>
          </a:xfrm>
          <a:prstGeom prst="rect">
            <a:avLst/>
          </a:prstGeom>
          <a:noFill/>
        </p:spPr>
        <p:txBody>
          <a:bodyPr wrap="square" lIns="0" tIns="0" rIns="0" bIns="0">
            <a:spAutoFit/>
          </a:bodyPr>
          <a:lstStyle/>
          <a:p>
            <a:pPr algn="l"/>
            <a:r>
              <a:rPr sz="1100" b="1">
                <a:solidFill>
                  <a:srgbClr val="1A1A1A"/>
                </a:solidFill>
                <a:latin typeface="Aptos"/>
              </a:rPr>
              <a:t>S. Parent  </a:t>
            </a:r>
            <a:r>
              <a:rPr sz="1050">
                <a:solidFill>
                  <a:srgbClr val="1A1A1A"/>
                </a:solidFill>
                <a:latin typeface="Aptos"/>
              </a:rPr>
              <a:t>All the Safeties! (keynote) (2023)</a:t>
            </a:r>
          </a:p>
          <a:p>
            <a:pPr algn="l"/>
            <a:r>
              <a:rPr sz="850">
                <a:solidFill>
                  <a:srgbClr val="8A8880"/>
                </a:solidFill>
                <a:latin typeface="Aptos"/>
              </a:rPr>
              <a:t>youtu.be/BaUv9sgLCPc</a:t>
            </a:r>
          </a:p>
        </p:txBody>
      </p:sp>
      <p:pic>
        <p:nvPicPr>
          <p:cNvPr id="33" name="Picture 32" descr="cpponsea.png"/>
          <p:cNvPicPr>
            <a:picLocks noChangeAspect="1"/>
          </p:cNvPicPr>
          <p:nvPr/>
        </p:nvPicPr>
        <p:blipFill>
          <a:blip r:embed="rId6"/>
          <a:stretch>
            <a:fillRect/>
          </a:stretch>
        </p:blipFill>
        <p:spPr>
          <a:xfrm>
            <a:off x="6705600" y="3429000"/>
            <a:ext cx="329184" cy="320040"/>
          </a:xfrm>
          <a:prstGeom prst="rect">
            <a:avLst/>
          </a:prstGeom>
        </p:spPr>
      </p:pic>
      <p:sp>
        <p:nvSpPr>
          <p:cNvPr id="34" name="TextBox 33"/>
          <p:cNvSpPr txBox="1"/>
          <p:nvPr/>
        </p:nvSpPr>
        <p:spPr>
          <a:xfrm>
            <a:off x="7162800" y="3406140"/>
            <a:ext cx="5029200" cy="457200"/>
          </a:xfrm>
          <a:prstGeom prst="rect">
            <a:avLst/>
          </a:prstGeom>
          <a:noFill/>
        </p:spPr>
        <p:txBody>
          <a:bodyPr wrap="square" lIns="0" tIns="0" rIns="0" bIns="0">
            <a:spAutoFit/>
          </a:bodyPr>
          <a:lstStyle/>
          <a:p>
            <a:pPr algn="l"/>
            <a:r>
              <a:rPr sz="1100" b="1">
                <a:solidFill>
                  <a:srgbClr val="1A1A1A"/>
                </a:solidFill>
                <a:latin typeface="Aptos"/>
              </a:rPr>
              <a:t>JF Bastien  </a:t>
            </a:r>
            <a:r>
              <a:rPr sz="1050">
                <a:solidFill>
                  <a:srgbClr val="1A1A1A"/>
                </a:solidFill>
                <a:latin typeface="Aptos"/>
              </a:rPr>
              <a:t>*(char*)0 = 0; (2023)</a:t>
            </a:r>
          </a:p>
          <a:p>
            <a:pPr algn="l"/>
            <a:r>
              <a:rPr sz="850">
                <a:solidFill>
                  <a:srgbClr val="8A8880"/>
                </a:solidFill>
                <a:latin typeface="Aptos"/>
              </a:rPr>
              <a:t>youtu.be/dFIqNZ8VbRY</a:t>
            </a:r>
          </a:p>
        </p:txBody>
      </p:sp>
      <p:pic>
        <p:nvPicPr>
          <p:cNvPr id="35" name="Picture 34" descr="cppnorth.png"/>
          <p:cNvPicPr>
            <a:picLocks noChangeAspect="1"/>
          </p:cNvPicPr>
          <p:nvPr/>
        </p:nvPicPr>
        <p:blipFill>
          <a:blip r:embed="rId7"/>
          <a:stretch>
            <a:fillRect/>
          </a:stretch>
        </p:blipFill>
        <p:spPr>
          <a:xfrm>
            <a:off x="6705600" y="3951853"/>
            <a:ext cx="329184" cy="188732"/>
          </a:xfrm>
          <a:prstGeom prst="rect">
            <a:avLst/>
          </a:prstGeom>
        </p:spPr>
      </p:pic>
      <p:sp>
        <p:nvSpPr>
          <p:cNvPr id="36" name="TextBox 35"/>
          <p:cNvSpPr txBox="1"/>
          <p:nvPr/>
        </p:nvSpPr>
        <p:spPr>
          <a:xfrm>
            <a:off x="7162800" y="3863340"/>
            <a:ext cx="5029200" cy="457200"/>
          </a:xfrm>
          <a:prstGeom prst="rect">
            <a:avLst/>
          </a:prstGeom>
          <a:noFill/>
        </p:spPr>
        <p:txBody>
          <a:bodyPr wrap="square" lIns="0" tIns="0" rIns="0" bIns="0">
            <a:spAutoFit/>
          </a:bodyPr>
          <a:lstStyle/>
          <a:p>
            <a:pPr algn="l"/>
            <a:r>
              <a:rPr sz="1100" b="1">
                <a:solidFill>
                  <a:srgbClr val="1A1A1A"/>
                </a:solidFill>
                <a:latin typeface="Aptos"/>
              </a:rPr>
              <a:t>T. Doumler  </a:t>
            </a:r>
            <a:r>
              <a:rPr sz="1050">
                <a:solidFill>
                  <a:srgbClr val="1A1A1A"/>
                </a:solidFill>
                <a:latin typeface="Aptos"/>
              </a:rPr>
              <a:t>C++ and Safety (2023)</a:t>
            </a:r>
          </a:p>
          <a:p>
            <a:pPr algn="l"/>
            <a:r>
              <a:rPr sz="850">
                <a:solidFill>
                  <a:srgbClr val="8A8880"/>
                </a:solidFill>
                <a:latin typeface="Aptos"/>
              </a:rPr>
              <a:t>youtu.be/iCP2SFsBvaU</a:t>
            </a:r>
          </a:p>
        </p:txBody>
      </p:sp>
      <p:pic>
        <p:nvPicPr>
          <p:cNvPr id="37" name="Picture 36" descr="cppnorth.png"/>
          <p:cNvPicPr>
            <a:picLocks noChangeAspect="1"/>
          </p:cNvPicPr>
          <p:nvPr/>
        </p:nvPicPr>
        <p:blipFill>
          <a:blip r:embed="rId7"/>
          <a:stretch>
            <a:fillRect/>
          </a:stretch>
        </p:blipFill>
        <p:spPr>
          <a:xfrm>
            <a:off x="6705600" y="4409053"/>
            <a:ext cx="329184" cy="188732"/>
          </a:xfrm>
          <a:prstGeom prst="rect">
            <a:avLst/>
          </a:prstGeom>
        </p:spPr>
      </p:pic>
      <p:sp>
        <p:nvSpPr>
          <p:cNvPr id="38" name="TextBox 37"/>
          <p:cNvSpPr txBox="1"/>
          <p:nvPr/>
        </p:nvSpPr>
        <p:spPr>
          <a:xfrm>
            <a:off x="7162800" y="4320540"/>
            <a:ext cx="5029200" cy="457200"/>
          </a:xfrm>
          <a:prstGeom prst="rect">
            <a:avLst/>
          </a:prstGeom>
          <a:noFill/>
        </p:spPr>
        <p:txBody>
          <a:bodyPr wrap="square" lIns="0" tIns="0" rIns="0" bIns="0">
            <a:spAutoFit/>
          </a:bodyPr>
          <a:lstStyle/>
          <a:p>
            <a:pPr algn="l"/>
            <a:r>
              <a:rPr sz="1100" b="1">
                <a:solidFill>
                  <a:srgbClr val="1A1A1A"/>
                </a:solidFill>
                <a:latin typeface="Aptos"/>
              </a:rPr>
              <a:t>T. Doumler  </a:t>
            </a:r>
            <a:r>
              <a:rPr sz="1050">
                <a:solidFill>
                  <a:srgbClr val="1A1A1A"/>
                </a:solidFill>
                <a:latin typeface="Aptos"/>
              </a:rPr>
              <a:t>Contracts, Testing &amp; Well-defined Behaviour (keynote) (2023)</a:t>
            </a:r>
          </a:p>
          <a:p>
            <a:pPr algn="l"/>
            <a:r>
              <a:rPr sz="850">
                <a:solidFill>
                  <a:srgbClr val="8A8880"/>
                </a:solidFill>
                <a:latin typeface="Aptos"/>
              </a:rPr>
              <a:t>youtu.be/jTuIzSUxYDc</a:t>
            </a:r>
          </a:p>
        </p:txBody>
      </p:sp>
      <p:sp>
        <p:nvSpPr>
          <p:cNvPr id="39" name="Rounded Rectangle 38"/>
          <p:cNvSpPr/>
          <p:nvPr/>
        </p:nvSpPr>
        <p:spPr>
          <a:xfrm>
            <a:off x="6705600" y="4796028"/>
            <a:ext cx="329184" cy="329184"/>
          </a:xfrm>
          <a:prstGeom prst="roundRect">
            <a:avLst>
              <a:gd name="adj" fmla="val 18000"/>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00" b="1">
                <a:solidFill>
                  <a:srgbClr val="FFFFFF"/>
                </a:solidFill>
                <a:latin typeface="Aptos"/>
              </a:rPr>
              <a:t>CORE</a:t>
            </a:r>
          </a:p>
        </p:txBody>
      </p:sp>
      <p:sp>
        <p:nvSpPr>
          <p:cNvPr id="40" name="TextBox 39"/>
          <p:cNvSpPr txBox="1"/>
          <p:nvPr/>
        </p:nvSpPr>
        <p:spPr>
          <a:xfrm>
            <a:off x="7162800" y="4777740"/>
            <a:ext cx="5029200" cy="457200"/>
          </a:xfrm>
          <a:prstGeom prst="rect">
            <a:avLst/>
          </a:prstGeom>
          <a:noFill/>
        </p:spPr>
        <p:txBody>
          <a:bodyPr wrap="square" lIns="0" tIns="0" rIns="0" bIns="0">
            <a:spAutoFit/>
          </a:bodyPr>
          <a:lstStyle/>
          <a:p>
            <a:pPr algn="l"/>
            <a:r>
              <a:rPr sz="1100" b="1">
                <a:solidFill>
                  <a:srgbClr val="1A1A1A"/>
                </a:solidFill>
                <a:latin typeface="Aptos"/>
              </a:rPr>
              <a:t>B. Stroustrup  </a:t>
            </a:r>
            <a:r>
              <a:rPr sz="1050">
                <a:solidFill>
                  <a:srgbClr val="1A1A1A"/>
                </a:solidFill>
                <a:latin typeface="Aptos"/>
              </a:rPr>
              <a:t>Approaching C++ Safety (keynote) (2023)</a:t>
            </a:r>
          </a:p>
          <a:p>
            <a:pPr algn="l"/>
            <a:r>
              <a:rPr sz="850">
                <a:solidFill>
                  <a:srgbClr val="8A8880"/>
                </a:solidFill>
                <a:latin typeface="Aptos"/>
              </a:rPr>
              <a:t>youtu.be/eo-4ZSLn3jc</a:t>
            </a:r>
          </a:p>
        </p:txBody>
      </p:sp>
      <p:pic>
        <p:nvPicPr>
          <p:cNvPr id="41" name="Picture 40" descr="ndc.png"/>
          <p:cNvPicPr>
            <a:picLocks noChangeAspect="1"/>
          </p:cNvPicPr>
          <p:nvPr/>
        </p:nvPicPr>
        <p:blipFill>
          <a:blip r:embed="rId2"/>
          <a:stretch>
            <a:fillRect/>
          </a:stretch>
        </p:blipFill>
        <p:spPr>
          <a:xfrm>
            <a:off x="6705600" y="5272858"/>
            <a:ext cx="329184" cy="289923"/>
          </a:xfrm>
          <a:prstGeom prst="rect">
            <a:avLst/>
          </a:prstGeom>
        </p:spPr>
      </p:pic>
      <p:sp>
        <p:nvSpPr>
          <p:cNvPr id="42" name="TextBox 41"/>
          <p:cNvSpPr txBox="1"/>
          <p:nvPr/>
        </p:nvSpPr>
        <p:spPr>
          <a:xfrm>
            <a:off x="7162800" y="5234940"/>
            <a:ext cx="5029200" cy="457200"/>
          </a:xfrm>
          <a:prstGeom prst="rect">
            <a:avLst/>
          </a:prstGeom>
          <a:noFill/>
        </p:spPr>
        <p:txBody>
          <a:bodyPr wrap="square" lIns="0" tIns="0" rIns="0" bIns="0">
            <a:spAutoFit/>
          </a:bodyPr>
          <a:lstStyle/>
          <a:p>
            <a:pPr algn="l"/>
            <a:r>
              <a:rPr sz="1100" b="1">
                <a:solidFill>
                  <a:srgbClr val="1A1A1A"/>
                </a:solidFill>
                <a:latin typeface="Aptos"/>
              </a:rPr>
              <a:t>H. Penne  </a:t>
            </a:r>
            <a:r>
              <a:rPr sz="1050">
                <a:solidFill>
                  <a:srgbClr val="1A1A1A"/>
                </a:solidFill>
                <a:latin typeface="Aptos"/>
              </a:rPr>
              <a:t>Secure development with C++ (2023)</a:t>
            </a:r>
          </a:p>
          <a:p>
            <a:pPr algn="l"/>
            <a:r>
              <a:rPr sz="850">
                <a:solidFill>
                  <a:srgbClr val="8A8880"/>
                </a:solidFill>
                <a:latin typeface="Aptos"/>
              </a:rPr>
              <a:t>youtu.be/U2CIi-CyGY4</a:t>
            </a:r>
          </a:p>
        </p:txBody>
      </p:sp>
      <p:pic>
        <p:nvPicPr>
          <p:cNvPr id="43" name="Picture 42" descr="ndc.png"/>
          <p:cNvPicPr>
            <a:picLocks noChangeAspect="1"/>
          </p:cNvPicPr>
          <p:nvPr/>
        </p:nvPicPr>
        <p:blipFill>
          <a:blip r:embed="rId2"/>
          <a:stretch>
            <a:fillRect/>
          </a:stretch>
        </p:blipFill>
        <p:spPr>
          <a:xfrm>
            <a:off x="6705600" y="5730058"/>
            <a:ext cx="329184" cy="289923"/>
          </a:xfrm>
          <a:prstGeom prst="rect">
            <a:avLst/>
          </a:prstGeom>
        </p:spPr>
      </p:pic>
      <p:sp>
        <p:nvSpPr>
          <p:cNvPr id="44" name="TextBox 43"/>
          <p:cNvSpPr txBox="1"/>
          <p:nvPr/>
        </p:nvSpPr>
        <p:spPr>
          <a:xfrm>
            <a:off x="7162800" y="5692140"/>
            <a:ext cx="5029200" cy="457200"/>
          </a:xfrm>
          <a:prstGeom prst="rect">
            <a:avLst/>
          </a:prstGeom>
          <a:noFill/>
        </p:spPr>
        <p:txBody>
          <a:bodyPr wrap="square" lIns="0" tIns="0" rIns="0" bIns="0">
            <a:spAutoFit/>
          </a:bodyPr>
          <a:lstStyle/>
          <a:p>
            <a:pPr algn="l"/>
            <a:r>
              <a:rPr sz="1100" b="1">
                <a:solidFill>
                  <a:srgbClr val="1A1A1A"/>
                </a:solidFill>
                <a:latin typeface="Aptos"/>
              </a:rPr>
              <a:t>P. Sommerlad  </a:t>
            </a:r>
            <a:r>
              <a:rPr sz="1050">
                <a:solidFill>
                  <a:srgbClr val="1A1A1A"/>
                </a:solidFill>
                <a:latin typeface="Aptos"/>
              </a:rPr>
              <a:t>Safer C++ with MISRA-C++ 2023 (2023)</a:t>
            </a:r>
          </a:p>
          <a:p>
            <a:pPr algn="l"/>
            <a:r>
              <a:rPr sz="850">
                <a:solidFill>
                  <a:srgbClr val="8A8880"/>
                </a:solidFill>
                <a:latin typeface="Aptos"/>
              </a:rPr>
              <a:t>youtu.be/f3xUJkxEtBo</a:t>
            </a:r>
          </a:p>
        </p:txBody>
      </p:sp>
      <p:pic>
        <p:nvPicPr>
          <p:cNvPr id="45" name="Picture 44" descr="web.png"/>
          <p:cNvPicPr>
            <a:picLocks noChangeAspect="1"/>
          </p:cNvPicPr>
          <p:nvPr/>
        </p:nvPicPr>
        <p:blipFill>
          <a:blip r:embed="rId3"/>
          <a:stretch>
            <a:fillRect/>
          </a:stretch>
        </p:blipFill>
        <p:spPr>
          <a:xfrm>
            <a:off x="6705600" y="6217721"/>
            <a:ext cx="329184" cy="228997"/>
          </a:xfrm>
          <a:prstGeom prst="rect">
            <a:avLst/>
          </a:prstGeom>
        </p:spPr>
      </p:pic>
      <p:sp>
        <p:nvSpPr>
          <p:cNvPr id="46" name="TextBox 45"/>
          <p:cNvSpPr txBox="1"/>
          <p:nvPr/>
        </p:nvSpPr>
        <p:spPr>
          <a:xfrm>
            <a:off x="7162800" y="6149340"/>
            <a:ext cx="5029200" cy="457200"/>
          </a:xfrm>
          <a:prstGeom prst="rect">
            <a:avLst/>
          </a:prstGeom>
          <a:noFill/>
        </p:spPr>
        <p:txBody>
          <a:bodyPr wrap="square" lIns="0" tIns="0" rIns="0" bIns="0">
            <a:spAutoFit/>
          </a:bodyPr>
          <a:lstStyle/>
          <a:p>
            <a:pPr algn="l"/>
            <a:r>
              <a:rPr sz="1100" b="1">
                <a:solidFill>
                  <a:srgbClr val="1A1A1A"/>
                </a:solidFill>
                <a:latin typeface="Aptos"/>
              </a:rPr>
              <a:t>S. Baxter  </a:t>
            </a:r>
            <a:r>
              <a:rPr sz="1050">
                <a:solidFill>
                  <a:srgbClr val="1A1A1A"/>
                </a:solidFill>
                <a:latin typeface="Aptos"/>
              </a:rPr>
              <a:t>Circle Fixes Defects, Makes C++ Safer (2023)</a:t>
            </a:r>
          </a:p>
          <a:p>
            <a:pPr algn="l"/>
            <a:r>
              <a:rPr sz="850">
                <a:solidFill>
                  <a:srgbClr val="8A8880"/>
                </a:solidFill>
                <a:latin typeface="Aptos"/>
              </a:rPr>
              <a:t>youtu.be/x7fxeNqSK2k</a:t>
            </a:r>
          </a:p>
        </p:txBody>
      </p:sp>
      <p:sp>
        <p:nvSpPr>
          <p:cNvPr id="48" name="Title 47">
            <a:extLst>
              <a:ext uri="{FF2B5EF4-FFF2-40B4-BE49-F238E27FC236}">
                <a16:creationId xmlns:a16="http://schemas.microsoft.com/office/drawing/2014/main" id="{232A01D2-F33F-C3E9-FA92-E10F50C74229}"/>
              </a:ext>
            </a:extLst>
          </p:cNvPr>
          <p:cNvSpPr>
            <a:spLocks noGrp="1"/>
          </p:cNvSpPr>
          <p:nvPr>
            <p:ph type="title"/>
          </p:nvPr>
        </p:nvSpPr>
        <p:spPr/>
        <p:txBody>
          <a:bodyPr/>
          <a:lstStyle/>
          <a:p>
            <a:r>
              <a:rPr lang="en-US" dirty="0"/>
              <a:t>A decade of C++ safety talks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ppcon.png"/>
          <p:cNvPicPr>
            <a:picLocks noChangeAspect="1"/>
          </p:cNvPicPr>
          <p:nvPr/>
        </p:nvPicPr>
        <p:blipFill>
          <a:blip r:embed="rId3"/>
          <a:stretch>
            <a:fillRect/>
          </a:stretch>
        </p:blipFill>
        <p:spPr>
          <a:xfrm>
            <a:off x="912114" y="1708976"/>
            <a:ext cx="288036" cy="329184"/>
          </a:xfrm>
          <a:prstGeom prst="rect">
            <a:avLst/>
          </a:prstGeom>
        </p:spPr>
      </p:pic>
      <p:sp>
        <p:nvSpPr>
          <p:cNvPr id="4" name="TextBox 3"/>
          <p:cNvSpPr txBox="1"/>
          <p:nvPr/>
        </p:nvSpPr>
        <p:spPr>
          <a:xfrm>
            <a:off x="1348740" y="1690688"/>
            <a:ext cx="5029200" cy="457200"/>
          </a:xfrm>
          <a:prstGeom prst="rect">
            <a:avLst/>
          </a:prstGeom>
          <a:noFill/>
        </p:spPr>
        <p:txBody>
          <a:bodyPr wrap="square" lIns="0" tIns="0" rIns="0" bIns="0">
            <a:spAutoFit/>
          </a:bodyPr>
          <a:lstStyle/>
          <a:p>
            <a:pPr algn="l"/>
            <a:r>
              <a:rPr sz="1100" b="1">
                <a:solidFill>
                  <a:srgbClr val="1A1A1A"/>
                </a:solidFill>
                <a:latin typeface="Aptos"/>
              </a:rPr>
              <a:t>G. Horvath  </a:t>
            </a:r>
            <a:r>
              <a:rPr sz="1050">
                <a:solidFill>
                  <a:srgbClr val="1A1A1A"/>
                </a:solidFill>
                <a:latin typeface="Aptos"/>
              </a:rPr>
              <a:t>Lifetime Safety in C++: Past, Present and Future (2023)</a:t>
            </a:r>
          </a:p>
          <a:p>
            <a:pPr algn="l"/>
            <a:r>
              <a:rPr sz="850">
                <a:solidFill>
                  <a:srgbClr val="8A8880"/>
                </a:solidFill>
                <a:latin typeface="Aptos"/>
              </a:rPr>
              <a:t>youtu.be/PTdy65m_gRE</a:t>
            </a:r>
          </a:p>
        </p:txBody>
      </p:sp>
      <p:pic>
        <p:nvPicPr>
          <p:cNvPr id="5" name="Picture 4" descr="cppcon.png"/>
          <p:cNvPicPr>
            <a:picLocks noChangeAspect="1"/>
          </p:cNvPicPr>
          <p:nvPr/>
        </p:nvPicPr>
        <p:blipFill>
          <a:blip r:embed="rId3"/>
          <a:stretch>
            <a:fillRect/>
          </a:stretch>
        </p:blipFill>
        <p:spPr>
          <a:xfrm>
            <a:off x="912114" y="2166176"/>
            <a:ext cx="288036" cy="329184"/>
          </a:xfrm>
          <a:prstGeom prst="rect">
            <a:avLst/>
          </a:prstGeom>
        </p:spPr>
      </p:pic>
      <p:sp>
        <p:nvSpPr>
          <p:cNvPr id="6" name="TextBox 5"/>
          <p:cNvSpPr txBox="1"/>
          <p:nvPr/>
        </p:nvSpPr>
        <p:spPr>
          <a:xfrm>
            <a:off x="1348740" y="2147888"/>
            <a:ext cx="5029200" cy="457200"/>
          </a:xfrm>
          <a:prstGeom prst="rect">
            <a:avLst/>
          </a:prstGeom>
          <a:noFill/>
        </p:spPr>
        <p:txBody>
          <a:bodyPr wrap="square" lIns="0" tIns="0" rIns="0" bIns="0">
            <a:spAutoFit/>
          </a:bodyPr>
          <a:lstStyle/>
          <a:p>
            <a:pPr algn="l"/>
            <a:r>
              <a:rPr sz="1100" b="1">
                <a:solidFill>
                  <a:srgbClr val="1A1A1A"/>
                </a:solidFill>
                <a:latin typeface="Aptos"/>
              </a:rPr>
              <a:t>E. Tomusk  </a:t>
            </a:r>
            <a:r>
              <a:rPr sz="1050">
                <a:solidFill>
                  <a:srgbClr val="1A1A1A"/>
                </a:solidFill>
                <a:latin typeface="Aptos"/>
              </a:rPr>
              <a:t>Error Handling in Safety-Critical SYCL (2023)</a:t>
            </a:r>
          </a:p>
          <a:p>
            <a:pPr algn="l"/>
            <a:r>
              <a:rPr sz="850">
                <a:solidFill>
                  <a:srgbClr val="8A8880"/>
                </a:solidFill>
                <a:latin typeface="Aptos"/>
              </a:rPr>
              <a:t>youtu.be/ZUAPHTbxnAc</a:t>
            </a:r>
          </a:p>
        </p:txBody>
      </p:sp>
      <p:pic>
        <p:nvPicPr>
          <p:cNvPr id="7" name="Picture 6" descr="cppcon.png"/>
          <p:cNvPicPr>
            <a:picLocks noChangeAspect="1"/>
          </p:cNvPicPr>
          <p:nvPr/>
        </p:nvPicPr>
        <p:blipFill>
          <a:blip r:embed="rId3"/>
          <a:stretch>
            <a:fillRect/>
          </a:stretch>
        </p:blipFill>
        <p:spPr>
          <a:xfrm>
            <a:off x="912114" y="2623376"/>
            <a:ext cx="288036" cy="329184"/>
          </a:xfrm>
          <a:prstGeom prst="rect">
            <a:avLst/>
          </a:prstGeom>
        </p:spPr>
      </p:pic>
      <p:sp>
        <p:nvSpPr>
          <p:cNvPr id="8" name="TextBox 7"/>
          <p:cNvSpPr txBox="1"/>
          <p:nvPr/>
        </p:nvSpPr>
        <p:spPr>
          <a:xfrm>
            <a:off x="1348740" y="2605088"/>
            <a:ext cx="5029200" cy="457200"/>
          </a:xfrm>
          <a:prstGeom prst="rect">
            <a:avLst/>
          </a:prstGeom>
          <a:noFill/>
        </p:spPr>
        <p:txBody>
          <a:bodyPr wrap="square" lIns="0" tIns="0" rIns="0" bIns="0">
            <a:spAutoFit/>
          </a:bodyPr>
          <a:lstStyle/>
          <a:p>
            <a:pPr algn="l"/>
            <a:r>
              <a:rPr sz="1100" b="1">
                <a:solidFill>
                  <a:srgbClr val="1A1A1A"/>
                </a:solidFill>
                <a:latin typeface="Aptos"/>
              </a:rPr>
              <a:t>H. Sutter  </a:t>
            </a:r>
            <a:r>
              <a:rPr sz="1050">
                <a:solidFill>
                  <a:srgbClr val="1A1A1A"/>
                </a:solidFill>
                <a:latin typeface="Aptos"/>
              </a:rPr>
              <a:t>Can C++ be 10x Simpler &amp; Safer? (2022)</a:t>
            </a:r>
          </a:p>
          <a:p>
            <a:pPr algn="l"/>
            <a:r>
              <a:rPr sz="850">
                <a:solidFill>
                  <a:srgbClr val="8A8880"/>
                </a:solidFill>
                <a:latin typeface="Aptos"/>
              </a:rPr>
              <a:t>youtu.be/ELeZAKCN4tY</a:t>
            </a:r>
          </a:p>
        </p:txBody>
      </p:sp>
      <p:pic>
        <p:nvPicPr>
          <p:cNvPr id="9" name="Picture 8" descr="cppcon.png"/>
          <p:cNvPicPr>
            <a:picLocks noChangeAspect="1"/>
          </p:cNvPicPr>
          <p:nvPr/>
        </p:nvPicPr>
        <p:blipFill>
          <a:blip r:embed="rId3"/>
          <a:stretch>
            <a:fillRect/>
          </a:stretch>
        </p:blipFill>
        <p:spPr>
          <a:xfrm>
            <a:off x="912114" y="3080576"/>
            <a:ext cx="288036" cy="329184"/>
          </a:xfrm>
          <a:prstGeom prst="rect">
            <a:avLst/>
          </a:prstGeom>
        </p:spPr>
      </p:pic>
      <p:sp>
        <p:nvSpPr>
          <p:cNvPr id="10" name="TextBox 9"/>
          <p:cNvSpPr txBox="1"/>
          <p:nvPr/>
        </p:nvSpPr>
        <p:spPr>
          <a:xfrm>
            <a:off x="1348740" y="3062288"/>
            <a:ext cx="5029200" cy="457200"/>
          </a:xfrm>
          <a:prstGeom prst="rect">
            <a:avLst/>
          </a:prstGeom>
          <a:noFill/>
        </p:spPr>
        <p:txBody>
          <a:bodyPr wrap="square" lIns="0" tIns="0" rIns="0" bIns="0">
            <a:spAutoFit/>
          </a:bodyPr>
          <a:lstStyle/>
          <a:p>
            <a:pPr algn="l"/>
            <a:r>
              <a:rPr sz="1100" b="1">
                <a:solidFill>
                  <a:srgbClr val="1A1A1A"/>
                </a:solidFill>
                <a:latin typeface="Aptos"/>
              </a:rPr>
              <a:t>S. Dargo  </a:t>
            </a:r>
            <a:r>
              <a:rPr sz="1050">
                <a:solidFill>
                  <a:srgbClr val="1A1A1A"/>
                </a:solidFill>
                <a:latin typeface="Aptos"/>
              </a:rPr>
              <a:t>Undefined Behavior in the STL (2022)</a:t>
            </a:r>
          </a:p>
          <a:p>
            <a:pPr algn="l"/>
            <a:r>
              <a:rPr sz="850">
                <a:solidFill>
                  <a:srgbClr val="8A8880"/>
                </a:solidFill>
                <a:latin typeface="Aptos"/>
              </a:rPr>
              <a:t>youtu.be/fp45k9gsnUo</a:t>
            </a:r>
          </a:p>
        </p:txBody>
      </p:sp>
      <p:pic>
        <p:nvPicPr>
          <p:cNvPr id="11" name="Picture 10" descr="cppnow.png"/>
          <p:cNvPicPr>
            <a:picLocks noChangeAspect="1"/>
          </p:cNvPicPr>
          <p:nvPr/>
        </p:nvPicPr>
        <p:blipFill>
          <a:blip r:embed="rId4"/>
          <a:stretch>
            <a:fillRect/>
          </a:stretch>
        </p:blipFill>
        <p:spPr>
          <a:xfrm>
            <a:off x="891540" y="3537776"/>
            <a:ext cx="329184" cy="329184"/>
          </a:xfrm>
          <a:prstGeom prst="rect">
            <a:avLst/>
          </a:prstGeom>
        </p:spPr>
      </p:pic>
      <p:sp>
        <p:nvSpPr>
          <p:cNvPr id="12" name="TextBox 11"/>
          <p:cNvSpPr txBox="1"/>
          <p:nvPr/>
        </p:nvSpPr>
        <p:spPr>
          <a:xfrm>
            <a:off x="1348740" y="3519488"/>
            <a:ext cx="5029200" cy="457200"/>
          </a:xfrm>
          <a:prstGeom prst="rect">
            <a:avLst/>
          </a:prstGeom>
          <a:noFill/>
        </p:spPr>
        <p:txBody>
          <a:bodyPr wrap="square" lIns="0" tIns="0" rIns="0" bIns="0">
            <a:spAutoFit/>
          </a:bodyPr>
          <a:lstStyle/>
          <a:p>
            <a:pPr algn="l"/>
            <a:r>
              <a:rPr sz="1100" b="1">
                <a:solidFill>
                  <a:srgbClr val="1A1A1A"/>
                </a:solidFill>
                <a:latin typeface="Aptos"/>
              </a:rPr>
              <a:t>F. Pikus  </a:t>
            </a:r>
            <a:r>
              <a:rPr sz="1050">
                <a:solidFill>
                  <a:srgbClr val="1A1A1A"/>
                </a:solidFill>
                <a:latin typeface="Aptos"/>
              </a:rPr>
              <a:t>UB: A Performance Viewpoint (2022)</a:t>
            </a:r>
          </a:p>
          <a:p>
            <a:pPr algn="l"/>
            <a:r>
              <a:rPr sz="850">
                <a:solidFill>
                  <a:srgbClr val="8A8880"/>
                </a:solidFill>
                <a:latin typeface="Aptos"/>
              </a:rPr>
              <a:t>youtu.be/BbMybgmQBhU</a:t>
            </a:r>
          </a:p>
        </p:txBody>
      </p:sp>
      <p:pic>
        <p:nvPicPr>
          <p:cNvPr id="13" name="Picture 12" descr="cppcon.png"/>
          <p:cNvPicPr>
            <a:picLocks noChangeAspect="1"/>
          </p:cNvPicPr>
          <p:nvPr/>
        </p:nvPicPr>
        <p:blipFill>
          <a:blip r:embed="rId3"/>
          <a:stretch>
            <a:fillRect/>
          </a:stretch>
        </p:blipFill>
        <p:spPr>
          <a:xfrm>
            <a:off x="912114" y="3994976"/>
            <a:ext cx="288036" cy="329184"/>
          </a:xfrm>
          <a:prstGeom prst="rect">
            <a:avLst/>
          </a:prstGeom>
        </p:spPr>
      </p:pic>
      <p:sp>
        <p:nvSpPr>
          <p:cNvPr id="14" name="TextBox 13"/>
          <p:cNvSpPr txBox="1"/>
          <p:nvPr/>
        </p:nvSpPr>
        <p:spPr>
          <a:xfrm>
            <a:off x="1348740" y="3976688"/>
            <a:ext cx="5029200" cy="457200"/>
          </a:xfrm>
          <a:prstGeom prst="rect">
            <a:avLst/>
          </a:prstGeom>
          <a:noFill/>
        </p:spPr>
        <p:txBody>
          <a:bodyPr wrap="square" lIns="0" tIns="0" rIns="0" bIns="0">
            <a:spAutoFit/>
          </a:bodyPr>
          <a:lstStyle/>
          <a:p>
            <a:pPr algn="l"/>
            <a:r>
              <a:rPr sz="1100" b="1" dirty="0">
                <a:solidFill>
                  <a:srgbClr val="1A1A1A"/>
                </a:solidFill>
                <a:latin typeface="Aptos"/>
              </a:rPr>
              <a:t>J. Radigan  </a:t>
            </a:r>
            <a:r>
              <a:rPr sz="1050" dirty="0">
                <a:solidFill>
                  <a:srgbClr val="1A1A1A"/>
                </a:solidFill>
                <a:latin typeface="Aptos"/>
              </a:rPr>
              <a:t>-memory-safe C++ (2022)</a:t>
            </a:r>
          </a:p>
          <a:p>
            <a:pPr algn="l"/>
            <a:r>
              <a:rPr sz="850" dirty="0">
                <a:solidFill>
                  <a:srgbClr val="8A8880"/>
                </a:solidFill>
                <a:latin typeface="Aptos"/>
              </a:rPr>
              <a:t>youtu.be/ml4t-6bg9-M</a:t>
            </a:r>
          </a:p>
        </p:txBody>
      </p:sp>
      <p:pic>
        <p:nvPicPr>
          <p:cNvPr id="15" name="Picture 14" descr="cppcon.png"/>
          <p:cNvPicPr>
            <a:picLocks noChangeAspect="1"/>
          </p:cNvPicPr>
          <p:nvPr/>
        </p:nvPicPr>
        <p:blipFill>
          <a:blip r:embed="rId3"/>
          <a:stretch>
            <a:fillRect/>
          </a:stretch>
        </p:blipFill>
        <p:spPr>
          <a:xfrm>
            <a:off x="912114" y="4452176"/>
            <a:ext cx="288036" cy="329184"/>
          </a:xfrm>
          <a:prstGeom prst="rect">
            <a:avLst/>
          </a:prstGeom>
        </p:spPr>
      </p:pic>
      <p:sp>
        <p:nvSpPr>
          <p:cNvPr id="16" name="TextBox 15"/>
          <p:cNvSpPr txBox="1"/>
          <p:nvPr/>
        </p:nvSpPr>
        <p:spPr>
          <a:xfrm>
            <a:off x="1348740" y="4433888"/>
            <a:ext cx="5029200" cy="300082"/>
          </a:xfrm>
          <a:prstGeom prst="rect">
            <a:avLst/>
          </a:prstGeom>
          <a:noFill/>
        </p:spPr>
        <p:txBody>
          <a:bodyPr wrap="square" lIns="0" tIns="0" rIns="0" bIns="0">
            <a:spAutoFit/>
          </a:bodyPr>
          <a:lstStyle/>
          <a:p>
            <a:pPr algn="l"/>
            <a:r>
              <a:rPr sz="1100" b="1" dirty="0">
                <a:solidFill>
                  <a:srgbClr val="1A1A1A"/>
                </a:solidFill>
                <a:latin typeface="Aptos"/>
              </a:rPr>
              <a:t>R. Leahy  </a:t>
            </a:r>
            <a:r>
              <a:rPr sz="1050" dirty="0">
                <a:solidFill>
                  <a:srgbClr val="1A1A1A"/>
                </a:solidFill>
                <a:latin typeface="Aptos"/>
              </a:rPr>
              <a:t>Avoiding Punning by Starting Lifetimes (2022)</a:t>
            </a:r>
          </a:p>
          <a:p>
            <a:r>
              <a:rPr lang="en-US" sz="850" dirty="0">
                <a:solidFill>
                  <a:srgbClr val="8A8880"/>
                </a:solidFill>
              </a:rPr>
              <a:t>youtu.be/pbkQG09grFw</a:t>
            </a:r>
          </a:p>
        </p:txBody>
      </p:sp>
      <p:pic>
        <p:nvPicPr>
          <p:cNvPr id="17" name="Picture 16" descr="cppcon.png"/>
          <p:cNvPicPr>
            <a:picLocks noChangeAspect="1"/>
          </p:cNvPicPr>
          <p:nvPr/>
        </p:nvPicPr>
        <p:blipFill>
          <a:blip r:embed="rId3"/>
          <a:stretch>
            <a:fillRect/>
          </a:stretch>
        </p:blipFill>
        <p:spPr>
          <a:xfrm>
            <a:off x="912114" y="4909376"/>
            <a:ext cx="288036" cy="329184"/>
          </a:xfrm>
          <a:prstGeom prst="rect">
            <a:avLst/>
          </a:prstGeom>
        </p:spPr>
      </p:pic>
      <p:sp>
        <p:nvSpPr>
          <p:cNvPr id="18" name="TextBox 17"/>
          <p:cNvSpPr txBox="1"/>
          <p:nvPr/>
        </p:nvSpPr>
        <p:spPr>
          <a:xfrm>
            <a:off x="1348740" y="4891088"/>
            <a:ext cx="5029200" cy="300082"/>
          </a:xfrm>
          <a:prstGeom prst="rect">
            <a:avLst/>
          </a:prstGeom>
          <a:noFill/>
        </p:spPr>
        <p:txBody>
          <a:bodyPr wrap="square" lIns="0" tIns="0" rIns="0" bIns="0">
            <a:spAutoFit/>
          </a:bodyPr>
          <a:lstStyle/>
          <a:p>
            <a:pPr algn="l"/>
            <a:r>
              <a:rPr sz="1100" b="1" dirty="0">
                <a:solidFill>
                  <a:srgbClr val="1A1A1A"/>
                </a:solidFill>
                <a:latin typeface="Aptos"/>
              </a:rPr>
              <a:t>R. Michaels  </a:t>
            </a:r>
            <a:r>
              <a:rPr sz="1050" dirty="0">
                <a:solidFill>
                  <a:srgbClr val="1A1A1A"/>
                </a:solidFill>
                <a:latin typeface="Aptos"/>
              </a:rPr>
              <a:t>Purging UB in a Legacy Codebase (2022)</a:t>
            </a:r>
          </a:p>
          <a:p>
            <a:r>
              <a:rPr lang="en-US" sz="850" dirty="0">
                <a:solidFill>
                  <a:srgbClr val="8A8880"/>
                </a:solidFill>
              </a:rPr>
              <a:t>youtu.be/vEtGtphI3lc</a:t>
            </a:r>
          </a:p>
        </p:txBody>
      </p:sp>
      <p:pic>
        <p:nvPicPr>
          <p:cNvPr id="19" name="Picture 18" descr="cppcon.png"/>
          <p:cNvPicPr>
            <a:picLocks noChangeAspect="1"/>
          </p:cNvPicPr>
          <p:nvPr/>
        </p:nvPicPr>
        <p:blipFill>
          <a:blip r:embed="rId3"/>
          <a:stretch>
            <a:fillRect/>
          </a:stretch>
        </p:blipFill>
        <p:spPr>
          <a:xfrm>
            <a:off x="912114" y="5366576"/>
            <a:ext cx="288036" cy="329184"/>
          </a:xfrm>
          <a:prstGeom prst="rect">
            <a:avLst/>
          </a:prstGeom>
        </p:spPr>
      </p:pic>
      <p:sp>
        <p:nvSpPr>
          <p:cNvPr id="20" name="TextBox 19"/>
          <p:cNvSpPr txBox="1"/>
          <p:nvPr/>
        </p:nvSpPr>
        <p:spPr>
          <a:xfrm>
            <a:off x="1348740" y="5348288"/>
            <a:ext cx="5029200" cy="300082"/>
          </a:xfrm>
          <a:prstGeom prst="rect">
            <a:avLst/>
          </a:prstGeom>
          <a:noFill/>
        </p:spPr>
        <p:txBody>
          <a:bodyPr wrap="square" lIns="0" tIns="0" rIns="0" bIns="0">
            <a:spAutoFit/>
          </a:bodyPr>
          <a:lstStyle/>
          <a:p>
            <a:pPr algn="l"/>
            <a:r>
              <a:rPr sz="1100" b="1" dirty="0">
                <a:solidFill>
                  <a:srgbClr val="1A1A1A"/>
                </a:solidFill>
                <a:latin typeface="Aptos"/>
              </a:rPr>
              <a:t>D. Abrahams  </a:t>
            </a:r>
            <a:r>
              <a:rPr sz="1050" dirty="0">
                <a:solidFill>
                  <a:srgbClr val="1A1A1A"/>
                </a:solidFill>
                <a:latin typeface="Aptos"/>
              </a:rPr>
              <a:t>Value Semantics: Safety, Independence, Projection (2022)</a:t>
            </a:r>
          </a:p>
          <a:p>
            <a:r>
              <a:rPr lang="en-US" sz="850" dirty="0">
                <a:solidFill>
                  <a:srgbClr val="8A8880"/>
                </a:solidFill>
              </a:rPr>
              <a:t>youtu.be/QthAU-t3PQ4</a:t>
            </a:r>
          </a:p>
        </p:txBody>
      </p:sp>
      <p:pic>
        <p:nvPicPr>
          <p:cNvPr id="21" name="Picture 20" descr="cppcon.png"/>
          <p:cNvPicPr>
            <a:picLocks noChangeAspect="1"/>
          </p:cNvPicPr>
          <p:nvPr/>
        </p:nvPicPr>
        <p:blipFill>
          <a:blip r:embed="rId3"/>
          <a:stretch>
            <a:fillRect/>
          </a:stretch>
        </p:blipFill>
        <p:spPr>
          <a:xfrm>
            <a:off x="912114" y="5823776"/>
            <a:ext cx="288036" cy="329184"/>
          </a:xfrm>
          <a:prstGeom prst="rect">
            <a:avLst/>
          </a:prstGeom>
        </p:spPr>
      </p:pic>
      <p:sp>
        <p:nvSpPr>
          <p:cNvPr id="22" name="TextBox 21"/>
          <p:cNvSpPr txBox="1"/>
          <p:nvPr/>
        </p:nvSpPr>
        <p:spPr>
          <a:xfrm>
            <a:off x="1348740" y="5805488"/>
            <a:ext cx="5029200" cy="457200"/>
          </a:xfrm>
          <a:prstGeom prst="rect">
            <a:avLst/>
          </a:prstGeom>
          <a:noFill/>
        </p:spPr>
        <p:txBody>
          <a:bodyPr wrap="square" lIns="0" tIns="0" rIns="0" bIns="0">
            <a:spAutoFit/>
          </a:bodyPr>
          <a:lstStyle/>
          <a:p>
            <a:pPr algn="l"/>
            <a:r>
              <a:rPr sz="1100" b="1">
                <a:solidFill>
                  <a:srgbClr val="1A1A1A"/>
                </a:solidFill>
                <a:latin typeface="Aptos"/>
              </a:rPr>
              <a:t>B. Stroustrup  </a:t>
            </a:r>
            <a:r>
              <a:rPr sz="1050">
                <a:solidFill>
                  <a:srgbClr val="1A1A1A"/>
                </a:solidFill>
                <a:latin typeface="Aptos"/>
              </a:rPr>
              <a:t>Type-and-resource Safety in Modern C++ (2021)</a:t>
            </a:r>
          </a:p>
          <a:p>
            <a:pPr algn="l"/>
            <a:r>
              <a:rPr sz="850">
                <a:solidFill>
                  <a:srgbClr val="8A8880"/>
                </a:solidFill>
                <a:latin typeface="Aptos"/>
              </a:rPr>
              <a:t>youtu.be/l3rvjWfBzZI</a:t>
            </a:r>
          </a:p>
        </p:txBody>
      </p:sp>
      <p:pic>
        <p:nvPicPr>
          <p:cNvPr id="23" name="Picture 22" descr="cppcon.png"/>
          <p:cNvPicPr>
            <a:picLocks noChangeAspect="1"/>
          </p:cNvPicPr>
          <p:nvPr/>
        </p:nvPicPr>
        <p:blipFill>
          <a:blip r:embed="rId3"/>
          <a:stretch>
            <a:fillRect/>
          </a:stretch>
        </p:blipFill>
        <p:spPr>
          <a:xfrm>
            <a:off x="6672834" y="1708976"/>
            <a:ext cx="288036" cy="329184"/>
          </a:xfrm>
          <a:prstGeom prst="rect">
            <a:avLst/>
          </a:prstGeom>
        </p:spPr>
      </p:pic>
      <p:sp>
        <p:nvSpPr>
          <p:cNvPr id="24" name="TextBox 23"/>
          <p:cNvSpPr txBox="1"/>
          <p:nvPr/>
        </p:nvSpPr>
        <p:spPr>
          <a:xfrm>
            <a:off x="7109460" y="1690688"/>
            <a:ext cx="5029200" cy="457200"/>
          </a:xfrm>
          <a:prstGeom prst="rect">
            <a:avLst/>
          </a:prstGeom>
          <a:noFill/>
        </p:spPr>
        <p:txBody>
          <a:bodyPr wrap="square" lIns="0" tIns="0" rIns="0" bIns="0">
            <a:spAutoFit/>
          </a:bodyPr>
          <a:lstStyle/>
          <a:p>
            <a:pPr algn="l"/>
            <a:r>
              <a:rPr sz="1100" b="1">
                <a:solidFill>
                  <a:srgbClr val="1A1A1A"/>
                </a:solidFill>
                <a:latin typeface="Aptos"/>
              </a:rPr>
              <a:t>Geller &amp; Sermersheim  </a:t>
            </a:r>
            <a:r>
              <a:rPr sz="1050">
                <a:solidFill>
                  <a:srgbClr val="1A1A1A"/>
                </a:solidFill>
                <a:latin typeface="Aptos"/>
              </a:rPr>
              <a:t>Back to Basics: Undefined Behavior (2021)</a:t>
            </a:r>
          </a:p>
          <a:p>
            <a:pPr algn="l"/>
            <a:r>
              <a:rPr sz="850">
                <a:solidFill>
                  <a:srgbClr val="8A8880"/>
                </a:solidFill>
                <a:latin typeface="Aptos"/>
              </a:rPr>
              <a:t>youtu.be/NpL9YnxnOqM</a:t>
            </a:r>
          </a:p>
        </p:txBody>
      </p:sp>
      <p:pic>
        <p:nvPicPr>
          <p:cNvPr id="25" name="Picture 24" descr="cppcon.png"/>
          <p:cNvPicPr>
            <a:picLocks noChangeAspect="1"/>
          </p:cNvPicPr>
          <p:nvPr/>
        </p:nvPicPr>
        <p:blipFill>
          <a:blip r:embed="rId3"/>
          <a:stretch>
            <a:fillRect/>
          </a:stretch>
        </p:blipFill>
        <p:spPr>
          <a:xfrm>
            <a:off x="6672834" y="2166176"/>
            <a:ext cx="288036" cy="329184"/>
          </a:xfrm>
          <a:prstGeom prst="rect">
            <a:avLst/>
          </a:prstGeom>
        </p:spPr>
      </p:pic>
      <p:sp>
        <p:nvSpPr>
          <p:cNvPr id="26" name="TextBox 25"/>
          <p:cNvSpPr txBox="1"/>
          <p:nvPr/>
        </p:nvSpPr>
        <p:spPr>
          <a:xfrm>
            <a:off x="7109460" y="2147888"/>
            <a:ext cx="5029200" cy="457200"/>
          </a:xfrm>
          <a:prstGeom prst="rect">
            <a:avLst/>
          </a:prstGeom>
          <a:noFill/>
        </p:spPr>
        <p:txBody>
          <a:bodyPr wrap="square" lIns="0" tIns="0" rIns="0" bIns="0">
            <a:spAutoFit/>
          </a:bodyPr>
          <a:lstStyle/>
          <a:p>
            <a:pPr algn="l"/>
            <a:r>
              <a:rPr sz="1100" b="1">
                <a:solidFill>
                  <a:srgbClr val="1A1A1A"/>
                </a:solidFill>
                <a:latin typeface="Aptos"/>
              </a:rPr>
              <a:t>Wong, Weis, Burylov  </a:t>
            </a:r>
            <a:r>
              <a:rPr sz="1050">
                <a:solidFill>
                  <a:srgbClr val="1A1A1A"/>
                </a:solidFill>
                <a:latin typeface="Aptos"/>
              </a:rPr>
              <a:t>MISRA Safety-critical Guidelines (2021)</a:t>
            </a:r>
          </a:p>
          <a:p>
            <a:pPr algn="l"/>
            <a:r>
              <a:rPr sz="850">
                <a:solidFill>
                  <a:srgbClr val="8A8880"/>
                </a:solidFill>
                <a:latin typeface="Aptos"/>
              </a:rPr>
              <a:t>youtu.be/hVv7Nc3f4Jo</a:t>
            </a:r>
          </a:p>
        </p:txBody>
      </p:sp>
      <p:pic>
        <p:nvPicPr>
          <p:cNvPr id="27" name="Picture 26" descr="cpponsea.png"/>
          <p:cNvPicPr>
            <a:picLocks noChangeAspect="1"/>
          </p:cNvPicPr>
          <p:nvPr/>
        </p:nvPicPr>
        <p:blipFill>
          <a:blip r:embed="rId5"/>
          <a:stretch>
            <a:fillRect/>
          </a:stretch>
        </p:blipFill>
        <p:spPr>
          <a:xfrm>
            <a:off x="6652260" y="2627948"/>
            <a:ext cx="329184" cy="320040"/>
          </a:xfrm>
          <a:prstGeom prst="rect">
            <a:avLst/>
          </a:prstGeom>
        </p:spPr>
      </p:pic>
      <p:sp>
        <p:nvSpPr>
          <p:cNvPr id="28" name="TextBox 27"/>
          <p:cNvSpPr txBox="1"/>
          <p:nvPr/>
        </p:nvSpPr>
        <p:spPr>
          <a:xfrm>
            <a:off x="7109460" y="2605088"/>
            <a:ext cx="5029200" cy="457200"/>
          </a:xfrm>
          <a:prstGeom prst="rect">
            <a:avLst/>
          </a:prstGeom>
          <a:noFill/>
        </p:spPr>
        <p:txBody>
          <a:bodyPr wrap="square" lIns="0" tIns="0" rIns="0" bIns="0">
            <a:spAutoFit/>
          </a:bodyPr>
          <a:lstStyle/>
          <a:p>
            <a:pPr algn="l"/>
            <a:r>
              <a:rPr sz="1100" b="1">
                <a:solidFill>
                  <a:srgbClr val="1A1A1A"/>
                </a:solidFill>
                <a:latin typeface="Aptos"/>
              </a:rPr>
              <a:t>M. Godbolt  </a:t>
            </a:r>
            <a:r>
              <a:rPr sz="1050">
                <a:solidFill>
                  <a:srgbClr val="1A1A1A"/>
                </a:solidFill>
                <a:latin typeface="Aptos"/>
              </a:rPr>
              <a:t>Correct by Construction (2020)</a:t>
            </a:r>
          </a:p>
          <a:p>
            <a:pPr algn="l"/>
            <a:r>
              <a:rPr sz="850">
                <a:solidFill>
                  <a:srgbClr val="8A8880"/>
                </a:solidFill>
                <a:latin typeface="Aptos"/>
              </a:rPr>
              <a:t>youtu.be/nLSm3Haxz0I</a:t>
            </a:r>
          </a:p>
        </p:txBody>
      </p:sp>
      <p:pic>
        <p:nvPicPr>
          <p:cNvPr id="29" name="Picture 28" descr="cppcon.png"/>
          <p:cNvPicPr>
            <a:picLocks noChangeAspect="1"/>
          </p:cNvPicPr>
          <p:nvPr/>
        </p:nvPicPr>
        <p:blipFill>
          <a:blip r:embed="rId3"/>
          <a:stretch>
            <a:fillRect/>
          </a:stretch>
        </p:blipFill>
        <p:spPr>
          <a:xfrm>
            <a:off x="6672834" y="3080576"/>
            <a:ext cx="288036" cy="329184"/>
          </a:xfrm>
          <a:prstGeom prst="rect">
            <a:avLst/>
          </a:prstGeom>
        </p:spPr>
      </p:pic>
      <p:sp>
        <p:nvSpPr>
          <p:cNvPr id="30" name="TextBox 29"/>
          <p:cNvSpPr txBox="1"/>
          <p:nvPr/>
        </p:nvSpPr>
        <p:spPr>
          <a:xfrm>
            <a:off x="7109460" y="3062288"/>
            <a:ext cx="5029200" cy="457200"/>
          </a:xfrm>
          <a:prstGeom prst="rect">
            <a:avLst/>
          </a:prstGeom>
          <a:noFill/>
        </p:spPr>
        <p:txBody>
          <a:bodyPr wrap="square" lIns="0" tIns="0" rIns="0" bIns="0">
            <a:spAutoFit/>
          </a:bodyPr>
          <a:lstStyle/>
          <a:p>
            <a:pPr algn="l"/>
            <a:r>
              <a:rPr sz="1100" b="1">
                <a:solidFill>
                  <a:srgbClr val="1A1A1A"/>
                </a:solidFill>
                <a:latin typeface="Aptos"/>
              </a:rPr>
              <a:t>K. Serebryany  </a:t>
            </a:r>
            <a:r>
              <a:rPr sz="1050">
                <a:solidFill>
                  <a:srgbClr val="1A1A1A"/>
                </a:solidFill>
                <a:latin typeface="Aptos"/>
              </a:rPr>
              <a:t>Memory Tagging for C++ Memory Safety (2018)</a:t>
            </a:r>
          </a:p>
          <a:p>
            <a:pPr algn="l"/>
            <a:r>
              <a:rPr sz="850">
                <a:solidFill>
                  <a:srgbClr val="8A8880"/>
                </a:solidFill>
                <a:latin typeface="Aptos"/>
              </a:rPr>
              <a:t>youtu.be/lLEcbXidK2o</a:t>
            </a:r>
          </a:p>
        </p:txBody>
      </p:sp>
      <p:pic>
        <p:nvPicPr>
          <p:cNvPr id="31" name="Picture 30" descr="cppcon.png"/>
          <p:cNvPicPr>
            <a:picLocks noChangeAspect="1"/>
          </p:cNvPicPr>
          <p:nvPr/>
        </p:nvPicPr>
        <p:blipFill>
          <a:blip r:embed="rId3"/>
          <a:stretch>
            <a:fillRect/>
          </a:stretch>
        </p:blipFill>
        <p:spPr>
          <a:xfrm>
            <a:off x="6672834" y="3537776"/>
            <a:ext cx="288036" cy="329184"/>
          </a:xfrm>
          <a:prstGeom prst="rect">
            <a:avLst/>
          </a:prstGeom>
        </p:spPr>
      </p:pic>
      <p:sp>
        <p:nvSpPr>
          <p:cNvPr id="32" name="TextBox 31"/>
          <p:cNvSpPr txBox="1"/>
          <p:nvPr/>
        </p:nvSpPr>
        <p:spPr>
          <a:xfrm>
            <a:off x="7109460" y="3519488"/>
            <a:ext cx="5029200" cy="457200"/>
          </a:xfrm>
          <a:prstGeom prst="rect">
            <a:avLst/>
          </a:prstGeom>
          <a:noFill/>
        </p:spPr>
        <p:txBody>
          <a:bodyPr wrap="square" lIns="0" tIns="0" rIns="0" bIns="0">
            <a:spAutoFit/>
          </a:bodyPr>
          <a:lstStyle/>
          <a:p>
            <a:pPr algn="l"/>
            <a:r>
              <a:rPr sz="1100" b="1">
                <a:solidFill>
                  <a:srgbClr val="1A1A1A"/>
                </a:solidFill>
                <a:latin typeface="Aptos"/>
              </a:rPr>
              <a:t>Gehre &amp; Horvath  </a:t>
            </a:r>
            <a:r>
              <a:rPr sz="1050">
                <a:solidFill>
                  <a:srgbClr val="1A1A1A"/>
                </a:solidFill>
                <a:latin typeface="Aptos"/>
              </a:rPr>
              <a:t>Lifetime Safety Profile in Clang (2018)</a:t>
            </a:r>
          </a:p>
          <a:p>
            <a:pPr algn="l"/>
            <a:r>
              <a:rPr sz="850">
                <a:solidFill>
                  <a:srgbClr val="8A8880"/>
                </a:solidFill>
                <a:latin typeface="Aptos"/>
              </a:rPr>
              <a:t>youtu.be/sjnp3P9x5jA</a:t>
            </a:r>
          </a:p>
        </p:txBody>
      </p:sp>
      <p:pic>
        <p:nvPicPr>
          <p:cNvPr id="33" name="Picture 32" descr="cppcon.png"/>
          <p:cNvPicPr>
            <a:picLocks noChangeAspect="1"/>
          </p:cNvPicPr>
          <p:nvPr/>
        </p:nvPicPr>
        <p:blipFill>
          <a:blip r:embed="rId3"/>
          <a:stretch>
            <a:fillRect/>
          </a:stretch>
        </p:blipFill>
        <p:spPr>
          <a:xfrm>
            <a:off x="6672834" y="3994976"/>
            <a:ext cx="288036" cy="329184"/>
          </a:xfrm>
          <a:prstGeom prst="rect">
            <a:avLst/>
          </a:prstGeom>
        </p:spPr>
      </p:pic>
      <p:sp>
        <p:nvSpPr>
          <p:cNvPr id="34" name="TextBox 33"/>
          <p:cNvSpPr txBox="1"/>
          <p:nvPr/>
        </p:nvSpPr>
        <p:spPr>
          <a:xfrm>
            <a:off x="7109460" y="3976688"/>
            <a:ext cx="5029200" cy="457200"/>
          </a:xfrm>
          <a:prstGeom prst="rect">
            <a:avLst/>
          </a:prstGeom>
          <a:noFill/>
        </p:spPr>
        <p:txBody>
          <a:bodyPr wrap="square" lIns="0" tIns="0" rIns="0" bIns="0">
            <a:spAutoFit/>
          </a:bodyPr>
          <a:lstStyle/>
          <a:p>
            <a:pPr algn="l"/>
            <a:r>
              <a:rPr sz="1100" b="1">
                <a:solidFill>
                  <a:srgbClr val="1A1A1A"/>
                </a:solidFill>
                <a:latin typeface="Aptos"/>
              </a:rPr>
              <a:t>R. Ramey  </a:t>
            </a:r>
            <a:r>
              <a:rPr sz="1050">
                <a:solidFill>
                  <a:srgbClr val="1A1A1A"/>
                </a:solidFill>
                <a:latin typeface="Aptos"/>
              </a:rPr>
              <a:t>Safe Numerics (2018)</a:t>
            </a:r>
          </a:p>
          <a:p>
            <a:pPr algn="l"/>
            <a:r>
              <a:rPr sz="850">
                <a:solidFill>
                  <a:srgbClr val="8A8880"/>
                </a:solidFill>
                <a:latin typeface="Aptos"/>
              </a:rPr>
              <a:t>youtu.be/93Cjg42bGEw</a:t>
            </a:r>
          </a:p>
        </p:txBody>
      </p:sp>
      <p:pic>
        <p:nvPicPr>
          <p:cNvPr id="35" name="Picture 34" descr="cppcon.png"/>
          <p:cNvPicPr>
            <a:picLocks noChangeAspect="1"/>
          </p:cNvPicPr>
          <p:nvPr/>
        </p:nvPicPr>
        <p:blipFill>
          <a:blip r:embed="rId3"/>
          <a:stretch>
            <a:fillRect/>
          </a:stretch>
        </p:blipFill>
        <p:spPr>
          <a:xfrm>
            <a:off x="6672834" y="4452176"/>
            <a:ext cx="288036" cy="329184"/>
          </a:xfrm>
          <a:prstGeom prst="rect">
            <a:avLst/>
          </a:prstGeom>
        </p:spPr>
      </p:pic>
      <p:sp>
        <p:nvSpPr>
          <p:cNvPr id="36" name="TextBox 35"/>
          <p:cNvSpPr txBox="1"/>
          <p:nvPr/>
        </p:nvSpPr>
        <p:spPr>
          <a:xfrm>
            <a:off x="7109460" y="4433888"/>
            <a:ext cx="5029200" cy="457200"/>
          </a:xfrm>
          <a:prstGeom prst="rect">
            <a:avLst/>
          </a:prstGeom>
          <a:noFill/>
        </p:spPr>
        <p:txBody>
          <a:bodyPr wrap="square" lIns="0" tIns="0" rIns="0" bIns="0">
            <a:spAutoFit/>
          </a:bodyPr>
          <a:lstStyle/>
          <a:p>
            <a:pPr algn="l"/>
            <a:r>
              <a:rPr sz="1100" b="1">
                <a:solidFill>
                  <a:srgbClr val="1A1A1A"/>
                </a:solidFill>
                <a:latin typeface="Aptos"/>
              </a:rPr>
              <a:t>J. Regehr  </a:t>
            </a:r>
            <a:r>
              <a:rPr sz="1050">
                <a:solidFill>
                  <a:srgbClr val="1A1A1A"/>
                </a:solidFill>
                <a:latin typeface="Aptos"/>
              </a:rPr>
              <a:t>Undefined Behavior in 2017 (2 parts) (2017)</a:t>
            </a:r>
          </a:p>
          <a:p>
            <a:pPr algn="l"/>
            <a:r>
              <a:rPr sz="850">
                <a:solidFill>
                  <a:srgbClr val="8A8880"/>
                </a:solidFill>
                <a:latin typeface="Aptos"/>
              </a:rPr>
              <a:t>youtu.be/v1COuU2vU_w</a:t>
            </a:r>
          </a:p>
        </p:txBody>
      </p:sp>
      <p:pic>
        <p:nvPicPr>
          <p:cNvPr id="37" name="Picture 36" descr="cppcon.png"/>
          <p:cNvPicPr>
            <a:picLocks noChangeAspect="1"/>
          </p:cNvPicPr>
          <p:nvPr/>
        </p:nvPicPr>
        <p:blipFill>
          <a:blip r:embed="rId3"/>
          <a:stretch>
            <a:fillRect/>
          </a:stretch>
        </p:blipFill>
        <p:spPr>
          <a:xfrm>
            <a:off x="6672834" y="4909376"/>
            <a:ext cx="288036" cy="329184"/>
          </a:xfrm>
          <a:prstGeom prst="rect">
            <a:avLst/>
          </a:prstGeom>
        </p:spPr>
      </p:pic>
      <p:sp>
        <p:nvSpPr>
          <p:cNvPr id="38" name="TextBox 37"/>
          <p:cNvSpPr txBox="1"/>
          <p:nvPr/>
        </p:nvSpPr>
        <p:spPr>
          <a:xfrm>
            <a:off x="7109460" y="4891088"/>
            <a:ext cx="5029200" cy="457200"/>
          </a:xfrm>
          <a:prstGeom prst="rect">
            <a:avLst/>
          </a:prstGeom>
          <a:noFill/>
        </p:spPr>
        <p:txBody>
          <a:bodyPr wrap="square" lIns="0" tIns="0" rIns="0" bIns="0">
            <a:spAutoFit/>
          </a:bodyPr>
          <a:lstStyle/>
          <a:p>
            <a:pPr algn="l"/>
            <a:r>
              <a:rPr sz="1100" b="1">
                <a:solidFill>
                  <a:srgbClr val="1A1A1A"/>
                </a:solidFill>
                <a:latin typeface="Aptos"/>
              </a:rPr>
              <a:t>B. Stroustrup  </a:t>
            </a:r>
            <a:r>
              <a:rPr sz="1050">
                <a:solidFill>
                  <a:srgbClr val="1A1A1A"/>
                </a:solidFill>
                <a:latin typeface="Aptos"/>
              </a:rPr>
              <a:t>Writing Good C++14 (keynote) (2015)</a:t>
            </a:r>
          </a:p>
          <a:p>
            <a:pPr algn="l"/>
            <a:r>
              <a:rPr sz="850">
                <a:solidFill>
                  <a:srgbClr val="8A8880"/>
                </a:solidFill>
                <a:latin typeface="Aptos"/>
              </a:rPr>
              <a:t>youtu.be/1OEu9C51K2A</a:t>
            </a:r>
          </a:p>
        </p:txBody>
      </p:sp>
      <p:pic>
        <p:nvPicPr>
          <p:cNvPr id="39" name="Picture 38" descr="cppcon.png"/>
          <p:cNvPicPr>
            <a:picLocks noChangeAspect="1"/>
          </p:cNvPicPr>
          <p:nvPr/>
        </p:nvPicPr>
        <p:blipFill>
          <a:blip r:embed="rId3"/>
          <a:stretch>
            <a:fillRect/>
          </a:stretch>
        </p:blipFill>
        <p:spPr>
          <a:xfrm>
            <a:off x="6672834" y="5366576"/>
            <a:ext cx="288036" cy="329184"/>
          </a:xfrm>
          <a:prstGeom prst="rect">
            <a:avLst/>
          </a:prstGeom>
        </p:spPr>
      </p:pic>
      <p:sp>
        <p:nvSpPr>
          <p:cNvPr id="40" name="TextBox 39"/>
          <p:cNvSpPr txBox="1"/>
          <p:nvPr/>
        </p:nvSpPr>
        <p:spPr>
          <a:xfrm>
            <a:off x="7109460" y="5348288"/>
            <a:ext cx="5029200" cy="457200"/>
          </a:xfrm>
          <a:prstGeom prst="rect">
            <a:avLst/>
          </a:prstGeom>
          <a:noFill/>
        </p:spPr>
        <p:txBody>
          <a:bodyPr wrap="square" lIns="0" tIns="0" rIns="0" bIns="0">
            <a:spAutoFit/>
          </a:bodyPr>
          <a:lstStyle/>
          <a:p>
            <a:pPr algn="l"/>
            <a:r>
              <a:rPr sz="1100" b="1">
                <a:solidFill>
                  <a:srgbClr val="1A1A1A"/>
                </a:solidFill>
                <a:latin typeface="Aptos"/>
              </a:rPr>
              <a:t>H. Sutter  </a:t>
            </a:r>
            <a:r>
              <a:rPr sz="1050">
                <a:solidFill>
                  <a:srgbClr val="1A1A1A"/>
                </a:solidFill>
                <a:latin typeface="Aptos"/>
              </a:rPr>
              <a:t>Writing Good C++14… By Default (2015)</a:t>
            </a:r>
          </a:p>
          <a:p>
            <a:pPr algn="l"/>
            <a:r>
              <a:rPr sz="850">
                <a:solidFill>
                  <a:srgbClr val="8A8880"/>
                </a:solidFill>
                <a:latin typeface="Aptos"/>
              </a:rPr>
              <a:t>youtu.be/hEx5DNLWGgA</a:t>
            </a:r>
          </a:p>
        </p:txBody>
      </p:sp>
      <p:pic>
        <p:nvPicPr>
          <p:cNvPr id="41" name="Picture 40" descr="cppcon.png"/>
          <p:cNvPicPr>
            <a:picLocks noChangeAspect="1"/>
          </p:cNvPicPr>
          <p:nvPr/>
        </p:nvPicPr>
        <p:blipFill>
          <a:blip r:embed="rId3"/>
          <a:stretch>
            <a:fillRect/>
          </a:stretch>
        </p:blipFill>
        <p:spPr>
          <a:xfrm>
            <a:off x="6672834" y="5823776"/>
            <a:ext cx="288036" cy="329184"/>
          </a:xfrm>
          <a:prstGeom prst="rect">
            <a:avLst/>
          </a:prstGeom>
        </p:spPr>
      </p:pic>
      <p:sp>
        <p:nvSpPr>
          <p:cNvPr id="42" name="TextBox 41"/>
          <p:cNvSpPr txBox="1"/>
          <p:nvPr/>
        </p:nvSpPr>
        <p:spPr>
          <a:xfrm>
            <a:off x="7109460" y="5805488"/>
            <a:ext cx="5029200" cy="457200"/>
          </a:xfrm>
          <a:prstGeom prst="rect">
            <a:avLst/>
          </a:prstGeom>
          <a:noFill/>
        </p:spPr>
        <p:txBody>
          <a:bodyPr wrap="square" lIns="0" tIns="0" rIns="0" bIns="0">
            <a:spAutoFit/>
          </a:bodyPr>
          <a:lstStyle/>
          <a:p>
            <a:pPr algn="l"/>
            <a:r>
              <a:rPr sz="1100" b="1">
                <a:solidFill>
                  <a:srgbClr val="1A1A1A"/>
                </a:solidFill>
                <a:latin typeface="Aptos"/>
              </a:rPr>
              <a:t>K. Serebryany  </a:t>
            </a:r>
            <a:r>
              <a:rPr sz="1050">
                <a:solidFill>
                  <a:srgbClr val="1A1A1A"/>
                </a:solidFill>
                <a:latin typeface="Aptos"/>
              </a:rPr>
              <a:t>Beyond Sanitizers: Fuzzing &amp; Hardening (2015)</a:t>
            </a:r>
          </a:p>
          <a:p>
            <a:pPr algn="l"/>
            <a:r>
              <a:rPr sz="850">
                <a:solidFill>
                  <a:srgbClr val="8A8880"/>
                </a:solidFill>
                <a:latin typeface="Aptos"/>
              </a:rPr>
              <a:t>youtu.be/qTkYDA0En6U</a:t>
            </a:r>
          </a:p>
        </p:txBody>
      </p:sp>
      <p:sp>
        <p:nvSpPr>
          <p:cNvPr id="44" name="Title 43">
            <a:extLst>
              <a:ext uri="{FF2B5EF4-FFF2-40B4-BE49-F238E27FC236}">
                <a16:creationId xmlns:a16="http://schemas.microsoft.com/office/drawing/2014/main" id="{42B2957F-2A90-52D9-1D2B-F856C4D0A907}"/>
              </a:ext>
            </a:extLst>
          </p:cNvPr>
          <p:cNvSpPr>
            <a:spLocks noGrp="1"/>
          </p:cNvSpPr>
          <p:nvPr>
            <p:ph type="title"/>
          </p:nvPr>
        </p:nvSpPr>
        <p:spPr/>
        <p:txBody>
          <a:bodyPr/>
          <a:lstStyle/>
          <a:p>
            <a:r>
              <a:rPr lang="en-US" dirty="0"/>
              <a:t>A decade of C++ safety talks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Why another C++ safety talk</a:t>
            </a:r>
          </a:p>
        </p:txBody>
      </p:sp>
      <p:sp>
        <p:nvSpPr>
          <p:cNvPr id="3" name="Rounded Rectangle 2"/>
          <p:cNvSpPr/>
          <p:nvPr/>
        </p:nvSpPr>
        <p:spPr>
          <a:xfrm>
            <a:off x="838200" y="1700000"/>
            <a:ext cx="3352800" cy="2260700"/>
          </a:xfrm>
          <a:prstGeom prst="roundRect">
            <a:avLst>
              <a:gd name="adj" fmla="val 6000"/>
            </a:avLst>
          </a:prstGeom>
          <a:solidFill>
            <a:srgbClr val="FFFFFF"/>
          </a:solidFill>
          <a:ln w="9525">
            <a:solidFill>
              <a:srgbClr val="E6E0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8200" y="1920000"/>
            <a:ext cx="2832800" cy="738664"/>
          </a:xfrm>
          <a:prstGeom prst="rect">
            <a:avLst/>
          </a:prstGeom>
          <a:noFill/>
        </p:spPr>
        <p:txBody>
          <a:bodyPr wrap="square" lIns="0" tIns="0" rIns="0" bIns="0">
            <a:spAutoFit/>
          </a:bodyPr>
          <a:lstStyle/>
          <a:p>
            <a:r>
              <a:rPr sz="4800" b="1" dirty="0">
                <a:solidFill>
                  <a:srgbClr val="156082"/>
                </a:solidFill>
                <a:latin typeface="Aptos"/>
              </a:rPr>
              <a:t>Top 10</a:t>
            </a:r>
          </a:p>
        </p:txBody>
      </p:sp>
      <p:sp>
        <p:nvSpPr>
          <p:cNvPr id="5" name="TextBox 4"/>
          <p:cNvSpPr txBox="1"/>
          <p:nvPr/>
        </p:nvSpPr>
        <p:spPr>
          <a:xfrm>
            <a:off x="1098200" y="2860000"/>
            <a:ext cx="2832800" cy="840700"/>
          </a:xfrm>
          <a:prstGeom prst="rect">
            <a:avLst/>
          </a:prstGeom>
          <a:noFill/>
        </p:spPr>
        <p:txBody>
          <a:bodyPr wrap="square" lIns="0" tIns="0" rIns="0" bIns="0">
            <a:spAutoFit/>
          </a:bodyPr>
          <a:lstStyle/>
          <a:p>
            <a:r>
              <a:rPr sz="1500">
                <a:solidFill>
                  <a:srgbClr val="595959"/>
                </a:solidFill>
                <a:latin typeface="Aptos"/>
              </a:rPr>
              <a:t>Rust in TIOBE, and in Linux, Windows and Android</a:t>
            </a:r>
          </a:p>
        </p:txBody>
      </p:sp>
      <p:sp>
        <p:nvSpPr>
          <p:cNvPr id="6" name="Rounded Rectangle 5"/>
          <p:cNvSpPr/>
          <p:nvPr/>
        </p:nvSpPr>
        <p:spPr>
          <a:xfrm>
            <a:off x="4419600" y="1700000"/>
            <a:ext cx="3352800" cy="2260700"/>
          </a:xfrm>
          <a:prstGeom prst="roundRect">
            <a:avLst>
              <a:gd name="adj" fmla="val 6000"/>
            </a:avLst>
          </a:prstGeom>
          <a:solidFill>
            <a:srgbClr val="FFFFFF"/>
          </a:solidFill>
          <a:ln w="9525">
            <a:solidFill>
              <a:srgbClr val="E6E0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79600" y="1920000"/>
            <a:ext cx="2832800" cy="738664"/>
          </a:xfrm>
          <a:prstGeom prst="rect">
            <a:avLst/>
          </a:prstGeom>
          <a:noFill/>
        </p:spPr>
        <p:txBody>
          <a:bodyPr wrap="square" lIns="0" tIns="0" rIns="0" bIns="0">
            <a:spAutoFit/>
          </a:bodyPr>
          <a:lstStyle/>
          <a:p>
            <a:r>
              <a:rPr sz="4800" b="1" dirty="0">
                <a:solidFill>
                  <a:srgbClr val="156082"/>
                </a:solidFill>
                <a:latin typeface="Aptos"/>
              </a:rPr>
              <a:t>Nov 2022</a:t>
            </a:r>
          </a:p>
        </p:txBody>
      </p:sp>
      <p:sp>
        <p:nvSpPr>
          <p:cNvPr id="8" name="TextBox 7"/>
          <p:cNvSpPr txBox="1"/>
          <p:nvPr/>
        </p:nvSpPr>
        <p:spPr>
          <a:xfrm>
            <a:off x="4679600" y="2860000"/>
            <a:ext cx="2832800" cy="840700"/>
          </a:xfrm>
          <a:prstGeom prst="rect">
            <a:avLst/>
          </a:prstGeom>
          <a:noFill/>
        </p:spPr>
        <p:txBody>
          <a:bodyPr wrap="square" lIns="0" tIns="0" rIns="0" bIns="0">
            <a:spAutoFit/>
          </a:bodyPr>
          <a:lstStyle/>
          <a:p>
            <a:r>
              <a:rPr sz="1500">
                <a:solidFill>
                  <a:srgbClr val="595959"/>
                </a:solidFill>
                <a:latin typeface="Aptos"/>
              </a:rPr>
              <a:t>NSA tells the industry to leave C and C++</a:t>
            </a:r>
          </a:p>
        </p:txBody>
      </p:sp>
      <p:sp>
        <p:nvSpPr>
          <p:cNvPr id="9" name="Rounded Rectangle 8"/>
          <p:cNvSpPr/>
          <p:nvPr/>
        </p:nvSpPr>
        <p:spPr>
          <a:xfrm>
            <a:off x="8001000" y="1700000"/>
            <a:ext cx="3352800" cy="2260700"/>
          </a:xfrm>
          <a:prstGeom prst="roundRect">
            <a:avLst>
              <a:gd name="adj" fmla="val 6000"/>
            </a:avLst>
          </a:prstGeom>
          <a:solidFill>
            <a:srgbClr val="FFFFFF"/>
          </a:solidFill>
          <a:ln w="9525">
            <a:solidFill>
              <a:srgbClr val="E6E0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61000" y="1920000"/>
            <a:ext cx="2832800" cy="738664"/>
          </a:xfrm>
          <a:prstGeom prst="rect">
            <a:avLst/>
          </a:prstGeom>
          <a:noFill/>
        </p:spPr>
        <p:txBody>
          <a:bodyPr wrap="square" lIns="0" tIns="0" rIns="0" bIns="0">
            <a:spAutoFit/>
          </a:bodyPr>
          <a:lstStyle/>
          <a:p>
            <a:r>
              <a:rPr sz="4800" b="1" dirty="0">
                <a:solidFill>
                  <a:srgbClr val="156082"/>
                </a:solidFill>
                <a:latin typeface="Aptos"/>
              </a:rPr>
              <a:t>5.6%</a:t>
            </a:r>
          </a:p>
        </p:txBody>
      </p:sp>
      <p:sp>
        <p:nvSpPr>
          <p:cNvPr id="11" name="TextBox 10"/>
          <p:cNvSpPr txBox="1"/>
          <p:nvPr/>
        </p:nvSpPr>
        <p:spPr>
          <a:xfrm>
            <a:off x="8261000" y="2860000"/>
            <a:ext cx="2832800" cy="840700"/>
          </a:xfrm>
          <a:prstGeom prst="rect">
            <a:avLst/>
          </a:prstGeom>
          <a:noFill/>
        </p:spPr>
        <p:txBody>
          <a:bodyPr wrap="square" lIns="0" tIns="0" rIns="0" bIns="0">
            <a:spAutoFit/>
          </a:bodyPr>
          <a:lstStyle/>
          <a:p>
            <a:r>
              <a:rPr sz="1500">
                <a:solidFill>
                  <a:srgbClr val="595959"/>
                </a:solidFill>
                <a:latin typeface="Aptos"/>
              </a:rPr>
              <a:t>of four standards worth of new wording is about safety. 11.1% of features</a:t>
            </a:r>
          </a:p>
        </p:txBody>
      </p:sp>
      <p:sp>
        <p:nvSpPr>
          <p:cNvPr id="12" name="Rounded Rectangle 11"/>
          <p:cNvSpPr/>
          <p:nvPr/>
        </p:nvSpPr>
        <p:spPr>
          <a:xfrm>
            <a:off x="838200" y="4189300"/>
            <a:ext cx="3352800" cy="2260700"/>
          </a:xfrm>
          <a:prstGeom prst="roundRect">
            <a:avLst>
              <a:gd name="adj" fmla="val 6000"/>
            </a:avLst>
          </a:prstGeom>
          <a:solidFill>
            <a:srgbClr val="FFFFFF"/>
          </a:solidFill>
          <a:ln w="9525">
            <a:solidFill>
              <a:srgbClr val="E6E0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8200" y="4409300"/>
            <a:ext cx="2832800" cy="738664"/>
          </a:xfrm>
          <a:prstGeom prst="rect">
            <a:avLst/>
          </a:prstGeom>
          <a:noFill/>
        </p:spPr>
        <p:txBody>
          <a:bodyPr wrap="square" lIns="0" tIns="0" rIns="0" bIns="0">
            <a:spAutoFit/>
          </a:bodyPr>
          <a:lstStyle/>
          <a:p>
            <a:r>
              <a:rPr sz="4800" b="1" dirty="0">
                <a:solidFill>
                  <a:srgbClr val="156082"/>
                </a:solidFill>
                <a:latin typeface="Aptos"/>
              </a:rPr>
              <a:t>AI</a:t>
            </a:r>
          </a:p>
        </p:txBody>
      </p:sp>
      <p:sp>
        <p:nvSpPr>
          <p:cNvPr id="14" name="TextBox 13"/>
          <p:cNvSpPr txBox="1"/>
          <p:nvPr/>
        </p:nvSpPr>
        <p:spPr>
          <a:xfrm>
            <a:off x="1098200" y="5349300"/>
            <a:ext cx="2832800" cy="461665"/>
          </a:xfrm>
          <a:prstGeom prst="rect">
            <a:avLst/>
          </a:prstGeom>
          <a:noFill/>
        </p:spPr>
        <p:txBody>
          <a:bodyPr wrap="square" lIns="0" tIns="0" rIns="0" bIns="0">
            <a:spAutoFit/>
          </a:bodyPr>
          <a:lstStyle/>
          <a:p>
            <a:r>
              <a:rPr sz="1500" dirty="0">
                <a:solidFill>
                  <a:srgbClr val="595959"/>
                </a:solidFill>
                <a:latin typeface="Aptos"/>
              </a:rPr>
              <a:t>ChatGPT, Anthropic, Opus 5, Fable 5, Astra</a:t>
            </a:r>
            <a:r>
              <a:rPr lang="en-US" sz="1500" dirty="0">
                <a:solidFill>
                  <a:srgbClr val="595959"/>
                </a:solidFill>
                <a:latin typeface="Aptos"/>
              </a:rPr>
              <a:t>.</a:t>
            </a:r>
            <a:endParaRPr sz="1500" dirty="0">
              <a:solidFill>
                <a:srgbClr val="595959"/>
              </a:solidFill>
              <a:latin typeface="Aptos"/>
            </a:endParaRPr>
          </a:p>
        </p:txBody>
      </p:sp>
      <p:sp>
        <p:nvSpPr>
          <p:cNvPr id="15" name="Rounded Rectangle 14"/>
          <p:cNvSpPr/>
          <p:nvPr/>
        </p:nvSpPr>
        <p:spPr>
          <a:xfrm>
            <a:off x="4419600" y="4189300"/>
            <a:ext cx="3352800" cy="2260700"/>
          </a:xfrm>
          <a:prstGeom prst="roundRect">
            <a:avLst>
              <a:gd name="adj" fmla="val 6000"/>
            </a:avLst>
          </a:prstGeom>
          <a:solidFill>
            <a:srgbClr val="FFFFFF"/>
          </a:solidFill>
          <a:ln w="9525">
            <a:solidFill>
              <a:srgbClr val="E6E0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79600" y="4409300"/>
            <a:ext cx="2832800" cy="738664"/>
          </a:xfrm>
          <a:prstGeom prst="rect">
            <a:avLst/>
          </a:prstGeom>
          <a:noFill/>
        </p:spPr>
        <p:txBody>
          <a:bodyPr wrap="square" lIns="0" tIns="0" rIns="0" bIns="0">
            <a:spAutoFit/>
          </a:bodyPr>
          <a:lstStyle/>
          <a:p>
            <a:r>
              <a:rPr sz="4800" b="1" dirty="0">
                <a:solidFill>
                  <a:srgbClr val="156082"/>
                </a:solidFill>
                <a:latin typeface="Aptos"/>
              </a:rPr>
              <a:t>2×</a:t>
            </a:r>
          </a:p>
        </p:txBody>
      </p:sp>
      <p:sp>
        <p:nvSpPr>
          <p:cNvPr id="17" name="TextBox 16"/>
          <p:cNvSpPr txBox="1"/>
          <p:nvPr/>
        </p:nvSpPr>
        <p:spPr>
          <a:xfrm>
            <a:off x="4679600" y="5349300"/>
            <a:ext cx="2832800" cy="840700"/>
          </a:xfrm>
          <a:prstGeom prst="rect">
            <a:avLst/>
          </a:prstGeom>
          <a:noFill/>
        </p:spPr>
        <p:txBody>
          <a:bodyPr wrap="square" lIns="0" tIns="0" rIns="0" bIns="0">
            <a:spAutoFit/>
          </a:bodyPr>
          <a:lstStyle/>
          <a:p>
            <a:r>
              <a:rPr sz="1500">
                <a:solidFill>
                  <a:srgbClr val="595959"/>
                </a:solidFill>
                <a:latin typeface="Aptos"/>
              </a:rPr>
              <a:t>CVEs per year, 25K in 2022 to 48K in 2025. A record every year since 2017</a:t>
            </a:r>
          </a:p>
        </p:txBody>
      </p:sp>
      <p:sp>
        <p:nvSpPr>
          <p:cNvPr id="18" name="Rounded Rectangle 17"/>
          <p:cNvSpPr/>
          <p:nvPr/>
        </p:nvSpPr>
        <p:spPr>
          <a:xfrm>
            <a:off x="8001000" y="4189300"/>
            <a:ext cx="3352800" cy="2260700"/>
          </a:xfrm>
          <a:prstGeom prst="roundRect">
            <a:avLst>
              <a:gd name="adj" fmla="val 6000"/>
            </a:avLst>
          </a:prstGeom>
          <a:solidFill>
            <a:srgbClr val="0E2841"/>
          </a:solidFill>
          <a:ln w="9525">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61000" y="4409300"/>
            <a:ext cx="2832800" cy="738664"/>
          </a:xfrm>
          <a:prstGeom prst="rect">
            <a:avLst/>
          </a:prstGeom>
          <a:noFill/>
        </p:spPr>
        <p:txBody>
          <a:bodyPr wrap="square" lIns="0" tIns="0" rIns="0" bIns="0">
            <a:spAutoFit/>
          </a:bodyPr>
          <a:lstStyle/>
          <a:p>
            <a:r>
              <a:rPr sz="4800" b="1" dirty="0">
                <a:solidFill>
                  <a:srgbClr val="FFFFFF"/>
                </a:solidFill>
                <a:latin typeface="Aptos"/>
              </a:rPr>
              <a:t>+73%</a:t>
            </a:r>
          </a:p>
        </p:txBody>
      </p:sp>
      <p:sp>
        <p:nvSpPr>
          <p:cNvPr id="20" name="TextBox 19"/>
          <p:cNvSpPr txBox="1"/>
          <p:nvPr/>
        </p:nvSpPr>
        <p:spPr>
          <a:xfrm>
            <a:off x="8261000" y="5349300"/>
            <a:ext cx="2832800" cy="840700"/>
          </a:xfrm>
          <a:prstGeom prst="rect">
            <a:avLst/>
          </a:prstGeom>
          <a:noFill/>
        </p:spPr>
        <p:txBody>
          <a:bodyPr wrap="square" lIns="0" tIns="0" rIns="0" bIns="0">
            <a:spAutoFit/>
          </a:bodyPr>
          <a:lstStyle/>
          <a:p>
            <a:r>
              <a:rPr sz="1500">
                <a:solidFill>
                  <a:srgbClr val="B8C2D1"/>
                </a:solidFill>
                <a:latin typeface="Aptos"/>
              </a:rPr>
              <a:t>C++ developers, 9.4M to 16.3M, 2022 to 2025</a:t>
            </a:r>
          </a:p>
        </p:txBody>
      </p:sp>
    </p:spTree>
    <p:extLst>
      <p:ext uri="{BB962C8B-B14F-4D97-AF65-F5344CB8AC3E}">
        <p14:creationId xmlns:p14="http://schemas.microsoft.com/office/powerpoint/2010/main" val="2959817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D02EE-3438-0B68-5A7D-7FE3F2CB5EB1}"/>
              </a:ext>
            </a:extLst>
          </p:cNvPr>
          <p:cNvSpPr>
            <a:spLocks noGrp="1"/>
          </p:cNvSpPr>
          <p:nvPr>
            <p:ph type="title"/>
          </p:nvPr>
        </p:nvSpPr>
        <p:spPr/>
        <p:txBody>
          <a:bodyPr/>
          <a:lstStyle/>
          <a:p>
            <a:r>
              <a:rPr lang="en-US" dirty="0"/>
              <a:t>Where are we</a:t>
            </a:r>
          </a:p>
        </p:txBody>
      </p:sp>
      <p:sp>
        <p:nvSpPr>
          <p:cNvPr id="3" name="Text Placeholder 2">
            <a:extLst>
              <a:ext uri="{FF2B5EF4-FFF2-40B4-BE49-F238E27FC236}">
                <a16:creationId xmlns:a16="http://schemas.microsoft.com/office/drawing/2014/main" id="{CBB0E484-FA15-5A6E-4FD9-9BDD1453B614}"/>
              </a:ext>
            </a:extLst>
          </p:cNvPr>
          <p:cNvSpPr>
            <a:spLocks noGrp="1"/>
          </p:cNvSpPr>
          <p:nvPr>
            <p:ph type="body" idx="1"/>
          </p:nvPr>
        </p:nvSpPr>
        <p:spPr/>
        <p:txBody>
          <a:bodyPr/>
          <a:lstStyle/>
          <a:p>
            <a:endParaRPr lang="en-US"/>
          </a:p>
        </p:txBody>
      </p:sp>
      <p:sp>
        <p:nvSpPr>
          <p:cNvPr id="5" name="Title 1">
            <a:extLst>
              <a:ext uri="{FF2B5EF4-FFF2-40B4-BE49-F238E27FC236}">
                <a16:creationId xmlns:a16="http://schemas.microsoft.com/office/drawing/2014/main" id="{0871F06A-D015-CD41-7C12-1135C81D52BF}"/>
              </a:ext>
            </a:extLst>
          </p:cNvPr>
          <p:cNvSpPr txBox="1">
            <a:spLocks/>
          </p:cNvSpPr>
          <p:nvPr/>
        </p:nvSpPr>
        <p:spPr>
          <a:xfrm>
            <a:off x="831850" y="768350"/>
            <a:ext cx="10515600" cy="2852737"/>
          </a:xfrm>
          <a:prstGeom prst="rect">
            <a:avLst/>
          </a:prstGeom>
          <a:noFill/>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chemeClr val="tx1"/>
                </a:solidFill>
                <a:latin typeface="+mj-lt"/>
                <a:ea typeface="+mj-ea"/>
                <a:cs typeface="+mj-cs"/>
              </a:defRPr>
            </a:lvl1pPr>
          </a:lstStyle>
          <a:p>
            <a:endParaRPr lang="en-US" sz="4400" dirty="0">
              <a:solidFill>
                <a:srgbClr val="7B4BE4"/>
              </a:solidFill>
            </a:endParaRPr>
          </a:p>
        </p:txBody>
      </p:sp>
      <p:sp>
        <p:nvSpPr>
          <p:cNvPr id="10" name="TextBox 9">
            <a:extLst>
              <a:ext uri="{FF2B5EF4-FFF2-40B4-BE49-F238E27FC236}">
                <a16:creationId xmlns:a16="http://schemas.microsoft.com/office/drawing/2014/main" id="{EBF4215B-3BBE-A692-45EF-915E2E70C1D8}"/>
              </a:ext>
            </a:extLst>
          </p:cNvPr>
          <p:cNvSpPr txBox="1"/>
          <p:nvPr/>
        </p:nvSpPr>
        <p:spPr>
          <a:xfrm>
            <a:off x="831850" y="2906078"/>
            <a:ext cx="1752600" cy="707886"/>
          </a:xfrm>
          <a:prstGeom prst="rect">
            <a:avLst/>
          </a:prstGeom>
          <a:noFill/>
        </p:spPr>
        <p:txBody>
          <a:bodyPr wrap="square" rtlCol="0">
            <a:spAutoFit/>
          </a:bodyPr>
          <a:lstStyle/>
          <a:p>
            <a:r>
              <a:rPr lang="en-US" sz="4000" dirty="0">
                <a:solidFill>
                  <a:schemeClr val="bg1">
                    <a:lumMod val="65000"/>
                  </a:schemeClr>
                </a:solidFill>
              </a:rPr>
              <a:t>Part II</a:t>
            </a:r>
          </a:p>
        </p:txBody>
      </p:sp>
    </p:spTree>
    <p:extLst>
      <p:ext uri="{BB962C8B-B14F-4D97-AF65-F5344CB8AC3E}">
        <p14:creationId xmlns:p14="http://schemas.microsoft.com/office/powerpoint/2010/main" val="847046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C3774-57AE-7753-F893-E36E4EC45830}"/>
              </a:ext>
            </a:extLst>
          </p:cNvPr>
          <p:cNvSpPr>
            <a:spLocks noGrp="1"/>
          </p:cNvSpPr>
          <p:nvPr>
            <p:ph type="title"/>
          </p:nvPr>
        </p:nvSpPr>
        <p:spPr/>
        <p:txBody>
          <a:bodyPr/>
          <a:lstStyle/>
          <a:p>
            <a:r>
              <a:rPr lang="en-US" dirty="0"/>
              <a:t>Software bugs have real consequences</a:t>
            </a:r>
          </a:p>
        </p:txBody>
      </p:sp>
      <p:sp>
        <p:nvSpPr>
          <p:cNvPr id="100" name="Card 100"/>
          <p:cNvSpPr/>
          <p:nvPr/>
        </p:nvSpPr>
        <p:spPr>
          <a:xfrm>
            <a:off x="838200" y="150000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01" name="Picture 101"/>
          <p:cNvPicPr>
            <a:picLocks noChangeAspect="1"/>
          </p:cNvPicPr>
          <p:nvPr/>
        </p:nvPicPr>
        <p:blipFill>
          <a:blip r:embed="rId3"/>
          <a:srcRect t="21990" b="40839"/>
          <a:stretch>
            <a:fillRect/>
          </a:stretch>
        </p:blipFill>
        <p:spPr>
          <a:xfrm>
            <a:off x="929640" y="1591440"/>
            <a:ext cx="2308860" cy="1150000"/>
          </a:xfrm>
          <a:prstGeom prst="roundRect">
            <a:avLst>
              <a:gd name="adj" fmla="val 4000"/>
            </a:avLst>
          </a:prstGeom>
        </p:spPr>
      </p:pic>
      <p:sp>
        <p:nvSpPr>
          <p:cNvPr id="102" name="Text 102"/>
          <p:cNvSpPr txBox="1"/>
          <p:nvPr/>
        </p:nvSpPr>
        <p:spPr>
          <a:xfrm>
            <a:off x="975360" y="283144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Therac-25</a:t>
            </a:r>
          </a:p>
          <a:p>
            <a:pPr>
              <a:spcBef>
                <a:spcPts val="100"/>
              </a:spcBef>
            </a:pPr>
            <a:r>
              <a:rPr lang="en-US" sz="1200" b="1" dirty="0">
                <a:solidFill>
                  <a:srgbClr val="156082"/>
                </a:solidFill>
                <a:latin typeface="Aptos" panose="020B0004020202020204" pitchFamily="34" charset="0"/>
              </a:rPr>
              <a:t>1985-87</a:t>
            </a:r>
          </a:p>
          <a:p>
            <a:pPr>
              <a:spcBef>
                <a:spcPts val="300"/>
              </a:spcBef>
            </a:pPr>
            <a:r>
              <a:rPr lang="en-US" sz="1050" b="0" dirty="0">
                <a:solidFill>
                  <a:srgbClr val="595959"/>
                </a:solidFill>
                <a:latin typeface="Aptos" panose="020B0004020202020204" pitchFamily="34" charset="0"/>
              </a:rPr>
              <a:t>Race condition and 8-bit counter rollover, six radiation overdoses, three deaths</a:t>
            </a:r>
          </a:p>
        </p:txBody>
      </p:sp>
      <p:sp>
        <p:nvSpPr>
          <p:cNvPr id="103" name="Card 103"/>
          <p:cNvSpPr/>
          <p:nvPr/>
        </p:nvSpPr>
        <p:spPr>
          <a:xfrm>
            <a:off x="3512820" y="150000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04" name="Picture 104"/>
          <p:cNvPicPr>
            <a:picLocks noChangeAspect="1"/>
          </p:cNvPicPr>
          <p:nvPr/>
        </p:nvPicPr>
        <p:blipFill>
          <a:blip r:embed="rId4"/>
          <a:srcRect t="16116" b="16116"/>
          <a:stretch>
            <a:fillRect/>
          </a:stretch>
        </p:blipFill>
        <p:spPr>
          <a:xfrm>
            <a:off x="3604260" y="1591440"/>
            <a:ext cx="2308860" cy="1150000"/>
          </a:xfrm>
          <a:prstGeom prst="roundRect">
            <a:avLst>
              <a:gd name="adj" fmla="val 4000"/>
            </a:avLst>
          </a:prstGeom>
        </p:spPr>
      </p:pic>
      <p:sp>
        <p:nvSpPr>
          <p:cNvPr id="105" name="Text 105"/>
          <p:cNvSpPr txBox="1"/>
          <p:nvPr/>
        </p:nvSpPr>
        <p:spPr>
          <a:xfrm>
            <a:off x="3649980" y="283144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Patriot</a:t>
            </a:r>
          </a:p>
          <a:p>
            <a:pPr>
              <a:spcBef>
                <a:spcPts val="100"/>
              </a:spcBef>
            </a:pPr>
            <a:r>
              <a:rPr lang="en-US" sz="1200" b="1" dirty="0">
                <a:solidFill>
                  <a:srgbClr val="156082"/>
                </a:solidFill>
                <a:latin typeface="Aptos" panose="020B0004020202020204" pitchFamily="34" charset="0"/>
              </a:rPr>
              <a:t>1991</a:t>
            </a:r>
          </a:p>
          <a:p>
            <a:pPr>
              <a:spcBef>
                <a:spcPts val="300"/>
              </a:spcBef>
            </a:pPr>
            <a:r>
              <a:rPr lang="en-US" sz="1050" b="0" dirty="0">
                <a:solidFill>
                  <a:srgbClr val="595959"/>
                </a:solidFill>
                <a:latin typeface="Aptos" panose="020B0004020202020204" pitchFamily="34" charset="0"/>
              </a:rPr>
              <a:t>Clock drift from 24-bit fixed-point time after 100 hours, missed a Scud, 28 soldiers killed</a:t>
            </a:r>
          </a:p>
        </p:txBody>
      </p:sp>
      <p:sp>
        <p:nvSpPr>
          <p:cNvPr id="106" name="Card 106"/>
          <p:cNvSpPr/>
          <p:nvPr/>
        </p:nvSpPr>
        <p:spPr>
          <a:xfrm>
            <a:off x="6187440" y="150000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07" name="Picture 107"/>
          <p:cNvPicPr>
            <a:picLocks noChangeAspect="1"/>
          </p:cNvPicPr>
          <p:nvPr/>
        </p:nvPicPr>
        <p:blipFill>
          <a:blip r:embed="rId5"/>
          <a:srcRect t="10089" b="10089"/>
          <a:stretch>
            <a:fillRect/>
          </a:stretch>
        </p:blipFill>
        <p:spPr>
          <a:xfrm>
            <a:off x="6278880" y="1591440"/>
            <a:ext cx="2308860" cy="1150000"/>
          </a:xfrm>
          <a:prstGeom prst="roundRect">
            <a:avLst>
              <a:gd name="adj" fmla="val 4000"/>
            </a:avLst>
          </a:prstGeom>
        </p:spPr>
      </p:pic>
      <p:sp>
        <p:nvSpPr>
          <p:cNvPr id="108" name="Text 108"/>
          <p:cNvSpPr txBox="1"/>
          <p:nvPr/>
        </p:nvSpPr>
        <p:spPr>
          <a:xfrm>
            <a:off x="6324600" y="283144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Ariane 5</a:t>
            </a:r>
          </a:p>
          <a:p>
            <a:pPr>
              <a:spcBef>
                <a:spcPts val="100"/>
              </a:spcBef>
            </a:pPr>
            <a:r>
              <a:rPr lang="en-US" sz="1200" b="1" dirty="0">
                <a:solidFill>
                  <a:srgbClr val="156082"/>
                </a:solidFill>
                <a:latin typeface="Aptos" panose="020B0004020202020204" pitchFamily="34" charset="0"/>
              </a:rPr>
              <a:t>1996</a:t>
            </a:r>
          </a:p>
          <a:p>
            <a:pPr>
              <a:spcBef>
                <a:spcPts val="300"/>
              </a:spcBef>
            </a:pPr>
            <a:r>
              <a:rPr lang="en-US" sz="1050" b="0" dirty="0">
                <a:solidFill>
                  <a:srgbClr val="595959"/>
                </a:solidFill>
                <a:latin typeface="Aptos" panose="020B0004020202020204" pitchFamily="34" charset="0"/>
              </a:rPr>
              <a:t>64-bit float to 16-bit int overflow, $370M rocket destroyed 37 seconds in</a:t>
            </a:r>
          </a:p>
        </p:txBody>
      </p:sp>
      <p:sp>
        <p:nvSpPr>
          <p:cNvPr id="109" name="Card 109"/>
          <p:cNvSpPr/>
          <p:nvPr/>
        </p:nvSpPr>
        <p:spPr>
          <a:xfrm>
            <a:off x="8862060" y="150000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10" name="Picture 110"/>
          <p:cNvPicPr>
            <a:picLocks noChangeAspect="1"/>
          </p:cNvPicPr>
          <p:nvPr/>
        </p:nvPicPr>
        <p:blipFill>
          <a:blip r:embed="rId6"/>
          <a:srcRect t="5933" b="5933"/>
          <a:stretch>
            <a:fillRect/>
          </a:stretch>
        </p:blipFill>
        <p:spPr>
          <a:xfrm>
            <a:off x="8953500" y="1591440"/>
            <a:ext cx="2308860" cy="1150000"/>
          </a:xfrm>
          <a:prstGeom prst="roundRect">
            <a:avLst>
              <a:gd name="adj" fmla="val 4000"/>
            </a:avLst>
          </a:prstGeom>
        </p:spPr>
      </p:pic>
      <p:sp>
        <p:nvSpPr>
          <p:cNvPr id="111" name="Text 111"/>
          <p:cNvSpPr txBox="1"/>
          <p:nvPr/>
        </p:nvSpPr>
        <p:spPr>
          <a:xfrm>
            <a:off x="8999220" y="283144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Toyota acceleration</a:t>
            </a:r>
          </a:p>
          <a:p>
            <a:pPr>
              <a:spcBef>
                <a:spcPts val="100"/>
              </a:spcBef>
            </a:pPr>
            <a:r>
              <a:rPr lang="en-US" sz="1200" b="1" dirty="0">
                <a:solidFill>
                  <a:srgbClr val="156082"/>
                </a:solidFill>
                <a:latin typeface="Aptos" panose="020B0004020202020204" pitchFamily="34" charset="0"/>
              </a:rPr>
              <a:t>2009-2014</a:t>
            </a:r>
          </a:p>
          <a:p>
            <a:pPr>
              <a:spcBef>
                <a:spcPts val="300"/>
              </a:spcBef>
            </a:pPr>
            <a:r>
              <a:rPr lang="en-US" sz="1050" b="0" dirty="0">
                <a:solidFill>
                  <a:srgbClr val="595959"/>
                </a:solidFill>
                <a:latin typeface="Aptos" panose="020B0004020202020204" pitchFamily="34" charset="0"/>
              </a:rPr>
              <a:t>Stack overflow, spaghetti code, at least 89 deaths linked, $1.2B fine plus $1B+ in settlements</a:t>
            </a:r>
          </a:p>
        </p:txBody>
      </p:sp>
      <p:sp>
        <p:nvSpPr>
          <p:cNvPr id="112" name="Card 112"/>
          <p:cNvSpPr/>
          <p:nvPr/>
        </p:nvSpPr>
        <p:spPr>
          <a:xfrm>
            <a:off x="838200" y="412144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13" name="Picture 113"/>
          <p:cNvPicPr>
            <a:picLocks noChangeAspect="1"/>
          </p:cNvPicPr>
          <p:nvPr/>
        </p:nvPicPr>
        <p:blipFill>
          <a:blip r:embed="rId7"/>
          <a:srcRect t="8330" b="8330"/>
          <a:stretch>
            <a:fillRect/>
          </a:stretch>
        </p:blipFill>
        <p:spPr>
          <a:xfrm>
            <a:off x="929640" y="4212880"/>
            <a:ext cx="2308860" cy="1150000"/>
          </a:xfrm>
          <a:prstGeom prst="roundRect">
            <a:avLst>
              <a:gd name="adj" fmla="val 4000"/>
            </a:avLst>
          </a:prstGeom>
        </p:spPr>
      </p:pic>
      <p:sp>
        <p:nvSpPr>
          <p:cNvPr id="114" name="Text 114"/>
          <p:cNvSpPr txBox="1"/>
          <p:nvPr/>
        </p:nvSpPr>
        <p:spPr>
          <a:xfrm>
            <a:off x="975360" y="545288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F-22</a:t>
            </a:r>
          </a:p>
          <a:p>
            <a:pPr>
              <a:spcBef>
                <a:spcPts val="100"/>
              </a:spcBef>
            </a:pPr>
            <a:r>
              <a:rPr lang="en-US" sz="1200" b="1" dirty="0">
                <a:solidFill>
                  <a:srgbClr val="156082"/>
                </a:solidFill>
                <a:latin typeface="Aptos" panose="020B0004020202020204" pitchFamily="34" charset="0"/>
              </a:rPr>
              <a:t>2007</a:t>
            </a:r>
          </a:p>
          <a:p>
            <a:pPr>
              <a:spcBef>
                <a:spcPts val="300"/>
              </a:spcBef>
            </a:pPr>
            <a:r>
              <a:rPr lang="en-US" sz="1050" b="0" dirty="0">
                <a:solidFill>
                  <a:srgbClr val="595959"/>
                </a:solidFill>
                <a:latin typeface="Aptos" panose="020B0004020202020204" pitchFamily="34" charset="0"/>
              </a:rPr>
              <a:t>Date line crossing crashed nav and comms on six F-22s, tankers led them back to Hawaii</a:t>
            </a:r>
          </a:p>
        </p:txBody>
      </p:sp>
      <p:sp>
        <p:nvSpPr>
          <p:cNvPr id="115" name="Card 115"/>
          <p:cNvSpPr/>
          <p:nvPr/>
        </p:nvSpPr>
        <p:spPr>
          <a:xfrm>
            <a:off x="3512820" y="412144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16" name="Picture 116"/>
          <p:cNvPicPr>
            <a:picLocks noChangeAspect="1"/>
          </p:cNvPicPr>
          <p:nvPr/>
        </p:nvPicPr>
        <p:blipFill>
          <a:blip r:embed="rId8"/>
          <a:srcRect t="12643" b="12643"/>
          <a:stretch>
            <a:fillRect/>
          </a:stretch>
        </p:blipFill>
        <p:spPr>
          <a:xfrm>
            <a:off x="3604260" y="4212880"/>
            <a:ext cx="2308860" cy="1150000"/>
          </a:xfrm>
          <a:prstGeom prst="roundRect">
            <a:avLst>
              <a:gd name="adj" fmla="val 4000"/>
            </a:avLst>
          </a:prstGeom>
        </p:spPr>
      </p:pic>
      <p:sp>
        <p:nvSpPr>
          <p:cNvPr id="117" name="Text 117"/>
          <p:cNvSpPr txBox="1"/>
          <p:nvPr/>
        </p:nvSpPr>
        <p:spPr>
          <a:xfrm>
            <a:off x="3649980" y="545288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Heartbleed</a:t>
            </a:r>
          </a:p>
          <a:p>
            <a:pPr>
              <a:spcBef>
                <a:spcPts val="100"/>
              </a:spcBef>
            </a:pPr>
            <a:r>
              <a:rPr lang="en-US" sz="1200" b="1" dirty="0">
                <a:solidFill>
                  <a:srgbClr val="156082"/>
                </a:solidFill>
                <a:latin typeface="Aptos" panose="020B0004020202020204" pitchFamily="34" charset="0"/>
              </a:rPr>
              <a:t>2014</a:t>
            </a:r>
          </a:p>
          <a:p>
            <a:pPr>
              <a:spcBef>
                <a:spcPts val="300"/>
              </a:spcBef>
            </a:pPr>
            <a:r>
              <a:rPr lang="en-US" sz="1050" b="0" dirty="0">
                <a:solidFill>
                  <a:srgbClr val="595959"/>
                </a:solidFill>
                <a:latin typeface="Aptos" panose="020B0004020202020204" pitchFamily="34" charset="0"/>
              </a:rPr>
              <a:t>Missing bounds check in OpenSSL heartbeat, 900 SINs stolen from the CRA</a:t>
            </a:r>
          </a:p>
        </p:txBody>
      </p:sp>
      <p:sp>
        <p:nvSpPr>
          <p:cNvPr id="118" name="Card 118"/>
          <p:cNvSpPr/>
          <p:nvPr/>
        </p:nvSpPr>
        <p:spPr>
          <a:xfrm>
            <a:off x="6187440" y="412144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19" name="Picture 119"/>
          <p:cNvPicPr>
            <a:picLocks noChangeAspect="1"/>
          </p:cNvPicPr>
          <p:nvPr/>
        </p:nvPicPr>
        <p:blipFill>
          <a:blip r:embed="rId9"/>
          <a:srcRect t="7908" b="7908"/>
          <a:stretch>
            <a:fillRect/>
          </a:stretch>
        </p:blipFill>
        <p:spPr>
          <a:xfrm>
            <a:off x="6278880" y="4212880"/>
            <a:ext cx="2308860" cy="1150000"/>
          </a:xfrm>
          <a:prstGeom prst="roundRect">
            <a:avLst>
              <a:gd name="adj" fmla="val 4000"/>
            </a:avLst>
          </a:prstGeom>
        </p:spPr>
      </p:pic>
      <p:sp>
        <p:nvSpPr>
          <p:cNvPr id="120" name="Text 120"/>
          <p:cNvSpPr txBox="1"/>
          <p:nvPr/>
        </p:nvSpPr>
        <p:spPr>
          <a:xfrm>
            <a:off x="6324600" y="545288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Boeing 737 MAX</a:t>
            </a:r>
          </a:p>
          <a:p>
            <a:pPr>
              <a:spcBef>
                <a:spcPts val="100"/>
              </a:spcBef>
            </a:pPr>
            <a:r>
              <a:rPr lang="en-US" sz="1200" b="1" dirty="0">
                <a:solidFill>
                  <a:srgbClr val="156082"/>
                </a:solidFill>
                <a:latin typeface="Aptos" panose="020B0004020202020204" pitchFamily="34" charset="0"/>
              </a:rPr>
              <a:t>2018-19</a:t>
            </a:r>
          </a:p>
          <a:p>
            <a:pPr>
              <a:spcBef>
                <a:spcPts val="300"/>
              </a:spcBef>
            </a:pPr>
            <a:r>
              <a:rPr lang="en-US" sz="1050" b="0" dirty="0">
                <a:solidFill>
                  <a:srgbClr val="595959"/>
                </a:solidFill>
                <a:latin typeface="Aptos" panose="020B0004020202020204" pitchFamily="34" charset="0"/>
              </a:rPr>
              <a:t>MCAS trusting one AoA sensor, two crashes, 346 deaths, $20B+</a:t>
            </a:r>
          </a:p>
        </p:txBody>
      </p:sp>
      <p:sp>
        <p:nvSpPr>
          <p:cNvPr id="121" name="Card 121"/>
          <p:cNvSpPr/>
          <p:nvPr/>
        </p:nvSpPr>
        <p:spPr>
          <a:xfrm>
            <a:off x="8862060" y="4121440"/>
            <a:ext cx="2491740" cy="2438560"/>
          </a:xfrm>
          <a:prstGeom prst="roundRect">
            <a:avLst>
              <a:gd name="adj" fmla="val 5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pic>
        <p:nvPicPr>
          <p:cNvPr id="122" name="Picture 122"/>
          <p:cNvPicPr>
            <a:picLocks noChangeAspect="1"/>
          </p:cNvPicPr>
          <p:nvPr/>
        </p:nvPicPr>
        <p:blipFill>
          <a:blip r:embed="rId10"/>
          <a:srcRect t="12656" b="12656"/>
          <a:stretch>
            <a:fillRect/>
          </a:stretch>
        </p:blipFill>
        <p:spPr>
          <a:xfrm>
            <a:off x="8953500" y="4212880"/>
            <a:ext cx="2308860" cy="1150000"/>
          </a:xfrm>
          <a:prstGeom prst="roundRect">
            <a:avLst>
              <a:gd name="adj" fmla="val 4000"/>
            </a:avLst>
          </a:prstGeom>
        </p:spPr>
      </p:pic>
      <p:sp>
        <p:nvSpPr>
          <p:cNvPr id="123" name="Text 123"/>
          <p:cNvSpPr txBox="1"/>
          <p:nvPr/>
        </p:nvSpPr>
        <p:spPr>
          <a:xfrm>
            <a:off x="8999220" y="5452880"/>
            <a:ext cx="2217420" cy="1017120"/>
          </a:xfrm>
          <a:prstGeom prst="rect">
            <a:avLst/>
          </a:prstGeom>
          <a:noFill/>
        </p:spPr>
        <p:txBody>
          <a:bodyPr wrap="square" lIns="0" tIns="0" rIns="0" bIns="0" rtlCol="0" anchor="t"/>
          <a:lstStyle/>
          <a:p>
            <a:pPr>
              <a:spcBef>
                <a:spcPts val="0"/>
              </a:spcBef>
            </a:pPr>
            <a:r>
              <a:rPr lang="en-US" sz="1500" b="1" dirty="0">
                <a:solidFill>
                  <a:srgbClr val="1A1A1A"/>
                </a:solidFill>
                <a:latin typeface="Aptos" panose="020B0004020202020204" pitchFamily="34" charset="0"/>
              </a:rPr>
              <a:t>CrowdStrike</a:t>
            </a:r>
          </a:p>
          <a:p>
            <a:pPr>
              <a:spcBef>
                <a:spcPts val="100"/>
              </a:spcBef>
            </a:pPr>
            <a:r>
              <a:rPr lang="en-US" sz="1200" b="1" dirty="0">
                <a:solidFill>
                  <a:srgbClr val="156082"/>
                </a:solidFill>
                <a:latin typeface="Aptos" panose="020B0004020202020204" pitchFamily="34" charset="0"/>
              </a:rPr>
              <a:t>2024</a:t>
            </a:r>
          </a:p>
          <a:p>
            <a:pPr>
              <a:spcBef>
                <a:spcPts val="300"/>
              </a:spcBef>
            </a:pPr>
            <a:r>
              <a:rPr lang="en-US" sz="1050" b="0" dirty="0">
                <a:solidFill>
                  <a:srgbClr val="595959"/>
                </a:solidFill>
                <a:latin typeface="Aptos" panose="020B0004020202020204" pitchFamily="34" charset="0"/>
              </a:rPr>
              <a:t>Out-of-bounds read in a kernel driver, 8.5M Windows machines, $5B+ in losses</a:t>
            </a:r>
          </a:p>
        </p:txBody>
      </p:sp>
    </p:spTree>
    <p:extLst>
      <p:ext uri="{BB962C8B-B14F-4D97-AF65-F5344CB8AC3E}">
        <p14:creationId xmlns:p14="http://schemas.microsoft.com/office/powerpoint/2010/main" val="2489843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9D46B-18E5-1102-55CE-38991B9B09B2}"/>
              </a:ext>
            </a:extLst>
          </p:cNvPr>
          <p:cNvSpPr>
            <a:spLocks noGrp="1"/>
          </p:cNvSpPr>
          <p:nvPr>
            <p:ph type="title"/>
          </p:nvPr>
        </p:nvSpPr>
        <p:spPr/>
        <p:txBody>
          <a:bodyPr/>
          <a:lstStyle/>
          <a:p>
            <a:r>
              <a:rPr lang="en-US" dirty="0"/>
              <a:t>What everyone knows about safety</a:t>
            </a:r>
          </a:p>
        </p:txBody>
      </p:sp>
      <p:sp>
        <p:nvSpPr>
          <p:cNvPr id="10" name="Card 10"/>
          <p:cNvSpPr/>
          <p:nvPr/>
        </p:nvSpPr>
        <p:spPr>
          <a:xfrm>
            <a:off x="838200" y="2150000"/>
            <a:ext cx="3352800" cy="3000000"/>
          </a:xfrm>
          <a:prstGeom prst="roundRect">
            <a:avLst>
              <a:gd name="adj" fmla="val 6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sp>
        <p:nvSpPr>
          <p:cNvPr id="11" name="Big"/>
          <p:cNvSpPr txBox="1"/>
          <p:nvPr/>
        </p:nvSpPr>
        <p:spPr>
          <a:xfrm>
            <a:off x="1112520" y="2424320"/>
            <a:ext cx="2804160" cy="1900000"/>
          </a:xfrm>
          <a:prstGeom prst="rect">
            <a:avLst/>
          </a:prstGeom>
          <a:noFill/>
        </p:spPr>
        <p:txBody>
          <a:bodyPr wrap="square" lIns="0" tIns="0" rIns="0" bIns="0" rtlCol="0" anchor="t"/>
          <a:lstStyle/>
          <a:p>
            <a:pPr>
              <a:lnSpc>
                <a:spcPct val="95000"/>
              </a:lnSpc>
            </a:pPr>
            <a:r>
              <a:rPr lang="en-US" sz="5400" b="1" dirty="0">
                <a:solidFill>
                  <a:srgbClr val="156082"/>
                </a:solidFill>
                <a:latin typeface="Aptos" panose="020B0004020202020204" pitchFamily="34" charset="0"/>
              </a:rPr>
              <a:t>70%</a:t>
            </a:r>
          </a:p>
        </p:txBody>
      </p:sp>
      <p:sp>
        <p:nvSpPr>
          <p:cNvPr id="12" name="Small"/>
          <p:cNvSpPr txBox="1"/>
          <p:nvPr/>
        </p:nvSpPr>
        <p:spPr>
          <a:xfrm>
            <a:off x="1112520" y="3975680"/>
            <a:ext cx="2804160" cy="900000"/>
          </a:xfrm>
          <a:prstGeom prst="rect">
            <a:avLst/>
          </a:prstGeom>
          <a:noFill/>
        </p:spPr>
        <p:txBody>
          <a:bodyPr wrap="square" lIns="0" tIns="0" rIns="0" bIns="0" rtlCol="0" anchor="b"/>
          <a:lstStyle/>
          <a:p>
            <a:pPr>
              <a:lnSpc>
                <a:spcPct val="95000"/>
              </a:lnSpc>
            </a:pPr>
            <a:r>
              <a:rPr lang="en-US" sz="2200" b="0" dirty="0">
                <a:solidFill>
                  <a:srgbClr val="595959"/>
                </a:solidFill>
                <a:latin typeface="Aptos" panose="020B0004020202020204" pitchFamily="34" charset="0"/>
              </a:rPr>
              <a:t>of vulnerabilities are memory bugs</a:t>
            </a:r>
          </a:p>
        </p:txBody>
      </p:sp>
      <p:sp>
        <p:nvSpPr>
          <p:cNvPr id="13" name="Card 13"/>
          <p:cNvSpPr/>
          <p:nvPr/>
        </p:nvSpPr>
        <p:spPr>
          <a:xfrm>
            <a:off x="4419600" y="2150000"/>
            <a:ext cx="3352800" cy="3000000"/>
          </a:xfrm>
          <a:prstGeom prst="roundRect">
            <a:avLst>
              <a:gd name="adj" fmla="val 6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sp>
        <p:nvSpPr>
          <p:cNvPr id="14" name="Big"/>
          <p:cNvSpPr txBox="1"/>
          <p:nvPr/>
        </p:nvSpPr>
        <p:spPr>
          <a:xfrm>
            <a:off x="4693920" y="2424320"/>
            <a:ext cx="2804160" cy="1900000"/>
          </a:xfrm>
          <a:prstGeom prst="rect">
            <a:avLst/>
          </a:prstGeom>
          <a:noFill/>
        </p:spPr>
        <p:txBody>
          <a:bodyPr wrap="square" lIns="0" tIns="0" rIns="0" bIns="0" rtlCol="0" anchor="t"/>
          <a:lstStyle/>
          <a:p>
            <a:pPr>
              <a:lnSpc>
                <a:spcPct val="95000"/>
              </a:lnSpc>
            </a:pPr>
            <a:r>
              <a:rPr lang="en-US" sz="3600" b="1" dirty="0">
                <a:solidFill>
                  <a:srgbClr val="156082"/>
                </a:solidFill>
                <a:latin typeface="Aptos" panose="020B0004020202020204" pitchFamily="34" charset="0"/>
              </a:rPr>
              <a:t>Buffer overflow</a:t>
            </a:r>
          </a:p>
        </p:txBody>
      </p:sp>
      <p:sp>
        <p:nvSpPr>
          <p:cNvPr id="15" name="Small"/>
          <p:cNvSpPr txBox="1"/>
          <p:nvPr/>
        </p:nvSpPr>
        <p:spPr>
          <a:xfrm>
            <a:off x="4693920" y="3975680"/>
            <a:ext cx="2804160" cy="900000"/>
          </a:xfrm>
          <a:prstGeom prst="rect">
            <a:avLst/>
          </a:prstGeom>
          <a:noFill/>
        </p:spPr>
        <p:txBody>
          <a:bodyPr wrap="square" lIns="0" tIns="0" rIns="0" bIns="0" rtlCol="0" anchor="b"/>
          <a:lstStyle/>
          <a:p>
            <a:pPr>
              <a:lnSpc>
                <a:spcPct val="95000"/>
              </a:lnSpc>
            </a:pPr>
            <a:r>
              <a:rPr lang="en-US" sz="2200" b="0" dirty="0">
                <a:solidFill>
                  <a:srgbClr val="595959"/>
                </a:solidFill>
                <a:latin typeface="Aptos" panose="020B0004020202020204" pitchFamily="34" charset="0"/>
              </a:rPr>
              <a:t>is the classic one</a:t>
            </a:r>
          </a:p>
        </p:txBody>
      </p:sp>
      <p:sp>
        <p:nvSpPr>
          <p:cNvPr id="16" name="Card 16"/>
          <p:cNvSpPr/>
          <p:nvPr/>
        </p:nvSpPr>
        <p:spPr>
          <a:xfrm>
            <a:off x="8001000" y="2150000"/>
            <a:ext cx="3352800" cy="3000000"/>
          </a:xfrm>
          <a:prstGeom prst="roundRect">
            <a:avLst>
              <a:gd name="adj" fmla="val 6000"/>
            </a:avLst>
          </a:prstGeom>
          <a:solidFill>
            <a:srgbClr val="FFFFFF"/>
          </a:solidFill>
          <a:ln w="9525">
            <a:solidFill>
              <a:srgbClr val="E6E0DD"/>
            </a:solidFill>
          </a:ln>
          <a:effectLst>
            <a:outerShdw blurRad="63500" dist="19050" dir="5400000" algn="t" rotWithShape="0">
              <a:srgbClr val="000000">
                <a:alpha val="12000"/>
              </a:srgbClr>
            </a:outerShdw>
          </a:effectLst>
        </p:spPr>
        <p:txBody>
          <a:bodyPr/>
          <a:lstStyle/>
          <a:p>
            <a:endParaRPr lang="en-US"/>
          </a:p>
        </p:txBody>
      </p:sp>
      <p:sp>
        <p:nvSpPr>
          <p:cNvPr id="17" name="Big"/>
          <p:cNvSpPr txBox="1"/>
          <p:nvPr/>
        </p:nvSpPr>
        <p:spPr>
          <a:xfrm>
            <a:off x="8275320" y="2424320"/>
            <a:ext cx="2804160" cy="1900000"/>
          </a:xfrm>
          <a:prstGeom prst="rect">
            <a:avLst/>
          </a:prstGeom>
          <a:noFill/>
        </p:spPr>
        <p:txBody>
          <a:bodyPr wrap="square" lIns="0" tIns="0" rIns="0" bIns="0" rtlCol="0" anchor="t"/>
          <a:lstStyle/>
          <a:p>
            <a:pPr>
              <a:lnSpc>
                <a:spcPct val="95000"/>
              </a:lnSpc>
            </a:pPr>
            <a:r>
              <a:rPr lang="en-US" sz="3600" b="1" dirty="0">
                <a:solidFill>
                  <a:srgbClr val="156082"/>
                </a:solidFill>
                <a:latin typeface="Aptos" panose="020B0004020202020204" pitchFamily="34" charset="0"/>
              </a:rPr>
              <a:t>Memory safe languages</a:t>
            </a:r>
          </a:p>
        </p:txBody>
      </p:sp>
      <p:sp>
        <p:nvSpPr>
          <p:cNvPr id="18" name="Small"/>
          <p:cNvSpPr txBox="1"/>
          <p:nvPr/>
        </p:nvSpPr>
        <p:spPr>
          <a:xfrm>
            <a:off x="8275320" y="3975680"/>
            <a:ext cx="2804160" cy="900000"/>
          </a:xfrm>
          <a:prstGeom prst="rect">
            <a:avLst/>
          </a:prstGeom>
          <a:noFill/>
        </p:spPr>
        <p:txBody>
          <a:bodyPr wrap="square" lIns="0" tIns="0" rIns="0" bIns="0" rtlCol="0" anchor="b"/>
          <a:lstStyle/>
          <a:p>
            <a:pPr>
              <a:lnSpc>
                <a:spcPct val="95000"/>
              </a:lnSpc>
            </a:pPr>
            <a:r>
              <a:rPr lang="en-US" sz="2200" b="0" dirty="0">
                <a:solidFill>
                  <a:srgbClr val="595959"/>
                </a:solidFill>
                <a:latin typeface="Aptos" panose="020B0004020202020204" pitchFamily="34" charset="0"/>
              </a:rPr>
              <a:t>fix it</a:t>
            </a:r>
          </a:p>
        </p:txBody>
      </p:sp>
    </p:spTree>
    <p:extLst>
      <p:ext uri="{BB962C8B-B14F-4D97-AF65-F5344CB8AC3E}">
        <p14:creationId xmlns:p14="http://schemas.microsoft.com/office/powerpoint/2010/main" val="3099475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A68BB-CA39-2A0E-84FD-718445290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C845C-1350-A433-5905-13A0C3E48FF3}"/>
              </a:ext>
            </a:extLst>
          </p:cNvPr>
          <p:cNvSpPr>
            <a:spLocks noGrp="1"/>
          </p:cNvSpPr>
          <p:nvPr>
            <p:ph type="title"/>
          </p:nvPr>
        </p:nvSpPr>
        <p:spPr/>
        <p:txBody>
          <a:bodyPr/>
          <a:lstStyle/>
          <a:p>
            <a:r>
              <a:rPr lang="en-US" dirty="0"/>
              <a:t>The 100 products with the most CVEs</a:t>
            </a:r>
          </a:p>
        </p:txBody>
      </p:sp>
      <p:sp>
        <p:nvSpPr>
          <p:cNvPr id="10" name="Text 10">
            <a:extLst>
              <a:ext uri="{FF2B5EF4-FFF2-40B4-BE49-F238E27FC236}">
                <a16:creationId xmlns:a16="http://schemas.microsoft.com/office/drawing/2014/main" id="{662834AC-B0D1-4CAB-455C-0234E66FD91D}"/>
              </a:ext>
            </a:extLst>
          </p:cNvPr>
          <p:cNvSpPr txBox="1"/>
          <p:nvPr/>
        </p:nvSpPr>
        <p:spPr>
          <a:xfrm>
            <a:off x="1042994" y="1690688"/>
            <a:ext cx="4800000" cy="360000"/>
          </a:xfrm>
          <a:prstGeom prst="rect">
            <a:avLst/>
          </a:prstGeom>
          <a:noFill/>
        </p:spPr>
        <p:txBody>
          <a:bodyPr wrap="square" lIns="0" tIns="0" rIns="0" bIns="0" rtlCol="0" anchor="b"/>
          <a:lstStyle/>
          <a:p>
            <a:pPr algn="l">
              <a:lnSpc>
                <a:spcPct val="100000"/>
              </a:lnSpc>
            </a:pPr>
            <a:r>
              <a:rPr lang="en-US" sz="1600" b="1" dirty="0">
                <a:solidFill>
                  <a:srgbClr val="1A1A1A"/>
                </a:solidFill>
                <a:latin typeface="Aptos" panose="020B0004020202020204" pitchFamily="34" charset="0"/>
              </a:rPr>
              <a:t>What it is</a:t>
            </a:r>
          </a:p>
        </p:txBody>
      </p:sp>
      <p:sp>
        <p:nvSpPr>
          <p:cNvPr id="11" name="Text 11">
            <a:extLst>
              <a:ext uri="{FF2B5EF4-FFF2-40B4-BE49-F238E27FC236}">
                <a16:creationId xmlns:a16="http://schemas.microsoft.com/office/drawing/2014/main" id="{5B4689FD-C75A-CE4B-D832-C0E3181C3DCD}"/>
              </a:ext>
            </a:extLst>
          </p:cNvPr>
          <p:cNvSpPr txBox="1"/>
          <p:nvPr/>
        </p:nvSpPr>
        <p:spPr>
          <a:xfrm>
            <a:off x="5666584" y="1690688"/>
            <a:ext cx="1150000" cy="360000"/>
          </a:xfrm>
          <a:prstGeom prst="rect">
            <a:avLst/>
          </a:prstGeom>
          <a:noFill/>
        </p:spPr>
        <p:txBody>
          <a:bodyPr wrap="square" lIns="0" tIns="0" rIns="0" bIns="0" rtlCol="0" anchor="b"/>
          <a:lstStyle/>
          <a:p>
            <a:pPr algn="l">
              <a:lnSpc>
                <a:spcPct val="100000"/>
              </a:lnSpc>
            </a:pPr>
            <a:r>
              <a:rPr lang="en-US" sz="1600" b="1" dirty="0">
                <a:solidFill>
                  <a:srgbClr val="1A1A1A"/>
                </a:solidFill>
                <a:latin typeface="Aptos" panose="020B0004020202020204" pitchFamily="34" charset="0"/>
              </a:rPr>
              <a:t>Count</a:t>
            </a:r>
          </a:p>
        </p:txBody>
      </p:sp>
      <p:sp>
        <p:nvSpPr>
          <p:cNvPr id="12" name="Text 12">
            <a:extLst>
              <a:ext uri="{FF2B5EF4-FFF2-40B4-BE49-F238E27FC236}">
                <a16:creationId xmlns:a16="http://schemas.microsoft.com/office/drawing/2014/main" id="{AB2F3176-15DD-C1B3-136D-EB4D54C20751}"/>
              </a:ext>
            </a:extLst>
          </p:cNvPr>
          <p:cNvSpPr txBox="1"/>
          <p:nvPr/>
        </p:nvSpPr>
        <p:spPr>
          <a:xfrm>
            <a:off x="7298168" y="1696784"/>
            <a:ext cx="839992" cy="360000"/>
          </a:xfrm>
          <a:prstGeom prst="rect">
            <a:avLst/>
          </a:prstGeom>
          <a:noFill/>
        </p:spPr>
        <p:txBody>
          <a:bodyPr wrap="square" lIns="0" tIns="0" rIns="0" bIns="0" rtlCol="0" anchor="b"/>
          <a:lstStyle/>
          <a:p>
            <a:pPr algn="l">
              <a:lnSpc>
                <a:spcPct val="100000"/>
              </a:lnSpc>
            </a:pPr>
            <a:r>
              <a:rPr lang="en-US" sz="1600" b="1" dirty="0">
                <a:solidFill>
                  <a:srgbClr val="1A1A1A"/>
                </a:solidFill>
                <a:latin typeface="Aptos" panose="020B0004020202020204" pitchFamily="34" charset="0"/>
              </a:rPr>
              <a:t>CVEs</a:t>
            </a:r>
          </a:p>
        </p:txBody>
      </p:sp>
      <p:sp>
        <p:nvSpPr>
          <p:cNvPr id="13" name="Text 13">
            <a:extLst>
              <a:ext uri="{FF2B5EF4-FFF2-40B4-BE49-F238E27FC236}">
                <a16:creationId xmlns:a16="http://schemas.microsoft.com/office/drawing/2014/main" id="{6AC9D55D-325B-3C8C-BAF5-A9E94E360E0A}"/>
              </a:ext>
            </a:extLst>
          </p:cNvPr>
          <p:cNvSpPr txBox="1"/>
          <p:nvPr/>
        </p:nvSpPr>
        <p:spPr>
          <a:xfrm>
            <a:off x="8245832" y="1690688"/>
            <a:ext cx="1700000" cy="360000"/>
          </a:xfrm>
          <a:prstGeom prst="rect">
            <a:avLst/>
          </a:prstGeom>
          <a:noFill/>
        </p:spPr>
        <p:txBody>
          <a:bodyPr wrap="square" lIns="0" tIns="0" rIns="0" bIns="0" rtlCol="0" anchor="b"/>
          <a:lstStyle/>
          <a:p>
            <a:pPr algn="l">
              <a:lnSpc>
                <a:spcPct val="100000"/>
              </a:lnSpc>
            </a:pPr>
            <a:r>
              <a:rPr lang="en-US" sz="1600" b="1" dirty="0">
                <a:solidFill>
                  <a:srgbClr val="1A1A1A"/>
                </a:solidFill>
                <a:latin typeface="Aptos" panose="020B0004020202020204" pitchFamily="34" charset="0"/>
              </a:rPr>
              <a:t>% of exploited</a:t>
            </a:r>
          </a:p>
        </p:txBody>
      </p:sp>
      <p:sp>
        <p:nvSpPr>
          <p:cNvPr id="14" name="Text 14">
            <a:extLst>
              <a:ext uri="{FF2B5EF4-FFF2-40B4-BE49-F238E27FC236}">
                <a16:creationId xmlns:a16="http://schemas.microsoft.com/office/drawing/2014/main" id="{974B002C-998D-EDD5-38E5-69FCEC03389C}"/>
              </a:ext>
            </a:extLst>
          </p:cNvPr>
          <p:cNvSpPr txBox="1"/>
          <p:nvPr/>
        </p:nvSpPr>
        <p:spPr>
          <a:xfrm>
            <a:off x="9976312" y="1690688"/>
            <a:ext cx="1515600" cy="360000"/>
          </a:xfrm>
          <a:prstGeom prst="rect">
            <a:avLst/>
          </a:prstGeom>
          <a:noFill/>
        </p:spPr>
        <p:txBody>
          <a:bodyPr wrap="square" lIns="0" tIns="0" rIns="0" bIns="0" rtlCol="0" anchor="b"/>
          <a:lstStyle/>
          <a:p>
            <a:pPr algn="l">
              <a:lnSpc>
                <a:spcPct val="100000"/>
              </a:lnSpc>
            </a:pPr>
            <a:r>
              <a:rPr lang="en-US" sz="1600" b="1" dirty="0">
                <a:solidFill>
                  <a:srgbClr val="1A1A1A"/>
                </a:solidFill>
                <a:latin typeface="Aptos" panose="020B0004020202020204" pitchFamily="34" charset="0"/>
              </a:rPr>
              <a:t>Inspectable</a:t>
            </a:r>
          </a:p>
        </p:txBody>
      </p:sp>
      <p:sp>
        <p:nvSpPr>
          <p:cNvPr id="15" name="Rule 15">
            <a:extLst>
              <a:ext uri="{FF2B5EF4-FFF2-40B4-BE49-F238E27FC236}">
                <a16:creationId xmlns:a16="http://schemas.microsoft.com/office/drawing/2014/main" id="{604889D5-A290-B147-0CB5-25C25576D61F}"/>
              </a:ext>
            </a:extLst>
          </p:cNvPr>
          <p:cNvSpPr/>
          <p:nvPr/>
        </p:nvSpPr>
        <p:spPr>
          <a:xfrm>
            <a:off x="976312" y="2104338"/>
            <a:ext cx="10515600" cy="12700"/>
          </a:xfrm>
          <a:prstGeom prst="rect">
            <a:avLst/>
          </a:prstGeom>
          <a:solidFill>
            <a:srgbClr val="C9C4C1"/>
          </a:solidFill>
          <a:ln>
            <a:noFill/>
          </a:ln>
        </p:spPr>
        <p:txBody>
          <a:bodyPr/>
          <a:lstStyle/>
          <a:p>
            <a:endParaRPr lang="en-US"/>
          </a:p>
        </p:txBody>
      </p:sp>
      <p:sp>
        <p:nvSpPr>
          <p:cNvPr id="16" name="Text 16">
            <a:extLst>
              <a:ext uri="{FF2B5EF4-FFF2-40B4-BE49-F238E27FC236}">
                <a16:creationId xmlns:a16="http://schemas.microsoft.com/office/drawing/2014/main" id="{18F8AD4C-9895-680C-2566-AD0463165A72}"/>
              </a:ext>
            </a:extLst>
          </p:cNvPr>
          <p:cNvSpPr txBox="1"/>
          <p:nvPr/>
        </p:nvSpPr>
        <p:spPr>
          <a:xfrm>
            <a:off x="1042994" y="2110688"/>
            <a:ext cx="4700000" cy="1188414"/>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Operating systems</a:t>
            </a:r>
          </a:p>
          <a:p>
            <a:r>
              <a:rPr lang="en-US" sz="1200" dirty="0">
                <a:solidFill>
                  <a:srgbClr val="595959"/>
                </a:solidFill>
                <a:latin typeface="Aptos" panose="020B0004020202020204" pitchFamily="34" charset="0"/>
              </a:rPr>
              <a:t>Windows, macOS, iOS, tvOS</a:t>
            </a:r>
            <a:r>
              <a:rPr lang="en-US" sz="1200" b="0" dirty="0">
                <a:solidFill>
                  <a:srgbClr val="595959"/>
                </a:solidFill>
                <a:latin typeface="Aptos" panose="020B0004020202020204" pitchFamily="34" charset="0"/>
              </a:rPr>
              <a:t>, watchOS, iPadOS, Android, Linux</a:t>
            </a:r>
            <a:br>
              <a:rPr lang="en-US" sz="1200" dirty="0">
                <a:solidFill>
                  <a:srgbClr val="595959"/>
                </a:solidFill>
                <a:latin typeface="Aptos" panose="020B0004020202020204" pitchFamily="34" charset="0"/>
              </a:rPr>
            </a:br>
            <a:r>
              <a:rPr lang="en-US" sz="1200" dirty="0">
                <a:solidFill>
                  <a:srgbClr val="595959"/>
                </a:solidFill>
                <a:latin typeface="Aptos" panose="020B0004020202020204" pitchFamily="34" charset="0"/>
              </a:rPr>
              <a:t>Debian, Fedora, Ubuntu, openSUSE, RHEL</a:t>
            </a:r>
          </a:p>
          <a:p>
            <a:pPr algn="l">
              <a:lnSpc>
                <a:spcPct val="100000"/>
              </a:lnSpc>
            </a:pPr>
            <a:endParaRPr lang="en-US" sz="1200" b="0" dirty="0">
              <a:solidFill>
                <a:srgbClr val="595959"/>
              </a:solidFill>
              <a:latin typeface="Aptos" panose="020B0004020202020204" pitchFamily="34" charset="0"/>
            </a:endParaRPr>
          </a:p>
          <a:p>
            <a:pPr algn="l">
              <a:lnSpc>
                <a:spcPct val="100000"/>
              </a:lnSpc>
            </a:pPr>
            <a:endParaRPr lang="en-US" sz="1200" b="0" dirty="0">
              <a:solidFill>
                <a:srgbClr val="595959"/>
              </a:solidFill>
              <a:latin typeface="Aptos" panose="020B0004020202020204" pitchFamily="34" charset="0"/>
            </a:endParaRPr>
          </a:p>
        </p:txBody>
      </p:sp>
      <p:sp>
        <p:nvSpPr>
          <p:cNvPr id="17" name="Text 17">
            <a:extLst>
              <a:ext uri="{FF2B5EF4-FFF2-40B4-BE49-F238E27FC236}">
                <a16:creationId xmlns:a16="http://schemas.microsoft.com/office/drawing/2014/main" id="{7007CC26-6075-CA21-2DE5-E61CE61F7CC4}"/>
              </a:ext>
            </a:extLst>
          </p:cNvPr>
          <p:cNvSpPr txBox="1"/>
          <p:nvPr/>
        </p:nvSpPr>
        <p:spPr>
          <a:xfrm>
            <a:off x="5776312" y="2194508"/>
            <a:ext cx="10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34</a:t>
            </a:r>
          </a:p>
        </p:txBody>
      </p:sp>
      <p:sp>
        <p:nvSpPr>
          <p:cNvPr id="18" name="Text 18">
            <a:extLst>
              <a:ext uri="{FF2B5EF4-FFF2-40B4-BE49-F238E27FC236}">
                <a16:creationId xmlns:a16="http://schemas.microsoft.com/office/drawing/2014/main" id="{999A0A55-874C-C6B7-5F99-B4451BAA53BA}"/>
              </a:ext>
            </a:extLst>
          </p:cNvPr>
          <p:cNvSpPr txBox="1"/>
          <p:nvPr/>
        </p:nvSpPr>
        <p:spPr>
          <a:xfrm>
            <a:off x="6926312" y="2194508"/>
            <a:ext cx="12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19,923</a:t>
            </a:r>
          </a:p>
        </p:txBody>
      </p:sp>
      <p:sp>
        <p:nvSpPr>
          <p:cNvPr id="19" name="Text 19">
            <a:extLst>
              <a:ext uri="{FF2B5EF4-FFF2-40B4-BE49-F238E27FC236}">
                <a16:creationId xmlns:a16="http://schemas.microsoft.com/office/drawing/2014/main" id="{2BA9E12A-5379-841F-7D4B-3367E37FE4B0}"/>
              </a:ext>
            </a:extLst>
          </p:cNvPr>
          <p:cNvSpPr txBox="1"/>
          <p:nvPr/>
        </p:nvSpPr>
        <p:spPr>
          <a:xfrm>
            <a:off x="8709128" y="2194508"/>
            <a:ext cx="160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53.3%</a:t>
            </a:r>
          </a:p>
        </p:txBody>
      </p:sp>
      <p:sp>
        <p:nvSpPr>
          <p:cNvPr id="20" name="Text 20">
            <a:extLst>
              <a:ext uri="{FF2B5EF4-FFF2-40B4-BE49-F238E27FC236}">
                <a16:creationId xmlns:a16="http://schemas.microsoft.com/office/drawing/2014/main" id="{FFD059A7-F491-6558-34AB-100F72DAC308}"/>
              </a:ext>
            </a:extLst>
          </p:cNvPr>
          <p:cNvSpPr txBox="1"/>
          <p:nvPr/>
        </p:nvSpPr>
        <p:spPr>
          <a:xfrm>
            <a:off x="9976312" y="2194508"/>
            <a:ext cx="14156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partial</a:t>
            </a:r>
          </a:p>
        </p:txBody>
      </p:sp>
      <p:sp>
        <p:nvSpPr>
          <p:cNvPr id="27" name="Rule 27">
            <a:extLst>
              <a:ext uri="{FF2B5EF4-FFF2-40B4-BE49-F238E27FC236}">
                <a16:creationId xmlns:a16="http://schemas.microsoft.com/office/drawing/2014/main" id="{E7F41FDB-755C-60AC-3C54-F2C76C9AFEE3}"/>
              </a:ext>
            </a:extLst>
          </p:cNvPr>
          <p:cNvSpPr/>
          <p:nvPr/>
        </p:nvSpPr>
        <p:spPr>
          <a:xfrm>
            <a:off x="976312" y="2946198"/>
            <a:ext cx="10515600" cy="12700"/>
          </a:xfrm>
          <a:prstGeom prst="rect">
            <a:avLst/>
          </a:prstGeom>
          <a:solidFill>
            <a:srgbClr val="C9C4C1"/>
          </a:solidFill>
          <a:ln>
            <a:noFill/>
          </a:ln>
        </p:spPr>
        <p:txBody>
          <a:bodyPr/>
          <a:lstStyle/>
          <a:p>
            <a:endParaRPr lang="en-US"/>
          </a:p>
        </p:txBody>
      </p:sp>
      <p:sp>
        <p:nvSpPr>
          <p:cNvPr id="28" name="Text 28">
            <a:extLst>
              <a:ext uri="{FF2B5EF4-FFF2-40B4-BE49-F238E27FC236}">
                <a16:creationId xmlns:a16="http://schemas.microsoft.com/office/drawing/2014/main" id="{5CB0B1EA-3ADE-AFB0-971B-57DD20F53B52}"/>
              </a:ext>
            </a:extLst>
          </p:cNvPr>
          <p:cNvSpPr txBox="1"/>
          <p:nvPr/>
        </p:nvSpPr>
        <p:spPr>
          <a:xfrm>
            <a:off x="1042994" y="2952548"/>
            <a:ext cx="4700000" cy="600000"/>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Browsers</a:t>
            </a:r>
          </a:p>
          <a:p>
            <a:pPr algn="l">
              <a:lnSpc>
                <a:spcPct val="100000"/>
              </a:lnSpc>
            </a:pPr>
            <a:r>
              <a:rPr lang="en-US" sz="1200" b="0" dirty="0">
                <a:solidFill>
                  <a:srgbClr val="595959"/>
                </a:solidFill>
                <a:latin typeface="Aptos" panose="020B0004020202020204" pitchFamily="34" charset="0"/>
              </a:rPr>
              <a:t>Chrome, Edge, Safari, Firefox</a:t>
            </a:r>
          </a:p>
        </p:txBody>
      </p:sp>
      <p:sp>
        <p:nvSpPr>
          <p:cNvPr id="29" name="Text 29">
            <a:extLst>
              <a:ext uri="{FF2B5EF4-FFF2-40B4-BE49-F238E27FC236}">
                <a16:creationId xmlns:a16="http://schemas.microsoft.com/office/drawing/2014/main" id="{6EE6E272-539A-E90C-9BE7-968741AE9E12}"/>
              </a:ext>
            </a:extLst>
          </p:cNvPr>
          <p:cNvSpPr txBox="1"/>
          <p:nvPr/>
        </p:nvSpPr>
        <p:spPr>
          <a:xfrm>
            <a:off x="5936332" y="2952548"/>
            <a:ext cx="10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4</a:t>
            </a:r>
          </a:p>
        </p:txBody>
      </p:sp>
      <p:sp>
        <p:nvSpPr>
          <p:cNvPr id="30" name="Text 30">
            <a:extLst>
              <a:ext uri="{FF2B5EF4-FFF2-40B4-BE49-F238E27FC236}">
                <a16:creationId xmlns:a16="http://schemas.microsoft.com/office/drawing/2014/main" id="{1B032881-4C11-1AF3-D1F9-C475311AD4D3}"/>
              </a:ext>
            </a:extLst>
          </p:cNvPr>
          <p:cNvSpPr txBox="1"/>
          <p:nvPr/>
        </p:nvSpPr>
        <p:spPr>
          <a:xfrm>
            <a:off x="7071092" y="2952548"/>
            <a:ext cx="12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4,256</a:t>
            </a:r>
          </a:p>
        </p:txBody>
      </p:sp>
      <p:sp>
        <p:nvSpPr>
          <p:cNvPr id="31" name="Text 31">
            <a:extLst>
              <a:ext uri="{FF2B5EF4-FFF2-40B4-BE49-F238E27FC236}">
                <a16:creationId xmlns:a16="http://schemas.microsoft.com/office/drawing/2014/main" id="{78457CA9-E887-E6A8-E384-F9C7817FF8DC}"/>
              </a:ext>
            </a:extLst>
          </p:cNvPr>
          <p:cNvSpPr txBox="1"/>
          <p:nvPr/>
        </p:nvSpPr>
        <p:spPr>
          <a:xfrm>
            <a:off x="8709128" y="2952548"/>
            <a:ext cx="160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18.9%</a:t>
            </a:r>
          </a:p>
        </p:txBody>
      </p:sp>
      <p:sp>
        <p:nvSpPr>
          <p:cNvPr id="32" name="Text 32">
            <a:extLst>
              <a:ext uri="{FF2B5EF4-FFF2-40B4-BE49-F238E27FC236}">
                <a16:creationId xmlns:a16="http://schemas.microsoft.com/office/drawing/2014/main" id="{C4E87531-165C-D769-2AB9-E99BA4A1350F}"/>
              </a:ext>
            </a:extLst>
          </p:cNvPr>
          <p:cNvSpPr txBox="1"/>
          <p:nvPr/>
        </p:nvSpPr>
        <p:spPr>
          <a:xfrm>
            <a:off x="9976312" y="2952548"/>
            <a:ext cx="14156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partial</a:t>
            </a:r>
          </a:p>
        </p:txBody>
      </p:sp>
      <p:sp>
        <p:nvSpPr>
          <p:cNvPr id="33" name="Rule 33">
            <a:extLst>
              <a:ext uri="{FF2B5EF4-FFF2-40B4-BE49-F238E27FC236}">
                <a16:creationId xmlns:a16="http://schemas.microsoft.com/office/drawing/2014/main" id="{DD9A112D-4ACA-D73E-96B7-3122D6AFC13C}"/>
              </a:ext>
            </a:extLst>
          </p:cNvPr>
          <p:cNvSpPr/>
          <p:nvPr/>
        </p:nvSpPr>
        <p:spPr>
          <a:xfrm>
            <a:off x="976312" y="3546198"/>
            <a:ext cx="10515600" cy="12700"/>
          </a:xfrm>
          <a:prstGeom prst="rect">
            <a:avLst/>
          </a:prstGeom>
          <a:solidFill>
            <a:srgbClr val="C9C4C1"/>
          </a:solidFill>
          <a:ln>
            <a:noFill/>
          </a:ln>
        </p:spPr>
        <p:txBody>
          <a:bodyPr/>
          <a:lstStyle/>
          <a:p>
            <a:endParaRPr lang="en-US"/>
          </a:p>
        </p:txBody>
      </p:sp>
      <p:sp>
        <p:nvSpPr>
          <p:cNvPr id="34" name="Text 34">
            <a:extLst>
              <a:ext uri="{FF2B5EF4-FFF2-40B4-BE49-F238E27FC236}">
                <a16:creationId xmlns:a16="http://schemas.microsoft.com/office/drawing/2014/main" id="{A18A5863-8790-591E-D135-F47E04397607}"/>
              </a:ext>
            </a:extLst>
          </p:cNvPr>
          <p:cNvSpPr txBox="1"/>
          <p:nvPr/>
        </p:nvSpPr>
        <p:spPr>
          <a:xfrm>
            <a:off x="1042994" y="3552548"/>
            <a:ext cx="4700000" cy="600000"/>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Other applications</a:t>
            </a:r>
          </a:p>
          <a:p>
            <a:pPr algn="l">
              <a:lnSpc>
                <a:spcPct val="100000"/>
              </a:lnSpc>
            </a:pPr>
            <a:r>
              <a:rPr lang="en-US" sz="1200" b="0" dirty="0">
                <a:solidFill>
                  <a:srgbClr val="595959"/>
                </a:solidFill>
                <a:latin typeface="Aptos" panose="020B0004020202020204" pitchFamily="34" charset="0"/>
              </a:rPr>
              <a:t>Acrobat, M365, iTunes, Foxit, Thunderbird</a:t>
            </a:r>
          </a:p>
        </p:txBody>
      </p:sp>
      <p:sp>
        <p:nvSpPr>
          <p:cNvPr id="35" name="Text 35">
            <a:extLst>
              <a:ext uri="{FF2B5EF4-FFF2-40B4-BE49-F238E27FC236}">
                <a16:creationId xmlns:a16="http://schemas.microsoft.com/office/drawing/2014/main" id="{90D5ED7D-AC87-0856-7695-953D4E183DF4}"/>
              </a:ext>
            </a:extLst>
          </p:cNvPr>
          <p:cNvSpPr txBox="1"/>
          <p:nvPr/>
        </p:nvSpPr>
        <p:spPr>
          <a:xfrm>
            <a:off x="5936332" y="3552548"/>
            <a:ext cx="10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8</a:t>
            </a:r>
          </a:p>
        </p:txBody>
      </p:sp>
      <p:sp>
        <p:nvSpPr>
          <p:cNvPr id="36" name="Text 36">
            <a:extLst>
              <a:ext uri="{FF2B5EF4-FFF2-40B4-BE49-F238E27FC236}">
                <a16:creationId xmlns:a16="http://schemas.microsoft.com/office/drawing/2014/main" id="{F819EA79-D1BC-EBF2-86DA-ABA713D30D1E}"/>
              </a:ext>
            </a:extLst>
          </p:cNvPr>
          <p:cNvSpPr txBox="1"/>
          <p:nvPr/>
        </p:nvSpPr>
        <p:spPr>
          <a:xfrm>
            <a:off x="7071092" y="3552548"/>
            <a:ext cx="12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3,406</a:t>
            </a:r>
          </a:p>
        </p:txBody>
      </p:sp>
      <p:sp>
        <p:nvSpPr>
          <p:cNvPr id="37" name="Text 37">
            <a:extLst>
              <a:ext uri="{FF2B5EF4-FFF2-40B4-BE49-F238E27FC236}">
                <a16:creationId xmlns:a16="http://schemas.microsoft.com/office/drawing/2014/main" id="{4AE7C460-4FEC-1A0B-0A69-BB50B7B8A467}"/>
              </a:ext>
            </a:extLst>
          </p:cNvPr>
          <p:cNvSpPr txBox="1"/>
          <p:nvPr/>
        </p:nvSpPr>
        <p:spPr>
          <a:xfrm>
            <a:off x="8853908" y="3552548"/>
            <a:ext cx="160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3.8%</a:t>
            </a:r>
          </a:p>
        </p:txBody>
      </p:sp>
      <p:sp>
        <p:nvSpPr>
          <p:cNvPr id="38" name="Text 38">
            <a:extLst>
              <a:ext uri="{FF2B5EF4-FFF2-40B4-BE49-F238E27FC236}">
                <a16:creationId xmlns:a16="http://schemas.microsoft.com/office/drawing/2014/main" id="{27D85A00-336A-33F0-AEC7-C4FBC4B9A899}"/>
              </a:ext>
            </a:extLst>
          </p:cNvPr>
          <p:cNvSpPr txBox="1"/>
          <p:nvPr/>
        </p:nvSpPr>
        <p:spPr>
          <a:xfrm>
            <a:off x="9976312" y="3552548"/>
            <a:ext cx="14156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partial</a:t>
            </a:r>
          </a:p>
        </p:txBody>
      </p:sp>
      <p:sp>
        <p:nvSpPr>
          <p:cNvPr id="39" name="Rule 39">
            <a:extLst>
              <a:ext uri="{FF2B5EF4-FFF2-40B4-BE49-F238E27FC236}">
                <a16:creationId xmlns:a16="http://schemas.microsoft.com/office/drawing/2014/main" id="{A6914AA5-908D-1222-A7C4-7F1D3271D973}"/>
              </a:ext>
            </a:extLst>
          </p:cNvPr>
          <p:cNvSpPr/>
          <p:nvPr/>
        </p:nvSpPr>
        <p:spPr>
          <a:xfrm>
            <a:off x="976312" y="4146198"/>
            <a:ext cx="10515600" cy="12700"/>
          </a:xfrm>
          <a:prstGeom prst="rect">
            <a:avLst/>
          </a:prstGeom>
          <a:solidFill>
            <a:srgbClr val="C9C4C1"/>
          </a:solidFill>
          <a:ln>
            <a:noFill/>
          </a:ln>
        </p:spPr>
        <p:txBody>
          <a:bodyPr/>
          <a:lstStyle/>
          <a:p>
            <a:endParaRPr lang="en-US"/>
          </a:p>
        </p:txBody>
      </p:sp>
      <p:sp>
        <p:nvSpPr>
          <p:cNvPr id="40" name="Text 40">
            <a:extLst>
              <a:ext uri="{FF2B5EF4-FFF2-40B4-BE49-F238E27FC236}">
                <a16:creationId xmlns:a16="http://schemas.microsoft.com/office/drawing/2014/main" id="{3661810C-C323-DBF3-E1AF-EF8C4EF08F96}"/>
              </a:ext>
            </a:extLst>
          </p:cNvPr>
          <p:cNvSpPr txBox="1"/>
          <p:nvPr/>
        </p:nvSpPr>
        <p:spPr>
          <a:xfrm>
            <a:off x="1042994" y="4152548"/>
            <a:ext cx="4700000" cy="600000"/>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Hardware and chipset firmware</a:t>
            </a:r>
          </a:p>
          <a:p>
            <a:pPr algn="l">
              <a:lnSpc>
                <a:spcPct val="100000"/>
              </a:lnSpc>
            </a:pPr>
            <a:r>
              <a:rPr lang="en-US" sz="1200" b="0" dirty="0">
                <a:solidFill>
                  <a:srgbClr val="595959"/>
                </a:solidFill>
                <a:latin typeface="Aptos" panose="020B0004020202020204" pitchFamily="34" charset="0"/>
              </a:rPr>
              <a:t>Qualcomm</a:t>
            </a:r>
          </a:p>
        </p:txBody>
      </p:sp>
      <p:sp>
        <p:nvSpPr>
          <p:cNvPr id="41" name="Text 41">
            <a:extLst>
              <a:ext uri="{FF2B5EF4-FFF2-40B4-BE49-F238E27FC236}">
                <a16:creationId xmlns:a16="http://schemas.microsoft.com/office/drawing/2014/main" id="{6C846566-25AD-8D44-A84B-AED289CD0363}"/>
              </a:ext>
            </a:extLst>
          </p:cNvPr>
          <p:cNvSpPr txBox="1"/>
          <p:nvPr/>
        </p:nvSpPr>
        <p:spPr>
          <a:xfrm>
            <a:off x="5776312" y="4152548"/>
            <a:ext cx="10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54</a:t>
            </a:r>
          </a:p>
        </p:txBody>
      </p:sp>
      <p:sp>
        <p:nvSpPr>
          <p:cNvPr id="42" name="Text 42">
            <a:extLst>
              <a:ext uri="{FF2B5EF4-FFF2-40B4-BE49-F238E27FC236}">
                <a16:creationId xmlns:a16="http://schemas.microsoft.com/office/drawing/2014/main" id="{414E7563-2A50-C7D8-0E58-3234D62ABF4D}"/>
              </a:ext>
            </a:extLst>
          </p:cNvPr>
          <p:cNvSpPr txBox="1"/>
          <p:nvPr/>
        </p:nvSpPr>
        <p:spPr>
          <a:xfrm>
            <a:off x="7071092" y="4152548"/>
            <a:ext cx="125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1,540</a:t>
            </a:r>
          </a:p>
        </p:txBody>
      </p:sp>
      <p:sp>
        <p:nvSpPr>
          <p:cNvPr id="43" name="Text 43">
            <a:extLst>
              <a:ext uri="{FF2B5EF4-FFF2-40B4-BE49-F238E27FC236}">
                <a16:creationId xmlns:a16="http://schemas.microsoft.com/office/drawing/2014/main" id="{D3221CD7-3F01-78AA-9556-D5CDECC52141}"/>
              </a:ext>
            </a:extLst>
          </p:cNvPr>
          <p:cNvSpPr txBox="1"/>
          <p:nvPr/>
        </p:nvSpPr>
        <p:spPr>
          <a:xfrm>
            <a:off x="8876768" y="4152548"/>
            <a:ext cx="16000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2.1%</a:t>
            </a:r>
          </a:p>
        </p:txBody>
      </p:sp>
      <p:sp>
        <p:nvSpPr>
          <p:cNvPr id="44" name="Text 44">
            <a:extLst>
              <a:ext uri="{FF2B5EF4-FFF2-40B4-BE49-F238E27FC236}">
                <a16:creationId xmlns:a16="http://schemas.microsoft.com/office/drawing/2014/main" id="{ACE374F1-D746-DC50-4F70-51986E9B784F}"/>
              </a:ext>
            </a:extLst>
          </p:cNvPr>
          <p:cNvSpPr txBox="1"/>
          <p:nvPr/>
        </p:nvSpPr>
        <p:spPr>
          <a:xfrm>
            <a:off x="9976312" y="4152548"/>
            <a:ext cx="1415600" cy="600000"/>
          </a:xfrm>
          <a:prstGeom prst="rect">
            <a:avLst/>
          </a:prstGeom>
          <a:noFill/>
        </p:spPr>
        <p:txBody>
          <a:bodyPr wrap="square" lIns="0" tIns="0" rIns="0" bIns="0" rtlCol="0" anchor="ctr"/>
          <a:lstStyle/>
          <a:p>
            <a:pPr algn="l">
              <a:lnSpc>
                <a:spcPct val="100000"/>
              </a:lnSpc>
            </a:pPr>
            <a:r>
              <a:rPr lang="en-US" sz="2400" b="0" dirty="0">
                <a:solidFill>
                  <a:srgbClr val="1A1A1A"/>
                </a:solidFill>
                <a:latin typeface="Aptos" panose="020B0004020202020204" pitchFamily="34" charset="0"/>
              </a:rPr>
              <a:t>no</a:t>
            </a:r>
          </a:p>
        </p:txBody>
      </p:sp>
      <p:sp>
        <p:nvSpPr>
          <p:cNvPr id="45" name="Rule 45">
            <a:extLst>
              <a:ext uri="{FF2B5EF4-FFF2-40B4-BE49-F238E27FC236}">
                <a16:creationId xmlns:a16="http://schemas.microsoft.com/office/drawing/2014/main" id="{7FC0C648-8085-502B-7E31-2FF6871E7CE2}"/>
              </a:ext>
            </a:extLst>
          </p:cNvPr>
          <p:cNvSpPr/>
          <p:nvPr/>
        </p:nvSpPr>
        <p:spPr>
          <a:xfrm>
            <a:off x="976312" y="4746198"/>
            <a:ext cx="10515600" cy="12700"/>
          </a:xfrm>
          <a:prstGeom prst="rect">
            <a:avLst/>
          </a:prstGeom>
          <a:solidFill>
            <a:srgbClr val="C9C4C1"/>
          </a:solidFill>
          <a:ln>
            <a:noFill/>
          </a:ln>
        </p:spPr>
        <p:txBody>
          <a:bodyPr/>
          <a:lstStyle/>
          <a:p>
            <a:endParaRPr lang="en-US"/>
          </a:p>
        </p:txBody>
      </p:sp>
      <p:sp>
        <p:nvSpPr>
          <p:cNvPr id="46" name="Text 46">
            <a:extLst>
              <a:ext uri="{FF2B5EF4-FFF2-40B4-BE49-F238E27FC236}">
                <a16:creationId xmlns:a16="http://schemas.microsoft.com/office/drawing/2014/main" id="{A0A3C122-68C9-48E5-1988-A70F4C5A6629}"/>
              </a:ext>
            </a:extLst>
          </p:cNvPr>
          <p:cNvSpPr txBox="1"/>
          <p:nvPr/>
        </p:nvSpPr>
        <p:spPr>
          <a:xfrm>
            <a:off x="1042994" y="4752548"/>
            <a:ext cx="4700000" cy="600000"/>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Total</a:t>
            </a:r>
          </a:p>
        </p:txBody>
      </p:sp>
      <p:sp>
        <p:nvSpPr>
          <p:cNvPr id="47" name="Text 47">
            <a:extLst>
              <a:ext uri="{FF2B5EF4-FFF2-40B4-BE49-F238E27FC236}">
                <a16:creationId xmlns:a16="http://schemas.microsoft.com/office/drawing/2014/main" id="{5F0D2F6F-701A-C74B-111B-ECEE3EE4F27C}"/>
              </a:ext>
            </a:extLst>
          </p:cNvPr>
          <p:cNvSpPr txBox="1"/>
          <p:nvPr/>
        </p:nvSpPr>
        <p:spPr>
          <a:xfrm>
            <a:off x="5707732" y="4752548"/>
            <a:ext cx="1050000" cy="600000"/>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100</a:t>
            </a:r>
          </a:p>
        </p:txBody>
      </p:sp>
      <p:sp>
        <p:nvSpPr>
          <p:cNvPr id="48" name="Text 48">
            <a:extLst>
              <a:ext uri="{FF2B5EF4-FFF2-40B4-BE49-F238E27FC236}">
                <a16:creationId xmlns:a16="http://schemas.microsoft.com/office/drawing/2014/main" id="{74B641D1-A07C-250D-C563-EBC103A294B4}"/>
              </a:ext>
            </a:extLst>
          </p:cNvPr>
          <p:cNvSpPr txBox="1"/>
          <p:nvPr/>
        </p:nvSpPr>
        <p:spPr>
          <a:xfrm>
            <a:off x="6926312" y="4752548"/>
            <a:ext cx="1250000" cy="600000"/>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26,618</a:t>
            </a:r>
          </a:p>
        </p:txBody>
      </p:sp>
      <p:sp>
        <p:nvSpPr>
          <p:cNvPr id="49" name="Text 49">
            <a:extLst>
              <a:ext uri="{FF2B5EF4-FFF2-40B4-BE49-F238E27FC236}">
                <a16:creationId xmlns:a16="http://schemas.microsoft.com/office/drawing/2014/main" id="{D70B8707-1C9A-DC58-9D57-F81BCE9C8E00}"/>
              </a:ext>
            </a:extLst>
          </p:cNvPr>
          <p:cNvSpPr txBox="1"/>
          <p:nvPr/>
        </p:nvSpPr>
        <p:spPr>
          <a:xfrm>
            <a:off x="8709128" y="4752548"/>
            <a:ext cx="1600000" cy="600000"/>
          </a:xfrm>
          <a:prstGeom prst="rect">
            <a:avLst/>
          </a:prstGeom>
          <a:noFill/>
        </p:spPr>
        <p:txBody>
          <a:bodyPr wrap="square" lIns="0" tIns="0" rIns="0" bIns="0" rtlCol="0" anchor="ctr"/>
          <a:lstStyle/>
          <a:p>
            <a:pPr algn="l">
              <a:lnSpc>
                <a:spcPct val="100000"/>
              </a:lnSpc>
            </a:pPr>
            <a:r>
              <a:rPr lang="en-US" sz="2400" b="1" dirty="0">
                <a:solidFill>
                  <a:srgbClr val="1A1A1A"/>
                </a:solidFill>
                <a:latin typeface="Aptos" panose="020B0004020202020204" pitchFamily="34" charset="0"/>
              </a:rPr>
              <a:t>63.9%</a:t>
            </a:r>
          </a:p>
        </p:txBody>
      </p:sp>
      <p:sp>
        <p:nvSpPr>
          <p:cNvPr id="50" name="Text 50">
            <a:extLst>
              <a:ext uri="{FF2B5EF4-FFF2-40B4-BE49-F238E27FC236}">
                <a16:creationId xmlns:a16="http://schemas.microsoft.com/office/drawing/2014/main" id="{25CF8AAE-04DE-E88C-2D3E-C5E221DA59CD}"/>
              </a:ext>
            </a:extLst>
          </p:cNvPr>
          <p:cNvSpPr txBox="1"/>
          <p:nvPr/>
        </p:nvSpPr>
        <p:spPr>
          <a:xfrm>
            <a:off x="9976312" y="4752548"/>
            <a:ext cx="1415600" cy="600000"/>
          </a:xfrm>
          <a:prstGeom prst="rect">
            <a:avLst/>
          </a:prstGeom>
          <a:noFill/>
        </p:spPr>
        <p:txBody>
          <a:bodyPr wrap="square" lIns="0" tIns="0" rIns="0" bIns="0" rtlCol="0" anchor="ctr"/>
          <a:lstStyle/>
          <a:p>
            <a:pPr algn="l">
              <a:lnSpc>
                <a:spcPct val="100000"/>
              </a:lnSpc>
            </a:pPr>
            <a:endParaRPr/>
          </a:p>
        </p:txBody>
      </p:sp>
      <p:sp>
        <p:nvSpPr>
          <p:cNvPr id="51" name="Rule 51">
            <a:extLst>
              <a:ext uri="{FF2B5EF4-FFF2-40B4-BE49-F238E27FC236}">
                <a16:creationId xmlns:a16="http://schemas.microsoft.com/office/drawing/2014/main" id="{1CD55FCA-1C91-93CD-7264-AAC2210FEFE7}"/>
              </a:ext>
            </a:extLst>
          </p:cNvPr>
          <p:cNvSpPr/>
          <p:nvPr/>
        </p:nvSpPr>
        <p:spPr>
          <a:xfrm>
            <a:off x="976312" y="5346198"/>
            <a:ext cx="10515600" cy="12700"/>
          </a:xfrm>
          <a:prstGeom prst="rect">
            <a:avLst/>
          </a:prstGeom>
          <a:solidFill>
            <a:srgbClr val="C9C4C1"/>
          </a:solidFill>
          <a:ln>
            <a:noFill/>
          </a:ln>
        </p:spPr>
        <p:txBody>
          <a:bodyPr/>
          <a:lstStyle/>
          <a:p>
            <a:endParaRPr lang="en-US"/>
          </a:p>
        </p:txBody>
      </p:sp>
      <p:sp>
        <p:nvSpPr>
          <p:cNvPr id="52" name="Band 52">
            <a:extLst>
              <a:ext uri="{FF2B5EF4-FFF2-40B4-BE49-F238E27FC236}">
                <a16:creationId xmlns:a16="http://schemas.microsoft.com/office/drawing/2014/main" id="{EBEBA9BC-A564-43AE-0FA1-F776286AA75A}"/>
              </a:ext>
            </a:extLst>
          </p:cNvPr>
          <p:cNvSpPr/>
          <p:nvPr/>
        </p:nvSpPr>
        <p:spPr>
          <a:xfrm>
            <a:off x="976312" y="5352548"/>
            <a:ext cx="10515600" cy="600000"/>
          </a:xfrm>
          <a:prstGeom prst="rect">
            <a:avLst/>
          </a:prstGeom>
          <a:solidFill>
            <a:srgbClr val="EAE6E4"/>
          </a:solidFill>
          <a:ln>
            <a:noFill/>
          </a:ln>
        </p:spPr>
        <p:txBody>
          <a:bodyPr/>
          <a:lstStyle/>
          <a:p>
            <a:endParaRPr lang="en-US"/>
          </a:p>
        </p:txBody>
      </p:sp>
      <p:sp>
        <p:nvSpPr>
          <p:cNvPr id="53" name="Text 53">
            <a:extLst>
              <a:ext uri="{FF2B5EF4-FFF2-40B4-BE49-F238E27FC236}">
                <a16:creationId xmlns:a16="http://schemas.microsoft.com/office/drawing/2014/main" id="{55C35D50-8226-24E7-BF2C-79D6ADBEA955}"/>
              </a:ext>
            </a:extLst>
          </p:cNvPr>
          <p:cNvSpPr txBox="1"/>
          <p:nvPr/>
        </p:nvSpPr>
        <p:spPr>
          <a:xfrm>
            <a:off x="1042994" y="5352548"/>
            <a:ext cx="4700000" cy="600000"/>
          </a:xfrm>
          <a:prstGeom prst="rect">
            <a:avLst/>
          </a:prstGeom>
          <a:noFill/>
        </p:spPr>
        <p:txBody>
          <a:bodyPr wrap="square" lIns="0" tIns="0" rIns="0" bIns="0" rtlCol="0" anchor="ctr"/>
          <a:lstStyle/>
          <a:p>
            <a:pPr algn="l">
              <a:lnSpc>
                <a:spcPct val="100000"/>
              </a:lnSpc>
            </a:pPr>
            <a:r>
              <a:rPr lang="en-US" sz="2400" b="1" dirty="0">
                <a:solidFill>
                  <a:srgbClr val="9A9A9A"/>
                </a:solidFill>
                <a:latin typeface="Aptos" panose="020B0004020202020204" pitchFamily="34" charset="0"/>
              </a:rPr>
              <a:t>Everything else</a:t>
            </a:r>
          </a:p>
        </p:txBody>
      </p:sp>
      <p:sp>
        <p:nvSpPr>
          <p:cNvPr id="54" name="Text 54">
            <a:extLst>
              <a:ext uri="{FF2B5EF4-FFF2-40B4-BE49-F238E27FC236}">
                <a16:creationId xmlns:a16="http://schemas.microsoft.com/office/drawing/2014/main" id="{1AE9F615-5B91-0144-A133-81725F05F67C}"/>
              </a:ext>
            </a:extLst>
          </p:cNvPr>
          <p:cNvSpPr txBox="1"/>
          <p:nvPr/>
        </p:nvSpPr>
        <p:spPr>
          <a:xfrm>
            <a:off x="5326732" y="5352548"/>
            <a:ext cx="1050000" cy="600000"/>
          </a:xfrm>
          <a:prstGeom prst="rect">
            <a:avLst/>
          </a:prstGeom>
          <a:noFill/>
        </p:spPr>
        <p:txBody>
          <a:bodyPr wrap="square" lIns="0" tIns="0" rIns="0" bIns="0" rtlCol="0" anchor="ctr"/>
          <a:lstStyle/>
          <a:p>
            <a:pPr algn="l">
              <a:lnSpc>
                <a:spcPct val="100000"/>
              </a:lnSpc>
            </a:pPr>
            <a:r>
              <a:rPr lang="en-US" sz="2400" b="0" dirty="0">
                <a:solidFill>
                  <a:srgbClr val="9A9A9A"/>
                </a:solidFill>
                <a:latin typeface="Aptos" panose="020B0004020202020204" pitchFamily="34" charset="0"/>
              </a:rPr>
              <a:t>26,407</a:t>
            </a:r>
          </a:p>
        </p:txBody>
      </p:sp>
      <p:sp>
        <p:nvSpPr>
          <p:cNvPr id="55" name="Text 55">
            <a:extLst>
              <a:ext uri="{FF2B5EF4-FFF2-40B4-BE49-F238E27FC236}">
                <a16:creationId xmlns:a16="http://schemas.microsoft.com/office/drawing/2014/main" id="{778BC143-D73E-4CEF-B966-0CC403197187}"/>
              </a:ext>
            </a:extLst>
          </p:cNvPr>
          <p:cNvSpPr txBox="1"/>
          <p:nvPr/>
        </p:nvSpPr>
        <p:spPr>
          <a:xfrm>
            <a:off x="6926312" y="5352548"/>
            <a:ext cx="1250000" cy="600000"/>
          </a:xfrm>
          <a:prstGeom prst="rect">
            <a:avLst/>
          </a:prstGeom>
          <a:noFill/>
        </p:spPr>
        <p:txBody>
          <a:bodyPr wrap="square" lIns="0" tIns="0" rIns="0" bIns="0" rtlCol="0" anchor="ctr"/>
          <a:lstStyle/>
          <a:p>
            <a:pPr algn="l">
              <a:lnSpc>
                <a:spcPct val="100000"/>
              </a:lnSpc>
            </a:pPr>
            <a:r>
              <a:rPr lang="en-US" sz="2400" b="0" dirty="0">
                <a:solidFill>
                  <a:srgbClr val="9A9A9A"/>
                </a:solidFill>
                <a:latin typeface="Aptos" panose="020B0004020202020204" pitchFamily="34" charset="0"/>
              </a:rPr>
              <a:t>31,415</a:t>
            </a:r>
          </a:p>
        </p:txBody>
      </p:sp>
      <p:sp>
        <p:nvSpPr>
          <p:cNvPr id="56" name="Text 56">
            <a:extLst>
              <a:ext uri="{FF2B5EF4-FFF2-40B4-BE49-F238E27FC236}">
                <a16:creationId xmlns:a16="http://schemas.microsoft.com/office/drawing/2014/main" id="{C4911F29-D61E-EE7F-6ECC-0FB7D1DF9AA8}"/>
              </a:ext>
            </a:extLst>
          </p:cNvPr>
          <p:cNvSpPr txBox="1"/>
          <p:nvPr/>
        </p:nvSpPr>
        <p:spPr>
          <a:xfrm>
            <a:off x="8709128" y="5352548"/>
            <a:ext cx="1600000" cy="600000"/>
          </a:xfrm>
          <a:prstGeom prst="rect">
            <a:avLst/>
          </a:prstGeom>
          <a:noFill/>
        </p:spPr>
        <p:txBody>
          <a:bodyPr wrap="square" lIns="0" tIns="0" rIns="0" bIns="0" rtlCol="0" anchor="ctr"/>
          <a:lstStyle/>
          <a:p>
            <a:pPr algn="l">
              <a:lnSpc>
                <a:spcPct val="100000"/>
              </a:lnSpc>
            </a:pPr>
            <a:r>
              <a:rPr lang="en-US" sz="2400" b="0" dirty="0">
                <a:solidFill>
                  <a:srgbClr val="9A9A9A"/>
                </a:solidFill>
                <a:latin typeface="Aptos" panose="020B0004020202020204" pitchFamily="34" charset="0"/>
              </a:rPr>
              <a:t>36.1%</a:t>
            </a:r>
          </a:p>
        </p:txBody>
      </p:sp>
      <p:sp>
        <p:nvSpPr>
          <p:cNvPr id="58" name="Rule 58">
            <a:extLst>
              <a:ext uri="{FF2B5EF4-FFF2-40B4-BE49-F238E27FC236}">
                <a16:creationId xmlns:a16="http://schemas.microsoft.com/office/drawing/2014/main" id="{827C26AF-B7B6-004C-77B7-B5DFFDB81C1E}"/>
              </a:ext>
            </a:extLst>
          </p:cNvPr>
          <p:cNvSpPr/>
          <p:nvPr/>
        </p:nvSpPr>
        <p:spPr>
          <a:xfrm>
            <a:off x="976312" y="5946198"/>
            <a:ext cx="10515600" cy="12700"/>
          </a:xfrm>
          <a:prstGeom prst="rect">
            <a:avLst/>
          </a:prstGeom>
          <a:solidFill>
            <a:srgbClr val="C9C4C1"/>
          </a:solidFill>
          <a:ln>
            <a:noFill/>
          </a:ln>
        </p:spPr>
        <p:txBody>
          <a:bodyPr/>
          <a:lstStyle/>
          <a:p>
            <a:endParaRPr lang="en-US"/>
          </a:p>
        </p:txBody>
      </p:sp>
      <p:sp>
        <p:nvSpPr>
          <p:cNvPr id="5" name="TextBox 4">
            <a:extLst>
              <a:ext uri="{FF2B5EF4-FFF2-40B4-BE49-F238E27FC236}">
                <a16:creationId xmlns:a16="http://schemas.microsoft.com/office/drawing/2014/main" id="{20E2E43E-BE47-6CD7-5E37-007ADDFF4DC5}"/>
              </a:ext>
            </a:extLst>
          </p:cNvPr>
          <p:cNvSpPr txBox="1"/>
          <p:nvPr/>
        </p:nvSpPr>
        <p:spPr>
          <a:xfrm>
            <a:off x="890332" y="6097816"/>
            <a:ext cx="10601580" cy="523220"/>
          </a:xfrm>
          <a:prstGeom prst="rect">
            <a:avLst/>
          </a:prstGeom>
          <a:noFill/>
        </p:spPr>
        <p:txBody>
          <a:bodyPr wrap="square">
            <a:spAutoFit/>
          </a:bodyPr>
          <a:lstStyle/>
          <a:p>
            <a:r>
              <a:rPr lang="en-US" sz="1400" dirty="0">
                <a:solidFill>
                  <a:schemeClr val="bg1">
                    <a:lumMod val="65000"/>
                  </a:schemeClr>
                </a:solidFill>
              </a:rPr>
              <a:t>CVEs published 2016–2026, grouped by affected product. “% of exploited” is each group’s share of known-exploited CVEs.</a:t>
            </a:r>
          </a:p>
          <a:p>
            <a:r>
              <a:rPr lang="en-US" sz="1400" dirty="0">
                <a:solidFill>
                  <a:schemeClr val="bg1">
                    <a:lumMod val="65000"/>
                  </a:schemeClr>
                </a:solidFill>
              </a:rPr>
              <a:t>Counts are not adjusted for product age, usage, or codebase size.</a:t>
            </a:r>
          </a:p>
        </p:txBody>
      </p:sp>
    </p:spTree>
    <p:extLst>
      <p:ext uri="{BB962C8B-B14F-4D97-AF65-F5344CB8AC3E}">
        <p14:creationId xmlns:p14="http://schemas.microsoft.com/office/powerpoint/2010/main" val="1358515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The top 25 defect types</a:t>
            </a:r>
          </a:p>
        </p:txBody>
      </p:sp>
      <p:sp>
        <p:nvSpPr>
          <p:cNvPr id="3" name="Rounded Rectangle 2"/>
          <p:cNvSpPr/>
          <p:nvPr/>
        </p:nvSpPr>
        <p:spPr>
          <a:xfrm>
            <a:off x="3994200" y="1556000"/>
            <a:ext cx="189400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Out-of-bounds access</a:t>
            </a:r>
            <a:r>
              <a:rPr sz="1000">
                <a:solidFill>
                  <a:srgbClr val="595959"/>
                </a:solidFill>
                <a:latin typeface="Aptos"/>
              </a:rPr>
              <a:t>  74%</a:t>
            </a:r>
          </a:p>
        </p:txBody>
      </p:sp>
      <p:sp>
        <p:nvSpPr>
          <p:cNvPr id="4" name="Chevron 3"/>
          <p:cNvSpPr/>
          <p:nvPr/>
        </p:nvSpPr>
        <p:spPr>
          <a:xfrm>
            <a:off x="3812120" y="162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37120" y="1550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6" name="Rounded Rectangle 5"/>
          <p:cNvSpPr/>
          <p:nvPr/>
        </p:nvSpPr>
        <p:spPr>
          <a:xfrm>
            <a:off x="5938200" y="1606000"/>
            <a:ext cx="4765599" cy="150000"/>
          </a:xfrm>
          <a:prstGeom prst="roundRect">
            <a:avLst>
              <a:gd name="adj" fmla="val 50000"/>
            </a:avLst>
          </a:prstGeom>
          <a:solidFill>
            <a:srgbClr val="8A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73799" y="1550000"/>
            <a:ext cx="600000" cy="262000"/>
          </a:xfrm>
          <a:prstGeom prst="rect">
            <a:avLst/>
          </a:prstGeom>
          <a:noFill/>
        </p:spPr>
        <p:txBody>
          <a:bodyPr wrap="none" lIns="0" tIns="0" rIns="0" bIns="0" anchor="ctr"/>
          <a:lstStyle/>
          <a:p>
            <a:pPr algn="l"/>
            <a:r>
              <a:rPr sz="1100" b="0">
                <a:solidFill>
                  <a:srgbClr val="595959"/>
                </a:solidFill>
                <a:latin typeface="Aptos"/>
              </a:rPr>
              <a:t>50.4%</a:t>
            </a:r>
          </a:p>
        </p:txBody>
      </p:sp>
      <p:sp>
        <p:nvSpPr>
          <p:cNvPr id="8" name="Rounded Rectangle 7"/>
          <p:cNvSpPr/>
          <p:nvPr/>
        </p:nvSpPr>
        <p:spPr>
          <a:xfrm>
            <a:off x="3770822" y="1818000"/>
            <a:ext cx="211737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input validation</a:t>
            </a:r>
            <a:r>
              <a:rPr sz="1000">
                <a:solidFill>
                  <a:srgbClr val="595959"/>
                </a:solidFill>
                <a:latin typeface="Aptos"/>
              </a:rPr>
              <a:t>  76%</a:t>
            </a:r>
          </a:p>
        </p:txBody>
      </p:sp>
      <p:sp>
        <p:nvSpPr>
          <p:cNvPr id="9" name="Chevron 8"/>
          <p:cNvSpPr/>
          <p:nvPr/>
        </p:nvSpPr>
        <p:spPr>
          <a:xfrm>
            <a:off x="3627192" y="188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92" y="1812000"/>
            <a:ext cx="2355000" cy="262000"/>
          </a:xfrm>
          <a:prstGeom prst="rect">
            <a:avLst/>
          </a:prstGeom>
          <a:noFill/>
        </p:spPr>
        <p:txBody>
          <a:bodyPr wrap="none" lIns="0" tIns="0" rIns="0" bIns="0" anchor="ctr"/>
          <a:lstStyle/>
          <a:p>
            <a:pPr algn="r"/>
            <a:r>
              <a:rPr sz="1250" b="1">
                <a:solidFill>
                  <a:srgbClr val="1A1A1A"/>
                </a:solidFill>
                <a:latin typeface="Aptos"/>
              </a:rPr>
              <a:t>Interface and data</a:t>
            </a:r>
            <a:r>
              <a:rPr sz="1250" b="0">
                <a:solidFill>
                  <a:srgbClr val="8C8C8C"/>
                </a:solidFill>
                <a:latin typeface="Aptos"/>
              </a:rPr>
              <a:t>  15%</a:t>
            </a:r>
          </a:p>
        </p:txBody>
      </p:sp>
      <p:sp>
        <p:nvSpPr>
          <p:cNvPr id="11" name="Rounded Rectangle 10"/>
          <p:cNvSpPr/>
          <p:nvPr/>
        </p:nvSpPr>
        <p:spPr>
          <a:xfrm>
            <a:off x="5938200" y="1868000"/>
            <a:ext cx="2236473" cy="150000"/>
          </a:xfrm>
          <a:prstGeom prst="roundRect">
            <a:avLst>
              <a:gd name="adj" fmla="val 50000"/>
            </a:avLst>
          </a:prstGeom>
          <a:solidFill>
            <a:srgbClr val="D05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44673" y="1812000"/>
            <a:ext cx="600000" cy="262000"/>
          </a:xfrm>
          <a:prstGeom prst="rect">
            <a:avLst/>
          </a:prstGeom>
          <a:noFill/>
        </p:spPr>
        <p:txBody>
          <a:bodyPr wrap="none" lIns="0" tIns="0" rIns="0" bIns="0" anchor="ctr"/>
          <a:lstStyle/>
          <a:p>
            <a:pPr algn="l"/>
            <a:r>
              <a:rPr sz="1100" b="0">
                <a:solidFill>
                  <a:srgbClr val="595959"/>
                </a:solidFill>
                <a:latin typeface="Aptos"/>
              </a:rPr>
              <a:t>11.1%</a:t>
            </a:r>
          </a:p>
        </p:txBody>
      </p:sp>
      <p:sp>
        <p:nvSpPr>
          <p:cNvPr id="13" name="Rounded Rectangle 12"/>
          <p:cNvSpPr/>
          <p:nvPr/>
        </p:nvSpPr>
        <p:spPr>
          <a:xfrm>
            <a:off x="4422180" y="2080000"/>
            <a:ext cx="1466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Use after free</a:t>
            </a:r>
            <a:r>
              <a:rPr sz="1000">
                <a:solidFill>
                  <a:srgbClr val="595959"/>
                </a:solidFill>
                <a:latin typeface="Aptos"/>
              </a:rPr>
              <a:t>  14%</a:t>
            </a:r>
          </a:p>
        </p:txBody>
      </p:sp>
      <p:sp>
        <p:nvSpPr>
          <p:cNvPr id="14" name="Chevron 13"/>
          <p:cNvSpPr/>
          <p:nvPr/>
        </p:nvSpPr>
        <p:spPr>
          <a:xfrm>
            <a:off x="4243736" y="215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68736" y="2074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16" name="Rounded Rectangle 15"/>
          <p:cNvSpPr/>
          <p:nvPr/>
        </p:nvSpPr>
        <p:spPr>
          <a:xfrm>
            <a:off x="5938200" y="2130000"/>
            <a:ext cx="2058098" cy="150000"/>
          </a:xfrm>
          <a:prstGeom prst="roundRect">
            <a:avLst>
              <a:gd name="adj" fmla="val 50000"/>
            </a:avLst>
          </a:prstGeom>
          <a:solidFill>
            <a:srgbClr val="D46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66298" y="2074000"/>
            <a:ext cx="600000" cy="262000"/>
          </a:xfrm>
          <a:prstGeom prst="rect">
            <a:avLst/>
          </a:prstGeom>
          <a:noFill/>
        </p:spPr>
        <p:txBody>
          <a:bodyPr wrap="none" lIns="0" tIns="0" rIns="0" bIns="0" anchor="ctr"/>
          <a:lstStyle/>
          <a:p>
            <a:pPr algn="l"/>
            <a:r>
              <a:rPr sz="1100" b="0">
                <a:solidFill>
                  <a:srgbClr val="595959"/>
                </a:solidFill>
                <a:latin typeface="Aptos"/>
              </a:rPr>
              <a:t>9.4%</a:t>
            </a:r>
          </a:p>
        </p:txBody>
      </p:sp>
      <p:sp>
        <p:nvSpPr>
          <p:cNvPr id="18" name="Rounded Rectangle 17"/>
          <p:cNvSpPr/>
          <p:nvPr/>
        </p:nvSpPr>
        <p:spPr>
          <a:xfrm>
            <a:off x="3770824" y="2342000"/>
            <a:ext cx="2117376"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NULL pointer dereference</a:t>
            </a:r>
            <a:r>
              <a:rPr sz="1000">
                <a:solidFill>
                  <a:srgbClr val="595959"/>
                </a:solidFill>
                <a:latin typeface="Aptos"/>
              </a:rPr>
              <a:t>  9%</a:t>
            </a:r>
          </a:p>
        </p:txBody>
      </p:sp>
      <p:sp>
        <p:nvSpPr>
          <p:cNvPr id="19" name="Chevron 18"/>
          <p:cNvSpPr/>
          <p:nvPr/>
        </p:nvSpPr>
        <p:spPr>
          <a:xfrm>
            <a:off x="3610696" y="241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35696" y="2336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21" name="Rounded Rectangle 20"/>
          <p:cNvSpPr/>
          <p:nvPr/>
        </p:nvSpPr>
        <p:spPr>
          <a:xfrm>
            <a:off x="5938200" y="2392000"/>
            <a:ext cx="1671468" cy="150000"/>
          </a:xfrm>
          <a:prstGeom prst="roundRect">
            <a:avLst>
              <a:gd name="adj" fmla="val 50000"/>
            </a:avLst>
          </a:prstGeom>
          <a:solidFill>
            <a:srgbClr val="DE77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79668" y="2336000"/>
            <a:ext cx="600000" cy="262000"/>
          </a:xfrm>
          <a:prstGeom prst="rect">
            <a:avLst/>
          </a:prstGeom>
          <a:noFill/>
        </p:spPr>
        <p:txBody>
          <a:bodyPr wrap="none" lIns="0" tIns="0" rIns="0" bIns="0" anchor="ctr"/>
          <a:lstStyle/>
          <a:p>
            <a:pPr algn="l"/>
            <a:r>
              <a:rPr sz="1100" b="0">
                <a:solidFill>
                  <a:srgbClr val="595959"/>
                </a:solidFill>
                <a:latin typeface="Aptos"/>
              </a:rPr>
              <a:t>6.2%</a:t>
            </a:r>
          </a:p>
        </p:txBody>
      </p:sp>
      <p:sp>
        <p:nvSpPr>
          <p:cNvPr id="23" name="Rounded Rectangle 22"/>
          <p:cNvSpPr/>
          <p:nvPr/>
        </p:nvSpPr>
        <p:spPr>
          <a:xfrm>
            <a:off x="3637550" y="2604000"/>
            <a:ext cx="225065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Uncontrolled resource use</a:t>
            </a:r>
            <a:r>
              <a:rPr sz="1000">
                <a:solidFill>
                  <a:srgbClr val="595959"/>
                </a:solidFill>
                <a:latin typeface="Aptos"/>
              </a:rPr>
              <a:t>  41%</a:t>
            </a:r>
          </a:p>
        </p:txBody>
      </p:sp>
      <p:sp>
        <p:nvSpPr>
          <p:cNvPr id="24" name="Chevron 23"/>
          <p:cNvSpPr/>
          <p:nvPr/>
        </p:nvSpPr>
        <p:spPr>
          <a:xfrm>
            <a:off x="3480888" y="267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888" y="2598000"/>
            <a:ext cx="2455000" cy="262000"/>
          </a:xfrm>
          <a:prstGeom prst="rect">
            <a:avLst/>
          </a:prstGeom>
          <a:noFill/>
        </p:spPr>
        <p:txBody>
          <a:bodyPr wrap="none" lIns="0" tIns="0" rIns="0" bIns="0" anchor="ctr"/>
          <a:lstStyle/>
          <a:p>
            <a:pPr algn="r"/>
            <a:r>
              <a:rPr sz="1250" b="1">
                <a:solidFill>
                  <a:srgbClr val="1A1A1A"/>
                </a:solidFill>
                <a:latin typeface="Aptos"/>
              </a:rPr>
              <a:t>Resource management</a:t>
            </a:r>
            <a:r>
              <a:rPr sz="1250" b="0">
                <a:solidFill>
                  <a:srgbClr val="8C8C8C"/>
                </a:solidFill>
                <a:latin typeface="Aptos"/>
              </a:rPr>
              <a:t>  10%</a:t>
            </a:r>
          </a:p>
        </p:txBody>
      </p:sp>
      <p:sp>
        <p:nvSpPr>
          <p:cNvPr id="26" name="Rounded Rectangle 25"/>
          <p:cNvSpPr/>
          <p:nvPr/>
        </p:nvSpPr>
        <p:spPr>
          <a:xfrm>
            <a:off x="5938200" y="2654000"/>
            <a:ext cx="1325667" cy="150000"/>
          </a:xfrm>
          <a:prstGeom prst="roundRect">
            <a:avLst>
              <a:gd name="adj" fmla="val 50000"/>
            </a:avLst>
          </a:prstGeom>
          <a:solidFill>
            <a:srgbClr val="E389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33867" y="2598000"/>
            <a:ext cx="600000" cy="262000"/>
          </a:xfrm>
          <a:prstGeom prst="rect">
            <a:avLst/>
          </a:prstGeom>
          <a:noFill/>
        </p:spPr>
        <p:txBody>
          <a:bodyPr wrap="none" lIns="0" tIns="0" rIns="0" bIns="0" anchor="ctr"/>
          <a:lstStyle/>
          <a:p>
            <a:pPr algn="l"/>
            <a:r>
              <a:rPr sz="1100" b="0">
                <a:solidFill>
                  <a:srgbClr val="595959"/>
                </a:solidFill>
                <a:latin typeface="Aptos"/>
              </a:rPr>
              <a:t>3.9%</a:t>
            </a:r>
          </a:p>
        </p:txBody>
      </p:sp>
      <p:sp>
        <p:nvSpPr>
          <p:cNvPr id="28" name="Rounded Rectangle 27"/>
          <p:cNvSpPr/>
          <p:nvPr/>
        </p:nvSpPr>
        <p:spPr>
          <a:xfrm>
            <a:off x="4279520" y="2866000"/>
            <a:ext cx="160868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Integer overflow</a:t>
            </a:r>
            <a:r>
              <a:rPr sz="1000">
                <a:solidFill>
                  <a:srgbClr val="595959"/>
                </a:solidFill>
                <a:latin typeface="Aptos"/>
              </a:rPr>
              <a:t>  79%</a:t>
            </a:r>
          </a:p>
        </p:txBody>
      </p:sp>
      <p:sp>
        <p:nvSpPr>
          <p:cNvPr id="29" name="Chevron 28"/>
          <p:cNvSpPr/>
          <p:nvPr/>
        </p:nvSpPr>
        <p:spPr>
          <a:xfrm>
            <a:off x="4097832" y="293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07832" y="2860000"/>
            <a:ext cx="1870000" cy="262000"/>
          </a:xfrm>
          <a:prstGeom prst="rect">
            <a:avLst/>
          </a:prstGeom>
          <a:noFill/>
        </p:spPr>
        <p:txBody>
          <a:bodyPr wrap="none" lIns="0" tIns="0" rIns="0" bIns="0" anchor="ctr"/>
          <a:lstStyle/>
          <a:p>
            <a:pPr algn="r"/>
            <a:r>
              <a:rPr sz="1250" b="1">
                <a:solidFill>
                  <a:srgbClr val="1A1A1A"/>
                </a:solidFill>
                <a:latin typeface="Aptos"/>
              </a:rPr>
              <a:t>Type and value</a:t>
            </a:r>
            <a:r>
              <a:rPr sz="1250" b="0">
                <a:solidFill>
                  <a:srgbClr val="8C8C8C"/>
                </a:solidFill>
                <a:latin typeface="Aptos"/>
              </a:rPr>
              <a:t>  5%</a:t>
            </a:r>
          </a:p>
        </p:txBody>
      </p:sp>
      <p:sp>
        <p:nvSpPr>
          <p:cNvPr id="31" name="Rounded Rectangle 30"/>
          <p:cNvSpPr/>
          <p:nvPr/>
        </p:nvSpPr>
        <p:spPr>
          <a:xfrm>
            <a:off x="5938200" y="2916000"/>
            <a:ext cx="1308561" cy="150000"/>
          </a:xfrm>
          <a:prstGeom prst="roundRect">
            <a:avLst>
              <a:gd name="adj" fmla="val 50000"/>
            </a:avLst>
          </a:prstGeom>
          <a:solidFill>
            <a:srgbClr val="E3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6761" y="2860000"/>
            <a:ext cx="600000" cy="262000"/>
          </a:xfrm>
          <a:prstGeom prst="rect">
            <a:avLst/>
          </a:prstGeom>
          <a:noFill/>
        </p:spPr>
        <p:txBody>
          <a:bodyPr wrap="none" lIns="0" tIns="0" rIns="0" bIns="0" anchor="ctr"/>
          <a:lstStyle/>
          <a:p>
            <a:pPr algn="l"/>
            <a:r>
              <a:rPr sz="1100" b="0">
                <a:solidFill>
                  <a:srgbClr val="595959"/>
                </a:solidFill>
                <a:latin typeface="Aptos"/>
              </a:rPr>
              <a:t>3.8%</a:t>
            </a:r>
          </a:p>
        </p:txBody>
      </p:sp>
      <p:sp>
        <p:nvSpPr>
          <p:cNvPr id="33" name="Rounded Rectangle 32"/>
          <p:cNvSpPr/>
          <p:nvPr/>
        </p:nvSpPr>
        <p:spPr>
          <a:xfrm>
            <a:off x="3944200" y="3128000"/>
            <a:ext cx="194400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Unsafe deserialization</a:t>
            </a:r>
            <a:r>
              <a:rPr sz="1000">
                <a:solidFill>
                  <a:srgbClr val="595959"/>
                </a:solidFill>
                <a:latin typeface="Aptos"/>
              </a:rPr>
              <a:t>  24%</a:t>
            </a:r>
          </a:p>
        </p:txBody>
      </p:sp>
      <p:sp>
        <p:nvSpPr>
          <p:cNvPr id="34" name="Chevron 33"/>
          <p:cNvSpPr/>
          <p:nvPr/>
        </p:nvSpPr>
        <p:spPr>
          <a:xfrm>
            <a:off x="3775944" y="319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00944" y="3122000"/>
            <a:ext cx="2355000" cy="262000"/>
          </a:xfrm>
          <a:prstGeom prst="rect">
            <a:avLst/>
          </a:prstGeom>
          <a:noFill/>
        </p:spPr>
        <p:txBody>
          <a:bodyPr wrap="none" lIns="0" tIns="0" rIns="0" bIns="0" anchor="ctr"/>
          <a:lstStyle/>
          <a:p>
            <a:pPr algn="r"/>
            <a:r>
              <a:rPr sz="1250" b="1">
                <a:solidFill>
                  <a:srgbClr val="1A1A1A"/>
                </a:solidFill>
                <a:latin typeface="Aptos"/>
              </a:rPr>
              <a:t>Interface and data</a:t>
            </a:r>
            <a:r>
              <a:rPr sz="1250" b="0">
                <a:solidFill>
                  <a:srgbClr val="8C8C8C"/>
                </a:solidFill>
                <a:latin typeface="Aptos"/>
              </a:rPr>
              <a:t>  15%</a:t>
            </a:r>
          </a:p>
        </p:txBody>
      </p:sp>
      <p:sp>
        <p:nvSpPr>
          <p:cNvPr id="36" name="Rounded Rectangle 35"/>
          <p:cNvSpPr/>
          <p:nvPr/>
        </p:nvSpPr>
        <p:spPr>
          <a:xfrm>
            <a:off x="5938200" y="3178000"/>
            <a:ext cx="1273660" cy="150000"/>
          </a:xfrm>
          <a:prstGeom prst="roundRect">
            <a:avLst>
              <a:gd name="adj" fmla="val 50000"/>
            </a:avLst>
          </a:prstGeom>
          <a:solidFill>
            <a:srgbClr val="E4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81860" y="3122000"/>
            <a:ext cx="600000" cy="262000"/>
          </a:xfrm>
          <a:prstGeom prst="rect">
            <a:avLst/>
          </a:prstGeom>
          <a:noFill/>
        </p:spPr>
        <p:txBody>
          <a:bodyPr wrap="none" lIns="0" tIns="0" rIns="0" bIns="0" anchor="ctr"/>
          <a:lstStyle/>
          <a:p>
            <a:pPr algn="l"/>
            <a:r>
              <a:rPr sz="1100" b="0">
                <a:solidFill>
                  <a:srgbClr val="595959"/>
                </a:solidFill>
                <a:latin typeface="Aptos"/>
              </a:rPr>
              <a:t>3.6%</a:t>
            </a:r>
          </a:p>
        </p:txBody>
      </p:sp>
      <p:sp>
        <p:nvSpPr>
          <p:cNvPr id="38" name="Rounded Rectangle 37"/>
          <p:cNvSpPr/>
          <p:nvPr/>
        </p:nvSpPr>
        <p:spPr>
          <a:xfrm>
            <a:off x="3847200" y="3390000"/>
            <a:ext cx="204100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Allocation without limits</a:t>
            </a:r>
            <a:r>
              <a:rPr sz="1000">
                <a:solidFill>
                  <a:srgbClr val="595959"/>
                </a:solidFill>
                <a:latin typeface="Aptos"/>
              </a:rPr>
              <a:t>  27%</a:t>
            </a:r>
          </a:p>
        </p:txBody>
      </p:sp>
      <p:sp>
        <p:nvSpPr>
          <p:cNvPr id="39" name="Chevron 38"/>
          <p:cNvSpPr/>
          <p:nvPr/>
        </p:nvSpPr>
        <p:spPr>
          <a:xfrm>
            <a:off x="3645480" y="346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70480" y="3384000"/>
            <a:ext cx="2455000" cy="262000"/>
          </a:xfrm>
          <a:prstGeom prst="rect">
            <a:avLst/>
          </a:prstGeom>
          <a:noFill/>
        </p:spPr>
        <p:txBody>
          <a:bodyPr wrap="none" lIns="0" tIns="0" rIns="0" bIns="0" anchor="ctr"/>
          <a:lstStyle/>
          <a:p>
            <a:pPr algn="r"/>
            <a:r>
              <a:rPr sz="1250" b="1">
                <a:solidFill>
                  <a:srgbClr val="1A1A1A"/>
                </a:solidFill>
                <a:latin typeface="Aptos"/>
              </a:rPr>
              <a:t>Resource management</a:t>
            </a:r>
            <a:r>
              <a:rPr sz="1250" b="0">
                <a:solidFill>
                  <a:srgbClr val="8C8C8C"/>
                </a:solidFill>
                <a:latin typeface="Aptos"/>
              </a:rPr>
              <a:t>  10%</a:t>
            </a:r>
          </a:p>
        </p:txBody>
      </p:sp>
      <p:sp>
        <p:nvSpPr>
          <p:cNvPr id="41" name="Rounded Rectangle 40"/>
          <p:cNvSpPr/>
          <p:nvPr/>
        </p:nvSpPr>
        <p:spPr>
          <a:xfrm>
            <a:off x="5938200" y="3440000"/>
            <a:ext cx="1082403" cy="150000"/>
          </a:xfrm>
          <a:prstGeom prst="roundRect">
            <a:avLst>
              <a:gd name="adj" fmla="val 50000"/>
            </a:avLst>
          </a:prstGeom>
          <a:solidFill>
            <a:srgbClr val="E79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90603" y="3384000"/>
            <a:ext cx="600000" cy="262000"/>
          </a:xfrm>
          <a:prstGeom prst="rect">
            <a:avLst/>
          </a:prstGeom>
          <a:noFill/>
        </p:spPr>
        <p:txBody>
          <a:bodyPr wrap="none" lIns="0" tIns="0" rIns="0" bIns="0" anchor="ctr"/>
          <a:lstStyle/>
          <a:p>
            <a:pPr algn="l"/>
            <a:r>
              <a:rPr sz="1100" b="0">
                <a:solidFill>
                  <a:srgbClr val="595959"/>
                </a:solidFill>
                <a:latin typeface="Aptos"/>
              </a:rPr>
              <a:t>2.6%</a:t>
            </a:r>
          </a:p>
        </p:txBody>
      </p:sp>
      <p:sp>
        <p:nvSpPr>
          <p:cNvPr id="43" name="Rounded Rectangle 42"/>
          <p:cNvSpPr/>
          <p:nvPr/>
        </p:nvSpPr>
        <p:spPr>
          <a:xfrm>
            <a:off x="4422180" y="3652000"/>
            <a:ext cx="1466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Race condition</a:t>
            </a:r>
            <a:r>
              <a:rPr sz="1000">
                <a:solidFill>
                  <a:srgbClr val="595959"/>
                </a:solidFill>
                <a:latin typeface="Aptos"/>
              </a:rPr>
              <a:t>  60%</a:t>
            </a:r>
          </a:p>
        </p:txBody>
      </p:sp>
      <p:sp>
        <p:nvSpPr>
          <p:cNvPr id="44" name="Chevron 43"/>
          <p:cNvSpPr/>
          <p:nvPr/>
        </p:nvSpPr>
        <p:spPr>
          <a:xfrm>
            <a:off x="4225448" y="372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35448" y="3646000"/>
            <a:ext cx="1570000" cy="262000"/>
          </a:xfrm>
          <a:prstGeom prst="rect">
            <a:avLst/>
          </a:prstGeom>
          <a:noFill/>
        </p:spPr>
        <p:txBody>
          <a:bodyPr wrap="none" lIns="0" tIns="0" rIns="0" bIns="0" anchor="ctr"/>
          <a:lstStyle/>
          <a:p>
            <a:pPr algn="r"/>
            <a:r>
              <a:rPr sz="1250" b="1">
                <a:solidFill>
                  <a:srgbClr val="1A1A1A"/>
                </a:solidFill>
                <a:latin typeface="Aptos"/>
              </a:rPr>
              <a:t>Concurrency</a:t>
            </a:r>
            <a:r>
              <a:rPr sz="1250" b="0">
                <a:solidFill>
                  <a:srgbClr val="8C8C8C"/>
                </a:solidFill>
                <a:latin typeface="Aptos"/>
              </a:rPr>
              <a:t>  4%</a:t>
            </a:r>
          </a:p>
        </p:txBody>
      </p:sp>
      <p:sp>
        <p:nvSpPr>
          <p:cNvPr id="46" name="Rounded Rectangle 45"/>
          <p:cNvSpPr/>
          <p:nvPr/>
        </p:nvSpPr>
        <p:spPr>
          <a:xfrm>
            <a:off x="5938200" y="3702000"/>
            <a:ext cx="1082403" cy="150000"/>
          </a:xfrm>
          <a:prstGeom prst="roundRect">
            <a:avLst>
              <a:gd name="adj" fmla="val 50000"/>
            </a:avLst>
          </a:prstGeom>
          <a:solidFill>
            <a:srgbClr val="E79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090603" y="3646000"/>
            <a:ext cx="600000" cy="262000"/>
          </a:xfrm>
          <a:prstGeom prst="rect">
            <a:avLst/>
          </a:prstGeom>
          <a:noFill/>
        </p:spPr>
        <p:txBody>
          <a:bodyPr wrap="none" lIns="0" tIns="0" rIns="0" bIns="0" anchor="ctr"/>
          <a:lstStyle/>
          <a:p>
            <a:pPr algn="l"/>
            <a:r>
              <a:rPr sz="1100" b="0">
                <a:solidFill>
                  <a:srgbClr val="595959"/>
                </a:solidFill>
                <a:latin typeface="Aptos"/>
              </a:rPr>
              <a:t>2.6%</a:t>
            </a:r>
          </a:p>
        </p:txBody>
      </p:sp>
      <p:sp>
        <p:nvSpPr>
          <p:cNvPr id="48" name="Rounded Rectangle 47"/>
          <p:cNvSpPr/>
          <p:nvPr/>
        </p:nvSpPr>
        <p:spPr>
          <a:xfrm>
            <a:off x="4636170" y="3914000"/>
            <a:ext cx="125203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Memory leak</a:t>
            </a:r>
            <a:r>
              <a:rPr sz="1000">
                <a:solidFill>
                  <a:srgbClr val="595959"/>
                </a:solidFill>
                <a:latin typeface="Aptos"/>
              </a:rPr>
              <a:t>  22%</a:t>
            </a:r>
          </a:p>
        </p:txBody>
      </p:sp>
      <p:sp>
        <p:nvSpPr>
          <p:cNvPr id="49" name="Chevron 48"/>
          <p:cNvSpPr/>
          <p:nvPr/>
        </p:nvSpPr>
        <p:spPr>
          <a:xfrm>
            <a:off x="4453448" y="398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78448" y="3908000"/>
            <a:ext cx="2455000" cy="262000"/>
          </a:xfrm>
          <a:prstGeom prst="rect">
            <a:avLst/>
          </a:prstGeom>
          <a:noFill/>
        </p:spPr>
        <p:txBody>
          <a:bodyPr wrap="none" lIns="0" tIns="0" rIns="0" bIns="0" anchor="ctr"/>
          <a:lstStyle/>
          <a:p>
            <a:pPr algn="r"/>
            <a:r>
              <a:rPr sz="1250" b="1">
                <a:solidFill>
                  <a:srgbClr val="1A1A1A"/>
                </a:solidFill>
                <a:latin typeface="Aptos"/>
              </a:rPr>
              <a:t>Resource management</a:t>
            </a:r>
            <a:r>
              <a:rPr sz="1250" b="0">
                <a:solidFill>
                  <a:srgbClr val="8C8C8C"/>
                </a:solidFill>
                <a:latin typeface="Aptos"/>
              </a:rPr>
              <a:t>  10%</a:t>
            </a:r>
          </a:p>
        </p:txBody>
      </p:sp>
      <p:sp>
        <p:nvSpPr>
          <p:cNvPr id="51" name="Rounded Rectangle 50"/>
          <p:cNvSpPr/>
          <p:nvPr/>
        </p:nvSpPr>
        <p:spPr>
          <a:xfrm>
            <a:off x="5938200" y="3964000"/>
            <a:ext cx="972774" cy="150000"/>
          </a:xfrm>
          <a:prstGeom prst="roundRect">
            <a:avLst>
              <a:gd name="adj" fmla="val 50000"/>
            </a:avLst>
          </a:prstGeom>
          <a:solidFill>
            <a:srgbClr val="E9A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980974" y="3908000"/>
            <a:ext cx="600000" cy="262000"/>
          </a:xfrm>
          <a:prstGeom prst="rect">
            <a:avLst/>
          </a:prstGeom>
          <a:noFill/>
        </p:spPr>
        <p:txBody>
          <a:bodyPr wrap="none" lIns="0" tIns="0" rIns="0" bIns="0" anchor="ctr"/>
          <a:lstStyle/>
          <a:p>
            <a:pPr algn="l"/>
            <a:r>
              <a:rPr sz="1100" b="0">
                <a:solidFill>
                  <a:srgbClr val="595959"/>
                </a:solidFill>
                <a:latin typeface="Aptos"/>
              </a:rPr>
              <a:t>2.1%</a:t>
            </a:r>
          </a:p>
        </p:txBody>
      </p:sp>
      <p:sp>
        <p:nvSpPr>
          <p:cNvPr id="53" name="Rounded Rectangle 52"/>
          <p:cNvSpPr/>
          <p:nvPr/>
        </p:nvSpPr>
        <p:spPr>
          <a:xfrm>
            <a:off x="3690200" y="4176000"/>
            <a:ext cx="219800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Use of uninitialized resource</a:t>
            </a:r>
            <a:r>
              <a:rPr sz="1000">
                <a:solidFill>
                  <a:srgbClr val="595959"/>
                </a:solidFill>
                <a:latin typeface="Aptos"/>
              </a:rPr>
              <a:t>  1%</a:t>
            </a:r>
          </a:p>
        </p:txBody>
      </p:sp>
      <p:sp>
        <p:nvSpPr>
          <p:cNvPr id="54" name="Chevron 53"/>
          <p:cNvSpPr/>
          <p:nvPr/>
        </p:nvSpPr>
        <p:spPr>
          <a:xfrm>
            <a:off x="3529400" y="424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554400" y="4170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56" name="Rounded Rectangle 55"/>
          <p:cNvSpPr/>
          <p:nvPr/>
        </p:nvSpPr>
        <p:spPr>
          <a:xfrm>
            <a:off x="5938200" y="4226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679477" y="4170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58" name="Rounded Rectangle 57"/>
          <p:cNvSpPr/>
          <p:nvPr/>
        </p:nvSpPr>
        <p:spPr>
          <a:xfrm>
            <a:off x="4698114" y="4438000"/>
            <a:ext cx="119008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Double free</a:t>
            </a:r>
            <a:r>
              <a:rPr sz="1000">
                <a:solidFill>
                  <a:srgbClr val="595959"/>
                </a:solidFill>
                <a:latin typeface="Aptos"/>
              </a:rPr>
              <a:t>  1%</a:t>
            </a:r>
          </a:p>
        </p:txBody>
      </p:sp>
      <p:sp>
        <p:nvSpPr>
          <p:cNvPr id="59" name="Chevron 58"/>
          <p:cNvSpPr/>
          <p:nvPr/>
        </p:nvSpPr>
        <p:spPr>
          <a:xfrm>
            <a:off x="4501160" y="450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526160" y="4432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61" name="Rounded Rectangle 60"/>
          <p:cNvSpPr/>
          <p:nvPr/>
        </p:nvSpPr>
        <p:spPr>
          <a:xfrm>
            <a:off x="5938200" y="4488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679477" y="4432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63" name="Rounded Rectangle 62"/>
          <p:cNvSpPr/>
          <p:nvPr/>
        </p:nvSpPr>
        <p:spPr>
          <a:xfrm>
            <a:off x="4422180" y="4700000"/>
            <a:ext cx="1466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Type confusion</a:t>
            </a:r>
            <a:r>
              <a:rPr sz="1000">
                <a:solidFill>
                  <a:srgbClr val="595959"/>
                </a:solidFill>
                <a:latin typeface="Aptos"/>
              </a:rPr>
              <a:t>  21%</a:t>
            </a:r>
          </a:p>
        </p:txBody>
      </p:sp>
      <p:sp>
        <p:nvSpPr>
          <p:cNvPr id="64" name="Chevron 63"/>
          <p:cNvSpPr/>
          <p:nvPr/>
        </p:nvSpPr>
        <p:spPr>
          <a:xfrm>
            <a:off x="4231544" y="477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241544" y="4694000"/>
            <a:ext cx="1870000" cy="262000"/>
          </a:xfrm>
          <a:prstGeom prst="rect">
            <a:avLst/>
          </a:prstGeom>
          <a:noFill/>
        </p:spPr>
        <p:txBody>
          <a:bodyPr wrap="none" lIns="0" tIns="0" rIns="0" bIns="0" anchor="ctr"/>
          <a:lstStyle/>
          <a:p>
            <a:pPr algn="r"/>
            <a:r>
              <a:rPr sz="1250" b="1">
                <a:solidFill>
                  <a:srgbClr val="1A1A1A"/>
                </a:solidFill>
                <a:latin typeface="Aptos"/>
              </a:rPr>
              <a:t>Type and value</a:t>
            </a:r>
            <a:r>
              <a:rPr sz="1250" b="0">
                <a:solidFill>
                  <a:srgbClr val="8C8C8C"/>
                </a:solidFill>
                <a:latin typeface="Aptos"/>
              </a:rPr>
              <a:t>  5%</a:t>
            </a:r>
          </a:p>
        </p:txBody>
      </p:sp>
      <p:sp>
        <p:nvSpPr>
          <p:cNvPr id="66" name="Rounded Rectangle 65"/>
          <p:cNvSpPr/>
          <p:nvPr/>
        </p:nvSpPr>
        <p:spPr>
          <a:xfrm>
            <a:off x="5938200" y="4750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679477" y="4694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68" name="Rounded Rectangle 67"/>
          <p:cNvSpPr/>
          <p:nvPr/>
        </p:nvSpPr>
        <p:spPr>
          <a:xfrm>
            <a:off x="4493510" y="4962000"/>
            <a:ext cx="139469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Infinite loop</a:t>
            </a:r>
            <a:r>
              <a:rPr sz="1000">
                <a:solidFill>
                  <a:srgbClr val="595959"/>
                </a:solidFill>
                <a:latin typeface="Aptos"/>
              </a:rPr>
              <a:t>  42%</a:t>
            </a:r>
          </a:p>
        </p:txBody>
      </p:sp>
      <p:sp>
        <p:nvSpPr>
          <p:cNvPr id="69" name="Chevron 68"/>
          <p:cNvSpPr/>
          <p:nvPr/>
        </p:nvSpPr>
        <p:spPr>
          <a:xfrm>
            <a:off x="4295352" y="503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505352" y="4956000"/>
            <a:ext cx="1670000" cy="262000"/>
          </a:xfrm>
          <a:prstGeom prst="rect">
            <a:avLst/>
          </a:prstGeom>
          <a:noFill/>
        </p:spPr>
        <p:txBody>
          <a:bodyPr wrap="none" lIns="0" tIns="0" rIns="0" bIns="0" anchor="ctr"/>
          <a:lstStyle/>
          <a:p>
            <a:pPr algn="r"/>
            <a:r>
              <a:rPr sz="1250" b="1">
                <a:solidFill>
                  <a:srgbClr val="1A1A1A"/>
                </a:solidFill>
                <a:latin typeface="Aptos"/>
              </a:rPr>
              <a:t>Control flow</a:t>
            </a:r>
            <a:r>
              <a:rPr sz="1250" b="0">
                <a:solidFill>
                  <a:srgbClr val="8C8C8C"/>
                </a:solidFill>
                <a:latin typeface="Aptos"/>
              </a:rPr>
              <a:t>  2%</a:t>
            </a:r>
          </a:p>
        </p:txBody>
      </p:sp>
      <p:sp>
        <p:nvSpPr>
          <p:cNvPr id="71" name="Rounded Rectangle 70"/>
          <p:cNvSpPr/>
          <p:nvPr/>
        </p:nvSpPr>
        <p:spPr>
          <a:xfrm>
            <a:off x="5938200" y="5012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679477" y="4956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73" name="Rounded Rectangle 72"/>
          <p:cNvSpPr/>
          <p:nvPr/>
        </p:nvSpPr>
        <p:spPr>
          <a:xfrm>
            <a:off x="3628164" y="5224000"/>
            <a:ext cx="2260036"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resource shutdown</a:t>
            </a:r>
            <a:r>
              <a:rPr sz="1000">
                <a:solidFill>
                  <a:srgbClr val="595959"/>
                </a:solidFill>
                <a:latin typeface="Aptos"/>
              </a:rPr>
              <a:t>  9%</a:t>
            </a:r>
          </a:p>
        </p:txBody>
      </p:sp>
      <p:sp>
        <p:nvSpPr>
          <p:cNvPr id="74" name="Chevron 73"/>
          <p:cNvSpPr/>
          <p:nvPr/>
        </p:nvSpPr>
        <p:spPr>
          <a:xfrm>
            <a:off x="3470888" y="529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95888" y="5218000"/>
            <a:ext cx="2455000" cy="262000"/>
          </a:xfrm>
          <a:prstGeom prst="rect">
            <a:avLst/>
          </a:prstGeom>
          <a:noFill/>
        </p:spPr>
        <p:txBody>
          <a:bodyPr wrap="none" lIns="0" tIns="0" rIns="0" bIns="0" anchor="ctr"/>
          <a:lstStyle/>
          <a:p>
            <a:pPr algn="r"/>
            <a:r>
              <a:rPr sz="1250" b="1">
                <a:solidFill>
                  <a:srgbClr val="1A1A1A"/>
                </a:solidFill>
                <a:latin typeface="Aptos"/>
              </a:rPr>
              <a:t>Resource management</a:t>
            </a:r>
            <a:r>
              <a:rPr sz="1250" b="0">
                <a:solidFill>
                  <a:srgbClr val="8C8C8C"/>
                </a:solidFill>
                <a:latin typeface="Aptos"/>
              </a:rPr>
              <a:t>  10%</a:t>
            </a:r>
          </a:p>
        </p:txBody>
      </p:sp>
      <p:sp>
        <p:nvSpPr>
          <p:cNvPr id="76" name="Rounded Rectangle 75"/>
          <p:cNvSpPr/>
          <p:nvPr/>
        </p:nvSpPr>
        <p:spPr>
          <a:xfrm>
            <a:off x="5938200" y="5274000"/>
            <a:ext cx="636830" cy="150000"/>
          </a:xfrm>
          <a:prstGeom prst="roundRect">
            <a:avLst>
              <a:gd name="adj" fmla="val 50000"/>
            </a:avLst>
          </a:prstGeom>
          <a:solidFill>
            <a:srgbClr val="F0B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645030" y="5218000"/>
            <a:ext cx="600000" cy="262000"/>
          </a:xfrm>
          <a:prstGeom prst="rect">
            <a:avLst/>
          </a:prstGeom>
          <a:noFill/>
        </p:spPr>
        <p:txBody>
          <a:bodyPr wrap="none" lIns="0" tIns="0" rIns="0" bIns="0" anchor="ctr"/>
          <a:lstStyle/>
          <a:p>
            <a:pPr algn="l"/>
            <a:r>
              <a:rPr sz="1100" b="0">
                <a:solidFill>
                  <a:srgbClr val="595959"/>
                </a:solidFill>
                <a:latin typeface="Aptos"/>
              </a:rPr>
              <a:t>0.9%</a:t>
            </a:r>
          </a:p>
        </p:txBody>
      </p:sp>
      <p:sp>
        <p:nvSpPr>
          <p:cNvPr id="78" name="Rounded Rectangle 77"/>
          <p:cNvSpPr/>
          <p:nvPr/>
        </p:nvSpPr>
        <p:spPr>
          <a:xfrm>
            <a:off x="4636170" y="5486000"/>
            <a:ext cx="125203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TOCTOU race</a:t>
            </a:r>
            <a:r>
              <a:rPr sz="1000">
                <a:solidFill>
                  <a:srgbClr val="595959"/>
                </a:solidFill>
                <a:latin typeface="Aptos"/>
              </a:rPr>
              <a:t>  21%</a:t>
            </a:r>
          </a:p>
        </p:txBody>
      </p:sp>
      <p:sp>
        <p:nvSpPr>
          <p:cNvPr id="79" name="Chevron 78"/>
          <p:cNvSpPr/>
          <p:nvPr/>
        </p:nvSpPr>
        <p:spPr>
          <a:xfrm>
            <a:off x="4459544" y="555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9544" y="5480000"/>
            <a:ext cx="1570000" cy="262000"/>
          </a:xfrm>
          <a:prstGeom prst="rect">
            <a:avLst/>
          </a:prstGeom>
          <a:noFill/>
        </p:spPr>
        <p:txBody>
          <a:bodyPr wrap="none" lIns="0" tIns="0" rIns="0" bIns="0" anchor="ctr"/>
          <a:lstStyle/>
          <a:p>
            <a:pPr algn="r"/>
            <a:r>
              <a:rPr sz="1250" b="1">
                <a:solidFill>
                  <a:srgbClr val="1A1A1A"/>
                </a:solidFill>
                <a:latin typeface="Aptos"/>
              </a:rPr>
              <a:t>Concurrency</a:t>
            </a:r>
            <a:r>
              <a:rPr sz="1250" b="0">
                <a:solidFill>
                  <a:srgbClr val="8C8C8C"/>
                </a:solidFill>
                <a:latin typeface="Aptos"/>
              </a:rPr>
              <a:t>  4%</a:t>
            </a:r>
          </a:p>
        </p:txBody>
      </p:sp>
      <p:sp>
        <p:nvSpPr>
          <p:cNvPr id="81" name="Rounded Rectangle 80"/>
          <p:cNvSpPr/>
          <p:nvPr/>
        </p:nvSpPr>
        <p:spPr>
          <a:xfrm>
            <a:off x="5938200" y="5536000"/>
            <a:ext cx="636830" cy="150000"/>
          </a:xfrm>
          <a:prstGeom prst="roundRect">
            <a:avLst>
              <a:gd name="adj" fmla="val 50000"/>
            </a:avLst>
          </a:prstGeom>
          <a:solidFill>
            <a:srgbClr val="F0B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645030" y="5480000"/>
            <a:ext cx="600000" cy="262000"/>
          </a:xfrm>
          <a:prstGeom prst="rect">
            <a:avLst/>
          </a:prstGeom>
          <a:noFill/>
        </p:spPr>
        <p:txBody>
          <a:bodyPr wrap="none" lIns="0" tIns="0" rIns="0" bIns="0" anchor="ctr"/>
          <a:lstStyle/>
          <a:p>
            <a:pPr algn="l"/>
            <a:r>
              <a:rPr sz="1100" b="0">
                <a:solidFill>
                  <a:srgbClr val="595959"/>
                </a:solidFill>
                <a:latin typeface="Aptos"/>
              </a:rPr>
              <a:t>0.9%</a:t>
            </a:r>
          </a:p>
        </p:txBody>
      </p:sp>
      <p:sp>
        <p:nvSpPr>
          <p:cNvPr id="83" name="Rounded Rectangle 82"/>
          <p:cNvSpPr/>
          <p:nvPr/>
        </p:nvSpPr>
        <p:spPr>
          <a:xfrm>
            <a:off x="4279520" y="5748000"/>
            <a:ext cx="160868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locking</a:t>
            </a:r>
            <a:r>
              <a:rPr sz="1000">
                <a:solidFill>
                  <a:srgbClr val="595959"/>
                </a:solidFill>
                <a:latin typeface="Aptos"/>
              </a:rPr>
              <a:t>  19%</a:t>
            </a:r>
          </a:p>
        </p:txBody>
      </p:sp>
      <p:sp>
        <p:nvSpPr>
          <p:cNvPr id="84" name="Chevron 83"/>
          <p:cNvSpPr/>
          <p:nvPr/>
        </p:nvSpPr>
        <p:spPr>
          <a:xfrm>
            <a:off x="4079544" y="581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389544" y="5742000"/>
            <a:ext cx="1570000" cy="262000"/>
          </a:xfrm>
          <a:prstGeom prst="rect">
            <a:avLst/>
          </a:prstGeom>
          <a:noFill/>
        </p:spPr>
        <p:txBody>
          <a:bodyPr wrap="none" lIns="0" tIns="0" rIns="0" bIns="0" anchor="ctr"/>
          <a:lstStyle/>
          <a:p>
            <a:pPr algn="r"/>
            <a:r>
              <a:rPr sz="1250" b="1">
                <a:solidFill>
                  <a:srgbClr val="1A1A1A"/>
                </a:solidFill>
                <a:latin typeface="Aptos"/>
              </a:rPr>
              <a:t>Concurrency</a:t>
            </a:r>
            <a:r>
              <a:rPr sz="1250" b="0">
                <a:solidFill>
                  <a:srgbClr val="8C8C8C"/>
                </a:solidFill>
                <a:latin typeface="Aptos"/>
              </a:rPr>
              <a:t>  4%</a:t>
            </a:r>
          </a:p>
        </p:txBody>
      </p:sp>
      <p:sp>
        <p:nvSpPr>
          <p:cNvPr id="86" name="Rounded Rectangle 85"/>
          <p:cNvSpPr/>
          <p:nvPr/>
        </p:nvSpPr>
        <p:spPr>
          <a:xfrm>
            <a:off x="5938200" y="5798000"/>
            <a:ext cx="600409" cy="150000"/>
          </a:xfrm>
          <a:prstGeom prst="roundRect">
            <a:avLst>
              <a:gd name="adj" fmla="val 50000"/>
            </a:avLst>
          </a:prstGeom>
          <a:solidFill>
            <a:srgbClr val="F1C4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608609" y="5742000"/>
            <a:ext cx="600000" cy="262000"/>
          </a:xfrm>
          <a:prstGeom prst="rect">
            <a:avLst/>
          </a:prstGeom>
          <a:noFill/>
        </p:spPr>
        <p:txBody>
          <a:bodyPr wrap="none" lIns="0" tIns="0" rIns="0" bIns="0" anchor="ctr"/>
          <a:lstStyle/>
          <a:p>
            <a:pPr algn="l"/>
            <a:r>
              <a:rPr sz="1100" b="0">
                <a:solidFill>
                  <a:srgbClr val="595959"/>
                </a:solidFill>
                <a:latin typeface="Aptos"/>
              </a:rPr>
              <a:t>0.8%</a:t>
            </a:r>
          </a:p>
        </p:txBody>
      </p:sp>
      <p:sp>
        <p:nvSpPr>
          <p:cNvPr id="88" name="Rounded Rectangle 87"/>
          <p:cNvSpPr/>
          <p:nvPr/>
        </p:nvSpPr>
        <p:spPr>
          <a:xfrm>
            <a:off x="3494890" y="6010000"/>
            <a:ext cx="239331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Unchecked unusual condition</a:t>
            </a:r>
            <a:r>
              <a:rPr sz="1000">
                <a:solidFill>
                  <a:srgbClr val="595959"/>
                </a:solidFill>
                <a:latin typeface="Aptos"/>
              </a:rPr>
              <a:t>  29%</a:t>
            </a:r>
          </a:p>
        </p:txBody>
      </p:sp>
      <p:sp>
        <p:nvSpPr>
          <p:cNvPr id="89" name="Chevron 88"/>
          <p:cNvSpPr/>
          <p:nvPr/>
        </p:nvSpPr>
        <p:spPr>
          <a:xfrm>
            <a:off x="3267928" y="608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477928" y="6004000"/>
            <a:ext cx="1670000" cy="262000"/>
          </a:xfrm>
          <a:prstGeom prst="rect">
            <a:avLst/>
          </a:prstGeom>
          <a:noFill/>
        </p:spPr>
        <p:txBody>
          <a:bodyPr wrap="none" lIns="0" tIns="0" rIns="0" bIns="0" anchor="ctr"/>
          <a:lstStyle/>
          <a:p>
            <a:pPr algn="r"/>
            <a:r>
              <a:rPr sz="1250" b="1">
                <a:solidFill>
                  <a:srgbClr val="1A1A1A"/>
                </a:solidFill>
                <a:latin typeface="Aptos"/>
              </a:rPr>
              <a:t>Control flow</a:t>
            </a:r>
            <a:r>
              <a:rPr sz="1250" b="0">
                <a:solidFill>
                  <a:srgbClr val="8C8C8C"/>
                </a:solidFill>
                <a:latin typeface="Aptos"/>
              </a:rPr>
              <a:t>  2%</a:t>
            </a:r>
          </a:p>
        </p:txBody>
      </p:sp>
      <p:sp>
        <p:nvSpPr>
          <p:cNvPr id="91" name="Rounded Rectangle 90"/>
          <p:cNvSpPr/>
          <p:nvPr/>
        </p:nvSpPr>
        <p:spPr>
          <a:xfrm>
            <a:off x="5938200" y="6060000"/>
            <a:ext cx="561631"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569831" y="6004000"/>
            <a:ext cx="600000" cy="262000"/>
          </a:xfrm>
          <a:prstGeom prst="rect">
            <a:avLst/>
          </a:prstGeom>
          <a:noFill/>
        </p:spPr>
        <p:txBody>
          <a:bodyPr wrap="none" lIns="0" tIns="0" rIns="0" bIns="0" anchor="ctr"/>
          <a:lstStyle/>
          <a:p>
            <a:pPr algn="l"/>
            <a:r>
              <a:rPr sz="1100" b="0">
                <a:solidFill>
                  <a:srgbClr val="595959"/>
                </a:solidFill>
                <a:latin typeface="Aptos"/>
              </a:rPr>
              <a:t>0.7%</a:t>
            </a:r>
          </a:p>
        </p:txBody>
      </p:sp>
      <p:sp>
        <p:nvSpPr>
          <p:cNvPr id="93" name="Rounded Rectangle 92"/>
          <p:cNvSpPr/>
          <p:nvPr/>
        </p:nvSpPr>
        <p:spPr>
          <a:xfrm>
            <a:off x="3851540" y="6272000"/>
            <a:ext cx="203666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Bad exception handling</a:t>
            </a:r>
            <a:r>
              <a:rPr sz="1000">
                <a:solidFill>
                  <a:srgbClr val="595959"/>
                </a:solidFill>
                <a:latin typeface="Aptos"/>
              </a:rPr>
              <a:t>  29%</a:t>
            </a:r>
          </a:p>
        </p:txBody>
      </p:sp>
      <p:sp>
        <p:nvSpPr>
          <p:cNvPr id="94" name="Chevron 93"/>
          <p:cNvSpPr/>
          <p:nvPr/>
        </p:nvSpPr>
        <p:spPr>
          <a:xfrm>
            <a:off x="3623544" y="634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833544" y="6266000"/>
            <a:ext cx="1670000" cy="262000"/>
          </a:xfrm>
          <a:prstGeom prst="rect">
            <a:avLst/>
          </a:prstGeom>
          <a:noFill/>
        </p:spPr>
        <p:txBody>
          <a:bodyPr wrap="none" lIns="0" tIns="0" rIns="0" bIns="0" anchor="ctr"/>
          <a:lstStyle/>
          <a:p>
            <a:pPr algn="r"/>
            <a:r>
              <a:rPr sz="1250" b="1">
                <a:solidFill>
                  <a:srgbClr val="1A1A1A"/>
                </a:solidFill>
                <a:latin typeface="Aptos"/>
              </a:rPr>
              <a:t>Control flow</a:t>
            </a:r>
            <a:r>
              <a:rPr sz="1250" b="0">
                <a:solidFill>
                  <a:srgbClr val="8C8C8C"/>
                </a:solidFill>
                <a:latin typeface="Aptos"/>
              </a:rPr>
              <a:t>  2%</a:t>
            </a:r>
          </a:p>
        </p:txBody>
      </p:sp>
      <p:sp>
        <p:nvSpPr>
          <p:cNvPr id="96" name="Rounded Rectangle 95"/>
          <p:cNvSpPr/>
          <p:nvPr/>
        </p:nvSpPr>
        <p:spPr>
          <a:xfrm>
            <a:off x="5938200" y="6322000"/>
            <a:ext cx="561631"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569831" y="6266000"/>
            <a:ext cx="600000" cy="262000"/>
          </a:xfrm>
          <a:prstGeom prst="rect">
            <a:avLst/>
          </a:prstGeom>
          <a:noFill/>
        </p:spPr>
        <p:txBody>
          <a:bodyPr wrap="none" lIns="0" tIns="0" rIns="0" bIns="0" anchor="ctr"/>
          <a:lstStyle/>
          <a:p>
            <a:pPr algn="l"/>
            <a:r>
              <a:rPr sz="1100" b="0">
                <a:solidFill>
                  <a:srgbClr val="595959"/>
                </a:solidFill>
                <a:latin typeface="Aptos"/>
              </a:rPr>
              <a:t>0.7%</a:t>
            </a:r>
          </a:p>
        </p:txBody>
      </p:sp>
      <p:sp>
        <p:nvSpPr>
          <p:cNvPr id="99" name="TextBox 98">
            <a:extLst>
              <a:ext uri="{FF2B5EF4-FFF2-40B4-BE49-F238E27FC236}">
                <a16:creationId xmlns:a16="http://schemas.microsoft.com/office/drawing/2014/main" id="{36F73574-8A41-E2A7-F8AE-2490CA3F7AE9}"/>
              </a:ext>
            </a:extLst>
          </p:cNvPr>
          <p:cNvSpPr txBox="1"/>
          <p:nvPr/>
        </p:nvSpPr>
        <p:spPr>
          <a:xfrm>
            <a:off x="7933477" y="3146273"/>
            <a:ext cx="3079966"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lumMod val="65000"/>
                  </a:schemeClr>
                </a:solidFill>
              </a:rPr>
              <a:t>CVEs published 2016–2026.</a:t>
            </a:r>
          </a:p>
          <a:p>
            <a:pPr marL="285750" indent="-285750">
              <a:buFont typeface="Arial" panose="020B0604020202020204" pitchFamily="34" charset="0"/>
              <a:buChar char="•"/>
            </a:pPr>
            <a:r>
              <a:rPr lang="en-US" sz="1400" dirty="0">
                <a:solidFill>
                  <a:schemeClr val="bg1">
                    <a:lumMod val="65000"/>
                  </a:schemeClr>
                </a:solidFill>
              </a:rPr>
              <a:t>Group share is the category's percentage of all classified CVEs.</a:t>
            </a:r>
          </a:p>
          <a:p>
            <a:pPr marL="285750" indent="-285750">
              <a:buFont typeface="Arial" panose="020B0604020202020204" pitchFamily="34" charset="0"/>
              <a:buChar char="•"/>
            </a:pPr>
            <a:r>
              <a:rPr lang="en-US" sz="1400" dirty="0">
                <a:solidFill>
                  <a:schemeClr val="bg1">
                    <a:lumMod val="65000"/>
                  </a:schemeClr>
                </a:solidFill>
              </a:rPr>
              <a:t>The percentage inside each box is the defect's share within its category.</a:t>
            </a:r>
          </a:p>
          <a:p>
            <a:pPr marL="285750" indent="-285750">
              <a:buFont typeface="Arial" panose="020B0604020202020204" pitchFamily="34" charset="0"/>
              <a:buChar char="•"/>
            </a:pPr>
            <a:r>
              <a:rPr lang="en-US" sz="1400" dirty="0">
                <a:solidFill>
                  <a:schemeClr val="bg1">
                    <a:lumMod val="65000"/>
                  </a:schemeClr>
                </a:solidFill>
              </a:rPr>
              <a:t>The percentage after each bar is the defect's share of all classified CVEs.</a:t>
            </a:r>
          </a:p>
          <a:p>
            <a:pPr marL="285750" indent="-285750">
              <a:buFont typeface="Arial" panose="020B0604020202020204" pitchFamily="34" charset="0"/>
              <a:buChar char="•"/>
            </a:pPr>
            <a:r>
              <a:rPr lang="en-US" sz="1400" dirty="0">
                <a:solidFill>
                  <a:schemeClr val="bg1">
                    <a:lumMod val="65000"/>
                  </a:schemeClr>
                </a:solidFill>
              </a:rPr>
              <a:t>Bars are on a square-root scale so small defects remain visible next to out-of-bounds.</a:t>
            </a:r>
          </a:p>
          <a:p>
            <a:pPr marL="285750" indent="-285750">
              <a:buFont typeface="Arial" panose="020B0604020202020204" pitchFamily="34" charset="0"/>
              <a:buChar char="•"/>
            </a:pPr>
            <a:r>
              <a:rPr lang="en-US" sz="1400" dirty="0">
                <a:solidFill>
                  <a:schemeClr val="bg1">
                    <a:lumMod val="65000"/>
                  </a:schemeClr>
                </a:solidFill>
              </a:rPr>
              <a:t>“Improper input validation” (CWE-20) is often a generic fallback classification, not the underlying defect.</a:t>
            </a:r>
          </a:p>
        </p:txBody>
      </p:sp>
    </p:spTree>
    <p:extLst>
      <p:ext uri="{BB962C8B-B14F-4D97-AF65-F5344CB8AC3E}">
        <p14:creationId xmlns:p14="http://schemas.microsoft.com/office/powerpoint/2010/main" val="2579848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The top 25 defect types</a:t>
            </a:r>
          </a:p>
        </p:txBody>
      </p:sp>
      <p:sp>
        <p:nvSpPr>
          <p:cNvPr id="3" name="Rounded Rectangle 2"/>
          <p:cNvSpPr/>
          <p:nvPr/>
        </p:nvSpPr>
        <p:spPr>
          <a:xfrm>
            <a:off x="3994200" y="1556000"/>
            <a:ext cx="189400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Out-of-bounds access</a:t>
            </a:r>
            <a:r>
              <a:rPr sz="1000">
                <a:solidFill>
                  <a:srgbClr val="595959"/>
                </a:solidFill>
                <a:latin typeface="Aptos"/>
              </a:rPr>
              <a:t>  74%</a:t>
            </a:r>
          </a:p>
        </p:txBody>
      </p:sp>
      <p:sp>
        <p:nvSpPr>
          <p:cNvPr id="4" name="Chevron 3"/>
          <p:cNvSpPr/>
          <p:nvPr/>
        </p:nvSpPr>
        <p:spPr>
          <a:xfrm>
            <a:off x="3812120" y="162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37120" y="1550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6" name="Rounded Rectangle 5"/>
          <p:cNvSpPr/>
          <p:nvPr/>
        </p:nvSpPr>
        <p:spPr>
          <a:xfrm>
            <a:off x="5938200" y="1606000"/>
            <a:ext cx="4765599" cy="150000"/>
          </a:xfrm>
          <a:prstGeom prst="roundRect">
            <a:avLst>
              <a:gd name="adj" fmla="val 50000"/>
            </a:avLst>
          </a:prstGeom>
          <a:solidFill>
            <a:srgbClr val="8A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73799" y="1550000"/>
            <a:ext cx="600000" cy="262000"/>
          </a:xfrm>
          <a:prstGeom prst="rect">
            <a:avLst/>
          </a:prstGeom>
          <a:noFill/>
        </p:spPr>
        <p:txBody>
          <a:bodyPr wrap="none" lIns="0" tIns="0" rIns="0" bIns="0" anchor="ctr"/>
          <a:lstStyle/>
          <a:p>
            <a:pPr algn="l"/>
            <a:r>
              <a:rPr sz="1100" b="0">
                <a:solidFill>
                  <a:srgbClr val="595959"/>
                </a:solidFill>
                <a:latin typeface="Aptos"/>
              </a:rPr>
              <a:t>50.4%</a:t>
            </a:r>
          </a:p>
        </p:txBody>
      </p:sp>
      <p:sp>
        <p:nvSpPr>
          <p:cNvPr id="8" name="Rounded Rectangle 7"/>
          <p:cNvSpPr/>
          <p:nvPr/>
        </p:nvSpPr>
        <p:spPr>
          <a:xfrm>
            <a:off x="3770822" y="1818000"/>
            <a:ext cx="2117377"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input validation</a:t>
            </a:r>
            <a:r>
              <a:rPr sz="1000">
                <a:solidFill>
                  <a:srgbClr val="595959">
                    <a:alpha val="25000"/>
                  </a:srgbClr>
                </a:solidFill>
                <a:latin typeface="Aptos"/>
              </a:rPr>
              <a:t>  76%</a:t>
            </a:r>
          </a:p>
        </p:txBody>
      </p:sp>
      <p:sp>
        <p:nvSpPr>
          <p:cNvPr id="9" name="Chevron 8"/>
          <p:cNvSpPr/>
          <p:nvPr/>
        </p:nvSpPr>
        <p:spPr>
          <a:xfrm>
            <a:off x="3627192" y="188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92" y="1812000"/>
            <a:ext cx="2355000" cy="262000"/>
          </a:xfrm>
          <a:prstGeom prst="rect">
            <a:avLst/>
          </a:prstGeom>
          <a:noFill/>
        </p:spPr>
        <p:txBody>
          <a:bodyPr wrap="none" lIns="0" tIns="0" rIns="0" bIns="0" anchor="ctr"/>
          <a:lstStyle/>
          <a:p>
            <a:pPr algn="r"/>
            <a:r>
              <a:rPr sz="1250" b="1">
                <a:solidFill>
                  <a:srgbClr val="1A1A1A">
                    <a:alpha val="25000"/>
                  </a:srgbClr>
                </a:solidFill>
                <a:latin typeface="Aptos"/>
              </a:rPr>
              <a:t>Interface and data</a:t>
            </a:r>
            <a:r>
              <a:rPr sz="1250" b="0">
                <a:solidFill>
                  <a:srgbClr val="8C8C8C">
                    <a:alpha val="25000"/>
                  </a:srgbClr>
                </a:solidFill>
                <a:latin typeface="Aptos"/>
              </a:rPr>
              <a:t>  15%</a:t>
            </a:r>
          </a:p>
        </p:txBody>
      </p:sp>
      <p:sp>
        <p:nvSpPr>
          <p:cNvPr id="11" name="Rounded Rectangle 10"/>
          <p:cNvSpPr/>
          <p:nvPr/>
        </p:nvSpPr>
        <p:spPr>
          <a:xfrm>
            <a:off x="5938200" y="1868000"/>
            <a:ext cx="2236473" cy="150000"/>
          </a:xfrm>
          <a:prstGeom prst="roundRect">
            <a:avLst>
              <a:gd name="adj" fmla="val 50000"/>
            </a:avLst>
          </a:prstGeom>
          <a:solidFill>
            <a:srgbClr val="D05A4B">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44673" y="1812000"/>
            <a:ext cx="600000" cy="262000"/>
          </a:xfrm>
          <a:prstGeom prst="rect">
            <a:avLst/>
          </a:prstGeom>
          <a:noFill/>
        </p:spPr>
        <p:txBody>
          <a:bodyPr wrap="none" lIns="0" tIns="0" rIns="0" bIns="0" anchor="ctr"/>
          <a:lstStyle/>
          <a:p>
            <a:pPr algn="l"/>
            <a:r>
              <a:rPr sz="1100" b="0">
                <a:solidFill>
                  <a:srgbClr val="595959">
                    <a:alpha val="25000"/>
                  </a:srgbClr>
                </a:solidFill>
                <a:latin typeface="Aptos"/>
              </a:rPr>
              <a:t>11.1%</a:t>
            </a:r>
          </a:p>
        </p:txBody>
      </p:sp>
      <p:sp>
        <p:nvSpPr>
          <p:cNvPr id="13" name="Rounded Rectangle 12"/>
          <p:cNvSpPr/>
          <p:nvPr/>
        </p:nvSpPr>
        <p:spPr>
          <a:xfrm>
            <a:off x="4422180" y="2080000"/>
            <a:ext cx="1466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Use after free</a:t>
            </a:r>
            <a:r>
              <a:rPr sz="1000">
                <a:solidFill>
                  <a:srgbClr val="595959"/>
                </a:solidFill>
                <a:latin typeface="Aptos"/>
              </a:rPr>
              <a:t>  14%</a:t>
            </a:r>
          </a:p>
        </p:txBody>
      </p:sp>
      <p:sp>
        <p:nvSpPr>
          <p:cNvPr id="14" name="Chevron 13"/>
          <p:cNvSpPr/>
          <p:nvPr/>
        </p:nvSpPr>
        <p:spPr>
          <a:xfrm>
            <a:off x="4243736" y="215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68736" y="2074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16" name="Rounded Rectangle 15"/>
          <p:cNvSpPr/>
          <p:nvPr/>
        </p:nvSpPr>
        <p:spPr>
          <a:xfrm>
            <a:off x="5938200" y="2130000"/>
            <a:ext cx="2058098" cy="150000"/>
          </a:xfrm>
          <a:prstGeom prst="roundRect">
            <a:avLst>
              <a:gd name="adj" fmla="val 50000"/>
            </a:avLst>
          </a:prstGeom>
          <a:solidFill>
            <a:srgbClr val="D46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66298" y="2074000"/>
            <a:ext cx="600000" cy="262000"/>
          </a:xfrm>
          <a:prstGeom prst="rect">
            <a:avLst/>
          </a:prstGeom>
          <a:noFill/>
        </p:spPr>
        <p:txBody>
          <a:bodyPr wrap="none" lIns="0" tIns="0" rIns="0" bIns="0" anchor="ctr"/>
          <a:lstStyle/>
          <a:p>
            <a:pPr algn="l"/>
            <a:r>
              <a:rPr sz="1100" b="0">
                <a:solidFill>
                  <a:srgbClr val="595959"/>
                </a:solidFill>
                <a:latin typeface="Aptos"/>
              </a:rPr>
              <a:t>9.4%</a:t>
            </a:r>
          </a:p>
        </p:txBody>
      </p:sp>
      <p:sp>
        <p:nvSpPr>
          <p:cNvPr id="18" name="Rounded Rectangle 17"/>
          <p:cNvSpPr/>
          <p:nvPr/>
        </p:nvSpPr>
        <p:spPr>
          <a:xfrm>
            <a:off x="3770824" y="2342000"/>
            <a:ext cx="2117376"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NULL pointer dereference</a:t>
            </a:r>
            <a:r>
              <a:rPr sz="1000">
                <a:solidFill>
                  <a:srgbClr val="595959"/>
                </a:solidFill>
                <a:latin typeface="Aptos"/>
              </a:rPr>
              <a:t>  9%</a:t>
            </a:r>
          </a:p>
        </p:txBody>
      </p:sp>
      <p:sp>
        <p:nvSpPr>
          <p:cNvPr id="19" name="Chevron 18"/>
          <p:cNvSpPr/>
          <p:nvPr/>
        </p:nvSpPr>
        <p:spPr>
          <a:xfrm>
            <a:off x="3610696" y="241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35696" y="2336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21" name="Rounded Rectangle 20"/>
          <p:cNvSpPr/>
          <p:nvPr/>
        </p:nvSpPr>
        <p:spPr>
          <a:xfrm>
            <a:off x="5938200" y="2392000"/>
            <a:ext cx="1671468" cy="150000"/>
          </a:xfrm>
          <a:prstGeom prst="roundRect">
            <a:avLst>
              <a:gd name="adj" fmla="val 50000"/>
            </a:avLst>
          </a:prstGeom>
          <a:solidFill>
            <a:srgbClr val="DE77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79668" y="2336000"/>
            <a:ext cx="600000" cy="262000"/>
          </a:xfrm>
          <a:prstGeom prst="rect">
            <a:avLst/>
          </a:prstGeom>
          <a:noFill/>
        </p:spPr>
        <p:txBody>
          <a:bodyPr wrap="none" lIns="0" tIns="0" rIns="0" bIns="0" anchor="ctr"/>
          <a:lstStyle/>
          <a:p>
            <a:pPr algn="l"/>
            <a:r>
              <a:rPr sz="1100" b="0">
                <a:solidFill>
                  <a:srgbClr val="595959"/>
                </a:solidFill>
                <a:latin typeface="Aptos"/>
              </a:rPr>
              <a:t>6.2%</a:t>
            </a:r>
          </a:p>
        </p:txBody>
      </p:sp>
      <p:sp>
        <p:nvSpPr>
          <p:cNvPr id="23" name="Rounded Rectangle 22"/>
          <p:cNvSpPr/>
          <p:nvPr/>
        </p:nvSpPr>
        <p:spPr>
          <a:xfrm>
            <a:off x="3637550" y="2604000"/>
            <a:ext cx="225065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Uncontrolled resource use</a:t>
            </a:r>
            <a:r>
              <a:rPr sz="1000">
                <a:solidFill>
                  <a:srgbClr val="595959">
                    <a:alpha val="25000"/>
                  </a:srgbClr>
                </a:solidFill>
                <a:latin typeface="Aptos"/>
              </a:rPr>
              <a:t>  41%</a:t>
            </a:r>
          </a:p>
        </p:txBody>
      </p:sp>
      <p:sp>
        <p:nvSpPr>
          <p:cNvPr id="24" name="Chevron 23"/>
          <p:cNvSpPr/>
          <p:nvPr/>
        </p:nvSpPr>
        <p:spPr>
          <a:xfrm>
            <a:off x="3480888" y="267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888" y="2598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26" name="Rounded Rectangle 25"/>
          <p:cNvSpPr/>
          <p:nvPr/>
        </p:nvSpPr>
        <p:spPr>
          <a:xfrm>
            <a:off x="5938200" y="2654000"/>
            <a:ext cx="1325667" cy="150000"/>
          </a:xfrm>
          <a:prstGeom prst="roundRect">
            <a:avLst>
              <a:gd name="adj" fmla="val 50000"/>
            </a:avLst>
          </a:prstGeom>
          <a:solidFill>
            <a:srgbClr val="E3897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33867" y="2598000"/>
            <a:ext cx="600000" cy="262000"/>
          </a:xfrm>
          <a:prstGeom prst="rect">
            <a:avLst/>
          </a:prstGeom>
          <a:noFill/>
        </p:spPr>
        <p:txBody>
          <a:bodyPr wrap="none" lIns="0" tIns="0" rIns="0" bIns="0" anchor="ctr"/>
          <a:lstStyle/>
          <a:p>
            <a:pPr algn="l"/>
            <a:r>
              <a:rPr sz="1100" b="0">
                <a:solidFill>
                  <a:srgbClr val="595959">
                    <a:alpha val="25000"/>
                  </a:srgbClr>
                </a:solidFill>
                <a:latin typeface="Aptos"/>
              </a:rPr>
              <a:t>3.9%</a:t>
            </a:r>
          </a:p>
        </p:txBody>
      </p:sp>
      <p:sp>
        <p:nvSpPr>
          <p:cNvPr id="28" name="Rounded Rectangle 27"/>
          <p:cNvSpPr/>
          <p:nvPr/>
        </p:nvSpPr>
        <p:spPr>
          <a:xfrm>
            <a:off x="4279520" y="2866000"/>
            <a:ext cx="160868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Integer overflow</a:t>
            </a:r>
            <a:r>
              <a:rPr sz="1000">
                <a:solidFill>
                  <a:srgbClr val="595959">
                    <a:alpha val="25000"/>
                  </a:srgbClr>
                </a:solidFill>
                <a:latin typeface="Aptos"/>
              </a:rPr>
              <a:t>  79%</a:t>
            </a:r>
          </a:p>
        </p:txBody>
      </p:sp>
      <p:sp>
        <p:nvSpPr>
          <p:cNvPr id="29" name="Chevron 28"/>
          <p:cNvSpPr/>
          <p:nvPr/>
        </p:nvSpPr>
        <p:spPr>
          <a:xfrm>
            <a:off x="4097832" y="293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07832" y="2860000"/>
            <a:ext cx="1870000" cy="262000"/>
          </a:xfrm>
          <a:prstGeom prst="rect">
            <a:avLst/>
          </a:prstGeom>
          <a:noFill/>
        </p:spPr>
        <p:txBody>
          <a:bodyPr wrap="none" lIns="0" tIns="0" rIns="0" bIns="0" anchor="ctr"/>
          <a:lstStyle/>
          <a:p>
            <a:pPr algn="r"/>
            <a:r>
              <a:rPr sz="1250" b="1">
                <a:solidFill>
                  <a:srgbClr val="1A1A1A">
                    <a:alpha val="25000"/>
                  </a:srgbClr>
                </a:solidFill>
                <a:latin typeface="Aptos"/>
              </a:rPr>
              <a:t>Type and value</a:t>
            </a:r>
            <a:r>
              <a:rPr sz="1250" b="0">
                <a:solidFill>
                  <a:srgbClr val="8C8C8C">
                    <a:alpha val="25000"/>
                  </a:srgbClr>
                </a:solidFill>
                <a:latin typeface="Aptos"/>
              </a:rPr>
              <a:t>  5%</a:t>
            </a:r>
          </a:p>
        </p:txBody>
      </p:sp>
      <p:sp>
        <p:nvSpPr>
          <p:cNvPr id="31" name="Rounded Rectangle 30"/>
          <p:cNvSpPr/>
          <p:nvPr/>
        </p:nvSpPr>
        <p:spPr>
          <a:xfrm>
            <a:off x="5938200" y="2916000"/>
            <a:ext cx="1308561" cy="150000"/>
          </a:xfrm>
          <a:prstGeom prst="roundRect">
            <a:avLst>
              <a:gd name="adj" fmla="val 50000"/>
            </a:avLst>
          </a:prstGeom>
          <a:solidFill>
            <a:srgbClr val="E38A7D">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6761" y="2860000"/>
            <a:ext cx="600000" cy="262000"/>
          </a:xfrm>
          <a:prstGeom prst="rect">
            <a:avLst/>
          </a:prstGeom>
          <a:noFill/>
        </p:spPr>
        <p:txBody>
          <a:bodyPr wrap="none" lIns="0" tIns="0" rIns="0" bIns="0" anchor="ctr"/>
          <a:lstStyle/>
          <a:p>
            <a:pPr algn="l"/>
            <a:r>
              <a:rPr sz="1100" b="0">
                <a:solidFill>
                  <a:srgbClr val="595959">
                    <a:alpha val="25000"/>
                  </a:srgbClr>
                </a:solidFill>
                <a:latin typeface="Aptos"/>
              </a:rPr>
              <a:t>3.8%</a:t>
            </a:r>
          </a:p>
        </p:txBody>
      </p:sp>
      <p:sp>
        <p:nvSpPr>
          <p:cNvPr id="33" name="Rounded Rectangle 32"/>
          <p:cNvSpPr/>
          <p:nvPr/>
        </p:nvSpPr>
        <p:spPr>
          <a:xfrm>
            <a:off x="3944200" y="3128000"/>
            <a:ext cx="19440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Unsafe deserialization</a:t>
            </a:r>
            <a:r>
              <a:rPr sz="1000">
                <a:solidFill>
                  <a:srgbClr val="595959">
                    <a:alpha val="25000"/>
                  </a:srgbClr>
                </a:solidFill>
                <a:latin typeface="Aptos"/>
              </a:rPr>
              <a:t>  24%</a:t>
            </a:r>
          </a:p>
        </p:txBody>
      </p:sp>
      <p:sp>
        <p:nvSpPr>
          <p:cNvPr id="34" name="Chevron 33"/>
          <p:cNvSpPr/>
          <p:nvPr/>
        </p:nvSpPr>
        <p:spPr>
          <a:xfrm>
            <a:off x="3775944" y="319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00944" y="3122000"/>
            <a:ext cx="2355000" cy="262000"/>
          </a:xfrm>
          <a:prstGeom prst="rect">
            <a:avLst/>
          </a:prstGeom>
          <a:noFill/>
        </p:spPr>
        <p:txBody>
          <a:bodyPr wrap="none" lIns="0" tIns="0" rIns="0" bIns="0" anchor="ctr"/>
          <a:lstStyle/>
          <a:p>
            <a:pPr algn="r"/>
            <a:r>
              <a:rPr sz="1250" b="1">
                <a:solidFill>
                  <a:srgbClr val="1A1A1A">
                    <a:alpha val="25000"/>
                  </a:srgbClr>
                </a:solidFill>
                <a:latin typeface="Aptos"/>
              </a:rPr>
              <a:t>Interface and data</a:t>
            </a:r>
            <a:r>
              <a:rPr sz="1250" b="0">
                <a:solidFill>
                  <a:srgbClr val="8C8C8C">
                    <a:alpha val="25000"/>
                  </a:srgbClr>
                </a:solidFill>
                <a:latin typeface="Aptos"/>
              </a:rPr>
              <a:t>  15%</a:t>
            </a:r>
          </a:p>
        </p:txBody>
      </p:sp>
      <p:sp>
        <p:nvSpPr>
          <p:cNvPr id="36" name="Rounded Rectangle 35"/>
          <p:cNvSpPr/>
          <p:nvPr/>
        </p:nvSpPr>
        <p:spPr>
          <a:xfrm>
            <a:off x="5938200" y="3178000"/>
            <a:ext cx="1273660" cy="150000"/>
          </a:xfrm>
          <a:prstGeom prst="roundRect">
            <a:avLst>
              <a:gd name="adj" fmla="val 50000"/>
            </a:avLst>
          </a:prstGeom>
          <a:solidFill>
            <a:srgbClr val="E48C7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81860" y="3122000"/>
            <a:ext cx="600000" cy="262000"/>
          </a:xfrm>
          <a:prstGeom prst="rect">
            <a:avLst/>
          </a:prstGeom>
          <a:noFill/>
        </p:spPr>
        <p:txBody>
          <a:bodyPr wrap="none" lIns="0" tIns="0" rIns="0" bIns="0" anchor="ctr"/>
          <a:lstStyle/>
          <a:p>
            <a:pPr algn="l"/>
            <a:r>
              <a:rPr sz="1100" b="0">
                <a:solidFill>
                  <a:srgbClr val="595959">
                    <a:alpha val="25000"/>
                  </a:srgbClr>
                </a:solidFill>
                <a:latin typeface="Aptos"/>
              </a:rPr>
              <a:t>3.6%</a:t>
            </a:r>
          </a:p>
        </p:txBody>
      </p:sp>
      <p:sp>
        <p:nvSpPr>
          <p:cNvPr id="38" name="Rounded Rectangle 37"/>
          <p:cNvSpPr/>
          <p:nvPr/>
        </p:nvSpPr>
        <p:spPr>
          <a:xfrm>
            <a:off x="3847200" y="3390000"/>
            <a:ext cx="20410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Allocation without limits</a:t>
            </a:r>
            <a:r>
              <a:rPr sz="1000">
                <a:solidFill>
                  <a:srgbClr val="595959">
                    <a:alpha val="25000"/>
                  </a:srgbClr>
                </a:solidFill>
                <a:latin typeface="Aptos"/>
              </a:rPr>
              <a:t>  27%</a:t>
            </a:r>
          </a:p>
        </p:txBody>
      </p:sp>
      <p:sp>
        <p:nvSpPr>
          <p:cNvPr id="39" name="Chevron 38"/>
          <p:cNvSpPr/>
          <p:nvPr/>
        </p:nvSpPr>
        <p:spPr>
          <a:xfrm>
            <a:off x="3645480" y="346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70480" y="3384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41" name="Rounded Rectangle 40"/>
          <p:cNvSpPr/>
          <p:nvPr/>
        </p:nvSpPr>
        <p:spPr>
          <a:xfrm>
            <a:off x="5938200" y="3440000"/>
            <a:ext cx="1082403" cy="150000"/>
          </a:xfrm>
          <a:prstGeom prst="roundRect">
            <a:avLst>
              <a:gd name="adj" fmla="val 50000"/>
            </a:avLst>
          </a:prstGeom>
          <a:solidFill>
            <a:srgbClr val="E7988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90603" y="3384000"/>
            <a:ext cx="600000" cy="262000"/>
          </a:xfrm>
          <a:prstGeom prst="rect">
            <a:avLst/>
          </a:prstGeom>
          <a:noFill/>
        </p:spPr>
        <p:txBody>
          <a:bodyPr wrap="none" lIns="0" tIns="0" rIns="0" bIns="0" anchor="ctr"/>
          <a:lstStyle/>
          <a:p>
            <a:pPr algn="l"/>
            <a:r>
              <a:rPr sz="1100" b="0">
                <a:solidFill>
                  <a:srgbClr val="595959">
                    <a:alpha val="25000"/>
                  </a:srgbClr>
                </a:solidFill>
                <a:latin typeface="Aptos"/>
              </a:rPr>
              <a:t>2.6%</a:t>
            </a:r>
          </a:p>
        </p:txBody>
      </p:sp>
      <p:sp>
        <p:nvSpPr>
          <p:cNvPr id="43" name="Rounded Rectangle 42"/>
          <p:cNvSpPr/>
          <p:nvPr/>
        </p:nvSpPr>
        <p:spPr>
          <a:xfrm>
            <a:off x="4422180" y="3652000"/>
            <a:ext cx="146602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Race condition</a:t>
            </a:r>
            <a:r>
              <a:rPr sz="1000">
                <a:solidFill>
                  <a:srgbClr val="595959">
                    <a:alpha val="25000"/>
                  </a:srgbClr>
                </a:solidFill>
                <a:latin typeface="Aptos"/>
              </a:rPr>
              <a:t>  60%</a:t>
            </a:r>
          </a:p>
        </p:txBody>
      </p:sp>
      <p:sp>
        <p:nvSpPr>
          <p:cNvPr id="44" name="Chevron 43"/>
          <p:cNvSpPr/>
          <p:nvPr/>
        </p:nvSpPr>
        <p:spPr>
          <a:xfrm>
            <a:off x="4225448" y="372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35448" y="3646000"/>
            <a:ext cx="1570000" cy="262000"/>
          </a:xfrm>
          <a:prstGeom prst="rect">
            <a:avLst/>
          </a:prstGeom>
          <a:noFill/>
        </p:spPr>
        <p:txBody>
          <a:bodyPr wrap="none" lIns="0" tIns="0" rIns="0" bIns="0" anchor="ctr"/>
          <a:lstStyle/>
          <a:p>
            <a:pPr algn="r"/>
            <a:r>
              <a:rPr sz="1250" b="1">
                <a:solidFill>
                  <a:srgbClr val="1A1A1A">
                    <a:alpha val="25000"/>
                  </a:srgbClr>
                </a:solidFill>
                <a:latin typeface="Aptos"/>
              </a:rPr>
              <a:t>Concurrency</a:t>
            </a:r>
            <a:r>
              <a:rPr sz="1250" b="0">
                <a:solidFill>
                  <a:srgbClr val="8C8C8C">
                    <a:alpha val="25000"/>
                  </a:srgbClr>
                </a:solidFill>
                <a:latin typeface="Aptos"/>
              </a:rPr>
              <a:t>  4%</a:t>
            </a:r>
          </a:p>
        </p:txBody>
      </p:sp>
      <p:sp>
        <p:nvSpPr>
          <p:cNvPr id="46" name="Rounded Rectangle 45"/>
          <p:cNvSpPr/>
          <p:nvPr/>
        </p:nvSpPr>
        <p:spPr>
          <a:xfrm>
            <a:off x="5938200" y="3702000"/>
            <a:ext cx="1082403" cy="150000"/>
          </a:xfrm>
          <a:prstGeom prst="roundRect">
            <a:avLst>
              <a:gd name="adj" fmla="val 50000"/>
            </a:avLst>
          </a:prstGeom>
          <a:solidFill>
            <a:srgbClr val="E7988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090603" y="3646000"/>
            <a:ext cx="600000" cy="262000"/>
          </a:xfrm>
          <a:prstGeom prst="rect">
            <a:avLst/>
          </a:prstGeom>
          <a:noFill/>
        </p:spPr>
        <p:txBody>
          <a:bodyPr wrap="none" lIns="0" tIns="0" rIns="0" bIns="0" anchor="ctr"/>
          <a:lstStyle/>
          <a:p>
            <a:pPr algn="l"/>
            <a:r>
              <a:rPr sz="1100" b="0">
                <a:solidFill>
                  <a:srgbClr val="595959">
                    <a:alpha val="25000"/>
                  </a:srgbClr>
                </a:solidFill>
                <a:latin typeface="Aptos"/>
              </a:rPr>
              <a:t>2.6%</a:t>
            </a:r>
          </a:p>
        </p:txBody>
      </p:sp>
      <p:sp>
        <p:nvSpPr>
          <p:cNvPr id="48" name="Rounded Rectangle 47"/>
          <p:cNvSpPr/>
          <p:nvPr/>
        </p:nvSpPr>
        <p:spPr>
          <a:xfrm>
            <a:off x="4636170" y="3914000"/>
            <a:ext cx="125203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Memory leak</a:t>
            </a:r>
            <a:r>
              <a:rPr sz="1000">
                <a:solidFill>
                  <a:srgbClr val="595959">
                    <a:alpha val="25000"/>
                  </a:srgbClr>
                </a:solidFill>
                <a:latin typeface="Aptos"/>
              </a:rPr>
              <a:t>  22%</a:t>
            </a:r>
          </a:p>
        </p:txBody>
      </p:sp>
      <p:sp>
        <p:nvSpPr>
          <p:cNvPr id="49" name="Chevron 48"/>
          <p:cNvSpPr/>
          <p:nvPr/>
        </p:nvSpPr>
        <p:spPr>
          <a:xfrm>
            <a:off x="4453448" y="398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78448" y="3908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51" name="Rounded Rectangle 50"/>
          <p:cNvSpPr/>
          <p:nvPr/>
        </p:nvSpPr>
        <p:spPr>
          <a:xfrm>
            <a:off x="5938200" y="3964000"/>
            <a:ext cx="972774" cy="150000"/>
          </a:xfrm>
          <a:prstGeom prst="roundRect">
            <a:avLst>
              <a:gd name="adj" fmla="val 50000"/>
            </a:avLst>
          </a:prstGeom>
          <a:solidFill>
            <a:srgbClr val="E9A095">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980974" y="3908000"/>
            <a:ext cx="600000" cy="262000"/>
          </a:xfrm>
          <a:prstGeom prst="rect">
            <a:avLst/>
          </a:prstGeom>
          <a:noFill/>
        </p:spPr>
        <p:txBody>
          <a:bodyPr wrap="none" lIns="0" tIns="0" rIns="0" bIns="0" anchor="ctr"/>
          <a:lstStyle/>
          <a:p>
            <a:pPr algn="l"/>
            <a:r>
              <a:rPr sz="1100" b="0">
                <a:solidFill>
                  <a:srgbClr val="595959">
                    <a:alpha val="25000"/>
                  </a:srgbClr>
                </a:solidFill>
                <a:latin typeface="Aptos"/>
              </a:rPr>
              <a:t>2.1%</a:t>
            </a:r>
          </a:p>
        </p:txBody>
      </p:sp>
      <p:sp>
        <p:nvSpPr>
          <p:cNvPr id="53" name="Rounded Rectangle 52"/>
          <p:cNvSpPr/>
          <p:nvPr/>
        </p:nvSpPr>
        <p:spPr>
          <a:xfrm>
            <a:off x="3690200" y="4176000"/>
            <a:ext cx="219800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Use of uninitialized resource</a:t>
            </a:r>
            <a:r>
              <a:rPr sz="1000">
                <a:solidFill>
                  <a:srgbClr val="595959"/>
                </a:solidFill>
                <a:latin typeface="Aptos"/>
              </a:rPr>
              <a:t>  1%</a:t>
            </a:r>
          </a:p>
        </p:txBody>
      </p:sp>
      <p:sp>
        <p:nvSpPr>
          <p:cNvPr id="54" name="Chevron 53"/>
          <p:cNvSpPr/>
          <p:nvPr/>
        </p:nvSpPr>
        <p:spPr>
          <a:xfrm>
            <a:off x="3529400" y="424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554400" y="4170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56" name="Rounded Rectangle 55"/>
          <p:cNvSpPr/>
          <p:nvPr/>
        </p:nvSpPr>
        <p:spPr>
          <a:xfrm>
            <a:off x="5938200" y="4226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679477" y="4170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58" name="Rounded Rectangle 57"/>
          <p:cNvSpPr/>
          <p:nvPr/>
        </p:nvSpPr>
        <p:spPr>
          <a:xfrm>
            <a:off x="4698114" y="4438000"/>
            <a:ext cx="119008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Double free</a:t>
            </a:r>
            <a:r>
              <a:rPr sz="1000">
                <a:solidFill>
                  <a:srgbClr val="595959"/>
                </a:solidFill>
                <a:latin typeface="Aptos"/>
              </a:rPr>
              <a:t>  1%</a:t>
            </a:r>
          </a:p>
        </p:txBody>
      </p:sp>
      <p:sp>
        <p:nvSpPr>
          <p:cNvPr id="59" name="Chevron 58"/>
          <p:cNvSpPr/>
          <p:nvPr/>
        </p:nvSpPr>
        <p:spPr>
          <a:xfrm>
            <a:off x="4501160" y="450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526160" y="4432000"/>
            <a:ext cx="1855000" cy="262000"/>
          </a:xfrm>
          <a:prstGeom prst="rect">
            <a:avLst/>
          </a:prstGeom>
          <a:noFill/>
        </p:spPr>
        <p:txBody>
          <a:bodyPr wrap="none" lIns="0" tIns="0" rIns="0" bIns="0" anchor="ctr"/>
          <a:lstStyle/>
          <a:p>
            <a:pPr algn="r"/>
            <a:r>
              <a:rPr sz="1250" b="1">
                <a:solidFill>
                  <a:srgbClr val="1A1A1A"/>
                </a:solidFill>
                <a:latin typeface="Aptos"/>
              </a:rPr>
              <a:t>Memory safety</a:t>
            </a:r>
            <a:r>
              <a:rPr sz="1250" b="0">
                <a:solidFill>
                  <a:srgbClr val="8C8C8C"/>
                </a:solidFill>
                <a:latin typeface="Aptos"/>
              </a:rPr>
              <a:t>  68%</a:t>
            </a:r>
          </a:p>
        </p:txBody>
      </p:sp>
      <p:sp>
        <p:nvSpPr>
          <p:cNvPr id="61" name="Rounded Rectangle 60"/>
          <p:cNvSpPr/>
          <p:nvPr/>
        </p:nvSpPr>
        <p:spPr>
          <a:xfrm>
            <a:off x="5938200" y="4488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679477" y="4432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63" name="Rounded Rectangle 62"/>
          <p:cNvSpPr/>
          <p:nvPr/>
        </p:nvSpPr>
        <p:spPr>
          <a:xfrm>
            <a:off x="4422180" y="4700000"/>
            <a:ext cx="146602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Type confusion</a:t>
            </a:r>
            <a:r>
              <a:rPr sz="1000">
                <a:solidFill>
                  <a:srgbClr val="595959">
                    <a:alpha val="25000"/>
                  </a:srgbClr>
                </a:solidFill>
                <a:latin typeface="Aptos"/>
              </a:rPr>
              <a:t>  21%</a:t>
            </a:r>
          </a:p>
        </p:txBody>
      </p:sp>
      <p:sp>
        <p:nvSpPr>
          <p:cNvPr id="64" name="Chevron 63"/>
          <p:cNvSpPr/>
          <p:nvPr/>
        </p:nvSpPr>
        <p:spPr>
          <a:xfrm>
            <a:off x="4231544" y="477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241544" y="4694000"/>
            <a:ext cx="1870000" cy="262000"/>
          </a:xfrm>
          <a:prstGeom prst="rect">
            <a:avLst/>
          </a:prstGeom>
          <a:noFill/>
        </p:spPr>
        <p:txBody>
          <a:bodyPr wrap="none" lIns="0" tIns="0" rIns="0" bIns="0" anchor="ctr"/>
          <a:lstStyle/>
          <a:p>
            <a:pPr algn="r"/>
            <a:r>
              <a:rPr sz="1250" b="1">
                <a:solidFill>
                  <a:srgbClr val="1A1A1A">
                    <a:alpha val="25000"/>
                  </a:srgbClr>
                </a:solidFill>
                <a:latin typeface="Aptos"/>
              </a:rPr>
              <a:t>Type and value</a:t>
            </a:r>
            <a:r>
              <a:rPr sz="1250" b="0">
                <a:solidFill>
                  <a:srgbClr val="8C8C8C">
                    <a:alpha val="25000"/>
                  </a:srgbClr>
                </a:solidFill>
                <a:latin typeface="Aptos"/>
              </a:rPr>
              <a:t>  5%</a:t>
            </a:r>
          </a:p>
        </p:txBody>
      </p:sp>
      <p:sp>
        <p:nvSpPr>
          <p:cNvPr id="66" name="Rounded Rectangle 65"/>
          <p:cNvSpPr/>
          <p:nvPr/>
        </p:nvSpPr>
        <p:spPr>
          <a:xfrm>
            <a:off x="5938200" y="4750000"/>
            <a:ext cx="671277"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679477" y="4694000"/>
            <a:ext cx="600000" cy="262000"/>
          </a:xfrm>
          <a:prstGeom prst="rect">
            <a:avLst/>
          </a:prstGeom>
          <a:noFill/>
        </p:spPr>
        <p:txBody>
          <a:bodyPr wrap="none" lIns="0" tIns="0" rIns="0" bIns="0" anchor="ctr"/>
          <a:lstStyle/>
          <a:p>
            <a:pPr algn="l"/>
            <a:r>
              <a:rPr sz="1100" b="0">
                <a:solidFill>
                  <a:srgbClr val="595959">
                    <a:alpha val="25000"/>
                  </a:srgbClr>
                </a:solidFill>
                <a:latin typeface="Aptos"/>
              </a:rPr>
              <a:t>1.0%</a:t>
            </a:r>
          </a:p>
        </p:txBody>
      </p:sp>
      <p:sp>
        <p:nvSpPr>
          <p:cNvPr id="68" name="Rounded Rectangle 67"/>
          <p:cNvSpPr/>
          <p:nvPr/>
        </p:nvSpPr>
        <p:spPr>
          <a:xfrm>
            <a:off x="4493510" y="4962000"/>
            <a:ext cx="139469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Infinite loop</a:t>
            </a:r>
            <a:r>
              <a:rPr sz="1000">
                <a:solidFill>
                  <a:srgbClr val="595959">
                    <a:alpha val="25000"/>
                  </a:srgbClr>
                </a:solidFill>
                <a:latin typeface="Aptos"/>
              </a:rPr>
              <a:t>  42%</a:t>
            </a:r>
          </a:p>
        </p:txBody>
      </p:sp>
      <p:sp>
        <p:nvSpPr>
          <p:cNvPr id="69" name="Chevron 68"/>
          <p:cNvSpPr/>
          <p:nvPr/>
        </p:nvSpPr>
        <p:spPr>
          <a:xfrm>
            <a:off x="4295352" y="503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505352" y="4956000"/>
            <a:ext cx="1670000" cy="262000"/>
          </a:xfrm>
          <a:prstGeom prst="rect">
            <a:avLst/>
          </a:prstGeom>
          <a:noFill/>
        </p:spPr>
        <p:txBody>
          <a:bodyPr wrap="none" lIns="0" tIns="0" rIns="0" bIns="0" anchor="ctr"/>
          <a:lstStyle/>
          <a:p>
            <a:pPr algn="r"/>
            <a:r>
              <a:rPr sz="1250" b="1">
                <a:solidFill>
                  <a:srgbClr val="1A1A1A">
                    <a:alpha val="25000"/>
                  </a:srgbClr>
                </a:solidFill>
                <a:latin typeface="Aptos"/>
              </a:rPr>
              <a:t>Control flow</a:t>
            </a:r>
            <a:r>
              <a:rPr sz="1250" b="0">
                <a:solidFill>
                  <a:srgbClr val="8C8C8C">
                    <a:alpha val="25000"/>
                  </a:srgbClr>
                </a:solidFill>
                <a:latin typeface="Aptos"/>
              </a:rPr>
              <a:t>  2%</a:t>
            </a:r>
          </a:p>
        </p:txBody>
      </p:sp>
      <p:sp>
        <p:nvSpPr>
          <p:cNvPr id="71" name="Rounded Rectangle 70"/>
          <p:cNvSpPr/>
          <p:nvPr/>
        </p:nvSpPr>
        <p:spPr>
          <a:xfrm>
            <a:off x="5938200" y="5012000"/>
            <a:ext cx="671277"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679477" y="4956000"/>
            <a:ext cx="600000" cy="262000"/>
          </a:xfrm>
          <a:prstGeom prst="rect">
            <a:avLst/>
          </a:prstGeom>
          <a:noFill/>
        </p:spPr>
        <p:txBody>
          <a:bodyPr wrap="none" lIns="0" tIns="0" rIns="0" bIns="0" anchor="ctr"/>
          <a:lstStyle/>
          <a:p>
            <a:pPr algn="l"/>
            <a:r>
              <a:rPr sz="1100" b="0">
                <a:solidFill>
                  <a:srgbClr val="595959">
                    <a:alpha val="25000"/>
                  </a:srgbClr>
                </a:solidFill>
                <a:latin typeface="Aptos"/>
              </a:rPr>
              <a:t>1.0%</a:t>
            </a:r>
          </a:p>
        </p:txBody>
      </p:sp>
      <p:sp>
        <p:nvSpPr>
          <p:cNvPr id="73" name="Rounded Rectangle 72"/>
          <p:cNvSpPr/>
          <p:nvPr/>
        </p:nvSpPr>
        <p:spPr>
          <a:xfrm>
            <a:off x="3628164" y="5224000"/>
            <a:ext cx="2260036"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resource shutdown</a:t>
            </a:r>
            <a:r>
              <a:rPr sz="1000">
                <a:solidFill>
                  <a:srgbClr val="595959">
                    <a:alpha val="25000"/>
                  </a:srgbClr>
                </a:solidFill>
                <a:latin typeface="Aptos"/>
              </a:rPr>
              <a:t>  9%</a:t>
            </a:r>
          </a:p>
        </p:txBody>
      </p:sp>
      <p:sp>
        <p:nvSpPr>
          <p:cNvPr id="74" name="Chevron 73"/>
          <p:cNvSpPr/>
          <p:nvPr/>
        </p:nvSpPr>
        <p:spPr>
          <a:xfrm>
            <a:off x="3470888" y="529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95888" y="5218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76" name="Rounded Rectangle 75"/>
          <p:cNvSpPr/>
          <p:nvPr/>
        </p:nvSpPr>
        <p:spPr>
          <a:xfrm>
            <a:off x="5938200" y="5274000"/>
            <a:ext cx="636830" cy="150000"/>
          </a:xfrm>
          <a:prstGeom prst="roundRect">
            <a:avLst>
              <a:gd name="adj" fmla="val 50000"/>
            </a:avLst>
          </a:prstGeom>
          <a:solidFill>
            <a:srgbClr val="F0BFB7">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645030" y="5218000"/>
            <a:ext cx="600000" cy="262000"/>
          </a:xfrm>
          <a:prstGeom prst="rect">
            <a:avLst/>
          </a:prstGeom>
          <a:noFill/>
        </p:spPr>
        <p:txBody>
          <a:bodyPr wrap="none" lIns="0" tIns="0" rIns="0" bIns="0" anchor="ctr"/>
          <a:lstStyle/>
          <a:p>
            <a:pPr algn="l"/>
            <a:r>
              <a:rPr sz="1100" b="0">
                <a:solidFill>
                  <a:srgbClr val="595959">
                    <a:alpha val="25000"/>
                  </a:srgbClr>
                </a:solidFill>
                <a:latin typeface="Aptos"/>
              </a:rPr>
              <a:t>0.9%</a:t>
            </a:r>
          </a:p>
        </p:txBody>
      </p:sp>
      <p:sp>
        <p:nvSpPr>
          <p:cNvPr id="78" name="Rounded Rectangle 77"/>
          <p:cNvSpPr/>
          <p:nvPr/>
        </p:nvSpPr>
        <p:spPr>
          <a:xfrm>
            <a:off x="4636170" y="5486000"/>
            <a:ext cx="125203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TOCTOU race</a:t>
            </a:r>
            <a:r>
              <a:rPr sz="1000">
                <a:solidFill>
                  <a:srgbClr val="595959">
                    <a:alpha val="25000"/>
                  </a:srgbClr>
                </a:solidFill>
                <a:latin typeface="Aptos"/>
              </a:rPr>
              <a:t>  21%</a:t>
            </a:r>
          </a:p>
        </p:txBody>
      </p:sp>
      <p:sp>
        <p:nvSpPr>
          <p:cNvPr id="79" name="Chevron 78"/>
          <p:cNvSpPr/>
          <p:nvPr/>
        </p:nvSpPr>
        <p:spPr>
          <a:xfrm>
            <a:off x="4459544" y="555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9544" y="5480000"/>
            <a:ext cx="1570000" cy="262000"/>
          </a:xfrm>
          <a:prstGeom prst="rect">
            <a:avLst/>
          </a:prstGeom>
          <a:noFill/>
        </p:spPr>
        <p:txBody>
          <a:bodyPr wrap="none" lIns="0" tIns="0" rIns="0" bIns="0" anchor="ctr"/>
          <a:lstStyle/>
          <a:p>
            <a:pPr algn="r"/>
            <a:r>
              <a:rPr sz="1250" b="1">
                <a:solidFill>
                  <a:srgbClr val="1A1A1A">
                    <a:alpha val="25000"/>
                  </a:srgbClr>
                </a:solidFill>
                <a:latin typeface="Aptos"/>
              </a:rPr>
              <a:t>Concurrency</a:t>
            </a:r>
            <a:r>
              <a:rPr sz="1250" b="0">
                <a:solidFill>
                  <a:srgbClr val="8C8C8C">
                    <a:alpha val="25000"/>
                  </a:srgbClr>
                </a:solidFill>
                <a:latin typeface="Aptos"/>
              </a:rPr>
              <a:t>  4%</a:t>
            </a:r>
          </a:p>
        </p:txBody>
      </p:sp>
      <p:sp>
        <p:nvSpPr>
          <p:cNvPr id="81" name="Rounded Rectangle 80"/>
          <p:cNvSpPr/>
          <p:nvPr/>
        </p:nvSpPr>
        <p:spPr>
          <a:xfrm>
            <a:off x="5938200" y="5536000"/>
            <a:ext cx="636830" cy="150000"/>
          </a:xfrm>
          <a:prstGeom prst="roundRect">
            <a:avLst>
              <a:gd name="adj" fmla="val 50000"/>
            </a:avLst>
          </a:prstGeom>
          <a:solidFill>
            <a:srgbClr val="F0BFB7">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645030" y="5480000"/>
            <a:ext cx="600000" cy="262000"/>
          </a:xfrm>
          <a:prstGeom prst="rect">
            <a:avLst/>
          </a:prstGeom>
          <a:noFill/>
        </p:spPr>
        <p:txBody>
          <a:bodyPr wrap="none" lIns="0" tIns="0" rIns="0" bIns="0" anchor="ctr"/>
          <a:lstStyle/>
          <a:p>
            <a:pPr algn="l"/>
            <a:r>
              <a:rPr sz="1100" b="0">
                <a:solidFill>
                  <a:srgbClr val="595959">
                    <a:alpha val="25000"/>
                  </a:srgbClr>
                </a:solidFill>
                <a:latin typeface="Aptos"/>
              </a:rPr>
              <a:t>0.9%</a:t>
            </a:r>
          </a:p>
        </p:txBody>
      </p:sp>
      <p:sp>
        <p:nvSpPr>
          <p:cNvPr id="83" name="Rounded Rectangle 82"/>
          <p:cNvSpPr/>
          <p:nvPr/>
        </p:nvSpPr>
        <p:spPr>
          <a:xfrm>
            <a:off x="4279520" y="5748000"/>
            <a:ext cx="160868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locking</a:t>
            </a:r>
            <a:r>
              <a:rPr sz="1000">
                <a:solidFill>
                  <a:srgbClr val="595959">
                    <a:alpha val="25000"/>
                  </a:srgbClr>
                </a:solidFill>
                <a:latin typeface="Aptos"/>
              </a:rPr>
              <a:t>  19%</a:t>
            </a:r>
          </a:p>
        </p:txBody>
      </p:sp>
      <p:sp>
        <p:nvSpPr>
          <p:cNvPr id="84" name="Chevron 83"/>
          <p:cNvSpPr/>
          <p:nvPr/>
        </p:nvSpPr>
        <p:spPr>
          <a:xfrm>
            <a:off x="4079544" y="581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389544" y="5742000"/>
            <a:ext cx="1570000" cy="262000"/>
          </a:xfrm>
          <a:prstGeom prst="rect">
            <a:avLst/>
          </a:prstGeom>
          <a:noFill/>
        </p:spPr>
        <p:txBody>
          <a:bodyPr wrap="none" lIns="0" tIns="0" rIns="0" bIns="0" anchor="ctr"/>
          <a:lstStyle/>
          <a:p>
            <a:pPr algn="r"/>
            <a:r>
              <a:rPr sz="1250" b="1">
                <a:solidFill>
                  <a:srgbClr val="1A1A1A">
                    <a:alpha val="25000"/>
                  </a:srgbClr>
                </a:solidFill>
                <a:latin typeface="Aptos"/>
              </a:rPr>
              <a:t>Concurrency</a:t>
            </a:r>
            <a:r>
              <a:rPr sz="1250" b="0">
                <a:solidFill>
                  <a:srgbClr val="8C8C8C">
                    <a:alpha val="25000"/>
                  </a:srgbClr>
                </a:solidFill>
                <a:latin typeface="Aptos"/>
              </a:rPr>
              <a:t>  4%</a:t>
            </a:r>
          </a:p>
        </p:txBody>
      </p:sp>
      <p:sp>
        <p:nvSpPr>
          <p:cNvPr id="86" name="Rounded Rectangle 85"/>
          <p:cNvSpPr/>
          <p:nvPr/>
        </p:nvSpPr>
        <p:spPr>
          <a:xfrm>
            <a:off x="5938200" y="5798000"/>
            <a:ext cx="600409" cy="150000"/>
          </a:xfrm>
          <a:prstGeom prst="roundRect">
            <a:avLst>
              <a:gd name="adj" fmla="val 50000"/>
            </a:avLst>
          </a:prstGeom>
          <a:solidFill>
            <a:srgbClr val="F1C4B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608609" y="5742000"/>
            <a:ext cx="600000" cy="262000"/>
          </a:xfrm>
          <a:prstGeom prst="rect">
            <a:avLst/>
          </a:prstGeom>
          <a:noFill/>
        </p:spPr>
        <p:txBody>
          <a:bodyPr wrap="none" lIns="0" tIns="0" rIns="0" bIns="0" anchor="ctr"/>
          <a:lstStyle/>
          <a:p>
            <a:pPr algn="l"/>
            <a:r>
              <a:rPr sz="1100" b="0">
                <a:solidFill>
                  <a:srgbClr val="595959">
                    <a:alpha val="25000"/>
                  </a:srgbClr>
                </a:solidFill>
                <a:latin typeface="Aptos"/>
              </a:rPr>
              <a:t>0.8%</a:t>
            </a:r>
          </a:p>
        </p:txBody>
      </p:sp>
      <p:sp>
        <p:nvSpPr>
          <p:cNvPr id="88" name="Rounded Rectangle 87"/>
          <p:cNvSpPr/>
          <p:nvPr/>
        </p:nvSpPr>
        <p:spPr>
          <a:xfrm>
            <a:off x="3494890" y="6010000"/>
            <a:ext cx="239331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Unchecked unusual condition</a:t>
            </a:r>
            <a:r>
              <a:rPr sz="1000">
                <a:solidFill>
                  <a:srgbClr val="595959">
                    <a:alpha val="25000"/>
                  </a:srgbClr>
                </a:solidFill>
                <a:latin typeface="Aptos"/>
              </a:rPr>
              <a:t>  29%</a:t>
            </a:r>
          </a:p>
        </p:txBody>
      </p:sp>
      <p:sp>
        <p:nvSpPr>
          <p:cNvPr id="89" name="Chevron 88"/>
          <p:cNvSpPr/>
          <p:nvPr/>
        </p:nvSpPr>
        <p:spPr>
          <a:xfrm>
            <a:off x="3267928" y="608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477928" y="6004000"/>
            <a:ext cx="1670000" cy="262000"/>
          </a:xfrm>
          <a:prstGeom prst="rect">
            <a:avLst/>
          </a:prstGeom>
          <a:noFill/>
        </p:spPr>
        <p:txBody>
          <a:bodyPr wrap="none" lIns="0" tIns="0" rIns="0" bIns="0" anchor="ctr"/>
          <a:lstStyle/>
          <a:p>
            <a:pPr algn="r"/>
            <a:r>
              <a:rPr sz="1250" b="1">
                <a:solidFill>
                  <a:srgbClr val="1A1A1A">
                    <a:alpha val="25000"/>
                  </a:srgbClr>
                </a:solidFill>
                <a:latin typeface="Aptos"/>
              </a:rPr>
              <a:t>Control flow</a:t>
            </a:r>
            <a:r>
              <a:rPr sz="1250" b="0">
                <a:solidFill>
                  <a:srgbClr val="8C8C8C">
                    <a:alpha val="25000"/>
                  </a:srgbClr>
                </a:solidFill>
                <a:latin typeface="Aptos"/>
              </a:rPr>
              <a:t>  2%</a:t>
            </a:r>
          </a:p>
        </p:txBody>
      </p:sp>
      <p:sp>
        <p:nvSpPr>
          <p:cNvPr id="91" name="Rounded Rectangle 90"/>
          <p:cNvSpPr/>
          <p:nvPr/>
        </p:nvSpPr>
        <p:spPr>
          <a:xfrm>
            <a:off x="5938200" y="6060000"/>
            <a:ext cx="561631" cy="150000"/>
          </a:xfrm>
          <a:prstGeom prst="roundRect">
            <a:avLst>
              <a:gd name="adj" fmla="val 50000"/>
            </a:avLst>
          </a:prstGeom>
          <a:solidFill>
            <a:srgbClr val="F3C9C2">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569831" y="6004000"/>
            <a:ext cx="600000" cy="262000"/>
          </a:xfrm>
          <a:prstGeom prst="rect">
            <a:avLst/>
          </a:prstGeom>
          <a:noFill/>
        </p:spPr>
        <p:txBody>
          <a:bodyPr wrap="none" lIns="0" tIns="0" rIns="0" bIns="0" anchor="ctr"/>
          <a:lstStyle/>
          <a:p>
            <a:pPr algn="l"/>
            <a:r>
              <a:rPr sz="1100" b="0">
                <a:solidFill>
                  <a:srgbClr val="595959">
                    <a:alpha val="25000"/>
                  </a:srgbClr>
                </a:solidFill>
                <a:latin typeface="Aptos"/>
              </a:rPr>
              <a:t>0.7%</a:t>
            </a:r>
          </a:p>
        </p:txBody>
      </p:sp>
      <p:sp>
        <p:nvSpPr>
          <p:cNvPr id="93" name="Rounded Rectangle 92"/>
          <p:cNvSpPr/>
          <p:nvPr/>
        </p:nvSpPr>
        <p:spPr>
          <a:xfrm>
            <a:off x="3851540" y="6272000"/>
            <a:ext cx="203666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Bad exception handling</a:t>
            </a:r>
            <a:r>
              <a:rPr sz="1000">
                <a:solidFill>
                  <a:srgbClr val="595959">
                    <a:alpha val="25000"/>
                  </a:srgbClr>
                </a:solidFill>
                <a:latin typeface="Aptos"/>
              </a:rPr>
              <a:t>  29%</a:t>
            </a:r>
          </a:p>
        </p:txBody>
      </p:sp>
      <p:sp>
        <p:nvSpPr>
          <p:cNvPr id="94" name="Chevron 93"/>
          <p:cNvSpPr/>
          <p:nvPr/>
        </p:nvSpPr>
        <p:spPr>
          <a:xfrm>
            <a:off x="3623544" y="634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833544" y="6266000"/>
            <a:ext cx="1670000" cy="262000"/>
          </a:xfrm>
          <a:prstGeom prst="rect">
            <a:avLst/>
          </a:prstGeom>
          <a:noFill/>
        </p:spPr>
        <p:txBody>
          <a:bodyPr wrap="none" lIns="0" tIns="0" rIns="0" bIns="0" anchor="ctr"/>
          <a:lstStyle/>
          <a:p>
            <a:pPr algn="r"/>
            <a:r>
              <a:rPr sz="1250" b="1">
                <a:solidFill>
                  <a:srgbClr val="1A1A1A">
                    <a:alpha val="25000"/>
                  </a:srgbClr>
                </a:solidFill>
                <a:latin typeface="Aptos"/>
              </a:rPr>
              <a:t>Control flow</a:t>
            </a:r>
            <a:r>
              <a:rPr sz="1250" b="0">
                <a:solidFill>
                  <a:srgbClr val="8C8C8C">
                    <a:alpha val="25000"/>
                  </a:srgbClr>
                </a:solidFill>
                <a:latin typeface="Aptos"/>
              </a:rPr>
              <a:t>  2%</a:t>
            </a:r>
          </a:p>
        </p:txBody>
      </p:sp>
      <p:sp>
        <p:nvSpPr>
          <p:cNvPr id="96" name="Rounded Rectangle 95"/>
          <p:cNvSpPr/>
          <p:nvPr/>
        </p:nvSpPr>
        <p:spPr>
          <a:xfrm>
            <a:off x="5938200" y="6322000"/>
            <a:ext cx="561631" cy="150000"/>
          </a:xfrm>
          <a:prstGeom prst="roundRect">
            <a:avLst>
              <a:gd name="adj" fmla="val 50000"/>
            </a:avLst>
          </a:prstGeom>
          <a:solidFill>
            <a:srgbClr val="F3C9C2">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569831" y="6266000"/>
            <a:ext cx="600000" cy="262000"/>
          </a:xfrm>
          <a:prstGeom prst="rect">
            <a:avLst/>
          </a:prstGeom>
          <a:noFill/>
        </p:spPr>
        <p:txBody>
          <a:bodyPr wrap="none" lIns="0" tIns="0" rIns="0" bIns="0" anchor="ctr"/>
          <a:lstStyle/>
          <a:p>
            <a:pPr algn="l"/>
            <a:r>
              <a:rPr sz="1100" b="0">
                <a:solidFill>
                  <a:srgbClr val="595959">
                    <a:alpha val="25000"/>
                  </a:srgbClr>
                </a:solidFill>
                <a:latin typeface="Aptos"/>
              </a:rPr>
              <a:t>0.7%</a:t>
            </a:r>
          </a:p>
        </p:txBody>
      </p:sp>
      <p:sp>
        <p:nvSpPr>
          <p:cNvPr id="99" name="TextBox 98">
            <a:extLst>
              <a:ext uri="{FF2B5EF4-FFF2-40B4-BE49-F238E27FC236}">
                <a16:creationId xmlns:a16="http://schemas.microsoft.com/office/drawing/2014/main" id="{36F73574-8A41-E2A7-F8AE-2490CA3F7AE9}"/>
              </a:ext>
            </a:extLst>
          </p:cNvPr>
          <p:cNvSpPr txBox="1"/>
          <p:nvPr/>
        </p:nvSpPr>
        <p:spPr>
          <a:xfrm>
            <a:off x="7933477" y="3146273"/>
            <a:ext cx="3079966"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lumMod val="65000"/>
                  </a:schemeClr>
                </a:solidFill>
              </a:rPr>
              <a:t>CVEs published 2016–2026.</a:t>
            </a:r>
          </a:p>
          <a:p>
            <a:pPr marL="285750" indent="-285750">
              <a:buFont typeface="Arial" panose="020B0604020202020204" pitchFamily="34" charset="0"/>
              <a:buChar char="•"/>
            </a:pPr>
            <a:r>
              <a:rPr lang="en-US" sz="1400" dirty="0">
                <a:solidFill>
                  <a:schemeClr val="bg1">
                    <a:lumMod val="65000"/>
                  </a:schemeClr>
                </a:solidFill>
              </a:rPr>
              <a:t>Group share is the category's percentage of all classified CVEs.</a:t>
            </a:r>
          </a:p>
          <a:p>
            <a:pPr marL="285750" indent="-285750">
              <a:buFont typeface="Arial" panose="020B0604020202020204" pitchFamily="34" charset="0"/>
              <a:buChar char="•"/>
            </a:pPr>
            <a:r>
              <a:rPr lang="en-US" sz="1400" dirty="0">
                <a:solidFill>
                  <a:schemeClr val="bg1">
                    <a:lumMod val="65000"/>
                  </a:schemeClr>
                </a:solidFill>
              </a:rPr>
              <a:t>The percentage inside each box is the defect's share within its category.</a:t>
            </a:r>
          </a:p>
          <a:p>
            <a:pPr marL="285750" indent="-285750">
              <a:buFont typeface="Arial" panose="020B0604020202020204" pitchFamily="34" charset="0"/>
              <a:buChar char="•"/>
            </a:pPr>
            <a:r>
              <a:rPr lang="en-US" sz="1400" dirty="0">
                <a:solidFill>
                  <a:schemeClr val="bg1">
                    <a:lumMod val="65000"/>
                  </a:schemeClr>
                </a:solidFill>
              </a:rPr>
              <a:t>The percentage after each bar is the defect's share of all classified CVEs.</a:t>
            </a:r>
          </a:p>
          <a:p>
            <a:pPr marL="285750" indent="-285750">
              <a:buFont typeface="Arial" panose="020B0604020202020204" pitchFamily="34" charset="0"/>
              <a:buChar char="•"/>
            </a:pPr>
            <a:r>
              <a:rPr lang="en-US" sz="1400" dirty="0">
                <a:solidFill>
                  <a:schemeClr val="bg1">
                    <a:lumMod val="65000"/>
                  </a:schemeClr>
                </a:solidFill>
              </a:rPr>
              <a:t>Bars are on a square-root scale so small defects remain visible next to out-of-bounds.</a:t>
            </a:r>
          </a:p>
          <a:p>
            <a:pPr marL="285750" indent="-285750">
              <a:buFont typeface="Arial" panose="020B0604020202020204" pitchFamily="34" charset="0"/>
              <a:buChar char="•"/>
            </a:pPr>
            <a:r>
              <a:rPr lang="en-US" sz="1400" dirty="0">
                <a:solidFill>
                  <a:schemeClr val="bg1">
                    <a:lumMod val="65000"/>
                  </a:schemeClr>
                </a:solidFill>
              </a:rPr>
              <a:t>“Improper input validation” (CWE-20) is often a generic fallback classification, not the underlying defect.</a:t>
            </a:r>
          </a:p>
        </p:txBody>
      </p:sp>
    </p:spTree>
    <p:extLst>
      <p:ext uri="{BB962C8B-B14F-4D97-AF65-F5344CB8AC3E}">
        <p14:creationId xmlns:p14="http://schemas.microsoft.com/office/powerpoint/2010/main" val="1948996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The top 25 defect types</a:t>
            </a:r>
          </a:p>
        </p:txBody>
      </p:sp>
      <p:sp>
        <p:nvSpPr>
          <p:cNvPr id="3" name="Rounded Rectangle 2"/>
          <p:cNvSpPr/>
          <p:nvPr/>
        </p:nvSpPr>
        <p:spPr>
          <a:xfrm>
            <a:off x="3994200" y="1556000"/>
            <a:ext cx="18940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Out-of-bounds access</a:t>
            </a:r>
            <a:r>
              <a:rPr sz="1000">
                <a:solidFill>
                  <a:srgbClr val="595959">
                    <a:alpha val="25000"/>
                  </a:srgbClr>
                </a:solidFill>
                <a:latin typeface="Aptos"/>
              </a:rPr>
              <a:t>  74%</a:t>
            </a:r>
          </a:p>
        </p:txBody>
      </p:sp>
      <p:sp>
        <p:nvSpPr>
          <p:cNvPr id="4" name="Chevron 3"/>
          <p:cNvSpPr/>
          <p:nvPr/>
        </p:nvSpPr>
        <p:spPr>
          <a:xfrm>
            <a:off x="3812120" y="162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37120" y="1550000"/>
            <a:ext cx="1855000" cy="262000"/>
          </a:xfrm>
          <a:prstGeom prst="rect">
            <a:avLst/>
          </a:prstGeom>
          <a:noFill/>
        </p:spPr>
        <p:txBody>
          <a:bodyPr wrap="none" lIns="0" tIns="0" rIns="0" bIns="0" anchor="ctr"/>
          <a:lstStyle/>
          <a:p>
            <a:pPr algn="r"/>
            <a:r>
              <a:rPr sz="1250" b="1">
                <a:solidFill>
                  <a:srgbClr val="1A1A1A">
                    <a:alpha val="25000"/>
                  </a:srgbClr>
                </a:solidFill>
                <a:latin typeface="Aptos"/>
              </a:rPr>
              <a:t>Memory safety</a:t>
            </a:r>
            <a:r>
              <a:rPr sz="1250" b="0">
                <a:solidFill>
                  <a:srgbClr val="8C8C8C">
                    <a:alpha val="25000"/>
                  </a:srgbClr>
                </a:solidFill>
                <a:latin typeface="Aptos"/>
              </a:rPr>
              <a:t>  68%</a:t>
            </a:r>
          </a:p>
        </p:txBody>
      </p:sp>
      <p:sp>
        <p:nvSpPr>
          <p:cNvPr id="6" name="Rounded Rectangle 5"/>
          <p:cNvSpPr/>
          <p:nvPr/>
        </p:nvSpPr>
        <p:spPr>
          <a:xfrm>
            <a:off x="5938200" y="1606000"/>
            <a:ext cx="4765599" cy="150000"/>
          </a:xfrm>
          <a:prstGeom prst="roundRect">
            <a:avLst>
              <a:gd name="adj" fmla="val 50000"/>
            </a:avLst>
          </a:prstGeom>
          <a:solidFill>
            <a:srgbClr val="8A140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73799" y="1550000"/>
            <a:ext cx="600000" cy="262000"/>
          </a:xfrm>
          <a:prstGeom prst="rect">
            <a:avLst/>
          </a:prstGeom>
          <a:noFill/>
        </p:spPr>
        <p:txBody>
          <a:bodyPr wrap="none" lIns="0" tIns="0" rIns="0" bIns="0" anchor="ctr"/>
          <a:lstStyle/>
          <a:p>
            <a:pPr algn="l"/>
            <a:r>
              <a:rPr sz="1100" b="0">
                <a:solidFill>
                  <a:srgbClr val="595959">
                    <a:alpha val="25000"/>
                  </a:srgbClr>
                </a:solidFill>
                <a:latin typeface="Aptos"/>
              </a:rPr>
              <a:t>50.4%</a:t>
            </a:r>
          </a:p>
        </p:txBody>
      </p:sp>
      <p:sp>
        <p:nvSpPr>
          <p:cNvPr id="8" name="Rounded Rectangle 7"/>
          <p:cNvSpPr/>
          <p:nvPr/>
        </p:nvSpPr>
        <p:spPr>
          <a:xfrm>
            <a:off x="3770822" y="1818000"/>
            <a:ext cx="2117377"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input validation</a:t>
            </a:r>
            <a:r>
              <a:rPr sz="1000">
                <a:solidFill>
                  <a:srgbClr val="595959">
                    <a:alpha val="25000"/>
                  </a:srgbClr>
                </a:solidFill>
                <a:latin typeface="Aptos"/>
              </a:rPr>
              <a:t>  76%</a:t>
            </a:r>
          </a:p>
        </p:txBody>
      </p:sp>
      <p:sp>
        <p:nvSpPr>
          <p:cNvPr id="9" name="Chevron 8"/>
          <p:cNvSpPr/>
          <p:nvPr/>
        </p:nvSpPr>
        <p:spPr>
          <a:xfrm>
            <a:off x="3627192" y="188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92" y="1812000"/>
            <a:ext cx="2355000" cy="262000"/>
          </a:xfrm>
          <a:prstGeom prst="rect">
            <a:avLst/>
          </a:prstGeom>
          <a:noFill/>
        </p:spPr>
        <p:txBody>
          <a:bodyPr wrap="none" lIns="0" tIns="0" rIns="0" bIns="0" anchor="ctr"/>
          <a:lstStyle/>
          <a:p>
            <a:pPr algn="r"/>
            <a:r>
              <a:rPr sz="1250" b="1">
                <a:solidFill>
                  <a:srgbClr val="1A1A1A">
                    <a:alpha val="25000"/>
                  </a:srgbClr>
                </a:solidFill>
                <a:latin typeface="Aptos"/>
              </a:rPr>
              <a:t>Interface and data</a:t>
            </a:r>
            <a:r>
              <a:rPr sz="1250" b="0">
                <a:solidFill>
                  <a:srgbClr val="8C8C8C">
                    <a:alpha val="25000"/>
                  </a:srgbClr>
                </a:solidFill>
                <a:latin typeface="Aptos"/>
              </a:rPr>
              <a:t>  15%</a:t>
            </a:r>
          </a:p>
        </p:txBody>
      </p:sp>
      <p:sp>
        <p:nvSpPr>
          <p:cNvPr id="11" name="Rounded Rectangle 10"/>
          <p:cNvSpPr/>
          <p:nvPr/>
        </p:nvSpPr>
        <p:spPr>
          <a:xfrm>
            <a:off x="5938200" y="1868000"/>
            <a:ext cx="2236473" cy="150000"/>
          </a:xfrm>
          <a:prstGeom prst="roundRect">
            <a:avLst>
              <a:gd name="adj" fmla="val 50000"/>
            </a:avLst>
          </a:prstGeom>
          <a:solidFill>
            <a:srgbClr val="D05A4B">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44673" y="1812000"/>
            <a:ext cx="600000" cy="262000"/>
          </a:xfrm>
          <a:prstGeom prst="rect">
            <a:avLst/>
          </a:prstGeom>
          <a:noFill/>
        </p:spPr>
        <p:txBody>
          <a:bodyPr wrap="none" lIns="0" tIns="0" rIns="0" bIns="0" anchor="ctr"/>
          <a:lstStyle/>
          <a:p>
            <a:pPr algn="l"/>
            <a:r>
              <a:rPr sz="1100" b="0">
                <a:solidFill>
                  <a:srgbClr val="595959">
                    <a:alpha val="25000"/>
                  </a:srgbClr>
                </a:solidFill>
                <a:latin typeface="Aptos"/>
              </a:rPr>
              <a:t>11.1%</a:t>
            </a:r>
          </a:p>
        </p:txBody>
      </p:sp>
      <p:sp>
        <p:nvSpPr>
          <p:cNvPr id="13" name="Rounded Rectangle 12"/>
          <p:cNvSpPr/>
          <p:nvPr/>
        </p:nvSpPr>
        <p:spPr>
          <a:xfrm>
            <a:off x="4422180" y="2080000"/>
            <a:ext cx="146602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Use after free</a:t>
            </a:r>
            <a:r>
              <a:rPr sz="1000">
                <a:solidFill>
                  <a:srgbClr val="595959">
                    <a:alpha val="25000"/>
                  </a:srgbClr>
                </a:solidFill>
                <a:latin typeface="Aptos"/>
              </a:rPr>
              <a:t>  14%</a:t>
            </a:r>
          </a:p>
        </p:txBody>
      </p:sp>
      <p:sp>
        <p:nvSpPr>
          <p:cNvPr id="14" name="Chevron 13"/>
          <p:cNvSpPr/>
          <p:nvPr/>
        </p:nvSpPr>
        <p:spPr>
          <a:xfrm>
            <a:off x="4243736" y="215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68736" y="2074000"/>
            <a:ext cx="1855000" cy="262000"/>
          </a:xfrm>
          <a:prstGeom prst="rect">
            <a:avLst/>
          </a:prstGeom>
          <a:noFill/>
        </p:spPr>
        <p:txBody>
          <a:bodyPr wrap="none" lIns="0" tIns="0" rIns="0" bIns="0" anchor="ctr"/>
          <a:lstStyle/>
          <a:p>
            <a:pPr algn="r"/>
            <a:r>
              <a:rPr sz="1250" b="1">
                <a:solidFill>
                  <a:srgbClr val="1A1A1A">
                    <a:alpha val="25000"/>
                  </a:srgbClr>
                </a:solidFill>
                <a:latin typeface="Aptos"/>
              </a:rPr>
              <a:t>Memory safety</a:t>
            </a:r>
            <a:r>
              <a:rPr sz="1250" b="0">
                <a:solidFill>
                  <a:srgbClr val="8C8C8C">
                    <a:alpha val="25000"/>
                  </a:srgbClr>
                </a:solidFill>
                <a:latin typeface="Aptos"/>
              </a:rPr>
              <a:t>  68%</a:t>
            </a:r>
          </a:p>
        </p:txBody>
      </p:sp>
      <p:sp>
        <p:nvSpPr>
          <p:cNvPr id="16" name="Rounded Rectangle 15"/>
          <p:cNvSpPr/>
          <p:nvPr/>
        </p:nvSpPr>
        <p:spPr>
          <a:xfrm>
            <a:off x="5938200" y="2130000"/>
            <a:ext cx="2058098" cy="150000"/>
          </a:xfrm>
          <a:prstGeom prst="roundRect">
            <a:avLst>
              <a:gd name="adj" fmla="val 50000"/>
            </a:avLst>
          </a:prstGeom>
          <a:solidFill>
            <a:srgbClr val="D46254">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66298" y="2074000"/>
            <a:ext cx="600000" cy="262000"/>
          </a:xfrm>
          <a:prstGeom prst="rect">
            <a:avLst/>
          </a:prstGeom>
          <a:noFill/>
        </p:spPr>
        <p:txBody>
          <a:bodyPr wrap="none" lIns="0" tIns="0" rIns="0" bIns="0" anchor="ctr"/>
          <a:lstStyle/>
          <a:p>
            <a:pPr algn="l"/>
            <a:r>
              <a:rPr sz="1100" b="0">
                <a:solidFill>
                  <a:srgbClr val="595959">
                    <a:alpha val="25000"/>
                  </a:srgbClr>
                </a:solidFill>
                <a:latin typeface="Aptos"/>
              </a:rPr>
              <a:t>9.4%</a:t>
            </a:r>
          </a:p>
        </p:txBody>
      </p:sp>
      <p:sp>
        <p:nvSpPr>
          <p:cNvPr id="18" name="Rounded Rectangle 17"/>
          <p:cNvSpPr/>
          <p:nvPr/>
        </p:nvSpPr>
        <p:spPr>
          <a:xfrm>
            <a:off x="3770824" y="2342000"/>
            <a:ext cx="2117376"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NULL pointer dereference</a:t>
            </a:r>
            <a:r>
              <a:rPr sz="1000">
                <a:solidFill>
                  <a:srgbClr val="595959">
                    <a:alpha val="25000"/>
                  </a:srgbClr>
                </a:solidFill>
                <a:latin typeface="Aptos"/>
              </a:rPr>
              <a:t>  9%</a:t>
            </a:r>
          </a:p>
        </p:txBody>
      </p:sp>
      <p:sp>
        <p:nvSpPr>
          <p:cNvPr id="19" name="Chevron 18"/>
          <p:cNvSpPr/>
          <p:nvPr/>
        </p:nvSpPr>
        <p:spPr>
          <a:xfrm>
            <a:off x="3610696" y="241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35696" y="2336000"/>
            <a:ext cx="1855000" cy="262000"/>
          </a:xfrm>
          <a:prstGeom prst="rect">
            <a:avLst/>
          </a:prstGeom>
          <a:noFill/>
        </p:spPr>
        <p:txBody>
          <a:bodyPr wrap="none" lIns="0" tIns="0" rIns="0" bIns="0" anchor="ctr"/>
          <a:lstStyle/>
          <a:p>
            <a:pPr algn="r"/>
            <a:r>
              <a:rPr sz="1250" b="1">
                <a:solidFill>
                  <a:srgbClr val="1A1A1A">
                    <a:alpha val="25000"/>
                  </a:srgbClr>
                </a:solidFill>
                <a:latin typeface="Aptos"/>
              </a:rPr>
              <a:t>Memory safety</a:t>
            </a:r>
            <a:r>
              <a:rPr sz="1250" b="0">
                <a:solidFill>
                  <a:srgbClr val="8C8C8C">
                    <a:alpha val="25000"/>
                  </a:srgbClr>
                </a:solidFill>
                <a:latin typeface="Aptos"/>
              </a:rPr>
              <a:t>  68%</a:t>
            </a:r>
          </a:p>
        </p:txBody>
      </p:sp>
      <p:sp>
        <p:nvSpPr>
          <p:cNvPr id="21" name="Rounded Rectangle 20"/>
          <p:cNvSpPr/>
          <p:nvPr/>
        </p:nvSpPr>
        <p:spPr>
          <a:xfrm>
            <a:off x="5938200" y="2392000"/>
            <a:ext cx="1671468" cy="150000"/>
          </a:xfrm>
          <a:prstGeom prst="roundRect">
            <a:avLst>
              <a:gd name="adj" fmla="val 50000"/>
            </a:avLst>
          </a:prstGeom>
          <a:solidFill>
            <a:srgbClr val="DE7768">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79668" y="2336000"/>
            <a:ext cx="600000" cy="262000"/>
          </a:xfrm>
          <a:prstGeom prst="rect">
            <a:avLst/>
          </a:prstGeom>
          <a:noFill/>
        </p:spPr>
        <p:txBody>
          <a:bodyPr wrap="none" lIns="0" tIns="0" rIns="0" bIns="0" anchor="ctr"/>
          <a:lstStyle/>
          <a:p>
            <a:pPr algn="l"/>
            <a:r>
              <a:rPr sz="1100" b="0">
                <a:solidFill>
                  <a:srgbClr val="595959">
                    <a:alpha val="25000"/>
                  </a:srgbClr>
                </a:solidFill>
                <a:latin typeface="Aptos"/>
              </a:rPr>
              <a:t>6.2%</a:t>
            </a:r>
          </a:p>
        </p:txBody>
      </p:sp>
      <p:sp>
        <p:nvSpPr>
          <p:cNvPr id="23" name="Rounded Rectangle 22"/>
          <p:cNvSpPr/>
          <p:nvPr/>
        </p:nvSpPr>
        <p:spPr>
          <a:xfrm>
            <a:off x="3637550" y="2604000"/>
            <a:ext cx="225065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Uncontrolled resource use</a:t>
            </a:r>
            <a:r>
              <a:rPr sz="1000">
                <a:solidFill>
                  <a:srgbClr val="595959">
                    <a:alpha val="25000"/>
                  </a:srgbClr>
                </a:solidFill>
                <a:latin typeface="Aptos"/>
              </a:rPr>
              <a:t>  41%</a:t>
            </a:r>
          </a:p>
        </p:txBody>
      </p:sp>
      <p:sp>
        <p:nvSpPr>
          <p:cNvPr id="24" name="Chevron 23"/>
          <p:cNvSpPr/>
          <p:nvPr/>
        </p:nvSpPr>
        <p:spPr>
          <a:xfrm>
            <a:off x="3480888" y="267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888" y="2598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26" name="Rounded Rectangle 25"/>
          <p:cNvSpPr/>
          <p:nvPr/>
        </p:nvSpPr>
        <p:spPr>
          <a:xfrm>
            <a:off x="5938200" y="2654000"/>
            <a:ext cx="1325667" cy="150000"/>
          </a:xfrm>
          <a:prstGeom prst="roundRect">
            <a:avLst>
              <a:gd name="adj" fmla="val 50000"/>
            </a:avLst>
          </a:prstGeom>
          <a:solidFill>
            <a:srgbClr val="E3897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33867" y="2598000"/>
            <a:ext cx="600000" cy="262000"/>
          </a:xfrm>
          <a:prstGeom prst="rect">
            <a:avLst/>
          </a:prstGeom>
          <a:noFill/>
        </p:spPr>
        <p:txBody>
          <a:bodyPr wrap="none" lIns="0" tIns="0" rIns="0" bIns="0" anchor="ctr"/>
          <a:lstStyle/>
          <a:p>
            <a:pPr algn="l"/>
            <a:r>
              <a:rPr sz="1100" b="0">
                <a:solidFill>
                  <a:srgbClr val="595959">
                    <a:alpha val="25000"/>
                  </a:srgbClr>
                </a:solidFill>
                <a:latin typeface="Aptos"/>
              </a:rPr>
              <a:t>3.9%</a:t>
            </a:r>
          </a:p>
        </p:txBody>
      </p:sp>
      <p:sp>
        <p:nvSpPr>
          <p:cNvPr id="28" name="Rounded Rectangle 27"/>
          <p:cNvSpPr/>
          <p:nvPr/>
        </p:nvSpPr>
        <p:spPr>
          <a:xfrm>
            <a:off x="4279520" y="2866000"/>
            <a:ext cx="160868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Integer overflow</a:t>
            </a:r>
            <a:r>
              <a:rPr sz="1000">
                <a:solidFill>
                  <a:srgbClr val="595959"/>
                </a:solidFill>
                <a:latin typeface="Aptos"/>
              </a:rPr>
              <a:t>  79%</a:t>
            </a:r>
          </a:p>
        </p:txBody>
      </p:sp>
      <p:sp>
        <p:nvSpPr>
          <p:cNvPr id="29" name="Chevron 28"/>
          <p:cNvSpPr/>
          <p:nvPr/>
        </p:nvSpPr>
        <p:spPr>
          <a:xfrm>
            <a:off x="4097832" y="293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07832" y="2860000"/>
            <a:ext cx="1870000" cy="262000"/>
          </a:xfrm>
          <a:prstGeom prst="rect">
            <a:avLst/>
          </a:prstGeom>
          <a:noFill/>
        </p:spPr>
        <p:txBody>
          <a:bodyPr wrap="none" lIns="0" tIns="0" rIns="0" bIns="0" anchor="ctr"/>
          <a:lstStyle/>
          <a:p>
            <a:pPr algn="r"/>
            <a:r>
              <a:rPr sz="1250" b="1">
                <a:solidFill>
                  <a:srgbClr val="1A1A1A"/>
                </a:solidFill>
                <a:latin typeface="Aptos"/>
              </a:rPr>
              <a:t>Type and value</a:t>
            </a:r>
            <a:r>
              <a:rPr sz="1250" b="0">
                <a:solidFill>
                  <a:srgbClr val="8C8C8C"/>
                </a:solidFill>
                <a:latin typeface="Aptos"/>
              </a:rPr>
              <a:t>  5%</a:t>
            </a:r>
          </a:p>
        </p:txBody>
      </p:sp>
      <p:sp>
        <p:nvSpPr>
          <p:cNvPr id="31" name="Rounded Rectangle 30"/>
          <p:cNvSpPr/>
          <p:nvPr/>
        </p:nvSpPr>
        <p:spPr>
          <a:xfrm>
            <a:off x="5938200" y="2916000"/>
            <a:ext cx="1308561" cy="150000"/>
          </a:xfrm>
          <a:prstGeom prst="roundRect">
            <a:avLst>
              <a:gd name="adj" fmla="val 50000"/>
            </a:avLst>
          </a:prstGeom>
          <a:solidFill>
            <a:srgbClr val="E3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6761" y="2860000"/>
            <a:ext cx="600000" cy="262000"/>
          </a:xfrm>
          <a:prstGeom prst="rect">
            <a:avLst/>
          </a:prstGeom>
          <a:noFill/>
        </p:spPr>
        <p:txBody>
          <a:bodyPr wrap="none" lIns="0" tIns="0" rIns="0" bIns="0" anchor="ctr"/>
          <a:lstStyle/>
          <a:p>
            <a:pPr algn="l"/>
            <a:r>
              <a:rPr sz="1100" b="0">
                <a:solidFill>
                  <a:srgbClr val="595959"/>
                </a:solidFill>
                <a:latin typeface="Aptos"/>
              </a:rPr>
              <a:t>3.8%</a:t>
            </a:r>
          </a:p>
        </p:txBody>
      </p:sp>
      <p:sp>
        <p:nvSpPr>
          <p:cNvPr id="33" name="Rounded Rectangle 32"/>
          <p:cNvSpPr/>
          <p:nvPr/>
        </p:nvSpPr>
        <p:spPr>
          <a:xfrm>
            <a:off x="3944200" y="3128000"/>
            <a:ext cx="19440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Unsafe deserialization</a:t>
            </a:r>
            <a:r>
              <a:rPr sz="1000">
                <a:solidFill>
                  <a:srgbClr val="595959">
                    <a:alpha val="25000"/>
                  </a:srgbClr>
                </a:solidFill>
                <a:latin typeface="Aptos"/>
              </a:rPr>
              <a:t>  24%</a:t>
            </a:r>
          </a:p>
        </p:txBody>
      </p:sp>
      <p:sp>
        <p:nvSpPr>
          <p:cNvPr id="34" name="Chevron 33"/>
          <p:cNvSpPr/>
          <p:nvPr/>
        </p:nvSpPr>
        <p:spPr>
          <a:xfrm>
            <a:off x="3775944" y="319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00944" y="3122000"/>
            <a:ext cx="2355000" cy="262000"/>
          </a:xfrm>
          <a:prstGeom prst="rect">
            <a:avLst/>
          </a:prstGeom>
          <a:noFill/>
        </p:spPr>
        <p:txBody>
          <a:bodyPr wrap="none" lIns="0" tIns="0" rIns="0" bIns="0" anchor="ctr"/>
          <a:lstStyle/>
          <a:p>
            <a:pPr algn="r"/>
            <a:r>
              <a:rPr sz="1250" b="1">
                <a:solidFill>
                  <a:srgbClr val="1A1A1A">
                    <a:alpha val="25000"/>
                  </a:srgbClr>
                </a:solidFill>
                <a:latin typeface="Aptos"/>
              </a:rPr>
              <a:t>Interface and data</a:t>
            </a:r>
            <a:r>
              <a:rPr sz="1250" b="0">
                <a:solidFill>
                  <a:srgbClr val="8C8C8C">
                    <a:alpha val="25000"/>
                  </a:srgbClr>
                </a:solidFill>
                <a:latin typeface="Aptos"/>
              </a:rPr>
              <a:t>  15%</a:t>
            </a:r>
          </a:p>
        </p:txBody>
      </p:sp>
      <p:sp>
        <p:nvSpPr>
          <p:cNvPr id="36" name="Rounded Rectangle 35"/>
          <p:cNvSpPr/>
          <p:nvPr/>
        </p:nvSpPr>
        <p:spPr>
          <a:xfrm>
            <a:off x="5938200" y="3178000"/>
            <a:ext cx="1273660" cy="150000"/>
          </a:xfrm>
          <a:prstGeom prst="roundRect">
            <a:avLst>
              <a:gd name="adj" fmla="val 50000"/>
            </a:avLst>
          </a:prstGeom>
          <a:solidFill>
            <a:srgbClr val="E48C7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81860" y="3122000"/>
            <a:ext cx="600000" cy="262000"/>
          </a:xfrm>
          <a:prstGeom prst="rect">
            <a:avLst/>
          </a:prstGeom>
          <a:noFill/>
        </p:spPr>
        <p:txBody>
          <a:bodyPr wrap="none" lIns="0" tIns="0" rIns="0" bIns="0" anchor="ctr"/>
          <a:lstStyle/>
          <a:p>
            <a:pPr algn="l"/>
            <a:r>
              <a:rPr sz="1100" b="0">
                <a:solidFill>
                  <a:srgbClr val="595959">
                    <a:alpha val="25000"/>
                  </a:srgbClr>
                </a:solidFill>
                <a:latin typeface="Aptos"/>
              </a:rPr>
              <a:t>3.6%</a:t>
            </a:r>
          </a:p>
        </p:txBody>
      </p:sp>
      <p:sp>
        <p:nvSpPr>
          <p:cNvPr id="38" name="Rounded Rectangle 37"/>
          <p:cNvSpPr/>
          <p:nvPr/>
        </p:nvSpPr>
        <p:spPr>
          <a:xfrm>
            <a:off x="3847200" y="3390000"/>
            <a:ext cx="20410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Allocation without limits</a:t>
            </a:r>
            <a:r>
              <a:rPr sz="1000">
                <a:solidFill>
                  <a:srgbClr val="595959">
                    <a:alpha val="25000"/>
                  </a:srgbClr>
                </a:solidFill>
                <a:latin typeface="Aptos"/>
              </a:rPr>
              <a:t>  27%</a:t>
            </a:r>
          </a:p>
        </p:txBody>
      </p:sp>
      <p:sp>
        <p:nvSpPr>
          <p:cNvPr id="39" name="Chevron 38"/>
          <p:cNvSpPr/>
          <p:nvPr/>
        </p:nvSpPr>
        <p:spPr>
          <a:xfrm>
            <a:off x="3645480" y="346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70480" y="3384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41" name="Rounded Rectangle 40"/>
          <p:cNvSpPr/>
          <p:nvPr/>
        </p:nvSpPr>
        <p:spPr>
          <a:xfrm>
            <a:off x="5938200" y="3440000"/>
            <a:ext cx="1082403" cy="150000"/>
          </a:xfrm>
          <a:prstGeom prst="roundRect">
            <a:avLst>
              <a:gd name="adj" fmla="val 50000"/>
            </a:avLst>
          </a:prstGeom>
          <a:solidFill>
            <a:srgbClr val="E7988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90603" y="3384000"/>
            <a:ext cx="600000" cy="262000"/>
          </a:xfrm>
          <a:prstGeom prst="rect">
            <a:avLst/>
          </a:prstGeom>
          <a:noFill/>
        </p:spPr>
        <p:txBody>
          <a:bodyPr wrap="none" lIns="0" tIns="0" rIns="0" bIns="0" anchor="ctr"/>
          <a:lstStyle/>
          <a:p>
            <a:pPr algn="l"/>
            <a:r>
              <a:rPr sz="1100" b="0">
                <a:solidFill>
                  <a:srgbClr val="595959">
                    <a:alpha val="25000"/>
                  </a:srgbClr>
                </a:solidFill>
                <a:latin typeface="Aptos"/>
              </a:rPr>
              <a:t>2.6%</a:t>
            </a:r>
          </a:p>
        </p:txBody>
      </p:sp>
      <p:sp>
        <p:nvSpPr>
          <p:cNvPr id="43" name="Rounded Rectangle 42"/>
          <p:cNvSpPr/>
          <p:nvPr/>
        </p:nvSpPr>
        <p:spPr>
          <a:xfrm>
            <a:off x="4422180" y="3652000"/>
            <a:ext cx="1466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Race condition</a:t>
            </a:r>
            <a:r>
              <a:rPr sz="1000">
                <a:solidFill>
                  <a:srgbClr val="595959"/>
                </a:solidFill>
                <a:latin typeface="Aptos"/>
              </a:rPr>
              <a:t>  60%</a:t>
            </a:r>
          </a:p>
        </p:txBody>
      </p:sp>
      <p:sp>
        <p:nvSpPr>
          <p:cNvPr id="44" name="Chevron 43"/>
          <p:cNvSpPr/>
          <p:nvPr/>
        </p:nvSpPr>
        <p:spPr>
          <a:xfrm>
            <a:off x="4225448" y="372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35448" y="3646000"/>
            <a:ext cx="1570000" cy="262000"/>
          </a:xfrm>
          <a:prstGeom prst="rect">
            <a:avLst/>
          </a:prstGeom>
          <a:noFill/>
        </p:spPr>
        <p:txBody>
          <a:bodyPr wrap="none" lIns="0" tIns="0" rIns="0" bIns="0" anchor="ctr"/>
          <a:lstStyle/>
          <a:p>
            <a:pPr algn="r"/>
            <a:r>
              <a:rPr sz="1250" b="1">
                <a:solidFill>
                  <a:srgbClr val="1A1A1A"/>
                </a:solidFill>
                <a:latin typeface="Aptos"/>
              </a:rPr>
              <a:t>Concurrency</a:t>
            </a:r>
            <a:r>
              <a:rPr sz="1250" b="0">
                <a:solidFill>
                  <a:srgbClr val="8C8C8C"/>
                </a:solidFill>
                <a:latin typeface="Aptos"/>
              </a:rPr>
              <a:t>  4%</a:t>
            </a:r>
          </a:p>
        </p:txBody>
      </p:sp>
      <p:sp>
        <p:nvSpPr>
          <p:cNvPr id="46" name="Rounded Rectangle 45"/>
          <p:cNvSpPr/>
          <p:nvPr/>
        </p:nvSpPr>
        <p:spPr>
          <a:xfrm>
            <a:off x="5938200" y="3702000"/>
            <a:ext cx="1082403" cy="150000"/>
          </a:xfrm>
          <a:prstGeom prst="roundRect">
            <a:avLst>
              <a:gd name="adj" fmla="val 50000"/>
            </a:avLst>
          </a:prstGeom>
          <a:solidFill>
            <a:srgbClr val="E79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090603" y="3646000"/>
            <a:ext cx="600000" cy="262000"/>
          </a:xfrm>
          <a:prstGeom prst="rect">
            <a:avLst/>
          </a:prstGeom>
          <a:noFill/>
        </p:spPr>
        <p:txBody>
          <a:bodyPr wrap="none" lIns="0" tIns="0" rIns="0" bIns="0" anchor="ctr"/>
          <a:lstStyle/>
          <a:p>
            <a:pPr algn="l"/>
            <a:r>
              <a:rPr sz="1100" b="0">
                <a:solidFill>
                  <a:srgbClr val="595959"/>
                </a:solidFill>
                <a:latin typeface="Aptos"/>
              </a:rPr>
              <a:t>2.6%</a:t>
            </a:r>
          </a:p>
        </p:txBody>
      </p:sp>
      <p:sp>
        <p:nvSpPr>
          <p:cNvPr id="48" name="Rounded Rectangle 47"/>
          <p:cNvSpPr/>
          <p:nvPr/>
        </p:nvSpPr>
        <p:spPr>
          <a:xfrm>
            <a:off x="4636170" y="3914000"/>
            <a:ext cx="125203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Memory leak</a:t>
            </a:r>
            <a:r>
              <a:rPr sz="1000">
                <a:solidFill>
                  <a:srgbClr val="595959">
                    <a:alpha val="25000"/>
                  </a:srgbClr>
                </a:solidFill>
                <a:latin typeface="Aptos"/>
              </a:rPr>
              <a:t>  22%</a:t>
            </a:r>
          </a:p>
        </p:txBody>
      </p:sp>
      <p:sp>
        <p:nvSpPr>
          <p:cNvPr id="49" name="Chevron 48"/>
          <p:cNvSpPr/>
          <p:nvPr/>
        </p:nvSpPr>
        <p:spPr>
          <a:xfrm>
            <a:off x="4453448" y="398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78448" y="3908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51" name="Rounded Rectangle 50"/>
          <p:cNvSpPr/>
          <p:nvPr/>
        </p:nvSpPr>
        <p:spPr>
          <a:xfrm>
            <a:off x="5938200" y="3964000"/>
            <a:ext cx="972774" cy="150000"/>
          </a:xfrm>
          <a:prstGeom prst="roundRect">
            <a:avLst>
              <a:gd name="adj" fmla="val 50000"/>
            </a:avLst>
          </a:prstGeom>
          <a:solidFill>
            <a:srgbClr val="E9A095">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980974" y="3908000"/>
            <a:ext cx="600000" cy="262000"/>
          </a:xfrm>
          <a:prstGeom prst="rect">
            <a:avLst/>
          </a:prstGeom>
          <a:noFill/>
        </p:spPr>
        <p:txBody>
          <a:bodyPr wrap="none" lIns="0" tIns="0" rIns="0" bIns="0" anchor="ctr"/>
          <a:lstStyle/>
          <a:p>
            <a:pPr algn="l"/>
            <a:r>
              <a:rPr sz="1100" b="0">
                <a:solidFill>
                  <a:srgbClr val="595959">
                    <a:alpha val="25000"/>
                  </a:srgbClr>
                </a:solidFill>
                <a:latin typeface="Aptos"/>
              </a:rPr>
              <a:t>2.1%</a:t>
            </a:r>
          </a:p>
        </p:txBody>
      </p:sp>
      <p:sp>
        <p:nvSpPr>
          <p:cNvPr id="53" name="Rounded Rectangle 52"/>
          <p:cNvSpPr/>
          <p:nvPr/>
        </p:nvSpPr>
        <p:spPr>
          <a:xfrm>
            <a:off x="3690200" y="4176000"/>
            <a:ext cx="21980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Use of uninitialized resource</a:t>
            </a:r>
            <a:r>
              <a:rPr sz="1000">
                <a:solidFill>
                  <a:srgbClr val="595959">
                    <a:alpha val="25000"/>
                  </a:srgbClr>
                </a:solidFill>
                <a:latin typeface="Aptos"/>
              </a:rPr>
              <a:t>  1%</a:t>
            </a:r>
          </a:p>
        </p:txBody>
      </p:sp>
      <p:sp>
        <p:nvSpPr>
          <p:cNvPr id="54" name="Chevron 53"/>
          <p:cNvSpPr/>
          <p:nvPr/>
        </p:nvSpPr>
        <p:spPr>
          <a:xfrm>
            <a:off x="3529400" y="424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554400" y="4170000"/>
            <a:ext cx="1855000" cy="262000"/>
          </a:xfrm>
          <a:prstGeom prst="rect">
            <a:avLst/>
          </a:prstGeom>
          <a:noFill/>
        </p:spPr>
        <p:txBody>
          <a:bodyPr wrap="none" lIns="0" tIns="0" rIns="0" bIns="0" anchor="ctr"/>
          <a:lstStyle/>
          <a:p>
            <a:pPr algn="r"/>
            <a:r>
              <a:rPr sz="1250" b="1">
                <a:solidFill>
                  <a:srgbClr val="1A1A1A">
                    <a:alpha val="25000"/>
                  </a:srgbClr>
                </a:solidFill>
                <a:latin typeface="Aptos"/>
              </a:rPr>
              <a:t>Memory safety</a:t>
            </a:r>
            <a:r>
              <a:rPr sz="1250" b="0">
                <a:solidFill>
                  <a:srgbClr val="8C8C8C">
                    <a:alpha val="25000"/>
                  </a:srgbClr>
                </a:solidFill>
                <a:latin typeface="Aptos"/>
              </a:rPr>
              <a:t>  68%</a:t>
            </a:r>
          </a:p>
        </p:txBody>
      </p:sp>
      <p:sp>
        <p:nvSpPr>
          <p:cNvPr id="56" name="Rounded Rectangle 55"/>
          <p:cNvSpPr/>
          <p:nvPr/>
        </p:nvSpPr>
        <p:spPr>
          <a:xfrm>
            <a:off x="5938200" y="4226000"/>
            <a:ext cx="671277"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679477" y="4170000"/>
            <a:ext cx="600000" cy="262000"/>
          </a:xfrm>
          <a:prstGeom prst="rect">
            <a:avLst/>
          </a:prstGeom>
          <a:noFill/>
        </p:spPr>
        <p:txBody>
          <a:bodyPr wrap="none" lIns="0" tIns="0" rIns="0" bIns="0" anchor="ctr"/>
          <a:lstStyle/>
          <a:p>
            <a:pPr algn="l"/>
            <a:r>
              <a:rPr sz="1100" b="0">
                <a:solidFill>
                  <a:srgbClr val="595959">
                    <a:alpha val="25000"/>
                  </a:srgbClr>
                </a:solidFill>
                <a:latin typeface="Aptos"/>
              </a:rPr>
              <a:t>1.0%</a:t>
            </a:r>
          </a:p>
        </p:txBody>
      </p:sp>
      <p:sp>
        <p:nvSpPr>
          <p:cNvPr id="58" name="Rounded Rectangle 57"/>
          <p:cNvSpPr/>
          <p:nvPr/>
        </p:nvSpPr>
        <p:spPr>
          <a:xfrm>
            <a:off x="4698114" y="4438000"/>
            <a:ext cx="1190085"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Double free</a:t>
            </a:r>
            <a:r>
              <a:rPr sz="1000">
                <a:solidFill>
                  <a:srgbClr val="595959">
                    <a:alpha val="25000"/>
                  </a:srgbClr>
                </a:solidFill>
                <a:latin typeface="Aptos"/>
              </a:rPr>
              <a:t>  1%</a:t>
            </a:r>
          </a:p>
        </p:txBody>
      </p:sp>
      <p:sp>
        <p:nvSpPr>
          <p:cNvPr id="59" name="Chevron 58"/>
          <p:cNvSpPr/>
          <p:nvPr/>
        </p:nvSpPr>
        <p:spPr>
          <a:xfrm>
            <a:off x="4501160" y="450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526160" y="4432000"/>
            <a:ext cx="1855000" cy="262000"/>
          </a:xfrm>
          <a:prstGeom prst="rect">
            <a:avLst/>
          </a:prstGeom>
          <a:noFill/>
        </p:spPr>
        <p:txBody>
          <a:bodyPr wrap="none" lIns="0" tIns="0" rIns="0" bIns="0" anchor="ctr"/>
          <a:lstStyle/>
          <a:p>
            <a:pPr algn="r"/>
            <a:r>
              <a:rPr sz="1250" b="1">
                <a:solidFill>
                  <a:srgbClr val="1A1A1A">
                    <a:alpha val="25000"/>
                  </a:srgbClr>
                </a:solidFill>
                <a:latin typeface="Aptos"/>
              </a:rPr>
              <a:t>Memory safety</a:t>
            </a:r>
            <a:r>
              <a:rPr sz="1250" b="0">
                <a:solidFill>
                  <a:srgbClr val="8C8C8C">
                    <a:alpha val="25000"/>
                  </a:srgbClr>
                </a:solidFill>
                <a:latin typeface="Aptos"/>
              </a:rPr>
              <a:t>  68%</a:t>
            </a:r>
          </a:p>
        </p:txBody>
      </p:sp>
      <p:sp>
        <p:nvSpPr>
          <p:cNvPr id="61" name="Rounded Rectangle 60"/>
          <p:cNvSpPr/>
          <p:nvPr/>
        </p:nvSpPr>
        <p:spPr>
          <a:xfrm>
            <a:off x="5938200" y="4488000"/>
            <a:ext cx="671277"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679477" y="4432000"/>
            <a:ext cx="600000" cy="262000"/>
          </a:xfrm>
          <a:prstGeom prst="rect">
            <a:avLst/>
          </a:prstGeom>
          <a:noFill/>
        </p:spPr>
        <p:txBody>
          <a:bodyPr wrap="none" lIns="0" tIns="0" rIns="0" bIns="0" anchor="ctr"/>
          <a:lstStyle/>
          <a:p>
            <a:pPr algn="l"/>
            <a:r>
              <a:rPr sz="1100" b="0">
                <a:solidFill>
                  <a:srgbClr val="595959">
                    <a:alpha val="25000"/>
                  </a:srgbClr>
                </a:solidFill>
                <a:latin typeface="Aptos"/>
              </a:rPr>
              <a:t>1.0%</a:t>
            </a:r>
          </a:p>
        </p:txBody>
      </p:sp>
      <p:sp>
        <p:nvSpPr>
          <p:cNvPr id="63" name="Rounded Rectangle 62"/>
          <p:cNvSpPr/>
          <p:nvPr/>
        </p:nvSpPr>
        <p:spPr>
          <a:xfrm>
            <a:off x="4422180" y="4700000"/>
            <a:ext cx="1466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Type confusion</a:t>
            </a:r>
            <a:r>
              <a:rPr sz="1000">
                <a:solidFill>
                  <a:srgbClr val="595959"/>
                </a:solidFill>
                <a:latin typeface="Aptos"/>
              </a:rPr>
              <a:t>  21%</a:t>
            </a:r>
          </a:p>
        </p:txBody>
      </p:sp>
      <p:sp>
        <p:nvSpPr>
          <p:cNvPr id="64" name="Chevron 63"/>
          <p:cNvSpPr/>
          <p:nvPr/>
        </p:nvSpPr>
        <p:spPr>
          <a:xfrm>
            <a:off x="4231544" y="477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241544" y="4694000"/>
            <a:ext cx="1870000" cy="262000"/>
          </a:xfrm>
          <a:prstGeom prst="rect">
            <a:avLst/>
          </a:prstGeom>
          <a:noFill/>
        </p:spPr>
        <p:txBody>
          <a:bodyPr wrap="none" lIns="0" tIns="0" rIns="0" bIns="0" anchor="ctr"/>
          <a:lstStyle/>
          <a:p>
            <a:pPr algn="r"/>
            <a:r>
              <a:rPr sz="1250" b="1">
                <a:solidFill>
                  <a:srgbClr val="1A1A1A"/>
                </a:solidFill>
                <a:latin typeface="Aptos"/>
              </a:rPr>
              <a:t>Type and value</a:t>
            </a:r>
            <a:r>
              <a:rPr sz="1250" b="0">
                <a:solidFill>
                  <a:srgbClr val="8C8C8C"/>
                </a:solidFill>
                <a:latin typeface="Aptos"/>
              </a:rPr>
              <a:t>  5%</a:t>
            </a:r>
          </a:p>
        </p:txBody>
      </p:sp>
      <p:sp>
        <p:nvSpPr>
          <p:cNvPr id="66" name="Rounded Rectangle 65"/>
          <p:cNvSpPr/>
          <p:nvPr/>
        </p:nvSpPr>
        <p:spPr>
          <a:xfrm>
            <a:off x="5938200" y="4750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679477" y="4694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68" name="Rounded Rectangle 67"/>
          <p:cNvSpPr/>
          <p:nvPr/>
        </p:nvSpPr>
        <p:spPr>
          <a:xfrm>
            <a:off x="4493510" y="4962000"/>
            <a:ext cx="139469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Infinite loop</a:t>
            </a:r>
            <a:r>
              <a:rPr sz="1000">
                <a:solidFill>
                  <a:srgbClr val="595959"/>
                </a:solidFill>
                <a:latin typeface="Aptos"/>
              </a:rPr>
              <a:t>  42%</a:t>
            </a:r>
          </a:p>
        </p:txBody>
      </p:sp>
      <p:sp>
        <p:nvSpPr>
          <p:cNvPr id="69" name="Chevron 68"/>
          <p:cNvSpPr/>
          <p:nvPr/>
        </p:nvSpPr>
        <p:spPr>
          <a:xfrm>
            <a:off x="4295352" y="503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505352" y="4956000"/>
            <a:ext cx="1670000" cy="262000"/>
          </a:xfrm>
          <a:prstGeom prst="rect">
            <a:avLst/>
          </a:prstGeom>
          <a:noFill/>
        </p:spPr>
        <p:txBody>
          <a:bodyPr wrap="none" lIns="0" tIns="0" rIns="0" bIns="0" anchor="ctr"/>
          <a:lstStyle/>
          <a:p>
            <a:pPr algn="r"/>
            <a:r>
              <a:rPr sz="1250" b="1">
                <a:solidFill>
                  <a:srgbClr val="1A1A1A"/>
                </a:solidFill>
                <a:latin typeface="Aptos"/>
              </a:rPr>
              <a:t>Control flow</a:t>
            </a:r>
            <a:r>
              <a:rPr sz="1250" b="0">
                <a:solidFill>
                  <a:srgbClr val="8C8C8C"/>
                </a:solidFill>
                <a:latin typeface="Aptos"/>
              </a:rPr>
              <a:t>  2%</a:t>
            </a:r>
          </a:p>
        </p:txBody>
      </p:sp>
      <p:sp>
        <p:nvSpPr>
          <p:cNvPr id="71" name="Rounded Rectangle 70"/>
          <p:cNvSpPr/>
          <p:nvPr/>
        </p:nvSpPr>
        <p:spPr>
          <a:xfrm>
            <a:off x="5938200" y="5012000"/>
            <a:ext cx="671277"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679477" y="4956000"/>
            <a:ext cx="600000" cy="262000"/>
          </a:xfrm>
          <a:prstGeom prst="rect">
            <a:avLst/>
          </a:prstGeom>
          <a:noFill/>
        </p:spPr>
        <p:txBody>
          <a:bodyPr wrap="none" lIns="0" tIns="0" rIns="0" bIns="0" anchor="ctr"/>
          <a:lstStyle/>
          <a:p>
            <a:pPr algn="l"/>
            <a:r>
              <a:rPr sz="1100" b="0">
                <a:solidFill>
                  <a:srgbClr val="595959"/>
                </a:solidFill>
                <a:latin typeface="Aptos"/>
              </a:rPr>
              <a:t>1.0%</a:t>
            </a:r>
          </a:p>
        </p:txBody>
      </p:sp>
      <p:sp>
        <p:nvSpPr>
          <p:cNvPr id="73" name="Rounded Rectangle 72"/>
          <p:cNvSpPr/>
          <p:nvPr/>
        </p:nvSpPr>
        <p:spPr>
          <a:xfrm>
            <a:off x="3628164" y="5224000"/>
            <a:ext cx="2260036"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resource shutdown</a:t>
            </a:r>
            <a:r>
              <a:rPr sz="1000">
                <a:solidFill>
                  <a:srgbClr val="595959">
                    <a:alpha val="25000"/>
                  </a:srgbClr>
                </a:solidFill>
                <a:latin typeface="Aptos"/>
              </a:rPr>
              <a:t>  9%</a:t>
            </a:r>
          </a:p>
        </p:txBody>
      </p:sp>
      <p:sp>
        <p:nvSpPr>
          <p:cNvPr id="74" name="Chevron 73"/>
          <p:cNvSpPr/>
          <p:nvPr/>
        </p:nvSpPr>
        <p:spPr>
          <a:xfrm>
            <a:off x="3470888" y="529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95888" y="5218000"/>
            <a:ext cx="2455000" cy="262000"/>
          </a:xfrm>
          <a:prstGeom prst="rect">
            <a:avLst/>
          </a:prstGeom>
          <a:noFill/>
        </p:spPr>
        <p:txBody>
          <a:bodyPr wrap="none" lIns="0" tIns="0" rIns="0" bIns="0" anchor="ctr"/>
          <a:lstStyle/>
          <a:p>
            <a:pPr algn="r"/>
            <a:r>
              <a:rPr sz="1250" b="1">
                <a:solidFill>
                  <a:srgbClr val="1A1A1A">
                    <a:alpha val="25000"/>
                  </a:srgbClr>
                </a:solidFill>
                <a:latin typeface="Aptos"/>
              </a:rPr>
              <a:t>Resource management</a:t>
            </a:r>
            <a:r>
              <a:rPr sz="1250" b="0">
                <a:solidFill>
                  <a:srgbClr val="8C8C8C">
                    <a:alpha val="25000"/>
                  </a:srgbClr>
                </a:solidFill>
                <a:latin typeface="Aptos"/>
              </a:rPr>
              <a:t>  10%</a:t>
            </a:r>
          </a:p>
        </p:txBody>
      </p:sp>
      <p:sp>
        <p:nvSpPr>
          <p:cNvPr id="76" name="Rounded Rectangle 75"/>
          <p:cNvSpPr/>
          <p:nvPr/>
        </p:nvSpPr>
        <p:spPr>
          <a:xfrm>
            <a:off x="5938200" y="5274000"/>
            <a:ext cx="636830" cy="150000"/>
          </a:xfrm>
          <a:prstGeom prst="roundRect">
            <a:avLst>
              <a:gd name="adj" fmla="val 50000"/>
            </a:avLst>
          </a:prstGeom>
          <a:solidFill>
            <a:srgbClr val="F0BFB7">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645030" y="5218000"/>
            <a:ext cx="600000" cy="262000"/>
          </a:xfrm>
          <a:prstGeom prst="rect">
            <a:avLst/>
          </a:prstGeom>
          <a:noFill/>
        </p:spPr>
        <p:txBody>
          <a:bodyPr wrap="none" lIns="0" tIns="0" rIns="0" bIns="0" anchor="ctr"/>
          <a:lstStyle/>
          <a:p>
            <a:pPr algn="l"/>
            <a:r>
              <a:rPr sz="1100" b="0">
                <a:solidFill>
                  <a:srgbClr val="595959">
                    <a:alpha val="25000"/>
                  </a:srgbClr>
                </a:solidFill>
                <a:latin typeface="Aptos"/>
              </a:rPr>
              <a:t>0.9%</a:t>
            </a:r>
          </a:p>
        </p:txBody>
      </p:sp>
      <p:sp>
        <p:nvSpPr>
          <p:cNvPr id="78" name="Rounded Rectangle 77"/>
          <p:cNvSpPr/>
          <p:nvPr/>
        </p:nvSpPr>
        <p:spPr>
          <a:xfrm>
            <a:off x="4636170" y="5486000"/>
            <a:ext cx="125203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TOCTOU race</a:t>
            </a:r>
            <a:r>
              <a:rPr sz="1000">
                <a:solidFill>
                  <a:srgbClr val="595959"/>
                </a:solidFill>
                <a:latin typeface="Aptos"/>
              </a:rPr>
              <a:t>  21%</a:t>
            </a:r>
          </a:p>
        </p:txBody>
      </p:sp>
      <p:sp>
        <p:nvSpPr>
          <p:cNvPr id="79" name="Chevron 78"/>
          <p:cNvSpPr/>
          <p:nvPr/>
        </p:nvSpPr>
        <p:spPr>
          <a:xfrm>
            <a:off x="4459544" y="555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9544" y="5480000"/>
            <a:ext cx="1570000" cy="262000"/>
          </a:xfrm>
          <a:prstGeom prst="rect">
            <a:avLst/>
          </a:prstGeom>
          <a:noFill/>
        </p:spPr>
        <p:txBody>
          <a:bodyPr wrap="none" lIns="0" tIns="0" rIns="0" bIns="0" anchor="ctr"/>
          <a:lstStyle/>
          <a:p>
            <a:pPr algn="r"/>
            <a:r>
              <a:rPr sz="1250" b="1">
                <a:solidFill>
                  <a:srgbClr val="1A1A1A"/>
                </a:solidFill>
                <a:latin typeface="Aptos"/>
              </a:rPr>
              <a:t>Concurrency</a:t>
            </a:r>
            <a:r>
              <a:rPr sz="1250" b="0">
                <a:solidFill>
                  <a:srgbClr val="8C8C8C"/>
                </a:solidFill>
                <a:latin typeface="Aptos"/>
              </a:rPr>
              <a:t>  4%</a:t>
            </a:r>
          </a:p>
        </p:txBody>
      </p:sp>
      <p:sp>
        <p:nvSpPr>
          <p:cNvPr id="81" name="Rounded Rectangle 80"/>
          <p:cNvSpPr/>
          <p:nvPr/>
        </p:nvSpPr>
        <p:spPr>
          <a:xfrm>
            <a:off x="5938200" y="5536000"/>
            <a:ext cx="636830" cy="150000"/>
          </a:xfrm>
          <a:prstGeom prst="roundRect">
            <a:avLst>
              <a:gd name="adj" fmla="val 50000"/>
            </a:avLst>
          </a:prstGeom>
          <a:solidFill>
            <a:srgbClr val="F0B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645030" y="5480000"/>
            <a:ext cx="600000" cy="262000"/>
          </a:xfrm>
          <a:prstGeom prst="rect">
            <a:avLst/>
          </a:prstGeom>
          <a:noFill/>
        </p:spPr>
        <p:txBody>
          <a:bodyPr wrap="none" lIns="0" tIns="0" rIns="0" bIns="0" anchor="ctr"/>
          <a:lstStyle/>
          <a:p>
            <a:pPr algn="l"/>
            <a:r>
              <a:rPr sz="1100" b="0">
                <a:solidFill>
                  <a:srgbClr val="595959"/>
                </a:solidFill>
                <a:latin typeface="Aptos"/>
              </a:rPr>
              <a:t>0.9%</a:t>
            </a:r>
          </a:p>
        </p:txBody>
      </p:sp>
      <p:sp>
        <p:nvSpPr>
          <p:cNvPr id="83" name="Rounded Rectangle 82"/>
          <p:cNvSpPr/>
          <p:nvPr/>
        </p:nvSpPr>
        <p:spPr>
          <a:xfrm>
            <a:off x="4279520" y="5748000"/>
            <a:ext cx="160868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locking</a:t>
            </a:r>
            <a:r>
              <a:rPr sz="1000">
                <a:solidFill>
                  <a:srgbClr val="595959"/>
                </a:solidFill>
                <a:latin typeface="Aptos"/>
              </a:rPr>
              <a:t>  19%</a:t>
            </a:r>
          </a:p>
        </p:txBody>
      </p:sp>
      <p:sp>
        <p:nvSpPr>
          <p:cNvPr id="84" name="Chevron 83"/>
          <p:cNvSpPr/>
          <p:nvPr/>
        </p:nvSpPr>
        <p:spPr>
          <a:xfrm>
            <a:off x="4079544" y="581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389544" y="5742000"/>
            <a:ext cx="1570000" cy="262000"/>
          </a:xfrm>
          <a:prstGeom prst="rect">
            <a:avLst/>
          </a:prstGeom>
          <a:noFill/>
        </p:spPr>
        <p:txBody>
          <a:bodyPr wrap="none" lIns="0" tIns="0" rIns="0" bIns="0" anchor="ctr"/>
          <a:lstStyle/>
          <a:p>
            <a:pPr algn="r"/>
            <a:r>
              <a:rPr sz="1250" b="1">
                <a:solidFill>
                  <a:srgbClr val="1A1A1A"/>
                </a:solidFill>
                <a:latin typeface="Aptos"/>
              </a:rPr>
              <a:t>Concurrency</a:t>
            </a:r>
            <a:r>
              <a:rPr sz="1250" b="0">
                <a:solidFill>
                  <a:srgbClr val="8C8C8C"/>
                </a:solidFill>
                <a:latin typeface="Aptos"/>
              </a:rPr>
              <a:t>  4%</a:t>
            </a:r>
          </a:p>
        </p:txBody>
      </p:sp>
      <p:sp>
        <p:nvSpPr>
          <p:cNvPr id="86" name="Rounded Rectangle 85"/>
          <p:cNvSpPr/>
          <p:nvPr/>
        </p:nvSpPr>
        <p:spPr>
          <a:xfrm>
            <a:off x="5938200" y="5798000"/>
            <a:ext cx="600409" cy="150000"/>
          </a:xfrm>
          <a:prstGeom prst="roundRect">
            <a:avLst>
              <a:gd name="adj" fmla="val 50000"/>
            </a:avLst>
          </a:prstGeom>
          <a:solidFill>
            <a:srgbClr val="F1C4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608609" y="5742000"/>
            <a:ext cx="600000" cy="262000"/>
          </a:xfrm>
          <a:prstGeom prst="rect">
            <a:avLst/>
          </a:prstGeom>
          <a:noFill/>
        </p:spPr>
        <p:txBody>
          <a:bodyPr wrap="none" lIns="0" tIns="0" rIns="0" bIns="0" anchor="ctr"/>
          <a:lstStyle/>
          <a:p>
            <a:pPr algn="l"/>
            <a:r>
              <a:rPr sz="1100" b="0">
                <a:solidFill>
                  <a:srgbClr val="595959"/>
                </a:solidFill>
                <a:latin typeface="Aptos"/>
              </a:rPr>
              <a:t>0.8%</a:t>
            </a:r>
          </a:p>
        </p:txBody>
      </p:sp>
      <p:sp>
        <p:nvSpPr>
          <p:cNvPr id="88" name="Rounded Rectangle 87"/>
          <p:cNvSpPr/>
          <p:nvPr/>
        </p:nvSpPr>
        <p:spPr>
          <a:xfrm>
            <a:off x="3494890" y="6010000"/>
            <a:ext cx="239331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Unchecked unusual condition</a:t>
            </a:r>
            <a:r>
              <a:rPr sz="1000">
                <a:solidFill>
                  <a:srgbClr val="595959"/>
                </a:solidFill>
                <a:latin typeface="Aptos"/>
              </a:rPr>
              <a:t>  29%</a:t>
            </a:r>
          </a:p>
        </p:txBody>
      </p:sp>
      <p:sp>
        <p:nvSpPr>
          <p:cNvPr id="89" name="Chevron 88"/>
          <p:cNvSpPr/>
          <p:nvPr/>
        </p:nvSpPr>
        <p:spPr>
          <a:xfrm>
            <a:off x="3267928" y="608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477928" y="6004000"/>
            <a:ext cx="1670000" cy="262000"/>
          </a:xfrm>
          <a:prstGeom prst="rect">
            <a:avLst/>
          </a:prstGeom>
          <a:noFill/>
        </p:spPr>
        <p:txBody>
          <a:bodyPr wrap="none" lIns="0" tIns="0" rIns="0" bIns="0" anchor="ctr"/>
          <a:lstStyle/>
          <a:p>
            <a:pPr algn="r"/>
            <a:r>
              <a:rPr sz="1250" b="1">
                <a:solidFill>
                  <a:srgbClr val="1A1A1A"/>
                </a:solidFill>
                <a:latin typeface="Aptos"/>
              </a:rPr>
              <a:t>Control flow</a:t>
            </a:r>
            <a:r>
              <a:rPr sz="1250" b="0">
                <a:solidFill>
                  <a:srgbClr val="8C8C8C"/>
                </a:solidFill>
                <a:latin typeface="Aptos"/>
              </a:rPr>
              <a:t>  2%</a:t>
            </a:r>
          </a:p>
        </p:txBody>
      </p:sp>
      <p:sp>
        <p:nvSpPr>
          <p:cNvPr id="91" name="Rounded Rectangle 90"/>
          <p:cNvSpPr/>
          <p:nvPr/>
        </p:nvSpPr>
        <p:spPr>
          <a:xfrm>
            <a:off x="5938200" y="6060000"/>
            <a:ext cx="561631"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569831" y="6004000"/>
            <a:ext cx="600000" cy="262000"/>
          </a:xfrm>
          <a:prstGeom prst="rect">
            <a:avLst/>
          </a:prstGeom>
          <a:noFill/>
        </p:spPr>
        <p:txBody>
          <a:bodyPr wrap="none" lIns="0" tIns="0" rIns="0" bIns="0" anchor="ctr"/>
          <a:lstStyle/>
          <a:p>
            <a:pPr algn="l"/>
            <a:r>
              <a:rPr sz="1100" b="0">
                <a:solidFill>
                  <a:srgbClr val="595959"/>
                </a:solidFill>
                <a:latin typeface="Aptos"/>
              </a:rPr>
              <a:t>0.7%</a:t>
            </a:r>
          </a:p>
        </p:txBody>
      </p:sp>
      <p:sp>
        <p:nvSpPr>
          <p:cNvPr id="93" name="Rounded Rectangle 92"/>
          <p:cNvSpPr/>
          <p:nvPr/>
        </p:nvSpPr>
        <p:spPr>
          <a:xfrm>
            <a:off x="3851540" y="6272000"/>
            <a:ext cx="203666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Bad exception handling</a:t>
            </a:r>
            <a:r>
              <a:rPr sz="1000">
                <a:solidFill>
                  <a:srgbClr val="595959"/>
                </a:solidFill>
                <a:latin typeface="Aptos"/>
              </a:rPr>
              <a:t>  29%</a:t>
            </a:r>
          </a:p>
        </p:txBody>
      </p:sp>
      <p:sp>
        <p:nvSpPr>
          <p:cNvPr id="94" name="Chevron 93"/>
          <p:cNvSpPr/>
          <p:nvPr/>
        </p:nvSpPr>
        <p:spPr>
          <a:xfrm>
            <a:off x="3623544" y="634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833544" y="6266000"/>
            <a:ext cx="1670000" cy="262000"/>
          </a:xfrm>
          <a:prstGeom prst="rect">
            <a:avLst/>
          </a:prstGeom>
          <a:noFill/>
        </p:spPr>
        <p:txBody>
          <a:bodyPr wrap="none" lIns="0" tIns="0" rIns="0" bIns="0" anchor="ctr"/>
          <a:lstStyle/>
          <a:p>
            <a:pPr algn="r"/>
            <a:r>
              <a:rPr sz="1250" b="1">
                <a:solidFill>
                  <a:srgbClr val="1A1A1A"/>
                </a:solidFill>
                <a:latin typeface="Aptos"/>
              </a:rPr>
              <a:t>Control flow</a:t>
            </a:r>
            <a:r>
              <a:rPr sz="1250" b="0">
                <a:solidFill>
                  <a:srgbClr val="8C8C8C"/>
                </a:solidFill>
                <a:latin typeface="Aptos"/>
              </a:rPr>
              <a:t>  2%</a:t>
            </a:r>
          </a:p>
        </p:txBody>
      </p:sp>
      <p:sp>
        <p:nvSpPr>
          <p:cNvPr id="96" name="Rounded Rectangle 95"/>
          <p:cNvSpPr/>
          <p:nvPr/>
        </p:nvSpPr>
        <p:spPr>
          <a:xfrm>
            <a:off x="5938200" y="6322000"/>
            <a:ext cx="561631"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569831" y="6266000"/>
            <a:ext cx="600000" cy="262000"/>
          </a:xfrm>
          <a:prstGeom prst="rect">
            <a:avLst/>
          </a:prstGeom>
          <a:noFill/>
        </p:spPr>
        <p:txBody>
          <a:bodyPr wrap="none" lIns="0" tIns="0" rIns="0" bIns="0" anchor="ctr"/>
          <a:lstStyle/>
          <a:p>
            <a:pPr algn="l"/>
            <a:r>
              <a:rPr sz="1100" b="0">
                <a:solidFill>
                  <a:srgbClr val="595959"/>
                </a:solidFill>
                <a:latin typeface="Aptos"/>
              </a:rPr>
              <a:t>0.7%</a:t>
            </a:r>
          </a:p>
        </p:txBody>
      </p:sp>
      <p:sp>
        <p:nvSpPr>
          <p:cNvPr id="99" name="TextBox 98">
            <a:extLst>
              <a:ext uri="{FF2B5EF4-FFF2-40B4-BE49-F238E27FC236}">
                <a16:creationId xmlns:a16="http://schemas.microsoft.com/office/drawing/2014/main" id="{36F73574-8A41-E2A7-F8AE-2490CA3F7AE9}"/>
              </a:ext>
            </a:extLst>
          </p:cNvPr>
          <p:cNvSpPr txBox="1"/>
          <p:nvPr/>
        </p:nvSpPr>
        <p:spPr>
          <a:xfrm>
            <a:off x="7933477" y="3146273"/>
            <a:ext cx="3079966"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lumMod val="65000"/>
                  </a:schemeClr>
                </a:solidFill>
              </a:rPr>
              <a:t>CVEs published 2016–2026.</a:t>
            </a:r>
          </a:p>
          <a:p>
            <a:pPr marL="285750" indent="-285750">
              <a:buFont typeface="Arial" panose="020B0604020202020204" pitchFamily="34" charset="0"/>
              <a:buChar char="•"/>
            </a:pPr>
            <a:r>
              <a:rPr lang="en-US" sz="1400" dirty="0">
                <a:solidFill>
                  <a:schemeClr val="bg1">
                    <a:lumMod val="65000"/>
                  </a:schemeClr>
                </a:solidFill>
              </a:rPr>
              <a:t>Group share is the category's percentage of all classified CVEs.</a:t>
            </a:r>
          </a:p>
          <a:p>
            <a:pPr marL="285750" indent="-285750">
              <a:buFont typeface="Arial" panose="020B0604020202020204" pitchFamily="34" charset="0"/>
              <a:buChar char="•"/>
            </a:pPr>
            <a:r>
              <a:rPr lang="en-US" sz="1400" dirty="0">
                <a:solidFill>
                  <a:schemeClr val="bg1">
                    <a:lumMod val="65000"/>
                  </a:schemeClr>
                </a:solidFill>
              </a:rPr>
              <a:t>The percentage inside each box is the defect's share within its category.</a:t>
            </a:r>
          </a:p>
          <a:p>
            <a:pPr marL="285750" indent="-285750">
              <a:buFont typeface="Arial" panose="020B0604020202020204" pitchFamily="34" charset="0"/>
              <a:buChar char="•"/>
            </a:pPr>
            <a:r>
              <a:rPr lang="en-US" sz="1400" dirty="0">
                <a:solidFill>
                  <a:schemeClr val="bg1">
                    <a:lumMod val="65000"/>
                  </a:schemeClr>
                </a:solidFill>
              </a:rPr>
              <a:t>The percentage after each bar is the defect's share of all classified CVEs.</a:t>
            </a:r>
          </a:p>
          <a:p>
            <a:pPr marL="285750" indent="-285750">
              <a:buFont typeface="Arial" panose="020B0604020202020204" pitchFamily="34" charset="0"/>
              <a:buChar char="•"/>
            </a:pPr>
            <a:r>
              <a:rPr lang="en-US" sz="1400" dirty="0">
                <a:solidFill>
                  <a:schemeClr val="bg1">
                    <a:lumMod val="65000"/>
                  </a:schemeClr>
                </a:solidFill>
              </a:rPr>
              <a:t>Bars are on a square-root scale so small defects remain visible next to out-of-bounds.</a:t>
            </a:r>
          </a:p>
          <a:p>
            <a:pPr marL="285750" indent="-285750">
              <a:buFont typeface="Arial" panose="020B0604020202020204" pitchFamily="34" charset="0"/>
              <a:buChar char="•"/>
            </a:pPr>
            <a:r>
              <a:rPr lang="en-US" sz="1400" dirty="0">
                <a:solidFill>
                  <a:schemeClr val="bg1">
                    <a:lumMod val="65000"/>
                  </a:schemeClr>
                </a:solidFill>
              </a:rPr>
              <a:t>“Improper input validation” (CWE-20) is often a generic fallback classification, not the underlying defect.</a:t>
            </a:r>
          </a:p>
        </p:txBody>
      </p:sp>
    </p:spTree>
    <p:extLst>
      <p:ext uri="{BB962C8B-B14F-4D97-AF65-F5344CB8AC3E}">
        <p14:creationId xmlns:p14="http://schemas.microsoft.com/office/powerpoint/2010/main" val="4122750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The most exploited defects</a:t>
            </a:r>
          </a:p>
        </p:txBody>
      </p:sp>
      <p:sp>
        <p:nvSpPr>
          <p:cNvPr id="3" name="Rounded Rectangle 2"/>
          <p:cNvSpPr/>
          <p:nvPr/>
        </p:nvSpPr>
        <p:spPr>
          <a:xfrm>
            <a:off x="3710635" y="1556000"/>
            <a:ext cx="217810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input validation  </a:t>
            </a:r>
            <a:r>
              <a:rPr sz="1000">
                <a:solidFill>
                  <a:srgbClr val="595959"/>
                </a:solidFill>
                <a:latin typeface="Aptos"/>
              </a:rPr>
              <a:t>23%</a:t>
            </a:r>
          </a:p>
        </p:txBody>
      </p:sp>
      <p:sp>
        <p:nvSpPr>
          <p:cNvPr id="4" name="Chevron 3"/>
          <p:cNvSpPr/>
          <p:nvPr/>
        </p:nvSpPr>
        <p:spPr>
          <a:xfrm>
            <a:off x="3550920" y="162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5522" y="1550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6" name="Rounded Rectangle 5"/>
          <p:cNvSpPr/>
          <p:nvPr/>
        </p:nvSpPr>
        <p:spPr>
          <a:xfrm>
            <a:off x="5938200" y="1606000"/>
            <a:ext cx="1874474" cy="150000"/>
          </a:xfrm>
          <a:prstGeom prst="roundRect">
            <a:avLst>
              <a:gd name="adj" fmla="val 50000"/>
            </a:avLst>
          </a:prstGeom>
          <a:solidFill>
            <a:srgbClr val="8A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82082" y="1550000"/>
            <a:ext cx="600000" cy="262000"/>
          </a:xfrm>
          <a:prstGeom prst="rect">
            <a:avLst/>
          </a:prstGeom>
          <a:noFill/>
        </p:spPr>
        <p:txBody>
          <a:bodyPr wrap="none" lIns="0" tIns="0" rIns="0" bIns="0" anchor="ctr"/>
          <a:lstStyle/>
          <a:p>
            <a:pPr algn="l"/>
            <a:r>
              <a:rPr sz="1100" b="0">
                <a:solidFill>
                  <a:srgbClr val="595959"/>
                </a:solidFill>
                <a:latin typeface="Aptos"/>
              </a:rPr>
              <a:t>7.8%</a:t>
            </a:r>
          </a:p>
        </p:txBody>
      </p:sp>
      <p:sp>
        <p:nvSpPr>
          <p:cNvPr id="8" name="Rounded Rectangle 7"/>
          <p:cNvSpPr/>
          <p:nvPr/>
        </p:nvSpPr>
        <p:spPr>
          <a:xfrm>
            <a:off x="4035838" y="1818000"/>
            <a:ext cx="185289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OS command injection  </a:t>
            </a:r>
            <a:r>
              <a:rPr sz="1000">
                <a:solidFill>
                  <a:srgbClr val="595959"/>
                </a:solidFill>
                <a:latin typeface="Aptos"/>
              </a:rPr>
              <a:t>21%</a:t>
            </a:r>
          </a:p>
        </p:txBody>
      </p:sp>
      <p:sp>
        <p:nvSpPr>
          <p:cNvPr id="9" name="Chevron 8"/>
          <p:cNvSpPr/>
          <p:nvPr/>
        </p:nvSpPr>
        <p:spPr>
          <a:xfrm>
            <a:off x="3889248" y="188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93850" y="1812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11" name="Rounded Rectangle 10"/>
          <p:cNvSpPr/>
          <p:nvPr/>
        </p:nvSpPr>
        <p:spPr>
          <a:xfrm>
            <a:off x="5938200" y="1868000"/>
            <a:ext cx="1793417" cy="150000"/>
          </a:xfrm>
          <a:prstGeom prst="roundRect">
            <a:avLst>
              <a:gd name="adj" fmla="val 50000"/>
            </a:avLst>
          </a:prstGeom>
          <a:solidFill>
            <a:srgbClr val="D05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01025" y="1812000"/>
            <a:ext cx="600000" cy="262000"/>
          </a:xfrm>
          <a:prstGeom prst="rect">
            <a:avLst/>
          </a:prstGeom>
          <a:noFill/>
        </p:spPr>
        <p:txBody>
          <a:bodyPr wrap="none" lIns="0" tIns="0" rIns="0" bIns="0" anchor="ctr"/>
          <a:lstStyle/>
          <a:p>
            <a:pPr algn="l"/>
            <a:r>
              <a:rPr sz="1100" b="0">
                <a:solidFill>
                  <a:srgbClr val="595959"/>
                </a:solidFill>
                <a:latin typeface="Aptos"/>
              </a:rPr>
              <a:t>7.1%</a:t>
            </a:r>
          </a:p>
        </p:txBody>
      </p:sp>
      <p:sp>
        <p:nvSpPr>
          <p:cNvPr id="13" name="Rounded Rectangle 12"/>
          <p:cNvSpPr/>
          <p:nvPr/>
        </p:nvSpPr>
        <p:spPr>
          <a:xfrm>
            <a:off x="4100878" y="2080000"/>
            <a:ext cx="178785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Out-of-bounds write  </a:t>
            </a:r>
            <a:r>
              <a:rPr sz="1000">
                <a:solidFill>
                  <a:srgbClr val="595959"/>
                </a:solidFill>
                <a:latin typeface="Aptos"/>
              </a:rPr>
              <a:t>31%</a:t>
            </a:r>
          </a:p>
        </p:txBody>
      </p:sp>
      <p:sp>
        <p:nvSpPr>
          <p:cNvPr id="14" name="Chevron 13"/>
          <p:cNvSpPr/>
          <p:nvPr/>
        </p:nvSpPr>
        <p:spPr>
          <a:xfrm>
            <a:off x="3961790" y="215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83028" y="2074000"/>
            <a:ext cx="1859889" cy="262000"/>
          </a:xfrm>
          <a:prstGeom prst="rect">
            <a:avLst/>
          </a:prstGeom>
          <a:noFill/>
        </p:spPr>
        <p:txBody>
          <a:bodyPr wrap="none" lIns="0" tIns="0" rIns="0" bIns="0" anchor="ctr"/>
          <a:lstStyle/>
          <a:p>
            <a:pPr algn="r"/>
            <a:r>
              <a:rPr sz="1250" b="1" dirty="0">
                <a:solidFill>
                  <a:srgbClr val="1A1A1A"/>
                </a:solidFill>
                <a:latin typeface="Aptos"/>
              </a:rPr>
              <a:t>Memory safety  </a:t>
            </a:r>
            <a:r>
              <a:rPr sz="1250" b="0" dirty="0">
                <a:solidFill>
                  <a:srgbClr val="8C8C8C"/>
                </a:solidFill>
                <a:latin typeface="Aptos"/>
              </a:rPr>
              <a:t>22%</a:t>
            </a:r>
          </a:p>
        </p:txBody>
      </p:sp>
      <p:sp>
        <p:nvSpPr>
          <p:cNvPr id="16" name="Rounded Rectangle 15"/>
          <p:cNvSpPr/>
          <p:nvPr/>
        </p:nvSpPr>
        <p:spPr>
          <a:xfrm>
            <a:off x="5938200" y="2130000"/>
            <a:ext cx="1734684" cy="150000"/>
          </a:xfrm>
          <a:prstGeom prst="roundRect">
            <a:avLst>
              <a:gd name="adj" fmla="val 50000"/>
            </a:avLst>
          </a:prstGeom>
          <a:solidFill>
            <a:srgbClr val="D46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42292" y="2074000"/>
            <a:ext cx="600000" cy="262000"/>
          </a:xfrm>
          <a:prstGeom prst="rect">
            <a:avLst/>
          </a:prstGeom>
          <a:noFill/>
        </p:spPr>
        <p:txBody>
          <a:bodyPr wrap="none" lIns="0" tIns="0" rIns="0" bIns="0" anchor="ctr"/>
          <a:lstStyle/>
          <a:p>
            <a:pPr algn="l"/>
            <a:r>
              <a:rPr sz="1100" b="0">
                <a:solidFill>
                  <a:srgbClr val="595959"/>
                </a:solidFill>
                <a:latin typeface="Aptos"/>
              </a:rPr>
              <a:t>6.7%</a:t>
            </a:r>
          </a:p>
        </p:txBody>
      </p:sp>
      <p:sp>
        <p:nvSpPr>
          <p:cNvPr id="18" name="Rounded Rectangle 17"/>
          <p:cNvSpPr/>
          <p:nvPr/>
        </p:nvSpPr>
        <p:spPr>
          <a:xfrm>
            <a:off x="4426080" y="2342000"/>
            <a:ext cx="146265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Use after free  </a:t>
            </a:r>
            <a:r>
              <a:rPr sz="1000">
                <a:solidFill>
                  <a:srgbClr val="595959"/>
                </a:solidFill>
                <a:latin typeface="Aptos"/>
              </a:rPr>
              <a:t>28%</a:t>
            </a:r>
          </a:p>
        </p:txBody>
      </p:sp>
      <p:sp>
        <p:nvSpPr>
          <p:cNvPr id="19" name="Chevron 18"/>
          <p:cNvSpPr/>
          <p:nvPr/>
        </p:nvSpPr>
        <p:spPr>
          <a:xfrm>
            <a:off x="4269638" y="241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90876" y="2336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21" name="Rounded Rectangle 20"/>
          <p:cNvSpPr/>
          <p:nvPr/>
        </p:nvSpPr>
        <p:spPr>
          <a:xfrm>
            <a:off x="5938200" y="2392000"/>
            <a:ext cx="1664446" cy="150000"/>
          </a:xfrm>
          <a:prstGeom prst="roundRect">
            <a:avLst>
              <a:gd name="adj" fmla="val 50000"/>
            </a:avLst>
          </a:prstGeom>
          <a:solidFill>
            <a:srgbClr val="DE77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72054" y="2336000"/>
            <a:ext cx="600000" cy="262000"/>
          </a:xfrm>
          <a:prstGeom prst="rect">
            <a:avLst/>
          </a:prstGeom>
          <a:noFill/>
        </p:spPr>
        <p:txBody>
          <a:bodyPr wrap="none" lIns="0" tIns="0" rIns="0" bIns="0" anchor="ctr"/>
          <a:lstStyle/>
          <a:p>
            <a:pPr algn="l"/>
            <a:r>
              <a:rPr sz="1100" b="0">
                <a:solidFill>
                  <a:srgbClr val="595959"/>
                </a:solidFill>
                <a:latin typeface="Aptos"/>
              </a:rPr>
              <a:t>6.2%</a:t>
            </a:r>
          </a:p>
        </p:txBody>
      </p:sp>
      <p:sp>
        <p:nvSpPr>
          <p:cNvPr id="23" name="Rounded Rectangle 22"/>
          <p:cNvSpPr/>
          <p:nvPr/>
        </p:nvSpPr>
        <p:spPr>
          <a:xfrm>
            <a:off x="3840715" y="2604000"/>
            <a:ext cx="2048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Buffer operation errors  </a:t>
            </a:r>
            <a:r>
              <a:rPr sz="1000">
                <a:solidFill>
                  <a:srgbClr val="595959"/>
                </a:solidFill>
                <a:latin typeface="Aptos"/>
              </a:rPr>
              <a:t>26%</a:t>
            </a:r>
          </a:p>
        </p:txBody>
      </p:sp>
      <p:sp>
        <p:nvSpPr>
          <p:cNvPr id="24" name="Chevron 23"/>
          <p:cNvSpPr/>
          <p:nvPr/>
        </p:nvSpPr>
        <p:spPr>
          <a:xfrm>
            <a:off x="3708196" y="267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29435" y="2598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26" name="Rounded Rectangle 25"/>
          <p:cNvSpPr/>
          <p:nvPr/>
        </p:nvSpPr>
        <p:spPr>
          <a:xfrm>
            <a:off x="5938200" y="2654000"/>
            <a:ext cx="1591110" cy="150000"/>
          </a:xfrm>
          <a:prstGeom prst="roundRect">
            <a:avLst>
              <a:gd name="adj" fmla="val 50000"/>
            </a:avLst>
          </a:prstGeom>
          <a:solidFill>
            <a:srgbClr val="E389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98718" y="2598000"/>
            <a:ext cx="600000" cy="262000"/>
          </a:xfrm>
          <a:prstGeom prst="rect">
            <a:avLst/>
          </a:prstGeom>
          <a:noFill/>
        </p:spPr>
        <p:txBody>
          <a:bodyPr wrap="none" lIns="0" tIns="0" rIns="0" bIns="0" anchor="ctr"/>
          <a:lstStyle/>
          <a:p>
            <a:pPr algn="l"/>
            <a:r>
              <a:rPr sz="1100" b="0">
                <a:solidFill>
                  <a:srgbClr val="595959"/>
                </a:solidFill>
                <a:latin typeface="Aptos"/>
              </a:rPr>
              <a:t>5.6%</a:t>
            </a:r>
          </a:p>
        </p:txBody>
      </p:sp>
      <p:sp>
        <p:nvSpPr>
          <p:cNvPr id="28" name="Rounded Rectangle 27"/>
          <p:cNvSpPr/>
          <p:nvPr/>
        </p:nvSpPr>
        <p:spPr>
          <a:xfrm>
            <a:off x="4426080" y="2866000"/>
            <a:ext cx="146265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Path traversal  </a:t>
            </a:r>
            <a:r>
              <a:rPr sz="1000">
                <a:solidFill>
                  <a:srgbClr val="595959"/>
                </a:solidFill>
                <a:latin typeface="Aptos"/>
              </a:rPr>
              <a:t>15%</a:t>
            </a:r>
          </a:p>
        </p:txBody>
      </p:sp>
      <p:sp>
        <p:nvSpPr>
          <p:cNvPr id="29" name="Chevron 28"/>
          <p:cNvSpPr/>
          <p:nvPr/>
        </p:nvSpPr>
        <p:spPr>
          <a:xfrm>
            <a:off x="4287926" y="293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92528" y="2860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31" name="Rounded Rectangle 30"/>
          <p:cNvSpPr/>
          <p:nvPr/>
        </p:nvSpPr>
        <p:spPr>
          <a:xfrm>
            <a:off x="5938200" y="2916000"/>
            <a:ext cx="1524604" cy="150000"/>
          </a:xfrm>
          <a:prstGeom prst="roundRect">
            <a:avLst>
              <a:gd name="adj" fmla="val 50000"/>
            </a:avLst>
          </a:prstGeom>
          <a:solidFill>
            <a:srgbClr val="E3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32212" y="2860000"/>
            <a:ext cx="600000" cy="262000"/>
          </a:xfrm>
          <a:prstGeom prst="rect">
            <a:avLst/>
          </a:prstGeom>
          <a:noFill/>
        </p:spPr>
        <p:txBody>
          <a:bodyPr wrap="none" lIns="0" tIns="0" rIns="0" bIns="0" anchor="ctr"/>
          <a:lstStyle/>
          <a:p>
            <a:pPr algn="l"/>
            <a:r>
              <a:rPr sz="1100" b="0">
                <a:solidFill>
                  <a:srgbClr val="595959"/>
                </a:solidFill>
                <a:latin typeface="Aptos"/>
              </a:rPr>
              <a:t>5.2%</a:t>
            </a:r>
          </a:p>
        </p:txBody>
      </p:sp>
      <p:sp>
        <p:nvSpPr>
          <p:cNvPr id="33" name="Rounded Rectangle 32"/>
          <p:cNvSpPr/>
          <p:nvPr/>
        </p:nvSpPr>
        <p:spPr>
          <a:xfrm>
            <a:off x="3905755" y="3128000"/>
            <a:ext cx="1982979"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Unsafe deserialization  </a:t>
            </a:r>
            <a:r>
              <a:rPr sz="1000">
                <a:solidFill>
                  <a:srgbClr val="595959"/>
                </a:solidFill>
                <a:latin typeface="Aptos"/>
              </a:rPr>
              <a:t>14%</a:t>
            </a:r>
          </a:p>
        </p:txBody>
      </p:sp>
      <p:sp>
        <p:nvSpPr>
          <p:cNvPr id="34" name="Chevron 33"/>
          <p:cNvSpPr/>
          <p:nvPr/>
        </p:nvSpPr>
        <p:spPr>
          <a:xfrm>
            <a:off x="3786835" y="319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91437" y="3122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36" name="Rounded Rectangle 35"/>
          <p:cNvSpPr/>
          <p:nvPr/>
        </p:nvSpPr>
        <p:spPr>
          <a:xfrm>
            <a:off x="5938200" y="3178000"/>
            <a:ext cx="1455061" cy="150000"/>
          </a:xfrm>
          <a:prstGeom prst="roundRect">
            <a:avLst>
              <a:gd name="adj" fmla="val 50000"/>
            </a:avLst>
          </a:prstGeom>
          <a:solidFill>
            <a:srgbClr val="E4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62669" y="3122000"/>
            <a:ext cx="600000" cy="262000"/>
          </a:xfrm>
          <a:prstGeom prst="rect">
            <a:avLst/>
          </a:prstGeom>
          <a:noFill/>
        </p:spPr>
        <p:txBody>
          <a:bodyPr wrap="none" lIns="0" tIns="0" rIns="0" bIns="0" anchor="ctr"/>
          <a:lstStyle/>
          <a:p>
            <a:pPr algn="l"/>
            <a:r>
              <a:rPr sz="1100" b="0">
                <a:solidFill>
                  <a:srgbClr val="595959"/>
                </a:solidFill>
                <a:latin typeface="Aptos"/>
              </a:rPr>
              <a:t>4.7%</a:t>
            </a:r>
          </a:p>
        </p:txBody>
      </p:sp>
      <p:sp>
        <p:nvSpPr>
          <p:cNvPr id="38" name="Rounded Rectangle 37"/>
          <p:cNvSpPr/>
          <p:nvPr/>
        </p:nvSpPr>
        <p:spPr>
          <a:xfrm>
            <a:off x="4426080" y="3390000"/>
            <a:ext cx="146265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Code injection  </a:t>
            </a:r>
            <a:r>
              <a:rPr sz="1000">
                <a:solidFill>
                  <a:srgbClr val="595959"/>
                </a:solidFill>
                <a:latin typeface="Aptos"/>
              </a:rPr>
              <a:t>13%</a:t>
            </a:r>
          </a:p>
        </p:txBody>
      </p:sp>
      <p:sp>
        <p:nvSpPr>
          <p:cNvPr id="39" name="Chevron 38"/>
          <p:cNvSpPr/>
          <p:nvPr/>
        </p:nvSpPr>
        <p:spPr>
          <a:xfrm>
            <a:off x="4306214" y="346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10816" y="3384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41" name="Rounded Rectangle 40"/>
          <p:cNvSpPr/>
          <p:nvPr/>
        </p:nvSpPr>
        <p:spPr>
          <a:xfrm>
            <a:off x="5938200" y="3440000"/>
            <a:ext cx="1444184" cy="150000"/>
          </a:xfrm>
          <a:prstGeom prst="roundRect">
            <a:avLst>
              <a:gd name="adj" fmla="val 50000"/>
            </a:avLst>
          </a:prstGeom>
          <a:solidFill>
            <a:srgbClr val="E79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51792" y="3384000"/>
            <a:ext cx="600000" cy="262000"/>
          </a:xfrm>
          <a:prstGeom prst="rect">
            <a:avLst/>
          </a:prstGeom>
          <a:noFill/>
        </p:spPr>
        <p:txBody>
          <a:bodyPr wrap="none" lIns="0" tIns="0" rIns="0" bIns="0" anchor="ctr"/>
          <a:lstStyle/>
          <a:p>
            <a:pPr algn="l"/>
            <a:r>
              <a:rPr sz="1100" b="0">
                <a:solidFill>
                  <a:srgbClr val="595959"/>
                </a:solidFill>
                <a:latin typeface="Aptos"/>
              </a:rPr>
              <a:t>4.6%</a:t>
            </a:r>
          </a:p>
        </p:txBody>
      </p:sp>
      <p:sp>
        <p:nvSpPr>
          <p:cNvPr id="43" name="Rounded Rectangle 42"/>
          <p:cNvSpPr/>
          <p:nvPr/>
        </p:nvSpPr>
        <p:spPr>
          <a:xfrm>
            <a:off x="3840715" y="3652000"/>
            <a:ext cx="2048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authentication  </a:t>
            </a:r>
            <a:r>
              <a:rPr sz="1000">
                <a:solidFill>
                  <a:srgbClr val="595959"/>
                </a:solidFill>
                <a:latin typeface="Aptos"/>
              </a:rPr>
              <a:t>14%</a:t>
            </a:r>
          </a:p>
        </p:txBody>
      </p:sp>
      <p:sp>
        <p:nvSpPr>
          <p:cNvPr id="44" name="Chevron 43"/>
          <p:cNvSpPr/>
          <p:nvPr/>
        </p:nvSpPr>
        <p:spPr>
          <a:xfrm>
            <a:off x="3708196" y="372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832762" y="3646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46" name="Rounded Rectangle 45"/>
          <p:cNvSpPr/>
          <p:nvPr/>
        </p:nvSpPr>
        <p:spPr>
          <a:xfrm>
            <a:off x="5938200" y="3702000"/>
            <a:ext cx="1131075" cy="150000"/>
          </a:xfrm>
          <a:prstGeom prst="roundRect">
            <a:avLst>
              <a:gd name="adj" fmla="val 50000"/>
            </a:avLst>
          </a:prstGeom>
          <a:solidFill>
            <a:srgbClr val="E79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8683" y="3646000"/>
            <a:ext cx="600000" cy="262000"/>
          </a:xfrm>
          <a:prstGeom prst="rect">
            <a:avLst/>
          </a:prstGeom>
          <a:noFill/>
        </p:spPr>
        <p:txBody>
          <a:bodyPr wrap="none" lIns="0" tIns="0" rIns="0" bIns="0" anchor="ctr"/>
          <a:lstStyle/>
          <a:p>
            <a:pPr algn="l"/>
            <a:r>
              <a:rPr sz="1100" b="0">
                <a:solidFill>
                  <a:srgbClr val="595959"/>
                </a:solidFill>
                <a:latin typeface="Aptos"/>
              </a:rPr>
              <a:t>2.8%</a:t>
            </a:r>
          </a:p>
        </p:txBody>
      </p:sp>
      <p:sp>
        <p:nvSpPr>
          <p:cNvPr id="48" name="Rounded Rectangle 47"/>
          <p:cNvSpPr/>
          <p:nvPr/>
        </p:nvSpPr>
        <p:spPr>
          <a:xfrm>
            <a:off x="3905755" y="3914000"/>
            <a:ext cx="1982979"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Missing authentication  </a:t>
            </a:r>
            <a:r>
              <a:rPr sz="1000">
                <a:solidFill>
                  <a:srgbClr val="595959"/>
                </a:solidFill>
                <a:latin typeface="Aptos"/>
              </a:rPr>
              <a:t>13%</a:t>
            </a:r>
          </a:p>
        </p:txBody>
      </p:sp>
      <p:sp>
        <p:nvSpPr>
          <p:cNvPr id="49" name="Chevron 48"/>
          <p:cNvSpPr/>
          <p:nvPr/>
        </p:nvSpPr>
        <p:spPr>
          <a:xfrm>
            <a:off x="3786835" y="398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911400" y="3908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51" name="Rounded Rectangle 50"/>
          <p:cNvSpPr/>
          <p:nvPr/>
        </p:nvSpPr>
        <p:spPr>
          <a:xfrm>
            <a:off x="5938200" y="3964000"/>
            <a:ext cx="1092584" cy="150000"/>
          </a:xfrm>
          <a:prstGeom prst="roundRect">
            <a:avLst>
              <a:gd name="adj" fmla="val 50000"/>
            </a:avLst>
          </a:prstGeom>
          <a:solidFill>
            <a:srgbClr val="E9A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100192" y="3908000"/>
            <a:ext cx="600000" cy="262000"/>
          </a:xfrm>
          <a:prstGeom prst="rect">
            <a:avLst/>
          </a:prstGeom>
          <a:noFill/>
        </p:spPr>
        <p:txBody>
          <a:bodyPr wrap="none" lIns="0" tIns="0" rIns="0" bIns="0" anchor="ctr"/>
          <a:lstStyle/>
          <a:p>
            <a:pPr algn="l"/>
            <a:r>
              <a:rPr sz="1100" b="0">
                <a:solidFill>
                  <a:srgbClr val="595959"/>
                </a:solidFill>
                <a:latin typeface="Aptos"/>
              </a:rPr>
              <a:t>2.6%</a:t>
            </a:r>
          </a:p>
        </p:txBody>
      </p:sp>
      <p:sp>
        <p:nvSpPr>
          <p:cNvPr id="53" name="Rounded Rectangle 52"/>
          <p:cNvSpPr/>
          <p:nvPr/>
        </p:nvSpPr>
        <p:spPr>
          <a:xfrm>
            <a:off x="4426080" y="4176000"/>
            <a:ext cx="146265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Type confusion  </a:t>
            </a:r>
            <a:r>
              <a:rPr sz="1000">
                <a:solidFill>
                  <a:srgbClr val="595959"/>
                </a:solidFill>
                <a:latin typeface="Aptos"/>
              </a:rPr>
              <a:t>70%</a:t>
            </a:r>
          </a:p>
        </p:txBody>
      </p:sp>
      <p:sp>
        <p:nvSpPr>
          <p:cNvPr id="54" name="Chevron 53"/>
          <p:cNvSpPr/>
          <p:nvPr/>
        </p:nvSpPr>
        <p:spPr>
          <a:xfrm>
            <a:off x="4306214" y="424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327452" y="4170000"/>
            <a:ext cx="1859889" cy="262000"/>
          </a:xfrm>
          <a:prstGeom prst="rect">
            <a:avLst/>
          </a:prstGeom>
          <a:noFill/>
        </p:spPr>
        <p:txBody>
          <a:bodyPr wrap="none" lIns="0" tIns="0" rIns="0" bIns="0" anchor="ctr"/>
          <a:lstStyle/>
          <a:p>
            <a:pPr algn="r"/>
            <a:r>
              <a:rPr sz="1250" b="1">
                <a:solidFill>
                  <a:srgbClr val="1A1A1A"/>
                </a:solidFill>
                <a:latin typeface="Aptos"/>
              </a:rPr>
              <a:t>Type and value  </a:t>
            </a:r>
            <a:r>
              <a:rPr sz="1250" b="0">
                <a:solidFill>
                  <a:srgbClr val="8C8C8C"/>
                </a:solidFill>
                <a:latin typeface="Aptos"/>
              </a:rPr>
              <a:t>4%</a:t>
            </a:r>
          </a:p>
        </p:txBody>
      </p:sp>
      <p:sp>
        <p:nvSpPr>
          <p:cNvPr id="56" name="Rounded Rectangle 55"/>
          <p:cNvSpPr/>
          <p:nvPr/>
        </p:nvSpPr>
        <p:spPr>
          <a:xfrm>
            <a:off x="5938200" y="4226000"/>
            <a:ext cx="1050546"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58154" y="4170000"/>
            <a:ext cx="600000" cy="262000"/>
          </a:xfrm>
          <a:prstGeom prst="rect">
            <a:avLst/>
          </a:prstGeom>
          <a:noFill/>
        </p:spPr>
        <p:txBody>
          <a:bodyPr wrap="none" lIns="0" tIns="0" rIns="0" bIns="0" anchor="ctr"/>
          <a:lstStyle/>
          <a:p>
            <a:pPr algn="l"/>
            <a:r>
              <a:rPr sz="1100" b="0">
                <a:solidFill>
                  <a:srgbClr val="595959"/>
                </a:solidFill>
                <a:latin typeface="Aptos"/>
              </a:rPr>
              <a:t>2.5%</a:t>
            </a:r>
          </a:p>
        </p:txBody>
      </p:sp>
      <p:sp>
        <p:nvSpPr>
          <p:cNvPr id="58" name="Rounded Rectangle 57"/>
          <p:cNvSpPr/>
          <p:nvPr/>
        </p:nvSpPr>
        <p:spPr>
          <a:xfrm>
            <a:off x="3840715" y="4438000"/>
            <a:ext cx="2048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access control  </a:t>
            </a:r>
            <a:r>
              <a:rPr sz="1000">
                <a:solidFill>
                  <a:srgbClr val="595959"/>
                </a:solidFill>
                <a:latin typeface="Aptos"/>
              </a:rPr>
              <a:t>12%</a:t>
            </a:r>
          </a:p>
        </p:txBody>
      </p:sp>
      <p:sp>
        <p:nvSpPr>
          <p:cNvPr id="59" name="Chevron 58"/>
          <p:cNvSpPr/>
          <p:nvPr/>
        </p:nvSpPr>
        <p:spPr>
          <a:xfrm>
            <a:off x="3708196" y="450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832762" y="4432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61" name="Rounded Rectangle 60"/>
          <p:cNvSpPr/>
          <p:nvPr/>
        </p:nvSpPr>
        <p:spPr>
          <a:xfrm>
            <a:off x="5938200" y="4488000"/>
            <a:ext cx="1020089"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027697" y="4432000"/>
            <a:ext cx="600000" cy="262000"/>
          </a:xfrm>
          <a:prstGeom prst="rect">
            <a:avLst/>
          </a:prstGeom>
          <a:noFill/>
        </p:spPr>
        <p:txBody>
          <a:bodyPr wrap="none" lIns="0" tIns="0" rIns="0" bIns="0" anchor="ctr"/>
          <a:lstStyle/>
          <a:p>
            <a:pPr algn="l"/>
            <a:r>
              <a:rPr sz="1100" b="0">
                <a:solidFill>
                  <a:srgbClr val="595959"/>
                </a:solidFill>
                <a:latin typeface="Aptos"/>
              </a:rPr>
              <a:t>2.3%</a:t>
            </a:r>
          </a:p>
        </p:txBody>
      </p:sp>
      <p:sp>
        <p:nvSpPr>
          <p:cNvPr id="63" name="Rounded Rectangle 62"/>
          <p:cNvSpPr/>
          <p:nvPr/>
        </p:nvSpPr>
        <p:spPr>
          <a:xfrm>
            <a:off x="4035838" y="4700000"/>
            <a:ext cx="185289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Cross-site scripting  </a:t>
            </a:r>
            <a:r>
              <a:rPr sz="1000">
                <a:solidFill>
                  <a:srgbClr val="595959"/>
                </a:solidFill>
                <a:latin typeface="Aptos"/>
              </a:rPr>
              <a:t>11%</a:t>
            </a:r>
          </a:p>
        </p:txBody>
      </p:sp>
      <p:sp>
        <p:nvSpPr>
          <p:cNvPr id="64" name="Chevron 63"/>
          <p:cNvSpPr/>
          <p:nvPr/>
        </p:nvSpPr>
        <p:spPr>
          <a:xfrm>
            <a:off x="3895344" y="477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019909" y="4694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66" name="Rounded Rectangle 65"/>
          <p:cNvSpPr/>
          <p:nvPr/>
        </p:nvSpPr>
        <p:spPr>
          <a:xfrm>
            <a:off x="5938200" y="4750000"/>
            <a:ext cx="990970"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998578" y="4694000"/>
            <a:ext cx="600000" cy="262000"/>
          </a:xfrm>
          <a:prstGeom prst="rect">
            <a:avLst/>
          </a:prstGeom>
          <a:noFill/>
        </p:spPr>
        <p:txBody>
          <a:bodyPr wrap="none" lIns="0" tIns="0" rIns="0" bIns="0" anchor="ctr"/>
          <a:lstStyle/>
          <a:p>
            <a:pPr algn="l"/>
            <a:r>
              <a:rPr sz="1100" b="0">
                <a:solidFill>
                  <a:srgbClr val="595959"/>
                </a:solidFill>
                <a:latin typeface="Aptos"/>
              </a:rPr>
              <a:t>2.2%</a:t>
            </a:r>
          </a:p>
        </p:txBody>
      </p:sp>
      <p:sp>
        <p:nvSpPr>
          <p:cNvPr id="68" name="Rounded Rectangle 67"/>
          <p:cNvSpPr/>
          <p:nvPr/>
        </p:nvSpPr>
        <p:spPr>
          <a:xfrm>
            <a:off x="3645593" y="4962000"/>
            <a:ext cx="2243141"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Permissions and privileges  </a:t>
            </a:r>
            <a:r>
              <a:rPr sz="1000">
                <a:solidFill>
                  <a:srgbClr val="595959"/>
                </a:solidFill>
                <a:latin typeface="Aptos"/>
              </a:rPr>
              <a:t>10%</a:t>
            </a:r>
          </a:p>
        </p:txBody>
      </p:sp>
      <p:sp>
        <p:nvSpPr>
          <p:cNvPr id="69" name="Chevron 68"/>
          <p:cNvSpPr/>
          <p:nvPr/>
        </p:nvSpPr>
        <p:spPr>
          <a:xfrm>
            <a:off x="3502761" y="503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627327" y="4956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71" name="Rounded Rectangle 70"/>
          <p:cNvSpPr/>
          <p:nvPr/>
        </p:nvSpPr>
        <p:spPr>
          <a:xfrm>
            <a:off x="5938200" y="5012000"/>
            <a:ext cx="960968"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68576" y="4956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73" name="Rounded Rectangle 72"/>
          <p:cNvSpPr/>
          <p:nvPr/>
        </p:nvSpPr>
        <p:spPr>
          <a:xfrm>
            <a:off x="4100878" y="5224000"/>
            <a:ext cx="178785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Heap buffer overflow  </a:t>
            </a:r>
            <a:r>
              <a:rPr sz="1000">
                <a:solidFill>
                  <a:srgbClr val="595959"/>
                </a:solidFill>
                <a:latin typeface="Aptos"/>
              </a:rPr>
              <a:t>9%</a:t>
            </a:r>
          </a:p>
        </p:txBody>
      </p:sp>
      <p:sp>
        <p:nvSpPr>
          <p:cNvPr id="74" name="Chevron 73"/>
          <p:cNvSpPr/>
          <p:nvPr/>
        </p:nvSpPr>
        <p:spPr>
          <a:xfrm>
            <a:off x="3961790" y="529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983028" y="5218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76" name="Rounded Rectangle 75"/>
          <p:cNvSpPr/>
          <p:nvPr/>
        </p:nvSpPr>
        <p:spPr>
          <a:xfrm>
            <a:off x="5938200" y="5274000"/>
            <a:ext cx="944419" cy="150000"/>
          </a:xfrm>
          <a:prstGeom prst="roundRect">
            <a:avLst>
              <a:gd name="adj" fmla="val 50000"/>
            </a:avLst>
          </a:prstGeom>
          <a:solidFill>
            <a:srgbClr val="F0B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952027" y="5218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78" name="Rounded Rectangle 77"/>
          <p:cNvSpPr/>
          <p:nvPr/>
        </p:nvSpPr>
        <p:spPr>
          <a:xfrm>
            <a:off x="4295999" y="5486000"/>
            <a:ext cx="1592736"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Command injection  </a:t>
            </a:r>
            <a:r>
              <a:rPr sz="1000">
                <a:solidFill>
                  <a:srgbClr val="595959"/>
                </a:solidFill>
                <a:latin typeface="Aptos"/>
              </a:rPr>
              <a:t>6%</a:t>
            </a:r>
          </a:p>
        </p:txBody>
      </p:sp>
      <p:sp>
        <p:nvSpPr>
          <p:cNvPr id="79" name="Chevron 78"/>
          <p:cNvSpPr/>
          <p:nvPr/>
        </p:nvSpPr>
        <p:spPr>
          <a:xfrm>
            <a:off x="4173321" y="555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677924" y="5480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81" name="Rounded Rectangle 80"/>
          <p:cNvSpPr/>
          <p:nvPr/>
        </p:nvSpPr>
        <p:spPr>
          <a:xfrm>
            <a:off x="5938200" y="5536000"/>
            <a:ext cx="944419" cy="150000"/>
          </a:xfrm>
          <a:prstGeom prst="roundRect">
            <a:avLst>
              <a:gd name="adj" fmla="val 50000"/>
            </a:avLst>
          </a:prstGeom>
          <a:solidFill>
            <a:srgbClr val="F0B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952027" y="5480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83" name="Rounded Rectangle 82"/>
          <p:cNvSpPr/>
          <p:nvPr/>
        </p:nvSpPr>
        <p:spPr>
          <a:xfrm>
            <a:off x="4556161" y="5748000"/>
            <a:ext cx="1332574"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SQL injection  </a:t>
            </a:r>
            <a:r>
              <a:rPr sz="1000">
                <a:solidFill>
                  <a:srgbClr val="595959"/>
                </a:solidFill>
                <a:latin typeface="Aptos"/>
              </a:rPr>
              <a:t>6%</a:t>
            </a:r>
          </a:p>
        </p:txBody>
      </p:sp>
      <p:sp>
        <p:nvSpPr>
          <p:cNvPr id="84" name="Chevron 83"/>
          <p:cNvSpPr/>
          <p:nvPr/>
        </p:nvSpPr>
        <p:spPr>
          <a:xfrm>
            <a:off x="4426915" y="581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931517" y="5742000"/>
            <a:ext cx="2376525" cy="262000"/>
          </a:xfrm>
          <a:prstGeom prst="rect">
            <a:avLst/>
          </a:prstGeom>
          <a:noFill/>
        </p:spPr>
        <p:txBody>
          <a:bodyPr wrap="none" lIns="0" tIns="0" rIns="0" bIns="0" anchor="ctr"/>
          <a:lstStyle/>
          <a:p>
            <a:pPr algn="r"/>
            <a:r>
              <a:rPr sz="1250" b="1" dirty="0">
                <a:solidFill>
                  <a:srgbClr val="1A1A1A"/>
                </a:solidFill>
                <a:latin typeface="Aptos"/>
              </a:rPr>
              <a:t>Interface and data  </a:t>
            </a:r>
            <a:r>
              <a:rPr sz="1250" b="0" dirty="0">
                <a:solidFill>
                  <a:srgbClr val="8C8C8C"/>
                </a:solidFill>
                <a:latin typeface="Aptos"/>
              </a:rPr>
              <a:t>34%</a:t>
            </a:r>
          </a:p>
        </p:txBody>
      </p:sp>
      <p:sp>
        <p:nvSpPr>
          <p:cNvPr id="86" name="Rounded Rectangle 85"/>
          <p:cNvSpPr/>
          <p:nvPr/>
        </p:nvSpPr>
        <p:spPr>
          <a:xfrm>
            <a:off x="5938200" y="5798000"/>
            <a:ext cx="944419" cy="150000"/>
          </a:xfrm>
          <a:prstGeom prst="roundRect">
            <a:avLst>
              <a:gd name="adj" fmla="val 50000"/>
            </a:avLst>
          </a:prstGeom>
          <a:solidFill>
            <a:srgbClr val="F1C4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952027" y="5742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88" name="Rounded Rectangle 87"/>
          <p:cNvSpPr/>
          <p:nvPr/>
        </p:nvSpPr>
        <p:spPr>
          <a:xfrm>
            <a:off x="3905755" y="6010000"/>
            <a:ext cx="1982979"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Sensitive info exposure  </a:t>
            </a:r>
            <a:r>
              <a:rPr sz="1000">
                <a:solidFill>
                  <a:srgbClr val="595959"/>
                </a:solidFill>
                <a:latin typeface="Aptos"/>
              </a:rPr>
              <a:t>8%</a:t>
            </a:r>
          </a:p>
        </p:txBody>
      </p:sp>
      <p:sp>
        <p:nvSpPr>
          <p:cNvPr id="89" name="Chevron 88"/>
          <p:cNvSpPr/>
          <p:nvPr/>
        </p:nvSpPr>
        <p:spPr>
          <a:xfrm>
            <a:off x="3786835" y="608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911400" y="6004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91" name="Rounded Rectangle 90"/>
          <p:cNvSpPr/>
          <p:nvPr/>
        </p:nvSpPr>
        <p:spPr>
          <a:xfrm>
            <a:off x="5938200" y="6060000"/>
            <a:ext cx="862132"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869740" y="6004000"/>
            <a:ext cx="600000" cy="262000"/>
          </a:xfrm>
          <a:prstGeom prst="rect">
            <a:avLst/>
          </a:prstGeom>
          <a:noFill/>
        </p:spPr>
        <p:txBody>
          <a:bodyPr wrap="none" lIns="0" tIns="0" rIns="0" bIns="0" anchor="ctr"/>
          <a:lstStyle/>
          <a:p>
            <a:pPr algn="l"/>
            <a:r>
              <a:rPr sz="1100" b="0">
                <a:solidFill>
                  <a:srgbClr val="595959"/>
                </a:solidFill>
                <a:latin typeface="Aptos"/>
              </a:rPr>
              <a:t>1.6%</a:t>
            </a:r>
          </a:p>
        </p:txBody>
      </p:sp>
      <p:sp>
        <p:nvSpPr>
          <p:cNvPr id="93" name="Rounded Rectangle 92"/>
          <p:cNvSpPr/>
          <p:nvPr/>
        </p:nvSpPr>
        <p:spPr>
          <a:xfrm>
            <a:off x="4230959" y="6272000"/>
            <a:ext cx="1657776"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Out-of-bounds read  </a:t>
            </a:r>
            <a:r>
              <a:rPr sz="1000">
                <a:solidFill>
                  <a:srgbClr val="595959"/>
                </a:solidFill>
                <a:latin typeface="Aptos"/>
              </a:rPr>
              <a:t>5%</a:t>
            </a:r>
          </a:p>
        </p:txBody>
      </p:sp>
      <p:sp>
        <p:nvSpPr>
          <p:cNvPr id="94" name="Chevron 93"/>
          <p:cNvSpPr/>
          <p:nvPr/>
        </p:nvSpPr>
        <p:spPr>
          <a:xfrm>
            <a:off x="4112971" y="634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134209" y="6266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96" name="Rounded Rectangle 95"/>
          <p:cNvSpPr/>
          <p:nvPr/>
        </p:nvSpPr>
        <p:spPr>
          <a:xfrm>
            <a:off x="5938200" y="6322000"/>
            <a:ext cx="710299"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717907" y="6266000"/>
            <a:ext cx="600000" cy="262000"/>
          </a:xfrm>
          <a:prstGeom prst="rect">
            <a:avLst/>
          </a:prstGeom>
          <a:noFill/>
        </p:spPr>
        <p:txBody>
          <a:bodyPr wrap="none" lIns="0" tIns="0" rIns="0" bIns="0" anchor="ctr"/>
          <a:lstStyle/>
          <a:p>
            <a:pPr algn="l"/>
            <a:r>
              <a:rPr sz="1100" b="0">
                <a:solidFill>
                  <a:srgbClr val="595959"/>
                </a:solidFill>
                <a:latin typeface="Aptos"/>
              </a:rPr>
              <a:t>1.1%</a:t>
            </a:r>
          </a:p>
        </p:txBody>
      </p:sp>
      <p:sp>
        <p:nvSpPr>
          <p:cNvPr id="102" name="TextBox 101">
            <a:extLst>
              <a:ext uri="{FF2B5EF4-FFF2-40B4-BE49-F238E27FC236}">
                <a16:creationId xmlns:a16="http://schemas.microsoft.com/office/drawing/2014/main" id="{6FF59CA6-C3A3-FABD-67D7-45CA5E961B22}"/>
              </a:ext>
            </a:extLst>
          </p:cNvPr>
          <p:cNvSpPr txBox="1"/>
          <p:nvPr/>
        </p:nvSpPr>
        <p:spPr>
          <a:xfrm>
            <a:off x="7939963" y="4443420"/>
            <a:ext cx="3079966"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lumMod val="65000"/>
                  </a:schemeClr>
                </a:solidFill>
              </a:rPr>
              <a:t>CVEs published 2016–2026.</a:t>
            </a:r>
          </a:p>
          <a:p>
            <a:pPr marL="285750" indent="-285750">
              <a:buFont typeface="Arial" panose="020B0604020202020204" pitchFamily="34" charset="0"/>
              <a:buChar char="•"/>
            </a:pPr>
            <a:r>
              <a:rPr lang="en-US" sz="1400" dirty="0">
                <a:solidFill>
                  <a:schemeClr val="bg1">
                    <a:lumMod val="65000"/>
                  </a:schemeClr>
                </a:solidFill>
              </a:rPr>
              <a:t>“Improper input validation” (CWE-20) is often a generic fallback classification, not the underlying defect.</a:t>
            </a:r>
          </a:p>
          <a:p>
            <a:pPr marL="285750" indent="-285750">
              <a:buFont typeface="Arial" panose="020B0604020202020204" pitchFamily="34" charset="0"/>
              <a:buChar char="•"/>
            </a:pPr>
            <a:r>
              <a:rPr lang="en-US" sz="1400" dirty="0">
                <a:solidFill>
                  <a:schemeClr val="bg1">
                    <a:lumMod val="65000"/>
                  </a:schemeClr>
                </a:solidFill>
              </a:rPr>
              <a:t>Share of the CISA KEV catalog  ~1,500 CVEs with confirmed exploitation in the wild.</a:t>
            </a:r>
          </a:p>
          <a:p>
            <a:pPr marL="285750" indent="-285750">
              <a:buFont typeface="Arial" panose="020B0604020202020204" pitchFamily="34" charset="0"/>
              <a:buChar char="•"/>
            </a:pPr>
            <a:r>
              <a:rPr lang="en-US" sz="1400" dirty="0">
                <a:solidFill>
                  <a:schemeClr val="bg1">
                    <a:lumMod val="65000"/>
                  </a:schemeClr>
                </a:solidFill>
              </a:rPr>
              <a:t>Authentication and authorization beyond language safety.</a:t>
            </a:r>
          </a:p>
        </p:txBody>
      </p:sp>
    </p:spTree>
    <p:extLst>
      <p:ext uri="{BB962C8B-B14F-4D97-AF65-F5344CB8AC3E}">
        <p14:creationId xmlns:p14="http://schemas.microsoft.com/office/powerpoint/2010/main" val="4058820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The most exploited defects</a:t>
            </a:r>
          </a:p>
        </p:txBody>
      </p:sp>
      <p:sp>
        <p:nvSpPr>
          <p:cNvPr id="3" name="Rounded Rectangle 2"/>
          <p:cNvSpPr/>
          <p:nvPr/>
        </p:nvSpPr>
        <p:spPr>
          <a:xfrm>
            <a:off x="3710635" y="1556000"/>
            <a:ext cx="21781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input validation  </a:t>
            </a:r>
            <a:r>
              <a:rPr sz="1000">
                <a:solidFill>
                  <a:srgbClr val="595959">
                    <a:alpha val="25000"/>
                  </a:srgbClr>
                </a:solidFill>
                <a:latin typeface="Aptos"/>
              </a:rPr>
              <a:t>23%</a:t>
            </a:r>
          </a:p>
        </p:txBody>
      </p:sp>
      <p:sp>
        <p:nvSpPr>
          <p:cNvPr id="4" name="Chevron 3"/>
          <p:cNvSpPr/>
          <p:nvPr/>
        </p:nvSpPr>
        <p:spPr>
          <a:xfrm>
            <a:off x="3550920" y="162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5522" y="1550000"/>
            <a:ext cx="2376525" cy="262000"/>
          </a:xfrm>
          <a:prstGeom prst="rect">
            <a:avLst/>
          </a:prstGeom>
          <a:noFill/>
        </p:spPr>
        <p:txBody>
          <a:bodyPr wrap="none" lIns="0" tIns="0" rIns="0" bIns="0" anchor="ctr"/>
          <a:lstStyle/>
          <a:p>
            <a:pPr algn="r"/>
            <a:r>
              <a:rPr sz="1250" b="1">
                <a:solidFill>
                  <a:srgbClr val="1A1A1A">
                    <a:alpha val="25000"/>
                  </a:srgbClr>
                </a:solidFill>
                <a:latin typeface="Aptos"/>
              </a:rPr>
              <a:t>Interface and data  </a:t>
            </a:r>
            <a:r>
              <a:rPr sz="1250" b="0">
                <a:solidFill>
                  <a:srgbClr val="8C8C8C">
                    <a:alpha val="25000"/>
                  </a:srgbClr>
                </a:solidFill>
                <a:latin typeface="Aptos"/>
              </a:rPr>
              <a:t>34%</a:t>
            </a:r>
          </a:p>
        </p:txBody>
      </p:sp>
      <p:sp>
        <p:nvSpPr>
          <p:cNvPr id="6" name="Rounded Rectangle 5"/>
          <p:cNvSpPr/>
          <p:nvPr/>
        </p:nvSpPr>
        <p:spPr>
          <a:xfrm>
            <a:off x="5938200" y="1606000"/>
            <a:ext cx="1874474" cy="150000"/>
          </a:xfrm>
          <a:prstGeom prst="roundRect">
            <a:avLst>
              <a:gd name="adj" fmla="val 50000"/>
            </a:avLst>
          </a:prstGeom>
          <a:solidFill>
            <a:srgbClr val="8A140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82082" y="1550000"/>
            <a:ext cx="600000" cy="262000"/>
          </a:xfrm>
          <a:prstGeom prst="rect">
            <a:avLst/>
          </a:prstGeom>
          <a:noFill/>
        </p:spPr>
        <p:txBody>
          <a:bodyPr wrap="none" lIns="0" tIns="0" rIns="0" bIns="0" anchor="ctr"/>
          <a:lstStyle/>
          <a:p>
            <a:pPr algn="l"/>
            <a:r>
              <a:rPr sz="1100" b="0">
                <a:solidFill>
                  <a:srgbClr val="595959">
                    <a:alpha val="25000"/>
                  </a:srgbClr>
                </a:solidFill>
                <a:latin typeface="Aptos"/>
              </a:rPr>
              <a:t>7.8%</a:t>
            </a:r>
          </a:p>
        </p:txBody>
      </p:sp>
      <p:sp>
        <p:nvSpPr>
          <p:cNvPr id="8" name="Rounded Rectangle 7"/>
          <p:cNvSpPr/>
          <p:nvPr/>
        </p:nvSpPr>
        <p:spPr>
          <a:xfrm>
            <a:off x="4035838" y="1818000"/>
            <a:ext cx="1852897"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OS command injection  </a:t>
            </a:r>
            <a:r>
              <a:rPr sz="1000">
                <a:solidFill>
                  <a:srgbClr val="595959">
                    <a:alpha val="25000"/>
                  </a:srgbClr>
                </a:solidFill>
                <a:latin typeface="Aptos"/>
              </a:rPr>
              <a:t>21%</a:t>
            </a:r>
          </a:p>
        </p:txBody>
      </p:sp>
      <p:sp>
        <p:nvSpPr>
          <p:cNvPr id="9" name="Chevron 8"/>
          <p:cNvSpPr/>
          <p:nvPr/>
        </p:nvSpPr>
        <p:spPr>
          <a:xfrm>
            <a:off x="3889248" y="188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93850" y="1812000"/>
            <a:ext cx="2376525" cy="262000"/>
          </a:xfrm>
          <a:prstGeom prst="rect">
            <a:avLst/>
          </a:prstGeom>
          <a:noFill/>
        </p:spPr>
        <p:txBody>
          <a:bodyPr wrap="none" lIns="0" tIns="0" rIns="0" bIns="0" anchor="ctr"/>
          <a:lstStyle/>
          <a:p>
            <a:pPr algn="r"/>
            <a:r>
              <a:rPr sz="1250" b="1">
                <a:solidFill>
                  <a:srgbClr val="1A1A1A">
                    <a:alpha val="25000"/>
                  </a:srgbClr>
                </a:solidFill>
                <a:latin typeface="Aptos"/>
              </a:rPr>
              <a:t>Interface and data  </a:t>
            </a:r>
            <a:r>
              <a:rPr sz="1250" b="0">
                <a:solidFill>
                  <a:srgbClr val="8C8C8C">
                    <a:alpha val="25000"/>
                  </a:srgbClr>
                </a:solidFill>
                <a:latin typeface="Aptos"/>
              </a:rPr>
              <a:t>34%</a:t>
            </a:r>
          </a:p>
        </p:txBody>
      </p:sp>
      <p:sp>
        <p:nvSpPr>
          <p:cNvPr id="11" name="Rounded Rectangle 10"/>
          <p:cNvSpPr/>
          <p:nvPr/>
        </p:nvSpPr>
        <p:spPr>
          <a:xfrm>
            <a:off x="5938200" y="1868000"/>
            <a:ext cx="1793417" cy="150000"/>
          </a:xfrm>
          <a:prstGeom prst="roundRect">
            <a:avLst>
              <a:gd name="adj" fmla="val 50000"/>
            </a:avLst>
          </a:prstGeom>
          <a:solidFill>
            <a:srgbClr val="D05A4B">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01025" y="1812000"/>
            <a:ext cx="600000" cy="262000"/>
          </a:xfrm>
          <a:prstGeom prst="rect">
            <a:avLst/>
          </a:prstGeom>
          <a:noFill/>
        </p:spPr>
        <p:txBody>
          <a:bodyPr wrap="none" lIns="0" tIns="0" rIns="0" bIns="0" anchor="ctr"/>
          <a:lstStyle/>
          <a:p>
            <a:pPr algn="l"/>
            <a:r>
              <a:rPr sz="1100" b="0">
                <a:solidFill>
                  <a:srgbClr val="595959">
                    <a:alpha val="25000"/>
                  </a:srgbClr>
                </a:solidFill>
                <a:latin typeface="Aptos"/>
              </a:rPr>
              <a:t>7.1%</a:t>
            </a:r>
          </a:p>
        </p:txBody>
      </p:sp>
      <p:sp>
        <p:nvSpPr>
          <p:cNvPr id="13" name="Rounded Rectangle 12"/>
          <p:cNvSpPr/>
          <p:nvPr/>
        </p:nvSpPr>
        <p:spPr>
          <a:xfrm>
            <a:off x="4100878" y="2080000"/>
            <a:ext cx="178785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Out-of-bounds write  </a:t>
            </a:r>
            <a:r>
              <a:rPr sz="1000">
                <a:solidFill>
                  <a:srgbClr val="595959"/>
                </a:solidFill>
                <a:latin typeface="Aptos"/>
              </a:rPr>
              <a:t>31%</a:t>
            </a:r>
          </a:p>
        </p:txBody>
      </p:sp>
      <p:sp>
        <p:nvSpPr>
          <p:cNvPr id="14" name="Chevron 13"/>
          <p:cNvSpPr/>
          <p:nvPr/>
        </p:nvSpPr>
        <p:spPr>
          <a:xfrm>
            <a:off x="3961790" y="215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83028" y="2074000"/>
            <a:ext cx="1859889" cy="262000"/>
          </a:xfrm>
          <a:prstGeom prst="rect">
            <a:avLst/>
          </a:prstGeom>
          <a:noFill/>
        </p:spPr>
        <p:txBody>
          <a:bodyPr wrap="none" lIns="0" tIns="0" rIns="0" bIns="0" anchor="ctr"/>
          <a:lstStyle/>
          <a:p>
            <a:pPr algn="r"/>
            <a:r>
              <a:rPr sz="1250" b="1" dirty="0">
                <a:solidFill>
                  <a:srgbClr val="1A1A1A"/>
                </a:solidFill>
                <a:latin typeface="Aptos"/>
              </a:rPr>
              <a:t>Memory safety  </a:t>
            </a:r>
            <a:r>
              <a:rPr sz="1250" b="0" dirty="0">
                <a:solidFill>
                  <a:srgbClr val="8C8C8C"/>
                </a:solidFill>
                <a:latin typeface="Aptos"/>
              </a:rPr>
              <a:t>22%</a:t>
            </a:r>
          </a:p>
        </p:txBody>
      </p:sp>
      <p:sp>
        <p:nvSpPr>
          <p:cNvPr id="16" name="Rounded Rectangle 15"/>
          <p:cNvSpPr/>
          <p:nvPr/>
        </p:nvSpPr>
        <p:spPr>
          <a:xfrm>
            <a:off x="5938200" y="2130000"/>
            <a:ext cx="1734684" cy="150000"/>
          </a:xfrm>
          <a:prstGeom prst="roundRect">
            <a:avLst>
              <a:gd name="adj" fmla="val 50000"/>
            </a:avLst>
          </a:prstGeom>
          <a:solidFill>
            <a:srgbClr val="D462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42292" y="2074000"/>
            <a:ext cx="600000" cy="262000"/>
          </a:xfrm>
          <a:prstGeom prst="rect">
            <a:avLst/>
          </a:prstGeom>
          <a:noFill/>
        </p:spPr>
        <p:txBody>
          <a:bodyPr wrap="none" lIns="0" tIns="0" rIns="0" bIns="0" anchor="ctr"/>
          <a:lstStyle/>
          <a:p>
            <a:pPr algn="l"/>
            <a:r>
              <a:rPr sz="1100" b="0">
                <a:solidFill>
                  <a:srgbClr val="595959"/>
                </a:solidFill>
                <a:latin typeface="Aptos"/>
              </a:rPr>
              <a:t>6.7%</a:t>
            </a:r>
          </a:p>
        </p:txBody>
      </p:sp>
      <p:sp>
        <p:nvSpPr>
          <p:cNvPr id="18" name="Rounded Rectangle 17"/>
          <p:cNvSpPr/>
          <p:nvPr/>
        </p:nvSpPr>
        <p:spPr>
          <a:xfrm>
            <a:off x="4426080" y="2342000"/>
            <a:ext cx="146265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Use after free  </a:t>
            </a:r>
            <a:r>
              <a:rPr sz="1000">
                <a:solidFill>
                  <a:srgbClr val="595959"/>
                </a:solidFill>
                <a:latin typeface="Aptos"/>
              </a:rPr>
              <a:t>28%</a:t>
            </a:r>
          </a:p>
        </p:txBody>
      </p:sp>
      <p:sp>
        <p:nvSpPr>
          <p:cNvPr id="19" name="Chevron 18"/>
          <p:cNvSpPr/>
          <p:nvPr/>
        </p:nvSpPr>
        <p:spPr>
          <a:xfrm>
            <a:off x="4269638" y="241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90876" y="2336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21" name="Rounded Rectangle 20"/>
          <p:cNvSpPr/>
          <p:nvPr/>
        </p:nvSpPr>
        <p:spPr>
          <a:xfrm>
            <a:off x="5938200" y="2392000"/>
            <a:ext cx="1664446" cy="150000"/>
          </a:xfrm>
          <a:prstGeom prst="roundRect">
            <a:avLst>
              <a:gd name="adj" fmla="val 50000"/>
            </a:avLst>
          </a:prstGeom>
          <a:solidFill>
            <a:srgbClr val="DE77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72054" y="2336000"/>
            <a:ext cx="600000" cy="262000"/>
          </a:xfrm>
          <a:prstGeom prst="rect">
            <a:avLst/>
          </a:prstGeom>
          <a:noFill/>
        </p:spPr>
        <p:txBody>
          <a:bodyPr wrap="none" lIns="0" tIns="0" rIns="0" bIns="0" anchor="ctr"/>
          <a:lstStyle/>
          <a:p>
            <a:pPr algn="l"/>
            <a:r>
              <a:rPr sz="1100" b="0">
                <a:solidFill>
                  <a:srgbClr val="595959"/>
                </a:solidFill>
                <a:latin typeface="Aptos"/>
              </a:rPr>
              <a:t>6.2%</a:t>
            </a:r>
          </a:p>
        </p:txBody>
      </p:sp>
      <p:sp>
        <p:nvSpPr>
          <p:cNvPr id="23" name="Rounded Rectangle 22"/>
          <p:cNvSpPr/>
          <p:nvPr/>
        </p:nvSpPr>
        <p:spPr>
          <a:xfrm>
            <a:off x="3840715" y="2604000"/>
            <a:ext cx="2048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Buffer operation errors  </a:t>
            </a:r>
            <a:r>
              <a:rPr sz="1000">
                <a:solidFill>
                  <a:srgbClr val="595959"/>
                </a:solidFill>
                <a:latin typeface="Aptos"/>
              </a:rPr>
              <a:t>26%</a:t>
            </a:r>
          </a:p>
        </p:txBody>
      </p:sp>
      <p:sp>
        <p:nvSpPr>
          <p:cNvPr id="24" name="Chevron 23"/>
          <p:cNvSpPr/>
          <p:nvPr/>
        </p:nvSpPr>
        <p:spPr>
          <a:xfrm>
            <a:off x="3708196" y="267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29435" y="2598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26" name="Rounded Rectangle 25"/>
          <p:cNvSpPr/>
          <p:nvPr/>
        </p:nvSpPr>
        <p:spPr>
          <a:xfrm>
            <a:off x="5938200" y="2654000"/>
            <a:ext cx="1591110" cy="150000"/>
          </a:xfrm>
          <a:prstGeom prst="roundRect">
            <a:avLst>
              <a:gd name="adj" fmla="val 50000"/>
            </a:avLst>
          </a:prstGeom>
          <a:solidFill>
            <a:srgbClr val="E389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98718" y="2598000"/>
            <a:ext cx="600000" cy="262000"/>
          </a:xfrm>
          <a:prstGeom prst="rect">
            <a:avLst/>
          </a:prstGeom>
          <a:noFill/>
        </p:spPr>
        <p:txBody>
          <a:bodyPr wrap="none" lIns="0" tIns="0" rIns="0" bIns="0" anchor="ctr"/>
          <a:lstStyle/>
          <a:p>
            <a:pPr algn="l"/>
            <a:r>
              <a:rPr sz="1100" b="0">
                <a:solidFill>
                  <a:srgbClr val="595959"/>
                </a:solidFill>
                <a:latin typeface="Aptos"/>
              </a:rPr>
              <a:t>5.6%</a:t>
            </a:r>
          </a:p>
        </p:txBody>
      </p:sp>
      <p:sp>
        <p:nvSpPr>
          <p:cNvPr id="28" name="Rounded Rectangle 27"/>
          <p:cNvSpPr/>
          <p:nvPr/>
        </p:nvSpPr>
        <p:spPr>
          <a:xfrm>
            <a:off x="4426080" y="2866000"/>
            <a:ext cx="1462655"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Path traversal  </a:t>
            </a:r>
            <a:r>
              <a:rPr sz="1000">
                <a:solidFill>
                  <a:srgbClr val="595959">
                    <a:alpha val="25000"/>
                  </a:srgbClr>
                </a:solidFill>
                <a:latin typeface="Aptos"/>
              </a:rPr>
              <a:t>15%</a:t>
            </a:r>
          </a:p>
        </p:txBody>
      </p:sp>
      <p:sp>
        <p:nvSpPr>
          <p:cNvPr id="29" name="Chevron 28"/>
          <p:cNvSpPr/>
          <p:nvPr/>
        </p:nvSpPr>
        <p:spPr>
          <a:xfrm>
            <a:off x="4287926" y="293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92528" y="2860000"/>
            <a:ext cx="2376525" cy="262000"/>
          </a:xfrm>
          <a:prstGeom prst="rect">
            <a:avLst/>
          </a:prstGeom>
          <a:noFill/>
        </p:spPr>
        <p:txBody>
          <a:bodyPr wrap="none" lIns="0" tIns="0" rIns="0" bIns="0" anchor="ctr"/>
          <a:lstStyle/>
          <a:p>
            <a:pPr algn="r"/>
            <a:r>
              <a:rPr sz="1250" b="1">
                <a:solidFill>
                  <a:srgbClr val="1A1A1A">
                    <a:alpha val="25000"/>
                  </a:srgbClr>
                </a:solidFill>
                <a:latin typeface="Aptos"/>
              </a:rPr>
              <a:t>Interface and data  </a:t>
            </a:r>
            <a:r>
              <a:rPr sz="1250" b="0">
                <a:solidFill>
                  <a:srgbClr val="8C8C8C">
                    <a:alpha val="25000"/>
                  </a:srgbClr>
                </a:solidFill>
                <a:latin typeface="Aptos"/>
              </a:rPr>
              <a:t>34%</a:t>
            </a:r>
          </a:p>
        </p:txBody>
      </p:sp>
      <p:sp>
        <p:nvSpPr>
          <p:cNvPr id="31" name="Rounded Rectangle 30"/>
          <p:cNvSpPr/>
          <p:nvPr/>
        </p:nvSpPr>
        <p:spPr>
          <a:xfrm>
            <a:off x="5938200" y="2916000"/>
            <a:ext cx="1524604" cy="150000"/>
          </a:xfrm>
          <a:prstGeom prst="roundRect">
            <a:avLst>
              <a:gd name="adj" fmla="val 50000"/>
            </a:avLst>
          </a:prstGeom>
          <a:solidFill>
            <a:srgbClr val="E38A7D">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32212" y="2860000"/>
            <a:ext cx="600000" cy="262000"/>
          </a:xfrm>
          <a:prstGeom prst="rect">
            <a:avLst/>
          </a:prstGeom>
          <a:noFill/>
        </p:spPr>
        <p:txBody>
          <a:bodyPr wrap="none" lIns="0" tIns="0" rIns="0" bIns="0" anchor="ctr"/>
          <a:lstStyle/>
          <a:p>
            <a:pPr algn="l"/>
            <a:r>
              <a:rPr sz="1100" b="0">
                <a:solidFill>
                  <a:srgbClr val="595959">
                    <a:alpha val="25000"/>
                  </a:srgbClr>
                </a:solidFill>
                <a:latin typeface="Aptos"/>
              </a:rPr>
              <a:t>5.2%</a:t>
            </a:r>
          </a:p>
        </p:txBody>
      </p:sp>
      <p:sp>
        <p:nvSpPr>
          <p:cNvPr id="33" name="Rounded Rectangle 32"/>
          <p:cNvSpPr/>
          <p:nvPr/>
        </p:nvSpPr>
        <p:spPr>
          <a:xfrm>
            <a:off x="3905755" y="3128000"/>
            <a:ext cx="1982979"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Unsafe deserialization  </a:t>
            </a:r>
            <a:r>
              <a:rPr sz="1000">
                <a:solidFill>
                  <a:srgbClr val="595959">
                    <a:alpha val="25000"/>
                  </a:srgbClr>
                </a:solidFill>
                <a:latin typeface="Aptos"/>
              </a:rPr>
              <a:t>14%</a:t>
            </a:r>
          </a:p>
        </p:txBody>
      </p:sp>
      <p:sp>
        <p:nvSpPr>
          <p:cNvPr id="34" name="Chevron 33"/>
          <p:cNvSpPr/>
          <p:nvPr/>
        </p:nvSpPr>
        <p:spPr>
          <a:xfrm>
            <a:off x="3786835" y="319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91437" y="3122000"/>
            <a:ext cx="2376525" cy="262000"/>
          </a:xfrm>
          <a:prstGeom prst="rect">
            <a:avLst/>
          </a:prstGeom>
          <a:noFill/>
        </p:spPr>
        <p:txBody>
          <a:bodyPr wrap="none" lIns="0" tIns="0" rIns="0" bIns="0" anchor="ctr"/>
          <a:lstStyle/>
          <a:p>
            <a:pPr algn="r"/>
            <a:r>
              <a:rPr sz="1250" b="1">
                <a:solidFill>
                  <a:srgbClr val="1A1A1A">
                    <a:alpha val="25000"/>
                  </a:srgbClr>
                </a:solidFill>
                <a:latin typeface="Aptos"/>
              </a:rPr>
              <a:t>Interface and data  </a:t>
            </a:r>
            <a:r>
              <a:rPr sz="1250" b="0">
                <a:solidFill>
                  <a:srgbClr val="8C8C8C">
                    <a:alpha val="25000"/>
                  </a:srgbClr>
                </a:solidFill>
                <a:latin typeface="Aptos"/>
              </a:rPr>
              <a:t>34%</a:t>
            </a:r>
          </a:p>
        </p:txBody>
      </p:sp>
      <p:sp>
        <p:nvSpPr>
          <p:cNvPr id="36" name="Rounded Rectangle 35"/>
          <p:cNvSpPr/>
          <p:nvPr/>
        </p:nvSpPr>
        <p:spPr>
          <a:xfrm>
            <a:off x="5938200" y="3178000"/>
            <a:ext cx="1455061" cy="150000"/>
          </a:xfrm>
          <a:prstGeom prst="roundRect">
            <a:avLst>
              <a:gd name="adj" fmla="val 50000"/>
            </a:avLst>
          </a:prstGeom>
          <a:solidFill>
            <a:srgbClr val="E48C7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62669" y="3122000"/>
            <a:ext cx="600000" cy="262000"/>
          </a:xfrm>
          <a:prstGeom prst="rect">
            <a:avLst/>
          </a:prstGeom>
          <a:noFill/>
        </p:spPr>
        <p:txBody>
          <a:bodyPr wrap="none" lIns="0" tIns="0" rIns="0" bIns="0" anchor="ctr"/>
          <a:lstStyle/>
          <a:p>
            <a:pPr algn="l"/>
            <a:r>
              <a:rPr sz="1100" b="0">
                <a:solidFill>
                  <a:srgbClr val="595959">
                    <a:alpha val="25000"/>
                  </a:srgbClr>
                </a:solidFill>
                <a:latin typeface="Aptos"/>
              </a:rPr>
              <a:t>4.7%</a:t>
            </a:r>
          </a:p>
        </p:txBody>
      </p:sp>
      <p:sp>
        <p:nvSpPr>
          <p:cNvPr id="38" name="Rounded Rectangle 37"/>
          <p:cNvSpPr/>
          <p:nvPr/>
        </p:nvSpPr>
        <p:spPr>
          <a:xfrm>
            <a:off x="4426080" y="3390000"/>
            <a:ext cx="1462655"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Code injection  </a:t>
            </a:r>
            <a:r>
              <a:rPr sz="1000">
                <a:solidFill>
                  <a:srgbClr val="595959">
                    <a:alpha val="25000"/>
                  </a:srgbClr>
                </a:solidFill>
                <a:latin typeface="Aptos"/>
              </a:rPr>
              <a:t>13%</a:t>
            </a:r>
          </a:p>
        </p:txBody>
      </p:sp>
      <p:sp>
        <p:nvSpPr>
          <p:cNvPr id="39" name="Chevron 38"/>
          <p:cNvSpPr/>
          <p:nvPr/>
        </p:nvSpPr>
        <p:spPr>
          <a:xfrm>
            <a:off x="4306214" y="346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10816" y="3384000"/>
            <a:ext cx="2376525" cy="262000"/>
          </a:xfrm>
          <a:prstGeom prst="rect">
            <a:avLst/>
          </a:prstGeom>
          <a:noFill/>
        </p:spPr>
        <p:txBody>
          <a:bodyPr wrap="none" lIns="0" tIns="0" rIns="0" bIns="0" anchor="ctr"/>
          <a:lstStyle/>
          <a:p>
            <a:pPr algn="r"/>
            <a:r>
              <a:rPr sz="1250" b="1">
                <a:solidFill>
                  <a:srgbClr val="1A1A1A">
                    <a:alpha val="25000"/>
                  </a:srgbClr>
                </a:solidFill>
                <a:latin typeface="Aptos"/>
              </a:rPr>
              <a:t>Interface and data  </a:t>
            </a:r>
            <a:r>
              <a:rPr sz="1250" b="0">
                <a:solidFill>
                  <a:srgbClr val="8C8C8C">
                    <a:alpha val="25000"/>
                  </a:srgbClr>
                </a:solidFill>
                <a:latin typeface="Aptos"/>
              </a:rPr>
              <a:t>34%</a:t>
            </a:r>
          </a:p>
        </p:txBody>
      </p:sp>
      <p:sp>
        <p:nvSpPr>
          <p:cNvPr id="41" name="Rounded Rectangle 40"/>
          <p:cNvSpPr/>
          <p:nvPr/>
        </p:nvSpPr>
        <p:spPr>
          <a:xfrm>
            <a:off x="5938200" y="3440000"/>
            <a:ext cx="1444184" cy="150000"/>
          </a:xfrm>
          <a:prstGeom prst="roundRect">
            <a:avLst>
              <a:gd name="adj" fmla="val 50000"/>
            </a:avLst>
          </a:prstGeom>
          <a:solidFill>
            <a:srgbClr val="E7988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51792" y="3384000"/>
            <a:ext cx="600000" cy="262000"/>
          </a:xfrm>
          <a:prstGeom prst="rect">
            <a:avLst/>
          </a:prstGeom>
          <a:noFill/>
        </p:spPr>
        <p:txBody>
          <a:bodyPr wrap="none" lIns="0" tIns="0" rIns="0" bIns="0" anchor="ctr"/>
          <a:lstStyle/>
          <a:p>
            <a:pPr algn="l"/>
            <a:r>
              <a:rPr sz="1100" b="0">
                <a:solidFill>
                  <a:srgbClr val="595959">
                    <a:alpha val="25000"/>
                  </a:srgbClr>
                </a:solidFill>
                <a:latin typeface="Aptos"/>
              </a:rPr>
              <a:t>4.6%</a:t>
            </a:r>
          </a:p>
        </p:txBody>
      </p:sp>
      <p:sp>
        <p:nvSpPr>
          <p:cNvPr id="43" name="Rounded Rectangle 42"/>
          <p:cNvSpPr/>
          <p:nvPr/>
        </p:nvSpPr>
        <p:spPr>
          <a:xfrm>
            <a:off x="3840715" y="3652000"/>
            <a:ext cx="204802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authentication  </a:t>
            </a:r>
            <a:r>
              <a:rPr sz="1000">
                <a:solidFill>
                  <a:srgbClr val="595959">
                    <a:alpha val="25000"/>
                  </a:srgbClr>
                </a:solidFill>
                <a:latin typeface="Aptos"/>
              </a:rPr>
              <a:t>14%</a:t>
            </a:r>
          </a:p>
        </p:txBody>
      </p:sp>
      <p:sp>
        <p:nvSpPr>
          <p:cNvPr id="44" name="Chevron 43"/>
          <p:cNvSpPr/>
          <p:nvPr/>
        </p:nvSpPr>
        <p:spPr>
          <a:xfrm>
            <a:off x="3708196" y="372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832762" y="3646000"/>
            <a:ext cx="1756562" cy="262000"/>
          </a:xfrm>
          <a:prstGeom prst="rect">
            <a:avLst/>
          </a:prstGeom>
          <a:noFill/>
        </p:spPr>
        <p:txBody>
          <a:bodyPr wrap="none" lIns="0" tIns="0" rIns="0" bIns="0" anchor="ctr"/>
          <a:lstStyle/>
          <a:p>
            <a:pPr algn="r"/>
            <a:r>
              <a:rPr sz="1250" b="1">
                <a:solidFill>
                  <a:srgbClr val="1A1A1A">
                    <a:alpha val="25000"/>
                  </a:srgbClr>
                </a:solidFill>
                <a:latin typeface="Aptos"/>
              </a:rPr>
              <a:t>App security  </a:t>
            </a:r>
            <a:r>
              <a:rPr sz="1250" b="0">
                <a:solidFill>
                  <a:srgbClr val="8C8C8C">
                    <a:alpha val="25000"/>
                  </a:srgbClr>
                </a:solidFill>
                <a:latin typeface="Aptos"/>
              </a:rPr>
              <a:t>20%</a:t>
            </a:r>
          </a:p>
        </p:txBody>
      </p:sp>
      <p:sp>
        <p:nvSpPr>
          <p:cNvPr id="46" name="Rounded Rectangle 45"/>
          <p:cNvSpPr/>
          <p:nvPr/>
        </p:nvSpPr>
        <p:spPr>
          <a:xfrm>
            <a:off x="5938200" y="3702000"/>
            <a:ext cx="1131075" cy="150000"/>
          </a:xfrm>
          <a:prstGeom prst="roundRect">
            <a:avLst>
              <a:gd name="adj" fmla="val 50000"/>
            </a:avLst>
          </a:prstGeom>
          <a:solidFill>
            <a:srgbClr val="E7988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8683" y="3646000"/>
            <a:ext cx="600000" cy="262000"/>
          </a:xfrm>
          <a:prstGeom prst="rect">
            <a:avLst/>
          </a:prstGeom>
          <a:noFill/>
        </p:spPr>
        <p:txBody>
          <a:bodyPr wrap="none" lIns="0" tIns="0" rIns="0" bIns="0" anchor="ctr"/>
          <a:lstStyle/>
          <a:p>
            <a:pPr algn="l"/>
            <a:r>
              <a:rPr sz="1100" b="0">
                <a:solidFill>
                  <a:srgbClr val="595959">
                    <a:alpha val="25000"/>
                  </a:srgbClr>
                </a:solidFill>
                <a:latin typeface="Aptos"/>
              </a:rPr>
              <a:t>2.8%</a:t>
            </a:r>
          </a:p>
        </p:txBody>
      </p:sp>
      <p:sp>
        <p:nvSpPr>
          <p:cNvPr id="48" name="Rounded Rectangle 47"/>
          <p:cNvSpPr/>
          <p:nvPr/>
        </p:nvSpPr>
        <p:spPr>
          <a:xfrm>
            <a:off x="3905755" y="3914000"/>
            <a:ext cx="1982979"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Missing authentication  </a:t>
            </a:r>
            <a:r>
              <a:rPr sz="1000">
                <a:solidFill>
                  <a:srgbClr val="595959">
                    <a:alpha val="25000"/>
                  </a:srgbClr>
                </a:solidFill>
                <a:latin typeface="Aptos"/>
              </a:rPr>
              <a:t>13%</a:t>
            </a:r>
          </a:p>
        </p:txBody>
      </p:sp>
      <p:sp>
        <p:nvSpPr>
          <p:cNvPr id="49" name="Chevron 48"/>
          <p:cNvSpPr/>
          <p:nvPr/>
        </p:nvSpPr>
        <p:spPr>
          <a:xfrm>
            <a:off x="3786835" y="398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911400" y="3908000"/>
            <a:ext cx="1756562" cy="262000"/>
          </a:xfrm>
          <a:prstGeom prst="rect">
            <a:avLst/>
          </a:prstGeom>
          <a:noFill/>
        </p:spPr>
        <p:txBody>
          <a:bodyPr wrap="none" lIns="0" tIns="0" rIns="0" bIns="0" anchor="ctr"/>
          <a:lstStyle/>
          <a:p>
            <a:pPr algn="r"/>
            <a:r>
              <a:rPr sz="1250" b="1">
                <a:solidFill>
                  <a:srgbClr val="1A1A1A">
                    <a:alpha val="25000"/>
                  </a:srgbClr>
                </a:solidFill>
                <a:latin typeface="Aptos"/>
              </a:rPr>
              <a:t>App security  </a:t>
            </a:r>
            <a:r>
              <a:rPr sz="1250" b="0">
                <a:solidFill>
                  <a:srgbClr val="8C8C8C">
                    <a:alpha val="25000"/>
                  </a:srgbClr>
                </a:solidFill>
                <a:latin typeface="Aptos"/>
              </a:rPr>
              <a:t>20%</a:t>
            </a:r>
          </a:p>
        </p:txBody>
      </p:sp>
      <p:sp>
        <p:nvSpPr>
          <p:cNvPr id="51" name="Rounded Rectangle 50"/>
          <p:cNvSpPr/>
          <p:nvPr/>
        </p:nvSpPr>
        <p:spPr>
          <a:xfrm>
            <a:off x="5938200" y="3964000"/>
            <a:ext cx="1092584" cy="150000"/>
          </a:xfrm>
          <a:prstGeom prst="roundRect">
            <a:avLst>
              <a:gd name="adj" fmla="val 50000"/>
            </a:avLst>
          </a:prstGeom>
          <a:solidFill>
            <a:srgbClr val="E9A095">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100192" y="3908000"/>
            <a:ext cx="600000" cy="262000"/>
          </a:xfrm>
          <a:prstGeom prst="rect">
            <a:avLst/>
          </a:prstGeom>
          <a:noFill/>
        </p:spPr>
        <p:txBody>
          <a:bodyPr wrap="none" lIns="0" tIns="0" rIns="0" bIns="0" anchor="ctr"/>
          <a:lstStyle/>
          <a:p>
            <a:pPr algn="l"/>
            <a:r>
              <a:rPr sz="1100" b="0">
                <a:solidFill>
                  <a:srgbClr val="595959">
                    <a:alpha val="25000"/>
                  </a:srgbClr>
                </a:solidFill>
                <a:latin typeface="Aptos"/>
              </a:rPr>
              <a:t>2.6%</a:t>
            </a:r>
          </a:p>
        </p:txBody>
      </p:sp>
      <p:sp>
        <p:nvSpPr>
          <p:cNvPr id="53" name="Rounded Rectangle 52"/>
          <p:cNvSpPr/>
          <p:nvPr/>
        </p:nvSpPr>
        <p:spPr>
          <a:xfrm>
            <a:off x="4426080" y="4176000"/>
            <a:ext cx="1462655"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Type confusion  </a:t>
            </a:r>
            <a:r>
              <a:rPr sz="1000">
                <a:solidFill>
                  <a:srgbClr val="595959">
                    <a:alpha val="25000"/>
                  </a:srgbClr>
                </a:solidFill>
                <a:latin typeface="Aptos"/>
              </a:rPr>
              <a:t>70%</a:t>
            </a:r>
          </a:p>
        </p:txBody>
      </p:sp>
      <p:sp>
        <p:nvSpPr>
          <p:cNvPr id="54" name="Chevron 53"/>
          <p:cNvSpPr/>
          <p:nvPr/>
        </p:nvSpPr>
        <p:spPr>
          <a:xfrm>
            <a:off x="4306214" y="424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327452" y="4170000"/>
            <a:ext cx="1859889" cy="262000"/>
          </a:xfrm>
          <a:prstGeom prst="rect">
            <a:avLst/>
          </a:prstGeom>
          <a:noFill/>
        </p:spPr>
        <p:txBody>
          <a:bodyPr wrap="none" lIns="0" tIns="0" rIns="0" bIns="0" anchor="ctr"/>
          <a:lstStyle/>
          <a:p>
            <a:pPr algn="r"/>
            <a:r>
              <a:rPr sz="1250" b="1">
                <a:solidFill>
                  <a:srgbClr val="1A1A1A">
                    <a:alpha val="25000"/>
                  </a:srgbClr>
                </a:solidFill>
                <a:latin typeface="Aptos"/>
              </a:rPr>
              <a:t>Type and value  </a:t>
            </a:r>
            <a:r>
              <a:rPr sz="1250" b="0">
                <a:solidFill>
                  <a:srgbClr val="8C8C8C">
                    <a:alpha val="25000"/>
                  </a:srgbClr>
                </a:solidFill>
                <a:latin typeface="Aptos"/>
              </a:rPr>
              <a:t>4%</a:t>
            </a:r>
          </a:p>
        </p:txBody>
      </p:sp>
      <p:sp>
        <p:nvSpPr>
          <p:cNvPr id="56" name="Rounded Rectangle 55"/>
          <p:cNvSpPr/>
          <p:nvPr/>
        </p:nvSpPr>
        <p:spPr>
          <a:xfrm>
            <a:off x="5938200" y="4226000"/>
            <a:ext cx="1050546"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58154" y="4170000"/>
            <a:ext cx="600000" cy="262000"/>
          </a:xfrm>
          <a:prstGeom prst="rect">
            <a:avLst/>
          </a:prstGeom>
          <a:noFill/>
        </p:spPr>
        <p:txBody>
          <a:bodyPr wrap="none" lIns="0" tIns="0" rIns="0" bIns="0" anchor="ctr"/>
          <a:lstStyle/>
          <a:p>
            <a:pPr algn="l"/>
            <a:r>
              <a:rPr sz="1100" b="0">
                <a:solidFill>
                  <a:srgbClr val="595959">
                    <a:alpha val="25000"/>
                  </a:srgbClr>
                </a:solidFill>
                <a:latin typeface="Aptos"/>
              </a:rPr>
              <a:t>2.5%</a:t>
            </a:r>
          </a:p>
        </p:txBody>
      </p:sp>
      <p:sp>
        <p:nvSpPr>
          <p:cNvPr id="58" name="Rounded Rectangle 57"/>
          <p:cNvSpPr/>
          <p:nvPr/>
        </p:nvSpPr>
        <p:spPr>
          <a:xfrm>
            <a:off x="3840715" y="4438000"/>
            <a:ext cx="204802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access control  </a:t>
            </a:r>
            <a:r>
              <a:rPr sz="1000">
                <a:solidFill>
                  <a:srgbClr val="595959">
                    <a:alpha val="25000"/>
                  </a:srgbClr>
                </a:solidFill>
                <a:latin typeface="Aptos"/>
              </a:rPr>
              <a:t>12%</a:t>
            </a:r>
          </a:p>
        </p:txBody>
      </p:sp>
      <p:sp>
        <p:nvSpPr>
          <p:cNvPr id="59" name="Chevron 58"/>
          <p:cNvSpPr/>
          <p:nvPr/>
        </p:nvSpPr>
        <p:spPr>
          <a:xfrm>
            <a:off x="3708196" y="450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832762" y="4432000"/>
            <a:ext cx="1756562" cy="262000"/>
          </a:xfrm>
          <a:prstGeom prst="rect">
            <a:avLst/>
          </a:prstGeom>
          <a:noFill/>
        </p:spPr>
        <p:txBody>
          <a:bodyPr wrap="none" lIns="0" tIns="0" rIns="0" bIns="0" anchor="ctr"/>
          <a:lstStyle/>
          <a:p>
            <a:pPr algn="r"/>
            <a:r>
              <a:rPr sz="1250" b="1">
                <a:solidFill>
                  <a:srgbClr val="1A1A1A">
                    <a:alpha val="25000"/>
                  </a:srgbClr>
                </a:solidFill>
                <a:latin typeface="Aptos"/>
              </a:rPr>
              <a:t>App security  </a:t>
            </a:r>
            <a:r>
              <a:rPr sz="1250" b="0">
                <a:solidFill>
                  <a:srgbClr val="8C8C8C">
                    <a:alpha val="25000"/>
                  </a:srgbClr>
                </a:solidFill>
                <a:latin typeface="Aptos"/>
              </a:rPr>
              <a:t>20%</a:t>
            </a:r>
          </a:p>
        </p:txBody>
      </p:sp>
      <p:sp>
        <p:nvSpPr>
          <p:cNvPr id="61" name="Rounded Rectangle 60"/>
          <p:cNvSpPr/>
          <p:nvPr/>
        </p:nvSpPr>
        <p:spPr>
          <a:xfrm>
            <a:off x="5938200" y="4488000"/>
            <a:ext cx="1020089"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027697" y="4432000"/>
            <a:ext cx="600000" cy="262000"/>
          </a:xfrm>
          <a:prstGeom prst="rect">
            <a:avLst/>
          </a:prstGeom>
          <a:noFill/>
        </p:spPr>
        <p:txBody>
          <a:bodyPr wrap="none" lIns="0" tIns="0" rIns="0" bIns="0" anchor="ctr"/>
          <a:lstStyle/>
          <a:p>
            <a:pPr algn="l"/>
            <a:r>
              <a:rPr sz="1100" b="0">
                <a:solidFill>
                  <a:srgbClr val="595959">
                    <a:alpha val="25000"/>
                  </a:srgbClr>
                </a:solidFill>
                <a:latin typeface="Aptos"/>
              </a:rPr>
              <a:t>2.3%</a:t>
            </a:r>
          </a:p>
        </p:txBody>
      </p:sp>
      <p:sp>
        <p:nvSpPr>
          <p:cNvPr id="63" name="Rounded Rectangle 62"/>
          <p:cNvSpPr/>
          <p:nvPr/>
        </p:nvSpPr>
        <p:spPr>
          <a:xfrm>
            <a:off x="4035838" y="4700000"/>
            <a:ext cx="1852897"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Cross-site scripting  </a:t>
            </a:r>
            <a:r>
              <a:rPr sz="1000">
                <a:solidFill>
                  <a:srgbClr val="595959">
                    <a:alpha val="25000"/>
                  </a:srgbClr>
                </a:solidFill>
                <a:latin typeface="Aptos"/>
              </a:rPr>
              <a:t>11%</a:t>
            </a:r>
          </a:p>
        </p:txBody>
      </p:sp>
      <p:sp>
        <p:nvSpPr>
          <p:cNvPr id="64" name="Chevron 63"/>
          <p:cNvSpPr/>
          <p:nvPr/>
        </p:nvSpPr>
        <p:spPr>
          <a:xfrm>
            <a:off x="3895344" y="477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019909" y="4694000"/>
            <a:ext cx="1756562" cy="262000"/>
          </a:xfrm>
          <a:prstGeom prst="rect">
            <a:avLst/>
          </a:prstGeom>
          <a:noFill/>
        </p:spPr>
        <p:txBody>
          <a:bodyPr wrap="none" lIns="0" tIns="0" rIns="0" bIns="0" anchor="ctr"/>
          <a:lstStyle/>
          <a:p>
            <a:pPr algn="r"/>
            <a:r>
              <a:rPr sz="1250" b="1">
                <a:solidFill>
                  <a:srgbClr val="1A1A1A">
                    <a:alpha val="25000"/>
                  </a:srgbClr>
                </a:solidFill>
                <a:latin typeface="Aptos"/>
              </a:rPr>
              <a:t>App security  </a:t>
            </a:r>
            <a:r>
              <a:rPr sz="1250" b="0">
                <a:solidFill>
                  <a:srgbClr val="8C8C8C">
                    <a:alpha val="25000"/>
                  </a:srgbClr>
                </a:solidFill>
                <a:latin typeface="Aptos"/>
              </a:rPr>
              <a:t>20%</a:t>
            </a:r>
          </a:p>
        </p:txBody>
      </p:sp>
      <p:sp>
        <p:nvSpPr>
          <p:cNvPr id="66" name="Rounded Rectangle 65"/>
          <p:cNvSpPr/>
          <p:nvPr/>
        </p:nvSpPr>
        <p:spPr>
          <a:xfrm>
            <a:off x="5938200" y="4750000"/>
            <a:ext cx="990970"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998578" y="4694000"/>
            <a:ext cx="600000" cy="262000"/>
          </a:xfrm>
          <a:prstGeom prst="rect">
            <a:avLst/>
          </a:prstGeom>
          <a:noFill/>
        </p:spPr>
        <p:txBody>
          <a:bodyPr wrap="none" lIns="0" tIns="0" rIns="0" bIns="0" anchor="ctr"/>
          <a:lstStyle/>
          <a:p>
            <a:pPr algn="l"/>
            <a:r>
              <a:rPr sz="1100" b="0">
                <a:solidFill>
                  <a:srgbClr val="595959">
                    <a:alpha val="25000"/>
                  </a:srgbClr>
                </a:solidFill>
                <a:latin typeface="Aptos"/>
              </a:rPr>
              <a:t>2.2%</a:t>
            </a:r>
          </a:p>
        </p:txBody>
      </p:sp>
      <p:sp>
        <p:nvSpPr>
          <p:cNvPr id="68" name="Rounded Rectangle 67"/>
          <p:cNvSpPr/>
          <p:nvPr/>
        </p:nvSpPr>
        <p:spPr>
          <a:xfrm>
            <a:off x="3645593" y="4962000"/>
            <a:ext cx="2243141"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Permissions and privileges  </a:t>
            </a:r>
            <a:r>
              <a:rPr sz="1000">
                <a:solidFill>
                  <a:srgbClr val="595959">
                    <a:alpha val="25000"/>
                  </a:srgbClr>
                </a:solidFill>
                <a:latin typeface="Aptos"/>
              </a:rPr>
              <a:t>10%</a:t>
            </a:r>
          </a:p>
        </p:txBody>
      </p:sp>
      <p:sp>
        <p:nvSpPr>
          <p:cNvPr id="69" name="Chevron 68"/>
          <p:cNvSpPr/>
          <p:nvPr/>
        </p:nvSpPr>
        <p:spPr>
          <a:xfrm>
            <a:off x="3502761" y="503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627327" y="4956000"/>
            <a:ext cx="1756562" cy="262000"/>
          </a:xfrm>
          <a:prstGeom prst="rect">
            <a:avLst/>
          </a:prstGeom>
          <a:noFill/>
        </p:spPr>
        <p:txBody>
          <a:bodyPr wrap="none" lIns="0" tIns="0" rIns="0" bIns="0" anchor="ctr"/>
          <a:lstStyle/>
          <a:p>
            <a:pPr algn="r"/>
            <a:r>
              <a:rPr sz="1250" b="1">
                <a:solidFill>
                  <a:srgbClr val="1A1A1A">
                    <a:alpha val="25000"/>
                  </a:srgbClr>
                </a:solidFill>
                <a:latin typeface="Aptos"/>
              </a:rPr>
              <a:t>App security  </a:t>
            </a:r>
            <a:r>
              <a:rPr sz="1250" b="0">
                <a:solidFill>
                  <a:srgbClr val="8C8C8C">
                    <a:alpha val="25000"/>
                  </a:srgbClr>
                </a:solidFill>
                <a:latin typeface="Aptos"/>
              </a:rPr>
              <a:t>20%</a:t>
            </a:r>
          </a:p>
        </p:txBody>
      </p:sp>
      <p:sp>
        <p:nvSpPr>
          <p:cNvPr id="71" name="Rounded Rectangle 70"/>
          <p:cNvSpPr/>
          <p:nvPr/>
        </p:nvSpPr>
        <p:spPr>
          <a:xfrm>
            <a:off x="5938200" y="5012000"/>
            <a:ext cx="960968"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68576" y="4956000"/>
            <a:ext cx="600000" cy="262000"/>
          </a:xfrm>
          <a:prstGeom prst="rect">
            <a:avLst/>
          </a:prstGeom>
          <a:noFill/>
        </p:spPr>
        <p:txBody>
          <a:bodyPr wrap="none" lIns="0" tIns="0" rIns="0" bIns="0" anchor="ctr"/>
          <a:lstStyle/>
          <a:p>
            <a:pPr algn="l"/>
            <a:r>
              <a:rPr sz="1100" b="0">
                <a:solidFill>
                  <a:srgbClr val="595959">
                    <a:alpha val="25000"/>
                  </a:srgbClr>
                </a:solidFill>
                <a:latin typeface="Aptos"/>
              </a:rPr>
              <a:t>2.0%</a:t>
            </a:r>
          </a:p>
        </p:txBody>
      </p:sp>
      <p:sp>
        <p:nvSpPr>
          <p:cNvPr id="73" name="Rounded Rectangle 72"/>
          <p:cNvSpPr/>
          <p:nvPr/>
        </p:nvSpPr>
        <p:spPr>
          <a:xfrm>
            <a:off x="4100878" y="5224000"/>
            <a:ext cx="178785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Heap buffer overflow  </a:t>
            </a:r>
            <a:r>
              <a:rPr sz="1000">
                <a:solidFill>
                  <a:srgbClr val="595959"/>
                </a:solidFill>
                <a:latin typeface="Aptos"/>
              </a:rPr>
              <a:t>9%</a:t>
            </a:r>
          </a:p>
        </p:txBody>
      </p:sp>
      <p:sp>
        <p:nvSpPr>
          <p:cNvPr id="74" name="Chevron 73"/>
          <p:cNvSpPr/>
          <p:nvPr/>
        </p:nvSpPr>
        <p:spPr>
          <a:xfrm>
            <a:off x="3961790" y="529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983028" y="5218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76" name="Rounded Rectangle 75"/>
          <p:cNvSpPr/>
          <p:nvPr/>
        </p:nvSpPr>
        <p:spPr>
          <a:xfrm>
            <a:off x="5938200" y="5274000"/>
            <a:ext cx="944419" cy="150000"/>
          </a:xfrm>
          <a:prstGeom prst="roundRect">
            <a:avLst>
              <a:gd name="adj" fmla="val 50000"/>
            </a:avLst>
          </a:prstGeom>
          <a:solidFill>
            <a:srgbClr val="F0B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952027" y="5218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78" name="Rounded Rectangle 77"/>
          <p:cNvSpPr/>
          <p:nvPr/>
        </p:nvSpPr>
        <p:spPr>
          <a:xfrm>
            <a:off x="4295999" y="5486000"/>
            <a:ext cx="1592736"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Command injection  </a:t>
            </a:r>
            <a:r>
              <a:rPr sz="1000">
                <a:solidFill>
                  <a:srgbClr val="595959">
                    <a:alpha val="25000"/>
                  </a:srgbClr>
                </a:solidFill>
                <a:latin typeface="Aptos"/>
              </a:rPr>
              <a:t>6%</a:t>
            </a:r>
          </a:p>
        </p:txBody>
      </p:sp>
      <p:sp>
        <p:nvSpPr>
          <p:cNvPr id="79" name="Chevron 78"/>
          <p:cNvSpPr/>
          <p:nvPr/>
        </p:nvSpPr>
        <p:spPr>
          <a:xfrm>
            <a:off x="4173321" y="555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677924" y="5480000"/>
            <a:ext cx="2376525" cy="262000"/>
          </a:xfrm>
          <a:prstGeom prst="rect">
            <a:avLst/>
          </a:prstGeom>
          <a:noFill/>
        </p:spPr>
        <p:txBody>
          <a:bodyPr wrap="none" lIns="0" tIns="0" rIns="0" bIns="0" anchor="ctr"/>
          <a:lstStyle/>
          <a:p>
            <a:pPr algn="r"/>
            <a:r>
              <a:rPr sz="1250" b="1">
                <a:solidFill>
                  <a:srgbClr val="1A1A1A">
                    <a:alpha val="25000"/>
                  </a:srgbClr>
                </a:solidFill>
                <a:latin typeface="Aptos"/>
              </a:rPr>
              <a:t>Interface and data  </a:t>
            </a:r>
            <a:r>
              <a:rPr sz="1250" b="0">
                <a:solidFill>
                  <a:srgbClr val="8C8C8C">
                    <a:alpha val="25000"/>
                  </a:srgbClr>
                </a:solidFill>
                <a:latin typeface="Aptos"/>
              </a:rPr>
              <a:t>34%</a:t>
            </a:r>
          </a:p>
        </p:txBody>
      </p:sp>
      <p:sp>
        <p:nvSpPr>
          <p:cNvPr id="81" name="Rounded Rectangle 80"/>
          <p:cNvSpPr/>
          <p:nvPr/>
        </p:nvSpPr>
        <p:spPr>
          <a:xfrm>
            <a:off x="5938200" y="5536000"/>
            <a:ext cx="944419" cy="150000"/>
          </a:xfrm>
          <a:prstGeom prst="roundRect">
            <a:avLst>
              <a:gd name="adj" fmla="val 50000"/>
            </a:avLst>
          </a:prstGeom>
          <a:solidFill>
            <a:srgbClr val="F0BFB7">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952027" y="5480000"/>
            <a:ext cx="600000" cy="262000"/>
          </a:xfrm>
          <a:prstGeom prst="rect">
            <a:avLst/>
          </a:prstGeom>
          <a:noFill/>
        </p:spPr>
        <p:txBody>
          <a:bodyPr wrap="none" lIns="0" tIns="0" rIns="0" bIns="0" anchor="ctr"/>
          <a:lstStyle/>
          <a:p>
            <a:pPr algn="l"/>
            <a:r>
              <a:rPr sz="1100" b="0">
                <a:solidFill>
                  <a:srgbClr val="595959">
                    <a:alpha val="25000"/>
                  </a:srgbClr>
                </a:solidFill>
                <a:latin typeface="Aptos"/>
              </a:rPr>
              <a:t>2.0%</a:t>
            </a:r>
          </a:p>
        </p:txBody>
      </p:sp>
      <p:sp>
        <p:nvSpPr>
          <p:cNvPr id="83" name="Rounded Rectangle 82"/>
          <p:cNvSpPr/>
          <p:nvPr/>
        </p:nvSpPr>
        <p:spPr>
          <a:xfrm>
            <a:off x="4556161" y="5748000"/>
            <a:ext cx="1332574"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SQL injection  </a:t>
            </a:r>
            <a:r>
              <a:rPr sz="1000">
                <a:solidFill>
                  <a:srgbClr val="595959">
                    <a:alpha val="25000"/>
                  </a:srgbClr>
                </a:solidFill>
                <a:latin typeface="Aptos"/>
              </a:rPr>
              <a:t>6%</a:t>
            </a:r>
          </a:p>
        </p:txBody>
      </p:sp>
      <p:sp>
        <p:nvSpPr>
          <p:cNvPr id="84" name="Chevron 83"/>
          <p:cNvSpPr/>
          <p:nvPr/>
        </p:nvSpPr>
        <p:spPr>
          <a:xfrm>
            <a:off x="4426915" y="5818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931517" y="5742000"/>
            <a:ext cx="2376525" cy="262000"/>
          </a:xfrm>
          <a:prstGeom prst="rect">
            <a:avLst/>
          </a:prstGeom>
          <a:noFill/>
        </p:spPr>
        <p:txBody>
          <a:bodyPr wrap="none" lIns="0" tIns="0" rIns="0" bIns="0" anchor="ctr"/>
          <a:lstStyle/>
          <a:p>
            <a:pPr algn="r"/>
            <a:r>
              <a:rPr sz="1250" b="1" dirty="0">
                <a:solidFill>
                  <a:srgbClr val="1A1A1A">
                    <a:alpha val="25000"/>
                  </a:srgbClr>
                </a:solidFill>
                <a:latin typeface="Aptos"/>
              </a:rPr>
              <a:t>Interface and data  </a:t>
            </a:r>
            <a:r>
              <a:rPr sz="1250" b="0" dirty="0">
                <a:solidFill>
                  <a:srgbClr val="8C8C8C">
                    <a:alpha val="25000"/>
                  </a:srgbClr>
                </a:solidFill>
                <a:latin typeface="Aptos"/>
              </a:rPr>
              <a:t>34%</a:t>
            </a:r>
          </a:p>
        </p:txBody>
      </p:sp>
      <p:sp>
        <p:nvSpPr>
          <p:cNvPr id="86" name="Rounded Rectangle 85"/>
          <p:cNvSpPr/>
          <p:nvPr/>
        </p:nvSpPr>
        <p:spPr>
          <a:xfrm>
            <a:off x="5938200" y="5798000"/>
            <a:ext cx="944419" cy="150000"/>
          </a:xfrm>
          <a:prstGeom prst="roundRect">
            <a:avLst>
              <a:gd name="adj" fmla="val 50000"/>
            </a:avLst>
          </a:prstGeom>
          <a:solidFill>
            <a:srgbClr val="F1C4B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952027" y="5742000"/>
            <a:ext cx="600000" cy="262000"/>
          </a:xfrm>
          <a:prstGeom prst="rect">
            <a:avLst/>
          </a:prstGeom>
          <a:noFill/>
        </p:spPr>
        <p:txBody>
          <a:bodyPr wrap="none" lIns="0" tIns="0" rIns="0" bIns="0" anchor="ctr"/>
          <a:lstStyle/>
          <a:p>
            <a:pPr algn="l"/>
            <a:r>
              <a:rPr sz="1100" b="0">
                <a:solidFill>
                  <a:srgbClr val="595959">
                    <a:alpha val="25000"/>
                  </a:srgbClr>
                </a:solidFill>
                <a:latin typeface="Aptos"/>
              </a:rPr>
              <a:t>2.0%</a:t>
            </a:r>
          </a:p>
        </p:txBody>
      </p:sp>
      <p:sp>
        <p:nvSpPr>
          <p:cNvPr id="88" name="Rounded Rectangle 87"/>
          <p:cNvSpPr/>
          <p:nvPr/>
        </p:nvSpPr>
        <p:spPr>
          <a:xfrm>
            <a:off x="3905755" y="6010000"/>
            <a:ext cx="1982979"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Sensitive info exposure  </a:t>
            </a:r>
            <a:r>
              <a:rPr sz="1000">
                <a:solidFill>
                  <a:srgbClr val="595959">
                    <a:alpha val="25000"/>
                  </a:srgbClr>
                </a:solidFill>
                <a:latin typeface="Aptos"/>
              </a:rPr>
              <a:t>8%</a:t>
            </a:r>
          </a:p>
        </p:txBody>
      </p:sp>
      <p:sp>
        <p:nvSpPr>
          <p:cNvPr id="89" name="Chevron 88"/>
          <p:cNvSpPr/>
          <p:nvPr/>
        </p:nvSpPr>
        <p:spPr>
          <a:xfrm>
            <a:off x="3786835" y="608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911400" y="6004000"/>
            <a:ext cx="1756562" cy="262000"/>
          </a:xfrm>
          <a:prstGeom prst="rect">
            <a:avLst/>
          </a:prstGeom>
          <a:noFill/>
        </p:spPr>
        <p:txBody>
          <a:bodyPr wrap="none" lIns="0" tIns="0" rIns="0" bIns="0" anchor="ctr"/>
          <a:lstStyle/>
          <a:p>
            <a:pPr algn="r"/>
            <a:r>
              <a:rPr sz="1250" b="1">
                <a:solidFill>
                  <a:srgbClr val="1A1A1A">
                    <a:alpha val="25000"/>
                  </a:srgbClr>
                </a:solidFill>
                <a:latin typeface="Aptos"/>
              </a:rPr>
              <a:t>App security  </a:t>
            </a:r>
            <a:r>
              <a:rPr sz="1250" b="0">
                <a:solidFill>
                  <a:srgbClr val="8C8C8C">
                    <a:alpha val="25000"/>
                  </a:srgbClr>
                </a:solidFill>
                <a:latin typeface="Aptos"/>
              </a:rPr>
              <a:t>20%</a:t>
            </a:r>
          </a:p>
        </p:txBody>
      </p:sp>
      <p:sp>
        <p:nvSpPr>
          <p:cNvPr id="91" name="Rounded Rectangle 90"/>
          <p:cNvSpPr/>
          <p:nvPr/>
        </p:nvSpPr>
        <p:spPr>
          <a:xfrm>
            <a:off x="5938200" y="6060000"/>
            <a:ext cx="862132" cy="150000"/>
          </a:xfrm>
          <a:prstGeom prst="roundRect">
            <a:avLst>
              <a:gd name="adj" fmla="val 50000"/>
            </a:avLst>
          </a:prstGeom>
          <a:solidFill>
            <a:srgbClr val="F3C9C2">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869740" y="6004000"/>
            <a:ext cx="600000" cy="262000"/>
          </a:xfrm>
          <a:prstGeom prst="rect">
            <a:avLst/>
          </a:prstGeom>
          <a:noFill/>
        </p:spPr>
        <p:txBody>
          <a:bodyPr wrap="none" lIns="0" tIns="0" rIns="0" bIns="0" anchor="ctr"/>
          <a:lstStyle/>
          <a:p>
            <a:pPr algn="l"/>
            <a:r>
              <a:rPr sz="1100" b="0">
                <a:solidFill>
                  <a:srgbClr val="595959">
                    <a:alpha val="25000"/>
                  </a:srgbClr>
                </a:solidFill>
                <a:latin typeface="Aptos"/>
              </a:rPr>
              <a:t>1.6%</a:t>
            </a:r>
          </a:p>
        </p:txBody>
      </p:sp>
      <p:sp>
        <p:nvSpPr>
          <p:cNvPr id="93" name="Rounded Rectangle 92"/>
          <p:cNvSpPr/>
          <p:nvPr/>
        </p:nvSpPr>
        <p:spPr>
          <a:xfrm>
            <a:off x="4230959" y="6272000"/>
            <a:ext cx="1657776"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Out-of-bounds read  </a:t>
            </a:r>
            <a:r>
              <a:rPr sz="1000">
                <a:solidFill>
                  <a:srgbClr val="595959"/>
                </a:solidFill>
                <a:latin typeface="Aptos"/>
              </a:rPr>
              <a:t>5%</a:t>
            </a:r>
          </a:p>
        </p:txBody>
      </p:sp>
      <p:sp>
        <p:nvSpPr>
          <p:cNvPr id="94" name="Chevron 93"/>
          <p:cNvSpPr/>
          <p:nvPr/>
        </p:nvSpPr>
        <p:spPr>
          <a:xfrm>
            <a:off x="4112971" y="634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134209" y="6266000"/>
            <a:ext cx="1859889" cy="262000"/>
          </a:xfrm>
          <a:prstGeom prst="rect">
            <a:avLst/>
          </a:prstGeom>
          <a:noFill/>
        </p:spPr>
        <p:txBody>
          <a:bodyPr wrap="none" lIns="0" tIns="0" rIns="0" bIns="0" anchor="ctr"/>
          <a:lstStyle/>
          <a:p>
            <a:pPr algn="r"/>
            <a:r>
              <a:rPr sz="1250" b="1">
                <a:solidFill>
                  <a:srgbClr val="1A1A1A"/>
                </a:solidFill>
                <a:latin typeface="Aptos"/>
              </a:rPr>
              <a:t>Memory safety  </a:t>
            </a:r>
            <a:r>
              <a:rPr sz="1250" b="0">
                <a:solidFill>
                  <a:srgbClr val="8C8C8C"/>
                </a:solidFill>
                <a:latin typeface="Aptos"/>
              </a:rPr>
              <a:t>22%</a:t>
            </a:r>
          </a:p>
        </p:txBody>
      </p:sp>
      <p:sp>
        <p:nvSpPr>
          <p:cNvPr id="96" name="Rounded Rectangle 95"/>
          <p:cNvSpPr/>
          <p:nvPr/>
        </p:nvSpPr>
        <p:spPr>
          <a:xfrm>
            <a:off x="5938200" y="6322000"/>
            <a:ext cx="710299"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717907" y="6266000"/>
            <a:ext cx="600000" cy="262000"/>
          </a:xfrm>
          <a:prstGeom prst="rect">
            <a:avLst/>
          </a:prstGeom>
          <a:noFill/>
        </p:spPr>
        <p:txBody>
          <a:bodyPr wrap="none" lIns="0" tIns="0" rIns="0" bIns="0" anchor="ctr"/>
          <a:lstStyle/>
          <a:p>
            <a:pPr algn="l"/>
            <a:r>
              <a:rPr sz="1100" b="0">
                <a:solidFill>
                  <a:srgbClr val="595959"/>
                </a:solidFill>
                <a:latin typeface="Aptos"/>
              </a:rPr>
              <a:t>1.1%</a:t>
            </a:r>
          </a:p>
        </p:txBody>
      </p:sp>
      <p:sp>
        <p:nvSpPr>
          <p:cNvPr id="102" name="TextBox 101">
            <a:extLst>
              <a:ext uri="{FF2B5EF4-FFF2-40B4-BE49-F238E27FC236}">
                <a16:creationId xmlns:a16="http://schemas.microsoft.com/office/drawing/2014/main" id="{6FF59CA6-C3A3-FABD-67D7-45CA5E961B22}"/>
              </a:ext>
            </a:extLst>
          </p:cNvPr>
          <p:cNvSpPr txBox="1"/>
          <p:nvPr/>
        </p:nvSpPr>
        <p:spPr>
          <a:xfrm>
            <a:off x="7939963" y="4443420"/>
            <a:ext cx="3079966"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lumMod val="65000"/>
                  </a:schemeClr>
                </a:solidFill>
              </a:rPr>
              <a:t>CVEs published 2016–2026.</a:t>
            </a:r>
          </a:p>
          <a:p>
            <a:pPr marL="285750" indent="-285750">
              <a:buFont typeface="Arial" panose="020B0604020202020204" pitchFamily="34" charset="0"/>
              <a:buChar char="•"/>
            </a:pPr>
            <a:r>
              <a:rPr lang="en-US" sz="1400" dirty="0">
                <a:solidFill>
                  <a:schemeClr val="bg1">
                    <a:lumMod val="65000"/>
                  </a:schemeClr>
                </a:solidFill>
              </a:rPr>
              <a:t>“Improper input validation” (CWE-20) is often a generic fallback classification, not the underlying defect.</a:t>
            </a:r>
          </a:p>
          <a:p>
            <a:pPr marL="285750" indent="-285750">
              <a:buFont typeface="Arial" panose="020B0604020202020204" pitchFamily="34" charset="0"/>
              <a:buChar char="•"/>
            </a:pPr>
            <a:r>
              <a:rPr lang="en-US" sz="1400" dirty="0">
                <a:solidFill>
                  <a:schemeClr val="bg1">
                    <a:lumMod val="65000"/>
                  </a:schemeClr>
                </a:solidFill>
              </a:rPr>
              <a:t>Share of the CISA KEV catalog  ~1,500 CVEs with confirmed exploitation in the wild.</a:t>
            </a:r>
          </a:p>
          <a:p>
            <a:pPr marL="285750" indent="-285750">
              <a:buFont typeface="Arial" panose="020B0604020202020204" pitchFamily="34" charset="0"/>
              <a:buChar char="•"/>
            </a:pPr>
            <a:r>
              <a:rPr lang="en-US" sz="1400" dirty="0">
                <a:solidFill>
                  <a:schemeClr val="bg1">
                    <a:lumMod val="65000"/>
                  </a:schemeClr>
                </a:solidFill>
              </a:rPr>
              <a:t>Authentication and authorization beyond language safety.</a:t>
            </a:r>
          </a:p>
        </p:txBody>
      </p:sp>
    </p:spTree>
    <p:extLst>
      <p:ext uri="{BB962C8B-B14F-4D97-AF65-F5344CB8AC3E}">
        <p14:creationId xmlns:p14="http://schemas.microsoft.com/office/powerpoint/2010/main" val="1272373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The most exploited defects</a:t>
            </a:r>
          </a:p>
        </p:txBody>
      </p:sp>
      <p:sp>
        <p:nvSpPr>
          <p:cNvPr id="3" name="Rounded Rectangle 2"/>
          <p:cNvSpPr/>
          <p:nvPr/>
        </p:nvSpPr>
        <p:spPr>
          <a:xfrm>
            <a:off x="3710635" y="1556000"/>
            <a:ext cx="217810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Improper input validation  </a:t>
            </a:r>
            <a:r>
              <a:rPr sz="1000">
                <a:solidFill>
                  <a:srgbClr val="595959">
                    <a:alpha val="25000"/>
                  </a:srgbClr>
                </a:solidFill>
                <a:latin typeface="Aptos"/>
              </a:rPr>
              <a:t>23%</a:t>
            </a:r>
          </a:p>
        </p:txBody>
      </p:sp>
      <p:sp>
        <p:nvSpPr>
          <p:cNvPr id="4" name="Chevron 3"/>
          <p:cNvSpPr/>
          <p:nvPr/>
        </p:nvSpPr>
        <p:spPr>
          <a:xfrm>
            <a:off x="3550920" y="162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5522" y="1550000"/>
            <a:ext cx="2376525" cy="262000"/>
          </a:xfrm>
          <a:prstGeom prst="rect">
            <a:avLst/>
          </a:prstGeom>
          <a:noFill/>
        </p:spPr>
        <p:txBody>
          <a:bodyPr wrap="none" lIns="0" tIns="0" rIns="0" bIns="0" anchor="ctr"/>
          <a:lstStyle/>
          <a:p>
            <a:pPr algn="r"/>
            <a:r>
              <a:rPr sz="1250" b="1">
                <a:solidFill>
                  <a:srgbClr val="1A1A1A">
                    <a:alpha val="25000"/>
                  </a:srgbClr>
                </a:solidFill>
                <a:latin typeface="Aptos"/>
              </a:rPr>
              <a:t>Interface and data  </a:t>
            </a:r>
            <a:r>
              <a:rPr sz="1250" b="0">
                <a:solidFill>
                  <a:srgbClr val="8C8C8C">
                    <a:alpha val="25000"/>
                  </a:srgbClr>
                </a:solidFill>
                <a:latin typeface="Aptos"/>
              </a:rPr>
              <a:t>34%</a:t>
            </a:r>
          </a:p>
        </p:txBody>
      </p:sp>
      <p:sp>
        <p:nvSpPr>
          <p:cNvPr id="6" name="Rounded Rectangle 5"/>
          <p:cNvSpPr/>
          <p:nvPr/>
        </p:nvSpPr>
        <p:spPr>
          <a:xfrm>
            <a:off x="5938200" y="1606000"/>
            <a:ext cx="1874474" cy="150000"/>
          </a:xfrm>
          <a:prstGeom prst="roundRect">
            <a:avLst>
              <a:gd name="adj" fmla="val 50000"/>
            </a:avLst>
          </a:prstGeom>
          <a:solidFill>
            <a:srgbClr val="8A140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82082" y="1550000"/>
            <a:ext cx="600000" cy="262000"/>
          </a:xfrm>
          <a:prstGeom prst="rect">
            <a:avLst/>
          </a:prstGeom>
          <a:noFill/>
        </p:spPr>
        <p:txBody>
          <a:bodyPr wrap="none" lIns="0" tIns="0" rIns="0" bIns="0" anchor="ctr"/>
          <a:lstStyle/>
          <a:p>
            <a:pPr algn="l"/>
            <a:r>
              <a:rPr sz="1100" b="0">
                <a:solidFill>
                  <a:srgbClr val="595959">
                    <a:alpha val="25000"/>
                  </a:srgbClr>
                </a:solidFill>
                <a:latin typeface="Aptos"/>
              </a:rPr>
              <a:t>7.8%</a:t>
            </a:r>
          </a:p>
        </p:txBody>
      </p:sp>
      <p:sp>
        <p:nvSpPr>
          <p:cNvPr id="8" name="Rounded Rectangle 7"/>
          <p:cNvSpPr/>
          <p:nvPr/>
        </p:nvSpPr>
        <p:spPr>
          <a:xfrm>
            <a:off x="4035838" y="1818000"/>
            <a:ext cx="185289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OS command injection  </a:t>
            </a:r>
            <a:r>
              <a:rPr sz="1000">
                <a:solidFill>
                  <a:srgbClr val="595959"/>
                </a:solidFill>
                <a:latin typeface="Aptos"/>
              </a:rPr>
              <a:t>21%</a:t>
            </a:r>
          </a:p>
        </p:txBody>
      </p:sp>
      <p:sp>
        <p:nvSpPr>
          <p:cNvPr id="9" name="Chevron 8"/>
          <p:cNvSpPr/>
          <p:nvPr/>
        </p:nvSpPr>
        <p:spPr>
          <a:xfrm>
            <a:off x="3889248" y="188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93850" y="1812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11" name="Rounded Rectangle 10"/>
          <p:cNvSpPr/>
          <p:nvPr/>
        </p:nvSpPr>
        <p:spPr>
          <a:xfrm>
            <a:off x="5938200" y="1868000"/>
            <a:ext cx="1793417" cy="150000"/>
          </a:xfrm>
          <a:prstGeom prst="roundRect">
            <a:avLst>
              <a:gd name="adj" fmla="val 50000"/>
            </a:avLst>
          </a:prstGeom>
          <a:solidFill>
            <a:srgbClr val="D05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01025" y="1812000"/>
            <a:ext cx="600000" cy="262000"/>
          </a:xfrm>
          <a:prstGeom prst="rect">
            <a:avLst/>
          </a:prstGeom>
          <a:noFill/>
        </p:spPr>
        <p:txBody>
          <a:bodyPr wrap="none" lIns="0" tIns="0" rIns="0" bIns="0" anchor="ctr"/>
          <a:lstStyle/>
          <a:p>
            <a:pPr algn="l"/>
            <a:r>
              <a:rPr sz="1100" b="0">
                <a:solidFill>
                  <a:srgbClr val="595959"/>
                </a:solidFill>
                <a:latin typeface="Aptos"/>
              </a:rPr>
              <a:t>7.1%</a:t>
            </a:r>
          </a:p>
        </p:txBody>
      </p:sp>
      <p:sp>
        <p:nvSpPr>
          <p:cNvPr id="13" name="Rounded Rectangle 12"/>
          <p:cNvSpPr/>
          <p:nvPr/>
        </p:nvSpPr>
        <p:spPr>
          <a:xfrm>
            <a:off x="4100878" y="2080000"/>
            <a:ext cx="1787857"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Out-of-bounds write  </a:t>
            </a:r>
            <a:r>
              <a:rPr sz="1000">
                <a:solidFill>
                  <a:srgbClr val="595959">
                    <a:alpha val="25000"/>
                  </a:srgbClr>
                </a:solidFill>
                <a:latin typeface="Aptos"/>
              </a:rPr>
              <a:t>31%</a:t>
            </a:r>
          </a:p>
        </p:txBody>
      </p:sp>
      <p:sp>
        <p:nvSpPr>
          <p:cNvPr id="14" name="Chevron 13"/>
          <p:cNvSpPr/>
          <p:nvPr/>
        </p:nvSpPr>
        <p:spPr>
          <a:xfrm>
            <a:off x="3961790" y="2150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83028" y="2074000"/>
            <a:ext cx="1859889" cy="262000"/>
          </a:xfrm>
          <a:prstGeom prst="rect">
            <a:avLst/>
          </a:prstGeom>
          <a:noFill/>
        </p:spPr>
        <p:txBody>
          <a:bodyPr wrap="none" lIns="0" tIns="0" rIns="0" bIns="0" anchor="ctr"/>
          <a:lstStyle/>
          <a:p>
            <a:pPr algn="r"/>
            <a:r>
              <a:rPr sz="1250" b="1" dirty="0">
                <a:solidFill>
                  <a:srgbClr val="1A1A1A">
                    <a:alpha val="25000"/>
                  </a:srgbClr>
                </a:solidFill>
                <a:latin typeface="Aptos"/>
              </a:rPr>
              <a:t>Memory safety  </a:t>
            </a:r>
            <a:r>
              <a:rPr sz="1250" b="0" dirty="0">
                <a:solidFill>
                  <a:srgbClr val="8C8C8C">
                    <a:alpha val="25000"/>
                  </a:srgbClr>
                </a:solidFill>
                <a:latin typeface="Aptos"/>
              </a:rPr>
              <a:t>22%</a:t>
            </a:r>
          </a:p>
        </p:txBody>
      </p:sp>
      <p:sp>
        <p:nvSpPr>
          <p:cNvPr id="16" name="Rounded Rectangle 15"/>
          <p:cNvSpPr/>
          <p:nvPr/>
        </p:nvSpPr>
        <p:spPr>
          <a:xfrm>
            <a:off x="5938200" y="2130000"/>
            <a:ext cx="1734684" cy="150000"/>
          </a:xfrm>
          <a:prstGeom prst="roundRect">
            <a:avLst>
              <a:gd name="adj" fmla="val 50000"/>
            </a:avLst>
          </a:prstGeom>
          <a:solidFill>
            <a:srgbClr val="D46254">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42292" y="2074000"/>
            <a:ext cx="600000" cy="262000"/>
          </a:xfrm>
          <a:prstGeom prst="rect">
            <a:avLst/>
          </a:prstGeom>
          <a:noFill/>
        </p:spPr>
        <p:txBody>
          <a:bodyPr wrap="none" lIns="0" tIns="0" rIns="0" bIns="0" anchor="ctr"/>
          <a:lstStyle/>
          <a:p>
            <a:pPr algn="l"/>
            <a:r>
              <a:rPr sz="1100" b="0">
                <a:solidFill>
                  <a:srgbClr val="595959">
                    <a:alpha val="25000"/>
                  </a:srgbClr>
                </a:solidFill>
                <a:latin typeface="Aptos"/>
              </a:rPr>
              <a:t>6.7%</a:t>
            </a:r>
          </a:p>
        </p:txBody>
      </p:sp>
      <p:sp>
        <p:nvSpPr>
          <p:cNvPr id="18" name="Rounded Rectangle 17"/>
          <p:cNvSpPr/>
          <p:nvPr/>
        </p:nvSpPr>
        <p:spPr>
          <a:xfrm>
            <a:off x="4426080" y="2342000"/>
            <a:ext cx="1462655"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Use after free  </a:t>
            </a:r>
            <a:r>
              <a:rPr sz="1000">
                <a:solidFill>
                  <a:srgbClr val="595959">
                    <a:alpha val="25000"/>
                  </a:srgbClr>
                </a:solidFill>
                <a:latin typeface="Aptos"/>
              </a:rPr>
              <a:t>28%</a:t>
            </a:r>
          </a:p>
        </p:txBody>
      </p:sp>
      <p:sp>
        <p:nvSpPr>
          <p:cNvPr id="19" name="Chevron 18"/>
          <p:cNvSpPr/>
          <p:nvPr/>
        </p:nvSpPr>
        <p:spPr>
          <a:xfrm>
            <a:off x="4269638" y="241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90876" y="2336000"/>
            <a:ext cx="1859889" cy="262000"/>
          </a:xfrm>
          <a:prstGeom prst="rect">
            <a:avLst/>
          </a:prstGeom>
          <a:noFill/>
        </p:spPr>
        <p:txBody>
          <a:bodyPr wrap="none" lIns="0" tIns="0" rIns="0" bIns="0" anchor="ctr"/>
          <a:lstStyle/>
          <a:p>
            <a:pPr algn="r"/>
            <a:r>
              <a:rPr sz="1250" b="1">
                <a:solidFill>
                  <a:srgbClr val="1A1A1A">
                    <a:alpha val="25000"/>
                  </a:srgbClr>
                </a:solidFill>
                <a:latin typeface="Aptos"/>
              </a:rPr>
              <a:t>Memory safety  </a:t>
            </a:r>
            <a:r>
              <a:rPr sz="1250" b="0">
                <a:solidFill>
                  <a:srgbClr val="8C8C8C">
                    <a:alpha val="25000"/>
                  </a:srgbClr>
                </a:solidFill>
                <a:latin typeface="Aptos"/>
              </a:rPr>
              <a:t>22%</a:t>
            </a:r>
          </a:p>
        </p:txBody>
      </p:sp>
      <p:sp>
        <p:nvSpPr>
          <p:cNvPr id="21" name="Rounded Rectangle 20"/>
          <p:cNvSpPr/>
          <p:nvPr/>
        </p:nvSpPr>
        <p:spPr>
          <a:xfrm>
            <a:off x="5938200" y="2392000"/>
            <a:ext cx="1664446" cy="150000"/>
          </a:xfrm>
          <a:prstGeom prst="roundRect">
            <a:avLst>
              <a:gd name="adj" fmla="val 50000"/>
            </a:avLst>
          </a:prstGeom>
          <a:solidFill>
            <a:srgbClr val="DE7768">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72054" y="2336000"/>
            <a:ext cx="600000" cy="262000"/>
          </a:xfrm>
          <a:prstGeom prst="rect">
            <a:avLst/>
          </a:prstGeom>
          <a:noFill/>
        </p:spPr>
        <p:txBody>
          <a:bodyPr wrap="none" lIns="0" tIns="0" rIns="0" bIns="0" anchor="ctr"/>
          <a:lstStyle/>
          <a:p>
            <a:pPr algn="l"/>
            <a:r>
              <a:rPr sz="1100" b="0">
                <a:solidFill>
                  <a:srgbClr val="595959">
                    <a:alpha val="25000"/>
                  </a:srgbClr>
                </a:solidFill>
                <a:latin typeface="Aptos"/>
              </a:rPr>
              <a:t>6.2%</a:t>
            </a:r>
          </a:p>
        </p:txBody>
      </p:sp>
      <p:sp>
        <p:nvSpPr>
          <p:cNvPr id="23" name="Rounded Rectangle 22"/>
          <p:cNvSpPr/>
          <p:nvPr/>
        </p:nvSpPr>
        <p:spPr>
          <a:xfrm>
            <a:off x="3840715" y="2604000"/>
            <a:ext cx="2048020"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Buffer operation errors  </a:t>
            </a:r>
            <a:r>
              <a:rPr sz="1000">
                <a:solidFill>
                  <a:srgbClr val="595959">
                    <a:alpha val="25000"/>
                  </a:srgbClr>
                </a:solidFill>
                <a:latin typeface="Aptos"/>
              </a:rPr>
              <a:t>26%</a:t>
            </a:r>
          </a:p>
        </p:txBody>
      </p:sp>
      <p:sp>
        <p:nvSpPr>
          <p:cNvPr id="24" name="Chevron 23"/>
          <p:cNvSpPr/>
          <p:nvPr/>
        </p:nvSpPr>
        <p:spPr>
          <a:xfrm>
            <a:off x="3708196" y="267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29435" y="2598000"/>
            <a:ext cx="1859889" cy="262000"/>
          </a:xfrm>
          <a:prstGeom prst="rect">
            <a:avLst/>
          </a:prstGeom>
          <a:noFill/>
        </p:spPr>
        <p:txBody>
          <a:bodyPr wrap="none" lIns="0" tIns="0" rIns="0" bIns="0" anchor="ctr"/>
          <a:lstStyle/>
          <a:p>
            <a:pPr algn="r"/>
            <a:r>
              <a:rPr sz="1250" b="1">
                <a:solidFill>
                  <a:srgbClr val="1A1A1A">
                    <a:alpha val="25000"/>
                  </a:srgbClr>
                </a:solidFill>
                <a:latin typeface="Aptos"/>
              </a:rPr>
              <a:t>Memory safety  </a:t>
            </a:r>
            <a:r>
              <a:rPr sz="1250" b="0">
                <a:solidFill>
                  <a:srgbClr val="8C8C8C">
                    <a:alpha val="25000"/>
                  </a:srgbClr>
                </a:solidFill>
                <a:latin typeface="Aptos"/>
              </a:rPr>
              <a:t>22%</a:t>
            </a:r>
          </a:p>
        </p:txBody>
      </p:sp>
      <p:sp>
        <p:nvSpPr>
          <p:cNvPr id="26" name="Rounded Rectangle 25"/>
          <p:cNvSpPr/>
          <p:nvPr/>
        </p:nvSpPr>
        <p:spPr>
          <a:xfrm>
            <a:off x="5938200" y="2654000"/>
            <a:ext cx="1591110" cy="150000"/>
          </a:xfrm>
          <a:prstGeom prst="roundRect">
            <a:avLst>
              <a:gd name="adj" fmla="val 50000"/>
            </a:avLst>
          </a:prstGeom>
          <a:solidFill>
            <a:srgbClr val="E3897C">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98718" y="2598000"/>
            <a:ext cx="600000" cy="262000"/>
          </a:xfrm>
          <a:prstGeom prst="rect">
            <a:avLst/>
          </a:prstGeom>
          <a:noFill/>
        </p:spPr>
        <p:txBody>
          <a:bodyPr wrap="none" lIns="0" tIns="0" rIns="0" bIns="0" anchor="ctr"/>
          <a:lstStyle/>
          <a:p>
            <a:pPr algn="l"/>
            <a:r>
              <a:rPr sz="1100" b="0">
                <a:solidFill>
                  <a:srgbClr val="595959">
                    <a:alpha val="25000"/>
                  </a:srgbClr>
                </a:solidFill>
                <a:latin typeface="Aptos"/>
              </a:rPr>
              <a:t>5.6%</a:t>
            </a:r>
          </a:p>
        </p:txBody>
      </p:sp>
      <p:sp>
        <p:nvSpPr>
          <p:cNvPr id="28" name="Rounded Rectangle 27"/>
          <p:cNvSpPr/>
          <p:nvPr/>
        </p:nvSpPr>
        <p:spPr>
          <a:xfrm>
            <a:off x="4426080" y="2866000"/>
            <a:ext cx="146265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Path traversal  </a:t>
            </a:r>
            <a:r>
              <a:rPr sz="1000">
                <a:solidFill>
                  <a:srgbClr val="595959"/>
                </a:solidFill>
                <a:latin typeface="Aptos"/>
              </a:rPr>
              <a:t>15%</a:t>
            </a:r>
          </a:p>
        </p:txBody>
      </p:sp>
      <p:sp>
        <p:nvSpPr>
          <p:cNvPr id="29" name="Chevron 28"/>
          <p:cNvSpPr/>
          <p:nvPr/>
        </p:nvSpPr>
        <p:spPr>
          <a:xfrm>
            <a:off x="4287926" y="293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92528" y="2860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31" name="Rounded Rectangle 30"/>
          <p:cNvSpPr/>
          <p:nvPr/>
        </p:nvSpPr>
        <p:spPr>
          <a:xfrm>
            <a:off x="5938200" y="2916000"/>
            <a:ext cx="1524604" cy="150000"/>
          </a:xfrm>
          <a:prstGeom prst="roundRect">
            <a:avLst>
              <a:gd name="adj" fmla="val 50000"/>
            </a:avLst>
          </a:prstGeom>
          <a:solidFill>
            <a:srgbClr val="E3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32212" y="2860000"/>
            <a:ext cx="600000" cy="262000"/>
          </a:xfrm>
          <a:prstGeom prst="rect">
            <a:avLst/>
          </a:prstGeom>
          <a:noFill/>
        </p:spPr>
        <p:txBody>
          <a:bodyPr wrap="none" lIns="0" tIns="0" rIns="0" bIns="0" anchor="ctr"/>
          <a:lstStyle/>
          <a:p>
            <a:pPr algn="l"/>
            <a:r>
              <a:rPr sz="1100" b="0">
                <a:solidFill>
                  <a:srgbClr val="595959"/>
                </a:solidFill>
                <a:latin typeface="Aptos"/>
              </a:rPr>
              <a:t>5.2%</a:t>
            </a:r>
          </a:p>
        </p:txBody>
      </p:sp>
      <p:sp>
        <p:nvSpPr>
          <p:cNvPr id="33" name="Rounded Rectangle 32"/>
          <p:cNvSpPr/>
          <p:nvPr/>
        </p:nvSpPr>
        <p:spPr>
          <a:xfrm>
            <a:off x="3905755" y="3128000"/>
            <a:ext cx="1982979"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Unsafe deserialization  </a:t>
            </a:r>
            <a:r>
              <a:rPr sz="1000">
                <a:solidFill>
                  <a:srgbClr val="595959"/>
                </a:solidFill>
                <a:latin typeface="Aptos"/>
              </a:rPr>
              <a:t>14%</a:t>
            </a:r>
          </a:p>
        </p:txBody>
      </p:sp>
      <p:sp>
        <p:nvSpPr>
          <p:cNvPr id="34" name="Chevron 33"/>
          <p:cNvSpPr/>
          <p:nvPr/>
        </p:nvSpPr>
        <p:spPr>
          <a:xfrm>
            <a:off x="3786835" y="319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91437" y="3122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36" name="Rounded Rectangle 35"/>
          <p:cNvSpPr/>
          <p:nvPr/>
        </p:nvSpPr>
        <p:spPr>
          <a:xfrm>
            <a:off x="5938200" y="3178000"/>
            <a:ext cx="1455061" cy="150000"/>
          </a:xfrm>
          <a:prstGeom prst="roundRect">
            <a:avLst>
              <a:gd name="adj" fmla="val 50000"/>
            </a:avLst>
          </a:prstGeom>
          <a:solidFill>
            <a:srgbClr val="E4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62669" y="3122000"/>
            <a:ext cx="600000" cy="262000"/>
          </a:xfrm>
          <a:prstGeom prst="rect">
            <a:avLst/>
          </a:prstGeom>
          <a:noFill/>
        </p:spPr>
        <p:txBody>
          <a:bodyPr wrap="none" lIns="0" tIns="0" rIns="0" bIns="0" anchor="ctr"/>
          <a:lstStyle/>
          <a:p>
            <a:pPr algn="l"/>
            <a:r>
              <a:rPr sz="1100" b="0">
                <a:solidFill>
                  <a:srgbClr val="595959"/>
                </a:solidFill>
                <a:latin typeface="Aptos"/>
              </a:rPr>
              <a:t>4.7%</a:t>
            </a:r>
          </a:p>
        </p:txBody>
      </p:sp>
      <p:sp>
        <p:nvSpPr>
          <p:cNvPr id="38" name="Rounded Rectangle 37"/>
          <p:cNvSpPr/>
          <p:nvPr/>
        </p:nvSpPr>
        <p:spPr>
          <a:xfrm>
            <a:off x="4426080" y="3390000"/>
            <a:ext cx="1462655"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Code injection  </a:t>
            </a:r>
            <a:r>
              <a:rPr sz="1000">
                <a:solidFill>
                  <a:srgbClr val="595959"/>
                </a:solidFill>
                <a:latin typeface="Aptos"/>
              </a:rPr>
              <a:t>13%</a:t>
            </a:r>
          </a:p>
        </p:txBody>
      </p:sp>
      <p:sp>
        <p:nvSpPr>
          <p:cNvPr id="39" name="Chevron 38"/>
          <p:cNvSpPr/>
          <p:nvPr/>
        </p:nvSpPr>
        <p:spPr>
          <a:xfrm>
            <a:off x="4306214" y="346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10816" y="3384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41" name="Rounded Rectangle 40"/>
          <p:cNvSpPr/>
          <p:nvPr/>
        </p:nvSpPr>
        <p:spPr>
          <a:xfrm>
            <a:off x="5938200" y="3440000"/>
            <a:ext cx="1444184" cy="150000"/>
          </a:xfrm>
          <a:prstGeom prst="roundRect">
            <a:avLst>
              <a:gd name="adj" fmla="val 50000"/>
            </a:avLst>
          </a:prstGeom>
          <a:solidFill>
            <a:srgbClr val="E79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51792" y="3384000"/>
            <a:ext cx="600000" cy="262000"/>
          </a:xfrm>
          <a:prstGeom prst="rect">
            <a:avLst/>
          </a:prstGeom>
          <a:noFill/>
        </p:spPr>
        <p:txBody>
          <a:bodyPr wrap="none" lIns="0" tIns="0" rIns="0" bIns="0" anchor="ctr"/>
          <a:lstStyle/>
          <a:p>
            <a:pPr algn="l"/>
            <a:r>
              <a:rPr sz="1100" b="0">
                <a:solidFill>
                  <a:srgbClr val="595959"/>
                </a:solidFill>
                <a:latin typeface="Aptos"/>
              </a:rPr>
              <a:t>4.6%</a:t>
            </a:r>
          </a:p>
        </p:txBody>
      </p:sp>
      <p:sp>
        <p:nvSpPr>
          <p:cNvPr id="43" name="Rounded Rectangle 42"/>
          <p:cNvSpPr/>
          <p:nvPr/>
        </p:nvSpPr>
        <p:spPr>
          <a:xfrm>
            <a:off x="3840715" y="3652000"/>
            <a:ext cx="2048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authentication  </a:t>
            </a:r>
            <a:r>
              <a:rPr sz="1000">
                <a:solidFill>
                  <a:srgbClr val="595959"/>
                </a:solidFill>
                <a:latin typeface="Aptos"/>
              </a:rPr>
              <a:t>14%</a:t>
            </a:r>
          </a:p>
        </p:txBody>
      </p:sp>
      <p:sp>
        <p:nvSpPr>
          <p:cNvPr id="44" name="Chevron 43"/>
          <p:cNvSpPr/>
          <p:nvPr/>
        </p:nvSpPr>
        <p:spPr>
          <a:xfrm>
            <a:off x="3708196" y="372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832762" y="3646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46" name="Rounded Rectangle 45"/>
          <p:cNvSpPr/>
          <p:nvPr/>
        </p:nvSpPr>
        <p:spPr>
          <a:xfrm>
            <a:off x="5938200" y="3702000"/>
            <a:ext cx="1131075" cy="150000"/>
          </a:xfrm>
          <a:prstGeom prst="roundRect">
            <a:avLst>
              <a:gd name="adj" fmla="val 50000"/>
            </a:avLst>
          </a:prstGeom>
          <a:solidFill>
            <a:srgbClr val="E798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38683" y="3646000"/>
            <a:ext cx="600000" cy="262000"/>
          </a:xfrm>
          <a:prstGeom prst="rect">
            <a:avLst/>
          </a:prstGeom>
          <a:noFill/>
        </p:spPr>
        <p:txBody>
          <a:bodyPr wrap="none" lIns="0" tIns="0" rIns="0" bIns="0" anchor="ctr"/>
          <a:lstStyle/>
          <a:p>
            <a:pPr algn="l"/>
            <a:r>
              <a:rPr sz="1100" b="0">
                <a:solidFill>
                  <a:srgbClr val="595959"/>
                </a:solidFill>
                <a:latin typeface="Aptos"/>
              </a:rPr>
              <a:t>2.8%</a:t>
            </a:r>
          </a:p>
        </p:txBody>
      </p:sp>
      <p:sp>
        <p:nvSpPr>
          <p:cNvPr id="48" name="Rounded Rectangle 47"/>
          <p:cNvSpPr/>
          <p:nvPr/>
        </p:nvSpPr>
        <p:spPr>
          <a:xfrm>
            <a:off x="3905755" y="3914000"/>
            <a:ext cx="1982979"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Missing authentication  </a:t>
            </a:r>
            <a:r>
              <a:rPr sz="1000">
                <a:solidFill>
                  <a:srgbClr val="595959"/>
                </a:solidFill>
                <a:latin typeface="Aptos"/>
              </a:rPr>
              <a:t>13%</a:t>
            </a:r>
          </a:p>
        </p:txBody>
      </p:sp>
      <p:sp>
        <p:nvSpPr>
          <p:cNvPr id="49" name="Chevron 48"/>
          <p:cNvSpPr/>
          <p:nvPr/>
        </p:nvSpPr>
        <p:spPr>
          <a:xfrm>
            <a:off x="3786835" y="398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911400" y="3908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51" name="Rounded Rectangle 50"/>
          <p:cNvSpPr/>
          <p:nvPr/>
        </p:nvSpPr>
        <p:spPr>
          <a:xfrm>
            <a:off x="5938200" y="3964000"/>
            <a:ext cx="1092584" cy="150000"/>
          </a:xfrm>
          <a:prstGeom prst="roundRect">
            <a:avLst>
              <a:gd name="adj" fmla="val 50000"/>
            </a:avLst>
          </a:prstGeom>
          <a:solidFill>
            <a:srgbClr val="E9A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100192" y="3908000"/>
            <a:ext cx="600000" cy="262000"/>
          </a:xfrm>
          <a:prstGeom prst="rect">
            <a:avLst/>
          </a:prstGeom>
          <a:noFill/>
        </p:spPr>
        <p:txBody>
          <a:bodyPr wrap="none" lIns="0" tIns="0" rIns="0" bIns="0" anchor="ctr"/>
          <a:lstStyle/>
          <a:p>
            <a:pPr algn="l"/>
            <a:r>
              <a:rPr sz="1100" b="0">
                <a:solidFill>
                  <a:srgbClr val="595959"/>
                </a:solidFill>
                <a:latin typeface="Aptos"/>
              </a:rPr>
              <a:t>2.6%</a:t>
            </a:r>
          </a:p>
        </p:txBody>
      </p:sp>
      <p:sp>
        <p:nvSpPr>
          <p:cNvPr id="53" name="Rounded Rectangle 52"/>
          <p:cNvSpPr/>
          <p:nvPr/>
        </p:nvSpPr>
        <p:spPr>
          <a:xfrm>
            <a:off x="4426080" y="4176000"/>
            <a:ext cx="1462655"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Type confusion  </a:t>
            </a:r>
            <a:r>
              <a:rPr sz="1000">
                <a:solidFill>
                  <a:srgbClr val="595959">
                    <a:alpha val="25000"/>
                  </a:srgbClr>
                </a:solidFill>
                <a:latin typeface="Aptos"/>
              </a:rPr>
              <a:t>70%</a:t>
            </a:r>
          </a:p>
        </p:txBody>
      </p:sp>
      <p:sp>
        <p:nvSpPr>
          <p:cNvPr id="54" name="Chevron 53"/>
          <p:cNvSpPr/>
          <p:nvPr/>
        </p:nvSpPr>
        <p:spPr>
          <a:xfrm>
            <a:off x="4306214" y="4246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327452" y="4170000"/>
            <a:ext cx="1859889" cy="262000"/>
          </a:xfrm>
          <a:prstGeom prst="rect">
            <a:avLst/>
          </a:prstGeom>
          <a:noFill/>
        </p:spPr>
        <p:txBody>
          <a:bodyPr wrap="none" lIns="0" tIns="0" rIns="0" bIns="0" anchor="ctr"/>
          <a:lstStyle/>
          <a:p>
            <a:pPr algn="r"/>
            <a:r>
              <a:rPr sz="1250" b="1">
                <a:solidFill>
                  <a:srgbClr val="1A1A1A">
                    <a:alpha val="25000"/>
                  </a:srgbClr>
                </a:solidFill>
                <a:latin typeface="Aptos"/>
              </a:rPr>
              <a:t>Type and value  </a:t>
            </a:r>
            <a:r>
              <a:rPr sz="1250" b="0">
                <a:solidFill>
                  <a:srgbClr val="8C8C8C">
                    <a:alpha val="25000"/>
                  </a:srgbClr>
                </a:solidFill>
                <a:latin typeface="Aptos"/>
              </a:rPr>
              <a:t>4%</a:t>
            </a:r>
          </a:p>
        </p:txBody>
      </p:sp>
      <p:sp>
        <p:nvSpPr>
          <p:cNvPr id="56" name="Rounded Rectangle 55"/>
          <p:cNvSpPr/>
          <p:nvPr/>
        </p:nvSpPr>
        <p:spPr>
          <a:xfrm>
            <a:off x="5938200" y="4226000"/>
            <a:ext cx="1050546" cy="150000"/>
          </a:xfrm>
          <a:prstGeom prst="roundRect">
            <a:avLst>
              <a:gd name="adj" fmla="val 50000"/>
            </a:avLst>
          </a:prstGeom>
          <a:solidFill>
            <a:srgbClr val="EFBBB3">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58154" y="4170000"/>
            <a:ext cx="600000" cy="262000"/>
          </a:xfrm>
          <a:prstGeom prst="rect">
            <a:avLst/>
          </a:prstGeom>
          <a:noFill/>
        </p:spPr>
        <p:txBody>
          <a:bodyPr wrap="none" lIns="0" tIns="0" rIns="0" bIns="0" anchor="ctr"/>
          <a:lstStyle/>
          <a:p>
            <a:pPr algn="l"/>
            <a:r>
              <a:rPr sz="1100" b="0">
                <a:solidFill>
                  <a:srgbClr val="595959">
                    <a:alpha val="25000"/>
                  </a:srgbClr>
                </a:solidFill>
                <a:latin typeface="Aptos"/>
              </a:rPr>
              <a:t>2.5%</a:t>
            </a:r>
          </a:p>
        </p:txBody>
      </p:sp>
      <p:sp>
        <p:nvSpPr>
          <p:cNvPr id="58" name="Rounded Rectangle 57"/>
          <p:cNvSpPr/>
          <p:nvPr/>
        </p:nvSpPr>
        <p:spPr>
          <a:xfrm>
            <a:off x="3840715" y="4438000"/>
            <a:ext cx="2048020"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Improper access control  </a:t>
            </a:r>
            <a:r>
              <a:rPr sz="1000">
                <a:solidFill>
                  <a:srgbClr val="595959"/>
                </a:solidFill>
                <a:latin typeface="Aptos"/>
              </a:rPr>
              <a:t>12%</a:t>
            </a:r>
          </a:p>
        </p:txBody>
      </p:sp>
      <p:sp>
        <p:nvSpPr>
          <p:cNvPr id="59" name="Chevron 58"/>
          <p:cNvSpPr/>
          <p:nvPr/>
        </p:nvSpPr>
        <p:spPr>
          <a:xfrm>
            <a:off x="3708196" y="450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832762" y="4432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61" name="Rounded Rectangle 60"/>
          <p:cNvSpPr/>
          <p:nvPr/>
        </p:nvSpPr>
        <p:spPr>
          <a:xfrm>
            <a:off x="5938200" y="4488000"/>
            <a:ext cx="1020089"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027697" y="4432000"/>
            <a:ext cx="600000" cy="262000"/>
          </a:xfrm>
          <a:prstGeom prst="rect">
            <a:avLst/>
          </a:prstGeom>
          <a:noFill/>
        </p:spPr>
        <p:txBody>
          <a:bodyPr wrap="none" lIns="0" tIns="0" rIns="0" bIns="0" anchor="ctr"/>
          <a:lstStyle/>
          <a:p>
            <a:pPr algn="l"/>
            <a:r>
              <a:rPr sz="1100" b="0">
                <a:solidFill>
                  <a:srgbClr val="595959"/>
                </a:solidFill>
                <a:latin typeface="Aptos"/>
              </a:rPr>
              <a:t>2.3%</a:t>
            </a:r>
          </a:p>
        </p:txBody>
      </p:sp>
      <p:sp>
        <p:nvSpPr>
          <p:cNvPr id="63" name="Rounded Rectangle 62"/>
          <p:cNvSpPr/>
          <p:nvPr/>
        </p:nvSpPr>
        <p:spPr>
          <a:xfrm>
            <a:off x="4035838" y="4700000"/>
            <a:ext cx="1852897"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Cross-site scripting  </a:t>
            </a:r>
            <a:r>
              <a:rPr sz="1000">
                <a:solidFill>
                  <a:srgbClr val="595959"/>
                </a:solidFill>
                <a:latin typeface="Aptos"/>
              </a:rPr>
              <a:t>11%</a:t>
            </a:r>
          </a:p>
        </p:txBody>
      </p:sp>
      <p:sp>
        <p:nvSpPr>
          <p:cNvPr id="64" name="Chevron 63"/>
          <p:cNvSpPr/>
          <p:nvPr/>
        </p:nvSpPr>
        <p:spPr>
          <a:xfrm>
            <a:off x="3895344" y="477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019909" y="4694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66" name="Rounded Rectangle 65"/>
          <p:cNvSpPr/>
          <p:nvPr/>
        </p:nvSpPr>
        <p:spPr>
          <a:xfrm>
            <a:off x="5938200" y="4750000"/>
            <a:ext cx="990970"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998578" y="4694000"/>
            <a:ext cx="600000" cy="262000"/>
          </a:xfrm>
          <a:prstGeom prst="rect">
            <a:avLst/>
          </a:prstGeom>
          <a:noFill/>
        </p:spPr>
        <p:txBody>
          <a:bodyPr wrap="none" lIns="0" tIns="0" rIns="0" bIns="0" anchor="ctr"/>
          <a:lstStyle/>
          <a:p>
            <a:pPr algn="l"/>
            <a:r>
              <a:rPr sz="1100" b="0">
                <a:solidFill>
                  <a:srgbClr val="595959"/>
                </a:solidFill>
                <a:latin typeface="Aptos"/>
              </a:rPr>
              <a:t>2.2%</a:t>
            </a:r>
          </a:p>
        </p:txBody>
      </p:sp>
      <p:sp>
        <p:nvSpPr>
          <p:cNvPr id="68" name="Rounded Rectangle 67"/>
          <p:cNvSpPr/>
          <p:nvPr/>
        </p:nvSpPr>
        <p:spPr>
          <a:xfrm>
            <a:off x="3645593" y="4962000"/>
            <a:ext cx="2243141"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Permissions and privileges  </a:t>
            </a:r>
            <a:r>
              <a:rPr sz="1000">
                <a:solidFill>
                  <a:srgbClr val="595959"/>
                </a:solidFill>
                <a:latin typeface="Aptos"/>
              </a:rPr>
              <a:t>10%</a:t>
            </a:r>
          </a:p>
        </p:txBody>
      </p:sp>
      <p:sp>
        <p:nvSpPr>
          <p:cNvPr id="69" name="Chevron 68"/>
          <p:cNvSpPr/>
          <p:nvPr/>
        </p:nvSpPr>
        <p:spPr>
          <a:xfrm>
            <a:off x="3502761" y="503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627327" y="4956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71" name="Rounded Rectangle 70"/>
          <p:cNvSpPr/>
          <p:nvPr/>
        </p:nvSpPr>
        <p:spPr>
          <a:xfrm>
            <a:off x="5938200" y="5012000"/>
            <a:ext cx="960968" cy="150000"/>
          </a:xfrm>
          <a:prstGeom prst="roundRect">
            <a:avLst>
              <a:gd name="adj" fmla="val 50000"/>
            </a:avLst>
          </a:prstGeom>
          <a:solidFill>
            <a:srgbClr val="EFBB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68576" y="4956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73" name="Rounded Rectangle 72"/>
          <p:cNvSpPr/>
          <p:nvPr/>
        </p:nvSpPr>
        <p:spPr>
          <a:xfrm>
            <a:off x="4100878" y="5224000"/>
            <a:ext cx="1787857"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Heap buffer overflow  </a:t>
            </a:r>
            <a:r>
              <a:rPr sz="1000">
                <a:solidFill>
                  <a:srgbClr val="595959">
                    <a:alpha val="25000"/>
                  </a:srgbClr>
                </a:solidFill>
                <a:latin typeface="Aptos"/>
              </a:rPr>
              <a:t>9%</a:t>
            </a:r>
          </a:p>
        </p:txBody>
      </p:sp>
      <p:sp>
        <p:nvSpPr>
          <p:cNvPr id="74" name="Chevron 73"/>
          <p:cNvSpPr/>
          <p:nvPr/>
        </p:nvSpPr>
        <p:spPr>
          <a:xfrm>
            <a:off x="3961790" y="5294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983028" y="5218000"/>
            <a:ext cx="1859889" cy="262000"/>
          </a:xfrm>
          <a:prstGeom prst="rect">
            <a:avLst/>
          </a:prstGeom>
          <a:noFill/>
        </p:spPr>
        <p:txBody>
          <a:bodyPr wrap="none" lIns="0" tIns="0" rIns="0" bIns="0" anchor="ctr"/>
          <a:lstStyle/>
          <a:p>
            <a:pPr algn="r"/>
            <a:r>
              <a:rPr sz="1250" b="1">
                <a:solidFill>
                  <a:srgbClr val="1A1A1A">
                    <a:alpha val="25000"/>
                  </a:srgbClr>
                </a:solidFill>
                <a:latin typeface="Aptos"/>
              </a:rPr>
              <a:t>Memory safety  </a:t>
            </a:r>
            <a:r>
              <a:rPr sz="1250" b="0">
                <a:solidFill>
                  <a:srgbClr val="8C8C8C">
                    <a:alpha val="25000"/>
                  </a:srgbClr>
                </a:solidFill>
                <a:latin typeface="Aptos"/>
              </a:rPr>
              <a:t>22%</a:t>
            </a:r>
          </a:p>
        </p:txBody>
      </p:sp>
      <p:sp>
        <p:nvSpPr>
          <p:cNvPr id="76" name="Rounded Rectangle 75"/>
          <p:cNvSpPr/>
          <p:nvPr/>
        </p:nvSpPr>
        <p:spPr>
          <a:xfrm>
            <a:off x="5938200" y="5274000"/>
            <a:ext cx="944419" cy="150000"/>
          </a:xfrm>
          <a:prstGeom prst="roundRect">
            <a:avLst>
              <a:gd name="adj" fmla="val 50000"/>
            </a:avLst>
          </a:prstGeom>
          <a:solidFill>
            <a:srgbClr val="F0BFB7">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952027" y="5218000"/>
            <a:ext cx="600000" cy="262000"/>
          </a:xfrm>
          <a:prstGeom prst="rect">
            <a:avLst/>
          </a:prstGeom>
          <a:noFill/>
        </p:spPr>
        <p:txBody>
          <a:bodyPr wrap="none" lIns="0" tIns="0" rIns="0" bIns="0" anchor="ctr"/>
          <a:lstStyle/>
          <a:p>
            <a:pPr algn="l"/>
            <a:r>
              <a:rPr sz="1100" b="0">
                <a:solidFill>
                  <a:srgbClr val="595959">
                    <a:alpha val="25000"/>
                  </a:srgbClr>
                </a:solidFill>
                <a:latin typeface="Aptos"/>
              </a:rPr>
              <a:t>2.0%</a:t>
            </a:r>
          </a:p>
        </p:txBody>
      </p:sp>
      <p:sp>
        <p:nvSpPr>
          <p:cNvPr id="78" name="Rounded Rectangle 77"/>
          <p:cNvSpPr/>
          <p:nvPr/>
        </p:nvSpPr>
        <p:spPr>
          <a:xfrm>
            <a:off x="4295999" y="5486000"/>
            <a:ext cx="1592736"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Command injection  </a:t>
            </a:r>
            <a:r>
              <a:rPr sz="1000">
                <a:solidFill>
                  <a:srgbClr val="595959"/>
                </a:solidFill>
                <a:latin typeface="Aptos"/>
              </a:rPr>
              <a:t>6%</a:t>
            </a:r>
          </a:p>
        </p:txBody>
      </p:sp>
      <p:sp>
        <p:nvSpPr>
          <p:cNvPr id="79" name="Chevron 78"/>
          <p:cNvSpPr/>
          <p:nvPr/>
        </p:nvSpPr>
        <p:spPr>
          <a:xfrm>
            <a:off x="4173321" y="555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677924" y="5480000"/>
            <a:ext cx="2376525" cy="262000"/>
          </a:xfrm>
          <a:prstGeom prst="rect">
            <a:avLst/>
          </a:prstGeom>
          <a:noFill/>
        </p:spPr>
        <p:txBody>
          <a:bodyPr wrap="none" lIns="0" tIns="0" rIns="0" bIns="0" anchor="ctr"/>
          <a:lstStyle/>
          <a:p>
            <a:pPr algn="r"/>
            <a:r>
              <a:rPr sz="1250" b="1">
                <a:solidFill>
                  <a:srgbClr val="1A1A1A"/>
                </a:solidFill>
                <a:latin typeface="Aptos"/>
              </a:rPr>
              <a:t>Interface and data  </a:t>
            </a:r>
            <a:r>
              <a:rPr sz="1250" b="0">
                <a:solidFill>
                  <a:srgbClr val="8C8C8C"/>
                </a:solidFill>
                <a:latin typeface="Aptos"/>
              </a:rPr>
              <a:t>34%</a:t>
            </a:r>
          </a:p>
        </p:txBody>
      </p:sp>
      <p:sp>
        <p:nvSpPr>
          <p:cNvPr id="81" name="Rounded Rectangle 80"/>
          <p:cNvSpPr/>
          <p:nvPr/>
        </p:nvSpPr>
        <p:spPr>
          <a:xfrm>
            <a:off x="5938200" y="5536000"/>
            <a:ext cx="944419" cy="150000"/>
          </a:xfrm>
          <a:prstGeom prst="roundRect">
            <a:avLst>
              <a:gd name="adj" fmla="val 50000"/>
            </a:avLst>
          </a:prstGeom>
          <a:solidFill>
            <a:srgbClr val="F0B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952027" y="5480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83" name="Rounded Rectangle 82"/>
          <p:cNvSpPr/>
          <p:nvPr/>
        </p:nvSpPr>
        <p:spPr>
          <a:xfrm>
            <a:off x="4556161" y="5748000"/>
            <a:ext cx="1332574"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SQL injection  </a:t>
            </a:r>
            <a:r>
              <a:rPr sz="1000">
                <a:solidFill>
                  <a:srgbClr val="595959"/>
                </a:solidFill>
                <a:latin typeface="Aptos"/>
              </a:rPr>
              <a:t>6%</a:t>
            </a:r>
          </a:p>
        </p:txBody>
      </p:sp>
      <p:sp>
        <p:nvSpPr>
          <p:cNvPr id="84" name="Chevron 83"/>
          <p:cNvSpPr/>
          <p:nvPr/>
        </p:nvSpPr>
        <p:spPr>
          <a:xfrm>
            <a:off x="4426915" y="581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931517" y="5742000"/>
            <a:ext cx="2376525" cy="262000"/>
          </a:xfrm>
          <a:prstGeom prst="rect">
            <a:avLst/>
          </a:prstGeom>
          <a:noFill/>
        </p:spPr>
        <p:txBody>
          <a:bodyPr wrap="none" lIns="0" tIns="0" rIns="0" bIns="0" anchor="ctr"/>
          <a:lstStyle/>
          <a:p>
            <a:pPr algn="r"/>
            <a:r>
              <a:rPr sz="1250" b="1" dirty="0">
                <a:solidFill>
                  <a:srgbClr val="1A1A1A"/>
                </a:solidFill>
                <a:latin typeface="Aptos"/>
              </a:rPr>
              <a:t>Interface and data  </a:t>
            </a:r>
            <a:r>
              <a:rPr sz="1250" b="0" dirty="0">
                <a:solidFill>
                  <a:srgbClr val="8C8C8C"/>
                </a:solidFill>
                <a:latin typeface="Aptos"/>
              </a:rPr>
              <a:t>34%</a:t>
            </a:r>
          </a:p>
        </p:txBody>
      </p:sp>
      <p:sp>
        <p:nvSpPr>
          <p:cNvPr id="86" name="Rounded Rectangle 85"/>
          <p:cNvSpPr/>
          <p:nvPr/>
        </p:nvSpPr>
        <p:spPr>
          <a:xfrm>
            <a:off x="5938200" y="5798000"/>
            <a:ext cx="944419" cy="150000"/>
          </a:xfrm>
          <a:prstGeom prst="roundRect">
            <a:avLst>
              <a:gd name="adj" fmla="val 50000"/>
            </a:avLst>
          </a:prstGeom>
          <a:solidFill>
            <a:srgbClr val="F1C4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952027" y="5742000"/>
            <a:ext cx="600000" cy="262000"/>
          </a:xfrm>
          <a:prstGeom prst="rect">
            <a:avLst/>
          </a:prstGeom>
          <a:noFill/>
        </p:spPr>
        <p:txBody>
          <a:bodyPr wrap="none" lIns="0" tIns="0" rIns="0" bIns="0" anchor="ctr"/>
          <a:lstStyle/>
          <a:p>
            <a:pPr algn="l"/>
            <a:r>
              <a:rPr sz="1100" b="0">
                <a:solidFill>
                  <a:srgbClr val="595959"/>
                </a:solidFill>
                <a:latin typeface="Aptos"/>
              </a:rPr>
              <a:t>2.0%</a:t>
            </a:r>
          </a:p>
        </p:txBody>
      </p:sp>
      <p:sp>
        <p:nvSpPr>
          <p:cNvPr id="88" name="Rounded Rectangle 87"/>
          <p:cNvSpPr/>
          <p:nvPr/>
        </p:nvSpPr>
        <p:spPr>
          <a:xfrm>
            <a:off x="3905755" y="6010000"/>
            <a:ext cx="1982979" cy="25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Sensitive info exposure  </a:t>
            </a:r>
            <a:r>
              <a:rPr sz="1000">
                <a:solidFill>
                  <a:srgbClr val="595959"/>
                </a:solidFill>
                <a:latin typeface="Aptos"/>
              </a:rPr>
              <a:t>8%</a:t>
            </a:r>
          </a:p>
        </p:txBody>
      </p:sp>
      <p:sp>
        <p:nvSpPr>
          <p:cNvPr id="89" name="Chevron 88"/>
          <p:cNvSpPr/>
          <p:nvPr/>
        </p:nvSpPr>
        <p:spPr>
          <a:xfrm>
            <a:off x="3786835" y="608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911400" y="6004000"/>
            <a:ext cx="1756562" cy="262000"/>
          </a:xfrm>
          <a:prstGeom prst="rect">
            <a:avLst/>
          </a:prstGeom>
          <a:noFill/>
        </p:spPr>
        <p:txBody>
          <a:bodyPr wrap="none" lIns="0" tIns="0" rIns="0" bIns="0" anchor="ctr"/>
          <a:lstStyle/>
          <a:p>
            <a:pPr algn="r"/>
            <a:r>
              <a:rPr sz="1250" b="1">
                <a:solidFill>
                  <a:srgbClr val="1A1A1A"/>
                </a:solidFill>
                <a:latin typeface="Aptos"/>
              </a:rPr>
              <a:t>App security  </a:t>
            </a:r>
            <a:r>
              <a:rPr sz="1250" b="0">
                <a:solidFill>
                  <a:srgbClr val="8C8C8C"/>
                </a:solidFill>
                <a:latin typeface="Aptos"/>
              </a:rPr>
              <a:t>20%</a:t>
            </a:r>
          </a:p>
        </p:txBody>
      </p:sp>
      <p:sp>
        <p:nvSpPr>
          <p:cNvPr id="91" name="Rounded Rectangle 90"/>
          <p:cNvSpPr/>
          <p:nvPr/>
        </p:nvSpPr>
        <p:spPr>
          <a:xfrm>
            <a:off x="5938200" y="6060000"/>
            <a:ext cx="862132" cy="15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869740" y="6004000"/>
            <a:ext cx="600000" cy="262000"/>
          </a:xfrm>
          <a:prstGeom prst="rect">
            <a:avLst/>
          </a:prstGeom>
          <a:noFill/>
        </p:spPr>
        <p:txBody>
          <a:bodyPr wrap="none" lIns="0" tIns="0" rIns="0" bIns="0" anchor="ctr"/>
          <a:lstStyle/>
          <a:p>
            <a:pPr algn="l"/>
            <a:r>
              <a:rPr sz="1100" b="0">
                <a:solidFill>
                  <a:srgbClr val="595959"/>
                </a:solidFill>
                <a:latin typeface="Aptos"/>
              </a:rPr>
              <a:t>1.6%</a:t>
            </a:r>
          </a:p>
        </p:txBody>
      </p:sp>
      <p:sp>
        <p:nvSpPr>
          <p:cNvPr id="93" name="Rounded Rectangle 92"/>
          <p:cNvSpPr/>
          <p:nvPr/>
        </p:nvSpPr>
        <p:spPr>
          <a:xfrm>
            <a:off x="4230959" y="6272000"/>
            <a:ext cx="1657776" cy="250000"/>
          </a:xfrm>
          <a:prstGeom prst="roundRect">
            <a:avLst>
              <a:gd name="adj" fmla="val 50000"/>
            </a:avLst>
          </a:prstGeom>
          <a:solidFill>
            <a:srgbClr val="D9D9D9">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alpha val="25000"/>
                  </a:srgbClr>
                </a:solidFill>
                <a:latin typeface="Aptos"/>
              </a:rPr>
              <a:t>Out-of-bounds read  </a:t>
            </a:r>
            <a:r>
              <a:rPr sz="1000">
                <a:solidFill>
                  <a:srgbClr val="595959">
                    <a:alpha val="25000"/>
                  </a:srgbClr>
                </a:solidFill>
                <a:latin typeface="Aptos"/>
              </a:rPr>
              <a:t>5%</a:t>
            </a:r>
          </a:p>
        </p:txBody>
      </p:sp>
      <p:sp>
        <p:nvSpPr>
          <p:cNvPr id="94" name="Chevron 93"/>
          <p:cNvSpPr/>
          <p:nvPr/>
        </p:nvSpPr>
        <p:spPr>
          <a:xfrm>
            <a:off x="4112971" y="6342000"/>
            <a:ext cx="60000" cy="110000"/>
          </a:xfrm>
          <a:prstGeom prst="chevron">
            <a:avLst/>
          </a:prstGeom>
          <a:solidFill>
            <a:srgbClr val="A6A19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134209" y="6266000"/>
            <a:ext cx="1859889" cy="262000"/>
          </a:xfrm>
          <a:prstGeom prst="rect">
            <a:avLst/>
          </a:prstGeom>
          <a:noFill/>
        </p:spPr>
        <p:txBody>
          <a:bodyPr wrap="none" lIns="0" tIns="0" rIns="0" bIns="0" anchor="ctr"/>
          <a:lstStyle/>
          <a:p>
            <a:pPr algn="r"/>
            <a:r>
              <a:rPr sz="1250" b="1">
                <a:solidFill>
                  <a:srgbClr val="1A1A1A">
                    <a:alpha val="25000"/>
                  </a:srgbClr>
                </a:solidFill>
                <a:latin typeface="Aptos"/>
              </a:rPr>
              <a:t>Memory safety  </a:t>
            </a:r>
            <a:r>
              <a:rPr sz="1250" b="0">
                <a:solidFill>
                  <a:srgbClr val="8C8C8C">
                    <a:alpha val="25000"/>
                  </a:srgbClr>
                </a:solidFill>
                <a:latin typeface="Aptos"/>
              </a:rPr>
              <a:t>22%</a:t>
            </a:r>
          </a:p>
        </p:txBody>
      </p:sp>
      <p:sp>
        <p:nvSpPr>
          <p:cNvPr id="96" name="Rounded Rectangle 95"/>
          <p:cNvSpPr/>
          <p:nvPr/>
        </p:nvSpPr>
        <p:spPr>
          <a:xfrm>
            <a:off x="5938200" y="6322000"/>
            <a:ext cx="710299" cy="150000"/>
          </a:xfrm>
          <a:prstGeom prst="roundRect">
            <a:avLst>
              <a:gd name="adj" fmla="val 50000"/>
            </a:avLst>
          </a:prstGeom>
          <a:solidFill>
            <a:srgbClr val="F3C9C2">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717907" y="6266000"/>
            <a:ext cx="600000" cy="262000"/>
          </a:xfrm>
          <a:prstGeom prst="rect">
            <a:avLst/>
          </a:prstGeom>
          <a:noFill/>
        </p:spPr>
        <p:txBody>
          <a:bodyPr wrap="none" lIns="0" tIns="0" rIns="0" bIns="0" anchor="ctr"/>
          <a:lstStyle/>
          <a:p>
            <a:pPr algn="l"/>
            <a:r>
              <a:rPr sz="1100" b="0">
                <a:solidFill>
                  <a:srgbClr val="595959">
                    <a:alpha val="25000"/>
                  </a:srgbClr>
                </a:solidFill>
                <a:latin typeface="Aptos"/>
              </a:rPr>
              <a:t>1.1%</a:t>
            </a:r>
          </a:p>
        </p:txBody>
      </p:sp>
      <p:sp>
        <p:nvSpPr>
          <p:cNvPr id="102" name="TextBox 101">
            <a:extLst>
              <a:ext uri="{FF2B5EF4-FFF2-40B4-BE49-F238E27FC236}">
                <a16:creationId xmlns:a16="http://schemas.microsoft.com/office/drawing/2014/main" id="{6FF59CA6-C3A3-FABD-67D7-45CA5E961B22}"/>
              </a:ext>
            </a:extLst>
          </p:cNvPr>
          <p:cNvSpPr txBox="1"/>
          <p:nvPr/>
        </p:nvSpPr>
        <p:spPr>
          <a:xfrm>
            <a:off x="7939963" y="4443420"/>
            <a:ext cx="3079966"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lumMod val="65000"/>
                  </a:schemeClr>
                </a:solidFill>
              </a:rPr>
              <a:t>CVEs published 2016–2026.</a:t>
            </a:r>
          </a:p>
          <a:p>
            <a:pPr marL="285750" indent="-285750">
              <a:buFont typeface="Arial" panose="020B0604020202020204" pitchFamily="34" charset="0"/>
              <a:buChar char="•"/>
            </a:pPr>
            <a:r>
              <a:rPr lang="en-US" sz="1400" dirty="0">
                <a:solidFill>
                  <a:schemeClr val="bg1">
                    <a:lumMod val="65000"/>
                  </a:schemeClr>
                </a:solidFill>
              </a:rPr>
              <a:t>“Improper input validation” (CWE-20) is often a generic fallback classification, not the underlying defect.</a:t>
            </a:r>
          </a:p>
          <a:p>
            <a:pPr marL="285750" indent="-285750">
              <a:buFont typeface="Arial" panose="020B0604020202020204" pitchFamily="34" charset="0"/>
              <a:buChar char="•"/>
            </a:pPr>
            <a:r>
              <a:rPr lang="en-US" sz="1400" dirty="0">
                <a:solidFill>
                  <a:schemeClr val="bg1">
                    <a:lumMod val="65000"/>
                  </a:schemeClr>
                </a:solidFill>
              </a:rPr>
              <a:t>Share of the CISA KEV catalog  ~1,500 CVEs with confirmed exploitation in the wild.</a:t>
            </a:r>
          </a:p>
          <a:p>
            <a:pPr marL="285750" indent="-285750">
              <a:buFont typeface="Arial" panose="020B0604020202020204" pitchFamily="34" charset="0"/>
              <a:buChar char="•"/>
            </a:pPr>
            <a:r>
              <a:rPr lang="en-US" sz="1400" dirty="0">
                <a:solidFill>
                  <a:schemeClr val="bg1">
                    <a:lumMod val="65000"/>
                  </a:schemeClr>
                </a:solidFill>
              </a:rPr>
              <a:t>Authentication and authorization beyond language safety.</a:t>
            </a:r>
          </a:p>
        </p:txBody>
      </p:sp>
    </p:spTree>
    <p:extLst>
      <p:ext uri="{BB962C8B-B14F-4D97-AF65-F5344CB8AC3E}">
        <p14:creationId xmlns:p14="http://schemas.microsoft.com/office/powerpoint/2010/main" val="1432855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A safety taxonomy</a:t>
            </a:r>
          </a:p>
        </p:txBody>
      </p:sp>
      <p:sp>
        <p:nvSpPr>
          <p:cNvPr id="100" name="Shape 0"/>
          <p:cNvSpPr/>
          <p:nvPr/>
        </p:nvSpPr>
        <p:spPr>
          <a:xfrm>
            <a:off x="841248" y="1783080"/>
            <a:ext cx="3246120" cy="786384"/>
          </a:xfrm>
          <a:prstGeom prst="roundRect">
            <a:avLst>
              <a:gd name="adj" fmla="val 9302"/>
            </a:avLst>
          </a:prstGeom>
          <a:solidFill>
            <a:srgbClr val="FFFFFF">
              <a:alpha val="0"/>
            </a:srgbClr>
          </a:solidFill>
          <a:ln w="12700">
            <a:solidFill>
              <a:srgbClr val="C9C4C1"/>
            </a:solidFill>
            <a:prstDash val="solid"/>
          </a:ln>
        </p:spPr>
        <p:txBody>
          <a:bodyPr/>
          <a:lstStyle/>
          <a:p>
            <a:endParaRPr lang="en-US"/>
          </a:p>
        </p:txBody>
      </p:sp>
      <p:sp>
        <p:nvSpPr>
          <p:cNvPr id="101" name="Text 1"/>
          <p:cNvSpPr txBox="1"/>
          <p:nvPr/>
        </p:nvSpPr>
        <p:spPr>
          <a:xfrm>
            <a:off x="1005840" y="1783080"/>
            <a:ext cx="1143000" cy="786384"/>
          </a:xfrm>
          <a:prstGeom prst="rect">
            <a:avLst/>
          </a:prstGeom>
          <a:noFill/>
          <a:ln/>
        </p:spPr>
        <p:txBody>
          <a:bodyPr wrap="square" lIns="0" tIns="0" rIns="0" bIns="0" rtlCol="0" anchor="ctr"/>
          <a:lstStyle/>
          <a:p>
            <a:pPr marL="0" indent="0">
              <a:buNone/>
            </a:pPr>
            <a:r>
              <a:rPr lang="en-US" sz="2200" b="1" dirty="0">
                <a:solidFill>
                  <a:srgbClr val="156082"/>
                </a:solidFill>
                <a:latin typeface="Aptos" pitchFamily="34" charset="0"/>
                <a:ea typeface="Aptos" pitchFamily="34" charset="-122"/>
                <a:cs typeface="Aptos" pitchFamily="34" charset="-120"/>
              </a:rPr>
              <a:t>26,618</a:t>
            </a:r>
            <a:endParaRPr lang="en-US" sz="2200" dirty="0"/>
          </a:p>
        </p:txBody>
      </p:sp>
      <p:sp>
        <p:nvSpPr>
          <p:cNvPr id="102" name="Text 2"/>
          <p:cNvSpPr txBox="1"/>
          <p:nvPr/>
        </p:nvSpPr>
        <p:spPr>
          <a:xfrm>
            <a:off x="2212848" y="1783080"/>
            <a:ext cx="1737360" cy="786384"/>
          </a:xfrm>
          <a:prstGeom prst="rect">
            <a:avLst/>
          </a:prstGeom>
          <a:noFill/>
          <a:ln/>
        </p:spPr>
        <p:txBody>
          <a:bodyPr wrap="square" lIns="0" tIns="0" rIns="0" bIns="0" rtlCol="0" anchor="ctr"/>
          <a:lstStyle/>
          <a:p>
            <a:pPr marL="0" indent="0">
              <a:buNone/>
            </a:pPr>
            <a:r>
              <a:rPr lang="en-US" sz="1300" dirty="0">
                <a:solidFill>
                  <a:srgbClr val="595959"/>
                </a:solidFill>
                <a:latin typeface="Aptos" pitchFamily="34" charset="0"/>
                <a:ea typeface="Aptos" pitchFamily="34" charset="-122"/>
                <a:cs typeface="Aptos" pitchFamily="34" charset="-120"/>
              </a:rPr>
              <a:t>CVEs across the 100 most affected products</a:t>
            </a:r>
            <a:endParaRPr lang="en-US" sz="1300" dirty="0"/>
          </a:p>
        </p:txBody>
      </p:sp>
      <p:sp>
        <p:nvSpPr>
          <p:cNvPr id="103" name="Shape 3"/>
          <p:cNvSpPr/>
          <p:nvPr/>
        </p:nvSpPr>
        <p:spPr>
          <a:xfrm>
            <a:off x="841248" y="2697480"/>
            <a:ext cx="3246120" cy="786384"/>
          </a:xfrm>
          <a:prstGeom prst="roundRect">
            <a:avLst>
              <a:gd name="adj" fmla="val 9302"/>
            </a:avLst>
          </a:prstGeom>
          <a:solidFill>
            <a:srgbClr val="FFFFFF">
              <a:alpha val="0"/>
            </a:srgbClr>
          </a:solidFill>
          <a:ln w="12700">
            <a:solidFill>
              <a:srgbClr val="C9C4C1"/>
            </a:solidFill>
            <a:prstDash val="solid"/>
          </a:ln>
        </p:spPr>
        <p:txBody>
          <a:bodyPr/>
          <a:lstStyle/>
          <a:p>
            <a:endParaRPr lang="en-US"/>
          </a:p>
        </p:txBody>
      </p:sp>
      <p:sp>
        <p:nvSpPr>
          <p:cNvPr id="104" name="Text 4"/>
          <p:cNvSpPr txBox="1"/>
          <p:nvPr/>
        </p:nvSpPr>
        <p:spPr>
          <a:xfrm>
            <a:off x="1005840" y="2697480"/>
            <a:ext cx="1143000" cy="786384"/>
          </a:xfrm>
          <a:prstGeom prst="rect">
            <a:avLst/>
          </a:prstGeom>
          <a:noFill/>
          <a:ln/>
        </p:spPr>
        <p:txBody>
          <a:bodyPr wrap="square" lIns="0" tIns="0" rIns="0" bIns="0" rtlCol="0" anchor="ctr"/>
          <a:lstStyle/>
          <a:p>
            <a:pPr marL="0" indent="0">
              <a:buNone/>
            </a:pPr>
            <a:r>
              <a:rPr lang="en-US" sz="2200" b="1" dirty="0">
                <a:solidFill>
                  <a:srgbClr val="156082"/>
                </a:solidFill>
                <a:latin typeface="Aptos" pitchFamily="34" charset="0"/>
                <a:ea typeface="Aptos" pitchFamily="34" charset="-122"/>
                <a:cs typeface="Aptos" pitchFamily="34" charset="-120"/>
              </a:rPr>
              <a:t>2</a:t>
            </a:r>
            <a:endParaRPr lang="en-US" sz="2200" dirty="0"/>
          </a:p>
        </p:txBody>
      </p:sp>
      <p:sp>
        <p:nvSpPr>
          <p:cNvPr id="105" name="Text 5"/>
          <p:cNvSpPr txBox="1"/>
          <p:nvPr/>
        </p:nvSpPr>
        <p:spPr>
          <a:xfrm>
            <a:off x="2212848" y="2697480"/>
            <a:ext cx="1737360" cy="786384"/>
          </a:xfrm>
          <a:prstGeom prst="rect">
            <a:avLst/>
          </a:prstGeom>
          <a:noFill/>
          <a:ln/>
        </p:spPr>
        <p:txBody>
          <a:bodyPr wrap="square" lIns="0" tIns="0" rIns="0" bIns="0" rtlCol="0" anchor="ctr"/>
          <a:lstStyle/>
          <a:p>
            <a:pPr marL="0" indent="0">
              <a:buNone/>
            </a:pPr>
            <a:r>
              <a:rPr lang="en-US" sz="1300" dirty="0">
                <a:solidFill>
                  <a:srgbClr val="595959"/>
                </a:solidFill>
                <a:latin typeface="Aptos" pitchFamily="34" charset="0"/>
              </a:rPr>
              <a:t>vulnerability sources</a:t>
            </a:r>
            <a:r>
              <a:rPr lang="en-US" sz="1300" dirty="0">
                <a:solidFill>
                  <a:srgbClr val="595959"/>
                </a:solidFill>
                <a:latin typeface="Aptos" pitchFamily="34" charset="0"/>
                <a:ea typeface="Aptos" pitchFamily="34" charset="-122"/>
                <a:cs typeface="Aptos" pitchFamily="34" charset="-120"/>
              </a:rPr>
              <a:t>, NVD and MSRC</a:t>
            </a:r>
            <a:endParaRPr lang="en-US" sz="1300" dirty="0"/>
          </a:p>
        </p:txBody>
      </p:sp>
      <p:sp>
        <p:nvSpPr>
          <p:cNvPr id="106" name="Shape 6"/>
          <p:cNvSpPr/>
          <p:nvPr/>
        </p:nvSpPr>
        <p:spPr>
          <a:xfrm>
            <a:off x="841248" y="3611880"/>
            <a:ext cx="3246120" cy="786384"/>
          </a:xfrm>
          <a:prstGeom prst="roundRect">
            <a:avLst>
              <a:gd name="adj" fmla="val 9302"/>
            </a:avLst>
          </a:prstGeom>
          <a:solidFill>
            <a:srgbClr val="FFFFFF">
              <a:alpha val="0"/>
            </a:srgbClr>
          </a:solidFill>
          <a:ln w="12700">
            <a:solidFill>
              <a:srgbClr val="C9C4C1"/>
            </a:solidFill>
            <a:prstDash val="solid"/>
          </a:ln>
        </p:spPr>
        <p:txBody>
          <a:bodyPr/>
          <a:lstStyle/>
          <a:p>
            <a:endParaRPr lang="en-US"/>
          </a:p>
        </p:txBody>
      </p:sp>
      <p:sp>
        <p:nvSpPr>
          <p:cNvPr id="107" name="Text 7"/>
          <p:cNvSpPr txBox="1"/>
          <p:nvPr/>
        </p:nvSpPr>
        <p:spPr>
          <a:xfrm>
            <a:off x="1005840" y="3611880"/>
            <a:ext cx="1143000" cy="786384"/>
          </a:xfrm>
          <a:prstGeom prst="rect">
            <a:avLst/>
          </a:prstGeom>
          <a:noFill/>
          <a:ln/>
        </p:spPr>
        <p:txBody>
          <a:bodyPr wrap="square" lIns="0" tIns="0" rIns="0" bIns="0" rtlCol="0" anchor="ctr"/>
          <a:lstStyle/>
          <a:p>
            <a:pPr marL="0" indent="0">
              <a:buNone/>
            </a:pPr>
            <a:r>
              <a:rPr lang="en-US" sz="2200" b="1" dirty="0">
                <a:solidFill>
                  <a:srgbClr val="156082"/>
                </a:solidFill>
                <a:latin typeface="Aptos" pitchFamily="34" charset="0"/>
                <a:ea typeface="Aptos" pitchFamily="34" charset="-122"/>
                <a:cs typeface="Aptos" pitchFamily="34" charset="-120"/>
              </a:rPr>
              <a:t>64</a:t>
            </a:r>
            <a:endParaRPr lang="en-US" sz="2200" dirty="0"/>
          </a:p>
        </p:txBody>
      </p:sp>
      <p:sp>
        <p:nvSpPr>
          <p:cNvPr id="108" name="Text 8"/>
          <p:cNvSpPr txBox="1"/>
          <p:nvPr/>
        </p:nvSpPr>
        <p:spPr>
          <a:xfrm>
            <a:off x="2212848" y="3611880"/>
            <a:ext cx="1737360" cy="786384"/>
          </a:xfrm>
          <a:prstGeom prst="rect">
            <a:avLst/>
          </a:prstGeom>
          <a:noFill/>
          <a:ln/>
        </p:spPr>
        <p:txBody>
          <a:bodyPr wrap="square" lIns="0" tIns="0" rIns="0" bIns="0" rtlCol="0" anchor="ctr"/>
          <a:lstStyle/>
          <a:p>
            <a:pPr marL="0" indent="0">
              <a:buNone/>
            </a:pPr>
            <a:r>
              <a:rPr lang="en-US" sz="1300" dirty="0">
                <a:solidFill>
                  <a:srgbClr val="595959"/>
                </a:solidFill>
                <a:latin typeface="Aptos" pitchFamily="34" charset="0"/>
                <a:ea typeface="Aptos" pitchFamily="34" charset="-122"/>
                <a:cs typeface="Aptos" pitchFamily="34" charset="-120"/>
              </a:rPr>
              <a:t>C++ safety talks from the last decade</a:t>
            </a:r>
            <a:endParaRPr lang="en-US" sz="1300" dirty="0"/>
          </a:p>
        </p:txBody>
      </p:sp>
      <p:sp>
        <p:nvSpPr>
          <p:cNvPr id="109" name="Shape 9"/>
          <p:cNvSpPr/>
          <p:nvPr/>
        </p:nvSpPr>
        <p:spPr>
          <a:xfrm>
            <a:off x="841248" y="4526280"/>
            <a:ext cx="3246120" cy="786384"/>
          </a:xfrm>
          <a:prstGeom prst="roundRect">
            <a:avLst>
              <a:gd name="adj" fmla="val 9302"/>
            </a:avLst>
          </a:prstGeom>
          <a:solidFill>
            <a:srgbClr val="FFFFFF">
              <a:alpha val="0"/>
            </a:srgbClr>
          </a:solidFill>
          <a:ln w="12700">
            <a:solidFill>
              <a:srgbClr val="C9C4C1"/>
            </a:solidFill>
            <a:prstDash val="solid"/>
          </a:ln>
        </p:spPr>
        <p:txBody>
          <a:bodyPr/>
          <a:lstStyle/>
          <a:p>
            <a:endParaRPr lang="en-US"/>
          </a:p>
        </p:txBody>
      </p:sp>
      <p:sp>
        <p:nvSpPr>
          <p:cNvPr id="110" name="Text 10"/>
          <p:cNvSpPr txBox="1"/>
          <p:nvPr/>
        </p:nvSpPr>
        <p:spPr>
          <a:xfrm>
            <a:off x="1005840" y="4526280"/>
            <a:ext cx="1143000" cy="786384"/>
          </a:xfrm>
          <a:prstGeom prst="rect">
            <a:avLst/>
          </a:prstGeom>
          <a:noFill/>
          <a:ln/>
        </p:spPr>
        <p:txBody>
          <a:bodyPr wrap="square" lIns="0" tIns="0" rIns="0" bIns="0" rtlCol="0" anchor="ctr"/>
          <a:lstStyle/>
          <a:p>
            <a:pPr marL="0" indent="0">
              <a:buNone/>
            </a:pPr>
            <a:r>
              <a:rPr lang="en-US" sz="2200" b="1" dirty="0">
                <a:solidFill>
                  <a:srgbClr val="156082"/>
                </a:solidFill>
                <a:latin typeface="Aptos" pitchFamily="34" charset="0"/>
                <a:ea typeface="Aptos" pitchFamily="34" charset="-122"/>
                <a:cs typeface="Aptos" pitchFamily="34" charset="-120"/>
              </a:rPr>
              <a:t>3,722</a:t>
            </a:r>
            <a:endParaRPr lang="en-US" sz="2200" dirty="0"/>
          </a:p>
        </p:txBody>
      </p:sp>
      <p:sp>
        <p:nvSpPr>
          <p:cNvPr id="111" name="Text 11"/>
          <p:cNvSpPr txBox="1"/>
          <p:nvPr/>
        </p:nvSpPr>
        <p:spPr>
          <a:xfrm>
            <a:off x="2212848" y="4526280"/>
            <a:ext cx="1737360" cy="786384"/>
          </a:xfrm>
          <a:prstGeom prst="rect">
            <a:avLst/>
          </a:prstGeom>
          <a:noFill/>
          <a:ln/>
        </p:spPr>
        <p:txBody>
          <a:bodyPr wrap="square" lIns="0" tIns="0" rIns="0" bIns="0" rtlCol="0" anchor="ctr"/>
          <a:lstStyle/>
          <a:p>
            <a:pPr marL="0" indent="0">
              <a:buNone/>
            </a:pPr>
            <a:r>
              <a:rPr lang="en-US" sz="1300" dirty="0">
                <a:solidFill>
                  <a:srgbClr val="595959"/>
                </a:solidFill>
                <a:latin typeface="Aptos" pitchFamily="34" charset="0"/>
                <a:ea typeface="Aptos" pitchFamily="34" charset="-122"/>
                <a:cs typeface="Aptos" pitchFamily="34" charset="-120"/>
              </a:rPr>
              <a:t>compiler and analyzer diagnostics</a:t>
            </a:r>
            <a:endParaRPr lang="en-US" sz="1300" dirty="0"/>
          </a:p>
        </p:txBody>
      </p:sp>
      <p:sp>
        <p:nvSpPr>
          <p:cNvPr id="112" name="Shape 12"/>
          <p:cNvSpPr/>
          <p:nvPr/>
        </p:nvSpPr>
        <p:spPr>
          <a:xfrm>
            <a:off x="841248" y="5440680"/>
            <a:ext cx="3246120" cy="786384"/>
          </a:xfrm>
          <a:prstGeom prst="roundRect">
            <a:avLst>
              <a:gd name="adj" fmla="val 9302"/>
            </a:avLst>
          </a:prstGeom>
          <a:solidFill>
            <a:srgbClr val="FFFFFF">
              <a:alpha val="0"/>
            </a:srgbClr>
          </a:solidFill>
          <a:ln w="12700">
            <a:solidFill>
              <a:srgbClr val="C9C4C1"/>
            </a:solidFill>
            <a:prstDash val="solid"/>
          </a:ln>
        </p:spPr>
        <p:txBody>
          <a:bodyPr/>
          <a:lstStyle/>
          <a:p>
            <a:endParaRPr lang="en-US"/>
          </a:p>
        </p:txBody>
      </p:sp>
      <p:sp>
        <p:nvSpPr>
          <p:cNvPr id="113" name="Text 13"/>
          <p:cNvSpPr txBox="1"/>
          <p:nvPr/>
        </p:nvSpPr>
        <p:spPr>
          <a:xfrm>
            <a:off x="1005840" y="5440680"/>
            <a:ext cx="1143000" cy="786384"/>
          </a:xfrm>
          <a:prstGeom prst="rect">
            <a:avLst/>
          </a:prstGeom>
          <a:noFill/>
          <a:ln/>
        </p:spPr>
        <p:txBody>
          <a:bodyPr wrap="square" lIns="0" tIns="0" rIns="0" bIns="0" rtlCol="0" anchor="ctr"/>
          <a:lstStyle/>
          <a:p>
            <a:pPr marL="0" indent="0">
              <a:buNone/>
            </a:pPr>
            <a:r>
              <a:rPr lang="en-US" sz="2200" b="1" dirty="0">
                <a:solidFill>
                  <a:srgbClr val="156082"/>
                </a:solidFill>
                <a:latin typeface="Aptos" pitchFamily="34" charset="0"/>
                <a:ea typeface="Aptos" pitchFamily="34" charset="-122"/>
                <a:cs typeface="Aptos" pitchFamily="34" charset="-120"/>
              </a:rPr>
              <a:t>940</a:t>
            </a:r>
            <a:endParaRPr lang="en-US" sz="2200" dirty="0"/>
          </a:p>
        </p:txBody>
      </p:sp>
      <p:sp>
        <p:nvSpPr>
          <p:cNvPr id="114" name="Text 14"/>
          <p:cNvSpPr txBox="1"/>
          <p:nvPr/>
        </p:nvSpPr>
        <p:spPr>
          <a:xfrm>
            <a:off x="2212848" y="5440680"/>
            <a:ext cx="1737360" cy="786384"/>
          </a:xfrm>
          <a:prstGeom prst="rect">
            <a:avLst/>
          </a:prstGeom>
          <a:noFill/>
          <a:ln/>
        </p:spPr>
        <p:txBody>
          <a:bodyPr wrap="square" lIns="0" tIns="0" rIns="0" bIns="0" rtlCol="0" anchor="ctr"/>
          <a:lstStyle/>
          <a:p>
            <a:pPr marL="0" indent="0">
              <a:buNone/>
            </a:pPr>
            <a:r>
              <a:rPr lang="en-US" sz="1300" dirty="0">
                <a:solidFill>
                  <a:srgbClr val="595959"/>
                </a:solidFill>
                <a:latin typeface="Aptos" pitchFamily="34" charset="0"/>
                <a:ea typeface="Aptos" pitchFamily="34" charset="-122"/>
                <a:cs typeface="Aptos" pitchFamily="34" charset="-120"/>
              </a:rPr>
              <a:t>weakness types in the CWE catalog</a:t>
            </a:r>
            <a:endParaRPr lang="en-US" sz="1300" dirty="0"/>
          </a:p>
        </p:txBody>
      </p:sp>
      <p:sp>
        <p:nvSpPr>
          <p:cNvPr id="115" name="Shape 15"/>
          <p:cNvSpPr/>
          <p:nvPr/>
        </p:nvSpPr>
        <p:spPr>
          <a:xfrm>
            <a:off x="4197096" y="3822192"/>
            <a:ext cx="411480" cy="365760"/>
          </a:xfrm>
          <a:prstGeom prst="rightArrow">
            <a:avLst/>
          </a:prstGeom>
          <a:solidFill>
            <a:srgbClr val="C9C4C1"/>
          </a:solidFill>
          <a:ln w="12700">
            <a:solidFill>
              <a:srgbClr val="C9C4C1"/>
            </a:solidFill>
            <a:prstDash val="solid"/>
          </a:ln>
        </p:spPr>
        <p:txBody>
          <a:bodyPr/>
          <a:lstStyle/>
          <a:p>
            <a:endParaRPr lang="en-US"/>
          </a:p>
        </p:txBody>
      </p:sp>
      <p:sp>
        <p:nvSpPr>
          <p:cNvPr id="116" name="Shape 16"/>
          <p:cNvSpPr/>
          <p:nvPr/>
        </p:nvSpPr>
        <p:spPr>
          <a:xfrm>
            <a:off x="4727448" y="3319272"/>
            <a:ext cx="1371600" cy="1371600"/>
          </a:xfrm>
          <a:prstGeom prst="roundRect">
            <a:avLst>
              <a:gd name="adj" fmla="val 6667"/>
            </a:avLst>
          </a:prstGeom>
          <a:solidFill>
            <a:srgbClr val="0E2841"/>
          </a:solidFill>
          <a:ln w="12700">
            <a:solidFill>
              <a:srgbClr val="0E2841"/>
            </a:solidFill>
            <a:prstDash val="solid"/>
          </a:ln>
        </p:spPr>
        <p:txBody>
          <a:bodyPr/>
          <a:lstStyle/>
          <a:p>
            <a:endParaRPr lang="en-US"/>
          </a:p>
        </p:txBody>
      </p:sp>
      <p:sp>
        <p:nvSpPr>
          <p:cNvPr id="117" name="Text 17"/>
          <p:cNvSpPr txBox="1"/>
          <p:nvPr/>
        </p:nvSpPr>
        <p:spPr>
          <a:xfrm>
            <a:off x="4727448" y="3319272"/>
            <a:ext cx="1371600" cy="1371600"/>
          </a:xfrm>
          <a:prstGeom prst="rect">
            <a:avLst/>
          </a:prstGeom>
          <a:noFill/>
          <a:ln/>
        </p:spPr>
        <p:txBody>
          <a:bodyPr wrap="square" lIns="0" tIns="0" rIns="0" bIns="0" rtlCol="0" anchor="ctr"/>
          <a:lstStyle/>
          <a:p>
            <a:pPr marL="0" indent="0" algn="ctr">
              <a:buNone/>
            </a:pPr>
            <a:r>
              <a:rPr lang="en-US" sz="8000" b="1" dirty="0">
                <a:solidFill>
                  <a:srgbClr val="FFFFFF"/>
                </a:solidFill>
                <a:latin typeface="Aptos" pitchFamily="34" charset="0"/>
                <a:ea typeface="Aptos" pitchFamily="34" charset="-122"/>
                <a:cs typeface="Aptos" pitchFamily="34" charset="-120"/>
              </a:rPr>
              <a:t>?</a:t>
            </a:r>
            <a:endParaRPr lang="en-US" sz="8000" dirty="0"/>
          </a:p>
        </p:txBody>
      </p:sp>
      <p:sp>
        <p:nvSpPr>
          <p:cNvPr id="118" name="Shape 18"/>
          <p:cNvSpPr/>
          <p:nvPr/>
        </p:nvSpPr>
        <p:spPr>
          <a:xfrm>
            <a:off x="6208776" y="3822192"/>
            <a:ext cx="411480" cy="365760"/>
          </a:xfrm>
          <a:prstGeom prst="rightArrow">
            <a:avLst/>
          </a:prstGeom>
          <a:solidFill>
            <a:srgbClr val="C9C4C1"/>
          </a:solidFill>
          <a:ln w="12700">
            <a:solidFill>
              <a:srgbClr val="C9C4C1"/>
            </a:solidFill>
            <a:prstDash val="solid"/>
          </a:ln>
        </p:spPr>
        <p:txBody>
          <a:bodyPr/>
          <a:lstStyle/>
          <a:p>
            <a:endParaRPr lang="en-US"/>
          </a:p>
        </p:txBody>
      </p:sp>
      <p:sp>
        <p:nvSpPr>
          <p:cNvPr id="119" name="Shape 19"/>
          <p:cNvSpPr/>
          <p:nvPr/>
        </p:nvSpPr>
        <p:spPr>
          <a:xfrm>
            <a:off x="6739128" y="1783080"/>
            <a:ext cx="4617720" cy="4581144"/>
          </a:xfrm>
          <a:prstGeom prst="roundRect">
            <a:avLst>
              <a:gd name="adj" fmla="val 1597"/>
            </a:avLst>
          </a:prstGeom>
          <a:solidFill>
            <a:srgbClr val="FFFFFF">
              <a:alpha val="0"/>
            </a:srgbClr>
          </a:solidFill>
          <a:ln w="12700">
            <a:solidFill>
              <a:srgbClr val="C9C4C1"/>
            </a:solidFill>
            <a:prstDash val="solid"/>
          </a:ln>
        </p:spPr>
        <p:txBody>
          <a:bodyPr/>
          <a:lstStyle/>
          <a:p>
            <a:endParaRPr lang="en-US"/>
          </a:p>
        </p:txBody>
      </p:sp>
      <p:sp>
        <p:nvSpPr>
          <p:cNvPr id="120" name="Text 20"/>
          <p:cNvSpPr txBox="1"/>
          <p:nvPr/>
        </p:nvSpPr>
        <p:spPr>
          <a:xfrm>
            <a:off x="6940296" y="1929384"/>
            <a:ext cx="4215384" cy="256032"/>
          </a:xfrm>
          <a:prstGeom prst="rect">
            <a:avLst/>
          </a:prstGeom>
          <a:noFill/>
          <a:ln/>
        </p:spPr>
        <p:txBody>
          <a:bodyPr wrap="square" lIns="0" tIns="0" rIns="0" bIns="0" rtlCol="0" anchor="ctr"/>
          <a:lstStyle/>
          <a:p>
            <a:pPr marL="0" indent="0">
              <a:buNone/>
            </a:pPr>
            <a:r>
              <a:rPr lang="en-US" sz="1400" b="1" dirty="0">
                <a:solidFill>
                  <a:srgbClr val="1A1A1A"/>
                </a:solidFill>
                <a:latin typeface="Aptos" pitchFamily="34" charset="0"/>
                <a:ea typeface="Aptos" pitchFamily="34" charset="-122"/>
                <a:cs typeface="Aptos" pitchFamily="34" charset="-120"/>
              </a:rPr>
              <a:t>Memory safety</a:t>
            </a:r>
            <a:endParaRPr lang="en-US" sz="1400" dirty="0"/>
          </a:p>
        </p:txBody>
      </p:sp>
      <p:sp>
        <p:nvSpPr>
          <p:cNvPr id="121" name="Text 21"/>
          <p:cNvSpPr txBox="1"/>
          <p:nvPr/>
        </p:nvSpPr>
        <p:spPr>
          <a:xfrm>
            <a:off x="6940296" y="2185416"/>
            <a:ext cx="4215384" cy="201168"/>
          </a:xfrm>
          <a:prstGeom prst="rect">
            <a:avLst/>
          </a:prstGeom>
          <a:noFill/>
          <a:ln/>
        </p:spPr>
        <p:txBody>
          <a:bodyPr wrap="square" lIns="0" tIns="0" rIns="0" bIns="0" rtlCol="0" anchor="t"/>
          <a:lstStyle/>
          <a:p>
            <a:pPr marL="0" indent="0">
              <a:lnSpc>
                <a:spcPct val="100000"/>
              </a:lnSpc>
              <a:buNone/>
            </a:pPr>
            <a:r>
              <a:rPr lang="en-US" sz="1050" dirty="0">
                <a:solidFill>
                  <a:srgbClr val="595959"/>
                </a:solidFill>
                <a:latin typeface="Aptos" pitchFamily="34" charset="0"/>
                <a:ea typeface="Aptos" pitchFamily="34" charset="-122"/>
                <a:cs typeface="Aptos" pitchFamily="34" charset="-120"/>
              </a:rPr>
              <a:t>Bounds, Initialization, Lifetime, Null, Alignment, Aliasing</a:t>
            </a:r>
            <a:endParaRPr lang="en-US" sz="1050" dirty="0"/>
          </a:p>
        </p:txBody>
      </p:sp>
      <p:sp>
        <p:nvSpPr>
          <p:cNvPr id="122" name="Shape 22"/>
          <p:cNvSpPr/>
          <p:nvPr/>
        </p:nvSpPr>
        <p:spPr>
          <a:xfrm>
            <a:off x="6940296" y="2450592"/>
            <a:ext cx="4215384" cy="7315"/>
          </a:xfrm>
          <a:prstGeom prst="rect">
            <a:avLst/>
          </a:prstGeom>
          <a:solidFill>
            <a:srgbClr val="C9C4C1"/>
          </a:solidFill>
          <a:ln w="12700">
            <a:solidFill>
              <a:srgbClr val="C9C4C1"/>
            </a:solidFill>
            <a:prstDash val="solid"/>
          </a:ln>
        </p:spPr>
        <p:txBody>
          <a:bodyPr/>
          <a:lstStyle/>
          <a:p>
            <a:endParaRPr lang="en-US"/>
          </a:p>
        </p:txBody>
      </p:sp>
      <p:sp>
        <p:nvSpPr>
          <p:cNvPr id="123" name="Text 23"/>
          <p:cNvSpPr txBox="1"/>
          <p:nvPr/>
        </p:nvSpPr>
        <p:spPr>
          <a:xfrm>
            <a:off x="6940296" y="2532888"/>
            <a:ext cx="4215384" cy="256032"/>
          </a:xfrm>
          <a:prstGeom prst="rect">
            <a:avLst/>
          </a:prstGeom>
          <a:noFill/>
          <a:ln/>
        </p:spPr>
        <p:txBody>
          <a:bodyPr wrap="square" lIns="0" tIns="0" rIns="0" bIns="0" rtlCol="0" anchor="ctr"/>
          <a:lstStyle/>
          <a:p>
            <a:pPr marL="0" indent="0">
              <a:buNone/>
            </a:pPr>
            <a:r>
              <a:rPr lang="en-US" sz="1400" b="1" dirty="0">
                <a:solidFill>
                  <a:srgbClr val="1A1A1A"/>
                </a:solidFill>
                <a:latin typeface="Aptos" pitchFamily="34" charset="0"/>
                <a:ea typeface="Aptos" pitchFamily="34" charset="-122"/>
                <a:cs typeface="Aptos" pitchFamily="34" charset="-120"/>
              </a:rPr>
              <a:t>Type and value safety</a:t>
            </a:r>
            <a:endParaRPr lang="en-US" sz="1400" dirty="0"/>
          </a:p>
        </p:txBody>
      </p:sp>
      <p:sp>
        <p:nvSpPr>
          <p:cNvPr id="124" name="Text 24"/>
          <p:cNvSpPr txBox="1"/>
          <p:nvPr/>
        </p:nvSpPr>
        <p:spPr>
          <a:xfrm>
            <a:off x="6940296" y="2788920"/>
            <a:ext cx="4215384" cy="365760"/>
          </a:xfrm>
          <a:prstGeom prst="rect">
            <a:avLst/>
          </a:prstGeom>
          <a:noFill/>
          <a:ln/>
        </p:spPr>
        <p:txBody>
          <a:bodyPr wrap="square" lIns="0" tIns="0" rIns="0" bIns="0" rtlCol="0" anchor="t"/>
          <a:lstStyle/>
          <a:p>
            <a:pPr marL="0" indent="0">
              <a:lnSpc>
                <a:spcPct val="100000"/>
              </a:lnSpc>
              <a:buNone/>
            </a:pPr>
            <a:r>
              <a:rPr lang="en-US" sz="1050" dirty="0">
                <a:solidFill>
                  <a:srgbClr val="595959"/>
                </a:solidFill>
                <a:latin typeface="Aptos" pitchFamily="34" charset="0"/>
                <a:ea typeface="Aptos" pitchFamily="34" charset="-122"/>
                <a:cs typeface="Aptos" pitchFamily="34" charset="-120"/>
              </a:rPr>
              <a:t>Type, Arithmetic, Conversion, Const, Enum, Floating point, Comparison, Object model</a:t>
            </a:r>
            <a:endParaRPr lang="en-US" sz="1050" dirty="0"/>
          </a:p>
        </p:txBody>
      </p:sp>
      <p:sp>
        <p:nvSpPr>
          <p:cNvPr id="125" name="Shape 25"/>
          <p:cNvSpPr/>
          <p:nvPr/>
        </p:nvSpPr>
        <p:spPr>
          <a:xfrm>
            <a:off x="6940296" y="3218688"/>
            <a:ext cx="4215384" cy="7315"/>
          </a:xfrm>
          <a:prstGeom prst="rect">
            <a:avLst/>
          </a:prstGeom>
          <a:solidFill>
            <a:srgbClr val="C9C4C1"/>
          </a:solidFill>
          <a:ln w="12700">
            <a:solidFill>
              <a:srgbClr val="C9C4C1"/>
            </a:solidFill>
            <a:prstDash val="solid"/>
          </a:ln>
        </p:spPr>
        <p:txBody>
          <a:bodyPr/>
          <a:lstStyle/>
          <a:p>
            <a:endParaRPr lang="en-US"/>
          </a:p>
        </p:txBody>
      </p:sp>
      <p:sp>
        <p:nvSpPr>
          <p:cNvPr id="126" name="Text 26"/>
          <p:cNvSpPr txBox="1"/>
          <p:nvPr/>
        </p:nvSpPr>
        <p:spPr>
          <a:xfrm>
            <a:off x="6940296" y="3300984"/>
            <a:ext cx="4215384" cy="256032"/>
          </a:xfrm>
          <a:prstGeom prst="rect">
            <a:avLst/>
          </a:prstGeom>
          <a:noFill/>
          <a:ln/>
        </p:spPr>
        <p:txBody>
          <a:bodyPr wrap="square" lIns="0" tIns="0" rIns="0" bIns="0" rtlCol="0" anchor="ctr"/>
          <a:lstStyle/>
          <a:p>
            <a:pPr marL="0" indent="0">
              <a:buNone/>
            </a:pPr>
            <a:r>
              <a:rPr lang="en-US" sz="1400" b="1" dirty="0">
                <a:solidFill>
                  <a:srgbClr val="1A1A1A"/>
                </a:solidFill>
                <a:latin typeface="Aptos" pitchFamily="34" charset="0"/>
                <a:ea typeface="Aptos" pitchFamily="34" charset="-122"/>
                <a:cs typeface="Aptos" pitchFamily="34" charset="-120"/>
              </a:rPr>
              <a:t>Control flow and error safety</a:t>
            </a:r>
            <a:endParaRPr lang="en-US" sz="1400" dirty="0"/>
          </a:p>
        </p:txBody>
      </p:sp>
      <p:sp>
        <p:nvSpPr>
          <p:cNvPr id="127" name="Text 27"/>
          <p:cNvSpPr txBox="1"/>
          <p:nvPr/>
        </p:nvSpPr>
        <p:spPr>
          <a:xfrm>
            <a:off x="6940296" y="3557016"/>
            <a:ext cx="4215384" cy="365760"/>
          </a:xfrm>
          <a:prstGeom prst="rect">
            <a:avLst/>
          </a:prstGeom>
          <a:noFill/>
          <a:ln/>
        </p:spPr>
        <p:txBody>
          <a:bodyPr wrap="square" lIns="0" tIns="0" rIns="0" bIns="0" rtlCol="0" anchor="t"/>
          <a:lstStyle/>
          <a:p>
            <a:pPr marL="0" indent="0">
              <a:lnSpc>
                <a:spcPct val="100000"/>
              </a:lnSpc>
              <a:buNone/>
            </a:pPr>
            <a:r>
              <a:rPr lang="en-US" sz="1050" dirty="0">
                <a:solidFill>
                  <a:srgbClr val="595959"/>
                </a:solidFill>
                <a:latin typeface="Aptos" pitchFamily="34" charset="0"/>
                <a:ea typeface="Aptos" pitchFamily="34" charset="-122"/>
                <a:cs typeface="Aptos" pitchFamily="34" charset="-120"/>
              </a:rPr>
              <a:t>Exception safety, Error handling, Signal/Reentrancy, Forward progress, Control-flow integrity, Evaluation order</a:t>
            </a:r>
            <a:endParaRPr lang="en-US" sz="1050" dirty="0"/>
          </a:p>
        </p:txBody>
      </p:sp>
      <p:sp>
        <p:nvSpPr>
          <p:cNvPr id="128" name="Shape 28"/>
          <p:cNvSpPr/>
          <p:nvPr/>
        </p:nvSpPr>
        <p:spPr>
          <a:xfrm>
            <a:off x="6940296" y="3986784"/>
            <a:ext cx="4215384" cy="7315"/>
          </a:xfrm>
          <a:prstGeom prst="rect">
            <a:avLst/>
          </a:prstGeom>
          <a:solidFill>
            <a:srgbClr val="C9C4C1"/>
          </a:solidFill>
          <a:ln w="12700">
            <a:solidFill>
              <a:srgbClr val="C9C4C1"/>
            </a:solidFill>
            <a:prstDash val="solid"/>
          </a:ln>
        </p:spPr>
        <p:txBody>
          <a:bodyPr/>
          <a:lstStyle/>
          <a:p>
            <a:endParaRPr lang="en-US"/>
          </a:p>
        </p:txBody>
      </p:sp>
      <p:sp>
        <p:nvSpPr>
          <p:cNvPr id="129" name="Text 29"/>
          <p:cNvSpPr txBox="1"/>
          <p:nvPr/>
        </p:nvSpPr>
        <p:spPr>
          <a:xfrm>
            <a:off x="6940296" y="4069080"/>
            <a:ext cx="4215384" cy="256032"/>
          </a:xfrm>
          <a:prstGeom prst="rect">
            <a:avLst/>
          </a:prstGeom>
          <a:noFill/>
          <a:ln/>
        </p:spPr>
        <p:txBody>
          <a:bodyPr wrap="square" lIns="0" tIns="0" rIns="0" bIns="0" rtlCol="0" anchor="ctr"/>
          <a:lstStyle/>
          <a:p>
            <a:pPr marL="0" indent="0">
              <a:buNone/>
            </a:pPr>
            <a:r>
              <a:rPr lang="en-US" sz="1400" b="1" dirty="0">
                <a:solidFill>
                  <a:srgbClr val="1A1A1A"/>
                </a:solidFill>
                <a:latin typeface="Aptos" pitchFamily="34" charset="0"/>
                <a:ea typeface="Aptos" pitchFamily="34" charset="-122"/>
                <a:cs typeface="Aptos" pitchFamily="34" charset="-120"/>
              </a:rPr>
              <a:t>Concurrency safety</a:t>
            </a:r>
            <a:endParaRPr lang="en-US" sz="1400" dirty="0"/>
          </a:p>
        </p:txBody>
      </p:sp>
      <p:sp>
        <p:nvSpPr>
          <p:cNvPr id="130" name="Text 30"/>
          <p:cNvSpPr txBox="1"/>
          <p:nvPr/>
        </p:nvSpPr>
        <p:spPr>
          <a:xfrm>
            <a:off x="6940296" y="4325112"/>
            <a:ext cx="4215384" cy="201168"/>
          </a:xfrm>
          <a:prstGeom prst="rect">
            <a:avLst/>
          </a:prstGeom>
          <a:noFill/>
          <a:ln/>
        </p:spPr>
        <p:txBody>
          <a:bodyPr wrap="square" lIns="0" tIns="0" rIns="0" bIns="0" rtlCol="0" anchor="t"/>
          <a:lstStyle/>
          <a:p>
            <a:pPr marL="0" indent="0">
              <a:lnSpc>
                <a:spcPct val="100000"/>
              </a:lnSpc>
              <a:buNone/>
            </a:pPr>
            <a:r>
              <a:rPr lang="en-US" sz="1050" dirty="0">
                <a:solidFill>
                  <a:srgbClr val="595959"/>
                </a:solidFill>
                <a:latin typeface="Aptos" pitchFamily="34" charset="0"/>
                <a:ea typeface="Aptos" pitchFamily="34" charset="-122"/>
                <a:cs typeface="Aptos" pitchFamily="34" charset="-120"/>
              </a:rPr>
              <a:t>Data races, Atomicity/Ordering, Liveness</a:t>
            </a:r>
            <a:endParaRPr lang="en-US" sz="1050" dirty="0"/>
          </a:p>
        </p:txBody>
      </p:sp>
      <p:sp>
        <p:nvSpPr>
          <p:cNvPr id="131" name="Shape 31"/>
          <p:cNvSpPr/>
          <p:nvPr/>
        </p:nvSpPr>
        <p:spPr>
          <a:xfrm>
            <a:off x="6940296" y="4590288"/>
            <a:ext cx="4215384" cy="7315"/>
          </a:xfrm>
          <a:prstGeom prst="rect">
            <a:avLst/>
          </a:prstGeom>
          <a:solidFill>
            <a:srgbClr val="C9C4C1"/>
          </a:solidFill>
          <a:ln w="12700">
            <a:solidFill>
              <a:srgbClr val="C9C4C1"/>
            </a:solidFill>
            <a:prstDash val="solid"/>
          </a:ln>
        </p:spPr>
        <p:txBody>
          <a:bodyPr/>
          <a:lstStyle/>
          <a:p>
            <a:endParaRPr lang="en-US"/>
          </a:p>
        </p:txBody>
      </p:sp>
      <p:sp>
        <p:nvSpPr>
          <p:cNvPr id="132" name="Text 32"/>
          <p:cNvSpPr txBox="1"/>
          <p:nvPr/>
        </p:nvSpPr>
        <p:spPr>
          <a:xfrm>
            <a:off x="6940296" y="4672584"/>
            <a:ext cx="4215384" cy="256032"/>
          </a:xfrm>
          <a:prstGeom prst="rect">
            <a:avLst/>
          </a:prstGeom>
          <a:noFill/>
          <a:ln/>
        </p:spPr>
        <p:txBody>
          <a:bodyPr wrap="square" lIns="0" tIns="0" rIns="0" bIns="0" rtlCol="0" anchor="ctr"/>
          <a:lstStyle/>
          <a:p>
            <a:pPr marL="0" indent="0">
              <a:buNone/>
            </a:pPr>
            <a:r>
              <a:rPr lang="en-US" sz="1400" b="1" dirty="0">
                <a:solidFill>
                  <a:srgbClr val="1A1A1A"/>
                </a:solidFill>
                <a:latin typeface="Aptos" pitchFamily="34" charset="0"/>
                <a:ea typeface="Aptos" pitchFamily="34" charset="-122"/>
                <a:cs typeface="Aptos" pitchFamily="34" charset="-120"/>
              </a:rPr>
              <a:t>Resource safety</a:t>
            </a:r>
            <a:endParaRPr lang="en-US" sz="1400" dirty="0"/>
          </a:p>
        </p:txBody>
      </p:sp>
      <p:sp>
        <p:nvSpPr>
          <p:cNvPr id="133" name="Text 33"/>
          <p:cNvSpPr txBox="1"/>
          <p:nvPr/>
        </p:nvSpPr>
        <p:spPr>
          <a:xfrm>
            <a:off x="6940296" y="4928616"/>
            <a:ext cx="4215384" cy="201168"/>
          </a:xfrm>
          <a:prstGeom prst="rect">
            <a:avLst/>
          </a:prstGeom>
          <a:noFill/>
          <a:ln/>
        </p:spPr>
        <p:txBody>
          <a:bodyPr wrap="square" lIns="0" tIns="0" rIns="0" bIns="0" rtlCol="0" anchor="t"/>
          <a:lstStyle/>
          <a:p>
            <a:pPr marL="0" indent="0">
              <a:lnSpc>
                <a:spcPct val="100000"/>
              </a:lnSpc>
              <a:buNone/>
            </a:pPr>
            <a:r>
              <a:rPr lang="en-US" sz="1050" dirty="0">
                <a:solidFill>
                  <a:srgbClr val="595959"/>
                </a:solidFill>
                <a:latin typeface="Aptos" pitchFamily="34" charset="0"/>
                <a:ea typeface="Aptos" pitchFamily="34" charset="-122"/>
                <a:cs typeface="Aptos" pitchFamily="34" charset="-120"/>
              </a:rPr>
              <a:t>Allocation, Stack, Non-memory resources</a:t>
            </a:r>
            <a:endParaRPr lang="en-US" sz="1050" dirty="0"/>
          </a:p>
        </p:txBody>
      </p:sp>
      <p:sp>
        <p:nvSpPr>
          <p:cNvPr id="134" name="Shape 34"/>
          <p:cNvSpPr/>
          <p:nvPr/>
        </p:nvSpPr>
        <p:spPr>
          <a:xfrm>
            <a:off x="6940296" y="5193792"/>
            <a:ext cx="4215384" cy="7315"/>
          </a:xfrm>
          <a:prstGeom prst="rect">
            <a:avLst/>
          </a:prstGeom>
          <a:solidFill>
            <a:srgbClr val="C9C4C1"/>
          </a:solidFill>
          <a:ln w="12700">
            <a:solidFill>
              <a:srgbClr val="C9C4C1"/>
            </a:solidFill>
            <a:prstDash val="solid"/>
          </a:ln>
        </p:spPr>
        <p:txBody>
          <a:bodyPr/>
          <a:lstStyle/>
          <a:p>
            <a:endParaRPr lang="en-US"/>
          </a:p>
        </p:txBody>
      </p:sp>
      <p:sp>
        <p:nvSpPr>
          <p:cNvPr id="135" name="Text 35"/>
          <p:cNvSpPr txBox="1"/>
          <p:nvPr/>
        </p:nvSpPr>
        <p:spPr>
          <a:xfrm>
            <a:off x="6940296" y="5276088"/>
            <a:ext cx="4215384" cy="256032"/>
          </a:xfrm>
          <a:prstGeom prst="rect">
            <a:avLst/>
          </a:prstGeom>
          <a:noFill/>
          <a:ln/>
        </p:spPr>
        <p:txBody>
          <a:bodyPr wrap="square" lIns="0" tIns="0" rIns="0" bIns="0" rtlCol="0" anchor="ctr"/>
          <a:lstStyle/>
          <a:p>
            <a:pPr marL="0" indent="0">
              <a:buNone/>
            </a:pPr>
            <a:r>
              <a:rPr lang="en-US" sz="1400" b="1" dirty="0">
                <a:solidFill>
                  <a:srgbClr val="1A1A1A"/>
                </a:solidFill>
                <a:latin typeface="Aptos" pitchFamily="34" charset="0"/>
                <a:ea typeface="Aptos" pitchFamily="34" charset="-122"/>
                <a:cs typeface="Aptos" pitchFamily="34" charset="-120"/>
              </a:rPr>
              <a:t>Structural and build safety</a:t>
            </a:r>
            <a:endParaRPr lang="en-US" sz="1400" dirty="0"/>
          </a:p>
        </p:txBody>
      </p:sp>
      <p:sp>
        <p:nvSpPr>
          <p:cNvPr id="136" name="Text 36"/>
          <p:cNvSpPr txBox="1"/>
          <p:nvPr/>
        </p:nvSpPr>
        <p:spPr>
          <a:xfrm>
            <a:off x="6940296" y="5532120"/>
            <a:ext cx="4215384" cy="201168"/>
          </a:xfrm>
          <a:prstGeom prst="rect">
            <a:avLst/>
          </a:prstGeom>
          <a:noFill/>
          <a:ln/>
        </p:spPr>
        <p:txBody>
          <a:bodyPr wrap="square" lIns="0" tIns="0" rIns="0" bIns="0" rtlCol="0" anchor="t"/>
          <a:lstStyle/>
          <a:p>
            <a:pPr marL="0" indent="0">
              <a:lnSpc>
                <a:spcPct val="100000"/>
              </a:lnSpc>
              <a:buNone/>
            </a:pPr>
            <a:r>
              <a:rPr lang="en-US" sz="1050" dirty="0">
                <a:solidFill>
                  <a:srgbClr val="595959"/>
                </a:solidFill>
                <a:latin typeface="Aptos" pitchFamily="34" charset="0"/>
                <a:ea typeface="Aptos" pitchFamily="34" charset="-122"/>
                <a:cs typeface="Aptos" pitchFamily="34" charset="-120"/>
              </a:rPr>
              <a:t>ODR/IFNDR, ABI, Toolchain/Optimizer</a:t>
            </a:r>
            <a:endParaRPr lang="en-US" sz="1050" dirty="0"/>
          </a:p>
        </p:txBody>
      </p:sp>
      <p:sp>
        <p:nvSpPr>
          <p:cNvPr id="137" name="Shape 37"/>
          <p:cNvSpPr/>
          <p:nvPr/>
        </p:nvSpPr>
        <p:spPr>
          <a:xfrm>
            <a:off x="6940296" y="5797296"/>
            <a:ext cx="4215384" cy="7315"/>
          </a:xfrm>
          <a:prstGeom prst="rect">
            <a:avLst/>
          </a:prstGeom>
          <a:solidFill>
            <a:srgbClr val="C9C4C1"/>
          </a:solidFill>
          <a:ln w="12700">
            <a:solidFill>
              <a:srgbClr val="C9C4C1"/>
            </a:solidFill>
            <a:prstDash val="solid"/>
          </a:ln>
        </p:spPr>
        <p:txBody>
          <a:bodyPr/>
          <a:lstStyle/>
          <a:p>
            <a:endParaRPr lang="en-US"/>
          </a:p>
        </p:txBody>
      </p:sp>
      <p:sp>
        <p:nvSpPr>
          <p:cNvPr id="138" name="Text 38"/>
          <p:cNvSpPr txBox="1"/>
          <p:nvPr/>
        </p:nvSpPr>
        <p:spPr>
          <a:xfrm>
            <a:off x="6940296" y="5879592"/>
            <a:ext cx="4215384" cy="256032"/>
          </a:xfrm>
          <a:prstGeom prst="rect">
            <a:avLst/>
          </a:prstGeom>
          <a:noFill/>
          <a:ln/>
        </p:spPr>
        <p:txBody>
          <a:bodyPr wrap="square" lIns="0" tIns="0" rIns="0" bIns="0" rtlCol="0" anchor="ctr"/>
          <a:lstStyle/>
          <a:p>
            <a:pPr marL="0" indent="0">
              <a:buNone/>
            </a:pPr>
            <a:r>
              <a:rPr lang="en-US" sz="1400" b="1" dirty="0">
                <a:solidFill>
                  <a:srgbClr val="1A1A1A"/>
                </a:solidFill>
                <a:latin typeface="Aptos" pitchFamily="34" charset="0"/>
                <a:ea typeface="Aptos" pitchFamily="34" charset="-122"/>
                <a:cs typeface="Aptos" pitchFamily="34" charset="-120"/>
              </a:rPr>
              <a:t>Interface and data safety</a:t>
            </a:r>
            <a:endParaRPr lang="en-US" sz="1400" dirty="0"/>
          </a:p>
        </p:txBody>
      </p:sp>
      <p:sp>
        <p:nvSpPr>
          <p:cNvPr id="139" name="Text 39"/>
          <p:cNvSpPr txBox="1"/>
          <p:nvPr/>
        </p:nvSpPr>
        <p:spPr>
          <a:xfrm>
            <a:off x="6940296" y="6135624"/>
            <a:ext cx="4215384" cy="201168"/>
          </a:xfrm>
          <a:prstGeom prst="rect">
            <a:avLst/>
          </a:prstGeom>
          <a:noFill/>
          <a:ln/>
        </p:spPr>
        <p:txBody>
          <a:bodyPr wrap="square" lIns="0" tIns="0" rIns="0" bIns="0" rtlCol="0" anchor="t"/>
          <a:lstStyle/>
          <a:p>
            <a:pPr marL="0" indent="0">
              <a:lnSpc>
                <a:spcPct val="100000"/>
              </a:lnSpc>
              <a:buNone/>
            </a:pPr>
            <a:r>
              <a:rPr lang="en-US" sz="1050" dirty="0">
                <a:solidFill>
                  <a:srgbClr val="595959"/>
                </a:solidFill>
                <a:latin typeface="Aptos" pitchFamily="34" charset="0"/>
                <a:ea typeface="Aptos" pitchFamily="34" charset="-122"/>
                <a:cs typeface="Aptos" pitchFamily="34" charset="-120"/>
              </a:rPr>
              <a:t>Strings, Variadic, Units, Deserialization</a:t>
            </a:r>
            <a:endParaRPr lang="en-US" sz="1050" dirty="0"/>
          </a:p>
        </p:txBody>
      </p:sp>
    </p:spTree>
    <p:extLst>
      <p:ext uri="{BB962C8B-B14F-4D97-AF65-F5344CB8AC3E}">
        <p14:creationId xmlns:p14="http://schemas.microsoft.com/office/powerpoint/2010/main" val="195420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C3B21-C0C1-804C-7C71-55BCD29803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F2BF06-1C84-B77F-E30C-F3E577D3E400}"/>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376F600A-B73A-998C-B758-52CC7EFFC087}"/>
              </a:ext>
            </a:extLst>
          </p:cNvPr>
          <p:cNvSpPr/>
          <p:nvPr/>
        </p:nvSpPr>
        <p:spPr>
          <a:xfrm>
            <a:off x="5776264" y="1712531"/>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Initialization</a:t>
            </a:r>
          </a:p>
        </p:txBody>
      </p:sp>
      <p:sp>
        <p:nvSpPr>
          <p:cNvPr id="6" name="Rounded Rectangle 5">
            <a:extLst>
              <a:ext uri="{FF2B5EF4-FFF2-40B4-BE49-F238E27FC236}">
                <a16:creationId xmlns:a16="http://schemas.microsoft.com/office/drawing/2014/main" id="{2CA20C98-F340-C955-71AC-CDD44880DCCC}"/>
              </a:ext>
            </a:extLst>
          </p:cNvPr>
          <p:cNvSpPr/>
          <p:nvPr/>
        </p:nvSpPr>
        <p:spPr>
          <a:xfrm>
            <a:off x="7511796"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Lifetime</a:t>
            </a:r>
          </a:p>
        </p:txBody>
      </p:sp>
      <p:sp>
        <p:nvSpPr>
          <p:cNvPr id="7" name="Rounded Rectangle 6">
            <a:extLst>
              <a:ext uri="{FF2B5EF4-FFF2-40B4-BE49-F238E27FC236}">
                <a16:creationId xmlns:a16="http://schemas.microsoft.com/office/drawing/2014/main" id="{551769AB-E405-351E-4649-C3386389BD59}"/>
              </a:ext>
            </a:extLst>
          </p:cNvPr>
          <p:cNvSpPr/>
          <p:nvPr/>
        </p:nvSpPr>
        <p:spPr>
          <a:xfrm>
            <a:off x="8687714" y="1712531"/>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Null</a:t>
            </a:r>
          </a:p>
        </p:txBody>
      </p:sp>
      <p:sp>
        <p:nvSpPr>
          <p:cNvPr id="8" name="Rounded Rectangle 7">
            <a:extLst>
              <a:ext uri="{FF2B5EF4-FFF2-40B4-BE49-F238E27FC236}">
                <a16:creationId xmlns:a16="http://schemas.microsoft.com/office/drawing/2014/main" id="{6CDA16BE-BBFF-1BE6-8176-3B56BA19CC49}"/>
              </a:ext>
            </a:extLst>
          </p:cNvPr>
          <p:cNvSpPr/>
          <p:nvPr/>
        </p:nvSpPr>
        <p:spPr>
          <a:xfrm>
            <a:off x="9490557" y="1712531"/>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Alignment</a:t>
            </a:r>
          </a:p>
        </p:txBody>
      </p:sp>
      <p:sp>
        <p:nvSpPr>
          <p:cNvPr id="9" name="Rounded Rectangle 8">
            <a:extLst>
              <a:ext uri="{FF2B5EF4-FFF2-40B4-BE49-F238E27FC236}">
                <a16:creationId xmlns:a16="http://schemas.microsoft.com/office/drawing/2014/main" id="{04FE9C7A-EE21-EDB0-62EB-2EEC9476709D}"/>
              </a:ext>
            </a:extLst>
          </p:cNvPr>
          <p:cNvSpPr/>
          <p:nvPr/>
        </p:nvSpPr>
        <p:spPr>
          <a:xfrm>
            <a:off x="10759744"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Aliasing</a:t>
            </a:r>
          </a:p>
        </p:txBody>
      </p:sp>
      <p:cxnSp>
        <p:nvCxnSpPr>
          <p:cNvPr id="10" name="Connector 9">
            <a:extLst>
              <a:ext uri="{FF2B5EF4-FFF2-40B4-BE49-F238E27FC236}">
                <a16:creationId xmlns:a16="http://schemas.microsoft.com/office/drawing/2014/main" id="{AC8C9F86-8ADD-B96F-853F-A7DF7AD3E798}"/>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0197FCB-152A-3691-6673-AC22B1ED7F2D}"/>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BDDAAF28-113F-8D30-7BFF-E7DFB379C8E3}"/>
              </a:ext>
            </a:extLst>
          </p:cNvPr>
          <p:cNvSpPr/>
          <p:nvPr/>
        </p:nvSpPr>
        <p:spPr>
          <a:xfrm>
            <a:off x="4786884"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Type</a:t>
            </a:r>
          </a:p>
        </p:txBody>
      </p:sp>
      <p:sp>
        <p:nvSpPr>
          <p:cNvPr id="13" name="Rounded Rectangle 12">
            <a:extLst>
              <a:ext uri="{FF2B5EF4-FFF2-40B4-BE49-F238E27FC236}">
                <a16:creationId xmlns:a16="http://schemas.microsoft.com/office/drawing/2014/main" id="{9BFD9673-2E5B-484A-56B7-3126E4A46EA4}"/>
              </a:ext>
            </a:extLst>
          </p:cNvPr>
          <p:cNvSpPr/>
          <p:nvPr/>
        </p:nvSpPr>
        <p:spPr>
          <a:xfrm>
            <a:off x="5589727"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Arithmetic</a:t>
            </a:r>
          </a:p>
        </p:txBody>
      </p:sp>
      <p:sp>
        <p:nvSpPr>
          <p:cNvPr id="14" name="Rounded Rectangle 13">
            <a:extLst>
              <a:ext uri="{FF2B5EF4-FFF2-40B4-BE49-F238E27FC236}">
                <a16:creationId xmlns:a16="http://schemas.microsoft.com/office/drawing/2014/main" id="{400E3A38-52E5-916C-06D4-11848F41B8E0}"/>
              </a:ext>
            </a:extLst>
          </p:cNvPr>
          <p:cNvSpPr/>
          <p:nvPr/>
        </p:nvSpPr>
        <p:spPr>
          <a:xfrm>
            <a:off x="6952183"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Conversion</a:t>
            </a:r>
          </a:p>
        </p:txBody>
      </p:sp>
      <p:sp>
        <p:nvSpPr>
          <p:cNvPr id="15" name="Rounded Rectangle 14">
            <a:extLst>
              <a:ext uri="{FF2B5EF4-FFF2-40B4-BE49-F238E27FC236}">
                <a16:creationId xmlns:a16="http://schemas.microsoft.com/office/drawing/2014/main" id="{215D4EC8-C377-1834-BC1B-82BBE5AB2A0A}"/>
              </a:ext>
            </a:extLst>
          </p:cNvPr>
          <p:cNvSpPr/>
          <p:nvPr/>
        </p:nvSpPr>
        <p:spPr>
          <a:xfrm>
            <a:off x="8314639" y="2277935"/>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Const</a:t>
            </a:r>
          </a:p>
        </p:txBody>
      </p:sp>
      <p:sp>
        <p:nvSpPr>
          <p:cNvPr id="16" name="Rounded Rectangle 15">
            <a:extLst>
              <a:ext uri="{FF2B5EF4-FFF2-40B4-BE49-F238E27FC236}">
                <a16:creationId xmlns:a16="http://schemas.microsoft.com/office/drawing/2014/main" id="{0A20C2E6-3291-69E6-EAFA-E21DEBE6EDF3}"/>
              </a:ext>
            </a:extLst>
          </p:cNvPr>
          <p:cNvSpPr/>
          <p:nvPr/>
        </p:nvSpPr>
        <p:spPr>
          <a:xfrm>
            <a:off x="9210751"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Enum</a:t>
            </a:r>
          </a:p>
        </p:txBody>
      </p:sp>
      <p:sp>
        <p:nvSpPr>
          <p:cNvPr id="17" name="Rounded Rectangle 16">
            <a:extLst>
              <a:ext uri="{FF2B5EF4-FFF2-40B4-BE49-F238E27FC236}">
                <a16:creationId xmlns:a16="http://schemas.microsoft.com/office/drawing/2014/main" id="{31A025DC-38F6-BBAF-73BE-881DD97F6B01}"/>
              </a:ext>
            </a:extLst>
          </p:cNvPr>
          <p:cNvSpPr/>
          <p:nvPr/>
        </p:nvSpPr>
        <p:spPr>
          <a:xfrm>
            <a:off x="10013594" y="2277935"/>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Floating point</a:t>
            </a:r>
          </a:p>
        </p:txBody>
      </p:sp>
      <p:cxnSp>
        <p:nvCxnSpPr>
          <p:cNvPr id="18" name="Connector 17">
            <a:extLst>
              <a:ext uri="{FF2B5EF4-FFF2-40B4-BE49-F238E27FC236}">
                <a16:creationId xmlns:a16="http://schemas.microsoft.com/office/drawing/2014/main" id="{4E4817EA-16A8-3D27-BD43-DF3DF4372AFF}"/>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7C10EB0-A2B3-D443-98C9-9803DFB3F59C}"/>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BF863386-6833-1E79-D048-9F87C1F9A0A4}"/>
              </a:ext>
            </a:extLst>
          </p:cNvPr>
          <p:cNvSpPr/>
          <p:nvPr/>
        </p:nvSpPr>
        <p:spPr>
          <a:xfrm>
            <a:off x="4786884" y="33615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Exception safety</a:t>
            </a:r>
          </a:p>
        </p:txBody>
      </p:sp>
      <p:sp>
        <p:nvSpPr>
          <p:cNvPr id="21" name="Rounded Rectangle 20">
            <a:extLst>
              <a:ext uri="{FF2B5EF4-FFF2-40B4-BE49-F238E27FC236}">
                <a16:creationId xmlns:a16="http://schemas.microsoft.com/office/drawing/2014/main" id="{5286773E-36A4-5910-4BBC-B6C86BEF92CA}"/>
              </a:ext>
            </a:extLst>
          </p:cNvPr>
          <p:cNvSpPr/>
          <p:nvPr/>
        </p:nvSpPr>
        <p:spPr>
          <a:xfrm>
            <a:off x="6708952" y="3361502"/>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Error handling</a:t>
            </a:r>
          </a:p>
        </p:txBody>
      </p:sp>
      <p:sp>
        <p:nvSpPr>
          <p:cNvPr id="22" name="Rounded Rectangle 21">
            <a:extLst>
              <a:ext uri="{FF2B5EF4-FFF2-40B4-BE49-F238E27FC236}">
                <a16:creationId xmlns:a16="http://schemas.microsoft.com/office/drawing/2014/main" id="{C7C1DBB4-2DDA-9C4F-D028-C2CD870FBBDD}"/>
              </a:ext>
            </a:extLst>
          </p:cNvPr>
          <p:cNvSpPr/>
          <p:nvPr/>
        </p:nvSpPr>
        <p:spPr>
          <a:xfrm>
            <a:off x="8444484" y="3361502"/>
            <a:ext cx="191475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Signal/</a:t>
            </a:r>
            <a:r>
              <a:rPr lang="en-US" sz="1400" b="1" dirty="0">
                <a:solidFill>
                  <a:schemeClr val="tx1"/>
                </a:solidFill>
              </a:rPr>
              <a:t>R</a:t>
            </a:r>
            <a:r>
              <a:rPr sz="1400" b="1" dirty="0">
                <a:solidFill>
                  <a:schemeClr val="tx1"/>
                </a:solidFill>
              </a:rPr>
              <a:t>eentrancy</a:t>
            </a:r>
          </a:p>
        </p:txBody>
      </p:sp>
      <p:sp>
        <p:nvSpPr>
          <p:cNvPr id="23" name="Rounded Rectangle 22">
            <a:extLst>
              <a:ext uri="{FF2B5EF4-FFF2-40B4-BE49-F238E27FC236}">
                <a16:creationId xmlns:a16="http://schemas.microsoft.com/office/drawing/2014/main" id="{B5E56FFB-F7A4-648D-6576-5503E9802666}"/>
              </a:ext>
            </a:extLst>
          </p:cNvPr>
          <p:cNvSpPr/>
          <p:nvPr/>
        </p:nvSpPr>
        <p:spPr>
          <a:xfrm>
            <a:off x="9190633" y="3828926"/>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Evaluation order</a:t>
            </a:r>
          </a:p>
        </p:txBody>
      </p:sp>
      <p:sp>
        <p:nvSpPr>
          <p:cNvPr id="24" name="Rounded Rectangle 23">
            <a:extLst>
              <a:ext uri="{FF2B5EF4-FFF2-40B4-BE49-F238E27FC236}">
                <a16:creationId xmlns:a16="http://schemas.microsoft.com/office/drawing/2014/main" id="{DBD0C751-D4DB-B9F2-886E-487ACF9D2EF3}"/>
              </a:ext>
            </a:extLst>
          </p:cNvPr>
          <p:cNvSpPr/>
          <p:nvPr/>
        </p:nvSpPr>
        <p:spPr>
          <a:xfrm>
            <a:off x="4786884" y="38187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Forward progress</a:t>
            </a:r>
          </a:p>
        </p:txBody>
      </p:sp>
      <p:sp>
        <p:nvSpPr>
          <p:cNvPr id="25" name="Rounded Rectangle 24">
            <a:extLst>
              <a:ext uri="{FF2B5EF4-FFF2-40B4-BE49-F238E27FC236}">
                <a16:creationId xmlns:a16="http://schemas.microsoft.com/office/drawing/2014/main" id="{B6B6B509-8DD7-A527-0F8E-15AF8D2CCF35}"/>
              </a:ext>
            </a:extLst>
          </p:cNvPr>
          <p:cNvSpPr/>
          <p:nvPr/>
        </p:nvSpPr>
        <p:spPr>
          <a:xfrm>
            <a:off x="6708952" y="3818702"/>
            <a:ext cx="238109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Control-flow integrity</a:t>
            </a:r>
          </a:p>
        </p:txBody>
      </p:sp>
      <p:cxnSp>
        <p:nvCxnSpPr>
          <p:cNvPr id="26" name="Connector 25">
            <a:extLst>
              <a:ext uri="{FF2B5EF4-FFF2-40B4-BE49-F238E27FC236}">
                <a16:creationId xmlns:a16="http://schemas.microsoft.com/office/drawing/2014/main" id="{F74BF0B9-74FE-AD6C-6588-30121A1652B7}"/>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1E357FC-CD78-41EC-FC94-DA1CF99760D7}"/>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69420722-9F5A-687C-36A4-74E9D5321BB4}"/>
              </a:ext>
            </a:extLst>
          </p:cNvPr>
          <p:cNvSpPr/>
          <p:nvPr/>
        </p:nvSpPr>
        <p:spPr>
          <a:xfrm>
            <a:off x="4786884" y="4403408"/>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Data races</a:t>
            </a:r>
          </a:p>
        </p:txBody>
      </p:sp>
      <p:sp>
        <p:nvSpPr>
          <p:cNvPr id="29" name="Rounded Rectangle 28">
            <a:extLst>
              <a:ext uri="{FF2B5EF4-FFF2-40B4-BE49-F238E27FC236}">
                <a16:creationId xmlns:a16="http://schemas.microsoft.com/office/drawing/2014/main" id="{68A224D6-AAAA-E480-75B7-D393F91FE9EB}"/>
              </a:ext>
            </a:extLst>
          </p:cNvPr>
          <p:cNvSpPr/>
          <p:nvPr/>
        </p:nvSpPr>
        <p:spPr>
          <a:xfrm>
            <a:off x="6149340" y="4403408"/>
            <a:ext cx="200802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Atomicity/</a:t>
            </a:r>
            <a:r>
              <a:rPr lang="en-US" sz="1400" b="1" dirty="0">
                <a:solidFill>
                  <a:schemeClr val="tx1"/>
                </a:solidFill>
              </a:rPr>
              <a:t>O</a:t>
            </a:r>
            <a:r>
              <a:rPr sz="1400" b="1" dirty="0">
                <a:solidFill>
                  <a:schemeClr val="tx1"/>
                </a:solidFill>
              </a:rPr>
              <a:t>rdering</a:t>
            </a:r>
          </a:p>
        </p:txBody>
      </p:sp>
      <p:sp>
        <p:nvSpPr>
          <p:cNvPr id="30" name="Rounded Rectangle 29">
            <a:extLst>
              <a:ext uri="{FF2B5EF4-FFF2-40B4-BE49-F238E27FC236}">
                <a16:creationId xmlns:a16="http://schemas.microsoft.com/office/drawing/2014/main" id="{047A8867-8CDA-D9F3-ECCE-DE3851062760}"/>
              </a:ext>
            </a:extLst>
          </p:cNvPr>
          <p:cNvSpPr/>
          <p:nvPr/>
        </p:nvSpPr>
        <p:spPr>
          <a:xfrm>
            <a:off x="8257946" y="4403408"/>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Liveness</a:t>
            </a:r>
          </a:p>
        </p:txBody>
      </p:sp>
      <p:cxnSp>
        <p:nvCxnSpPr>
          <p:cNvPr id="31" name="Connector 30">
            <a:extLst>
              <a:ext uri="{FF2B5EF4-FFF2-40B4-BE49-F238E27FC236}">
                <a16:creationId xmlns:a16="http://schemas.microsoft.com/office/drawing/2014/main" id="{C8C44FB5-14FE-3ED5-A93D-EA801CDB8CC3}"/>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C87AD8CB-9D0F-3CDA-EF30-AB938FA670A3}"/>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AEA2047C-97A9-EE2E-246E-3002228D2E55}"/>
              </a:ext>
            </a:extLst>
          </p:cNvPr>
          <p:cNvSpPr/>
          <p:nvPr/>
        </p:nvSpPr>
        <p:spPr>
          <a:xfrm>
            <a:off x="4786884" y="5002847"/>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Allocation</a:t>
            </a:r>
          </a:p>
        </p:txBody>
      </p:sp>
      <p:sp>
        <p:nvSpPr>
          <p:cNvPr id="34" name="Rounded Rectangle 33">
            <a:extLst>
              <a:ext uri="{FF2B5EF4-FFF2-40B4-BE49-F238E27FC236}">
                <a16:creationId xmlns:a16="http://schemas.microsoft.com/office/drawing/2014/main" id="{9BA71CE7-AB63-6C18-3F91-CB325C898F7F}"/>
              </a:ext>
            </a:extLst>
          </p:cNvPr>
          <p:cNvSpPr/>
          <p:nvPr/>
        </p:nvSpPr>
        <p:spPr>
          <a:xfrm>
            <a:off x="6149340" y="5002847"/>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Stack</a:t>
            </a:r>
          </a:p>
        </p:txBody>
      </p:sp>
      <p:sp>
        <p:nvSpPr>
          <p:cNvPr id="35" name="Rounded Rectangle 34">
            <a:extLst>
              <a:ext uri="{FF2B5EF4-FFF2-40B4-BE49-F238E27FC236}">
                <a16:creationId xmlns:a16="http://schemas.microsoft.com/office/drawing/2014/main" id="{CF86252B-B45C-9583-715B-73DA28353F3C}"/>
              </a:ext>
            </a:extLst>
          </p:cNvPr>
          <p:cNvSpPr/>
          <p:nvPr/>
        </p:nvSpPr>
        <p:spPr>
          <a:xfrm>
            <a:off x="7045452" y="5002847"/>
            <a:ext cx="219456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Non-</a:t>
            </a:r>
            <a:r>
              <a:rPr lang="en-US" sz="1400" b="1" dirty="0">
                <a:solidFill>
                  <a:schemeClr val="tx1"/>
                </a:solidFill>
              </a:rPr>
              <a:t>M</a:t>
            </a:r>
            <a:r>
              <a:rPr sz="1400" b="1" dirty="0">
                <a:solidFill>
                  <a:schemeClr val="tx1"/>
                </a:solidFill>
              </a:rPr>
              <a:t>emory resources</a:t>
            </a:r>
          </a:p>
        </p:txBody>
      </p:sp>
      <p:cxnSp>
        <p:nvCxnSpPr>
          <p:cNvPr id="36" name="Connector 35">
            <a:extLst>
              <a:ext uri="{FF2B5EF4-FFF2-40B4-BE49-F238E27FC236}">
                <a16:creationId xmlns:a16="http://schemas.microsoft.com/office/drawing/2014/main" id="{6CE96E73-78E1-224A-9810-D3880631CFB2}"/>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FF611ECA-B332-A4F6-0069-3BF2800D4EAB}"/>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907BCEBE-5053-27F4-48F5-116BB8A16EE3}"/>
              </a:ext>
            </a:extLst>
          </p:cNvPr>
          <p:cNvSpPr/>
          <p:nvPr/>
        </p:nvSpPr>
        <p:spPr>
          <a:xfrm>
            <a:off x="4787900" y="5606352"/>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ODR/IFNDR</a:t>
            </a:r>
          </a:p>
        </p:txBody>
      </p:sp>
      <p:sp>
        <p:nvSpPr>
          <p:cNvPr id="39" name="Rounded Rectangle 38">
            <a:extLst>
              <a:ext uri="{FF2B5EF4-FFF2-40B4-BE49-F238E27FC236}">
                <a16:creationId xmlns:a16="http://schemas.microsoft.com/office/drawing/2014/main" id="{A3EFB909-CB23-ED13-E863-B1452B5EC939}"/>
              </a:ext>
            </a:extLst>
          </p:cNvPr>
          <p:cNvSpPr/>
          <p:nvPr/>
        </p:nvSpPr>
        <p:spPr>
          <a:xfrm>
            <a:off x="6057087" y="5606352"/>
            <a:ext cx="60899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ABI</a:t>
            </a:r>
          </a:p>
        </p:txBody>
      </p:sp>
      <p:cxnSp>
        <p:nvCxnSpPr>
          <p:cNvPr id="40" name="Connector 39">
            <a:extLst>
              <a:ext uri="{FF2B5EF4-FFF2-40B4-BE49-F238E27FC236}">
                <a16:creationId xmlns:a16="http://schemas.microsoft.com/office/drawing/2014/main" id="{9A540D8B-14E4-2C51-C75A-84D1613EED89}"/>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AC3D831-3980-E7F9-F387-CE8EF3AFC2C1}"/>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B26C7213-30AB-C3E2-8F5E-166E03EF5E91}"/>
              </a:ext>
            </a:extLst>
          </p:cNvPr>
          <p:cNvSpPr/>
          <p:nvPr/>
        </p:nvSpPr>
        <p:spPr>
          <a:xfrm>
            <a:off x="4786884" y="6209855"/>
            <a:ext cx="982065"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Strings</a:t>
            </a:r>
          </a:p>
        </p:txBody>
      </p:sp>
      <p:sp>
        <p:nvSpPr>
          <p:cNvPr id="43" name="Rounded Rectangle 42">
            <a:extLst>
              <a:ext uri="{FF2B5EF4-FFF2-40B4-BE49-F238E27FC236}">
                <a16:creationId xmlns:a16="http://schemas.microsoft.com/office/drawing/2014/main" id="{387168EC-193F-4A64-5C46-35F0E64D42F7}"/>
              </a:ext>
            </a:extLst>
          </p:cNvPr>
          <p:cNvSpPr/>
          <p:nvPr/>
        </p:nvSpPr>
        <p:spPr>
          <a:xfrm>
            <a:off x="5869533" y="6209855"/>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Variadic</a:t>
            </a:r>
          </a:p>
        </p:txBody>
      </p:sp>
      <p:sp>
        <p:nvSpPr>
          <p:cNvPr id="44" name="Rounded Rectangle 43">
            <a:extLst>
              <a:ext uri="{FF2B5EF4-FFF2-40B4-BE49-F238E27FC236}">
                <a16:creationId xmlns:a16="http://schemas.microsoft.com/office/drawing/2014/main" id="{3B86A975-1D99-826D-F50A-7D9789ABDAD6}"/>
              </a:ext>
            </a:extLst>
          </p:cNvPr>
          <p:cNvSpPr/>
          <p:nvPr/>
        </p:nvSpPr>
        <p:spPr>
          <a:xfrm>
            <a:off x="7045452" y="6209855"/>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Units</a:t>
            </a:r>
          </a:p>
        </p:txBody>
      </p:sp>
      <p:sp>
        <p:nvSpPr>
          <p:cNvPr id="75" name="Rounded Rectangle 8">
            <a:extLst>
              <a:ext uri="{FF2B5EF4-FFF2-40B4-BE49-F238E27FC236}">
                <a16:creationId xmlns:a16="http://schemas.microsoft.com/office/drawing/2014/main" id="{80939826-C464-8905-7CE1-D99A0605189B}"/>
              </a:ext>
            </a:extLst>
          </p:cNvPr>
          <p:cNvSpPr/>
          <p:nvPr/>
        </p:nvSpPr>
        <p:spPr>
          <a:xfrm>
            <a:off x="4786884" y="1705928"/>
            <a:ext cx="888796"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E56B304F-1817-5E0C-7194-D66D9DF6B531}"/>
              </a:ext>
            </a:extLst>
          </p:cNvPr>
          <p:cNvSpPr>
            <a:spLocks noGrp="1"/>
          </p:cNvSpPr>
          <p:nvPr>
            <p:ph type="title"/>
          </p:nvPr>
        </p:nvSpPr>
        <p:spPr/>
        <p:txBody>
          <a:bodyPr/>
          <a:lstStyle/>
          <a:p>
            <a:r>
              <a:rPr lang="en-US" dirty="0"/>
              <a:t>A taxonomy of C/C++ safety</a:t>
            </a:r>
          </a:p>
        </p:txBody>
      </p:sp>
      <p:sp>
        <p:nvSpPr>
          <p:cNvPr id="47" name="Rounded Rectangle 8">
            <a:extLst>
              <a:ext uri="{FF2B5EF4-FFF2-40B4-BE49-F238E27FC236}">
                <a16:creationId xmlns:a16="http://schemas.microsoft.com/office/drawing/2014/main" id="{3F06A06E-A8BA-E2BC-94F0-0D3D7F1C406F}"/>
              </a:ext>
            </a:extLst>
          </p:cNvPr>
          <p:cNvSpPr/>
          <p:nvPr/>
        </p:nvSpPr>
        <p:spPr>
          <a:xfrm>
            <a:off x="4782007" y="2796477"/>
            <a:ext cx="126674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A9CC3CEC-661A-B042-7C33-D64C0A1DD554}"/>
              </a:ext>
            </a:extLst>
          </p:cNvPr>
          <p:cNvSpPr/>
          <p:nvPr/>
        </p:nvSpPr>
        <p:spPr>
          <a:xfrm>
            <a:off x="6138367" y="2790763"/>
            <a:ext cx="142646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1539AC54-F9EE-ED0A-0714-FC079A28C992}"/>
              </a:ext>
            </a:extLst>
          </p:cNvPr>
          <p:cNvSpPr/>
          <p:nvPr/>
        </p:nvSpPr>
        <p:spPr>
          <a:xfrm>
            <a:off x="8314639" y="6208070"/>
            <a:ext cx="200070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De</a:t>
            </a:r>
            <a:r>
              <a:rPr sz="1400" b="1" dirty="0">
                <a:solidFill>
                  <a:schemeClr val="tx1"/>
                </a:solidFill>
              </a:rPr>
              <a:t>serialization</a:t>
            </a:r>
          </a:p>
        </p:txBody>
      </p:sp>
      <p:sp>
        <p:nvSpPr>
          <p:cNvPr id="54" name="Rounded Rectangle 38">
            <a:extLst>
              <a:ext uri="{FF2B5EF4-FFF2-40B4-BE49-F238E27FC236}">
                <a16:creationId xmlns:a16="http://schemas.microsoft.com/office/drawing/2014/main" id="{819B29EC-0AFC-BA8B-7406-CB7F46FECCEB}"/>
              </a:ext>
            </a:extLst>
          </p:cNvPr>
          <p:cNvSpPr/>
          <p:nvPr/>
        </p:nvSpPr>
        <p:spPr>
          <a:xfrm>
            <a:off x="6766660" y="5608138"/>
            <a:ext cx="201157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Toolchain/Optimizer</a:t>
            </a:r>
            <a:endParaRPr sz="1400" b="1" dirty="0">
              <a:solidFill>
                <a:schemeClr val="tx1"/>
              </a:solidFill>
            </a:endParaRPr>
          </a:p>
        </p:txBody>
      </p:sp>
    </p:spTree>
    <p:extLst>
      <p:ext uri="{BB962C8B-B14F-4D97-AF65-F5344CB8AC3E}">
        <p14:creationId xmlns:p14="http://schemas.microsoft.com/office/powerpoint/2010/main" val="2450603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C3B21-C0C1-804C-7C71-55BCD29803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F2BF06-1C84-B77F-E30C-F3E577D3E400}"/>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376F600A-B73A-998C-B758-52CC7EFFC087}"/>
              </a:ext>
            </a:extLst>
          </p:cNvPr>
          <p:cNvSpPr/>
          <p:nvPr/>
        </p:nvSpPr>
        <p:spPr>
          <a:xfrm>
            <a:off x="5776264" y="1712531"/>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Initialization</a:t>
            </a:r>
          </a:p>
        </p:txBody>
      </p:sp>
      <p:sp>
        <p:nvSpPr>
          <p:cNvPr id="6" name="Rounded Rectangle 5">
            <a:extLst>
              <a:ext uri="{FF2B5EF4-FFF2-40B4-BE49-F238E27FC236}">
                <a16:creationId xmlns:a16="http://schemas.microsoft.com/office/drawing/2014/main" id="{2CA20C98-F340-C955-71AC-CDD44880DCCC}"/>
              </a:ext>
            </a:extLst>
          </p:cNvPr>
          <p:cNvSpPr/>
          <p:nvPr/>
        </p:nvSpPr>
        <p:spPr>
          <a:xfrm>
            <a:off x="7511796"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Lifetime</a:t>
            </a:r>
          </a:p>
        </p:txBody>
      </p:sp>
      <p:sp>
        <p:nvSpPr>
          <p:cNvPr id="7" name="Rounded Rectangle 6">
            <a:extLst>
              <a:ext uri="{FF2B5EF4-FFF2-40B4-BE49-F238E27FC236}">
                <a16:creationId xmlns:a16="http://schemas.microsoft.com/office/drawing/2014/main" id="{551769AB-E405-351E-4649-C3386389BD59}"/>
              </a:ext>
            </a:extLst>
          </p:cNvPr>
          <p:cNvSpPr/>
          <p:nvPr/>
        </p:nvSpPr>
        <p:spPr>
          <a:xfrm>
            <a:off x="8687714" y="1712531"/>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Null</a:t>
            </a:r>
          </a:p>
        </p:txBody>
      </p:sp>
      <p:sp>
        <p:nvSpPr>
          <p:cNvPr id="8" name="Rounded Rectangle 7">
            <a:extLst>
              <a:ext uri="{FF2B5EF4-FFF2-40B4-BE49-F238E27FC236}">
                <a16:creationId xmlns:a16="http://schemas.microsoft.com/office/drawing/2014/main" id="{6CDA16BE-BBFF-1BE6-8176-3B56BA19CC49}"/>
              </a:ext>
            </a:extLst>
          </p:cNvPr>
          <p:cNvSpPr/>
          <p:nvPr/>
        </p:nvSpPr>
        <p:spPr>
          <a:xfrm>
            <a:off x="9490557" y="1712531"/>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Alignment</a:t>
            </a:r>
          </a:p>
        </p:txBody>
      </p:sp>
      <p:sp>
        <p:nvSpPr>
          <p:cNvPr id="9" name="Rounded Rectangle 8">
            <a:extLst>
              <a:ext uri="{FF2B5EF4-FFF2-40B4-BE49-F238E27FC236}">
                <a16:creationId xmlns:a16="http://schemas.microsoft.com/office/drawing/2014/main" id="{04FE9C7A-EE21-EDB0-62EB-2EEC9476709D}"/>
              </a:ext>
            </a:extLst>
          </p:cNvPr>
          <p:cNvSpPr/>
          <p:nvPr/>
        </p:nvSpPr>
        <p:spPr>
          <a:xfrm>
            <a:off x="10759744"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Aliasing</a:t>
            </a:r>
          </a:p>
        </p:txBody>
      </p:sp>
      <p:cxnSp>
        <p:nvCxnSpPr>
          <p:cNvPr id="10" name="Connector 9">
            <a:extLst>
              <a:ext uri="{FF2B5EF4-FFF2-40B4-BE49-F238E27FC236}">
                <a16:creationId xmlns:a16="http://schemas.microsoft.com/office/drawing/2014/main" id="{AC8C9F86-8ADD-B96F-853F-A7DF7AD3E798}"/>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0197FCB-152A-3691-6673-AC22B1ED7F2D}"/>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BDDAAF28-113F-8D30-7BFF-E7DFB379C8E3}"/>
              </a:ext>
            </a:extLst>
          </p:cNvPr>
          <p:cNvSpPr/>
          <p:nvPr/>
        </p:nvSpPr>
        <p:spPr>
          <a:xfrm>
            <a:off x="4786884"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Type</a:t>
            </a:r>
          </a:p>
        </p:txBody>
      </p:sp>
      <p:sp>
        <p:nvSpPr>
          <p:cNvPr id="13" name="Rounded Rectangle 12">
            <a:extLst>
              <a:ext uri="{FF2B5EF4-FFF2-40B4-BE49-F238E27FC236}">
                <a16:creationId xmlns:a16="http://schemas.microsoft.com/office/drawing/2014/main" id="{9BFD9673-2E5B-484A-56B7-3126E4A46EA4}"/>
              </a:ext>
            </a:extLst>
          </p:cNvPr>
          <p:cNvSpPr/>
          <p:nvPr/>
        </p:nvSpPr>
        <p:spPr>
          <a:xfrm>
            <a:off x="5589727"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Arithmetic</a:t>
            </a:r>
          </a:p>
        </p:txBody>
      </p:sp>
      <p:sp>
        <p:nvSpPr>
          <p:cNvPr id="14" name="Rounded Rectangle 13">
            <a:extLst>
              <a:ext uri="{FF2B5EF4-FFF2-40B4-BE49-F238E27FC236}">
                <a16:creationId xmlns:a16="http://schemas.microsoft.com/office/drawing/2014/main" id="{400E3A38-52E5-916C-06D4-11848F41B8E0}"/>
              </a:ext>
            </a:extLst>
          </p:cNvPr>
          <p:cNvSpPr/>
          <p:nvPr/>
        </p:nvSpPr>
        <p:spPr>
          <a:xfrm>
            <a:off x="6952183"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Conversion</a:t>
            </a:r>
          </a:p>
        </p:txBody>
      </p:sp>
      <p:sp>
        <p:nvSpPr>
          <p:cNvPr id="15" name="Rounded Rectangle 14">
            <a:extLst>
              <a:ext uri="{FF2B5EF4-FFF2-40B4-BE49-F238E27FC236}">
                <a16:creationId xmlns:a16="http://schemas.microsoft.com/office/drawing/2014/main" id="{215D4EC8-C377-1834-BC1B-82BBE5AB2A0A}"/>
              </a:ext>
            </a:extLst>
          </p:cNvPr>
          <p:cNvSpPr/>
          <p:nvPr/>
        </p:nvSpPr>
        <p:spPr>
          <a:xfrm>
            <a:off x="8314639" y="2277935"/>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Const</a:t>
            </a:r>
          </a:p>
        </p:txBody>
      </p:sp>
      <p:sp>
        <p:nvSpPr>
          <p:cNvPr id="16" name="Rounded Rectangle 15">
            <a:extLst>
              <a:ext uri="{FF2B5EF4-FFF2-40B4-BE49-F238E27FC236}">
                <a16:creationId xmlns:a16="http://schemas.microsoft.com/office/drawing/2014/main" id="{0A20C2E6-3291-69E6-EAFA-E21DEBE6EDF3}"/>
              </a:ext>
            </a:extLst>
          </p:cNvPr>
          <p:cNvSpPr/>
          <p:nvPr/>
        </p:nvSpPr>
        <p:spPr>
          <a:xfrm>
            <a:off x="9210751"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Enum</a:t>
            </a:r>
          </a:p>
        </p:txBody>
      </p:sp>
      <p:sp>
        <p:nvSpPr>
          <p:cNvPr id="17" name="Rounded Rectangle 16">
            <a:extLst>
              <a:ext uri="{FF2B5EF4-FFF2-40B4-BE49-F238E27FC236}">
                <a16:creationId xmlns:a16="http://schemas.microsoft.com/office/drawing/2014/main" id="{31A025DC-38F6-BBAF-73BE-881DD97F6B01}"/>
              </a:ext>
            </a:extLst>
          </p:cNvPr>
          <p:cNvSpPr/>
          <p:nvPr/>
        </p:nvSpPr>
        <p:spPr>
          <a:xfrm>
            <a:off x="10013594" y="2277935"/>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Floating point</a:t>
            </a:r>
          </a:p>
        </p:txBody>
      </p:sp>
      <p:cxnSp>
        <p:nvCxnSpPr>
          <p:cNvPr id="18" name="Connector 17">
            <a:extLst>
              <a:ext uri="{FF2B5EF4-FFF2-40B4-BE49-F238E27FC236}">
                <a16:creationId xmlns:a16="http://schemas.microsoft.com/office/drawing/2014/main" id="{4E4817EA-16A8-3D27-BD43-DF3DF4372AFF}"/>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7C10EB0-A2B3-D443-98C9-9803DFB3F59C}"/>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BF863386-6833-1E79-D048-9F87C1F9A0A4}"/>
              </a:ext>
            </a:extLst>
          </p:cNvPr>
          <p:cNvSpPr/>
          <p:nvPr/>
        </p:nvSpPr>
        <p:spPr>
          <a:xfrm>
            <a:off x="4786884" y="33615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Exception safety</a:t>
            </a:r>
          </a:p>
        </p:txBody>
      </p:sp>
      <p:sp>
        <p:nvSpPr>
          <p:cNvPr id="21" name="Rounded Rectangle 20">
            <a:extLst>
              <a:ext uri="{FF2B5EF4-FFF2-40B4-BE49-F238E27FC236}">
                <a16:creationId xmlns:a16="http://schemas.microsoft.com/office/drawing/2014/main" id="{5286773E-36A4-5910-4BBC-B6C86BEF92CA}"/>
              </a:ext>
            </a:extLst>
          </p:cNvPr>
          <p:cNvSpPr/>
          <p:nvPr/>
        </p:nvSpPr>
        <p:spPr>
          <a:xfrm>
            <a:off x="6708952" y="3361502"/>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Error handling</a:t>
            </a:r>
          </a:p>
        </p:txBody>
      </p:sp>
      <p:sp>
        <p:nvSpPr>
          <p:cNvPr id="22" name="Rounded Rectangle 21">
            <a:extLst>
              <a:ext uri="{FF2B5EF4-FFF2-40B4-BE49-F238E27FC236}">
                <a16:creationId xmlns:a16="http://schemas.microsoft.com/office/drawing/2014/main" id="{C7C1DBB4-2DDA-9C4F-D028-C2CD870FBBDD}"/>
              </a:ext>
            </a:extLst>
          </p:cNvPr>
          <p:cNvSpPr/>
          <p:nvPr/>
        </p:nvSpPr>
        <p:spPr>
          <a:xfrm>
            <a:off x="8444484" y="3361502"/>
            <a:ext cx="191475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Signal/</a:t>
            </a:r>
            <a:r>
              <a:rPr lang="en-US" sz="1400" b="1" dirty="0">
                <a:solidFill>
                  <a:schemeClr val="tx1"/>
                </a:solidFill>
              </a:rPr>
              <a:t>R</a:t>
            </a:r>
            <a:r>
              <a:rPr sz="1400" b="1" dirty="0">
                <a:solidFill>
                  <a:schemeClr val="tx1"/>
                </a:solidFill>
              </a:rPr>
              <a:t>eentrancy</a:t>
            </a:r>
          </a:p>
        </p:txBody>
      </p:sp>
      <p:sp>
        <p:nvSpPr>
          <p:cNvPr id="23" name="Rounded Rectangle 22">
            <a:extLst>
              <a:ext uri="{FF2B5EF4-FFF2-40B4-BE49-F238E27FC236}">
                <a16:creationId xmlns:a16="http://schemas.microsoft.com/office/drawing/2014/main" id="{B5E56FFB-F7A4-648D-6576-5503E9802666}"/>
              </a:ext>
            </a:extLst>
          </p:cNvPr>
          <p:cNvSpPr/>
          <p:nvPr/>
        </p:nvSpPr>
        <p:spPr>
          <a:xfrm>
            <a:off x="9190633" y="3828926"/>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Evaluation order</a:t>
            </a:r>
          </a:p>
        </p:txBody>
      </p:sp>
      <p:sp>
        <p:nvSpPr>
          <p:cNvPr id="24" name="Rounded Rectangle 23">
            <a:extLst>
              <a:ext uri="{FF2B5EF4-FFF2-40B4-BE49-F238E27FC236}">
                <a16:creationId xmlns:a16="http://schemas.microsoft.com/office/drawing/2014/main" id="{DBD0C751-D4DB-B9F2-886E-487ACF9D2EF3}"/>
              </a:ext>
            </a:extLst>
          </p:cNvPr>
          <p:cNvSpPr/>
          <p:nvPr/>
        </p:nvSpPr>
        <p:spPr>
          <a:xfrm>
            <a:off x="4786884" y="38187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Forward progress</a:t>
            </a:r>
          </a:p>
        </p:txBody>
      </p:sp>
      <p:sp>
        <p:nvSpPr>
          <p:cNvPr id="25" name="Rounded Rectangle 24">
            <a:extLst>
              <a:ext uri="{FF2B5EF4-FFF2-40B4-BE49-F238E27FC236}">
                <a16:creationId xmlns:a16="http://schemas.microsoft.com/office/drawing/2014/main" id="{B6B6B509-8DD7-A527-0F8E-15AF8D2CCF35}"/>
              </a:ext>
            </a:extLst>
          </p:cNvPr>
          <p:cNvSpPr/>
          <p:nvPr/>
        </p:nvSpPr>
        <p:spPr>
          <a:xfrm>
            <a:off x="6708952" y="3818702"/>
            <a:ext cx="238109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Control-flow integrity</a:t>
            </a:r>
          </a:p>
        </p:txBody>
      </p:sp>
      <p:cxnSp>
        <p:nvCxnSpPr>
          <p:cNvPr id="26" name="Connector 25">
            <a:extLst>
              <a:ext uri="{FF2B5EF4-FFF2-40B4-BE49-F238E27FC236}">
                <a16:creationId xmlns:a16="http://schemas.microsoft.com/office/drawing/2014/main" id="{F74BF0B9-74FE-AD6C-6588-30121A1652B7}"/>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1E357FC-CD78-41EC-FC94-DA1CF99760D7}"/>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69420722-9F5A-687C-36A4-74E9D5321BB4}"/>
              </a:ext>
            </a:extLst>
          </p:cNvPr>
          <p:cNvSpPr/>
          <p:nvPr/>
        </p:nvSpPr>
        <p:spPr>
          <a:xfrm>
            <a:off x="4786884" y="4403408"/>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Data races</a:t>
            </a:r>
          </a:p>
        </p:txBody>
      </p:sp>
      <p:sp>
        <p:nvSpPr>
          <p:cNvPr id="29" name="Rounded Rectangle 28">
            <a:extLst>
              <a:ext uri="{FF2B5EF4-FFF2-40B4-BE49-F238E27FC236}">
                <a16:creationId xmlns:a16="http://schemas.microsoft.com/office/drawing/2014/main" id="{68A224D6-AAAA-E480-75B7-D393F91FE9EB}"/>
              </a:ext>
            </a:extLst>
          </p:cNvPr>
          <p:cNvSpPr/>
          <p:nvPr/>
        </p:nvSpPr>
        <p:spPr>
          <a:xfrm>
            <a:off x="6149340" y="4403408"/>
            <a:ext cx="200802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Atomicity/</a:t>
            </a:r>
            <a:r>
              <a:rPr lang="en-US" sz="1400" b="1" dirty="0">
                <a:solidFill>
                  <a:schemeClr val="tx1"/>
                </a:solidFill>
              </a:rPr>
              <a:t>O</a:t>
            </a:r>
            <a:r>
              <a:rPr sz="1400" b="1" dirty="0">
                <a:solidFill>
                  <a:schemeClr val="tx1"/>
                </a:solidFill>
              </a:rPr>
              <a:t>rdering</a:t>
            </a:r>
          </a:p>
        </p:txBody>
      </p:sp>
      <p:sp>
        <p:nvSpPr>
          <p:cNvPr id="30" name="Rounded Rectangle 29">
            <a:extLst>
              <a:ext uri="{FF2B5EF4-FFF2-40B4-BE49-F238E27FC236}">
                <a16:creationId xmlns:a16="http://schemas.microsoft.com/office/drawing/2014/main" id="{047A8867-8CDA-D9F3-ECCE-DE3851062760}"/>
              </a:ext>
            </a:extLst>
          </p:cNvPr>
          <p:cNvSpPr/>
          <p:nvPr/>
        </p:nvSpPr>
        <p:spPr>
          <a:xfrm>
            <a:off x="8257946" y="4403408"/>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Liveness</a:t>
            </a:r>
          </a:p>
        </p:txBody>
      </p:sp>
      <p:cxnSp>
        <p:nvCxnSpPr>
          <p:cNvPr id="31" name="Connector 30">
            <a:extLst>
              <a:ext uri="{FF2B5EF4-FFF2-40B4-BE49-F238E27FC236}">
                <a16:creationId xmlns:a16="http://schemas.microsoft.com/office/drawing/2014/main" id="{C8C44FB5-14FE-3ED5-A93D-EA801CDB8CC3}"/>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C87AD8CB-9D0F-3CDA-EF30-AB938FA670A3}"/>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AEA2047C-97A9-EE2E-246E-3002228D2E55}"/>
              </a:ext>
            </a:extLst>
          </p:cNvPr>
          <p:cNvSpPr/>
          <p:nvPr/>
        </p:nvSpPr>
        <p:spPr>
          <a:xfrm>
            <a:off x="4786884" y="5002847"/>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Allocation</a:t>
            </a:r>
          </a:p>
        </p:txBody>
      </p:sp>
      <p:sp>
        <p:nvSpPr>
          <p:cNvPr id="34" name="Rounded Rectangle 33">
            <a:extLst>
              <a:ext uri="{FF2B5EF4-FFF2-40B4-BE49-F238E27FC236}">
                <a16:creationId xmlns:a16="http://schemas.microsoft.com/office/drawing/2014/main" id="{9BA71CE7-AB63-6C18-3F91-CB325C898F7F}"/>
              </a:ext>
            </a:extLst>
          </p:cNvPr>
          <p:cNvSpPr/>
          <p:nvPr/>
        </p:nvSpPr>
        <p:spPr>
          <a:xfrm>
            <a:off x="6149340" y="5002847"/>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Stack</a:t>
            </a:r>
          </a:p>
        </p:txBody>
      </p:sp>
      <p:sp>
        <p:nvSpPr>
          <p:cNvPr id="35" name="Rounded Rectangle 34">
            <a:extLst>
              <a:ext uri="{FF2B5EF4-FFF2-40B4-BE49-F238E27FC236}">
                <a16:creationId xmlns:a16="http://schemas.microsoft.com/office/drawing/2014/main" id="{CF86252B-B45C-9583-715B-73DA28353F3C}"/>
              </a:ext>
            </a:extLst>
          </p:cNvPr>
          <p:cNvSpPr/>
          <p:nvPr/>
        </p:nvSpPr>
        <p:spPr>
          <a:xfrm>
            <a:off x="7045452" y="5002847"/>
            <a:ext cx="219456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Non-</a:t>
            </a:r>
            <a:r>
              <a:rPr lang="en-US" sz="1400" b="1" dirty="0">
                <a:solidFill>
                  <a:schemeClr val="tx1"/>
                </a:solidFill>
              </a:rPr>
              <a:t>M</a:t>
            </a:r>
            <a:r>
              <a:rPr sz="1400" b="1" dirty="0">
                <a:solidFill>
                  <a:schemeClr val="tx1"/>
                </a:solidFill>
              </a:rPr>
              <a:t>emory resources</a:t>
            </a:r>
          </a:p>
        </p:txBody>
      </p:sp>
      <p:cxnSp>
        <p:nvCxnSpPr>
          <p:cNvPr id="36" name="Connector 35">
            <a:extLst>
              <a:ext uri="{FF2B5EF4-FFF2-40B4-BE49-F238E27FC236}">
                <a16:creationId xmlns:a16="http://schemas.microsoft.com/office/drawing/2014/main" id="{6CE96E73-78E1-224A-9810-D3880631CFB2}"/>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FF611ECA-B332-A4F6-0069-3BF2800D4EAB}"/>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907BCEBE-5053-27F4-48F5-116BB8A16EE3}"/>
              </a:ext>
            </a:extLst>
          </p:cNvPr>
          <p:cNvSpPr/>
          <p:nvPr/>
        </p:nvSpPr>
        <p:spPr>
          <a:xfrm>
            <a:off x="4787900" y="5606352"/>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ODR/IFNDR</a:t>
            </a:r>
          </a:p>
        </p:txBody>
      </p:sp>
      <p:sp>
        <p:nvSpPr>
          <p:cNvPr id="39" name="Rounded Rectangle 38">
            <a:extLst>
              <a:ext uri="{FF2B5EF4-FFF2-40B4-BE49-F238E27FC236}">
                <a16:creationId xmlns:a16="http://schemas.microsoft.com/office/drawing/2014/main" id="{A3EFB909-CB23-ED13-E863-B1452B5EC939}"/>
              </a:ext>
            </a:extLst>
          </p:cNvPr>
          <p:cNvSpPr/>
          <p:nvPr/>
        </p:nvSpPr>
        <p:spPr>
          <a:xfrm>
            <a:off x="6057087" y="5606352"/>
            <a:ext cx="60899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ABI</a:t>
            </a:r>
          </a:p>
        </p:txBody>
      </p:sp>
      <p:cxnSp>
        <p:nvCxnSpPr>
          <p:cNvPr id="40" name="Connector 39">
            <a:extLst>
              <a:ext uri="{FF2B5EF4-FFF2-40B4-BE49-F238E27FC236}">
                <a16:creationId xmlns:a16="http://schemas.microsoft.com/office/drawing/2014/main" id="{9A540D8B-14E4-2C51-C75A-84D1613EED89}"/>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AC3D831-3980-E7F9-F387-CE8EF3AFC2C1}"/>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B26C7213-30AB-C3E2-8F5E-166E03EF5E91}"/>
              </a:ext>
            </a:extLst>
          </p:cNvPr>
          <p:cNvSpPr/>
          <p:nvPr/>
        </p:nvSpPr>
        <p:spPr>
          <a:xfrm>
            <a:off x="4786884" y="6209855"/>
            <a:ext cx="982065"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Strings</a:t>
            </a:r>
          </a:p>
        </p:txBody>
      </p:sp>
      <p:sp>
        <p:nvSpPr>
          <p:cNvPr id="43" name="Rounded Rectangle 42">
            <a:extLst>
              <a:ext uri="{FF2B5EF4-FFF2-40B4-BE49-F238E27FC236}">
                <a16:creationId xmlns:a16="http://schemas.microsoft.com/office/drawing/2014/main" id="{387168EC-193F-4A64-5C46-35F0E64D42F7}"/>
              </a:ext>
            </a:extLst>
          </p:cNvPr>
          <p:cNvSpPr/>
          <p:nvPr/>
        </p:nvSpPr>
        <p:spPr>
          <a:xfrm>
            <a:off x="5869533" y="6209855"/>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Variadic</a:t>
            </a:r>
          </a:p>
        </p:txBody>
      </p:sp>
      <p:sp>
        <p:nvSpPr>
          <p:cNvPr id="44" name="Rounded Rectangle 43">
            <a:extLst>
              <a:ext uri="{FF2B5EF4-FFF2-40B4-BE49-F238E27FC236}">
                <a16:creationId xmlns:a16="http://schemas.microsoft.com/office/drawing/2014/main" id="{3B86A975-1D99-826D-F50A-7D9789ABDAD6}"/>
              </a:ext>
            </a:extLst>
          </p:cNvPr>
          <p:cNvSpPr/>
          <p:nvPr/>
        </p:nvSpPr>
        <p:spPr>
          <a:xfrm>
            <a:off x="7045452" y="6209855"/>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Units</a:t>
            </a:r>
          </a:p>
        </p:txBody>
      </p:sp>
      <p:sp>
        <p:nvSpPr>
          <p:cNvPr id="75" name="Rounded Rectangle 8">
            <a:extLst>
              <a:ext uri="{FF2B5EF4-FFF2-40B4-BE49-F238E27FC236}">
                <a16:creationId xmlns:a16="http://schemas.microsoft.com/office/drawing/2014/main" id="{80939826-C464-8905-7CE1-D99A0605189B}"/>
              </a:ext>
            </a:extLst>
          </p:cNvPr>
          <p:cNvSpPr/>
          <p:nvPr/>
        </p:nvSpPr>
        <p:spPr>
          <a:xfrm>
            <a:off x="4786884" y="1705928"/>
            <a:ext cx="888796"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E56B304F-1817-5E0C-7194-D66D9DF6B531}"/>
              </a:ext>
            </a:extLst>
          </p:cNvPr>
          <p:cNvSpPr>
            <a:spLocks noGrp="1"/>
          </p:cNvSpPr>
          <p:nvPr>
            <p:ph type="title"/>
          </p:nvPr>
        </p:nvSpPr>
        <p:spPr/>
        <p:txBody>
          <a:bodyPr/>
          <a:lstStyle/>
          <a:p>
            <a:r>
              <a:rPr lang="en-US" dirty="0"/>
              <a:t>A taxonomy of C/C++ safety</a:t>
            </a:r>
          </a:p>
        </p:txBody>
      </p:sp>
      <p:sp>
        <p:nvSpPr>
          <p:cNvPr id="47" name="Rounded Rectangle 8">
            <a:extLst>
              <a:ext uri="{FF2B5EF4-FFF2-40B4-BE49-F238E27FC236}">
                <a16:creationId xmlns:a16="http://schemas.microsoft.com/office/drawing/2014/main" id="{3F06A06E-A8BA-E2BC-94F0-0D3D7F1C406F}"/>
              </a:ext>
            </a:extLst>
          </p:cNvPr>
          <p:cNvSpPr/>
          <p:nvPr/>
        </p:nvSpPr>
        <p:spPr>
          <a:xfrm>
            <a:off x="4782007" y="2796477"/>
            <a:ext cx="126674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A9CC3CEC-661A-B042-7C33-D64C0A1DD554}"/>
              </a:ext>
            </a:extLst>
          </p:cNvPr>
          <p:cNvSpPr/>
          <p:nvPr/>
        </p:nvSpPr>
        <p:spPr>
          <a:xfrm>
            <a:off x="6138367" y="2790763"/>
            <a:ext cx="142646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1539AC54-F9EE-ED0A-0714-FC079A28C992}"/>
              </a:ext>
            </a:extLst>
          </p:cNvPr>
          <p:cNvSpPr/>
          <p:nvPr/>
        </p:nvSpPr>
        <p:spPr>
          <a:xfrm>
            <a:off x="8314639" y="6208070"/>
            <a:ext cx="200070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De</a:t>
            </a:r>
            <a:r>
              <a:rPr sz="1400" b="1" dirty="0">
                <a:solidFill>
                  <a:schemeClr val="tx1"/>
                </a:solidFill>
              </a:rPr>
              <a:t>serialization</a:t>
            </a:r>
          </a:p>
        </p:txBody>
      </p:sp>
      <p:sp>
        <p:nvSpPr>
          <p:cNvPr id="54" name="Rounded Rectangle 38">
            <a:extLst>
              <a:ext uri="{FF2B5EF4-FFF2-40B4-BE49-F238E27FC236}">
                <a16:creationId xmlns:a16="http://schemas.microsoft.com/office/drawing/2014/main" id="{819B29EC-0AFC-BA8B-7406-CB7F46FECCEB}"/>
              </a:ext>
            </a:extLst>
          </p:cNvPr>
          <p:cNvSpPr/>
          <p:nvPr/>
        </p:nvSpPr>
        <p:spPr>
          <a:xfrm>
            <a:off x="6766660" y="5608138"/>
            <a:ext cx="201157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Toolchain/Optimizer</a:t>
            </a:r>
            <a:endParaRPr sz="1400" b="1" dirty="0">
              <a:solidFill>
                <a:schemeClr val="tx1"/>
              </a:solidFill>
            </a:endParaRPr>
          </a:p>
        </p:txBody>
      </p:sp>
      <p:sp>
        <p:nvSpPr>
          <p:cNvPr id="76" name="Callout"/>
          <p:cNvSpPr/>
          <p:nvPr/>
        </p:nvSpPr>
        <p:spPr>
          <a:xfrm>
            <a:off x="7482852" y="1335024"/>
            <a:ext cx="4352227" cy="1261872"/>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none" lIns="137160" tIns="0" rIns="137160" bIns="0" rtlCol="0" anchor="ctr"/>
          <a:lstStyle/>
          <a:p>
            <a:pPr algn="ctr"/>
            <a:r>
              <a:rPr lang="en-US" sz="2000" b="1" dirty="0">
                <a:solidFill>
                  <a:srgbClr val="1C3E63"/>
                </a:solidFill>
                <a:latin typeface="Aptos"/>
              </a:rPr>
              <a:t>out of bounds reads and writes</a:t>
            </a:r>
          </a:p>
          <a:p>
            <a:pPr algn="ctr"/>
            <a:r>
              <a:rPr lang="en-US" sz="2000" b="1" dirty="0">
                <a:solidFill>
                  <a:srgbClr val="1C3E63"/>
                </a:solidFill>
                <a:latin typeface="Aptos"/>
              </a:rPr>
              <a:t>uninitialized variables</a:t>
            </a:r>
          </a:p>
          <a:p>
            <a:pPr algn="ctr"/>
            <a:r>
              <a:rPr lang="en-US" sz="2000" b="1" dirty="0">
                <a:solidFill>
                  <a:srgbClr val="1C3E63"/>
                </a:solidFill>
                <a:latin typeface="Aptos"/>
              </a:rPr>
              <a:t>null dereferencing</a:t>
            </a:r>
          </a:p>
        </p:txBody>
      </p:sp>
      <p:sp>
        <p:nvSpPr>
          <p:cNvPr id="77" name="Callout"/>
          <p:cNvSpPr/>
          <p:nvPr/>
        </p:nvSpPr>
        <p:spPr>
          <a:xfrm>
            <a:off x="4187952" y="2089404"/>
            <a:ext cx="2983426" cy="1261872"/>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none" lIns="137160" tIns="0" rIns="137160" bIns="0" rtlCol="0" anchor="ctr"/>
          <a:lstStyle/>
          <a:p>
            <a:pPr algn="ctr"/>
            <a:r>
              <a:rPr lang="en-US" sz="2000" b="1" dirty="0">
                <a:solidFill>
                  <a:srgbClr val="1C3E63"/>
                </a:solidFill>
                <a:latin typeface="Aptos"/>
              </a:rPr>
              <a:t>integer overflow</a:t>
            </a:r>
          </a:p>
          <a:p>
            <a:pPr algn="ctr"/>
            <a:r>
              <a:rPr lang="en-US" sz="2000" b="1" dirty="0">
                <a:solidFill>
                  <a:srgbClr val="1C3E63"/>
                </a:solidFill>
                <a:latin typeface="Aptos"/>
              </a:rPr>
              <a:t>narrowing conversions</a:t>
            </a:r>
          </a:p>
          <a:p>
            <a:pPr algn="ctr"/>
            <a:r>
              <a:rPr lang="en-US" sz="2000" b="1" dirty="0">
                <a:solidFill>
                  <a:srgbClr val="1C3E63"/>
                </a:solidFill>
                <a:latin typeface="Aptos"/>
              </a:rPr>
              <a:t>object slicing</a:t>
            </a:r>
          </a:p>
        </p:txBody>
      </p:sp>
      <p:sp>
        <p:nvSpPr>
          <p:cNvPr id="78" name="Callout"/>
          <p:cNvSpPr/>
          <p:nvPr/>
        </p:nvSpPr>
        <p:spPr>
          <a:xfrm>
            <a:off x="8231859" y="3300984"/>
            <a:ext cx="3603220" cy="950976"/>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none" lIns="137160" tIns="0" rIns="137160" bIns="0" rtlCol="0" anchor="ctr"/>
          <a:lstStyle/>
          <a:p>
            <a:pPr algn="ctr"/>
            <a:r>
              <a:rPr lang="en-US" sz="2000" b="1" dirty="0">
                <a:solidFill>
                  <a:srgbClr val="1C3E63"/>
                </a:solidFill>
                <a:latin typeface="Aptos"/>
              </a:rPr>
              <a:t>infinite loops</a:t>
            </a:r>
          </a:p>
          <a:p>
            <a:pPr algn="ctr"/>
            <a:r>
              <a:rPr lang="en-US" sz="2000" b="1" dirty="0">
                <a:solidFill>
                  <a:srgbClr val="1C3E63"/>
                </a:solidFill>
                <a:latin typeface="Aptos"/>
              </a:rPr>
              <a:t>argument evaluation order</a:t>
            </a:r>
          </a:p>
        </p:txBody>
      </p:sp>
      <p:sp>
        <p:nvSpPr>
          <p:cNvPr id="79" name="Callout"/>
          <p:cNvSpPr/>
          <p:nvPr/>
        </p:nvSpPr>
        <p:spPr>
          <a:xfrm>
            <a:off x="4187952" y="4266590"/>
            <a:ext cx="3474790" cy="640080"/>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none" lIns="137160" tIns="0" rIns="137160" bIns="0" rtlCol="0" anchor="ctr"/>
          <a:lstStyle/>
          <a:p>
            <a:pPr algn="ctr"/>
            <a:r>
              <a:rPr lang="en-US" sz="2000" b="1" dirty="0">
                <a:solidFill>
                  <a:srgbClr val="1C3E63"/>
                </a:solidFill>
                <a:latin typeface="Aptos"/>
              </a:rPr>
              <a:t>race conditions and hangs</a:t>
            </a:r>
          </a:p>
        </p:txBody>
      </p:sp>
      <p:sp>
        <p:nvSpPr>
          <p:cNvPr id="80" name="Callout"/>
          <p:cNvSpPr/>
          <p:nvPr/>
        </p:nvSpPr>
        <p:spPr>
          <a:xfrm>
            <a:off x="9285248" y="4710074"/>
            <a:ext cx="2549831" cy="950976"/>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none" lIns="137160" tIns="0" rIns="137160" bIns="0" rtlCol="0" anchor="ctr"/>
          <a:lstStyle/>
          <a:p>
            <a:pPr algn="ctr"/>
            <a:r>
              <a:rPr lang="en-US" sz="2000" b="1" dirty="0">
                <a:solidFill>
                  <a:srgbClr val="1C3E63"/>
                </a:solidFill>
                <a:latin typeface="Aptos"/>
              </a:rPr>
              <a:t>leaking file and</a:t>
            </a:r>
          </a:p>
          <a:p>
            <a:pPr algn="ctr"/>
            <a:r>
              <a:rPr lang="en-US" sz="2000" b="1" dirty="0">
                <a:solidFill>
                  <a:srgbClr val="1C3E63"/>
                </a:solidFill>
                <a:latin typeface="Aptos"/>
              </a:rPr>
              <a:t>network handles</a:t>
            </a:r>
          </a:p>
        </p:txBody>
      </p:sp>
      <p:sp>
        <p:nvSpPr>
          <p:cNvPr id="81" name="Callout"/>
          <p:cNvSpPr/>
          <p:nvPr/>
        </p:nvSpPr>
        <p:spPr>
          <a:xfrm>
            <a:off x="4526280" y="6071616"/>
            <a:ext cx="2538445" cy="640080"/>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none" lIns="137160" tIns="0" rIns="137160" bIns="0" rtlCol="0" anchor="ctr"/>
          <a:lstStyle/>
          <a:p>
            <a:pPr algn="ctr"/>
            <a:r>
              <a:rPr lang="en-US" sz="2000" b="1" dirty="0">
                <a:solidFill>
                  <a:srgbClr val="1C3E63"/>
                </a:solidFill>
                <a:latin typeface="Aptos"/>
              </a:rPr>
              <a:t>string formatting</a:t>
            </a:r>
          </a:p>
        </p:txBody>
      </p:sp>
    </p:spTree>
    <p:extLst>
      <p:ext uri="{BB962C8B-B14F-4D97-AF65-F5344CB8AC3E}">
        <p14:creationId xmlns:p14="http://schemas.microsoft.com/office/powerpoint/2010/main" val="3363527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Signal/</a:t>
            </a:r>
            <a:r>
              <a:rPr lang="en-US" sz="1400" b="1" dirty="0">
                <a:solidFill>
                  <a:schemeClr val="tx1"/>
                </a:solidFill>
              </a:rPr>
              <a:t>R</a:t>
            </a:r>
            <a:r>
              <a:rPr sz="1400" b="1" dirty="0">
                <a:solidFill>
                  <a:schemeClr val="tx1"/>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Atomicity/</a:t>
            </a:r>
            <a:r>
              <a:rPr lang="en-US" sz="1400" b="1" dirty="0">
                <a:solidFill>
                  <a:schemeClr val="tx1"/>
                </a:solidFill>
              </a:rPr>
              <a:t>O</a:t>
            </a:r>
            <a:r>
              <a:rPr sz="1400" b="1" dirty="0">
                <a:solidFill>
                  <a:schemeClr val="tx1"/>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Non-</a:t>
            </a:r>
            <a:r>
              <a:rPr lang="en-US" sz="1400" b="1" dirty="0">
                <a:solidFill>
                  <a:schemeClr val="tx1"/>
                </a:solidFill>
              </a:rPr>
              <a:t>M</a:t>
            </a:r>
            <a:r>
              <a:rPr sz="1400" b="1" dirty="0">
                <a:solidFill>
                  <a:schemeClr val="tx1"/>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 taxonomy of C/C++ safety</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De</a:t>
            </a:r>
            <a:r>
              <a:rPr sz="1400" b="1" dirty="0">
                <a:solidFill>
                  <a:schemeClr val="tx1"/>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Toolchain/Optimizer</a:t>
            </a:r>
            <a:endParaRPr sz="1400" b="1" dirty="0">
              <a:solidFill>
                <a:schemeClr val="tx1"/>
              </a:solidFill>
            </a:endParaRPr>
          </a:p>
        </p:txBody>
      </p:sp>
      <p:pic>
        <p:nvPicPr>
          <p:cNvPr id="76" name="Heat overlay" descr="heat_overlay.png"/>
          <p:cNvPicPr>
            <a:picLocks noChangeAspect="1"/>
          </p:cNvPicPr>
          <p:nvPr/>
        </p:nvPicPr>
        <p:blipFill>
          <a:blip r:embed="rId3"/>
          <a:stretch>
            <a:fillRect/>
          </a:stretch>
        </p:blipFill>
        <p:spPr>
          <a:xfrm>
            <a:off x="11582" y="3557"/>
            <a:ext cx="12192000" cy="6858000"/>
          </a:xfrm>
          <a:prstGeom prst="rect">
            <a:avLst/>
          </a:prstGeom>
        </p:spPr>
      </p:pic>
    </p:spTree>
    <p:extLst>
      <p:ext uri="{BB962C8B-B14F-4D97-AF65-F5344CB8AC3E}">
        <p14:creationId xmlns:p14="http://schemas.microsoft.com/office/powerpoint/2010/main" val="2224043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rPr lang="en-US" dirty="0"/>
              <a:t>CVE share by issue class and provider</a:t>
            </a:r>
            <a:endParaRPr dirty="0"/>
          </a:p>
        </p:txBody>
      </p:sp>
      <p:sp>
        <p:nvSpPr>
          <p:cNvPr id="3" name="Rectangle 2"/>
          <p:cNvSpPr/>
          <p:nvPr/>
        </p:nvSpPr>
        <p:spPr>
          <a:xfrm>
            <a:off x="5981850" y="1660000"/>
            <a:ext cx="12700" cy="4514000"/>
          </a:xfrm>
          <a:prstGeom prst="rect">
            <a:avLst/>
          </a:prstGeom>
          <a:solidFill>
            <a:srgbClr val="E3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88200" y="1400000"/>
            <a:ext cx="600000" cy="240000"/>
          </a:xfrm>
          <a:prstGeom prst="rect">
            <a:avLst/>
          </a:prstGeom>
          <a:noFill/>
        </p:spPr>
        <p:txBody>
          <a:bodyPr wrap="none" lIns="0" tIns="0" rIns="0" bIns="0" anchor="ctr"/>
          <a:lstStyle/>
          <a:p>
            <a:pPr algn="ctr"/>
            <a:r>
              <a:rPr sz="1000" b="0">
                <a:solidFill>
                  <a:srgbClr val="8C8C8C"/>
                </a:solidFill>
                <a:latin typeface="Aptos"/>
              </a:rPr>
              <a:t>0.1%</a:t>
            </a:r>
          </a:p>
        </p:txBody>
      </p:sp>
      <p:sp>
        <p:nvSpPr>
          <p:cNvPr id="5" name="Rectangle 4"/>
          <p:cNvSpPr/>
          <p:nvPr/>
        </p:nvSpPr>
        <p:spPr>
          <a:xfrm>
            <a:off x="7853598" y="1660000"/>
            <a:ext cx="12700" cy="4514000"/>
          </a:xfrm>
          <a:prstGeom prst="rect">
            <a:avLst/>
          </a:prstGeom>
          <a:solidFill>
            <a:srgbClr val="E3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59948" y="1400000"/>
            <a:ext cx="600000" cy="240000"/>
          </a:xfrm>
          <a:prstGeom prst="rect">
            <a:avLst/>
          </a:prstGeom>
          <a:noFill/>
        </p:spPr>
        <p:txBody>
          <a:bodyPr wrap="none" lIns="0" tIns="0" rIns="0" bIns="0" anchor="ctr"/>
          <a:lstStyle/>
          <a:p>
            <a:pPr algn="ctr"/>
            <a:r>
              <a:rPr sz="1000" b="0">
                <a:solidFill>
                  <a:srgbClr val="8C8C8C"/>
                </a:solidFill>
                <a:latin typeface="Aptos"/>
              </a:rPr>
              <a:t>1%</a:t>
            </a:r>
          </a:p>
        </p:txBody>
      </p:sp>
      <p:sp>
        <p:nvSpPr>
          <p:cNvPr id="7" name="Rectangle 6"/>
          <p:cNvSpPr/>
          <p:nvPr/>
        </p:nvSpPr>
        <p:spPr>
          <a:xfrm>
            <a:off x="9725346" y="1660000"/>
            <a:ext cx="12700" cy="4514000"/>
          </a:xfrm>
          <a:prstGeom prst="rect">
            <a:avLst/>
          </a:prstGeom>
          <a:solidFill>
            <a:srgbClr val="E3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31696" y="1400000"/>
            <a:ext cx="600000" cy="240000"/>
          </a:xfrm>
          <a:prstGeom prst="rect">
            <a:avLst/>
          </a:prstGeom>
          <a:noFill/>
        </p:spPr>
        <p:txBody>
          <a:bodyPr wrap="none" lIns="0" tIns="0" rIns="0" bIns="0" anchor="ctr"/>
          <a:lstStyle/>
          <a:p>
            <a:pPr algn="ctr"/>
            <a:r>
              <a:rPr sz="1000" b="0">
                <a:solidFill>
                  <a:srgbClr val="8C8C8C"/>
                </a:solidFill>
                <a:latin typeface="Aptos"/>
              </a:rPr>
              <a:t>10%</a:t>
            </a:r>
          </a:p>
        </p:txBody>
      </p:sp>
      <p:sp>
        <p:nvSpPr>
          <p:cNvPr id="9" name="Rectangle 8"/>
          <p:cNvSpPr/>
          <p:nvPr/>
        </p:nvSpPr>
        <p:spPr>
          <a:xfrm>
            <a:off x="11033642" y="1660000"/>
            <a:ext cx="12700" cy="4514000"/>
          </a:xfrm>
          <a:prstGeom prst="rect">
            <a:avLst/>
          </a:prstGeom>
          <a:solidFill>
            <a:srgbClr val="E3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739992" y="1400000"/>
            <a:ext cx="600000" cy="240000"/>
          </a:xfrm>
          <a:prstGeom prst="rect">
            <a:avLst/>
          </a:prstGeom>
          <a:noFill/>
        </p:spPr>
        <p:txBody>
          <a:bodyPr wrap="none" lIns="0" tIns="0" rIns="0" bIns="0" anchor="ctr"/>
          <a:lstStyle/>
          <a:p>
            <a:pPr algn="ctr"/>
            <a:r>
              <a:rPr sz="1000" b="0">
                <a:solidFill>
                  <a:srgbClr val="8C8C8C"/>
                </a:solidFill>
                <a:latin typeface="Aptos"/>
              </a:rPr>
              <a:t>50%</a:t>
            </a:r>
          </a:p>
        </p:txBody>
      </p:sp>
      <p:sp>
        <p:nvSpPr>
          <p:cNvPr id="11" name="Rounded Rectangle 10"/>
          <p:cNvSpPr/>
          <p:nvPr/>
        </p:nvSpPr>
        <p:spPr>
          <a:xfrm>
            <a:off x="5068200" y="1716000"/>
            <a:ext cx="78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Bounds</a:t>
            </a:r>
          </a:p>
        </p:txBody>
      </p:sp>
      <p:sp>
        <p:nvSpPr>
          <p:cNvPr id="12" name="Chevron 11"/>
          <p:cNvSpPr/>
          <p:nvPr/>
        </p:nvSpPr>
        <p:spPr>
          <a:xfrm>
            <a:off x="4878200" y="177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18200" y="1700000"/>
            <a:ext cx="800000" cy="262000"/>
          </a:xfrm>
          <a:prstGeom prst="rect">
            <a:avLst/>
          </a:prstGeom>
          <a:noFill/>
        </p:spPr>
        <p:txBody>
          <a:bodyPr wrap="none" lIns="0" tIns="0" rIns="0" bIns="0" anchor="ctr"/>
          <a:lstStyle/>
          <a:p>
            <a:pPr algn="r"/>
            <a:r>
              <a:rPr sz="1250" b="1">
                <a:solidFill>
                  <a:srgbClr val="1A1A1A"/>
                </a:solidFill>
                <a:latin typeface="Aptos"/>
              </a:rPr>
              <a:t>Memory</a:t>
            </a:r>
          </a:p>
        </p:txBody>
      </p:sp>
      <p:sp>
        <p:nvSpPr>
          <p:cNvPr id="14" name="Rectangle 13"/>
          <p:cNvSpPr/>
          <p:nvPr/>
        </p:nvSpPr>
        <p:spPr>
          <a:xfrm>
            <a:off x="10800018" y="1824650"/>
            <a:ext cx="309503"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1008155" y="1776000"/>
            <a:ext cx="110000" cy="110000"/>
          </a:xfrm>
          <a:prstGeom prst="roundRect">
            <a:avLst>
              <a:gd name="adj" fmla="val 50000"/>
            </a:avLst>
          </a:prstGeom>
          <a:solidFill>
            <a:srgbClr val="8B1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49590" y="1771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982138" y="1781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908200" y="1978000"/>
            <a:ext cx="94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Lifetime</a:t>
            </a:r>
          </a:p>
        </p:txBody>
      </p:sp>
      <p:sp>
        <p:nvSpPr>
          <p:cNvPr id="19" name="Chevron 18"/>
          <p:cNvSpPr/>
          <p:nvPr/>
        </p:nvSpPr>
        <p:spPr>
          <a:xfrm>
            <a:off x="4718200" y="203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58200" y="1962000"/>
            <a:ext cx="800000" cy="262000"/>
          </a:xfrm>
          <a:prstGeom prst="rect">
            <a:avLst/>
          </a:prstGeom>
          <a:noFill/>
        </p:spPr>
        <p:txBody>
          <a:bodyPr wrap="none" lIns="0" tIns="0" rIns="0" bIns="0" anchor="ctr"/>
          <a:lstStyle/>
          <a:p>
            <a:pPr algn="r"/>
            <a:r>
              <a:rPr sz="1250" b="1">
                <a:solidFill>
                  <a:srgbClr val="1A1A1A"/>
                </a:solidFill>
                <a:latin typeface="Aptos"/>
              </a:rPr>
              <a:t>Memory</a:t>
            </a:r>
          </a:p>
        </p:txBody>
      </p:sp>
      <p:sp>
        <p:nvSpPr>
          <p:cNvPr id="21" name="Rectangle 20"/>
          <p:cNvSpPr/>
          <p:nvPr/>
        </p:nvSpPr>
        <p:spPr>
          <a:xfrm>
            <a:off x="9770375" y="2086650"/>
            <a:ext cx="537831"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831135" y="2038000"/>
            <a:ext cx="110000" cy="110000"/>
          </a:xfrm>
          <a:prstGeom prst="roundRect">
            <a:avLst>
              <a:gd name="adj" fmla="val 50000"/>
            </a:avLst>
          </a:prstGeom>
          <a:solidFill>
            <a:srgbClr val="CF5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785564" y="2033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795564" y="2043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228200" y="2240000"/>
            <a:ext cx="62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Null</a:t>
            </a:r>
          </a:p>
        </p:txBody>
      </p:sp>
      <p:sp>
        <p:nvSpPr>
          <p:cNvPr id="26" name="Chevron 25"/>
          <p:cNvSpPr/>
          <p:nvPr/>
        </p:nvSpPr>
        <p:spPr>
          <a:xfrm>
            <a:off x="5038200" y="230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78200" y="2224000"/>
            <a:ext cx="800000" cy="262000"/>
          </a:xfrm>
          <a:prstGeom prst="rect">
            <a:avLst/>
          </a:prstGeom>
          <a:noFill/>
        </p:spPr>
        <p:txBody>
          <a:bodyPr wrap="none" lIns="0" tIns="0" rIns="0" bIns="0" anchor="ctr"/>
          <a:lstStyle/>
          <a:p>
            <a:pPr algn="r"/>
            <a:r>
              <a:rPr sz="1250" b="1">
                <a:solidFill>
                  <a:srgbClr val="1A1A1A"/>
                </a:solidFill>
                <a:latin typeface="Aptos"/>
              </a:rPr>
              <a:t>Memory</a:t>
            </a:r>
          </a:p>
        </p:txBody>
      </p:sp>
      <p:sp>
        <p:nvSpPr>
          <p:cNvPr id="28" name="Rectangle 27"/>
          <p:cNvSpPr/>
          <p:nvPr/>
        </p:nvSpPr>
        <p:spPr>
          <a:xfrm>
            <a:off x="8989037" y="2348650"/>
            <a:ext cx="786095"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366530" y="2300000"/>
            <a:ext cx="215294" cy="110000"/>
          </a:xfrm>
          <a:prstGeom prst="roundRect">
            <a:avLst>
              <a:gd name="adj" fmla="val 50000"/>
            </a:avLst>
          </a:prstGeom>
          <a:solidFill>
            <a:srgbClr val="DC7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377824" y="2295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387824" y="2305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948200" y="2502000"/>
            <a:ext cx="190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Non-memory resources</a:t>
            </a:r>
          </a:p>
        </p:txBody>
      </p:sp>
      <p:sp>
        <p:nvSpPr>
          <p:cNvPr id="33" name="Chevron 32"/>
          <p:cNvSpPr/>
          <p:nvPr/>
        </p:nvSpPr>
        <p:spPr>
          <a:xfrm>
            <a:off x="3758200" y="256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698200" y="2486000"/>
            <a:ext cx="1000000" cy="262000"/>
          </a:xfrm>
          <a:prstGeom prst="rect">
            <a:avLst/>
          </a:prstGeom>
          <a:noFill/>
        </p:spPr>
        <p:txBody>
          <a:bodyPr wrap="none" lIns="0" tIns="0" rIns="0" bIns="0" anchor="ctr"/>
          <a:lstStyle/>
          <a:p>
            <a:pPr algn="r"/>
            <a:r>
              <a:rPr sz="1250" b="1">
                <a:solidFill>
                  <a:srgbClr val="1A1A1A"/>
                </a:solidFill>
                <a:latin typeface="Aptos"/>
              </a:rPr>
              <a:t>Resource</a:t>
            </a:r>
          </a:p>
        </p:txBody>
      </p:sp>
      <p:sp>
        <p:nvSpPr>
          <p:cNvPr id="35" name="Rectangle 34"/>
          <p:cNvSpPr/>
          <p:nvPr/>
        </p:nvSpPr>
        <p:spPr>
          <a:xfrm>
            <a:off x="8926708" y="2610650"/>
            <a:ext cx="627246"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9377992" y="2562000"/>
            <a:ext cx="110000" cy="110000"/>
          </a:xfrm>
          <a:prstGeom prst="roundRect">
            <a:avLst>
              <a:gd name="adj" fmla="val 50000"/>
            </a:avLst>
          </a:prstGeom>
          <a:solidFill>
            <a:srgbClr val="DD74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339429" y="2557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349429" y="2567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4748200" y="2764000"/>
            <a:ext cx="110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Arithmetic</a:t>
            </a:r>
          </a:p>
        </p:txBody>
      </p:sp>
      <p:sp>
        <p:nvSpPr>
          <p:cNvPr id="40" name="Chevron 39"/>
          <p:cNvSpPr/>
          <p:nvPr/>
        </p:nvSpPr>
        <p:spPr>
          <a:xfrm>
            <a:off x="4558200" y="282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898200" y="2748000"/>
            <a:ext cx="1600000" cy="262000"/>
          </a:xfrm>
          <a:prstGeom prst="rect">
            <a:avLst/>
          </a:prstGeom>
          <a:noFill/>
        </p:spPr>
        <p:txBody>
          <a:bodyPr wrap="none" lIns="0" tIns="0" rIns="0" bIns="0" anchor="ctr"/>
          <a:lstStyle/>
          <a:p>
            <a:pPr algn="r"/>
            <a:r>
              <a:rPr sz="1250" b="1">
                <a:solidFill>
                  <a:srgbClr val="1A1A1A"/>
                </a:solidFill>
                <a:latin typeface="Aptos"/>
              </a:rPr>
              <a:t>Type and value</a:t>
            </a:r>
          </a:p>
        </p:txBody>
      </p:sp>
      <p:sp>
        <p:nvSpPr>
          <p:cNvPr id="42" name="Rectangle 41"/>
          <p:cNvSpPr/>
          <p:nvPr/>
        </p:nvSpPr>
        <p:spPr>
          <a:xfrm>
            <a:off x="9135675" y="2872650"/>
            <a:ext cx="67065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167198" y="2824000"/>
            <a:ext cx="338446" cy="110000"/>
          </a:xfrm>
          <a:prstGeom prst="roundRect">
            <a:avLst>
              <a:gd name="adj" fmla="val 50000"/>
            </a:avLst>
          </a:prstGeom>
          <a:solidFill>
            <a:srgbClr val="E07B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206524" y="2819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16524" y="2829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748200" y="3026000"/>
            <a:ext cx="110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Allocation</a:t>
            </a:r>
          </a:p>
        </p:txBody>
      </p:sp>
      <p:sp>
        <p:nvSpPr>
          <p:cNvPr id="47" name="Chevron 46"/>
          <p:cNvSpPr/>
          <p:nvPr/>
        </p:nvSpPr>
        <p:spPr>
          <a:xfrm>
            <a:off x="4558200" y="308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498200" y="3010000"/>
            <a:ext cx="1000000" cy="262000"/>
          </a:xfrm>
          <a:prstGeom prst="rect">
            <a:avLst/>
          </a:prstGeom>
          <a:noFill/>
        </p:spPr>
        <p:txBody>
          <a:bodyPr wrap="none" lIns="0" tIns="0" rIns="0" bIns="0" anchor="ctr"/>
          <a:lstStyle/>
          <a:p>
            <a:pPr algn="r"/>
            <a:r>
              <a:rPr sz="1250" b="1">
                <a:solidFill>
                  <a:srgbClr val="1A1A1A"/>
                </a:solidFill>
                <a:latin typeface="Aptos"/>
              </a:rPr>
              <a:t>Resource</a:t>
            </a:r>
          </a:p>
        </p:txBody>
      </p:sp>
      <p:sp>
        <p:nvSpPr>
          <p:cNvPr id="49" name="Rectangle 48"/>
          <p:cNvSpPr/>
          <p:nvPr/>
        </p:nvSpPr>
        <p:spPr>
          <a:xfrm>
            <a:off x="6984981" y="3134650"/>
            <a:ext cx="2332936"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9187468" y="3086000"/>
            <a:ext cx="110000" cy="110000"/>
          </a:xfrm>
          <a:prstGeom prst="roundRect">
            <a:avLst>
              <a:gd name="adj" fmla="val 50000"/>
            </a:avLst>
          </a:prstGeom>
          <a:solidFill>
            <a:srgbClr val="E0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184337" y="3081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198201" y="3091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4348200" y="3288000"/>
            <a:ext cx="150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Deserialization</a:t>
            </a:r>
          </a:p>
        </p:txBody>
      </p:sp>
      <p:sp>
        <p:nvSpPr>
          <p:cNvPr id="54" name="Chevron 53"/>
          <p:cNvSpPr/>
          <p:nvPr/>
        </p:nvSpPr>
        <p:spPr>
          <a:xfrm>
            <a:off x="4158200" y="334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098200" y="3272000"/>
            <a:ext cx="2000000" cy="262000"/>
          </a:xfrm>
          <a:prstGeom prst="rect">
            <a:avLst/>
          </a:prstGeom>
          <a:noFill/>
        </p:spPr>
        <p:txBody>
          <a:bodyPr wrap="none" lIns="0" tIns="0" rIns="0" bIns="0" anchor="ctr"/>
          <a:lstStyle/>
          <a:p>
            <a:pPr algn="r"/>
            <a:r>
              <a:rPr sz="1250" b="1">
                <a:solidFill>
                  <a:srgbClr val="1A1A1A"/>
                </a:solidFill>
                <a:latin typeface="Aptos"/>
              </a:rPr>
              <a:t>Interface and data</a:t>
            </a:r>
          </a:p>
        </p:txBody>
      </p:sp>
      <p:sp>
        <p:nvSpPr>
          <p:cNvPr id="56" name="Rectangle 55"/>
          <p:cNvSpPr/>
          <p:nvPr/>
        </p:nvSpPr>
        <p:spPr>
          <a:xfrm>
            <a:off x="6190170" y="3396650"/>
            <a:ext cx="3260407"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8183166" y="3348000"/>
            <a:ext cx="796186" cy="110000"/>
          </a:xfrm>
          <a:prstGeom prst="roundRect">
            <a:avLst>
              <a:gd name="adj" fmla="val 50000"/>
            </a:avLst>
          </a:prstGeom>
          <a:solidFill>
            <a:srgbClr val="E388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831818" y="3343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8929353" y="3353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4748200" y="3550000"/>
            <a:ext cx="110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Data races</a:t>
            </a:r>
          </a:p>
        </p:txBody>
      </p:sp>
      <p:sp>
        <p:nvSpPr>
          <p:cNvPr id="61" name="Chevron 60"/>
          <p:cNvSpPr/>
          <p:nvPr/>
        </p:nvSpPr>
        <p:spPr>
          <a:xfrm>
            <a:off x="4558200" y="361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198200" y="3534000"/>
            <a:ext cx="1300000" cy="262000"/>
          </a:xfrm>
          <a:prstGeom prst="rect">
            <a:avLst/>
          </a:prstGeom>
          <a:noFill/>
        </p:spPr>
        <p:txBody>
          <a:bodyPr wrap="none" lIns="0" tIns="0" rIns="0" bIns="0" anchor="ctr"/>
          <a:lstStyle/>
          <a:p>
            <a:pPr algn="r"/>
            <a:r>
              <a:rPr sz="1250" b="1">
                <a:solidFill>
                  <a:srgbClr val="1A1A1A"/>
                </a:solidFill>
                <a:latin typeface="Aptos"/>
              </a:rPr>
              <a:t>Concurrency</a:t>
            </a:r>
          </a:p>
        </p:txBody>
      </p:sp>
      <p:sp>
        <p:nvSpPr>
          <p:cNvPr id="63" name="Rectangle 62"/>
          <p:cNvSpPr/>
          <p:nvPr/>
        </p:nvSpPr>
        <p:spPr>
          <a:xfrm>
            <a:off x="8665033" y="3658650"/>
            <a:ext cx="656339"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8873532" y="3610000"/>
            <a:ext cx="110000" cy="110000"/>
          </a:xfrm>
          <a:prstGeom prst="roundRect">
            <a:avLst>
              <a:gd name="adj" fmla="val 50000"/>
            </a:avLst>
          </a:prstGeom>
          <a:solidFill>
            <a:srgbClr val="E38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881771" y="3605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8896928" y="3615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4428200" y="3812000"/>
            <a:ext cx="142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Initialization</a:t>
            </a:r>
          </a:p>
        </p:txBody>
      </p:sp>
      <p:sp>
        <p:nvSpPr>
          <p:cNvPr id="68" name="Chevron 67"/>
          <p:cNvSpPr/>
          <p:nvPr/>
        </p:nvSpPr>
        <p:spPr>
          <a:xfrm>
            <a:off x="4238200" y="387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378200" y="3796000"/>
            <a:ext cx="800000" cy="262000"/>
          </a:xfrm>
          <a:prstGeom prst="rect">
            <a:avLst/>
          </a:prstGeom>
          <a:noFill/>
        </p:spPr>
        <p:txBody>
          <a:bodyPr wrap="none" lIns="0" tIns="0" rIns="0" bIns="0" anchor="ctr"/>
          <a:lstStyle/>
          <a:p>
            <a:pPr algn="r"/>
            <a:r>
              <a:rPr sz="1250" b="1">
                <a:solidFill>
                  <a:srgbClr val="1A1A1A"/>
                </a:solidFill>
                <a:latin typeface="Aptos"/>
              </a:rPr>
              <a:t>Memory</a:t>
            </a:r>
          </a:p>
        </p:txBody>
      </p:sp>
      <p:sp>
        <p:nvSpPr>
          <p:cNvPr id="70" name="Rectangle 69"/>
          <p:cNvSpPr/>
          <p:nvPr/>
        </p:nvSpPr>
        <p:spPr>
          <a:xfrm>
            <a:off x="7548432" y="3920650"/>
            <a:ext cx="1101628"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8500231" y="3872000"/>
            <a:ext cx="138129" cy="110000"/>
          </a:xfrm>
          <a:prstGeom prst="roundRect">
            <a:avLst>
              <a:gd name="adj" fmla="val 50000"/>
            </a:avLst>
          </a:prstGeom>
          <a:solidFill>
            <a:srgbClr val="E79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563542" y="3867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8573542" y="3877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5228200" y="4074000"/>
            <a:ext cx="62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Type</a:t>
            </a:r>
          </a:p>
        </p:txBody>
      </p:sp>
      <p:sp>
        <p:nvSpPr>
          <p:cNvPr id="75" name="Chevron 74"/>
          <p:cNvSpPr/>
          <p:nvPr/>
        </p:nvSpPr>
        <p:spPr>
          <a:xfrm>
            <a:off x="5038200" y="413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378200" y="4058000"/>
            <a:ext cx="1600000" cy="262000"/>
          </a:xfrm>
          <a:prstGeom prst="rect">
            <a:avLst/>
          </a:prstGeom>
          <a:noFill/>
        </p:spPr>
        <p:txBody>
          <a:bodyPr wrap="none" lIns="0" tIns="0" rIns="0" bIns="0" anchor="ctr"/>
          <a:lstStyle/>
          <a:p>
            <a:pPr algn="r"/>
            <a:r>
              <a:rPr sz="1250" b="1">
                <a:solidFill>
                  <a:srgbClr val="1A1A1A"/>
                </a:solidFill>
                <a:latin typeface="Aptos"/>
              </a:rPr>
              <a:t>Type and value</a:t>
            </a:r>
          </a:p>
        </p:txBody>
      </p:sp>
      <p:sp>
        <p:nvSpPr>
          <p:cNvPr id="77" name="Rectangle 76"/>
          <p:cNvSpPr/>
          <p:nvPr/>
        </p:nvSpPr>
        <p:spPr>
          <a:xfrm>
            <a:off x="7761706" y="4182650"/>
            <a:ext cx="544359"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8023342" y="4134000"/>
            <a:ext cx="215090" cy="110000"/>
          </a:xfrm>
          <a:prstGeom prst="roundRect">
            <a:avLst>
              <a:gd name="adj" fmla="val 50000"/>
            </a:avLst>
          </a:prstGeom>
          <a:solidFill>
            <a:srgbClr val="ECA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089441" y="4129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099441" y="4139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4268200" y="4336000"/>
            <a:ext cx="158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Forward progress</a:t>
            </a:r>
          </a:p>
        </p:txBody>
      </p:sp>
      <p:sp>
        <p:nvSpPr>
          <p:cNvPr id="82" name="Chevron 81"/>
          <p:cNvSpPr/>
          <p:nvPr/>
        </p:nvSpPr>
        <p:spPr>
          <a:xfrm>
            <a:off x="4078200" y="439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618200" y="4320000"/>
            <a:ext cx="2400000" cy="262000"/>
          </a:xfrm>
          <a:prstGeom prst="rect">
            <a:avLst/>
          </a:prstGeom>
          <a:noFill/>
        </p:spPr>
        <p:txBody>
          <a:bodyPr wrap="none" lIns="0" tIns="0" rIns="0" bIns="0" anchor="ctr"/>
          <a:lstStyle/>
          <a:p>
            <a:pPr algn="r"/>
            <a:r>
              <a:rPr sz="1250" b="1">
                <a:solidFill>
                  <a:srgbClr val="1A1A1A"/>
                </a:solidFill>
                <a:latin typeface="Aptos"/>
              </a:rPr>
              <a:t>Control flow and error</a:t>
            </a:r>
          </a:p>
        </p:txBody>
      </p:sp>
      <p:sp>
        <p:nvSpPr>
          <p:cNvPr id="84" name="Rectangle 83"/>
          <p:cNvSpPr/>
          <p:nvPr/>
        </p:nvSpPr>
        <p:spPr>
          <a:xfrm>
            <a:off x="7875651" y="4444650"/>
            <a:ext cx="91469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p:cNvSpPr/>
          <p:nvPr/>
        </p:nvSpPr>
        <p:spPr>
          <a:xfrm>
            <a:off x="7961640" y="4396000"/>
            <a:ext cx="181539" cy="110000"/>
          </a:xfrm>
          <a:prstGeom prst="roundRect">
            <a:avLst>
              <a:gd name="adj" fmla="val 50000"/>
            </a:avLst>
          </a:prstGeom>
          <a:solidFill>
            <a:srgbClr val="EDB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7998474" y="4391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8008474" y="4401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p:nvPr/>
        </p:nvSpPr>
        <p:spPr>
          <a:xfrm>
            <a:off x="4428200" y="4598000"/>
            <a:ext cx="142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Error handling</a:t>
            </a:r>
          </a:p>
        </p:txBody>
      </p:sp>
      <p:sp>
        <p:nvSpPr>
          <p:cNvPr id="89" name="Chevron 88"/>
          <p:cNvSpPr/>
          <p:nvPr/>
        </p:nvSpPr>
        <p:spPr>
          <a:xfrm>
            <a:off x="4238200" y="465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778200" y="4582000"/>
            <a:ext cx="2400000" cy="262000"/>
          </a:xfrm>
          <a:prstGeom prst="rect">
            <a:avLst/>
          </a:prstGeom>
          <a:noFill/>
        </p:spPr>
        <p:txBody>
          <a:bodyPr wrap="none" lIns="0" tIns="0" rIns="0" bIns="0" anchor="ctr"/>
          <a:lstStyle/>
          <a:p>
            <a:pPr algn="r"/>
            <a:r>
              <a:rPr sz="1250" b="1">
                <a:solidFill>
                  <a:srgbClr val="1A1A1A"/>
                </a:solidFill>
                <a:latin typeface="Aptos"/>
              </a:rPr>
              <a:t>Control flow and error</a:t>
            </a:r>
          </a:p>
        </p:txBody>
      </p:sp>
      <p:sp>
        <p:nvSpPr>
          <p:cNvPr id="91" name="Rectangle 90"/>
          <p:cNvSpPr/>
          <p:nvPr/>
        </p:nvSpPr>
        <p:spPr>
          <a:xfrm>
            <a:off x="6803588" y="4706650"/>
            <a:ext cx="1498442"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p:cNvSpPr/>
          <p:nvPr/>
        </p:nvSpPr>
        <p:spPr>
          <a:xfrm>
            <a:off x="7626190" y="4658000"/>
            <a:ext cx="405143" cy="110000"/>
          </a:xfrm>
          <a:prstGeom prst="roundRect">
            <a:avLst>
              <a:gd name="adj" fmla="val 50000"/>
            </a:avLst>
          </a:prstGeom>
          <a:solidFill>
            <a:srgbClr val="EDB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7830018" y="4653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7981334" y="4663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4268200" y="4860000"/>
            <a:ext cx="158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Exception safety</a:t>
            </a:r>
          </a:p>
        </p:txBody>
      </p:sp>
      <p:sp>
        <p:nvSpPr>
          <p:cNvPr id="96" name="Chevron 95"/>
          <p:cNvSpPr/>
          <p:nvPr/>
        </p:nvSpPr>
        <p:spPr>
          <a:xfrm>
            <a:off x="4078200" y="4920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618200" y="4844000"/>
            <a:ext cx="2400000" cy="262000"/>
          </a:xfrm>
          <a:prstGeom prst="rect">
            <a:avLst/>
          </a:prstGeom>
          <a:noFill/>
        </p:spPr>
        <p:txBody>
          <a:bodyPr wrap="none" lIns="0" tIns="0" rIns="0" bIns="0" anchor="ctr"/>
          <a:lstStyle/>
          <a:p>
            <a:pPr algn="r"/>
            <a:r>
              <a:rPr sz="1250" b="1">
                <a:solidFill>
                  <a:srgbClr val="1A1A1A"/>
                </a:solidFill>
                <a:latin typeface="Aptos"/>
              </a:rPr>
              <a:t>Control flow and error</a:t>
            </a:r>
          </a:p>
        </p:txBody>
      </p:sp>
      <p:sp>
        <p:nvSpPr>
          <p:cNvPr id="98" name="Rectangle 97"/>
          <p:cNvSpPr/>
          <p:nvPr/>
        </p:nvSpPr>
        <p:spPr>
          <a:xfrm>
            <a:off x="6240139" y="4968650"/>
            <a:ext cx="1845376"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7334408" y="4920000"/>
            <a:ext cx="584066" cy="110000"/>
          </a:xfrm>
          <a:prstGeom prst="roundRect">
            <a:avLst>
              <a:gd name="adj" fmla="val 50000"/>
            </a:avLst>
          </a:prstGeom>
          <a:solidFill>
            <a:srgbClr val="EFB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7720916" y="4915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7868475" y="4925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ounded Rectangle 101"/>
          <p:cNvSpPr/>
          <p:nvPr/>
        </p:nvSpPr>
        <p:spPr>
          <a:xfrm>
            <a:off x="4108200" y="5122000"/>
            <a:ext cx="174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Atomicity/ordering</a:t>
            </a:r>
          </a:p>
        </p:txBody>
      </p:sp>
      <p:sp>
        <p:nvSpPr>
          <p:cNvPr id="103" name="Chevron 102"/>
          <p:cNvSpPr/>
          <p:nvPr/>
        </p:nvSpPr>
        <p:spPr>
          <a:xfrm>
            <a:off x="3918200" y="5182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2558200" y="5106000"/>
            <a:ext cx="1300000" cy="262000"/>
          </a:xfrm>
          <a:prstGeom prst="rect">
            <a:avLst/>
          </a:prstGeom>
          <a:noFill/>
        </p:spPr>
        <p:txBody>
          <a:bodyPr wrap="none" lIns="0" tIns="0" rIns="0" bIns="0" anchor="ctr"/>
          <a:lstStyle/>
          <a:p>
            <a:pPr algn="r"/>
            <a:r>
              <a:rPr sz="1250" b="1">
                <a:solidFill>
                  <a:srgbClr val="1A1A1A"/>
                </a:solidFill>
                <a:latin typeface="Aptos"/>
              </a:rPr>
              <a:t>Concurrency</a:t>
            </a:r>
          </a:p>
        </p:txBody>
      </p:sp>
      <p:sp>
        <p:nvSpPr>
          <p:cNvPr id="105" name="Rectangle 104"/>
          <p:cNvSpPr/>
          <p:nvPr/>
        </p:nvSpPr>
        <p:spPr>
          <a:xfrm>
            <a:off x="5988200" y="5230650"/>
            <a:ext cx="238025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ounded Rectangle 105"/>
          <p:cNvSpPr/>
          <p:nvPr/>
        </p:nvSpPr>
        <p:spPr>
          <a:xfrm>
            <a:off x="6426228" y="5182000"/>
            <a:ext cx="1382023" cy="110000"/>
          </a:xfrm>
          <a:prstGeom prst="roundRect">
            <a:avLst>
              <a:gd name="adj" fmla="val 50000"/>
            </a:avLst>
          </a:prstGeom>
          <a:solidFill>
            <a:srgbClr val="EFBC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7438468" y="5177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7802448" y="5187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ounded Rectangle 108"/>
          <p:cNvSpPr/>
          <p:nvPr/>
        </p:nvSpPr>
        <p:spPr>
          <a:xfrm>
            <a:off x="5148200" y="5384000"/>
            <a:ext cx="70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Stack</a:t>
            </a:r>
          </a:p>
        </p:txBody>
      </p:sp>
      <p:sp>
        <p:nvSpPr>
          <p:cNvPr id="110" name="Chevron 109"/>
          <p:cNvSpPr/>
          <p:nvPr/>
        </p:nvSpPr>
        <p:spPr>
          <a:xfrm>
            <a:off x="4958200" y="5444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3898200" y="5368000"/>
            <a:ext cx="1000000" cy="262000"/>
          </a:xfrm>
          <a:prstGeom prst="rect">
            <a:avLst/>
          </a:prstGeom>
          <a:noFill/>
        </p:spPr>
        <p:txBody>
          <a:bodyPr wrap="none" lIns="0" tIns="0" rIns="0" bIns="0" anchor="ctr"/>
          <a:lstStyle/>
          <a:p>
            <a:pPr algn="r"/>
            <a:r>
              <a:rPr sz="1250" b="1">
                <a:solidFill>
                  <a:srgbClr val="1A1A1A"/>
                </a:solidFill>
                <a:latin typeface="Aptos"/>
              </a:rPr>
              <a:t>Resource</a:t>
            </a:r>
          </a:p>
        </p:txBody>
      </p:sp>
      <p:sp>
        <p:nvSpPr>
          <p:cNvPr id="112" name="Rectangle 111"/>
          <p:cNvSpPr/>
          <p:nvPr/>
        </p:nvSpPr>
        <p:spPr>
          <a:xfrm>
            <a:off x="7258495" y="5492650"/>
            <a:ext cx="498874"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112"/>
          <p:cNvSpPr/>
          <p:nvPr/>
        </p:nvSpPr>
        <p:spPr>
          <a:xfrm>
            <a:off x="7522849" y="5444000"/>
            <a:ext cx="175663" cy="11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7515944" y="5439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7472849" y="5449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ounded Rectangle 115"/>
          <p:cNvSpPr/>
          <p:nvPr/>
        </p:nvSpPr>
        <p:spPr>
          <a:xfrm>
            <a:off x="4988200" y="5646000"/>
            <a:ext cx="86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Strings</a:t>
            </a:r>
          </a:p>
        </p:txBody>
      </p:sp>
      <p:sp>
        <p:nvSpPr>
          <p:cNvPr id="117" name="Chevron 116"/>
          <p:cNvSpPr/>
          <p:nvPr/>
        </p:nvSpPr>
        <p:spPr>
          <a:xfrm>
            <a:off x="4798200" y="5706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2738200" y="5630000"/>
            <a:ext cx="2000000" cy="262000"/>
          </a:xfrm>
          <a:prstGeom prst="rect">
            <a:avLst/>
          </a:prstGeom>
          <a:noFill/>
        </p:spPr>
        <p:txBody>
          <a:bodyPr wrap="none" lIns="0" tIns="0" rIns="0" bIns="0" anchor="ctr"/>
          <a:lstStyle/>
          <a:p>
            <a:pPr algn="r"/>
            <a:r>
              <a:rPr sz="1250" b="1">
                <a:solidFill>
                  <a:srgbClr val="1A1A1A"/>
                </a:solidFill>
                <a:latin typeface="Aptos"/>
              </a:rPr>
              <a:t>Interface and data</a:t>
            </a:r>
          </a:p>
        </p:txBody>
      </p:sp>
      <p:sp>
        <p:nvSpPr>
          <p:cNvPr id="119" name="Rectangle 118"/>
          <p:cNvSpPr/>
          <p:nvPr/>
        </p:nvSpPr>
        <p:spPr>
          <a:xfrm>
            <a:off x="6240139" y="5754650"/>
            <a:ext cx="1135826"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p:cNvSpPr/>
          <p:nvPr/>
        </p:nvSpPr>
        <p:spPr>
          <a:xfrm>
            <a:off x="6753623" y="5706000"/>
            <a:ext cx="572942" cy="11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6993751" y="5701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7003751" y="5711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ounded Rectangle 122"/>
          <p:cNvSpPr/>
          <p:nvPr/>
        </p:nvSpPr>
        <p:spPr>
          <a:xfrm>
            <a:off x="4748200" y="5908000"/>
            <a:ext cx="1100000" cy="23000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1A1A1A"/>
                </a:solidFill>
                <a:latin typeface="Aptos"/>
              </a:rPr>
              <a:t>Conversion</a:t>
            </a:r>
          </a:p>
        </p:txBody>
      </p:sp>
      <p:sp>
        <p:nvSpPr>
          <p:cNvPr id="124" name="Chevron 123"/>
          <p:cNvSpPr/>
          <p:nvPr/>
        </p:nvSpPr>
        <p:spPr>
          <a:xfrm>
            <a:off x="4558200" y="5968000"/>
            <a:ext cx="60000" cy="110000"/>
          </a:xfrm>
          <a:prstGeom prst="chevron">
            <a:avLst/>
          </a:prstGeom>
          <a:solidFill>
            <a:srgbClr val="A6A1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2898200" y="5892000"/>
            <a:ext cx="1600000" cy="262000"/>
          </a:xfrm>
          <a:prstGeom prst="rect">
            <a:avLst/>
          </a:prstGeom>
          <a:noFill/>
        </p:spPr>
        <p:txBody>
          <a:bodyPr wrap="none" lIns="0" tIns="0" rIns="0" bIns="0" anchor="ctr"/>
          <a:lstStyle/>
          <a:p>
            <a:pPr algn="r"/>
            <a:r>
              <a:rPr sz="1250" b="1">
                <a:solidFill>
                  <a:srgbClr val="1A1A1A"/>
                </a:solidFill>
                <a:latin typeface="Aptos"/>
              </a:rPr>
              <a:t>Type and value</a:t>
            </a:r>
          </a:p>
        </p:txBody>
      </p:sp>
      <p:sp>
        <p:nvSpPr>
          <p:cNvPr id="126" name="Rectangle 125"/>
          <p:cNvSpPr/>
          <p:nvPr/>
        </p:nvSpPr>
        <p:spPr>
          <a:xfrm>
            <a:off x="5988200" y="6016650"/>
            <a:ext cx="1768809"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ounded Rectangle 126"/>
          <p:cNvSpPr/>
          <p:nvPr/>
        </p:nvSpPr>
        <p:spPr>
          <a:xfrm>
            <a:off x="6471505" y="5968000"/>
            <a:ext cx="738571" cy="110000"/>
          </a:xfrm>
          <a:prstGeom prst="roundRect">
            <a:avLst>
              <a:gd name="adj" fmla="val 50000"/>
            </a:avLst>
          </a:prstGeom>
          <a:solidFill>
            <a:srgbClr val="F3C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6729645" y="5963000"/>
            <a:ext cx="120000" cy="12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6739645" y="5973000"/>
            <a:ext cx="100000" cy="10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838200" y="6211580"/>
            <a:ext cx="11203940" cy="569962"/>
          </a:xfrm>
          <a:prstGeom prst="rect">
            <a:avLst/>
          </a:prstGeom>
          <a:noFill/>
        </p:spPr>
        <p:txBody>
          <a:bodyPr wrap="none" lIns="0" tIns="0" rIns="0" bIns="0" anchor="ctr"/>
          <a:lstStyle/>
          <a:p>
            <a:r>
              <a:rPr lang="en-US" sz="1400" dirty="0">
                <a:solidFill>
                  <a:srgbClr val="8C8C8C"/>
                </a:solidFill>
                <a:latin typeface="Aptos"/>
              </a:rPr>
              <a:t>CVEs published 2016–2026</a:t>
            </a:r>
            <a:r>
              <a:rPr lang="en-US" sz="1400" dirty="0">
                <a:solidFill>
                  <a:schemeClr val="bg1">
                    <a:lumMod val="65000"/>
                  </a:schemeClr>
                </a:solidFill>
              </a:rPr>
              <a:t>.</a:t>
            </a:r>
          </a:p>
          <a:p>
            <a:r>
              <a:rPr sz="1400" b="0" dirty="0">
                <a:solidFill>
                  <a:srgbClr val="8C8C8C"/>
                </a:solidFill>
                <a:latin typeface="Aptos"/>
              </a:rPr>
              <a:t>Share of </a:t>
            </a:r>
            <a:r>
              <a:rPr sz="1400" dirty="0">
                <a:solidFill>
                  <a:srgbClr val="8C8C8C"/>
                </a:solidFill>
                <a:latin typeface="Aptos"/>
              </a:rPr>
              <a:t>each source’s </a:t>
            </a:r>
            <a:r>
              <a:rPr sz="1400" b="0" dirty="0">
                <a:solidFill>
                  <a:srgbClr val="8C8C8C"/>
                </a:solidFill>
                <a:latin typeface="Aptos"/>
              </a:rPr>
              <a:t>mapped CVEs, log scale. Seven sources: NVD, CVE List, CISA </a:t>
            </a:r>
            <a:r>
              <a:rPr sz="1400" b="0" dirty="0" err="1">
                <a:solidFill>
                  <a:srgbClr val="8C8C8C"/>
                </a:solidFill>
                <a:latin typeface="Aptos"/>
              </a:rPr>
              <a:t>Vulnrichment</a:t>
            </a:r>
            <a:r>
              <a:rPr sz="1400" b="0" dirty="0">
                <a:solidFill>
                  <a:srgbClr val="8C8C8C"/>
                </a:solidFill>
                <a:latin typeface="Aptos"/>
              </a:rPr>
              <a:t>, GitHub Advisory, MSRC, Big-</a:t>
            </a:r>
            <a:r>
              <a:rPr sz="1400" b="0" dirty="0" err="1">
                <a:solidFill>
                  <a:srgbClr val="8C8C8C"/>
                </a:solidFill>
                <a:latin typeface="Aptos"/>
              </a:rPr>
              <a:t>Vul</a:t>
            </a:r>
            <a:r>
              <a:rPr sz="1400" b="0" dirty="0">
                <a:solidFill>
                  <a:srgbClr val="8C8C8C"/>
                </a:solidFill>
                <a:latin typeface="Aptos"/>
              </a:rPr>
              <a:t>, </a:t>
            </a:r>
            <a:r>
              <a:rPr sz="1400" b="0" dirty="0" err="1">
                <a:solidFill>
                  <a:srgbClr val="8C8C8C"/>
                </a:solidFill>
                <a:latin typeface="Aptos"/>
              </a:rPr>
              <a:t>DiverseVul</a:t>
            </a:r>
            <a:r>
              <a:rPr sz="1400" b="0" dirty="0">
                <a:solidFill>
                  <a:srgbClr val="8C8C8C"/>
                </a:solidFill>
                <a:latin typeface="Aptos"/>
              </a:rPr>
              <a:t>.</a:t>
            </a:r>
            <a:endParaRPr lang="en-US" sz="1400" b="0" dirty="0">
              <a:solidFill>
                <a:srgbClr val="8C8C8C"/>
              </a:solidFill>
              <a:latin typeface="Aptos"/>
            </a:endParaRPr>
          </a:p>
        </p:txBody>
      </p:sp>
      <p:sp>
        <p:nvSpPr>
          <p:cNvPr id="155" name="Rectangle 154">
            <a:extLst>
              <a:ext uri="{FF2B5EF4-FFF2-40B4-BE49-F238E27FC236}">
                <a16:creationId xmlns:a16="http://schemas.microsoft.com/office/drawing/2014/main" id="{F05C6CC2-A734-7934-6D77-E13AE0AFCB25}"/>
              </a:ext>
            </a:extLst>
          </p:cNvPr>
          <p:cNvSpPr/>
          <p:nvPr/>
        </p:nvSpPr>
        <p:spPr>
          <a:xfrm>
            <a:off x="9062373" y="4680264"/>
            <a:ext cx="2758787" cy="1148374"/>
          </a:xfrm>
          <a:prstGeom prst="rect">
            <a:avLst/>
          </a:prstGeom>
          <a:solidFill>
            <a:srgbClr val="FFFAFA"/>
          </a:solidFill>
          <a:ln w="15875">
            <a:solidFill>
              <a:schemeClr val="bg1">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E3B9B4BC-FD29-CF6D-BBEA-B0DE042BE5B2}"/>
              </a:ext>
            </a:extLst>
          </p:cNvPr>
          <p:cNvSpPr/>
          <p:nvPr/>
        </p:nvSpPr>
        <p:spPr>
          <a:xfrm>
            <a:off x="9166025" y="4848651"/>
            <a:ext cx="3000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a:extLst>
              <a:ext uri="{FF2B5EF4-FFF2-40B4-BE49-F238E27FC236}">
                <a16:creationId xmlns:a16="http://schemas.microsoft.com/office/drawing/2014/main" id="{ED1D6300-EA1C-D4B2-A91B-7777D7DAA825}"/>
              </a:ext>
            </a:extLst>
          </p:cNvPr>
          <p:cNvSpPr txBox="1"/>
          <p:nvPr/>
        </p:nvSpPr>
        <p:spPr>
          <a:xfrm>
            <a:off x="9546025" y="4758651"/>
            <a:ext cx="2400000" cy="200000"/>
          </a:xfrm>
          <a:prstGeom prst="rect">
            <a:avLst/>
          </a:prstGeom>
          <a:noFill/>
        </p:spPr>
        <p:txBody>
          <a:bodyPr wrap="none" lIns="0" tIns="0" rIns="0" bIns="0" anchor="ctr"/>
          <a:lstStyle/>
          <a:p>
            <a:pPr algn="l"/>
            <a:r>
              <a:rPr sz="1400" b="0" dirty="0">
                <a:solidFill>
                  <a:srgbClr val="8C8C8C"/>
                </a:solidFill>
                <a:latin typeface="Aptos"/>
              </a:rPr>
              <a:t>min to max across 7 sources</a:t>
            </a:r>
          </a:p>
        </p:txBody>
      </p:sp>
      <p:sp>
        <p:nvSpPr>
          <p:cNvPr id="144" name="Rounded Rectangle 131">
            <a:extLst>
              <a:ext uri="{FF2B5EF4-FFF2-40B4-BE49-F238E27FC236}">
                <a16:creationId xmlns:a16="http://schemas.microsoft.com/office/drawing/2014/main" id="{F639AE6B-F5A9-AE07-1F57-16D4480E7C98}"/>
              </a:ext>
            </a:extLst>
          </p:cNvPr>
          <p:cNvSpPr/>
          <p:nvPr/>
        </p:nvSpPr>
        <p:spPr>
          <a:xfrm>
            <a:off x="9168210" y="5046651"/>
            <a:ext cx="300000" cy="100000"/>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a:extLst>
              <a:ext uri="{FF2B5EF4-FFF2-40B4-BE49-F238E27FC236}">
                <a16:creationId xmlns:a16="http://schemas.microsoft.com/office/drawing/2014/main" id="{4B2886F4-9B62-37E8-F4A6-54B615F64FBB}"/>
              </a:ext>
            </a:extLst>
          </p:cNvPr>
          <p:cNvSpPr txBox="1"/>
          <p:nvPr/>
        </p:nvSpPr>
        <p:spPr>
          <a:xfrm>
            <a:off x="9548210" y="5001651"/>
            <a:ext cx="2400000" cy="200000"/>
          </a:xfrm>
          <a:prstGeom prst="rect">
            <a:avLst/>
          </a:prstGeom>
          <a:noFill/>
        </p:spPr>
        <p:txBody>
          <a:bodyPr wrap="none" lIns="0" tIns="0" rIns="0" bIns="0" anchor="ctr"/>
          <a:lstStyle/>
          <a:p>
            <a:pPr algn="l"/>
            <a:r>
              <a:rPr sz="1400" b="0">
                <a:solidFill>
                  <a:srgbClr val="8C8C8C"/>
                </a:solidFill>
                <a:latin typeface="Aptos"/>
              </a:rPr>
              <a:t>middle half</a:t>
            </a:r>
          </a:p>
        </p:txBody>
      </p:sp>
      <p:sp>
        <p:nvSpPr>
          <p:cNvPr id="148" name="Oval 147">
            <a:extLst>
              <a:ext uri="{FF2B5EF4-FFF2-40B4-BE49-F238E27FC236}">
                <a16:creationId xmlns:a16="http://schemas.microsoft.com/office/drawing/2014/main" id="{03F47D9B-6B87-FC23-A69A-AC7BCC14AE3F}"/>
              </a:ext>
            </a:extLst>
          </p:cNvPr>
          <p:cNvSpPr/>
          <p:nvPr/>
        </p:nvSpPr>
        <p:spPr>
          <a:xfrm>
            <a:off x="9258911" y="5284651"/>
            <a:ext cx="110000" cy="110000"/>
          </a:xfrm>
          <a:prstGeom prst="ellipse">
            <a:avLst/>
          </a:prstGeom>
          <a:solidFill>
            <a:srgbClr val="FFFFFF"/>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a:extLst>
              <a:ext uri="{FF2B5EF4-FFF2-40B4-BE49-F238E27FC236}">
                <a16:creationId xmlns:a16="http://schemas.microsoft.com/office/drawing/2014/main" id="{A555D842-54BF-0953-CB04-0404937BA948}"/>
              </a:ext>
            </a:extLst>
          </p:cNvPr>
          <p:cNvSpPr txBox="1"/>
          <p:nvPr/>
        </p:nvSpPr>
        <p:spPr>
          <a:xfrm>
            <a:off x="9548911" y="5244651"/>
            <a:ext cx="2400000" cy="200000"/>
          </a:xfrm>
          <a:prstGeom prst="rect">
            <a:avLst/>
          </a:prstGeom>
          <a:noFill/>
        </p:spPr>
        <p:txBody>
          <a:bodyPr wrap="none" lIns="0" tIns="0" rIns="0" bIns="0" anchor="ctr"/>
          <a:lstStyle/>
          <a:p>
            <a:pPr algn="l"/>
            <a:r>
              <a:rPr sz="1400" b="0">
                <a:solidFill>
                  <a:srgbClr val="8C8C8C"/>
                </a:solidFill>
                <a:latin typeface="Aptos"/>
              </a:rPr>
              <a:t>median</a:t>
            </a:r>
          </a:p>
        </p:txBody>
      </p:sp>
      <p:sp>
        <p:nvSpPr>
          <p:cNvPr id="152" name="Oval 151">
            <a:extLst>
              <a:ext uri="{FF2B5EF4-FFF2-40B4-BE49-F238E27FC236}">
                <a16:creationId xmlns:a16="http://schemas.microsoft.com/office/drawing/2014/main" id="{1E4A16BD-6B57-84F8-DB7C-7E5E32324272}"/>
              </a:ext>
            </a:extLst>
          </p:cNvPr>
          <p:cNvSpPr/>
          <p:nvPr/>
        </p:nvSpPr>
        <p:spPr>
          <a:xfrm>
            <a:off x="9254428" y="5543471"/>
            <a:ext cx="110000" cy="11000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a:extLst>
              <a:ext uri="{FF2B5EF4-FFF2-40B4-BE49-F238E27FC236}">
                <a16:creationId xmlns:a16="http://schemas.microsoft.com/office/drawing/2014/main" id="{FD058DDB-93E3-247E-59A1-F98CAA4998DF}"/>
              </a:ext>
            </a:extLst>
          </p:cNvPr>
          <p:cNvSpPr txBox="1"/>
          <p:nvPr/>
        </p:nvSpPr>
        <p:spPr>
          <a:xfrm>
            <a:off x="9553954" y="5515651"/>
            <a:ext cx="2400000" cy="200000"/>
          </a:xfrm>
          <a:prstGeom prst="rect">
            <a:avLst/>
          </a:prstGeom>
          <a:noFill/>
        </p:spPr>
        <p:txBody>
          <a:bodyPr wrap="none" lIns="0" tIns="0" rIns="0" bIns="0" anchor="ctr"/>
          <a:lstStyle/>
          <a:p>
            <a:pPr algn="l"/>
            <a:r>
              <a:rPr sz="1400" b="0" dirty="0">
                <a:solidFill>
                  <a:srgbClr val="8C8C8C"/>
                </a:solidFill>
                <a:latin typeface="Aptos"/>
              </a:rPr>
              <a:t>NVD</a:t>
            </a:r>
          </a:p>
        </p:txBody>
      </p:sp>
    </p:spTree>
    <p:extLst>
      <p:ext uri="{BB962C8B-B14F-4D97-AF65-F5344CB8AC3E}">
        <p14:creationId xmlns:p14="http://schemas.microsoft.com/office/powerpoint/2010/main" val="3723739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Signal/</a:t>
            </a:r>
            <a:r>
              <a:rPr lang="en-US" sz="1400" b="1" dirty="0">
                <a:solidFill>
                  <a:schemeClr val="tx1"/>
                </a:solidFill>
              </a:rPr>
              <a:t>R</a:t>
            </a:r>
            <a:r>
              <a:rPr sz="1400" b="1" dirty="0">
                <a:solidFill>
                  <a:schemeClr val="tx1"/>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Atomicity/</a:t>
            </a:r>
            <a:r>
              <a:rPr lang="en-US" sz="1400" b="1" dirty="0">
                <a:solidFill>
                  <a:schemeClr val="tx1"/>
                </a:solidFill>
              </a:rPr>
              <a:t>O</a:t>
            </a:r>
            <a:r>
              <a:rPr sz="1400" b="1" dirty="0">
                <a:solidFill>
                  <a:schemeClr val="tx1"/>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Non-</a:t>
            </a:r>
            <a:r>
              <a:rPr lang="en-US" sz="1400" b="1" dirty="0">
                <a:solidFill>
                  <a:schemeClr val="tx1"/>
                </a:solidFill>
              </a:rPr>
              <a:t>M</a:t>
            </a:r>
            <a:r>
              <a:rPr sz="1400" b="1" dirty="0">
                <a:solidFill>
                  <a:schemeClr val="tx1"/>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 taxonomy of C/C++ safety</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De</a:t>
            </a:r>
            <a:r>
              <a:rPr sz="1400" b="1" dirty="0">
                <a:solidFill>
                  <a:schemeClr val="tx1"/>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Toolchain/Optimizer</a:t>
            </a:r>
            <a:endParaRPr sz="1400" b="1" dirty="0">
              <a:solidFill>
                <a:schemeClr val="tx1"/>
              </a:solidFill>
            </a:endParaRPr>
          </a:p>
        </p:txBody>
      </p:sp>
      <p:pic>
        <p:nvPicPr>
          <p:cNvPr id="76" name="Heat nvd" descr="q_00.png"/>
          <p:cNvPicPr>
            <a:picLocks noChangeAspect="1"/>
          </p:cNvPicPr>
          <p:nvPr/>
        </p:nvPicPr>
        <p:blipFill>
          <a:blip r:embed="rId3"/>
          <a:stretch>
            <a:fillRect/>
          </a:stretch>
        </p:blipFill>
        <p:spPr>
          <a:xfrm>
            <a:off x="0" y="0"/>
            <a:ext cx="12192000" cy="6858000"/>
          </a:xfrm>
          <a:prstGeom prst="rect">
            <a:avLst/>
          </a:prstGeom>
        </p:spPr>
      </p:pic>
      <p:pic>
        <p:nvPicPr>
          <p:cNvPr id="77" name="Heat cve-list-v5" descr="q_01.png"/>
          <p:cNvPicPr>
            <a:picLocks noChangeAspect="1"/>
          </p:cNvPicPr>
          <p:nvPr/>
        </p:nvPicPr>
        <p:blipFill>
          <a:blip r:embed="rId4"/>
          <a:stretch>
            <a:fillRect/>
          </a:stretch>
        </p:blipFill>
        <p:spPr>
          <a:xfrm>
            <a:off x="0" y="0"/>
            <a:ext cx="12192000" cy="6858000"/>
          </a:xfrm>
          <a:prstGeom prst="rect">
            <a:avLst/>
          </a:prstGeom>
        </p:spPr>
      </p:pic>
      <p:pic>
        <p:nvPicPr>
          <p:cNvPr id="78" name="Heat cisa-vulnrichment" descr="q_02.png"/>
          <p:cNvPicPr>
            <a:picLocks noChangeAspect="1"/>
          </p:cNvPicPr>
          <p:nvPr/>
        </p:nvPicPr>
        <p:blipFill>
          <a:blip r:embed="rId5"/>
          <a:stretch>
            <a:fillRect/>
          </a:stretch>
        </p:blipFill>
        <p:spPr>
          <a:xfrm>
            <a:off x="0" y="0"/>
            <a:ext cx="12192000" cy="6858000"/>
          </a:xfrm>
          <a:prstGeom prst="rect">
            <a:avLst/>
          </a:prstGeom>
        </p:spPr>
      </p:pic>
      <p:pic>
        <p:nvPicPr>
          <p:cNvPr id="79" name="Heat github-advisory-database" descr="q_03.png"/>
          <p:cNvPicPr>
            <a:picLocks noChangeAspect="1"/>
          </p:cNvPicPr>
          <p:nvPr/>
        </p:nvPicPr>
        <p:blipFill>
          <a:blip r:embed="rId6"/>
          <a:stretch>
            <a:fillRect/>
          </a:stretch>
        </p:blipFill>
        <p:spPr>
          <a:xfrm>
            <a:off x="0" y="0"/>
            <a:ext cx="12192000" cy="6858000"/>
          </a:xfrm>
          <a:prstGeom prst="rect">
            <a:avLst/>
          </a:prstGeom>
        </p:spPr>
      </p:pic>
      <p:pic>
        <p:nvPicPr>
          <p:cNvPr id="80" name="Heat msrc" descr="q_04.png"/>
          <p:cNvPicPr>
            <a:picLocks noChangeAspect="1"/>
          </p:cNvPicPr>
          <p:nvPr/>
        </p:nvPicPr>
        <p:blipFill>
          <a:blip r:embed="rId7"/>
          <a:stretch>
            <a:fillRect/>
          </a:stretch>
        </p:blipFill>
        <p:spPr>
          <a:xfrm>
            <a:off x="0" y="0"/>
            <a:ext cx="12192000" cy="6858000"/>
          </a:xfrm>
          <a:prstGeom prst="rect">
            <a:avLst/>
          </a:prstGeom>
        </p:spPr>
      </p:pic>
      <p:pic>
        <p:nvPicPr>
          <p:cNvPr id="81" name="Heat big-vul" descr="q_05.png"/>
          <p:cNvPicPr>
            <a:picLocks noChangeAspect="1"/>
          </p:cNvPicPr>
          <p:nvPr/>
        </p:nvPicPr>
        <p:blipFill>
          <a:blip r:embed="rId8"/>
          <a:stretch>
            <a:fillRect/>
          </a:stretch>
        </p:blipFill>
        <p:spPr>
          <a:xfrm>
            <a:off x="0" y="0"/>
            <a:ext cx="12192000" cy="6858000"/>
          </a:xfrm>
          <a:prstGeom prst="rect">
            <a:avLst/>
          </a:prstGeom>
        </p:spPr>
      </p:pic>
      <p:pic>
        <p:nvPicPr>
          <p:cNvPr id="82" name="Heat diversevul" descr="q_06.png"/>
          <p:cNvPicPr>
            <a:picLocks noChangeAspect="1"/>
          </p:cNvPicPr>
          <p:nvPr/>
        </p:nvPicPr>
        <p:blipFill>
          <a:blip r:embed="rId9"/>
          <a:stretch>
            <a:fillRect/>
          </a:stretch>
        </p:blipFill>
        <p:spPr>
          <a:xfrm>
            <a:off x="0" y="0"/>
            <a:ext cx="12192000" cy="6858000"/>
          </a:xfrm>
          <a:prstGeom prst="rect">
            <a:avLst/>
          </a:prstGeom>
        </p:spPr>
      </p:pic>
      <p:pic>
        <p:nvPicPr>
          <p:cNvPr id="83" name="Heat cisa-kev" descr="q_07.png"/>
          <p:cNvPicPr>
            <a:picLocks noChangeAspect="1"/>
          </p:cNvPicPr>
          <p:nvPr/>
        </p:nvPicPr>
        <p:blipFill>
          <a:blip r:embed="rId10"/>
          <a:stretch>
            <a:fillRect/>
          </a:stretch>
        </p:blipFill>
        <p:spPr>
          <a:xfrm>
            <a:off x="0" y="0"/>
            <a:ext cx="12192000" cy="6858000"/>
          </a:xfrm>
          <a:prstGeom prst="rect">
            <a:avLst/>
          </a:prstGeom>
        </p:spPr>
      </p:pic>
    </p:spTree>
    <p:extLst>
      <p:ext uri="{BB962C8B-B14F-4D97-AF65-F5344CB8AC3E}">
        <p14:creationId xmlns:p14="http://schemas.microsoft.com/office/powerpoint/2010/main" val="55058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dur="4000" repeatCount="indefinite"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nodeType="withEffect">
                                  <p:stCondLst>
                                    <p:cond delay="50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xit" presetSubtype="0" fill="hold" nodeType="withEffect">
                                  <p:stCondLst>
                                    <p:cond delay="500"/>
                                  </p:stCondLst>
                                  <p:childTnLst>
                                    <p:set>
                                      <p:cBhvr>
                                        <p:cTn id="10" dur="1" fill="hold">
                                          <p:stCondLst>
                                            <p:cond delay="0"/>
                                          </p:stCondLst>
                                        </p:cTn>
                                        <p:tgtEl>
                                          <p:spTgt spid="76"/>
                                        </p:tgtEl>
                                        <p:attrNameLst>
                                          <p:attrName>style.visibility</p:attrName>
                                        </p:attrNameLst>
                                      </p:cBhvr>
                                      <p:to>
                                        <p:strVal val="hidden"/>
                                      </p:to>
                                    </p:set>
                                  </p:childTnLst>
                                </p:cTn>
                              </p:par>
                              <p:par>
                                <p:cTn id="11" presetID="1" presetClass="entr" presetSubtype="0" fill="hold" nodeType="withEffect">
                                  <p:stCondLst>
                                    <p:cond delay="1000"/>
                                  </p:stCondLst>
                                  <p:childTnLst>
                                    <p:set>
                                      <p:cBhvr>
                                        <p:cTn id="12" dur="1" fill="hold">
                                          <p:stCondLst>
                                            <p:cond delay="0"/>
                                          </p:stCondLst>
                                        </p:cTn>
                                        <p:tgtEl>
                                          <p:spTgt spid="78"/>
                                        </p:tgtEl>
                                        <p:attrNameLst>
                                          <p:attrName>style.visibility</p:attrName>
                                        </p:attrNameLst>
                                      </p:cBhvr>
                                      <p:to>
                                        <p:strVal val="visible"/>
                                      </p:to>
                                    </p:set>
                                  </p:childTnLst>
                                </p:cTn>
                              </p:par>
                              <p:par>
                                <p:cTn id="13" presetID="1" presetClass="exit" presetSubtype="0" fill="hold" nodeType="withEffect">
                                  <p:stCondLst>
                                    <p:cond delay="1000"/>
                                  </p:stCondLst>
                                  <p:childTnLst>
                                    <p:set>
                                      <p:cBhvr>
                                        <p:cTn id="14" dur="1" fill="hold">
                                          <p:stCondLst>
                                            <p:cond delay="0"/>
                                          </p:stCondLst>
                                        </p:cTn>
                                        <p:tgtEl>
                                          <p:spTgt spid="77"/>
                                        </p:tgtEl>
                                        <p:attrNameLst>
                                          <p:attrName>style.visibility</p:attrName>
                                        </p:attrNameLst>
                                      </p:cBhvr>
                                      <p:to>
                                        <p:strVal val="hidden"/>
                                      </p:to>
                                    </p:set>
                                  </p:childTnLst>
                                </p:cTn>
                              </p:par>
                              <p:par>
                                <p:cTn id="15" presetID="1" presetClass="entr" presetSubtype="0" fill="hold" nodeType="withEffect">
                                  <p:stCondLst>
                                    <p:cond delay="1500"/>
                                  </p:stCondLst>
                                  <p:childTnLst>
                                    <p:set>
                                      <p:cBhvr>
                                        <p:cTn id="16" dur="1" fill="hold">
                                          <p:stCondLst>
                                            <p:cond delay="0"/>
                                          </p:stCondLst>
                                        </p:cTn>
                                        <p:tgtEl>
                                          <p:spTgt spid="79"/>
                                        </p:tgtEl>
                                        <p:attrNameLst>
                                          <p:attrName>style.visibility</p:attrName>
                                        </p:attrNameLst>
                                      </p:cBhvr>
                                      <p:to>
                                        <p:strVal val="visible"/>
                                      </p:to>
                                    </p:set>
                                  </p:childTnLst>
                                </p:cTn>
                              </p:par>
                              <p:par>
                                <p:cTn id="17" presetID="1" presetClass="exit" presetSubtype="0" fill="hold" nodeType="withEffect">
                                  <p:stCondLst>
                                    <p:cond delay="1500"/>
                                  </p:stCondLst>
                                  <p:childTnLst>
                                    <p:set>
                                      <p:cBhvr>
                                        <p:cTn id="18" dur="1" fill="hold">
                                          <p:stCondLst>
                                            <p:cond delay="0"/>
                                          </p:stCondLst>
                                        </p:cTn>
                                        <p:tgtEl>
                                          <p:spTgt spid="78"/>
                                        </p:tgtEl>
                                        <p:attrNameLst>
                                          <p:attrName>style.visibility</p:attrName>
                                        </p:attrNameLst>
                                      </p:cBhvr>
                                      <p:to>
                                        <p:strVal val="hidden"/>
                                      </p:to>
                                    </p:set>
                                  </p:childTnLst>
                                </p:cTn>
                              </p:par>
                              <p:par>
                                <p:cTn id="19" presetID="1" presetClass="entr" presetSubtype="0" fill="hold" nodeType="withEffect">
                                  <p:stCondLst>
                                    <p:cond delay="200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xit" presetSubtype="0" fill="hold" nodeType="withEffect">
                                  <p:stCondLst>
                                    <p:cond delay="2000"/>
                                  </p:stCondLst>
                                  <p:childTnLst>
                                    <p:set>
                                      <p:cBhvr>
                                        <p:cTn id="22" dur="1" fill="hold">
                                          <p:stCondLst>
                                            <p:cond delay="0"/>
                                          </p:stCondLst>
                                        </p:cTn>
                                        <p:tgtEl>
                                          <p:spTgt spid="79"/>
                                        </p:tgtEl>
                                        <p:attrNameLst>
                                          <p:attrName>style.visibility</p:attrName>
                                        </p:attrNameLst>
                                      </p:cBhvr>
                                      <p:to>
                                        <p:strVal val="hidden"/>
                                      </p:to>
                                    </p:set>
                                  </p:childTnLst>
                                </p:cTn>
                              </p:par>
                              <p:par>
                                <p:cTn id="23" presetID="1" presetClass="entr" presetSubtype="0" fill="hold" nodeType="withEffect">
                                  <p:stCondLst>
                                    <p:cond delay="2500"/>
                                  </p:stCondLst>
                                  <p:childTnLst>
                                    <p:set>
                                      <p:cBhvr>
                                        <p:cTn id="24" dur="1" fill="hold">
                                          <p:stCondLst>
                                            <p:cond delay="0"/>
                                          </p:stCondLst>
                                        </p:cTn>
                                        <p:tgtEl>
                                          <p:spTgt spid="81"/>
                                        </p:tgtEl>
                                        <p:attrNameLst>
                                          <p:attrName>style.visibility</p:attrName>
                                        </p:attrNameLst>
                                      </p:cBhvr>
                                      <p:to>
                                        <p:strVal val="visible"/>
                                      </p:to>
                                    </p:set>
                                  </p:childTnLst>
                                </p:cTn>
                              </p:par>
                              <p:par>
                                <p:cTn id="25" presetID="1" presetClass="exit" presetSubtype="0" fill="hold" nodeType="withEffect">
                                  <p:stCondLst>
                                    <p:cond delay="2500"/>
                                  </p:stCondLst>
                                  <p:childTnLst>
                                    <p:set>
                                      <p:cBhvr>
                                        <p:cTn id="26" dur="1" fill="hold">
                                          <p:stCondLst>
                                            <p:cond delay="0"/>
                                          </p:stCondLst>
                                        </p:cTn>
                                        <p:tgtEl>
                                          <p:spTgt spid="80"/>
                                        </p:tgtEl>
                                        <p:attrNameLst>
                                          <p:attrName>style.visibility</p:attrName>
                                        </p:attrNameLst>
                                      </p:cBhvr>
                                      <p:to>
                                        <p:strVal val="hidden"/>
                                      </p:to>
                                    </p:set>
                                  </p:childTnLst>
                                </p:cTn>
                              </p:par>
                              <p:par>
                                <p:cTn id="27" presetID="1" presetClass="entr" presetSubtype="0" fill="hold" nodeType="withEffect">
                                  <p:stCondLst>
                                    <p:cond delay="3000"/>
                                  </p:stCondLst>
                                  <p:childTnLst>
                                    <p:set>
                                      <p:cBhvr>
                                        <p:cTn id="28" dur="1" fill="hold">
                                          <p:stCondLst>
                                            <p:cond delay="0"/>
                                          </p:stCondLst>
                                        </p:cTn>
                                        <p:tgtEl>
                                          <p:spTgt spid="82"/>
                                        </p:tgtEl>
                                        <p:attrNameLst>
                                          <p:attrName>style.visibility</p:attrName>
                                        </p:attrNameLst>
                                      </p:cBhvr>
                                      <p:to>
                                        <p:strVal val="visible"/>
                                      </p:to>
                                    </p:set>
                                  </p:childTnLst>
                                </p:cTn>
                              </p:par>
                              <p:par>
                                <p:cTn id="29" presetID="1" presetClass="exit" presetSubtype="0" fill="hold" nodeType="withEffect">
                                  <p:stCondLst>
                                    <p:cond delay="3000"/>
                                  </p:stCondLst>
                                  <p:childTnLst>
                                    <p:set>
                                      <p:cBhvr>
                                        <p:cTn id="30" dur="1" fill="hold">
                                          <p:stCondLst>
                                            <p:cond delay="0"/>
                                          </p:stCondLst>
                                        </p:cTn>
                                        <p:tgtEl>
                                          <p:spTgt spid="81"/>
                                        </p:tgtEl>
                                        <p:attrNameLst>
                                          <p:attrName>style.visibility</p:attrName>
                                        </p:attrNameLst>
                                      </p:cBhvr>
                                      <p:to>
                                        <p:strVal val="hidden"/>
                                      </p:to>
                                    </p:set>
                                  </p:childTnLst>
                                </p:cTn>
                              </p:par>
                              <p:par>
                                <p:cTn id="31" presetID="1" presetClass="entr" presetSubtype="0" fill="hold" nodeType="withEffect">
                                  <p:stCondLst>
                                    <p:cond delay="350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xit" presetSubtype="0" fill="hold" nodeType="withEffect">
                                  <p:stCondLst>
                                    <p:cond delay="3500"/>
                                  </p:stCondLst>
                                  <p:childTnLst>
                                    <p:set>
                                      <p:cBhvr>
                                        <p:cTn id="34" dur="1" fill="hold">
                                          <p:stCondLst>
                                            <p:cond delay="0"/>
                                          </p:stCondLst>
                                        </p:cTn>
                                        <p:tgtEl>
                                          <p:spTgt spid="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 taxonomy of C/C++ safety</a:t>
            </a:r>
          </a:p>
        </p:txBody>
      </p:sp>
      <p:sp>
        <p:nvSpPr>
          <p:cNvPr id="5" name="Rounded Rectangle chip"/>
          <p:cNvSpPr/>
          <p:nvPr/>
        </p:nvSpPr>
        <p:spPr>
          <a:xfrm>
            <a:off x="4884960" y="159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Out-of-bounds write</a:t>
            </a:r>
          </a:p>
        </p:txBody>
      </p:sp>
      <p:sp>
        <p:nvSpPr>
          <p:cNvPr id="6" name="Rounded Rectangle chip"/>
          <p:cNvSpPr/>
          <p:nvPr/>
        </p:nvSpPr>
        <p:spPr>
          <a:xfrm>
            <a:off x="7168960" y="159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Out-of-bounds read</a:t>
            </a:r>
          </a:p>
        </p:txBody>
      </p:sp>
      <p:sp>
        <p:nvSpPr>
          <p:cNvPr id="7" name="Rounded Rectangle chip"/>
          <p:cNvSpPr/>
          <p:nvPr/>
        </p:nvSpPr>
        <p:spPr>
          <a:xfrm>
            <a:off x="9366960" y="159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Unknown direction</a:t>
            </a:r>
          </a:p>
        </p:txBody>
      </p:sp>
      <p:sp>
        <p:nvSpPr>
          <p:cNvPr id="8" name="Rounded Rectangle chip"/>
          <p:cNvSpPr/>
          <p:nvPr/>
        </p:nvSpPr>
        <p:spPr>
          <a:xfrm>
            <a:off x="4884960" y="2027840"/>
            <a:ext cx="133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Bad index</a:t>
            </a:r>
          </a:p>
        </p:txBody>
      </p:sp>
      <p:sp>
        <p:nvSpPr>
          <p:cNvPr id="9" name="Rounded Rectangle chip"/>
          <p:cNvSpPr/>
          <p:nvPr/>
        </p:nvSpPr>
        <p:spPr>
          <a:xfrm>
            <a:off x="6308960" y="202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Pointer arithmetic</a:t>
            </a:r>
          </a:p>
        </p:txBody>
      </p:sp>
      <p:sp>
        <p:nvSpPr>
          <p:cNvPr id="10" name="TextBox 9"/>
          <p:cNvSpPr txBox="1"/>
          <p:nvPr/>
        </p:nvSpPr>
        <p:spPr>
          <a:xfrm>
            <a:off x="944880" y="157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Bounds</a:t>
            </a:r>
          </a:p>
        </p:txBody>
      </p:sp>
      <p:sp>
        <p:nvSpPr>
          <p:cNvPr id="11" name="Rectangle 10"/>
          <p:cNvSpPr/>
          <p:nvPr/>
        </p:nvSpPr>
        <p:spPr>
          <a:xfrm>
            <a:off x="944880" y="244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chip"/>
          <p:cNvSpPr/>
          <p:nvPr/>
        </p:nvSpPr>
        <p:spPr>
          <a:xfrm>
            <a:off x="4884960" y="249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Use-after-free</a:t>
            </a:r>
          </a:p>
        </p:txBody>
      </p:sp>
      <p:sp>
        <p:nvSpPr>
          <p:cNvPr id="13" name="Rounded Rectangle chip"/>
          <p:cNvSpPr/>
          <p:nvPr/>
        </p:nvSpPr>
        <p:spPr>
          <a:xfrm>
            <a:off x="6738960" y="249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Double-free</a:t>
            </a:r>
          </a:p>
        </p:txBody>
      </p:sp>
      <p:sp>
        <p:nvSpPr>
          <p:cNvPr id="14" name="Rounded Rectangle chip"/>
          <p:cNvSpPr/>
          <p:nvPr/>
        </p:nvSpPr>
        <p:spPr>
          <a:xfrm>
            <a:off x="8334960" y="2497840"/>
            <a:ext cx="245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Dangling stack pointer</a:t>
            </a:r>
          </a:p>
        </p:txBody>
      </p:sp>
      <p:sp>
        <p:nvSpPr>
          <p:cNvPr id="15" name="TextBox 14"/>
          <p:cNvSpPr txBox="1"/>
          <p:nvPr/>
        </p:nvSpPr>
        <p:spPr>
          <a:xfrm>
            <a:off x="944880" y="2477840"/>
            <a:ext cx="3200000" cy="369332"/>
          </a:xfrm>
          <a:prstGeom prst="rect">
            <a:avLst/>
          </a:prstGeom>
          <a:noFill/>
        </p:spPr>
        <p:txBody>
          <a:bodyPr wrap="square" lIns="0" tIns="0" rIns="0" bIns="0" anchor="t">
            <a:spAutoFit/>
          </a:bodyPr>
          <a:lstStyle/>
          <a:p>
            <a:pPr algn="l"/>
            <a:r>
              <a:rPr sz="2400" b="1">
                <a:solidFill>
                  <a:srgbClr val="1A1A1A"/>
                </a:solidFill>
                <a:latin typeface="Aptos"/>
              </a:rPr>
              <a:t>Lifetime</a:t>
            </a:r>
          </a:p>
        </p:txBody>
      </p:sp>
      <p:sp>
        <p:nvSpPr>
          <p:cNvPr id="16" name="Rectangle 15"/>
          <p:cNvSpPr/>
          <p:nvPr/>
        </p:nvSpPr>
        <p:spPr>
          <a:xfrm>
            <a:off x="944880" y="291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chip"/>
          <p:cNvSpPr/>
          <p:nvPr/>
        </p:nvSpPr>
        <p:spPr>
          <a:xfrm>
            <a:off x="4884960" y="2967840"/>
            <a:ext cx="193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Null dereference</a:t>
            </a:r>
          </a:p>
        </p:txBody>
      </p:sp>
      <p:sp>
        <p:nvSpPr>
          <p:cNvPr id="18" name="Rounded Rectangle chip"/>
          <p:cNvSpPr/>
          <p:nvPr/>
        </p:nvSpPr>
        <p:spPr>
          <a:xfrm>
            <a:off x="6910960" y="2967840"/>
            <a:ext cx="236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Unchecked null return</a:t>
            </a:r>
          </a:p>
        </p:txBody>
      </p:sp>
      <p:sp>
        <p:nvSpPr>
          <p:cNvPr id="19" name="TextBox 18"/>
          <p:cNvSpPr txBox="1"/>
          <p:nvPr/>
        </p:nvSpPr>
        <p:spPr>
          <a:xfrm>
            <a:off x="944880" y="2947840"/>
            <a:ext cx="3200000" cy="369332"/>
          </a:xfrm>
          <a:prstGeom prst="rect">
            <a:avLst/>
          </a:prstGeom>
          <a:noFill/>
        </p:spPr>
        <p:txBody>
          <a:bodyPr wrap="square" lIns="0" tIns="0" rIns="0" bIns="0" anchor="t">
            <a:spAutoFit/>
          </a:bodyPr>
          <a:lstStyle/>
          <a:p>
            <a:pPr algn="l"/>
            <a:r>
              <a:rPr sz="2400" b="1">
                <a:solidFill>
                  <a:srgbClr val="1A1A1A"/>
                </a:solidFill>
                <a:latin typeface="Aptos"/>
              </a:rPr>
              <a:t>Null</a:t>
            </a:r>
          </a:p>
        </p:txBody>
      </p:sp>
      <p:sp>
        <p:nvSpPr>
          <p:cNvPr id="20" name="Rectangle 19"/>
          <p:cNvSpPr/>
          <p:nvPr/>
        </p:nvSpPr>
        <p:spPr>
          <a:xfrm>
            <a:off x="944880" y="338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chip"/>
          <p:cNvSpPr/>
          <p:nvPr/>
        </p:nvSpPr>
        <p:spPr>
          <a:xfrm>
            <a:off x="4884960" y="3437840"/>
            <a:ext cx="2280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Exhaustion, no limit</a:t>
            </a:r>
          </a:p>
        </p:txBody>
      </p:sp>
      <p:sp>
        <p:nvSpPr>
          <p:cNvPr id="22" name="Rounded Rectangle chip"/>
          <p:cNvSpPr/>
          <p:nvPr/>
        </p:nvSpPr>
        <p:spPr>
          <a:xfrm>
            <a:off x="7254960" y="3437840"/>
            <a:ext cx="167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Leaked handle</a:t>
            </a:r>
          </a:p>
        </p:txBody>
      </p:sp>
      <p:sp>
        <p:nvSpPr>
          <p:cNvPr id="23" name="TextBox 22"/>
          <p:cNvSpPr txBox="1"/>
          <p:nvPr/>
        </p:nvSpPr>
        <p:spPr>
          <a:xfrm>
            <a:off x="944880" y="3417840"/>
            <a:ext cx="3573780" cy="369332"/>
          </a:xfrm>
          <a:prstGeom prst="rect">
            <a:avLst/>
          </a:prstGeom>
          <a:noFill/>
        </p:spPr>
        <p:txBody>
          <a:bodyPr wrap="square" lIns="0" tIns="0" rIns="0" bIns="0" anchor="t">
            <a:spAutoFit/>
          </a:bodyPr>
          <a:lstStyle/>
          <a:p>
            <a:pPr algn="l"/>
            <a:r>
              <a:rPr sz="2400" b="1" dirty="0">
                <a:solidFill>
                  <a:srgbClr val="1A1A1A"/>
                </a:solidFill>
                <a:latin typeface="Aptos"/>
              </a:rPr>
              <a:t>Non-memory resources</a:t>
            </a:r>
          </a:p>
        </p:txBody>
      </p:sp>
      <p:sp>
        <p:nvSpPr>
          <p:cNvPr id="24" name="Rectangle 23"/>
          <p:cNvSpPr/>
          <p:nvPr/>
        </p:nvSpPr>
        <p:spPr>
          <a:xfrm>
            <a:off x="944880" y="385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chip"/>
          <p:cNvSpPr/>
          <p:nvPr/>
        </p:nvSpPr>
        <p:spPr>
          <a:xfrm>
            <a:off x="4884960" y="3907840"/>
            <a:ext cx="193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Integer overflow</a:t>
            </a:r>
          </a:p>
        </p:txBody>
      </p:sp>
      <p:sp>
        <p:nvSpPr>
          <p:cNvPr id="26" name="Rounded Rectangle chip"/>
          <p:cNvSpPr/>
          <p:nvPr/>
        </p:nvSpPr>
        <p:spPr>
          <a:xfrm>
            <a:off x="6910960" y="390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Divide by zero</a:t>
            </a:r>
          </a:p>
        </p:txBody>
      </p:sp>
      <p:sp>
        <p:nvSpPr>
          <p:cNvPr id="27" name="Rounded Rectangle chip"/>
          <p:cNvSpPr/>
          <p:nvPr/>
        </p:nvSpPr>
        <p:spPr>
          <a:xfrm>
            <a:off x="8764960" y="390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Wrong calculation</a:t>
            </a:r>
          </a:p>
        </p:txBody>
      </p:sp>
      <p:sp>
        <p:nvSpPr>
          <p:cNvPr id="28" name="TextBox 27"/>
          <p:cNvSpPr txBox="1"/>
          <p:nvPr/>
        </p:nvSpPr>
        <p:spPr>
          <a:xfrm>
            <a:off x="944880" y="388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Arithmetic</a:t>
            </a:r>
          </a:p>
        </p:txBody>
      </p:sp>
      <p:sp>
        <p:nvSpPr>
          <p:cNvPr id="29" name="Rectangle 28"/>
          <p:cNvSpPr/>
          <p:nvPr/>
        </p:nvSpPr>
        <p:spPr>
          <a:xfrm>
            <a:off x="944880" y="432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chip"/>
          <p:cNvSpPr/>
          <p:nvPr/>
        </p:nvSpPr>
        <p:spPr>
          <a:xfrm>
            <a:off x="4884960" y="437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No allocation limit</a:t>
            </a:r>
          </a:p>
        </p:txBody>
      </p:sp>
      <p:sp>
        <p:nvSpPr>
          <p:cNvPr id="31" name="Rounded Rectangle chip"/>
          <p:cNvSpPr/>
          <p:nvPr/>
        </p:nvSpPr>
        <p:spPr>
          <a:xfrm>
            <a:off x="7168960" y="437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Memory leak</a:t>
            </a:r>
          </a:p>
        </p:txBody>
      </p:sp>
      <p:sp>
        <p:nvSpPr>
          <p:cNvPr id="32" name="TextBox 31"/>
          <p:cNvSpPr txBox="1"/>
          <p:nvPr/>
        </p:nvSpPr>
        <p:spPr>
          <a:xfrm>
            <a:off x="944880" y="4357840"/>
            <a:ext cx="3200000" cy="369332"/>
          </a:xfrm>
          <a:prstGeom prst="rect">
            <a:avLst/>
          </a:prstGeom>
          <a:noFill/>
        </p:spPr>
        <p:txBody>
          <a:bodyPr wrap="square" lIns="0" tIns="0" rIns="0" bIns="0" anchor="t">
            <a:spAutoFit/>
          </a:bodyPr>
          <a:lstStyle/>
          <a:p>
            <a:pPr algn="l"/>
            <a:r>
              <a:rPr sz="2400" b="1">
                <a:solidFill>
                  <a:srgbClr val="1A1A1A"/>
                </a:solidFill>
                <a:latin typeface="Aptos"/>
              </a:rPr>
              <a:t>Allocation</a:t>
            </a:r>
          </a:p>
        </p:txBody>
      </p:sp>
      <p:sp>
        <p:nvSpPr>
          <p:cNvPr id="33" name="Rectangle 32"/>
          <p:cNvSpPr/>
          <p:nvPr/>
        </p:nvSpPr>
        <p:spPr>
          <a:xfrm>
            <a:off x="944880" y="479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chip"/>
          <p:cNvSpPr/>
          <p:nvPr/>
        </p:nvSpPr>
        <p:spPr>
          <a:xfrm>
            <a:off x="4884960" y="4847840"/>
            <a:ext cx="2710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Untrusted deserialization</a:t>
            </a:r>
          </a:p>
        </p:txBody>
      </p:sp>
      <p:sp>
        <p:nvSpPr>
          <p:cNvPr id="35" name="TextBox 34"/>
          <p:cNvSpPr txBox="1"/>
          <p:nvPr/>
        </p:nvSpPr>
        <p:spPr>
          <a:xfrm>
            <a:off x="944880" y="4827840"/>
            <a:ext cx="3200000" cy="369332"/>
          </a:xfrm>
          <a:prstGeom prst="rect">
            <a:avLst/>
          </a:prstGeom>
          <a:noFill/>
        </p:spPr>
        <p:txBody>
          <a:bodyPr wrap="square" lIns="0" tIns="0" rIns="0" bIns="0" anchor="t">
            <a:spAutoFit/>
          </a:bodyPr>
          <a:lstStyle/>
          <a:p>
            <a:pPr algn="l"/>
            <a:r>
              <a:rPr sz="2400" b="1">
                <a:solidFill>
                  <a:srgbClr val="1A1A1A"/>
                </a:solidFill>
                <a:latin typeface="Aptos"/>
              </a:rPr>
              <a:t>Deserialization</a:t>
            </a:r>
          </a:p>
        </p:txBody>
      </p:sp>
      <p:sp>
        <p:nvSpPr>
          <p:cNvPr id="36" name="Rectangle 35"/>
          <p:cNvSpPr/>
          <p:nvPr/>
        </p:nvSpPr>
        <p:spPr>
          <a:xfrm>
            <a:off x="944880" y="526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chip"/>
          <p:cNvSpPr/>
          <p:nvPr/>
        </p:nvSpPr>
        <p:spPr>
          <a:xfrm>
            <a:off x="4884960" y="5317840"/>
            <a:ext cx="133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Data race</a:t>
            </a:r>
          </a:p>
        </p:txBody>
      </p:sp>
      <p:sp>
        <p:nvSpPr>
          <p:cNvPr id="38" name="Rounded Rectangle chip"/>
          <p:cNvSpPr/>
          <p:nvPr/>
        </p:nvSpPr>
        <p:spPr>
          <a:xfrm>
            <a:off x="6308960" y="531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Check-then-use race</a:t>
            </a:r>
          </a:p>
        </p:txBody>
      </p:sp>
      <p:sp>
        <p:nvSpPr>
          <p:cNvPr id="39" name="TextBox 38"/>
          <p:cNvSpPr txBox="1"/>
          <p:nvPr/>
        </p:nvSpPr>
        <p:spPr>
          <a:xfrm>
            <a:off x="944880" y="5297840"/>
            <a:ext cx="3200000" cy="369332"/>
          </a:xfrm>
          <a:prstGeom prst="rect">
            <a:avLst/>
          </a:prstGeom>
          <a:noFill/>
        </p:spPr>
        <p:txBody>
          <a:bodyPr wrap="square" lIns="0" tIns="0" rIns="0" bIns="0" anchor="t">
            <a:spAutoFit/>
          </a:bodyPr>
          <a:lstStyle/>
          <a:p>
            <a:pPr algn="l"/>
            <a:r>
              <a:rPr sz="2400" b="1">
                <a:solidFill>
                  <a:srgbClr val="1A1A1A"/>
                </a:solidFill>
                <a:latin typeface="Aptos"/>
              </a:rPr>
              <a:t>Data races</a:t>
            </a:r>
          </a:p>
        </p:txBody>
      </p:sp>
      <p:sp>
        <p:nvSpPr>
          <p:cNvPr id="40" name="Rectangle 39"/>
          <p:cNvSpPr/>
          <p:nvPr/>
        </p:nvSpPr>
        <p:spPr>
          <a:xfrm>
            <a:off x="944880" y="573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chip"/>
          <p:cNvSpPr/>
          <p:nvPr/>
        </p:nvSpPr>
        <p:spPr>
          <a:xfrm>
            <a:off x="4884960" y="578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Uninitialized read</a:t>
            </a:r>
          </a:p>
        </p:txBody>
      </p:sp>
      <p:sp>
        <p:nvSpPr>
          <p:cNvPr id="42" name="Rounded Rectangle chip"/>
          <p:cNvSpPr/>
          <p:nvPr/>
        </p:nvSpPr>
        <p:spPr>
          <a:xfrm>
            <a:off x="7082960" y="578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Insecure defaults</a:t>
            </a:r>
          </a:p>
        </p:txBody>
      </p:sp>
      <p:sp>
        <p:nvSpPr>
          <p:cNvPr id="43" name="TextBox 42"/>
          <p:cNvSpPr txBox="1"/>
          <p:nvPr/>
        </p:nvSpPr>
        <p:spPr>
          <a:xfrm>
            <a:off x="944880" y="5767840"/>
            <a:ext cx="3200000" cy="369332"/>
          </a:xfrm>
          <a:prstGeom prst="rect">
            <a:avLst/>
          </a:prstGeom>
          <a:noFill/>
        </p:spPr>
        <p:txBody>
          <a:bodyPr wrap="square" lIns="0" tIns="0" rIns="0" bIns="0" anchor="t">
            <a:spAutoFit/>
          </a:bodyPr>
          <a:lstStyle/>
          <a:p>
            <a:pPr algn="l"/>
            <a:r>
              <a:rPr sz="2400" b="1">
                <a:solidFill>
                  <a:srgbClr val="1A1A1A"/>
                </a:solidFill>
                <a:latin typeface="Aptos"/>
              </a:rPr>
              <a:t>Initialization</a:t>
            </a:r>
          </a:p>
        </p:txBody>
      </p:sp>
      <p:sp>
        <p:nvSpPr>
          <p:cNvPr id="44" name="Rectangle 43"/>
          <p:cNvSpPr/>
          <p:nvPr/>
        </p:nvSpPr>
        <p:spPr>
          <a:xfrm>
            <a:off x="944880" y="620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chip"/>
          <p:cNvSpPr/>
          <p:nvPr/>
        </p:nvSpPr>
        <p:spPr>
          <a:xfrm>
            <a:off x="4884960" y="625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Type confusion</a:t>
            </a:r>
          </a:p>
        </p:txBody>
      </p:sp>
      <p:sp>
        <p:nvSpPr>
          <p:cNvPr id="46" name="Rounded Rectangle chip"/>
          <p:cNvSpPr/>
          <p:nvPr/>
        </p:nvSpPr>
        <p:spPr>
          <a:xfrm>
            <a:off x="6738960" y="6257840"/>
            <a:ext cx="124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Bad cast</a:t>
            </a:r>
          </a:p>
        </p:txBody>
      </p:sp>
      <p:sp>
        <p:nvSpPr>
          <p:cNvPr id="47" name="Rounded Rectangle chip"/>
          <p:cNvSpPr/>
          <p:nvPr/>
        </p:nvSpPr>
        <p:spPr>
          <a:xfrm>
            <a:off x="8076960" y="625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Weak typing</a:t>
            </a:r>
          </a:p>
        </p:txBody>
      </p:sp>
      <p:sp>
        <p:nvSpPr>
          <p:cNvPr id="48" name="TextBox 47"/>
          <p:cNvSpPr txBox="1"/>
          <p:nvPr/>
        </p:nvSpPr>
        <p:spPr>
          <a:xfrm>
            <a:off x="944880" y="6237840"/>
            <a:ext cx="3200000" cy="369332"/>
          </a:xfrm>
          <a:prstGeom prst="rect">
            <a:avLst/>
          </a:prstGeom>
          <a:noFill/>
        </p:spPr>
        <p:txBody>
          <a:bodyPr wrap="square" lIns="0" tIns="0" rIns="0" bIns="0" anchor="t">
            <a:spAutoFit/>
          </a:bodyPr>
          <a:lstStyle/>
          <a:p>
            <a:pPr algn="l"/>
            <a:r>
              <a:rPr sz="2400" b="1">
                <a:solidFill>
                  <a:srgbClr val="1A1A1A"/>
                </a:solidFill>
                <a:latin typeface="Aptos"/>
              </a:rPr>
              <a:t>Type</a:t>
            </a:r>
          </a:p>
        </p:txBody>
      </p:sp>
    </p:spTree>
    <p:extLst>
      <p:ext uri="{BB962C8B-B14F-4D97-AF65-F5344CB8AC3E}">
        <p14:creationId xmlns:p14="http://schemas.microsoft.com/office/powerpoint/2010/main" val="1242131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52C1F-EF03-DC9F-313C-6928493EA4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94FA47-5E44-F703-5324-D309A9E924F9}"/>
              </a:ext>
            </a:extLst>
          </p:cNvPr>
          <p:cNvSpPr>
            <a:spLocks noGrp="1"/>
          </p:cNvSpPr>
          <p:nvPr>
            <p:ph type="title"/>
          </p:nvPr>
        </p:nvSpPr>
        <p:spPr/>
        <p:txBody>
          <a:bodyPr/>
          <a:lstStyle/>
          <a:p>
            <a:r>
              <a:rPr lang="en-US" dirty="0"/>
              <a:t>A taxonomy of C/C++ safety</a:t>
            </a:r>
          </a:p>
        </p:txBody>
      </p:sp>
      <p:sp>
        <p:nvSpPr>
          <p:cNvPr id="5" name="Rounded Rectangle chip">
            <a:extLst>
              <a:ext uri="{FF2B5EF4-FFF2-40B4-BE49-F238E27FC236}">
                <a16:creationId xmlns:a16="http://schemas.microsoft.com/office/drawing/2014/main" id="{0F3CCFD3-D751-2FEE-D1A0-D0C76E8D0FED}"/>
              </a:ext>
            </a:extLst>
          </p:cNvPr>
          <p:cNvSpPr/>
          <p:nvPr/>
        </p:nvSpPr>
        <p:spPr>
          <a:xfrm>
            <a:off x="4884960" y="159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Out-of-bounds write</a:t>
            </a:r>
          </a:p>
        </p:txBody>
      </p:sp>
      <p:sp>
        <p:nvSpPr>
          <p:cNvPr id="6" name="Rounded Rectangle chip">
            <a:extLst>
              <a:ext uri="{FF2B5EF4-FFF2-40B4-BE49-F238E27FC236}">
                <a16:creationId xmlns:a16="http://schemas.microsoft.com/office/drawing/2014/main" id="{7766D2A3-B60E-E67C-0C9C-E045FBD1AAE1}"/>
              </a:ext>
            </a:extLst>
          </p:cNvPr>
          <p:cNvSpPr/>
          <p:nvPr/>
        </p:nvSpPr>
        <p:spPr>
          <a:xfrm>
            <a:off x="7168960" y="159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Out-of-bounds read</a:t>
            </a:r>
          </a:p>
        </p:txBody>
      </p:sp>
      <p:sp>
        <p:nvSpPr>
          <p:cNvPr id="7" name="Rounded Rectangle chip">
            <a:extLst>
              <a:ext uri="{FF2B5EF4-FFF2-40B4-BE49-F238E27FC236}">
                <a16:creationId xmlns:a16="http://schemas.microsoft.com/office/drawing/2014/main" id="{A1B3BE55-0BA6-FB7C-00A3-1D90891163F4}"/>
              </a:ext>
            </a:extLst>
          </p:cNvPr>
          <p:cNvSpPr/>
          <p:nvPr/>
        </p:nvSpPr>
        <p:spPr>
          <a:xfrm>
            <a:off x="9366960" y="159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Unknown direction</a:t>
            </a:r>
          </a:p>
        </p:txBody>
      </p:sp>
      <p:sp>
        <p:nvSpPr>
          <p:cNvPr id="8" name="Rounded Rectangle chip">
            <a:extLst>
              <a:ext uri="{FF2B5EF4-FFF2-40B4-BE49-F238E27FC236}">
                <a16:creationId xmlns:a16="http://schemas.microsoft.com/office/drawing/2014/main" id="{94D9245A-673C-C241-9959-54B278D33B92}"/>
              </a:ext>
            </a:extLst>
          </p:cNvPr>
          <p:cNvSpPr/>
          <p:nvPr/>
        </p:nvSpPr>
        <p:spPr>
          <a:xfrm>
            <a:off x="4884960" y="2027840"/>
            <a:ext cx="133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Bad index</a:t>
            </a:r>
          </a:p>
        </p:txBody>
      </p:sp>
      <p:sp>
        <p:nvSpPr>
          <p:cNvPr id="9" name="Rounded Rectangle chip">
            <a:extLst>
              <a:ext uri="{FF2B5EF4-FFF2-40B4-BE49-F238E27FC236}">
                <a16:creationId xmlns:a16="http://schemas.microsoft.com/office/drawing/2014/main" id="{47620BEE-05C8-08CF-44D1-AFBDE430C76C}"/>
              </a:ext>
            </a:extLst>
          </p:cNvPr>
          <p:cNvSpPr/>
          <p:nvPr/>
        </p:nvSpPr>
        <p:spPr>
          <a:xfrm>
            <a:off x="6308960" y="202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Pointer arithmetic</a:t>
            </a:r>
          </a:p>
        </p:txBody>
      </p:sp>
      <p:sp>
        <p:nvSpPr>
          <p:cNvPr id="10" name="TextBox 9">
            <a:extLst>
              <a:ext uri="{FF2B5EF4-FFF2-40B4-BE49-F238E27FC236}">
                <a16:creationId xmlns:a16="http://schemas.microsoft.com/office/drawing/2014/main" id="{5618A8BF-3E84-61EF-3074-BBEE911677FB}"/>
              </a:ext>
            </a:extLst>
          </p:cNvPr>
          <p:cNvSpPr txBox="1"/>
          <p:nvPr/>
        </p:nvSpPr>
        <p:spPr>
          <a:xfrm>
            <a:off x="944880" y="157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Bounds</a:t>
            </a:r>
          </a:p>
        </p:txBody>
      </p:sp>
      <p:sp>
        <p:nvSpPr>
          <p:cNvPr id="11" name="Rectangle 10">
            <a:extLst>
              <a:ext uri="{FF2B5EF4-FFF2-40B4-BE49-F238E27FC236}">
                <a16:creationId xmlns:a16="http://schemas.microsoft.com/office/drawing/2014/main" id="{29D38F04-D7A8-7E3A-43D4-CDC62F84A109}"/>
              </a:ext>
            </a:extLst>
          </p:cNvPr>
          <p:cNvSpPr/>
          <p:nvPr/>
        </p:nvSpPr>
        <p:spPr>
          <a:xfrm>
            <a:off x="944880" y="244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chip">
            <a:extLst>
              <a:ext uri="{FF2B5EF4-FFF2-40B4-BE49-F238E27FC236}">
                <a16:creationId xmlns:a16="http://schemas.microsoft.com/office/drawing/2014/main" id="{CC583FF8-C45E-7145-FE27-02E79E8B625B}"/>
              </a:ext>
            </a:extLst>
          </p:cNvPr>
          <p:cNvSpPr/>
          <p:nvPr/>
        </p:nvSpPr>
        <p:spPr>
          <a:xfrm>
            <a:off x="4884960" y="249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Use-after-free</a:t>
            </a:r>
          </a:p>
        </p:txBody>
      </p:sp>
      <p:sp>
        <p:nvSpPr>
          <p:cNvPr id="13" name="Rounded Rectangle chip">
            <a:extLst>
              <a:ext uri="{FF2B5EF4-FFF2-40B4-BE49-F238E27FC236}">
                <a16:creationId xmlns:a16="http://schemas.microsoft.com/office/drawing/2014/main" id="{C1EA5864-1179-2DDA-8589-08917BE2CFF6}"/>
              </a:ext>
            </a:extLst>
          </p:cNvPr>
          <p:cNvSpPr/>
          <p:nvPr/>
        </p:nvSpPr>
        <p:spPr>
          <a:xfrm>
            <a:off x="6738960" y="249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Double-free</a:t>
            </a:r>
          </a:p>
        </p:txBody>
      </p:sp>
      <p:sp>
        <p:nvSpPr>
          <p:cNvPr id="14" name="Rounded Rectangle chip">
            <a:extLst>
              <a:ext uri="{FF2B5EF4-FFF2-40B4-BE49-F238E27FC236}">
                <a16:creationId xmlns:a16="http://schemas.microsoft.com/office/drawing/2014/main" id="{D34479F3-989E-5326-E430-7423D59664CC}"/>
              </a:ext>
            </a:extLst>
          </p:cNvPr>
          <p:cNvSpPr/>
          <p:nvPr/>
        </p:nvSpPr>
        <p:spPr>
          <a:xfrm>
            <a:off x="8334960" y="2497840"/>
            <a:ext cx="245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Dangling stack pointer</a:t>
            </a:r>
          </a:p>
        </p:txBody>
      </p:sp>
      <p:sp>
        <p:nvSpPr>
          <p:cNvPr id="15" name="TextBox 14">
            <a:extLst>
              <a:ext uri="{FF2B5EF4-FFF2-40B4-BE49-F238E27FC236}">
                <a16:creationId xmlns:a16="http://schemas.microsoft.com/office/drawing/2014/main" id="{8AA5FCA6-94FF-AE5B-F671-FE694CDFEE9C}"/>
              </a:ext>
            </a:extLst>
          </p:cNvPr>
          <p:cNvSpPr txBox="1"/>
          <p:nvPr/>
        </p:nvSpPr>
        <p:spPr>
          <a:xfrm>
            <a:off x="944880" y="2477840"/>
            <a:ext cx="3200000" cy="369332"/>
          </a:xfrm>
          <a:prstGeom prst="rect">
            <a:avLst/>
          </a:prstGeom>
          <a:noFill/>
        </p:spPr>
        <p:txBody>
          <a:bodyPr wrap="square" lIns="0" tIns="0" rIns="0" bIns="0" anchor="t">
            <a:spAutoFit/>
          </a:bodyPr>
          <a:lstStyle/>
          <a:p>
            <a:pPr algn="l"/>
            <a:r>
              <a:rPr sz="2400" b="1">
                <a:solidFill>
                  <a:srgbClr val="1A1A1A"/>
                </a:solidFill>
                <a:latin typeface="Aptos"/>
              </a:rPr>
              <a:t>Lifetime</a:t>
            </a:r>
          </a:p>
        </p:txBody>
      </p:sp>
      <p:sp>
        <p:nvSpPr>
          <p:cNvPr id="16" name="Rectangle 15">
            <a:extLst>
              <a:ext uri="{FF2B5EF4-FFF2-40B4-BE49-F238E27FC236}">
                <a16:creationId xmlns:a16="http://schemas.microsoft.com/office/drawing/2014/main" id="{8C4E2BA9-5DD9-5C12-FA2F-98A81DF6B47E}"/>
              </a:ext>
            </a:extLst>
          </p:cNvPr>
          <p:cNvSpPr/>
          <p:nvPr/>
        </p:nvSpPr>
        <p:spPr>
          <a:xfrm>
            <a:off x="944880" y="291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chip">
            <a:extLst>
              <a:ext uri="{FF2B5EF4-FFF2-40B4-BE49-F238E27FC236}">
                <a16:creationId xmlns:a16="http://schemas.microsoft.com/office/drawing/2014/main" id="{49329835-4169-F2E2-3FEE-C3D99D26C4E0}"/>
              </a:ext>
            </a:extLst>
          </p:cNvPr>
          <p:cNvSpPr/>
          <p:nvPr/>
        </p:nvSpPr>
        <p:spPr>
          <a:xfrm>
            <a:off x="4884960" y="2967840"/>
            <a:ext cx="193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Null dereference</a:t>
            </a:r>
          </a:p>
        </p:txBody>
      </p:sp>
      <p:sp>
        <p:nvSpPr>
          <p:cNvPr id="18" name="Rounded Rectangle chip">
            <a:extLst>
              <a:ext uri="{FF2B5EF4-FFF2-40B4-BE49-F238E27FC236}">
                <a16:creationId xmlns:a16="http://schemas.microsoft.com/office/drawing/2014/main" id="{EEAB9AC3-4B92-7B7B-E831-06904D3412FC}"/>
              </a:ext>
            </a:extLst>
          </p:cNvPr>
          <p:cNvSpPr/>
          <p:nvPr/>
        </p:nvSpPr>
        <p:spPr>
          <a:xfrm>
            <a:off x="6910960" y="2967840"/>
            <a:ext cx="236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Unchecked null return</a:t>
            </a:r>
          </a:p>
        </p:txBody>
      </p:sp>
      <p:sp>
        <p:nvSpPr>
          <p:cNvPr id="19" name="TextBox 18">
            <a:extLst>
              <a:ext uri="{FF2B5EF4-FFF2-40B4-BE49-F238E27FC236}">
                <a16:creationId xmlns:a16="http://schemas.microsoft.com/office/drawing/2014/main" id="{A4A2F9EB-F2A5-238A-20EA-E7E91E226E79}"/>
              </a:ext>
            </a:extLst>
          </p:cNvPr>
          <p:cNvSpPr txBox="1"/>
          <p:nvPr/>
        </p:nvSpPr>
        <p:spPr>
          <a:xfrm>
            <a:off x="944880" y="2947840"/>
            <a:ext cx="3200000" cy="369332"/>
          </a:xfrm>
          <a:prstGeom prst="rect">
            <a:avLst/>
          </a:prstGeom>
          <a:noFill/>
        </p:spPr>
        <p:txBody>
          <a:bodyPr wrap="square" lIns="0" tIns="0" rIns="0" bIns="0" anchor="t">
            <a:spAutoFit/>
          </a:bodyPr>
          <a:lstStyle/>
          <a:p>
            <a:pPr algn="l"/>
            <a:r>
              <a:rPr sz="2400" b="1">
                <a:solidFill>
                  <a:srgbClr val="1A1A1A"/>
                </a:solidFill>
                <a:latin typeface="Aptos"/>
              </a:rPr>
              <a:t>Null</a:t>
            </a:r>
          </a:p>
        </p:txBody>
      </p:sp>
      <p:sp>
        <p:nvSpPr>
          <p:cNvPr id="20" name="Rectangle 19">
            <a:extLst>
              <a:ext uri="{FF2B5EF4-FFF2-40B4-BE49-F238E27FC236}">
                <a16:creationId xmlns:a16="http://schemas.microsoft.com/office/drawing/2014/main" id="{E3E6B19F-4BC1-C9DF-0537-239761F1431E}"/>
              </a:ext>
            </a:extLst>
          </p:cNvPr>
          <p:cNvSpPr/>
          <p:nvPr/>
        </p:nvSpPr>
        <p:spPr>
          <a:xfrm>
            <a:off x="944880" y="338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chip">
            <a:extLst>
              <a:ext uri="{FF2B5EF4-FFF2-40B4-BE49-F238E27FC236}">
                <a16:creationId xmlns:a16="http://schemas.microsoft.com/office/drawing/2014/main" id="{C96D36E5-3226-1A18-CDEC-D5584833F9EE}"/>
              </a:ext>
            </a:extLst>
          </p:cNvPr>
          <p:cNvSpPr/>
          <p:nvPr/>
        </p:nvSpPr>
        <p:spPr>
          <a:xfrm>
            <a:off x="4884960" y="3437840"/>
            <a:ext cx="2280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Exhaustion, no limit</a:t>
            </a:r>
          </a:p>
        </p:txBody>
      </p:sp>
      <p:sp>
        <p:nvSpPr>
          <p:cNvPr id="22" name="Rounded Rectangle chip">
            <a:extLst>
              <a:ext uri="{FF2B5EF4-FFF2-40B4-BE49-F238E27FC236}">
                <a16:creationId xmlns:a16="http://schemas.microsoft.com/office/drawing/2014/main" id="{1BDD36C0-31E4-0D98-4EFD-9E452F369251}"/>
              </a:ext>
            </a:extLst>
          </p:cNvPr>
          <p:cNvSpPr/>
          <p:nvPr/>
        </p:nvSpPr>
        <p:spPr>
          <a:xfrm>
            <a:off x="7254960" y="3437840"/>
            <a:ext cx="167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Leaked handle</a:t>
            </a:r>
          </a:p>
        </p:txBody>
      </p:sp>
      <p:sp>
        <p:nvSpPr>
          <p:cNvPr id="23" name="TextBox 22">
            <a:extLst>
              <a:ext uri="{FF2B5EF4-FFF2-40B4-BE49-F238E27FC236}">
                <a16:creationId xmlns:a16="http://schemas.microsoft.com/office/drawing/2014/main" id="{BEB448C9-334E-2C7F-4AB7-3F857BFF66EC}"/>
              </a:ext>
            </a:extLst>
          </p:cNvPr>
          <p:cNvSpPr txBox="1"/>
          <p:nvPr/>
        </p:nvSpPr>
        <p:spPr>
          <a:xfrm>
            <a:off x="944880" y="3417840"/>
            <a:ext cx="3573780" cy="369332"/>
          </a:xfrm>
          <a:prstGeom prst="rect">
            <a:avLst/>
          </a:prstGeom>
          <a:noFill/>
        </p:spPr>
        <p:txBody>
          <a:bodyPr wrap="square" lIns="0" tIns="0" rIns="0" bIns="0" anchor="t">
            <a:spAutoFit/>
          </a:bodyPr>
          <a:lstStyle/>
          <a:p>
            <a:pPr algn="l"/>
            <a:r>
              <a:rPr sz="2400" b="1" dirty="0">
                <a:solidFill>
                  <a:srgbClr val="1A1A1A"/>
                </a:solidFill>
                <a:latin typeface="Aptos"/>
              </a:rPr>
              <a:t>Non-memory resources</a:t>
            </a:r>
          </a:p>
        </p:txBody>
      </p:sp>
      <p:sp>
        <p:nvSpPr>
          <p:cNvPr id="24" name="Rectangle 23">
            <a:extLst>
              <a:ext uri="{FF2B5EF4-FFF2-40B4-BE49-F238E27FC236}">
                <a16:creationId xmlns:a16="http://schemas.microsoft.com/office/drawing/2014/main" id="{6A1E7B0E-9218-0041-B2E3-A338D7710237}"/>
              </a:ext>
            </a:extLst>
          </p:cNvPr>
          <p:cNvSpPr/>
          <p:nvPr/>
        </p:nvSpPr>
        <p:spPr>
          <a:xfrm>
            <a:off x="944880" y="385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chip">
            <a:extLst>
              <a:ext uri="{FF2B5EF4-FFF2-40B4-BE49-F238E27FC236}">
                <a16:creationId xmlns:a16="http://schemas.microsoft.com/office/drawing/2014/main" id="{644D9025-B7D5-ED56-15BD-EE1B38C715B7}"/>
              </a:ext>
            </a:extLst>
          </p:cNvPr>
          <p:cNvSpPr/>
          <p:nvPr/>
        </p:nvSpPr>
        <p:spPr>
          <a:xfrm>
            <a:off x="4884960" y="3907840"/>
            <a:ext cx="193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Integer overflow</a:t>
            </a:r>
          </a:p>
        </p:txBody>
      </p:sp>
      <p:sp>
        <p:nvSpPr>
          <p:cNvPr id="26" name="Rounded Rectangle chip">
            <a:extLst>
              <a:ext uri="{FF2B5EF4-FFF2-40B4-BE49-F238E27FC236}">
                <a16:creationId xmlns:a16="http://schemas.microsoft.com/office/drawing/2014/main" id="{E3F8BCB0-3A88-7AB2-CDF0-DEF8FF656B14}"/>
              </a:ext>
            </a:extLst>
          </p:cNvPr>
          <p:cNvSpPr/>
          <p:nvPr/>
        </p:nvSpPr>
        <p:spPr>
          <a:xfrm>
            <a:off x="6910960" y="390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Divide by zero</a:t>
            </a:r>
          </a:p>
        </p:txBody>
      </p:sp>
      <p:sp>
        <p:nvSpPr>
          <p:cNvPr id="27" name="Rounded Rectangle chip">
            <a:extLst>
              <a:ext uri="{FF2B5EF4-FFF2-40B4-BE49-F238E27FC236}">
                <a16:creationId xmlns:a16="http://schemas.microsoft.com/office/drawing/2014/main" id="{CC7F8F23-A70D-91F3-4A54-85ED3089C2A4}"/>
              </a:ext>
            </a:extLst>
          </p:cNvPr>
          <p:cNvSpPr/>
          <p:nvPr/>
        </p:nvSpPr>
        <p:spPr>
          <a:xfrm>
            <a:off x="8764960" y="390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Wrong calculation</a:t>
            </a:r>
          </a:p>
        </p:txBody>
      </p:sp>
      <p:sp>
        <p:nvSpPr>
          <p:cNvPr id="28" name="TextBox 27">
            <a:extLst>
              <a:ext uri="{FF2B5EF4-FFF2-40B4-BE49-F238E27FC236}">
                <a16:creationId xmlns:a16="http://schemas.microsoft.com/office/drawing/2014/main" id="{BFD96F00-E240-3A98-1A4B-3240CFE0E237}"/>
              </a:ext>
            </a:extLst>
          </p:cNvPr>
          <p:cNvSpPr txBox="1"/>
          <p:nvPr/>
        </p:nvSpPr>
        <p:spPr>
          <a:xfrm>
            <a:off x="944880" y="388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Arithmetic</a:t>
            </a:r>
          </a:p>
        </p:txBody>
      </p:sp>
      <p:sp>
        <p:nvSpPr>
          <p:cNvPr id="29" name="Rectangle 28">
            <a:extLst>
              <a:ext uri="{FF2B5EF4-FFF2-40B4-BE49-F238E27FC236}">
                <a16:creationId xmlns:a16="http://schemas.microsoft.com/office/drawing/2014/main" id="{3293882A-60AE-2793-D632-2227C4D0BDD2}"/>
              </a:ext>
            </a:extLst>
          </p:cNvPr>
          <p:cNvSpPr/>
          <p:nvPr/>
        </p:nvSpPr>
        <p:spPr>
          <a:xfrm>
            <a:off x="944880" y="432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chip">
            <a:extLst>
              <a:ext uri="{FF2B5EF4-FFF2-40B4-BE49-F238E27FC236}">
                <a16:creationId xmlns:a16="http://schemas.microsoft.com/office/drawing/2014/main" id="{B549D695-CBBB-28EC-154F-63D08081628B}"/>
              </a:ext>
            </a:extLst>
          </p:cNvPr>
          <p:cNvSpPr/>
          <p:nvPr/>
        </p:nvSpPr>
        <p:spPr>
          <a:xfrm>
            <a:off x="4884960" y="437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No allocation limit</a:t>
            </a:r>
          </a:p>
        </p:txBody>
      </p:sp>
      <p:sp>
        <p:nvSpPr>
          <p:cNvPr id="31" name="Rounded Rectangle chip">
            <a:extLst>
              <a:ext uri="{FF2B5EF4-FFF2-40B4-BE49-F238E27FC236}">
                <a16:creationId xmlns:a16="http://schemas.microsoft.com/office/drawing/2014/main" id="{828E2ABE-C8C9-E030-026F-A7EE81534CD5}"/>
              </a:ext>
            </a:extLst>
          </p:cNvPr>
          <p:cNvSpPr/>
          <p:nvPr/>
        </p:nvSpPr>
        <p:spPr>
          <a:xfrm>
            <a:off x="7168960" y="437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Memory leak</a:t>
            </a:r>
          </a:p>
        </p:txBody>
      </p:sp>
      <p:sp>
        <p:nvSpPr>
          <p:cNvPr id="32" name="TextBox 31">
            <a:extLst>
              <a:ext uri="{FF2B5EF4-FFF2-40B4-BE49-F238E27FC236}">
                <a16:creationId xmlns:a16="http://schemas.microsoft.com/office/drawing/2014/main" id="{680A84C9-1E4C-599D-4019-248A9864F5EF}"/>
              </a:ext>
            </a:extLst>
          </p:cNvPr>
          <p:cNvSpPr txBox="1"/>
          <p:nvPr/>
        </p:nvSpPr>
        <p:spPr>
          <a:xfrm>
            <a:off x="944880" y="4357840"/>
            <a:ext cx="3200000" cy="369332"/>
          </a:xfrm>
          <a:prstGeom prst="rect">
            <a:avLst/>
          </a:prstGeom>
          <a:noFill/>
        </p:spPr>
        <p:txBody>
          <a:bodyPr wrap="square" lIns="0" tIns="0" rIns="0" bIns="0" anchor="t">
            <a:spAutoFit/>
          </a:bodyPr>
          <a:lstStyle/>
          <a:p>
            <a:pPr algn="l"/>
            <a:r>
              <a:rPr sz="2400" b="1">
                <a:solidFill>
                  <a:srgbClr val="1A1A1A"/>
                </a:solidFill>
                <a:latin typeface="Aptos"/>
              </a:rPr>
              <a:t>Allocation</a:t>
            </a:r>
          </a:p>
        </p:txBody>
      </p:sp>
      <p:sp>
        <p:nvSpPr>
          <p:cNvPr id="33" name="Rectangle 32">
            <a:extLst>
              <a:ext uri="{FF2B5EF4-FFF2-40B4-BE49-F238E27FC236}">
                <a16:creationId xmlns:a16="http://schemas.microsoft.com/office/drawing/2014/main" id="{413AE649-92E1-DEB2-5CB7-3C7C822B1D63}"/>
              </a:ext>
            </a:extLst>
          </p:cNvPr>
          <p:cNvSpPr/>
          <p:nvPr/>
        </p:nvSpPr>
        <p:spPr>
          <a:xfrm>
            <a:off x="944880" y="479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chip">
            <a:extLst>
              <a:ext uri="{FF2B5EF4-FFF2-40B4-BE49-F238E27FC236}">
                <a16:creationId xmlns:a16="http://schemas.microsoft.com/office/drawing/2014/main" id="{7D6C58EF-485D-AD3B-70FE-05D1767CBAD6}"/>
              </a:ext>
            </a:extLst>
          </p:cNvPr>
          <p:cNvSpPr/>
          <p:nvPr/>
        </p:nvSpPr>
        <p:spPr>
          <a:xfrm>
            <a:off x="4884960" y="4847840"/>
            <a:ext cx="2710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Untrusted deserialization</a:t>
            </a:r>
          </a:p>
        </p:txBody>
      </p:sp>
      <p:sp>
        <p:nvSpPr>
          <p:cNvPr id="35" name="TextBox 34">
            <a:extLst>
              <a:ext uri="{FF2B5EF4-FFF2-40B4-BE49-F238E27FC236}">
                <a16:creationId xmlns:a16="http://schemas.microsoft.com/office/drawing/2014/main" id="{E1150A68-AB4A-E5A9-93FC-ACBF603DF584}"/>
              </a:ext>
            </a:extLst>
          </p:cNvPr>
          <p:cNvSpPr txBox="1"/>
          <p:nvPr/>
        </p:nvSpPr>
        <p:spPr>
          <a:xfrm>
            <a:off x="944880" y="4827840"/>
            <a:ext cx="3200000" cy="369332"/>
          </a:xfrm>
          <a:prstGeom prst="rect">
            <a:avLst/>
          </a:prstGeom>
          <a:noFill/>
        </p:spPr>
        <p:txBody>
          <a:bodyPr wrap="square" lIns="0" tIns="0" rIns="0" bIns="0" anchor="t">
            <a:spAutoFit/>
          </a:bodyPr>
          <a:lstStyle/>
          <a:p>
            <a:pPr algn="l"/>
            <a:r>
              <a:rPr sz="2400" b="1">
                <a:solidFill>
                  <a:srgbClr val="1A1A1A"/>
                </a:solidFill>
                <a:latin typeface="Aptos"/>
              </a:rPr>
              <a:t>Deserialization</a:t>
            </a:r>
          </a:p>
        </p:txBody>
      </p:sp>
      <p:sp>
        <p:nvSpPr>
          <p:cNvPr id="36" name="Rectangle 35">
            <a:extLst>
              <a:ext uri="{FF2B5EF4-FFF2-40B4-BE49-F238E27FC236}">
                <a16:creationId xmlns:a16="http://schemas.microsoft.com/office/drawing/2014/main" id="{2E5A323E-BFF0-24D8-E3F6-B0EAA72E9F5B}"/>
              </a:ext>
            </a:extLst>
          </p:cNvPr>
          <p:cNvSpPr/>
          <p:nvPr/>
        </p:nvSpPr>
        <p:spPr>
          <a:xfrm>
            <a:off x="944880" y="526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chip">
            <a:extLst>
              <a:ext uri="{FF2B5EF4-FFF2-40B4-BE49-F238E27FC236}">
                <a16:creationId xmlns:a16="http://schemas.microsoft.com/office/drawing/2014/main" id="{53B535AE-855E-26B1-57BB-C8A611F9D70C}"/>
              </a:ext>
            </a:extLst>
          </p:cNvPr>
          <p:cNvSpPr/>
          <p:nvPr/>
        </p:nvSpPr>
        <p:spPr>
          <a:xfrm>
            <a:off x="4884960" y="5317840"/>
            <a:ext cx="133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Data race</a:t>
            </a:r>
          </a:p>
        </p:txBody>
      </p:sp>
      <p:sp>
        <p:nvSpPr>
          <p:cNvPr id="38" name="Rounded Rectangle chip">
            <a:extLst>
              <a:ext uri="{FF2B5EF4-FFF2-40B4-BE49-F238E27FC236}">
                <a16:creationId xmlns:a16="http://schemas.microsoft.com/office/drawing/2014/main" id="{1D4D91C0-F3B4-E130-5C69-C5A888F003BB}"/>
              </a:ext>
            </a:extLst>
          </p:cNvPr>
          <p:cNvSpPr/>
          <p:nvPr/>
        </p:nvSpPr>
        <p:spPr>
          <a:xfrm>
            <a:off x="6308960" y="531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Check-then-use race</a:t>
            </a:r>
          </a:p>
        </p:txBody>
      </p:sp>
      <p:sp>
        <p:nvSpPr>
          <p:cNvPr id="39" name="TextBox 38">
            <a:extLst>
              <a:ext uri="{FF2B5EF4-FFF2-40B4-BE49-F238E27FC236}">
                <a16:creationId xmlns:a16="http://schemas.microsoft.com/office/drawing/2014/main" id="{FAE6472E-05A7-E457-3384-ACD0FE07CE89}"/>
              </a:ext>
            </a:extLst>
          </p:cNvPr>
          <p:cNvSpPr txBox="1"/>
          <p:nvPr/>
        </p:nvSpPr>
        <p:spPr>
          <a:xfrm>
            <a:off x="944880" y="5297840"/>
            <a:ext cx="3200000" cy="369332"/>
          </a:xfrm>
          <a:prstGeom prst="rect">
            <a:avLst/>
          </a:prstGeom>
          <a:noFill/>
        </p:spPr>
        <p:txBody>
          <a:bodyPr wrap="square" lIns="0" tIns="0" rIns="0" bIns="0" anchor="t">
            <a:spAutoFit/>
          </a:bodyPr>
          <a:lstStyle/>
          <a:p>
            <a:pPr algn="l"/>
            <a:r>
              <a:rPr sz="2400" b="1">
                <a:solidFill>
                  <a:srgbClr val="1A1A1A"/>
                </a:solidFill>
                <a:latin typeface="Aptos"/>
              </a:rPr>
              <a:t>Data races</a:t>
            </a:r>
          </a:p>
        </p:txBody>
      </p:sp>
      <p:sp>
        <p:nvSpPr>
          <p:cNvPr id="40" name="Rectangle 39">
            <a:extLst>
              <a:ext uri="{FF2B5EF4-FFF2-40B4-BE49-F238E27FC236}">
                <a16:creationId xmlns:a16="http://schemas.microsoft.com/office/drawing/2014/main" id="{278986A7-2A4C-96A8-1AC7-4D7BC6E5DCE3}"/>
              </a:ext>
            </a:extLst>
          </p:cNvPr>
          <p:cNvSpPr/>
          <p:nvPr/>
        </p:nvSpPr>
        <p:spPr>
          <a:xfrm>
            <a:off x="944880" y="573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chip">
            <a:extLst>
              <a:ext uri="{FF2B5EF4-FFF2-40B4-BE49-F238E27FC236}">
                <a16:creationId xmlns:a16="http://schemas.microsoft.com/office/drawing/2014/main" id="{98FB4407-B677-7722-5A2B-9E27C28767D3}"/>
              </a:ext>
            </a:extLst>
          </p:cNvPr>
          <p:cNvSpPr/>
          <p:nvPr/>
        </p:nvSpPr>
        <p:spPr>
          <a:xfrm>
            <a:off x="4884960" y="578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Uninitialized read</a:t>
            </a:r>
          </a:p>
        </p:txBody>
      </p:sp>
      <p:sp>
        <p:nvSpPr>
          <p:cNvPr id="42" name="Rounded Rectangle chip">
            <a:extLst>
              <a:ext uri="{FF2B5EF4-FFF2-40B4-BE49-F238E27FC236}">
                <a16:creationId xmlns:a16="http://schemas.microsoft.com/office/drawing/2014/main" id="{49B50469-BBB8-FFB5-246E-CE73B4A3B255}"/>
              </a:ext>
            </a:extLst>
          </p:cNvPr>
          <p:cNvSpPr/>
          <p:nvPr/>
        </p:nvSpPr>
        <p:spPr>
          <a:xfrm>
            <a:off x="7082960" y="578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Insecure defaults</a:t>
            </a:r>
          </a:p>
        </p:txBody>
      </p:sp>
      <p:sp>
        <p:nvSpPr>
          <p:cNvPr id="43" name="TextBox 42">
            <a:extLst>
              <a:ext uri="{FF2B5EF4-FFF2-40B4-BE49-F238E27FC236}">
                <a16:creationId xmlns:a16="http://schemas.microsoft.com/office/drawing/2014/main" id="{B5B8A3E9-B88D-EF7F-AAD3-8C19681C76D0}"/>
              </a:ext>
            </a:extLst>
          </p:cNvPr>
          <p:cNvSpPr txBox="1"/>
          <p:nvPr/>
        </p:nvSpPr>
        <p:spPr>
          <a:xfrm>
            <a:off x="944880" y="5767840"/>
            <a:ext cx="3200000" cy="369332"/>
          </a:xfrm>
          <a:prstGeom prst="rect">
            <a:avLst/>
          </a:prstGeom>
          <a:noFill/>
        </p:spPr>
        <p:txBody>
          <a:bodyPr wrap="square" lIns="0" tIns="0" rIns="0" bIns="0" anchor="t">
            <a:spAutoFit/>
          </a:bodyPr>
          <a:lstStyle/>
          <a:p>
            <a:pPr algn="l"/>
            <a:r>
              <a:rPr sz="2400" b="1">
                <a:solidFill>
                  <a:srgbClr val="1A1A1A"/>
                </a:solidFill>
                <a:latin typeface="Aptos"/>
              </a:rPr>
              <a:t>Initialization</a:t>
            </a:r>
          </a:p>
        </p:txBody>
      </p:sp>
      <p:sp>
        <p:nvSpPr>
          <p:cNvPr id="44" name="Rectangle 43">
            <a:extLst>
              <a:ext uri="{FF2B5EF4-FFF2-40B4-BE49-F238E27FC236}">
                <a16:creationId xmlns:a16="http://schemas.microsoft.com/office/drawing/2014/main" id="{E1CA211E-8FAF-5390-2027-EE643220A92B}"/>
              </a:ext>
            </a:extLst>
          </p:cNvPr>
          <p:cNvSpPr/>
          <p:nvPr/>
        </p:nvSpPr>
        <p:spPr>
          <a:xfrm>
            <a:off x="944880" y="620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chip">
            <a:extLst>
              <a:ext uri="{FF2B5EF4-FFF2-40B4-BE49-F238E27FC236}">
                <a16:creationId xmlns:a16="http://schemas.microsoft.com/office/drawing/2014/main" id="{D2B9A0FE-E56F-A2CD-AD77-BB9ABBBD01FD}"/>
              </a:ext>
            </a:extLst>
          </p:cNvPr>
          <p:cNvSpPr/>
          <p:nvPr/>
        </p:nvSpPr>
        <p:spPr>
          <a:xfrm>
            <a:off x="4884960" y="625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Type confusion</a:t>
            </a:r>
          </a:p>
        </p:txBody>
      </p:sp>
      <p:sp>
        <p:nvSpPr>
          <p:cNvPr id="46" name="Rounded Rectangle chip">
            <a:extLst>
              <a:ext uri="{FF2B5EF4-FFF2-40B4-BE49-F238E27FC236}">
                <a16:creationId xmlns:a16="http://schemas.microsoft.com/office/drawing/2014/main" id="{7BBC4350-8FF4-C617-4F23-51BE373C1469}"/>
              </a:ext>
            </a:extLst>
          </p:cNvPr>
          <p:cNvSpPr/>
          <p:nvPr/>
        </p:nvSpPr>
        <p:spPr>
          <a:xfrm>
            <a:off x="6738960" y="6257840"/>
            <a:ext cx="124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Bad cast</a:t>
            </a:r>
          </a:p>
        </p:txBody>
      </p:sp>
      <p:sp>
        <p:nvSpPr>
          <p:cNvPr id="47" name="Rounded Rectangle chip">
            <a:extLst>
              <a:ext uri="{FF2B5EF4-FFF2-40B4-BE49-F238E27FC236}">
                <a16:creationId xmlns:a16="http://schemas.microsoft.com/office/drawing/2014/main" id="{2E2967BC-E586-FCA4-792A-6D5982C694CF}"/>
              </a:ext>
            </a:extLst>
          </p:cNvPr>
          <p:cNvSpPr/>
          <p:nvPr/>
        </p:nvSpPr>
        <p:spPr>
          <a:xfrm>
            <a:off x="8076960" y="625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Weak typing</a:t>
            </a:r>
          </a:p>
        </p:txBody>
      </p:sp>
      <p:sp>
        <p:nvSpPr>
          <p:cNvPr id="48" name="TextBox 47">
            <a:extLst>
              <a:ext uri="{FF2B5EF4-FFF2-40B4-BE49-F238E27FC236}">
                <a16:creationId xmlns:a16="http://schemas.microsoft.com/office/drawing/2014/main" id="{3AF8C07D-792E-11F6-56CB-B237200F04F9}"/>
              </a:ext>
            </a:extLst>
          </p:cNvPr>
          <p:cNvSpPr txBox="1"/>
          <p:nvPr/>
        </p:nvSpPr>
        <p:spPr>
          <a:xfrm>
            <a:off x="944880" y="6237840"/>
            <a:ext cx="3200000" cy="369332"/>
          </a:xfrm>
          <a:prstGeom prst="rect">
            <a:avLst/>
          </a:prstGeom>
          <a:noFill/>
        </p:spPr>
        <p:txBody>
          <a:bodyPr wrap="square" lIns="0" tIns="0" rIns="0" bIns="0" anchor="t">
            <a:spAutoFit/>
          </a:bodyPr>
          <a:lstStyle/>
          <a:p>
            <a:pPr algn="l"/>
            <a:r>
              <a:rPr sz="2400" b="1">
                <a:solidFill>
                  <a:srgbClr val="1A1A1A"/>
                </a:solidFill>
                <a:latin typeface="Aptos"/>
              </a:rPr>
              <a:t>Type</a:t>
            </a:r>
          </a:p>
        </p:txBody>
      </p:sp>
      <p:pic>
        <p:nvPicPr>
          <p:cNvPr id="3" name="Picture 2">
            <a:extLst>
              <a:ext uri="{FF2B5EF4-FFF2-40B4-BE49-F238E27FC236}">
                <a16:creationId xmlns:a16="http://schemas.microsoft.com/office/drawing/2014/main" id="{7D2D2C91-3DA5-66F4-31B6-02456504F8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38502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800" name="band"/>
          <p:cNvSpPr/>
          <p:nvPr/>
        </p:nvSpPr>
        <p:spPr>
          <a:xfrm>
            <a:off x="941832" y="1522976"/>
            <a:ext cx="10515600" cy="922744"/>
          </a:xfrm>
          <a:prstGeom prst="rect">
            <a:avLst/>
          </a:prstGeom>
          <a:solidFill>
            <a:srgbClr val="8A140C">
              <a:alpha val="14000"/>
            </a:srgbClr>
          </a:solidFill>
          <a:ln>
            <a:noFill/>
          </a:ln>
        </p:spPr>
        <p:txBody>
          <a:bodyPr/>
          <a:lstStyle/>
          <a:p>
            <a:endParaRPr lang="en-US"/>
          </a:p>
        </p:txBody>
      </p:sp>
      <p:sp>
        <p:nvSpPr>
          <p:cNvPr id="801" name="band"/>
          <p:cNvSpPr/>
          <p:nvPr/>
        </p:nvSpPr>
        <p:spPr>
          <a:xfrm>
            <a:off x="941832" y="2445720"/>
            <a:ext cx="2169886" cy="470000"/>
          </a:xfrm>
          <a:prstGeom prst="rect">
            <a:avLst/>
          </a:prstGeom>
          <a:solidFill>
            <a:srgbClr val="8A140C">
              <a:alpha val="14000"/>
            </a:srgbClr>
          </a:solidFill>
          <a:ln>
            <a:noFill/>
          </a:ln>
        </p:spPr>
        <p:txBody>
          <a:bodyPr/>
          <a:lstStyle/>
          <a:p>
            <a:endParaRPr lang="en-US"/>
          </a:p>
        </p:txBody>
      </p:sp>
      <p:sp>
        <p:nvSpPr>
          <p:cNvPr id="802" name="band"/>
          <p:cNvSpPr/>
          <p:nvPr/>
        </p:nvSpPr>
        <p:spPr>
          <a:xfrm>
            <a:off x="941832" y="2915720"/>
            <a:ext cx="1293586" cy="470000"/>
          </a:xfrm>
          <a:prstGeom prst="rect">
            <a:avLst/>
          </a:prstGeom>
          <a:solidFill>
            <a:srgbClr val="8A140C">
              <a:alpha val="14000"/>
            </a:srgbClr>
          </a:solidFill>
          <a:ln>
            <a:noFill/>
          </a:ln>
        </p:spPr>
        <p:txBody>
          <a:bodyPr/>
          <a:lstStyle/>
          <a:p>
            <a:endParaRPr lang="en-US"/>
          </a:p>
        </p:txBody>
      </p:sp>
      <p:sp>
        <p:nvSpPr>
          <p:cNvPr id="803" name="band"/>
          <p:cNvSpPr/>
          <p:nvPr/>
        </p:nvSpPr>
        <p:spPr>
          <a:xfrm>
            <a:off x="941832" y="3385720"/>
            <a:ext cx="1001486" cy="470000"/>
          </a:xfrm>
          <a:prstGeom prst="rect">
            <a:avLst/>
          </a:prstGeom>
          <a:solidFill>
            <a:srgbClr val="8A140C">
              <a:alpha val="14000"/>
            </a:srgbClr>
          </a:solidFill>
          <a:ln>
            <a:noFill/>
          </a:ln>
        </p:spPr>
        <p:txBody>
          <a:bodyPr/>
          <a:lstStyle/>
          <a:p>
            <a:endParaRPr lang="en-US"/>
          </a:p>
        </p:txBody>
      </p:sp>
      <p:sp>
        <p:nvSpPr>
          <p:cNvPr id="804" name="band"/>
          <p:cNvSpPr/>
          <p:nvPr/>
        </p:nvSpPr>
        <p:spPr>
          <a:xfrm>
            <a:off x="941832" y="3855720"/>
            <a:ext cx="792843" cy="470000"/>
          </a:xfrm>
          <a:prstGeom prst="rect">
            <a:avLst/>
          </a:prstGeom>
          <a:solidFill>
            <a:srgbClr val="8A140C">
              <a:alpha val="14000"/>
            </a:srgbClr>
          </a:solidFill>
          <a:ln>
            <a:noFill/>
          </a:ln>
        </p:spPr>
        <p:txBody>
          <a:bodyPr/>
          <a:lstStyle/>
          <a:p>
            <a:endParaRPr lang="en-US"/>
          </a:p>
        </p:txBody>
      </p:sp>
      <p:sp>
        <p:nvSpPr>
          <p:cNvPr id="805" name="band"/>
          <p:cNvSpPr/>
          <p:nvPr/>
        </p:nvSpPr>
        <p:spPr>
          <a:xfrm>
            <a:off x="941832" y="4325720"/>
            <a:ext cx="980621" cy="470000"/>
          </a:xfrm>
          <a:prstGeom prst="rect">
            <a:avLst/>
          </a:prstGeom>
          <a:solidFill>
            <a:srgbClr val="8A140C">
              <a:alpha val="14000"/>
            </a:srgbClr>
          </a:solidFill>
          <a:ln>
            <a:noFill/>
          </a:ln>
        </p:spPr>
        <p:txBody>
          <a:bodyPr/>
          <a:lstStyle/>
          <a:p>
            <a:endParaRPr lang="en-US"/>
          </a:p>
        </p:txBody>
      </p:sp>
      <p:sp>
        <p:nvSpPr>
          <p:cNvPr id="806" name="band"/>
          <p:cNvSpPr/>
          <p:nvPr/>
        </p:nvSpPr>
        <p:spPr>
          <a:xfrm>
            <a:off x="941832" y="4795720"/>
            <a:ext cx="751114" cy="470000"/>
          </a:xfrm>
          <a:prstGeom prst="rect">
            <a:avLst/>
          </a:prstGeom>
          <a:solidFill>
            <a:srgbClr val="8A140C">
              <a:alpha val="14000"/>
            </a:srgbClr>
          </a:solidFill>
          <a:ln>
            <a:noFill/>
          </a:ln>
        </p:spPr>
        <p:txBody>
          <a:bodyPr/>
          <a:lstStyle/>
          <a:p>
            <a:endParaRPr lang="en-US"/>
          </a:p>
        </p:txBody>
      </p:sp>
      <p:sp>
        <p:nvSpPr>
          <p:cNvPr id="807" name="band"/>
          <p:cNvSpPr/>
          <p:nvPr/>
        </p:nvSpPr>
        <p:spPr>
          <a:xfrm>
            <a:off x="941832" y="5265720"/>
            <a:ext cx="730250" cy="470000"/>
          </a:xfrm>
          <a:prstGeom prst="rect">
            <a:avLst/>
          </a:prstGeom>
          <a:solidFill>
            <a:srgbClr val="8A140C">
              <a:alpha val="14000"/>
            </a:srgbClr>
          </a:solidFill>
          <a:ln>
            <a:noFill/>
          </a:ln>
        </p:spPr>
        <p:txBody>
          <a:bodyPr/>
          <a:lstStyle/>
          <a:p>
            <a:endParaRPr lang="en-US"/>
          </a:p>
        </p:txBody>
      </p:sp>
      <p:sp>
        <p:nvSpPr>
          <p:cNvPr id="808" name="band"/>
          <p:cNvSpPr/>
          <p:nvPr/>
        </p:nvSpPr>
        <p:spPr>
          <a:xfrm>
            <a:off x="941832" y="5735720"/>
            <a:ext cx="208643" cy="470000"/>
          </a:xfrm>
          <a:prstGeom prst="rect">
            <a:avLst/>
          </a:prstGeom>
          <a:solidFill>
            <a:srgbClr val="8A140C">
              <a:alpha val="14000"/>
            </a:srgbClr>
          </a:solidFill>
          <a:ln>
            <a:noFill/>
          </a:ln>
        </p:spPr>
        <p:txBody>
          <a:bodyPr/>
          <a:lstStyle/>
          <a:p>
            <a:endParaRPr lang="en-US"/>
          </a:p>
        </p:txBody>
      </p:sp>
      <p:sp>
        <p:nvSpPr>
          <p:cNvPr id="809" name="band"/>
          <p:cNvSpPr/>
          <p:nvPr/>
        </p:nvSpPr>
        <p:spPr>
          <a:xfrm>
            <a:off x="941832" y="6205720"/>
            <a:ext cx="208643" cy="456316"/>
          </a:xfrm>
          <a:prstGeom prst="rect">
            <a:avLst/>
          </a:prstGeom>
          <a:solidFill>
            <a:srgbClr val="8A140C">
              <a:alpha val="14000"/>
            </a:srgbClr>
          </a:solidFill>
          <a:ln>
            <a:noFill/>
          </a:ln>
        </p:spPr>
        <p:txBody>
          <a:bodyPr/>
          <a:lstStyle/>
          <a:p>
            <a:endParaRPr lang="en-US"/>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 taxonomy of C/C++ safety</a:t>
            </a:r>
          </a:p>
        </p:txBody>
      </p:sp>
      <p:sp>
        <p:nvSpPr>
          <p:cNvPr id="5" name="Rounded Rectangle chip"/>
          <p:cNvSpPr/>
          <p:nvPr/>
        </p:nvSpPr>
        <p:spPr>
          <a:xfrm>
            <a:off x="4884960" y="1597840"/>
            <a:ext cx="2194000" cy="365760"/>
          </a:xfrm>
          <a:prstGeom prst="roundRect">
            <a:avLst>
              <a:gd name="adj" fmla="val 50000"/>
            </a:avLst>
          </a:prstGeom>
          <a:solidFill>
            <a:srgbClr val="8A140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Out-of-bounds write</a:t>
            </a:r>
          </a:p>
        </p:txBody>
      </p:sp>
      <p:sp>
        <p:nvSpPr>
          <p:cNvPr id="6" name="Rounded Rectangle chip"/>
          <p:cNvSpPr/>
          <p:nvPr/>
        </p:nvSpPr>
        <p:spPr>
          <a:xfrm>
            <a:off x="7168960" y="1597840"/>
            <a:ext cx="2108000" cy="365760"/>
          </a:xfrm>
          <a:prstGeom prst="roundRect">
            <a:avLst>
              <a:gd name="adj" fmla="val 50000"/>
            </a:avLst>
          </a:prstGeom>
          <a:solidFill>
            <a:srgbClr val="8A140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Out-of-bounds read</a:t>
            </a:r>
          </a:p>
        </p:txBody>
      </p:sp>
      <p:sp>
        <p:nvSpPr>
          <p:cNvPr id="7" name="Rounded Rectangle chip"/>
          <p:cNvSpPr/>
          <p:nvPr/>
        </p:nvSpPr>
        <p:spPr>
          <a:xfrm>
            <a:off x="9366960" y="1597840"/>
            <a:ext cx="2022000" cy="365760"/>
          </a:xfrm>
          <a:prstGeom prst="roundRect">
            <a:avLst>
              <a:gd name="adj" fmla="val 50000"/>
            </a:avLst>
          </a:prstGeom>
          <a:solidFill>
            <a:srgbClr val="8A140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Unknown direction</a:t>
            </a:r>
          </a:p>
        </p:txBody>
      </p:sp>
      <p:sp>
        <p:nvSpPr>
          <p:cNvPr id="8" name="Rounded Rectangle chip"/>
          <p:cNvSpPr/>
          <p:nvPr/>
        </p:nvSpPr>
        <p:spPr>
          <a:xfrm>
            <a:off x="4884960" y="2027840"/>
            <a:ext cx="133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Bad index</a:t>
            </a:r>
          </a:p>
        </p:txBody>
      </p:sp>
      <p:sp>
        <p:nvSpPr>
          <p:cNvPr id="9" name="Rounded Rectangle chip"/>
          <p:cNvSpPr/>
          <p:nvPr/>
        </p:nvSpPr>
        <p:spPr>
          <a:xfrm>
            <a:off x="6308960" y="202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Pointer arithmetic</a:t>
            </a:r>
          </a:p>
        </p:txBody>
      </p:sp>
      <p:sp>
        <p:nvSpPr>
          <p:cNvPr id="10" name="TextBox 9"/>
          <p:cNvSpPr txBox="1"/>
          <p:nvPr/>
        </p:nvSpPr>
        <p:spPr>
          <a:xfrm>
            <a:off x="944880" y="157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Bounds</a:t>
            </a:r>
          </a:p>
        </p:txBody>
      </p:sp>
      <p:sp>
        <p:nvSpPr>
          <p:cNvPr id="11" name="Rectangle 10"/>
          <p:cNvSpPr/>
          <p:nvPr/>
        </p:nvSpPr>
        <p:spPr>
          <a:xfrm>
            <a:off x="944880" y="244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chip"/>
          <p:cNvSpPr/>
          <p:nvPr/>
        </p:nvSpPr>
        <p:spPr>
          <a:xfrm>
            <a:off x="4884960" y="2497840"/>
            <a:ext cx="1764000" cy="365760"/>
          </a:xfrm>
          <a:prstGeom prst="roundRect">
            <a:avLst>
              <a:gd name="adj" fmla="val 50000"/>
            </a:avLst>
          </a:prstGeom>
          <a:solidFill>
            <a:srgbClr val="D05A4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Use-after-free</a:t>
            </a:r>
          </a:p>
        </p:txBody>
      </p:sp>
      <p:sp>
        <p:nvSpPr>
          <p:cNvPr id="13" name="Rounded Rectangle chip"/>
          <p:cNvSpPr/>
          <p:nvPr/>
        </p:nvSpPr>
        <p:spPr>
          <a:xfrm>
            <a:off x="6738960" y="249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Double-free</a:t>
            </a:r>
          </a:p>
        </p:txBody>
      </p:sp>
      <p:sp>
        <p:nvSpPr>
          <p:cNvPr id="14" name="Rounded Rectangle chip"/>
          <p:cNvSpPr/>
          <p:nvPr/>
        </p:nvSpPr>
        <p:spPr>
          <a:xfrm>
            <a:off x="8334960" y="2497840"/>
            <a:ext cx="245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Dangling stack pointer</a:t>
            </a:r>
          </a:p>
        </p:txBody>
      </p:sp>
      <p:sp>
        <p:nvSpPr>
          <p:cNvPr id="15" name="TextBox 14"/>
          <p:cNvSpPr txBox="1"/>
          <p:nvPr/>
        </p:nvSpPr>
        <p:spPr>
          <a:xfrm>
            <a:off x="944880" y="2477840"/>
            <a:ext cx="3200000" cy="369332"/>
          </a:xfrm>
          <a:prstGeom prst="rect">
            <a:avLst/>
          </a:prstGeom>
          <a:noFill/>
        </p:spPr>
        <p:txBody>
          <a:bodyPr wrap="square" lIns="0" tIns="0" rIns="0" bIns="0" anchor="t">
            <a:spAutoFit/>
          </a:bodyPr>
          <a:lstStyle/>
          <a:p>
            <a:pPr algn="l"/>
            <a:r>
              <a:rPr sz="2400" b="1">
                <a:solidFill>
                  <a:srgbClr val="1A1A1A"/>
                </a:solidFill>
                <a:latin typeface="Aptos"/>
              </a:rPr>
              <a:t>Lifetime</a:t>
            </a:r>
          </a:p>
        </p:txBody>
      </p:sp>
      <p:sp>
        <p:nvSpPr>
          <p:cNvPr id="16" name="Rectangle 15"/>
          <p:cNvSpPr/>
          <p:nvPr/>
        </p:nvSpPr>
        <p:spPr>
          <a:xfrm>
            <a:off x="944880" y="291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chip"/>
          <p:cNvSpPr/>
          <p:nvPr/>
        </p:nvSpPr>
        <p:spPr>
          <a:xfrm>
            <a:off x="4884960" y="2967840"/>
            <a:ext cx="1936000" cy="365760"/>
          </a:xfrm>
          <a:prstGeom prst="roundRect">
            <a:avLst>
              <a:gd name="adj" fmla="val 50000"/>
            </a:avLst>
          </a:prstGeom>
          <a:solidFill>
            <a:srgbClr val="E3897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Null dereference</a:t>
            </a:r>
          </a:p>
        </p:txBody>
      </p:sp>
      <p:sp>
        <p:nvSpPr>
          <p:cNvPr id="18" name="Rounded Rectangle chip"/>
          <p:cNvSpPr/>
          <p:nvPr/>
        </p:nvSpPr>
        <p:spPr>
          <a:xfrm>
            <a:off x="6910960" y="2967840"/>
            <a:ext cx="236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Unchecked null return</a:t>
            </a:r>
          </a:p>
        </p:txBody>
      </p:sp>
      <p:sp>
        <p:nvSpPr>
          <p:cNvPr id="19" name="TextBox 18"/>
          <p:cNvSpPr txBox="1"/>
          <p:nvPr/>
        </p:nvSpPr>
        <p:spPr>
          <a:xfrm>
            <a:off x="944880" y="2947840"/>
            <a:ext cx="3200000" cy="369332"/>
          </a:xfrm>
          <a:prstGeom prst="rect">
            <a:avLst/>
          </a:prstGeom>
          <a:noFill/>
        </p:spPr>
        <p:txBody>
          <a:bodyPr wrap="square" lIns="0" tIns="0" rIns="0" bIns="0" anchor="t">
            <a:spAutoFit/>
          </a:bodyPr>
          <a:lstStyle/>
          <a:p>
            <a:pPr algn="l"/>
            <a:r>
              <a:rPr sz="2400" b="1">
                <a:solidFill>
                  <a:srgbClr val="1A1A1A"/>
                </a:solidFill>
                <a:latin typeface="Aptos"/>
              </a:rPr>
              <a:t>Null</a:t>
            </a:r>
          </a:p>
        </p:txBody>
      </p:sp>
      <p:sp>
        <p:nvSpPr>
          <p:cNvPr id="20" name="Rectangle 19"/>
          <p:cNvSpPr/>
          <p:nvPr/>
        </p:nvSpPr>
        <p:spPr>
          <a:xfrm>
            <a:off x="944880" y="338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chip"/>
          <p:cNvSpPr/>
          <p:nvPr/>
        </p:nvSpPr>
        <p:spPr>
          <a:xfrm>
            <a:off x="4884960" y="3437840"/>
            <a:ext cx="2280000" cy="365760"/>
          </a:xfrm>
          <a:prstGeom prst="roundRect">
            <a:avLst>
              <a:gd name="adj" fmla="val 50000"/>
            </a:avLst>
          </a:prstGeom>
          <a:solidFill>
            <a:srgbClr val="EFB3A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Exhaustion, no limit</a:t>
            </a:r>
          </a:p>
        </p:txBody>
      </p:sp>
      <p:sp>
        <p:nvSpPr>
          <p:cNvPr id="22" name="Rounded Rectangle chip"/>
          <p:cNvSpPr/>
          <p:nvPr/>
        </p:nvSpPr>
        <p:spPr>
          <a:xfrm>
            <a:off x="7254960" y="3437840"/>
            <a:ext cx="167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Leaked handle</a:t>
            </a:r>
          </a:p>
        </p:txBody>
      </p:sp>
      <p:sp>
        <p:nvSpPr>
          <p:cNvPr id="23" name="TextBox 22"/>
          <p:cNvSpPr txBox="1"/>
          <p:nvPr/>
        </p:nvSpPr>
        <p:spPr>
          <a:xfrm>
            <a:off x="944880" y="3417840"/>
            <a:ext cx="3573780" cy="369332"/>
          </a:xfrm>
          <a:prstGeom prst="rect">
            <a:avLst/>
          </a:prstGeom>
          <a:noFill/>
        </p:spPr>
        <p:txBody>
          <a:bodyPr wrap="square" lIns="0" tIns="0" rIns="0" bIns="0" anchor="t">
            <a:spAutoFit/>
          </a:bodyPr>
          <a:lstStyle/>
          <a:p>
            <a:pPr algn="l"/>
            <a:r>
              <a:rPr sz="2400" b="1" dirty="0">
                <a:solidFill>
                  <a:srgbClr val="1A1A1A"/>
                </a:solidFill>
                <a:latin typeface="Aptos"/>
              </a:rPr>
              <a:t>Non-memory resources</a:t>
            </a:r>
          </a:p>
        </p:txBody>
      </p:sp>
      <p:sp>
        <p:nvSpPr>
          <p:cNvPr id="24" name="Rectangle 23"/>
          <p:cNvSpPr/>
          <p:nvPr/>
        </p:nvSpPr>
        <p:spPr>
          <a:xfrm>
            <a:off x="944880" y="385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chip"/>
          <p:cNvSpPr/>
          <p:nvPr/>
        </p:nvSpPr>
        <p:spPr>
          <a:xfrm>
            <a:off x="4884960" y="3907840"/>
            <a:ext cx="1936000" cy="365760"/>
          </a:xfrm>
          <a:prstGeom prst="roundRect">
            <a:avLst>
              <a:gd name="adj" fmla="val 50000"/>
            </a:avLst>
          </a:prstGeom>
          <a:solidFill>
            <a:srgbClr val="EFB3A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Integer overflow</a:t>
            </a:r>
          </a:p>
        </p:txBody>
      </p:sp>
      <p:sp>
        <p:nvSpPr>
          <p:cNvPr id="26" name="Rounded Rectangle chip"/>
          <p:cNvSpPr/>
          <p:nvPr/>
        </p:nvSpPr>
        <p:spPr>
          <a:xfrm>
            <a:off x="6910960" y="390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Divide by zero</a:t>
            </a:r>
          </a:p>
        </p:txBody>
      </p:sp>
      <p:sp>
        <p:nvSpPr>
          <p:cNvPr id="27" name="Rounded Rectangle chip"/>
          <p:cNvSpPr/>
          <p:nvPr/>
        </p:nvSpPr>
        <p:spPr>
          <a:xfrm>
            <a:off x="8764960" y="390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Wrong calculation</a:t>
            </a:r>
          </a:p>
        </p:txBody>
      </p:sp>
      <p:sp>
        <p:nvSpPr>
          <p:cNvPr id="28" name="TextBox 27"/>
          <p:cNvSpPr txBox="1"/>
          <p:nvPr/>
        </p:nvSpPr>
        <p:spPr>
          <a:xfrm>
            <a:off x="944880" y="388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Arithmetic</a:t>
            </a:r>
          </a:p>
        </p:txBody>
      </p:sp>
      <p:sp>
        <p:nvSpPr>
          <p:cNvPr id="29" name="Rectangle 28"/>
          <p:cNvSpPr/>
          <p:nvPr/>
        </p:nvSpPr>
        <p:spPr>
          <a:xfrm>
            <a:off x="944880" y="432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chip"/>
          <p:cNvSpPr/>
          <p:nvPr/>
        </p:nvSpPr>
        <p:spPr>
          <a:xfrm>
            <a:off x="4884960" y="437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No allocation limit</a:t>
            </a:r>
          </a:p>
        </p:txBody>
      </p:sp>
      <p:sp>
        <p:nvSpPr>
          <p:cNvPr id="31" name="Rounded Rectangle chip"/>
          <p:cNvSpPr/>
          <p:nvPr/>
        </p:nvSpPr>
        <p:spPr>
          <a:xfrm>
            <a:off x="7168960" y="437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Memory leak</a:t>
            </a:r>
          </a:p>
        </p:txBody>
      </p:sp>
      <p:sp>
        <p:nvSpPr>
          <p:cNvPr id="32" name="TextBox 31"/>
          <p:cNvSpPr txBox="1"/>
          <p:nvPr/>
        </p:nvSpPr>
        <p:spPr>
          <a:xfrm>
            <a:off x="944880" y="4357840"/>
            <a:ext cx="3200000" cy="369332"/>
          </a:xfrm>
          <a:prstGeom prst="rect">
            <a:avLst/>
          </a:prstGeom>
          <a:noFill/>
        </p:spPr>
        <p:txBody>
          <a:bodyPr wrap="square" lIns="0" tIns="0" rIns="0" bIns="0" anchor="t">
            <a:spAutoFit/>
          </a:bodyPr>
          <a:lstStyle/>
          <a:p>
            <a:pPr algn="l"/>
            <a:r>
              <a:rPr sz="2400" b="1">
                <a:solidFill>
                  <a:srgbClr val="1A1A1A"/>
                </a:solidFill>
                <a:latin typeface="Aptos"/>
              </a:rPr>
              <a:t>Allocation</a:t>
            </a:r>
          </a:p>
        </p:txBody>
      </p:sp>
      <p:sp>
        <p:nvSpPr>
          <p:cNvPr id="33" name="Rectangle 32"/>
          <p:cNvSpPr/>
          <p:nvPr/>
        </p:nvSpPr>
        <p:spPr>
          <a:xfrm>
            <a:off x="944880" y="479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chip"/>
          <p:cNvSpPr/>
          <p:nvPr/>
        </p:nvSpPr>
        <p:spPr>
          <a:xfrm>
            <a:off x="4884960" y="4847840"/>
            <a:ext cx="2710000" cy="365760"/>
          </a:xfrm>
          <a:prstGeom prst="roundRect">
            <a:avLst>
              <a:gd name="adj" fmla="val 50000"/>
            </a:avLst>
          </a:prstGeom>
          <a:solidFill>
            <a:srgbClr val="EFB3A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Untrusted deserialization</a:t>
            </a:r>
          </a:p>
        </p:txBody>
      </p:sp>
      <p:sp>
        <p:nvSpPr>
          <p:cNvPr id="35" name="TextBox 34"/>
          <p:cNvSpPr txBox="1"/>
          <p:nvPr/>
        </p:nvSpPr>
        <p:spPr>
          <a:xfrm>
            <a:off x="944880" y="4827840"/>
            <a:ext cx="3200000" cy="369332"/>
          </a:xfrm>
          <a:prstGeom prst="rect">
            <a:avLst/>
          </a:prstGeom>
          <a:noFill/>
        </p:spPr>
        <p:txBody>
          <a:bodyPr wrap="square" lIns="0" tIns="0" rIns="0" bIns="0" anchor="t">
            <a:spAutoFit/>
          </a:bodyPr>
          <a:lstStyle/>
          <a:p>
            <a:pPr algn="l"/>
            <a:r>
              <a:rPr sz="2400" b="1">
                <a:solidFill>
                  <a:srgbClr val="1A1A1A"/>
                </a:solidFill>
                <a:latin typeface="Aptos"/>
              </a:rPr>
              <a:t>Deserialization</a:t>
            </a:r>
          </a:p>
        </p:txBody>
      </p:sp>
      <p:sp>
        <p:nvSpPr>
          <p:cNvPr id="36" name="Rectangle 35"/>
          <p:cNvSpPr/>
          <p:nvPr/>
        </p:nvSpPr>
        <p:spPr>
          <a:xfrm>
            <a:off x="944880" y="526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chip"/>
          <p:cNvSpPr/>
          <p:nvPr/>
        </p:nvSpPr>
        <p:spPr>
          <a:xfrm>
            <a:off x="4884960" y="5317840"/>
            <a:ext cx="133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Data race</a:t>
            </a:r>
          </a:p>
        </p:txBody>
      </p:sp>
      <p:sp>
        <p:nvSpPr>
          <p:cNvPr id="38" name="Rounded Rectangle chip"/>
          <p:cNvSpPr/>
          <p:nvPr/>
        </p:nvSpPr>
        <p:spPr>
          <a:xfrm>
            <a:off x="6308960" y="531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Check-then-use race</a:t>
            </a:r>
          </a:p>
        </p:txBody>
      </p:sp>
      <p:sp>
        <p:nvSpPr>
          <p:cNvPr id="39" name="TextBox 38"/>
          <p:cNvSpPr txBox="1"/>
          <p:nvPr/>
        </p:nvSpPr>
        <p:spPr>
          <a:xfrm>
            <a:off x="944880" y="5297840"/>
            <a:ext cx="3200000" cy="369332"/>
          </a:xfrm>
          <a:prstGeom prst="rect">
            <a:avLst/>
          </a:prstGeom>
          <a:noFill/>
        </p:spPr>
        <p:txBody>
          <a:bodyPr wrap="square" lIns="0" tIns="0" rIns="0" bIns="0" anchor="t">
            <a:spAutoFit/>
          </a:bodyPr>
          <a:lstStyle/>
          <a:p>
            <a:pPr algn="l"/>
            <a:r>
              <a:rPr sz="2400" b="1">
                <a:solidFill>
                  <a:srgbClr val="1A1A1A"/>
                </a:solidFill>
                <a:latin typeface="Aptos"/>
              </a:rPr>
              <a:t>Data races</a:t>
            </a:r>
          </a:p>
        </p:txBody>
      </p:sp>
      <p:sp>
        <p:nvSpPr>
          <p:cNvPr id="40" name="Rectangle 39"/>
          <p:cNvSpPr/>
          <p:nvPr/>
        </p:nvSpPr>
        <p:spPr>
          <a:xfrm>
            <a:off x="944880" y="573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chip"/>
          <p:cNvSpPr/>
          <p:nvPr/>
        </p:nvSpPr>
        <p:spPr>
          <a:xfrm>
            <a:off x="4884960" y="578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Uninitialized read</a:t>
            </a:r>
          </a:p>
        </p:txBody>
      </p:sp>
      <p:sp>
        <p:nvSpPr>
          <p:cNvPr id="42" name="Rounded Rectangle chip"/>
          <p:cNvSpPr/>
          <p:nvPr/>
        </p:nvSpPr>
        <p:spPr>
          <a:xfrm>
            <a:off x="7082960" y="578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Insecure defaults</a:t>
            </a:r>
          </a:p>
        </p:txBody>
      </p:sp>
      <p:sp>
        <p:nvSpPr>
          <p:cNvPr id="43" name="TextBox 42"/>
          <p:cNvSpPr txBox="1"/>
          <p:nvPr/>
        </p:nvSpPr>
        <p:spPr>
          <a:xfrm>
            <a:off x="944880" y="5767840"/>
            <a:ext cx="3200000" cy="369332"/>
          </a:xfrm>
          <a:prstGeom prst="rect">
            <a:avLst/>
          </a:prstGeom>
          <a:noFill/>
        </p:spPr>
        <p:txBody>
          <a:bodyPr wrap="square" lIns="0" tIns="0" rIns="0" bIns="0" anchor="t">
            <a:spAutoFit/>
          </a:bodyPr>
          <a:lstStyle/>
          <a:p>
            <a:pPr algn="l"/>
            <a:r>
              <a:rPr sz="2400" b="1">
                <a:solidFill>
                  <a:srgbClr val="1A1A1A"/>
                </a:solidFill>
                <a:latin typeface="Aptos"/>
              </a:rPr>
              <a:t>Initialization</a:t>
            </a:r>
          </a:p>
        </p:txBody>
      </p:sp>
      <p:sp>
        <p:nvSpPr>
          <p:cNvPr id="44" name="Rectangle 43"/>
          <p:cNvSpPr/>
          <p:nvPr/>
        </p:nvSpPr>
        <p:spPr>
          <a:xfrm>
            <a:off x="944880" y="620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chip"/>
          <p:cNvSpPr/>
          <p:nvPr/>
        </p:nvSpPr>
        <p:spPr>
          <a:xfrm>
            <a:off x="4884960" y="625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Type confusion</a:t>
            </a:r>
          </a:p>
        </p:txBody>
      </p:sp>
      <p:sp>
        <p:nvSpPr>
          <p:cNvPr id="46" name="Rounded Rectangle chip"/>
          <p:cNvSpPr/>
          <p:nvPr/>
        </p:nvSpPr>
        <p:spPr>
          <a:xfrm>
            <a:off x="6738960" y="6257840"/>
            <a:ext cx="124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Bad cast</a:t>
            </a:r>
          </a:p>
        </p:txBody>
      </p:sp>
      <p:sp>
        <p:nvSpPr>
          <p:cNvPr id="47" name="Rounded Rectangle chip"/>
          <p:cNvSpPr/>
          <p:nvPr/>
        </p:nvSpPr>
        <p:spPr>
          <a:xfrm>
            <a:off x="8076960" y="625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Weak typing</a:t>
            </a:r>
          </a:p>
        </p:txBody>
      </p:sp>
      <p:sp>
        <p:nvSpPr>
          <p:cNvPr id="48" name="TextBox 47"/>
          <p:cNvSpPr txBox="1"/>
          <p:nvPr/>
        </p:nvSpPr>
        <p:spPr>
          <a:xfrm>
            <a:off x="944880" y="6237840"/>
            <a:ext cx="3200000" cy="369332"/>
          </a:xfrm>
          <a:prstGeom prst="rect">
            <a:avLst/>
          </a:prstGeom>
          <a:noFill/>
        </p:spPr>
        <p:txBody>
          <a:bodyPr wrap="square" lIns="0" tIns="0" rIns="0" bIns="0" anchor="t">
            <a:spAutoFit/>
          </a:bodyPr>
          <a:lstStyle/>
          <a:p>
            <a:pPr algn="l"/>
            <a:r>
              <a:rPr sz="2400" b="1">
                <a:solidFill>
                  <a:srgbClr val="1A1A1A"/>
                </a:solidFill>
                <a:latin typeface="Aptos"/>
              </a:rPr>
              <a:t>Type</a:t>
            </a:r>
          </a:p>
        </p:txBody>
      </p:sp>
      <p:sp>
        <p:nvSpPr>
          <p:cNvPr id="850" name="share"/>
          <p:cNvSpPr txBox="1"/>
          <p:nvPr/>
        </p:nvSpPr>
        <p:spPr>
          <a:xfrm>
            <a:off x="3787680" y="157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50%</a:t>
            </a:r>
          </a:p>
        </p:txBody>
      </p:sp>
      <p:sp>
        <p:nvSpPr>
          <p:cNvPr id="851" name="share"/>
          <p:cNvSpPr txBox="1"/>
          <p:nvPr/>
        </p:nvSpPr>
        <p:spPr>
          <a:xfrm>
            <a:off x="3787680" y="247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10%</a:t>
            </a:r>
          </a:p>
        </p:txBody>
      </p:sp>
      <p:sp>
        <p:nvSpPr>
          <p:cNvPr id="852" name="share"/>
          <p:cNvSpPr txBox="1"/>
          <p:nvPr/>
        </p:nvSpPr>
        <p:spPr>
          <a:xfrm>
            <a:off x="3787680" y="294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6%</a:t>
            </a:r>
          </a:p>
        </p:txBody>
      </p:sp>
      <p:sp>
        <p:nvSpPr>
          <p:cNvPr id="853" name="share"/>
          <p:cNvSpPr txBox="1"/>
          <p:nvPr/>
        </p:nvSpPr>
        <p:spPr>
          <a:xfrm>
            <a:off x="3787680" y="341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5%</a:t>
            </a:r>
          </a:p>
        </p:txBody>
      </p:sp>
      <p:sp>
        <p:nvSpPr>
          <p:cNvPr id="854" name="share"/>
          <p:cNvSpPr txBox="1"/>
          <p:nvPr/>
        </p:nvSpPr>
        <p:spPr>
          <a:xfrm>
            <a:off x="3787680" y="388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4%</a:t>
            </a:r>
          </a:p>
        </p:txBody>
      </p:sp>
      <p:sp>
        <p:nvSpPr>
          <p:cNvPr id="855" name="share"/>
          <p:cNvSpPr txBox="1"/>
          <p:nvPr/>
        </p:nvSpPr>
        <p:spPr>
          <a:xfrm>
            <a:off x="3787680" y="435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5%</a:t>
            </a:r>
          </a:p>
        </p:txBody>
      </p:sp>
      <p:sp>
        <p:nvSpPr>
          <p:cNvPr id="856" name="share"/>
          <p:cNvSpPr txBox="1"/>
          <p:nvPr/>
        </p:nvSpPr>
        <p:spPr>
          <a:xfrm>
            <a:off x="3787680" y="482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4%</a:t>
            </a:r>
          </a:p>
        </p:txBody>
      </p:sp>
      <p:sp>
        <p:nvSpPr>
          <p:cNvPr id="857" name="share"/>
          <p:cNvSpPr txBox="1"/>
          <p:nvPr/>
        </p:nvSpPr>
        <p:spPr>
          <a:xfrm>
            <a:off x="3787680" y="5297840"/>
            <a:ext cx="960120" cy="369332"/>
          </a:xfrm>
          <a:prstGeom prst="rect">
            <a:avLst/>
          </a:prstGeom>
          <a:noFill/>
        </p:spPr>
        <p:txBody>
          <a:bodyPr wrap="square" lIns="0" tIns="0" rIns="0" bIns="0" anchor="t">
            <a:spAutoFit/>
          </a:bodyPr>
          <a:lstStyle/>
          <a:p>
            <a:pPr algn="r"/>
            <a:r>
              <a:rPr lang="en-US" sz="2400" b="0" dirty="0">
                <a:solidFill>
                  <a:srgbClr val="8A140C"/>
                </a:solidFill>
                <a:latin typeface="Aptos"/>
              </a:rPr>
              <a:t>4%</a:t>
            </a:r>
          </a:p>
        </p:txBody>
      </p:sp>
      <p:sp>
        <p:nvSpPr>
          <p:cNvPr id="858" name="share"/>
          <p:cNvSpPr txBox="1"/>
          <p:nvPr/>
        </p:nvSpPr>
        <p:spPr>
          <a:xfrm>
            <a:off x="3787680" y="5844040"/>
            <a:ext cx="960120" cy="276999"/>
          </a:xfrm>
          <a:prstGeom prst="rect">
            <a:avLst/>
          </a:prstGeom>
          <a:noFill/>
        </p:spPr>
        <p:txBody>
          <a:bodyPr wrap="square" lIns="0" tIns="0" rIns="0" bIns="0" anchor="t">
            <a:spAutoFit/>
          </a:bodyPr>
          <a:lstStyle/>
          <a:p>
            <a:pPr algn="r"/>
            <a:r>
              <a:rPr lang="en-US" b="0" dirty="0">
                <a:solidFill>
                  <a:srgbClr val="8A140C"/>
                </a:solidFill>
                <a:latin typeface="Aptos"/>
              </a:rPr>
              <a:t>1.0%</a:t>
            </a:r>
          </a:p>
        </p:txBody>
      </p:sp>
      <p:sp>
        <p:nvSpPr>
          <p:cNvPr id="859" name="share"/>
          <p:cNvSpPr txBox="1"/>
          <p:nvPr/>
        </p:nvSpPr>
        <p:spPr>
          <a:xfrm>
            <a:off x="3787680" y="6314040"/>
            <a:ext cx="960120" cy="276999"/>
          </a:xfrm>
          <a:prstGeom prst="rect">
            <a:avLst/>
          </a:prstGeom>
          <a:noFill/>
        </p:spPr>
        <p:txBody>
          <a:bodyPr wrap="square" lIns="0" tIns="0" rIns="0" bIns="0" anchor="t">
            <a:spAutoFit/>
          </a:bodyPr>
          <a:lstStyle/>
          <a:p>
            <a:pPr algn="r"/>
            <a:r>
              <a:rPr lang="en-US" b="0" dirty="0">
                <a:solidFill>
                  <a:srgbClr val="8A140C"/>
                </a:solidFill>
                <a:latin typeface="Aptos"/>
              </a:rPr>
              <a:t>1.0%</a:t>
            </a:r>
          </a:p>
        </p:txBody>
      </p:sp>
    </p:spTree>
    <p:extLst>
      <p:ext uri="{BB962C8B-B14F-4D97-AF65-F5344CB8AC3E}">
        <p14:creationId xmlns:p14="http://schemas.microsoft.com/office/powerpoint/2010/main" val="246298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EB99F-6FC8-EA3E-B9EC-5C9539478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1374C-629A-984D-9359-0376A0890D78}"/>
              </a:ext>
            </a:extLst>
          </p:cNvPr>
          <p:cNvSpPr>
            <a:spLocks noGrp="1"/>
          </p:cNvSpPr>
          <p:nvPr>
            <p:ph type="title"/>
          </p:nvPr>
        </p:nvSpPr>
        <p:spPr/>
        <p:txBody>
          <a:bodyPr/>
          <a:lstStyle/>
          <a:p>
            <a:r>
              <a:rPr lang="en-US" dirty="0"/>
              <a:t>C/C++</a:t>
            </a:r>
          </a:p>
        </p:txBody>
      </p:sp>
      <p:sp>
        <p:nvSpPr>
          <p:cNvPr id="3" name="Text Placeholder 2">
            <a:extLst>
              <a:ext uri="{FF2B5EF4-FFF2-40B4-BE49-F238E27FC236}">
                <a16:creationId xmlns:a16="http://schemas.microsoft.com/office/drawing/2014/main" id="{21A99D7E-79BC-77D5-036F-E4BBD8BC298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0666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rPr lang="en-US" dirty="0"/>
              <a:t>C/C++ in the news</a:t>
            </a:r>
            <a:endParaRPr dirty="0"/>
          </a:p>
        </p:txBody>
      </p:sp>
      <p:pic>
        <p:nvPicPr>
          <p:cNvPr id="3" name="Browser" descr="chrome.png"/>
          <p:cNvPicPr>
            <a:picLocks noChangeAspect="1"/>
          </p:cNvPicPr>
          <p:nvPr/>
        </p:nvPicPr>
        <p:blipFill>
          <a:blip r:embed="rId3"/>
          <a:stretch>
            <a:fillRect/>
          </a:stretch>
        </p:blipFill>
        <p:spPr>
          <a:xfrm>
            <a:off x="731000" y="1400815"/>
            <a:ext cx="10730000" cy="5248369"/>
          </a:xfrm>
          <a:prstGeom prst="rect">
            <a:avLst/>
          </a:prstGeom>
        </p:spPr>
      </p:pic>
      <p:pic>
        <p:nvPicPr>
          <p:cNvPr id="4" name="Site 00" descr="b00.png"/>
          <p:cNvPicPr>
            <a:picLocks noChangeAspect="1"/>
          </p:cNvPicPr>
          <p:nvPr/>
        </p:nvPicPr>
        <p:blipFill>
          <a:blip r:embed="rId4"/>
          <a:stretch>
            <a:fillRect/>
          </a:stretch>
        </p:blipFill>
        <p:spPr>
          <a:xfrm>
            <a:off x="1028407" y="1499950"/>
            <a:ext cx="10135184" cy="4816836"/>
          </a:xfrm>
          <a:prstGeom prst="rect">
            <a:avLst/>
          </a:prstGeom>
        </p:spPr>
      </p:pic>
      <p:pic>
        <p:nvPicPr>
          <p:cNvPr id="5" name="Site 01" descr="b01.png"/>
          <p:cNvPicPr>
            <a:picLocks noChangeAspect="1"/>
          </p:cNvPicPr>
          <p:nvPr/>
        </p:nvPicPr>
        <p:blipFill>
          <a:blip r:embed="rId5"/>
          <a:stretch>
            <a:fillRect/>
          </a:stretch>
        </p:blipFill>
        <p:spPr>
          <a:xfrm>
            <a:off x="1028407" y="1499950"/>
            <a:ext cx="10135184" cy="4816836"/>
          </a:xfrm>
          <a:prstGeom prst="rect">
            <a:avLst/>
          </a:prstGeom>
        </p:spPr>
      </p:pic>
      <p:pic>
        <p:nvPicPr>
          <p:cNvPr id="6" name="Site 02" descr="b02.png"/>
          <p:cNvPicPr>
            <a:picLocks noChangeAspect="1"/>
          </p:cNvPicPr>
          <p:nvPr/>
        </p:nvPicPr>
        <p:blipFill>
          <a:blip r:embed="rId6"/>
          <a:stretch>
            <a:fillRect/>
          </a:stretch>
        </p:blipFill>
        <p:spPr>
          <a:xfrm>
            <a:off x="1028407" y="1499950"/>
            <a:ext cx="10135184" cy="4816836"/>
          </a:xfrm>
          <a:prstGeom prst="rect">
            <a:avLst/>
          </a:prstGeom>
        </p:spPr>
      </p:pic>
      <p:pic>
        <p:nvPicPr>
          <p:cNvPr id="7" name="Site 03" descr="b03.png"/>
          <p:cNvPicPr>
            <a:picLocks noChangeAspect="1"/>
          </p:cNvPicPr>
          <p:nvPr/>
        </p:nvPicPr>
        <p:blipFill>
          <a:blip r:embed="rId7"/>
          <a:stretch>
            <a:fillRect/>
          </a:stretch>
        </p:blipFill>
        <p:spPr>
          <a:xfrm>
            <a:off x="1028407" y="1499950"/>
            <a:ext cx="10135184" cy="4816836"/>
          </a:xfrm>
          <a:prstGeom prst="rect">
            <a:avLst/>
          </a:prstGeom>
        </p:spPr>
      </p:pic>
      <p:pic>
        <p:nvPicPr>
          <p:cNvPr id="8" name="Site 04" descr="b04.png"/>
          <p:cNvPicPr>
            <a:picLocks noChangeAspect="1"/>
          </p:cNvPicPr>
          <p:nvPr/>
        </p:nvPicPr>
        <p:blipFill>
          <a:blip r:embed="rId8"/>
          <a:stretch>
            <a:fillRect/>
          </a:stretch>
        </p:blipFill>
        <p:spPr>
          <a:xfrm>
            <a:off x="1028407" y="1499950"/>
            <a:ext cx="10135184" cy="4816836"/>
          </a:xfrm>
          <a:prstGeom prst="rect">
            <a:avLst/>
          </a:prstGeom>
        </p:spPr>
      </p:pic>
      <p:pic>
        <p:nvPicPr>
          <p:cNvPr id="9" name="Site 05" descr="b05.png"/>
          <p:cNvPicPr>
            <a:picLocks noChangeAspect="1"/>
          </p:cNvPicPr>
          <p:nvPr/>
        </p:nvPicPr>
        <p:blipFill>
          <a:blip r:embed="rId9"/>
          <a:stretch>
            <a:fillRect/>
          </a:stretch>
        </p:blipFill>
        <p:spPr>
          <a:xfrm>
            <a:off x="1028407" y="1499950"/>
            <a:ext cx="10135184" cy="4816836"/>
          </a:xfrm>
          <a:prstGeom prst="rect">
            <a:avLst/>
          </a:prstGeom>
        </p:spPr>
      </p:pic>
      <p:pic>
        <p:nvPicPr>
          <p:cNvPr id="10" name="Site 06" descr="b06.png"/>
          <p:cNvPicPr>
            <a:picLocks noChangeAspect="1"/>
          </p:cNvPicPr>
          <p:nvPr/>
        </p:nvPicPr>
        <p:blipFill>
          <a:blip r:embed="rId10"/>
          <a:stretch>
            <a:fillRect/>
          </a:stretch>
        </p:blipFill>
        <p:spPr>
          <a:xfrm>
            <a:off x="1028407" y="1499950"/>
            <a:ext cx="10135184" cy="4816836"/>
          </a:xfrm>
          <a:prstGeom prst="rect">
            <a:avLst/>
          </a:prstGeom>
        </p:spPr>
      </p:pic>
      <p:pic>
        <p:nvPicPr>
          <p:cNvPr id="11" name="Site 07" descr="b07.png"/>
          <p:cNvPicPr>
            <a:picLocks noChangeAspect="1"/>
          </p:cNvPicPr>
          <p:nvPr/>
        </p:nvPicPr>
        <p:blipFill>
          <a:blip r:embed="rId11"/>
          <a:stretch>
            <a:fillRect/>
          </a:stretch>
        </p:blipFill>
        <p:spPr>
          <a:xfrm>
            <a:off x="1028407" y="1499950"/>
            <a:ext cx="10135184" cy="4816836"/>
          </a:xfrm>
          <a:prstGeom prst="rect">
            <a:avLst/>
          </a:prstGeom>
        </p:spPr>
      </p:pic>
      <p:pic>
        <p:nvPicPr>
          <p:cNvPr id="12" name="Site 08" descr="b08.png"/>
          <p:cNvPicPr>
            <a:picLocks noChangeAspect="1"/>
          </p:cNvPicPr>
          <p:nvPr/>
        </p:nvPicPr>
        <p:blipFill>
          <a:blip r:embed="rId12"/>
          <a:stretch>
            <a:fillRect/>
          </a:stretch>
        </p:blipFill>
        <p:spPr>
          <a:xfrm>
            <a:off x="1028407" y="1499950"/>
            <a:ext cx="10135184" cy="4816836"/>
          </a:xfrm>
          <a:prstGeom prst="rect">
            <a:avLst/>
          </a:prstGeom>
        </p:spPr>
      </p:pic>
      <p:pic>
        <p:nvPicPr>
          <p:cNvPr id="13" name="Site 09" descr="b09.png"/>
          <p:cNvPicPr>
            <a:picLocks noChangeAspect="1"/>
          </p:cNvPicPr>
          <p:nvPr/>
        </p:nvPicPr>
        <p:blipFill>
          <a:blip r:embed="rId13"/>
          <a:stretch>
            <a:fillRect/>
          </a:stretch>
        </p:blipFill>
        <p:spPr>
          <a:xfrm>
            <a:off x="1028407" y="1499950"/>
            <a:ext cx="10135184" cy="4816836"/>
          </a:xfrm>
          <a:prstGeom prst="rect">
            <a:avLst/>
          </a:prstGeom>
        </p:spPr>
      </p:pic>
      <p:pic>
        <p:nvPicPr>
          <p:cNvPr id="14" name="Site 10" descr="b10.png"/>
          <p:cNvPicPr>
            <a:picLocks noChangeAspect="1"/>
          </p:cNvPicPr>
          <p:nvPr/>
        </p:nvPicPr>
        <p:blipFill>
          <a:blip r:embed="rId14"/>
          <a:stretch>
            <a:fillRect/>
          </a:stretch>
        </p:blipFill>
        <p:spPr>
          <a:xfrm>
            <a:off x="1028407" y="1499950"/>
            <a:ext cx="10135184" cy="4816836"/>
          </a:xfrm>
          <a:prstGeom prst="rect">
            <a:avLst/>
          </a:prstGeom>
        </p:spPr>
      </p:pic>
      <p:pic>
        <p:nvPicPr>
          <p:cNvPr id="15" name="Site 11" descr="b11.png"/>
          <p:cNvPicPr>
            <a:picLocks noChangeAspect="1"/>
          </p:cNvPicPr>
          <p:nvPr/>
        </p:nvPicPr>
        <p:blipFill>
          <a:blip r:embed="rId15"/>
          <a:stretch>
            <a:fillRect/>
          </a:stretch>
        </p:blipFill>
        <p:spPr>
          <a:xfrm>
            <a:off x="1028407" y="1499950"/>
            <a:ext cx="10135184" cy="4816836"/>
          </a:xfrm>
          <a:prstGeom prst="rect">
            <a:avLst/>
          </a:prstGeom>
        </p:spPr>
      </p:pic>
      <p:pic>
        <p:nvPicPr>
          <p:cNvPr id="16" name="Site 12" descr="b12.png"/>
          <p:cNvPicPr>
            <a:picLocks noChangeAspect="1"/>
          </p:cNvPicPr>
          <p:nvPr/>
        </p:nvPicPr>
        <p:blipFill>
          <a:blip r:embed="rId16"/>
          <a:stretch>
            <a:fillRect/>
          </a:stretch>
        </p:blipFill>
        <p:spPr>
          <a:xfrm>
            <a:off x="1028407" y="1499950"/>
            <a:ext cx="10135184" cy="4816836"/>
          </a:xfrm>
          <a:prstGeom prst="rect">
            <a:avLst/>
          </a:prstGeom>
        </p:spPr>
      </p:pic>
      <p:pic>
        <p:nvPicPr>
          <p:cNvPr id="17" name="Site 13" descr="b13.png"/>
          <p:cNvPicPr>
            <a:picLocks noChangeAspect="1"/>
          </p:cNvPicPr>
          <p:nvPr/>
        </p:nvPicPr>
        <p:blipFill>
          <a:blip r:embed="rId17"/>
          <a:stretch>
            <a:fillRect/>
          </a:stretch>
        </p:blipFill>
        <p:spPr>
          <a:xfrm>
            <a:off x="1028407" y="1499950"/>
            <a:ext cx="10135184" cy="4816836"/>
          </a:xfrm>
          <a:prstGeom prst="rect">
            <a:avLst/>
          </a:prstGeom>
        </p:spPr>
      </p:pic>
      <p:pic>
        <p:nvPicPr>
          <p:cNvPr id="18" name="Site 14" descr="b14.png"/>
          <p:cNvPicPr>
            <a:picLocks noChangeAspect="1"/>
          </p:cNvPicPr>
          <p:nvPr/>
        </p:nvPicPr>
        <p:blipFill>
          <a:blip r:embed="rId18"/>
          <a:stretch>
            <a:fillRect/>
          </a:stretch>
        </p:blipFill>
        <p:spPr>
          <a:xfrm>
            <a:off x="1028407" y="1499950"/>
            <a:ext cx="10135184" cy="4816836"/>
          </a:xfrm>
          <a:prstGeom prst="rect">
            <a:avLst/>
          </a:prstGeom>
        </p:spPr>
      </p:pic>
      <p:pic>
        <p:nvPicPr>
          <p:cNvPr id="19" name="Site 15" descr="b15.png"/>
          <p:cNvPicPr>
            <a:picLocks noChangeAspect="1"/>
          </p:cNvPicPr>
          <p:nvPr/>
        </p:nvPicPr>
        <p:blipFill>
          <a:blip r:embed="rId19"/>
          <a:stretch>
            <a:fillRect/>
          </a:stretch>
        </p:blipFill>
        <p:spPr>
          <a:xfrm>
            <a:off x="1028407" y="1499950"/>
            <a:ext cx="10135184" cy="4816836"/>
          </a:xfrm>
          <a:prstGeom prst="rect">
            <a:avLst/>
          </a:prstGeom>
        </p:spPr>
      </p:pic>
    </p:spTree>
    <p:extLst>
      <p:ext uri="{BB962C8B-B14F-4D97-AF65-F5344CB8AC3E}">
        <p14:creationId xmlns:p14="http://schemas.microsoft.com/office/powerpoint/2010/main" val="71311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dur="25600" repeatCount="indefinite"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160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xit" presetSubtype="0" fill="hold" nodeType="withEffect">
                                  <p:stCondLst>
                                    <p:cond delay="1900"/>
                                  </p:stCondLst>
                                  <p:childTnLst>
                                    <p:set>
                                      <p:cBhvr>
                                        <p:cTn id="10" dur="1" fill="hold">
                                          <p:stCondLst>
                                            <p:cond delay="0"/>
                                          </p:stCondLst>
                                        </p:cTn>
                                        <p:tgtEl>
                                          <p:spTgt spid="4"/>
                                        </p:tgtEl>
                                        <p:attrNameLst>
                                          <p:attrName>style.visibility</p:attrName>
                                        </p:attrNameLst>
                                      </p:cBhvr>
                                      <p:to>
                                        <p:strVal val="hidden"/>
                                      </p:to>
                                    </p:set>
                                  </p:childTnLst>
                                </p:cTn>
                              </p:par>
                              <p:par>
                                <p:cTn id="11" presetID="1" presetClass="entr" presetSubtype="0" fill="hold" nodeType="withEffect">
                                  <p:stCondLst>
                                    <p:cond delay="320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nodeType="withEffect">
                                  <p:stCondLst>
                                    <p:cond delay="3500"/>
                                  </p:stCondLst>
                                  <p:childTnLst>
                                    <p:set>
                                      <p:cBhvr>
                                        <p:cTn id="14" dur="1" fill="hold">
                                          <p:stCondLst>
                                            <p:cond delay="0"/>
                                          </p:stCondLst>
                                        </p:cTn>
                                        <p:tgtEl>
                                          <p:spTgt spid="5"/>
                                        </p:tgtEl>
                                        <p:attrNameLst>
                                          <p:attrName>style.visibility</p:attrName>
                                        </p:attrNameLst>
                                      </p:cBhvr>
                                      <p:to>
                                        <p:strVal val="hidden"/>
                                      </p:to>
                                    </p:set>
                                  </p:childTnLst>
                                </p:cTn>
                              </p:par>
                              <p:par>
                                <p:cTn id="15" presetID="1" presetClass="entr" presetSubtype="0" fill="hold" nodeType="withEffect">
                                  <p:stCondLst>
                                    <p:cond delay="480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xit" presetSubtype="0" fill="hold" nodeType="withEffect">
                                  <p:stCondLst>
                                    <p:cond delay="5100"/>
                                  </p:stCondLst>
                                  <p:childTnLst>
                                    <p:set>
                                      <p:cBhvr>
                                        <p:cTn id="18" dur="1" fill="hold">
                                          <p:stCondLst>
                                            <p:cond delay="0"/>
                                          </p:stCondLst>
                                        </p:cTn>
                                        <p:tgtEl>
                                          <p:spTgt spid="6"/>
                                        </p:tgtEl>
                                        <p:attrNameLst>
                                          <p:attrName>style.visibility</p:attrName>
                                        </p:attrNameLst>
                                      </p:cBhvr>
                                      <p:to>
                                        <p:strVal val="hidden"/>
                                      </p:to>
                                    </p:set>
                                  </p:childTnLst>
                                </p:cTn>
                              </p:par>
                              <p:par>
                                <p:cTn id="19" presetID="1" presetClass="entr" presetSubtype="0" fill="hold" nodeType="withEffect">
                                  <p:stCondLst>
                                    <p:cond delay="640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xit" presetSubtype="0" fill="hold" nodeType="withEffect">
                                  <p:stCondLst>
                                    <p:cond delay="670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ntr" presetSubtype="0" fill="hold" nodeType="withEffect">
                                  <p:stCondLst>
                                    <p:cond delay="800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xit" presetSubtype="0" fill="hold" nodeType="withEffect">
                                  <p:stCondLst>
                                    <p:cond delay="8300"/>
                                  </p:stCondLst>
                                  <p:childTnLst>
                                    <p:set>
                                      <p:cBhvr>
                                        <p:cTn id="26" dur="1" fill="hold">
                                          <p:stCondLst>
                                            <p:cond delay="0"/>
                                          </p:stCondLst>
                                        </p:cTn>
                                        <p:tgtEl>
                                          <p:spTgt spid="8"/>
                                        </p:tgtEl>
                                        <p:attrNameLst>
                                          <p:attrName>style.visibility</p:attrName>
                                        </p:attrNameLst>
                                      </p:cBhvr>
                                      <p:to>
                                        <p:strVal val="hidden"/>
                                      </p:to>
                                    </p:set>
                                  </p:childTnLst>
                                </p:cTn>
                              </p:par>
                              <p:par>
                                <p:cTn id="27" presetID="1" presetClass="entr" presetSubtype="0" fill="hold" nodeType="withEffect">
                                  <p:stCondLst>
                                    <p:cond delay="960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xit" presetSubtype="0" fill="hold" nodeType="withEffect">
                                  <p:stCondLst>
                                    <p:cond delay="990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ntr" presetSubtype="0" fill="hold" nodeType="withEffect">
                                  <p:stCondLst>
                                    <p:cond delay="1120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xit" presetSubtype="0" fill="hold" nodeType="withEffect">
                                  <p:stCondLst>
                                    <p:cond delay="1150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ntr" presetSubtype="0" fill="hold" nodeType="withEffect">
                                  <p:stCondLst>
                                    <p:cond delay="1280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xit" presetSubtype="0" fill="hold" nodeType="withEffect">
                                  <p:stCondLst>
                                    <p:cond delay="13100"/>
                                  </p:stCondLst>
                                  <p:childTnLst>
                                    <p:set>
                                      <p:cBhvr>
                                        <p:cTn id="38" dur="1" fill="hold">
                                          <p:stCondLst>
                                            <p:cond delay="0"/>
                                          </p:stCondLst>
                                        </p:cTn>
                                        <p:tgtEl>
                                          <p:spTgt spid="11"/>
                                        </p:tgtEl>
                                        <p:attrNameLst>
                                          <p:attrName>style.visibility</p:attrName>
                                        </p:attrNameLst>
                                      </p:cBhvr>
                                      <p:to>
                                        <p:strVal val="hidden"/>
                                      </p:to>
                                    </p:set>
                                  </p:childTnLst>
                                </p:cTn>
                              </p:par>
                              <p:par>
                                <p:cTn id="39" presetID="1" presetClass="entr" presetSubtype="0" fill="hold" nodeType="withEffect">
                                  <p:stCondLst>
                                    <p:cond delay="1440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xit" presetSubtype="0" fill="hold" nodeType="withEffect">
                                  <p:stCondLst>
                                    <p:cond delay="14700"/>
                                  </p:stCondLst>
                                  <p:childTnLst>
                                    <p:set>
                                      <p:cBhvr>
                                        <p:cTn id="42" dur="1" fill="hold">
                                          <p:stCondLst>
                                            <p:cond delay="0"/>
                                          </p:stCondLst>
                                        </p:cTn>
                                        <p:tgtEl>
                                          <p:spTgt spid="12"/>
                                        </p:tgtEl>
                                        <p:attrNameLst>
                                          <p:attrName>style.visibility</p:attrName>
                                        </p:attrNameLst>
                                      </p:cBhvr>
                                      <p:to>
                                        <p:strVal val="hidden"/>
                                      </p:to>
                                    </p:set>
                                  </p:childTnLst>
                                </p:cTn>
                              </p:par>
                              <p:par>
                                <p:cTn id="43" presetID="1" presetClass="entr" presetSubtype="0" fill="hold" nodeType="withEffect">
                                  <p:stCondLst>
                                    <p:cond delay="1600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xit" presetSubtype="0" fill="hold" nodeType="withEffect">
                                  <p:stCondLst>
                                    <p:cond delay="16300"/>
                                  </p:stCondLst>
                                  <p:childTnLst>
                                    <p:set>
                                      <p:cBhvr>
                                        <p:cTn id="46" dur="1" fill="hold">
                                          <p:stCondLst>
                                            <p:cond delay="0"/>
                                          </p:stCondLst>
                                        </p:cTn>
                                        <p:tgtEl>
                                          <p:spTgt spid="13"/>
                                        </p:tgtEl>
                                        <p:attrNameLst>
                                          <p:attrName>style.visibility</p:attrName>
                                        </p:attrNameLst>
                                      </p:cBhvr>
                                      <p:to>
                                        <p:strVal val="hidden"/>
                                      </p:to>
                                    </p:set>
                                  </p:childTnLst>
                                </p:cTn>
                              </p:par>
                              <p:par>
                                <p:cTn id="47" presetID="1" presetClass="entr" presetSubtype="0" fill="hold" nodeType="withEffect">
                                  <p:stCondLst>
                                    <p:cond delay="1760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xit" presetSubtype="0" fill="hold" nodeType="withEffect">
                                  <p:stCondLst>
                                    <p:cond delay="1790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ntr" presetSubtype="0" fill="hold" nodeType="withEffect">
                                  <p:stCondLst>
                                    <p:cond delay="1920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xit" presetSubtype="0" fill="hold" nodeType="withEffect">
                                  <p:stCondLst>
                                    <p:cond delay="19500"/>
                                  </p:stCondLst>
                                  <p:childTnLst>
                                    <p:set>
                                      <p:cBhvr>
                                        <p:cTn id="54" dur="1" fill="hold">
                                          <p:stCondLst>
                                            <p:cond delay="0"/>
                                          </p:stCondLst>
                                        </p:cTn>
                                        <p:tgtEl>
                                          <p:spTgt spid="15"/>
                                        </p:tgtEl>
                                        <p:attrNameLst>
                                          <p:attrName>style.visibility</p:attrName>
                                        </p:attrNameLst>
                                      </p:cBhvr>
                                      <p:to>
                                        <p:strVal val="hidden"/>
                                      </p:to>
                                    </p:set>
                                  </p:childTnLst>
                                </p:cTn>
                              </p:par>
                              <p:par>
                                <p:cTn id="55" presetID="1" presetClass="entr" presetSubtype="0" fill="hold" nodeType="withEffect">
                                  <p:stCondLst>
                                    <p:cond delay="2080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xit" presetSubtype="0" fill="hold" nodeType="withEffect">
                                  <p:stCondLst>
                                    <p:cond delay="21100"/>
                                  </p:stCondLst>
                                  <p:childTnLst>
                                    <p:set>
                                      <p:cBhvr>
                                        <p:cTn id="58" dur="1" fill="hold">
                                          <p:stCondLst>
                                            <p:cond delay="0"/>
                                          </p:stCondLst>
                                        </p:cTn>
                                        <p:tgtEl>
                                          <p:spTgt spid="16"/>
                                        </p:tgtEl>
                                        <p:attrNameLst>
                                          <p:attrName>style.visibility</p:attrName>
                                        </p:attrNameLst>
                                      </p:cBhvr>
                                      <p:to>
                                        <p:strVal val="hidden"/>
                                      </p:to>
                                    </p:set>
                                  </p:childTnLst>
                                </p:cTn>
                              </p:par>
                              <p:par>
                                <p:cTn id="59" presetID="1" presetClass="entr" presetSubtype="0" fill="hold" nodeType="withEffect">
                                  <p:stCondLst>
                                    <p:cond delay="2240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xit" presetSubtype="0" fill="hold" nodeType="withEffect">
                                  <p:stCondLst>
                                    <p:cond delay="22700"/>
                                  </p:stCondLst>
                                  <p:childTnLst>
                                    <p:set>
                                      <p:cBhvr>
                                        <p:cTn id="62" dur="1" fill="hold">
                                          <p:stCondLst>
                                            <p:cond delay="0"/>
                                          </p:stCondLst>
                                        </p:cTn>
                                        <p:tgtEl>
                                          <p:spTgt spid="17"/>
                                        </p:tgtEl>
                                        <p:attrNameLst>
                                          <p:attrName>style.visibility</p:attrName>
                                        </p:attrNameLst>
                                      </p:cBhvr>
                                      <p:to>
                                        <p:strVal val="hidden"/>
                                      </p:to>
                                    </p:set>
                                  </p:childTnLst>
                                </p:cTn>
                              </p:par>
                              <p:par>
                                <p:cTn id="63" presetID="1" presetClass="entr" presetSubtype="0" fill="hold" nodeType="withEffect">
                                  <p:stCondLst>
                                    <p:cond delay="2400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xit" presetSubtype="0" fill="hold" nodeType="withEffect">
                                  <p:stCondLst>
                                    <p:cond delay="24300"/>
                                  </p:stCondLst>
                                  <p:childTnLst>
                                    <p:set>
                                      <p:cBhvr>
                                        <p:cTn id="66"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AA0F0-3FDE-AC2A-E0BB-3BAE45DD06FF}"/>
              </a:ext>
            </a:extLst>
          </p:cNvPr>
          <p:cNvSpPr>
            <a:spLocks noGrp="1"/>
          </p:cNvSpPr>
          <p:nvPr>
            <p:ph type="title"/>
          </p:nvPr>
        </p:nvSpPr>
        <p:spPr/>
        <p:txBody>
          <a:bodyPr/>
          <a:lstStyle/>
          <a:p>
            <a:r>
              <a:rPr lang="en-US" dirty="0"/>
              <a:t>C++ is not C</a:t>
            </a:r>
          </a:p>
        </p:txBody>
      </p:sp>
      <p:sp>
        <p:nvSpPr>
          <p:cNvPr id="3" name="Text Placeholder 2">
            <a:extLst>
              <a:ext uri="{FF2B5EF4-FFF2-40B4-BE49-F238E27FC236}">
                <a16:creationId xmlns:a16="http://schemas.microsoft.com/office/drawing/2014/main" id="{E7301D35-52D0-3A0A-90B6-57DFCF6E658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899459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748DB-896D-FFFA-D3D4-2B7E3DA871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4CD536-6123-4E80-4418-342B3E08B0FB}"/>
              </a:ext>
            </a:extLst>
          </p:cNvPr>
          <p:cNvSpPr>
            <a:spLocks noGrp="1"/>
          </p:cNvSpPr>
          <p:nvPr>
            <p:ph type="title"/>
          </p:nvPr>
        </p:nvSpPr>
        <p:spPr/>
        <p:txBody>
          <a:bodyPr/>
          <a:lstStyle/>
          <a:p>
            <a:r>
              <a:rPr lang="en-US" dirty="0"/>
              <a:t>C++ is not C</a:t>
            </a:r>
          </a:p>
        </p:txBody>
      </p:sp>
      <p:grpSp>
        <p:nvGrpSpPr>
          <p:cNvPr id="2" name="Group 1">
            <a:extLst>
              <a:ext uri="{FF2B5EF4-FFF2-40B4-BE49-F238E27FC236}">
                <a16:creationId xmlns:a16="http://schemas.microsoft.com/office/drawing/2014/main" id="{E2BC40A4-AB1E-3A93-CF69-F93DFD52A733}"/>
              </a:ext>
            </a:extLst>
          </p:cNvPr>
          <p:cNvGrpSpPr/>
          <p:nvPr/>
        </p:nvGrpSpPr>
        <p:grpSpPr>
          <a:xfrm>
            <a:off x="937260" y="1472380"/>
            <a:ext cx="10728960" cy="5134160"/>
            <a:chOff x="731520" y="1480000"/>
            <a:chExt cx="10728960" cy="5280000"/>
          </a:xfrm>
        </p:grpSpPr>
        <p:sp>
          <p:nvSpPr>
            <p:cNvPr id="50" name="Panel">
              <a:extLst>
                <a:ext uri="{FF2B5EF4-FFF2-40B4-BE49-F238E27FC236}">
                  <a16:creationId xmlns:a16="http://schemas.microsoft.com/office/drawing/2014/main" id="{024B6868-B2E2-47B3-97EC-140385CF7EB6}"/>
                </a:ext>
              </a:extLst>
            </p:cNvPr>
            <p:cNvSpPr/>
            <p:nvPr/>
          </p:nvSpPr>
          <p:spPr>
            <a:xfrm>
              <a:off x="731520" y="1480000"/>
              <a:ext cx="10728960" cy="5280000"/>
            </a:xfrm>
            <a:prstGeom prst="roundRect">
              <a:avLst>
                <a:gd name="adj" fmla="val 4000"/>
              </a:avLst>
            </a:prstGeom>
            <a:solidFill>
              <a:srgbClr val="121826"/>
            </a:solidFill>
            <a:ln>
              <a:noFill/>
            </a:ln>
            <a:effectLst>
              <a:outerShdw blurRad="76200" dist="25400" dir="5400000" algn="t" rotWithShape="0">
                <a:srgbClr val="000000">
                  <a:alpha val="18000"/>
                </a:srgbClr>
              </a:outerShdw>
            </a:effectLst>
          </p:spPr>
          <p:txBody>
            <a:bodyPr wrap="none" lIns="0" tIns="0" rIns="0" bIns="0" rtlCol="0" anchor="t"/>
            <a:lstStyle/>
            <a:p>
              <a:pPr marL="0" indent="0">
                <a:lnSpc>
                  <a:spcPct val="112000"/>
                </a:lnSpc>
                <a:buNone/>
              </a:pPr>
              <a:r>
                <a:rPr lang="en-US" sz="1200" b="0" i="0" dirty="0">
                  <a:solidFill>
                    <a:srgbClr val="121826"/>
                  </a:solidFill>
                  <a:latin typeface="Consolas" pitchFamily="49" charset="0"/>
                  <a:cs typeface="Consolas" pitchFamily="49" charset="0"/>
                </a:rPr>
                <a:t> </a:t>
              </a:r>
            </a:p>
          </p:txBody>
        </p:sp>
        <p:sp>
          <p:nvSpPr>
            <p:cNvPr id="51" name="Code">
              <a:extLst>
                <a:ext uri="{FF2B5EF4-FFF2-40B4-BE49-F238E27FC236}">
                  <a16:creationId xmlns:a16="http://schemas.microsoft.com/office/drawing/2014/main" id="{56751077-0AF3-F749-A6ED-BFCCABA5319C}"/>
                </a:ext>
              </a:extLst>
            </p:cNvPr>
            <p:cNvSpPr txBox="1"/>
            <p:nvPr/>
          </p:nvSpPr>
          <p:spPr>
            <a:xfrm>
              <a:off x="960120" y="1680000"/>
              <a:ext cx="6000000" cy="4880000"/>
            </a:xfrm>
            <a:prstGeom prst="rect">
              <a:avLst/>
            </a:prstGeom>
            <a:noFill/>
          </p:spPr>
          <p:txBody>
            <a:bodyPr wrap="none" lIns="0" tIns="0" rIns="0" bIns="0" rtlCol="0" anchor="t"/>
            <a:lstStyle/>
            <a:p>
              <a:pPr marL="0" indent="0">
                <a:lnSpc>
                  <a:spcPct val="112000"/>
                </a:lnSpc>
                <a:buNone/>
              </a:pPr>
              <a:r>
                <a:rPr lang="en-US" sz="1200" b="0" i="0" dirty="0">
                  <a:solidFill>
                    <a:srgbClr val="FF7B72"/>
                  </a:solidFill>
                  <a:latin typeface="Consolas" pitchFamily="49" charset="0"/>
                  <a:cs typeface="Consolas" pitchFamily="49" charset="0"/>
                </a:rPr>
                <a:t>#include</a:t>
              </a:r>
              <a:r>
                <a:rPr lang="en-US" sz="1200" b="0" i="0" dirty="0">
                  <a:solidFill>
                    <a:srgbClr val="E6EDF3"/>
                  </a:solidFill>
                  <a:latin typeface="Consolas" pitchFamily="49" charset="0"/>
                  <a:cs typeface="Consolas" pitchFamily="49" charset="0"/>
                </a:rPr>
                <a:t> &lt;stdlib.h&gt;</a:t>
              </a:r>
            </a:p>
            <a:p>
              <a:pPr marL="0" indent="0">
                <a:lnSpc>
                  <a:spcPct val="112000"/>
                </a:lnSpc>
                <a:buNone/>
              </a:pPr>
              <a:r>
                <a:rPr lang="en-US" sz="1200" b="0" i="0" dirty="0">
                  <a:solidFill>
                    <a:srgbClr val="121826"/>
                  </a:solidFill>
                  <a:latin typeface="Consolas" pitchFamily="49" charset="0"/>
                  <a:cs typeface="Consolas" pitchFamily="49" charset="0"/>
                </a:rPr>
                <a:t> </a:t>
              </a:r>
            </a:p>
            <a:p>
              <a:pPr marL="0" indent="0">
                <a:lnSpc>
                  <a:spcPct val="112000"/>
                </a:lnSpc>
                <a:buNone/>
              </a:pPr>
              <a:r>
                <a:rPr lang="en-US" sz="1200" b="0" i="0" dirty="0">
                  <a:solidFill>
                    <a:srgbClr val="FF7B72"/>
                  </a:solidFill>
                  <a:latin typeface="Consolas" pitchFamily="49" charset="0"/>
                  <a:cs typeface="Consolas" pitchFamily="49" charset="0"/>
                </a:rPr>
                <a:t>const</a:t>
              </a: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limit = </a:t>
              </a:r>
              <a:r>
                <a:rPr lang="en-US" sz="1200" b="0" i="0" dirty="0">
                  <a:solidFill>
                    <a:srgbClr val="79C0FF"/>
                  </a:solidFill>
                  <a:latin typeface="Consolas" pitchFamily="49" charset="0"/>
                  <a:cs typeface="Consolas" pitchFamily="49" charset="0"/>
                </a:rPr>
                <a:t>10</a:t>
              </a: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121826"/>
                  </a:solidFill>
                  <a:latin typeface="Consolas" pitchFamily="49" charset="0"/>
                  <a:cs typeface="Consolas" pitchFamily="49" charset="0"/>
                </a:rPr>
                <a:t> </a:t>
              </a:r>
            </a:p>
            <a:p>
              <a:pPr marL="0" indent="0">
                <a:lnSpc>
                  <a:spcPct val="112000"/>
                </a:lnSpc>
                <a:buNone/>
              </a:pPr>
              <a:r>
                <a:rPr lang="en-US" sz="1200" b="0" i="0" dirty="0">
                  <a:solidFill>
                    <a:srgbClr val="FF7B72"/>
                  </a:solidFill>
                  <a:latin typeface="Consolas" pitchFamily="49" charset="0"/>
                  <a:cs typeface="Consolas" pitchFamily="49" charset="0"/>
                </a:rPr>
                <a:t>struct</a:t>
              </a:r>
              <a:r>
                <a:rPr lang="en-US" sz="1200" b="0" i="0" dirty="0">
                  <a:solidFill>
                    <a:srgbClr val="E6EDF3"/>
                  </a:solidFill>
                  <a:latin typeface="Consolas" pitchFamily="49" charset="0"/>
                  <a:cs typeface="Consolas" pitchFamily="49" charset="0"/>
                </a:rPr>
                <a:t> point { </a:t>
              </a: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x, y; };</a:t>
              </a:r>
            </a:p>
            <a:p>
              <a:pPr marL="0" indent="0">
                <a:lnSpc>
                  <a:spcPct val="112000"/>
                </a:lnSpc>
                <a:buNone/>
              </a:pPr>
              <a:r>
                <a:rPr lang="en-US" sz="1200" b="0" i="0" dirty="0">
                  <a:solidFill>
                    <a:srgbClr val="FF7B72"/>
                  </a:solidFill>
                  <a:latin typeface="Consolas" pitchFamily="49" charset="0"/>
                  <a:cs typeface="Consolas" pitchFamily="49" charset="0"/>
                </a:rPr>
                <a:t>struct</a:t>
              </a:r>
              <a:r>
                <a:rPr lang="en-US" sz="1200" b="0" i="0" dirty="0">
                  <a:solidFill>
                    <a:srgbClr val="E6EDF3"/>
                  </a:solidFill>
                  <a:latin typeface="Consolas" pitchFamily="49" charset="0"/>
                  <a:cs typeface="Consolas" pitchFamily="49" charset="0"/>
                </a:rPr>
                <a:t> rect  { </a:t>
              </a:r>
              <a:r>
                <a:rPr lang="en-US" sz="1200" b="0" i="0" dirty="0">
                  <a:solidFill>
                    <a:srgbClr val="FF7B72"/>
                  </a:solidFill>
                  <a:latin typeface="Consolas" pitchFamily="49" charset="0"/>
                  <a:cs typeface="Consolas" pitchFamily="49" charset="0"/>
                </a:rPr>
                <a:t>struct</a:t>
              </a:r>
              <a:r>
                <a:rPr lang="en-US" sz="1200" b="0" i="0" dirty="0">
                  <a:solidFill>
                    <a:srgbClr val="E6EDF3"/>
                  </a:solidFill>
                  <a:latin typeface="Consolas" pitchFamily="49" charset="0"/>
                  <a:cs typeface="Consolas" pitchFamily="49" charset="0"/>
                </a:rPr>
                <a:t> point lo, hi; };</a:t>
              </a:r>
            </a:p>
            <a:p>
              <a:pPr marL="0" indent="0">
                <a:lnSpc>
                  <a:spcPct val="112000"/>
                </a:lnSpc>
                <a:buNone/>
              </a:pPr>
              <a:r>
                <a:rPr lang="en-US" sz="1200" b="0" i="0" dirty="0">
                  <a:solidFill>
                    <a:srgbClr val="121826"/>
                  </a:solidFill>
                  <a:latin typeface="Consolas" pitchFamily="49" charset="0"/>
                  <a:cs typeface="Consolas" pitchFamily="49" charset="0"/>
                </a:rPr>
                <a:t> </a:t>
              </a:r>
            </a:p>
            <a:p>
              <a:pPr marL="0" indent="0">
                <a:lnSpc>
                  <a:spcPct val="112000"/>
                </a:lnSpc>
                <a:buNone/>
              </a:pP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main(</a:t>
              </a:r>
              <a:r>
                <a:rPr lang="en-US" sz="1200" b="0" i="0" dirty="0">
                  <a:solidFill>
                    <a:srgbClr val="FF7B72"/>
                  </a:solidFill>
                  <a:latin typeface="Consolas" pitchFamily="49" charset="0"/>
                  <a:cs typeface="Consolas" pitchFamily="49" charset="0"/>
                </a:rPr>
                <a:t>void</a:t>
              </a: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n = limit;</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*p = </a:t>
              </a:r>
              <a:r>
                <a:rPr lang="en-US" sz="1200" b="0" i="0" dirty="0">
                  <a:solidFill>
                    <a:srgbClr val="D2A8FF"/>
                  </a:solidFill>
                  <a:latin typeface="Consolas" pitchFamily="49" charset="0"/>
                  <a:cs typeface="Consolas" pitchFamily="49" charset="0"/>
                </a:rPr>
                <a:t>malloc</a:t>
              </a:r>
              <a:r>
                <a:rPr lang="en-US" sz="1200" b="0" i="0" dirty="0">
                  <a:solidFill>
                    <a:srgbClr val="E6EDF3"/>
                  </a:solidFill>
                  <a:latin typeface="Consolas" pitchFamily="49" charset="0"/>
                  <a:cs typeface="Consolas" pitchFamily="49" charset="0"/>
                </a:rPr>
                <a:t>(n * </a:t>
              </a:r>
              <a:r>
                <a:rPr lang="en-US" sz="1200" b="0" i="0" dirty="0">
                  <a:solidFill>
                    <a:srgbClr val="FF7B72"/>
                  </a:solidFill>
                  <a:latin typeface="Consolas" pitchFamily="49" charset="0"/>
                  <a:cs typeface="Consolas" pitchFamily="49" charset="0"/>
                </a:rPr>
                <a:t>sizeof</a:t>
              </a:r>
              <a:r>
                <a:rPr lang="en-US" sz="1200" b="0" i="0" dirty="0">
                  <a:solidFill>
                    <a:srgbClr val="E6EDF3"/>
                  </a:solidFill>
                  <a:latin typeface="Consolas" pitchFamily="49" charset="0"/>
                  <a:cs typeface="Consolas" pitchFamily="49" charset="0"/>
                </a:rPr>
                <a:t> *p);</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enum</a:t>
              </a:r>
              <a:r>
                <a:rPr lang="en-US" sz="1200" b="0" i="0" dirty="0">
                  <a:solidFill>
                    <a:srgbClr val="E6EDF3"/>
                  </a:solidFill>
                  <a:latin typeface="Consolas" pitchFamily="49" charset="0"/>
                  <a:cs typeface="Consolas" pitchFamily="49" charset="0"/>
                </a:rPr>
                <a:t> color { red, green } c = </a:t>
              </a:r>
              <a:r>
                <a:rPr lang="en-US" sz="1200" b="0" i="0" dirty="0">
                  <a:solidFill>
                    <a:srgbClr val="79C0FF"/>
                  </a:solidFill>
                  <a:latin typeface="Consolas" pitchFamily="49" charset="0"/>
                  <a:cs typeface="Consolas" pitchFamily="49" charset="0"/>
                </a:rPr>
                <a:t>1</a:t>
              </a: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char</a:t>
              </a:r>
              <a:r>
                <a:rPr lang="en-US" sz="1200" b="0" i="0" dirty="0">
                  <a:solidFill>
                    <a:srgbClr val="E6EDF3"/>
                  </a:solidFill>
                  <a:latin typeface="Consolas" pitchFamily="49" charset="0"/>
                  <a:cs typeface="Consolas" pitchFamily="49" charset="0"/>
                </a:rPr>
                <a:t> *s = </a:t>
              </a:r>
              <a:r>
                <a:rPr lang="en-US" sz="1200" b="0" i="0" dirty="0">
                  <a:solidFill>
                    <a:srgbClr val="A5D6FF"/>
                  </a:solidFill>
                  <a:latin typeface="Consolas" pitchFamily="49" charset="0"/>
                  <a:cs typeface="Consolas" pitchFamily="49" charset="0"/>
                </a:rPr>
                <a:t>"text"</a:t>
              </a: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char</a:t>
              </a:r>
              <a:r>
                <a:rPr lang="en-US" sz="1200" b="0" i="0" dirty="0">
                  <a:solidFill>
                    <a:srgbClr val="E6EDF3"/>
                  </a:solidFill>
                  <a:latin typeface="Consolas" pitchFamily="49" charset="0"/>
                  <a:cs typeface="Consolas" pitchFamily="49" charset="0"/>
                </a:rPr>
                <a:t> name[</a:t>
              </a:r>
              <a:r>
                <a:rPr lang="en-US" sz="1200" b="0" i="0" dirty="0">
                  <a:solidFill>
                    <a:srgbClr val="79C0FF"/>
                  </a:solidFill>
                  <a:latin typeface="Consolas" pitchFamily="49" charset="0"/>
                  <a:cs typeface="Consolas" pitchFamily="49" charset="0"/>
                </a:rPr>
                <a:t>4</a:t>
              </a:r>
              <a:r>
                <a:rPr lang="en-US" sz="1200" b="0" i="0" dirty="0">
                  <a:solidFill>
                    <a:srgbClr val="E6EDF3"/>
                  </a:solidFill>
                  <a:latin typeface="Consolas" pitchFamily="49" charset="0"/>
                  <a:cs typeface="Consolas" pitchFamily="49" charset="0"/>
                </a:rPr>
                <a:t>] = </a:t>
              </a:r>
              <a:r>
                <a:rPr lang="en-US" sz="1200" b="0" i="0" dirty="0">
                  <a:solidFill>
                    <a:srgbClr val="A5D6FF"/>
                  </a:solidFill>
                  <a:latin typeface="Consolas" pitchFamily="49" charset="0"/>
                  <a:cs typeface="Consolas" pitchFamily="49" charset="0"/>
                </a:rPr>
                <a:t>"abcd"</a:t>
              </a: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struct</a:t>
              </a:r>
              <a:r>
                <a:rPr lang="en-US" sz="1200" b="0" i="0" dirty="0">
                  <a:solidFill>
                    <a:srgbClr val="E6EDF3"/>
                  </a:solidFill>
                  <a:latin typeface="Consolas" pitchFamily="49" charset="0"/>
                  <a:cs typeface="Consolas" pitchFamily="49" charset="0"/>
                </a:rPr>
                <a:t> point pt = { .y = </a:t>
              </a:r>
              <a:r>
                <a:rPr lang="en-US" sz="1200" b="0" i="0" dirty="0">
                  <a:solidFill>
                    <a:srgbClr val="79C0FF"/>
                  </a:solidFill>
                  <a:latin typeface="Consolas" pitchFamily="49" charset="0"/>
                  <a:cs typeface="Consolas" pitchFamily="49" charset="0"/>
                </a:rPr>
                <a:t>2</a:t>
              </a:r>
              <a:r>
                <a:rPr lang="en-US" sz="1200" b="0" i="0" dirty="0">
                  <a:solidFill>
                    <a:srgbClr val="E6EDF3"/>
                  </a:solidFill>
                  <a:latin typeface="Consolas" pitchFamily="49" charset="0"/>
                  <a:cs typeface="Consolas" pitchFamily="49" charset="0"/>
                </a:rPr>
                <a:t>, .x = </a:t>
              </a:r>
              <a:r>
                <a:rPr lang="en-US" sz="1200" b="0" i="0" dirty="0">
                  <a:solidFill>
                    <a:srgbClr val="79C0FF"/>
                  </a:solidFill>
                  <a:latin typeface="Consolas" pitchFamily="49" charset="0"/>
                  <a:cs typeface="Consolas" pitchFamily="49" charset="0"/>
                </a:rPr>
                <a:t>1</a:t>
              </a:r>
              <a:r>
                <a:rPr lang="en-US" sz="1200" b="0" i="0" dirty="0">
                  <a:solidFill>
                    <a:srgbClr val="E6EDF3"/>
                  </a:solidFill>
                  <a:latin typeface="Consolas" pitchFamily="49" charset="0"/>
                  <a:cs typeface="Consolas" pitchFamily="49" charset="0"/>
                </a:rPr>
                <a:t> };</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struct</a:t>
              </a:r>
              <a:r>
                <a:rPr lang="en-US" sz="1200" b="0" i="0" dirty="0">
                  <a:solidFill>
                    <a:srgbClr val="E6EDF3"/>
                  </a:solidFill>
                  <a:latin typeface="Consolas" pitchFamily="49" charset="0"/>
                  <a:cs typeface="Consolas" pitchFamily="49" charset="0"/>
                </a:rPr>
                <a:t> rect  r  = { .hi.x = </a:t>
              </a:r>
              <a:r>
                <a:rPr lang="en-US" sz="1200" b="0" i="0" dirty="0">
                  <a:solidFill>
                    <a:srgbClr val="79C0FF"/>
                  </a:solidFill>
                  <a:latin typeface="Consolas" pitchFamily="49" charset="0"/>
                  <a:cs typeface="Consolas" pitchFamily="49" charset="0"/>
                </a:rPr>
                <a:t>3</a:t>
              </a:r>
              <a:r>
                <a:rPr lang="en-US" sz="1200" b="0" i="0" dirty="0">
                  <a:solidFill>
                    <a:srgbClr val="E6EDF3"/>
                  </a:solidFill>
                  <a:latin typeface="Consolas" pitchFamily="49" charset="0"/>
                  <a:cs typeface="Consolas" pitchFamily="49" charset="0"/>
                </a:rPr>
                <a:t> };</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a[</a:t>
              </a:r>
              <a:r>
                <a:rPr lang="en-US" sz="1200" b="0" i="0" dirty="0">
                  <a:solidFill>
                    <a:srgbClr val="79C0FF"/>
                  </a:solidFill>
                  <a:latin typeface="Consolas" pitchFamily="49" charset="0"/>
                  <a:cs typeface="Consolas" pitchFamily="49" charset="0"/>
                </a:rPr>
                <a:t>3</a:t>
              </a:r>
              <a:r>
                <a:rPr lang="en-US" sz="1200" b="0" i="0" dirty="0">
                  <a:solidFill>
                    <a:srgbClr val="E6EDF3"/>
                  </a:solidFill>
                  <a:latin typeface="Consolas" pitchFamily="49" charset="0"/>
                  <a:cs typeface="Consolas" pitchFamily="49" charset="0"/>
                </a:rPr>
                <a:t>] = { [</a:t>
              </a:r>
              <a:r>
                <a:rPr lang="en-US" sz="1200" b="0" i="0" dirty="0">
                  <a:solidFill>
                    <a:srgbClr val="79C0FF"/>
                  </a:solidFill>
                  <a:latin typeface="Consolas" pitchFamily="49" charset="0"/>
                  <a:cs typeface="Consolas" pitchFamily="49" charset="0"/>
                </a:rPr>
                <a:t>1</a:t>
              </a:r>
              <a:r>
                <a:rPr lang="en-US" sz="1200" b="0" i="0" dirty="0">
                  <a:solidFill>
                    <a:srgbClr val="E6EDF3"/>
                  </a:solidFill>
                  <a:latin typeface="Consolas" pitchFamily="49" charset="0"/>
                  <a:cs typeface="Consolas" pitchFamily="49" charset="0"/>
                </a:rPr>
                <a:t>] = </a:t>
              </a:r>
              <a:r>
                <a:rPr lang="en-US" sz="1200" b="0" i="0" dirty="0">
                  <a:solidFill>
                    <a:srgbClr val="79C0FF"/>
                  </a:solidFill>
                  <a:latin typeface="Consolas" pitchFamily="49" charset="0"/>
                  <a:cs typeface="Consolas" pitchFamily="49" charset="0"/>
                </a:rPr>
                <a:t>5</a:t>
              </a:r>
              <a:r>
                <a:rPr lang="en-US" sz="1200" b="0" i="0" dirty="0">
                  <a:solidFill>
                    <a:srgbClr val="E6EDF3"/>
                  </a:solidFill>
                  <a:latin typeface="Consolas" pitchFamily="49" charset="0"/>
                  <a:cs typeface="Consolas" pitchFamily="49" charset="0"/>
                </a:rPr>
                <a:t> };</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v[n];</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goto</a:t>
              </a:r>
              <a:r>
                <a:rPr lang="en-US" sz="1200" b="0" i="0" dirty="0">
                  <a:solidFill>
                    <a:srgbClr val="E6EDF3"/>
                  </a:solidFill>
                  <a:latin typeface="Consolas" pitchFamily="49" charset="0"/>
                  <a:cs typeface="Consolas" pitchFamily="49" charset="0"/>
                </a:rPr>
                <a:t> done;</a:t>
              </a: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int</a:t>
              </a:r>
              <a:r>
                <a:rPr lang="en-US" sz="1200" b="0" i="0" dirty="0">
                  <a:solidFill>
                    <a:srgbClr val="E6EDF3"/>
                  </a:solidFill>
                  <a:latin typeface="Consolas" pitchFamily="49" charset="0"/>
                  <a:cs typeface="Consolas" pitchFamily="49" charset="0"/>
                </a:rPr>
                <a:t> later = </a:t>
              </a:r>
              <a:r>
                <a:rPr lang="en-US" sz="1200" b="0" i="0" dirty="0">
                  <a:solidFill>
                    <a:srgbClr val="79C0FF"/>
                  </a:solidFill>
                  <a:latin typeface="Consolas" pitchFamily="49" charset="0"/>
                  <a:cs typeface="Consolas" pitchFamily="49" charset="0"/>
                </a:rPr>
                <a:t>5</a:t>
              </a: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E6EDF3"/>
                  </a:solidFill>
                  <a:latin typeface="Consolas" pitchFamily="49" charset="0"/>
                  <a:cs typeface="Consolas" pitchFamily="49" charset="0"/>
                </a:rPr>
                <a:t>done:</a:t>
              </a:r>
            </a:p>
            <a:p>
              <a:pPr>
                <a:lnSpc>
                  <a:spcPct val="112000"/>
                </a:lnSpc>
              </a:pPr>
              <a:r>
                <a:rPr lang="en-US" sz="1200" dirty="0">
                  <a:solidFill>
                    <a:srgbClr val="D2A8FF"/>
                  </a:solidFill>
                  <a:latin typeface="Consolas" pitchFamily="49" charset="0"/>
                  <a:cs typeface="Consolas" pitchFamily="49" charset="0"/>
                </a:rPr>
                <a:t>    free</a:t>
              </a:r>
              <a:r>
                <a:rPr lang="en-US" sz="1200" dirty="0">
                  <a:solidFill>
                    <a:srgbClr val="E6EDF3"/>
                  </a:solidFill>
                  <a:latin typeface="Consolas" pitchFamily="49" charset="0"/>
                  <a:cs typeface="Consolas" pitchFamily="49" charset="0"/>
                </a:rPr>
                <a:t>(p);</a:t>
              </a:r>
              <a:endParaRPr lang="en-US" sz="1200" b="0" i="0" dirty="0">
                <a:solidFill>
                  <a:srgbClr val="E6EDF3"/>
                </a:solidFill>
                <a:latin typeface="Consolas" pitchFamily="49" charset="0"/>
                <a:cs typeface="Consolas" pitchFamily="49" charset="0"/>
              </a:endParaRPr>
            </a:p>
            <a:p>
              <a:pPr marL="0" indent="0">
                <a:lnSpc>
                  <a:spcPct val="112000"/>
                </a:lnSpc>
                <a:buNone/>
              </a:pP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return</a:t>
              </a:r>
              <a:r>
                <a:rPr lang="en-US" sz="1200" b="0" i="0" dirty="0">
                  <a:solidFill>
                    <a:srgbClr val="E6EDF3"/>
                  </a:solidFill>
                  <a:latin typeface="Consolas" pitchFamily="49" charset="0"/>
                  <a:cs typeface="Consolas" pitchFamily="49" charset="0"/>
                </a:rPr>
                <a:t> </a:t>
              </a:r>
              <a:r>
                <a:rPr lang="en-US" sz="1200" b="0" i="0" dirty="0">
                  <a:solidFill>
                    <a:srgbClr val="FF7B72"/>
                  </a:solidFill>
                  <a:latin typeface="Consolas" pitchFamily="49" charset="0"/>
                  <a:cs typeface="Consolas" pitchFamily="49" charset="0"/>
                </a:rPr>
                <a:t>sizeof</a:t>
              </a:r>
              <a:r>
                <a:rPr lang="en-US" sz="1200" b="0" i="0" dirty="0">
                  <a:solidFill>
                    <a:srgbClr val="E6EDF3"/>
                  </a:solidFill>
                  <a:latin typeface="Consolas" pitchFamily="49" charset="0"/>
                  <a:cs typeface="Consolas" pitchFamily="49" charset="0"/>
                </a:rPr>
                <a:t>(</a:t>
              </a:r>
              <a:r>
                <a:rPr lang="en-US" sz="1200" b="0" i="0" dirty="0">
                  <a:solidFill>
                    <a:srgbClr val="A5D6FF"/>
                  </a:solidFill>
                  <a:latin typeface="Consolas" pitchFamily="49" charset="0"/>
                  <a:cs typeface="Consolas" pitchFamily="49" charset="0"/>
                </a:rPr>
                <a:t>'a'</a:t>
              </a:r>
              <a:r>
                <a:rPr lang="en-US" sz="1200" b="0" i="0" dirty="0">
                  <a:solidFill>
                    <a:srgbClr val="E6EDF3"/>
                  </a:solidFill>
                  <a:latin typeface="Consolas" pitchFamily="49" charset="0"/>
                  <a:cs typeface="Consolas" pitchFamily="49" charset="0"/>
                </a:rPr>
                <a:t>);</a:t>
              </a:r>
            </a:p>
            <a:p>
              <a:pPr marL="0" indent="0">
                <a:lnSpc>
                  <a:spcPct val="112000"/>
                </a:lnSpc>
                <a:buNone/>
              </a:pPr>
              <a:r>
                <a:rPr lang="en-US" sz="1200" b="0" i="0" dirty="0">
                  <a:solidFill>
                    <a:srgbClr val="E6EDF3"/>
                  </a:solidFill>
                  <a:latin typeface="Consolas" pitchFamily="49" charset="0"/>
                  <a:cs typeface="Consolas" pitchFamily="49" charset="0"/>
                </a:rPr>
                <a:t>}</a:t>
              </a:r>
            </a:p>
          </p:txBody>
        </p:sp>
        <p:sp>
          <p:nvSpPr>
            <p:cNvPr id="52" name="Notes">
              <a:extLst>
                <a:ext uri="{FF2B5EF4-FFF2-40B4-BE49-F238E27FC236}">
                  <a16:creationId xmlns:a16="http://schemas.microsoft.com/office/drawing/2014/main" id="{B515CEAF-62A3-58C0-FE82-9BB780225FAB}"/>
                </a:ext>
              </a:extLst>
            </p:cNvPr>
            <p:cNvSpPr txBox="1"/>
            <p:nvPr/>
          </p:nvSpPr>
          <p:spPr>
            <a:xfrm>
              <a:off x="4646460" y="1680000"/>
              <a:ext cx="4596600" cy="4880000"/>
            </a:xfrm>
            <a:prstGeom prst="rect">
              <a:avLst/>
            </a:prstGeom>
            <a:noFill/>
          </p:spPr>
          <p:txBody>
            <a:bodyPr wrap="none" lIns="0" tIns="0" rIns="0" bIns="0" rtlCol="0" anchor="t"/>
            <a:lstStyle/>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1" dirty="0">
                  <a:solidFill>
                    <a:srgbClr val="E3B341"/>
                  </a:solidFill>
                  <a:latin typeface="Consolas" pitchFamily="49" charset="0"/>
                  <a:cs typeface="Consolas" pitchFamily="49" charset="0"/>
                </a:rPr>
                <a:t>C: external linkage, C++: internal</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1" dirty="0">
                  <a:solidFill>
                    <a:srgbClr val="FF7B72"/>
                  </a:solidFill>
                  <a:latin typeface="Consolas" pitchFamily="49" charset="0"/>
                  <a:cs typeface="Consolas" pitchFamily="49" charset="0"/>
                </a:rPr>
                <a:t>error: void* does not convert to int*</a:t>
              </a:r>
            </a:p>
            <a:p>
              <a:pPr marL="0" indent="0">
                <a:lnSpc>
                  <a:spcPct val="112000"/>
                </a:lnSpc>
                <a:buNone/>
              </a:pPr>
              <a:r>
                <a:rPr lang="en-US" sz="1200" b="1" i="1" dirty="0">
                  <a:solidFill>
                    <a:srgbClr val="FF7B72"/>
                  </a:solidFill>
                  <a:latin typeface="Consolas" pitchFamily="49" charset="0"/>
                  <a:cs typeface="Consolas" pitchFamily="49" charset="0"/>
                </a:rPr>
                <a:t>error: int does not convert to enum</a:t>
              </a:r>
            </a:p>
            <a:p>
              <a:pPr marL="0" indent="0">
                <a:lnSpc>
                  <a:spcPct val="112000"/>
                </a:lnSpc>
                <a:buNone/>
              </a:pPr>
              <a:r>
                <a:rPr lang="en-US" sz="1200" b="1" i="1" dirty="0">
                  <a:solidFill>
                    <a:srgbClr val="FF7B72"/>
                  </a:solidFill>
                  <a:latin typeface="Consolas" pitchFamily="49" charset="0"/>
                  <a:cs typeface="Consolas" pitchFamily="49" charset="0"/>
                </a:rPr>
                <a:t>error: string literals are const</a:t>
              </a:r>
            </a:p>
            <a:p>
              <a:pPr marL="0" indent="0">
                <a:lnSpc>
                  <a:spcPct val="112000"/>
                </a:lnSpc>
                <a:buNone/>
              </a:pPr>
              <a:r>
                <a:rPr lang="en-US" sz="1200" b="1" i="1" dirty="0">
                  <a:solidFill>
                    <a:srgbClr val="FF7B72"/>
                  </a:solidFill>
                  <a:latin typeface="Consolas" pitchFamily="49" charset="0"/>
                  <a:cs typeface="Consolas" pitchFamily="49" charset="0"/>
                </a:rPr>
                <a:t>error: C might omit ‘\0’</a:t>
              </a:r>
            </a:p>
            <a:p>
              <a:pPr marL="0" indent="0">
                <a:lnSpc>
                  <a:spcPct val="112000"/>
                </a:lnSpc>
                <a:buNone/>
              </a:pPr>
              <a:r>
                <a:rPr lang="en-US" sz="1200" b="1" i="1" dirty="0">
                  <a:solidFill>
                    <a:srgbClr val="FF7B72"/>
                  </a:solidFill>
                  <a:latin typeface="Consolas" pitchFamily="49" charset="0"/>
                  <a:cs typeface="Consolas" pitchFamily="49" charset="0"/>
                </a:rPr>
                <a:t>error: designators out of order</a:t>
              </a:r>
            </a:p>
            <a:p>
              <a:pPr marL="0" indent="0">
                <a:lnSpc>
                  <a:spcPct val="112000"/>
                </a:lnSpc>
                <a:buNone/>
              </a:pPr>
              <a:r>
                <a:rPr lang="en-US" sz="1200" b="1" i="1" dirty="0">
                  <a:solidFill>
                    <a:srgbClr val="FF7B72"/>
                  </a:solidFill>
                  <a:latin typeface="Consolas" pitchFamily="49" charset="0"/>
                  <a:cs typeface="Consolas" pitchFamily="49" charset="0"/>
                </a:rPr>
                <a:t>error: nested designator</a:t>
              </a:r>
            </a:p>
            <a:p>
              <a:pPr marL="0" indent="0">
                <a:lnSpc>
                  <a:spcPct val="112000"/>
                </a:lnSpc>
                <a:buNone/>
              </a:pPr>
              <a:r>
                <a:rPr lang="en-US" sz="1200" b="1" i="1" dirty="0">
                  <a:solidFill>
                    <a:srgbClr val="FF7B72"/>
                  </a:solidFill>
                  <a:latin typeface="Consolas" pitchFamily="49" charset="0"/>
                  <a:cs typeface="Consolas" pitchFamily="49" charset="0"/>
                </a:rPr>
                <a:t>error: array designator</a:t>
              </a:r>
            </a:p>
            <a:p>
              <a:pPr marL="0" indent="0">
                <a:lnSpc>
                  <a:spcPct val="112000"/>
                </a:lnSpc>
                <a:buNone/>
              </a:pPr>
              <a:r>
                <a:rPr lang="en-US" sz="1200" b="1" i="1" dirty="0">
                  <a:solidFill>
                    <a:srgbClr val="FF7B72"/>
                  </a:solidFill>
                  <a:latin typeface="Consolas" pitchFamily="49" charset="0"/>
                  <a:cs typeface="Consolas" pitchFamily="49" charset="0"/>
                </a:rPr>
                <a:t>error: no variable-length arrays</a:t>
              </a:r>
            </a:p>
            <a:p>
              <a:pPr marL="0" indent="0">
                <a:lnSpc>
                  <a:spcPct val="112000"/>
                </a:lnSpc>
                <a:buNone/>
              </a:pPr>
              <a:r>
                <a:rPr lang="en-US" sz="1200" b="1" i="1" dirty="0">
                  <a:solidFill>
                    <a:srgbClr val="FF7B72"/>
                  </a:solidFill>
                  <a:latin typeface="Consolas" pitchFamily="49" charset="0"/>
                  <a:cs typeface="Consolas" pitchFamily="49" charset="0"/>
                </a:rPr>
                <a:t>error: jump bypasses an initialization</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r>
                <a:rPr lang="en-US" sz="1200" b="1" i="0" dirty="0">
                  <a:solidFill>
                    <a:srgbClr val="121826"/>
                  </a:solidFill>
                  <a:latin typeface="Consolas" pitchFamily="49" charset="0"/>
                  <a:cs typeface="Consolas" pitchFamily="49" charset="0"/>
                </a:rPr>
                <a:t> </a:t>
              </a:r>
            </a:p>
            <a:p>
              <a:pPr marL="0" indent="0">
                <a:lnSpc>
                  <a:spcPct val="112000"/>
                </a:lnSpc>
                <a:buNone/>
              </a:pPr>
              <a:endParaRPr lang="en-US" sz="1200" b="1" i="1" dirty="0">
                <a:solidFill>
                  <a:srgbClr val="E3B341"/>
                </a:solidFill>
                <a:latin typeface="Consolas" pitchFamily="49" charset="0"/>
                <a:cs typeface="Consolas" pitchFamily="49" charset="0"/>
              </a:endParaRPr>
            </a:p>
            <a:p>
              <a:pPr marL="0" indent="0">
                <a:lnSpc>
                  <a:spcPct val="112000"/>
                </a:lnSpc>
                <a:buNone/>
              </a:pPr>
              <a:r>
                <a:rPr lang="en-US" sz="1200" b="1" i="1" dirty="0">
                  <a:solidFill>
                    <a:srgbClr val="E3B341"/>
                  </a:solidFill>
                  <a:latin typeface="Consolas" pitchFamily="49" charset="0"/>
                  <a:cs typeface="Consolas" pitchFamily="49" charset="0"/>
                </a:rPr>
                <a:t>C: returns sizeof(int) typically 4, C++: returns 1</a:t>
              </a:r>
            </a:p>
            <a:p>
              <a:pPr marL="0" indent="0">
                <a:lnSpc>
                  <a:spcPct val="112000"/>
                </a:lnSpc>
                <a:buNone/>
              </a:pPr>
              <a:r>
                <a:rPr lang="en-US" sz="1200" b="1" i="0" dirty="0">
                  <a:solidFill>
                    <a:srgbClr val="121826"/>
                  </a:solidFill>
                  <a:latin typeface="Consolas" pitchFamily="49" charset="0"/>
                  <a:cs typeface="Consolas" pitchFamily="49" charset="0"/>
                </a:rPr>
                <a:t> </a:t>
              </a:r>
            </a:p>
          </p:txBody>
        </p:sp>
      </p:grpSp>
    </p:spTree>
    <p:extLst>
      <p:ext uri="{BB962C8B-B14F-4D97-AF65-F5344CB8AC3E}">
        <p14:creationId xmlns:p14="http://schemas.microsoft.com/office/powerpoint/2010/main" val="1011288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rPr dirty="0"/>
              <a:t>C++ is not C</a:t>
            </a:r>
          </a:p>
        </p:txBody>
      </p:sp>
      <p:sp>
        <p:nvSpPr>
          <p:cNvPr id="3" name="TextBox 2"/>
          <p:cNvSpPr txBox="1"/>
          <p:nvPr/>
        </p:nvSpPr>
        <p:spPr>
          <a:xfrm>
            <a:off x="990600" y="893320"/>
            <a:ext cx="10515600" cy="200000"/>
          </a:xfrm>
          <a:prstGeom prst="rect">
            <a:avLst/>
          </a:prstGeom>
          <a:noFill/>
        </p:spPr>
        <p:txBody>
          <a:bodyPr wrap="square" lIns="0" tIns="0" rIns="0" bIns="0" anchor="t">
            <a:spAutoFit/>
          </a:bodyPr>
          <a:lstStyle/>
          <a:p>
            <a:pPr algn="r">
              <a:lnSpc>
                <a:spcPct val="105000"/>
              </a:lnSpc>
            </a:pPr>
            <a:r>
              <a:rPr sz="1100" b="0" dirty="0">
                <a:solidFill>
                  <a:srgbClr val="8C8C8C"/>
                </a:solidFill>
                <a:latin typeface="Aptos"/>
              </a:rPr>
              <a:t>C23 against the C++26 working draft</a:t>
            </a:r>
          </a:p>
        </p:txBody>
      </p:sp>
      <p:sp>
        <p:nvSpPr>
          <p:cNvPr id="4" name="Rounded Rectangle 3"/>
          <p:cNvSpPr/>
          <p:nvPr/>
        </p:nvSpPr>
        <p:spPr>
          <a:xfrm>
            <a:off x="838200" y="1452550"/>
            <a:ext cx="10755600" cy="840640"/>
          </a:xfrm>
          <a:prstGeom prst="roundRect">
            <a:avLst>
              <a:gd name="adj" fmla="val 6000"/>
            </a:avLst>
          </a:prstGeom>
          <a:solidFill>
            <a:srgbClr val="EE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8200" y="1492550"/>
            <a:ext cx="1300000" cy="382925"/>
          </a:xfrm>
          <a:prstGeom prst="rect">
            <a:avLst/>
          </a:prstGeom>
          <a:noFill/>
        </p:spPr>
        <p:txBody>
          <a:bodyPr wrap="square" lIns="0" tIns="0" rIns="0" bIns="0" anchor="t">
            <a:spAutoFit/>
          </a:bodyPr>
          <a:lstStyle/>
          <a:p>
            <a:pPr algn="l">
              <a:lnSpc>
                <a:spcPct val="105000"/>
              </a:lnSpc>
            </a:pPr>
            <a:r>
              <a:rPr sz="1400" b="1" dirty="0">
                <a:solidFill>
                  <a:srgbClr val="2E7D32"/>
                </a:solidFill>
                <a:latin typeface="Aptos"/>
              </a:rPr>
              <a:t>C core</a:t>
            </a:r>
          </a:p>
          <a:p>
            <a:pPr algn="l">
              <a:lnSpc>
                <a:spcPct val="105000"/>
              </a:lnSpc>
            </a:pPr>
            <a:r>
              <a:rPr sz="1000" b="0" dirty="0">
                <a:solidFill>
                  <a:srgbClr val="2E7D32"/>
                </a:solidFill>
                <a:latin typeface="Aptos"/>
              </a:rPr>
              <a:t>shared facilities</a:t>
            </a:r>
          </a:p>
        </p:txBody>
      </p:sp>
      <p:sp>
        <p:nvSpPr>
          <p:cNvPr id="6" name="Rounded Rectangle 5"/>
          <p:cNvSpPr/>
          <p:nvPr/>
        </p:nvSpPr>
        <p:spPr>
          <a:xfrm>
            <a:off x="2358200" y="1492550"/>
            <a:ext cx="1568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Types and Functions</a:t>
            </a:r>
          </a:p>
        </p:txBody>
      </p:sp>
      <p:sp>
        <p:nvSpPr>
          <p:cNvPr id="7" name="TextBox 6"/>
          <p:cNvSpPr txBox="1"/>
          <p:nvPr/>
        </p:nvSpPr>
        <p:spPr>
          <a:xfrm>
            <a:off x="2358200" y="1722550"/>
            <a:ext cx="2137448" cy="550640"/>
          </a:xfrm>
          <a:prstGeom prst="rect">
            <a:avLst/>
          </a:prstGeom>
          <a:noFill/>
        </p:spPr>
        <p:txBody>
          <a:bodyPr wrap="square" lIns="0" tIns="0" rIns="0" bIns="0" anchor="t">
            <a:spAutoFit/>
          </a:bodyPr>
          <a:lstStyle/>
          <a:p>
            <a:pPr algn="l">
              <a:lnSpc>
                <a:spcPct val="105000"/>
              </a:lnSpc>
            </a:pPr>
            <a:r>
              <a:rPr sz="900" b="1">
                <a:solidFill>
                  <a:srgbClr val="1F4D24"/>
                </a:solidFill>
                <a:latin typeface="Aptos"/>
              </a:rPr>
              <a:t>functions</a:t>
            </a:r>
            <a:r>
              <a:rPr sz="900" b="0">
                <a:solidFill>
                  <a:srgbClr val="1F4D24"/>
                </a:solidFill>
                <a:latin typeface="Aptos"/>
              </a:rPr>
              <a:t>, prototypes, </a:t>
            </a:r>
            <a:r>
              <a:rPr sz="900" b="1">
                <a:solidFill>
                  <a:srgbClr val="1F4D24"/>
                </a:solidFill>
                <a:latin typeface="Aptos"/>
              </a:rPr>
              <a:t>pointers</a:t>
            </a:r>
            <a:r>
              <a:rPr sz="900" b="0">
                <a:solidFill>
                  <a:srgbClr val="1F4D24"/>
                </a:solidFill>
                <a:latin typeface="Aptos"/>
              </a:rPr>
              <a:t>, void*, </a:t>
            </a:r>
            <a:r>
              <a:rPr sz="900" b="1">
                <a:solidFill>
                  <a:srgbClr val="1F4D24"/>
                </a:solidFill>
                <a:latin typeface="Aptos"/>
              </a:rPr>
              <a:t>arrays</a:t>
            </a:r>
            <a:r>
              <a:rPr sz="900" b="0">
                <a:solidFill>
                  <a:srgbClr val="1F4D24"/>
                </a:solidFill>
                <a:latin typeface="Aptos"/>
              </a:rPr>
              <a:t>, </a:t>
            </a:r>
            <a:r>
              <a:rPr sz="900" b="1">
                <a:solidFill>
                  <a:srgbClr val="1F4D24"/>
                </a:solidFill>
                <a:latin typeface="Aptos"/>
              </a:rPr>
              <a:t>structs</a:t>
            </a:r>
            <a:r>
              <a:rPr sz="900" b="0">
                <a:solidFill>
                  <a:srgbClr val="1F4D24"/>
                </a:solidFill>
                <a:latin typeface="Aptos"/>
              </a:rPr>
              <a:t>, unions, enum, typedef, long long, stdint.h, inttypes.h, bool, __func__</a:t>
            </a:r>
          </a:p>
        </p:txBody>
      </p:sp>
      <p:sp>
        <p:nvSpPr>
          <p:cNvPr id="8" name="Rounded Rectangle 7"/>
          <p:cNvSpPr/>
          <p:nvPr/>
        </p:nvSpPr>
        <p:spPr>
          <a:xfrm>
            <a:off x="4595648" y="1492550"/>
            <a:ext cx="1568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Storage and Control</a:t>
            </a:r>
          </a:p>
        </p:txBody>
      </p:sp>
      <p:sp>
        <p:nvSpPr>
          <p:cNvPr id="9" name="TextBox 8"/>
          <p:cNvSpPr txBox="1"/>
          <p:nvPr/>
        </p:nvSpPr>
        <p:spPr>
          <a:xfrm>
            <a:off x="4595648" y="1722550"/>
            <a:ext cx="1568000" cy="550640"/>
          </a:xfrm>
          <a:prstGeom prst="rect">
            <a:avLst/>
          </a:prstGeom>
          <a:noFill/>
        </p:spPr>
        <p:txBody>
          <a:bodyPr wrap="square" lIns="0" tIns="0" rIns="0" bIns="0" anchor="t">
            <a:spAutoFit/>
          </a:bodyPr>
          <a:lstStyle/>
          <a:p>
            <a:pPr algn="l">
              <a:lnSpc>
                <a:spcPct val="105000"/>
              </a:lnSpc>
            </a:pPr>
            <a:r>
              <a:rPr sz="900" b="0">
                <a:solidFill>
                  <a:srgbClr val="1F4D24"/>
                </a:solidFill>
                <a:latin typeface="Aptos"/>
              </a:rPr>
              <a:t>static, extern, thread_local, const, volatile, operators, switch, goto</a:t>
            </a:r>
          </a:p>
        </p:txBody>
      </p:sp>
      <p:sp>
        <p:nvSpPr>
          <p:cNvPr id="10" name="Rounded Rectangle 9"/>
          <p:cNvSpPr/>
          <p:nvPr/>
        </p:nvSpPr>
        <p:spPr>
          <a:xfrm>
            <a:off x="6263648" y="1492550"/>
            <a:ext cx="848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C Library</a:t>
            </a:r>
          </a:p>
        </p:txBody>
      </p:sp>
      <p:sp>
        <p:nvSpPr>
          <p:cNvPr id="11" name="TextBox 10"/>
          <p:cNvSpPr txBox="1"/>
          <p:nvPr/>
        </p:nvSpPr>
        <p:spPr>
          <a:xfrm>
            <a:off x="6263648" y="1722550"/>
            <a:ext cx="1051733" cy="413480"/>
          </a:xfrm>
          <a:prstGeom prst="rect">
            <a:avLst/>
          </a:prstGeom>
          <a:noFill/>
        </p:spPr>
        <p:txBody>
          <a:bodyPr wrap="square" lIns="0" tIns="0" rIns="0" bIns="0" anchor="t">
            <a:spAutoFit/>
          </a:bodyPr>
          <a:lstStyle/>
          <a:p>
            <a:pPr algn="l">
              <a:lnSpc>
                <a:spcPct val="105000"/>
              </a:lnSpc>
            </a:pPr>
            <a:r>
              <a:rPr sz="900" b="1">
                <a:solidFill>
                  <a:srgbClr val="1F4D24"/>
                </a:solidFill>
                <a:latin typeface="Aptos"/>
              </a:rPr>
              <a:t>malloc, free</a:t>
            </a:r>
            <a:r>
              <a:rPr sz="900" b="0">
                <a:solidFill>
                  <a:srgbClr val="1F4D24"/>
                </a:solidFill>
                <a:latin typeface="Aptos"/>
              </a:rPr>
              <a:t>, </a:t>
            </a:r>
            <a:r>
              <a:rPr sz="900" b="1">
                <a:solidFill>
                  <a:srgbClr val="1F4D24"/>
                </a:solidFill>
                <a:latin typeface="Aptos"/>
              </a:rPr>
              <a:t>printf</a:t>
            </a:r>
            <a:r>
              <a:rPr sz="900" b="0">
                <a:solidFill>
                  <a:srgbClr val="1F4D24"/>
                </a:solidFill>
                <a:latin typeface="Aptos"/>
              </a:rPr>
              <a:t>, scanf, string </a:t>
            </a:r>
            <a:r>
              <a:rPr sz="900" b="1">
                <a:solidFill>
                  <a:srgbClr val="1F4D24"/>
                </a:solidFill>
                <a:latin typeface="Aptos"/>
              </a:rPr>
              <a:t>functions</a:t>
            </a:r>
          </a:p>
        </p:txBody>
      </p:sp>
      <p:sp>
        <p:nvSpPr>
          <p:cNvPr id="12" name="Rounded Rectangle 11"/>
          <p:cNvSpPr/>
          <p:nvPr/>
        </p:nvSpPr>
        <p:spPr>
          <a:xfrm>
            <a:off x="7415381" y="1492550"/>
            <a:ext cx="1136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Preprocessing</a:t>
            </a:r>
          </a:p>
        </p:txBody>
      </p:sp>
      <p:sp>
        <p:nvSpPr>
          <p:cNvPr id="13" name="TextBox 12"/>
          <p:cNvSpPr txBox="1"/>
          <p:nvPr/>
        </p:nvSpPr>
        <p:spPr>
          <a:xfrm>
            <a:off x="7415381" y="1722550"/>
            <a:ext cx="1506791" cy="550640"/>
          </a:xfrm>
          <a:prstGeom prst="rect">
            <a:avLst/>
          </a:prstGeom>
          <a:noFill/>
        </p:spPr>
        <p:txBody>
          <a:bodyPr wrap="square" lIns="0" tIns="0" rIns="0" bIns="0" anchor="t">
            <a:spAutoFit/>
          </a:bodyPr>
          <a:lstStyle/>
          <a:p>
            <a:pPr algn="l">
              <a:lnSpc>
                <a:spcPct val="105000"/>
              </a:lnSpc>
            </a:pPr>
            <a:r>
              <a:rPr sz="900" b="1">
                <a:solidFill>
                  <a:srgbClr val="1F4D24"/>
                </a:solidFill>
                <a:latin typeface="Aptos"/>
              </a:rPr>
              <a:t>preprocessor</a:t>
            </a:r>
            <a:r>
              <a:rPr sz="900" b="0">
                <a:solidFill>
                  <a:srgbClr val="1F4D24"/>
                </a:solidFill>
                <a:latin typeface="Aptos"/>
              </a:rPr>
              <a:t>, digraphs, variadic macros, #elifdef, #warning, __VA_OPT__, #embed</a:t>
            </a:r>
          </a:p>
        </p:txBody>
      </p:sp>
      <p:sp>
        <p:nvSpPr>
          <p:cNvPr id="14" name="Rounded Rectangle 13"/>
          <p:cNvSpPr/>
          <p:nvPr/>
        </p:nvSpPr>
        <p:spPr>
          <a:xfrm>
            <a:off x="9022172" y="1492550"/>
            <a:ext cx="1280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Later Additions</a:t>
            </a:r>
          </a:p>
        </p:txBody>
      </p:sp>
      <p:sp>
        <p:nvSpPr>
          <p:cNvPr id="15" name="TextBox 14"/>
          <p:cNvSpPr txBox="1"/>
          <p:nvPr/>
        </p:nvSpPr>
        <p:spPr>
          <a:xfrm>
            <a:off x="9022172" y="1722550"/>
            <a:ext cx="2351630" cy="550640"/>
          </a:xfrm>
          <a:prstGeom prst="rect">
            <a:avLst/>
          </a:prstGeom>
          <a:noFill/>
        </p:spPr>
        <p:txBody>
          <a:bodyPr wrap="square" lIns="0" tIns="0" rIns="0" bIns="0" anchor="t">
            <a:spAutoFit/>
          </a:bodyPr>
          <a:lstStyle/>
          <a:p>
            <a:pPr algn="l">
              <a:lnSpc>
                <a:spcPct val="105000"/>
              </a:lnSpc>
            </a:pPr>
            <a:r>
              <a:rPr sz="900" b="0">
                <a:solidFill>
                  <a:srgbClr val="1F4D24"/>
                </a:solidFill>
                <a:latin typeface="Aptos"/>
              </a:rPr>
              <a:t>hex floats, static_assert, enum : T, binary literals, digit separators, empty {} initializer; converged in C23: nullptr, constexpr objects, auto</a:t>
            </a:r>
          </a:p>
        </p:txBody>
      </p:sp>
      <p:sp>
        <p:nvSpPr>
          <p:cNvPr id="16" name="Rounded Rectangle 15"/>
          <p:cNvSpPr/>
          <p:nvPr/>
        </p:nvSpPr>
        <p:spPr>
          <a:xfrm>
            <a:off x="838200" y="2333190"/>
            <a:ext cx="10755600" cy="620000"/>
          </a:xfrm>
          <a:prstGeom prst="roundRect">
            <a:avLst>
              <a:gd name="adj" fmla="val 6000"/>
            </a:avLst>
          </a:prstGeom>
          <a:solidFill>
            <a:srgbClr val="FA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8200" y="2373190"/>
            <a:ext cx="1300000" cy="382925"/>
          </a:xfrm>
          <a:prstGeom prst="rect">
            <a:avLst/>
          </a:prstGeom>
          <a:noFill/>
        </p:spPr>
        <p:txBody>
          <a:bodyPr wrap="square" lIns="0" tIns="0" rIns="0" bIns="0" anchor="t">
            <a:spAutoFit/>
          </a:bodyPr>
          <a:lstStyle/>
          <a:p>
            <a:pPr algn="l">
              <a:lnSpc>
                <a:spcPct val="105000"/>
              </a:lnSpc>
            </a:pPr>
            <a:r>
              <a:rPr sz="1400" b="1" dirty="0">
                <a:solidFill>
                  <a:srgbClr val="B3261E"/>
                </a:solidFill>
                <a:latin typeface="Aptos"/>
              </a:rPr>
              <a:t>C not adopted</a:t>
            </a:r>
          </a:p>
          <a:p>
            <a:pPr algn="l">
              <a:lnSpc>
                <a:spcPct val="105000"/>
              </a:lnSpc>
            </a:pPr>
            <a:r>
              <a:rPr sz="1000" b="0" dirty="0">
                <a:solidFill>
                  <a:srgbClr val="B3261E"/>
                </a:solidFill>
                <a:latin typeface="Aptos"/>
              </a:rPr>
              <a:t>not in C++</a:t>
            </a:r>
          </a:p>
        </p:txBody>
      </p:sp>
      <p:sp>
        <p:nvSpPr>
          <p:cNvPr id="18" name="Rounded Rectangle 17"/>
          <p:cNvSpPr/>
          <p:nvPr/>
        </p:nvSpPr>
        <p:spPr>
          <a:xfrm>
            <a:off x="2358200" y="2373190"/>
            <a:ext cx="1568000" cy="200000"/>
          </a:xfrm>
          <a:prstGeom prst="roundRect">
            <a:avLst>
              <a:gd name="adj" fmla="val 50000"/>
            </a:avLst>
          </a:prstGeom>
          <a:solidFill>
            <a:srgbClr val="F2D3C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B3261E"/>
                </a:solidFill>
                <a:latin typeface="Aptos"/>
              </a:rPr>
              <a:t>Arrays and Aliasing</a:t>
            </a:r>
          </a:p>
        </p:txBody>
      </p:sp>
      <p:sp>
        <p:nvSpPr>
          <p:cNvPr id="19" name="TextBox 18"/>
          <p:cNvSpPr txBox="1"/>
          <p:nvPr/>
        </p:nvSpPr>
        <p:spPr>
          <a:xfrm>
            <a:off x="2358200" y="2603190"/>
            <a:ext cx="2796260" cy="276320"/>
          </a:xfrm>
          <a:prstGeom prst="rect">
            <a:avLst/>
          </a:prstGeom>
          <a:noFill/>
        </p:spPr>
        <p:txBody>
          <a:bodyPr wrap="square" lIns="0" tIns="0" rIns="0" bIns="0" anchor="t">
            <a:spAutoFit/>
          </a:bodyPr>
          <a:lstStyle/>
          <a:p>
            <a:pPr algn="l">
              <a:lnSpc>
                <a:spcPct val="105000"/>
              </a:lnSpc>
            </a:pPr>
            <a:r>
              <a:rPr sz="900" b="1">
                <a:solidFill>
                  <a:srgbClr val="7A1C15"/>
                </a:solidFill>
                <a:latin typeface="Aptos"/>
              </a:rPr>
              <a:t>VLAs</a:t>
            </a:r>
            <a:r>
              <a:rPr sz="900" b="0">
                <a:solidFill>
                  <a:srgbClr val="7A1C15"/>
                </a:solidFill>
                <a:latin typeface="Aptos"/>
              </a:rPr>
              <a:t>, </a:t>
            </a:r>
            <a:r>
              <a:rPr sz="900" b="1">
                <a:solidFill>
                  <a:srgbClr val="7A1C15"/>
                </a:solidFill>
                <a:latin typeface="Aptos"/>
              </a:rPr>
              <a:t>flexible array members</a:t>
            </a:r>
            <a:r>
              <a:rPr sz="900" b="0">
                <a:solidFill>
                  <a:srgbClr val="7A1C15"/>
                </a:solidFill>
                <a:latin typeface="Aptos"/>
              </a:rPr>
              <a:t>, int a[static n]; </a:t>
            </a:r>
            <a:r>
              <a:rPr sz="900" b="1">
                <a:solidFill>
                  <a:srgbClr val="7A1C15"/>
                </a:solidFill>
                <a:latin typeface="Aptos"/>
              </a:rPr>
              <a:t>restrict</a:t>
            </a:r>
          </a:p>
        </p:txBody>
      </p:sp>
      <p:sp>
        <p:nvSpPr>
          <p:cNvPr id="20" name="Rounded Rectangle 19"/>
          <p:cNvSpPr/>
          <p:nvPr/>
        </p:nvSpPr>
        <p:spPr>
          <a:xfrm>
            <a:off x="5254460" y="2373190"/>
            <a:ext cx="1136000" cy="200000"/>
          </a:xfrm>
          <a:prstGeom prst="roundRect">
            <a:avLst>
              <a:gd name="adj" fmla="val 50000"/>
            </a:avLst>
          </a:prstGeom>
          <a:solidFill>
            <a:srgbClr val="F2D3C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B3261E"/>
                </a:solidFill>
                <a:latin typeface="Aptos"/>
              </a:rPr>
              <a:t>Type Features</a:t>
            </a:r>
          </a:p>
        </p:txBody>
      </p:sp>
      <p:sp>
        <p:nvSpPr>
          <p:cNvPr id="21" name="TextBox 20"/>
          <p:cNvSpPr txBox="1"/>
          <p:nvPr/>
        </p:nvSpPr>
        <p:spPr>
          <a:xfrm>
            <a:off x="5254460" y="2603190"/>
            <a:ext cx="3253565" cy="276320"/>
          </a:xfrm>
          <a:prstGeom prst="rect">
            <a:avLst/>
          </a:prstGeom>
          <a:noFill/>
        </p:spPr>
        <p:txBody>
          <a:bodyPr wrap="square" lIns="0" tIns="0" rIns="0" bIns="0" anchor="t">
            <a:spAutoFit/>
          </a:bodyPr>
          <a:lstStyle/>
          <a:p>
            <a:pPr algn="l">
              <a:lnSpc>
                <a:spcPct val="105000"/>
              </a:lnSpc>
            </a:pPr>
            <a:r>
              <a:rPr sz="900" b="1">
                <a:solidFill>
                  <a:srgbClr val="7A1C15"/>
                </a:solidFill>
                <a:latin typeface="Aptos"/>
              </a:rPr>
              <a:t>_Generic</a:t>
            </a:r>
            <a:r>
              <a:rPr sz="900" b="0">
                <a:solidFill>
                  <a:srgbClr val="7A1C15"/>
                </a:solidFill>
                <a:latin typeface="Aptos"/>
              </a:rPr>
              <a:t>, typeof, _Complex, _Imaginary, _BitInt, the _Atomic qualifier</a:t>
            </a:r>
          </a:p>
        </p:txBody>
      </p:sp>
      <p:sp>
        <p:nvSpPr>
          <p:cNvPr id="22" name="Rounded Rectangle 21"/>
          <p:cNvSpPr/>
          <p:nvPr/>
        </p:nvSpPr>
        <p:spPr>
          <a:xfrm>
            <a:off x="8608025" y="2373190"/>
            <a:ext cx="1064000" cy="200000"/>
          </a:xfrm>
          <a:prstGeom prst="roundRect">
            <a:avLst>
              <a:gd name="adj" fmla="val 50000"/>
            </a:avLst>
          </a:prstGeom>
          <a:solidFill>
            <a:srgbClr val="F2D3C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B3261E"/>
                </a:solidFill>
                <a:latin typeface="Aptos"/>
              </a:rPr>
              <a:t>Syntax Forms</a:t>
            </a:r>
          </a:p>
        </p:txBody>
      </p:sp>
      <p:sp>
        <p:nvSpPr>
          <p:cNvPr id="23" name="TextBox 22"/>
          <p:cNvSpPr txBox="1"/>
          <p:nvPr/>
        </p:nvSpPr>
        <p:spPr>
          <a:xfrm>
            <a:off x="8608025" y="2603190"/>
            <a:ext cx="2765773" cy="276320"/>
          </a:xfrm>
          <a:prstGeom prst="rect">
            <a:avLst/>
          </a:prstGeom>
          <a:noFill/>
        </p:spPr>
        <p:txBody>
          <a:bodyPr wrap="square" lIns="0" tIns="0" rIns="0" bIns="0" anchor="t">
            <a:spAutoFit/>
          </a:bodyPr>
          <a:lstStyle/>
          <a:p>
            <a:pPr algn="l">
              <a:lnSpc>
                <a:spcPct val="105000"/>
              </a:lnSpc>
            </a:pPr>
            <a:r>
              <a:rPr sz="900" b="1">
                <a:solidFill>
                  <a:srgbClr val="7A1C15"/>
                </a:solidFill>
                <a:latin typeface="Aptos"/>
              </a:rPr>
              <a:t>compound literals</a:t>
            </a:r>
            <a:r>
              <a:rPr sz="900" b="0">
                <a:solidFill>
                  <a:srgbClr val="7A1C15"/>
                </a:solidFill>
                <a:latin typeface="Aptos"/>
              </a:rPr>
              <a:t>, anonymous struct members, _Noreturn</a:t>
            </a:r>
          </a:p>
        </p:txBody>
      </p:sp>
      <p:sp>
        <p:nvSpPr>
          <p:cNvPr id="24" name="Rounded Rectangle 23"/>
          <p:cNvSpPr/>
          <p:nvPr/>
        </p:nvSpPr>
        <p:spPr>
          <a:xfrm>
            <a:off x="838200" y="2993190"/>
            <a:ext cx="10755600" cy="1114960"/>
          </a:xfrm>
          <a:prstGeom prst="roundRect">
            <a:avLst>
              <a:gd name="adj" fmla="val 6000"/>
            </a:avLst>
          </a:prstGeom>
          <a:solidFill>
            <a:srgbClr val="FA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58200" y="3033190"/>
            <a:ext cx="1300000" cy="544508"/>
          </a:xfrm>
          <a:prstGeom prst="rect">
            <a:avLst/>
          </a:prstGeom>
          <a:noFill/>
        </p:spPr>
        <p:txBody>
          <a:bodyPr wrap="square" lIns="0" tIns="0" rIns="0" bIns="0" anchor="t">
            <a:spAutoFit/>
          </a:bodyPr>
          <a:lstStyle/>
          <a:p>
            <a:pPr algn="l">
              <a:lnSpc>
                <a:spcPct val="105000"/>
              </a:lnSpc>
            </a:pPr>
            <a:r>
              <a:rPr sz="1400" b="1" dirty="0">
                <a:solidFill>
                  <a:srgbClr val="8A6D1F"/>
                </a:solidFill>
                <a:latin typeface="Aptos"/>
              </a:rPr>
              <a:t>C++ modified</a:t>
            </a:r>
          </a:p>
          <a:p>
            <a:pPr algn="l">
              <a:lnSpc>
                <a:spcPct val="105000"/>
              </a:lnSpc>
            </a:pPr>
            <a:r>
              <a:rPr sz="1000" b="0" dirty="0">
                <a:solidFill>
                  <a:srgbClr val="8A6D1F"/>
                </a:solidFill>
                <a:latin typeface="Aptos"/>
              </a:rPr>
              <a:t>same spelling, different rules</a:t>
            </a:r>
          </a:p>
        </p:txBody>
      </p:sp>
      <p:sp>
        <p:nvSpPr>
          <p:cNvPr id="26" name="Rounded Rectangle 25"/>
          <p:cNvSpPr/>
          <p:nvPr/>
        </p:nvSpPr>
        <p:spPr>
          <a:xfrm>
            <a:off x="2358200" y="3033190"/>
            <a:ext cx="7760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8A6D1F"/>
                </a:solidFill>
                <a:latin typeface="Aptos"/>
              </a:rPr>
              <a:t>Literals</a:t>
            </a:r>
          </a:p>
        </p:txBody>
      </p:sp>
      <p:sp>
        <p:nvSpPr>
          <p:cNvPr id="27" name="TextBox 26"/>
          <p:cNvSpPr txBox="1"/>
          <p:nvPr/>
        </p:nvSpPr>
        <p:spPr>
          <a:xfrm>
            <a:off x="2358200" y="3263190"/>
            <a:ext cx="895734" cy="687800"/>
          </a:xfrm>
          <a:prstGeom prst="rect">
            <a:avLst/>
          </a:prstGeom>
          <a:noFill/>
        </p:spPr>
        <p:txBody>
          <a:bodyPr wrap="square" lIns="0" tIns="0" rIns="0" bIns="0" anchor="t">
            <a:spAutoFit/>
          </a:bodyPr>
          <a:lstStyle/>
          <a:p>
            <a:pPr algn="l">
              <a:lnSpc>
                <a:spcPct val="105000"/>
              </a:lnSpc>
            </a:pPr>
            <a:r>
              <a:rPr sz="900" b="1" dirty="0">
                <a:solidFill>
                  <a:srgbClr val="5C4712"/>
                </a:solidFill>
                <a:latin typeface="Aptos"/>
              </a:rPr>
              <a:t>'a' is char</a:t>
            </a:r>
            <a:r>
              <a:rPr sz="900" b="0" dirty="0">
                <a:solidFill>
                  <a:srgbClr val="5C4712"/>
                </a:solidFill>
                <a:latin typeface="Aptos"/>
              </a:rPr>
              <a:t>; </a:t>
            </a:r>
            <a:r>
              <a:rPr sz="900" b="1" dirty="0">
                <a:solidFill>
                  <a:srgbClr val="5C4712"/>
                </a:solidFill>
                <a:latin typeface="Aptos"/>
              </a:rPr>
              <a:t>string literals are const</a:t>
            </a:r>
            <a:r>
              <a:rPr sz="900" b="0" dirty="0">
                <a:solidFill>
                  <a:srgbClr val="5C4712"/>
                </a:solidFill>
                <a:latin typeface="Aptos"/>
              </a:rPr>
              <a:t>; u8, char16_t, char32_t</a:t>
            </a:r>
          </a:p>
        </p:txBody>
      </p:sp>
      <p:sp>
        <p:nvSpPr>
          <p:cNvPr id="28" name="Rounded Rectangle 27"/>
          <p:cNvSpPr/>
          <p:nvPr/>
        </p:nvSpPr>
        <p:spPr>
          <a:xfrm>
            <a:off x="3353934" y="3033190"/>
            <a:ext cx="19580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13" b="1">
                <a:solidFill>
                  <a:srgbClr val="8A6D1F"/>
                </a:solidFill>
                <a:latin typeface="Aptos"/>
              </a:rPr>
              <a:t>Expressions and Conversions</a:t>
            </a:r>
          </a:p>
        </p:txBody>
      </p:sp>
      <p:sp>
        <p:nvSpPr>
          <p:cNvPr id="29" name="TextBox 28"/>
          <p:cNvSpPr txBox="1"/>
          <p:nvPr/>
        </p:nvSpPr>
        <p:spPr>
          <a:xfrm>
            <a:off x="3353934" y="3263190"/>
            <a:ext cx="1928000" cy="687800"/>
          </a:xfrm>
          <a:prstGeom prst="rect">
            <a:avLst/>
          </a:prstGeom>
          <a:noFill/>
        </p:spPr>
        <p:txBody>
          <a:bodyPr wrap="square" lIns="0" tIns="0" rIns="0" bIns="0" anchor="t">
            <a:spAutoFit/>
          </a:bodyPr>
          <a:lstStyle/>
          <a:p>
            <a:pPr algn="l">
              <a:lnSpc>
                <a:spcPct val="105000"/>
              </a:lnSpc>
            </a:pPr>
            <a:r>
              <a:rPr sz="900" b="1" dirty="0">
                <a:solidFill>
                  <a:srgbClr val="5C4712"/>
                </a:solidFill>
                <a:latin typeface="Aptos"/>
              </a:rPr>
              <a:t>void* to int*</a:t>
            </a:r>
            <a:r>
              <a:rPr sz="900" b="0" dirty="0">
                <a:solidFill>
                  <a:srgbClr val="5C4712"/>
                </a:solidFill>
                <a:latin typeface="Aptos"/>
              </a:rPr>
              <a:t>; </a:t>
            </a:r>
            <a:r>
              <a:rPr sz="900" b="1" dirty="0">
                <a:solidFill>
                  <a:srgbClr val="5C4712"/>
                </a:solidFill>
                <a:latin typeface="Aptos"/>
              </a:rPr>
              <a:t>int to </a:t>
            </a:r>
            <a:r>
              <a:rPr sz="900" b="1" dirty="0" err="1">
                <a:solidFill>
                  <a:srgbClr val="5C4712"/>
                </a:solidFill>
                <a:latin typeface="Aptos"/>
              </a:rPr>
              <a:t>enum</a:t>
            </a:r>
            <a:r>
              <a:rPr sz="900" b="0" dirty="0">
                <a:solidFill>
                  <a:srgbClr val="5C4712"/>
                </a:solidFill>
                <a:latin typeface="Aptos"/>
              </a:rPr>
              <a:t>; value categories of =, ?: and comma; bool comparisons; &amp;*p on null; built-in array comparison; </a:t>
            </a:r>
            <a:r>
              <a:rPr sz="900" b="1" dirty="0">
                <a:solidFill>
                  <a:srgbClr val="5C4712"/>
                </a:solidFill>
                <a:latin typeface="Aptos"/>
              </a:rPr>
              <a:t>narrowing in braces</a:t>
            </a:r>
            <a:r>
              <a:rPr sz="900" b="0" dirty="0">
                <a:solidFill>
                  <a:srgbClr val="5C4712"/>
                </a:solidFill>
                <a:latin typeface="Aptos"/>
              </a:rPr>
              <a:t>; </a:t>
            </a:r>
            <a:r>
              <a:rPr sz="900" b="1" dirty="0">
                <a:solidFill>
                  <a:srgbClr val="5C4712"/>
                </a:solidFill>
                <a:latin typeface="Aptos"/>
              </a:rPr>
              <a:t>evaluation order</a:t>
            </a:r>
          </a:p>
        </p:txBody>
      </p:sp>
      <p:sp>
        <p:nvSpPr>
          <p:cNvPr id="30" name="Rounded Rectangle 29"/>
          <p:cNvSpPr/>
          <p:nvPr/>
        </p:nvSpPr>
        <p:spPr>
          <a:xfrm>
            <a:off x="5381934" y="3033190"/>
            <a:ext cx="1814965"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41" b="1">
                <a:solidFill>
                  <a:srgbClr val="8A6D1F"/>
                </a:solidFill>
                <a:latin typeface="Aptos"/>
              </a:rPr>
              <a:t>Declarations and Linkage</a:t>
            </a:r>
          </a:p>
        </p:txBody>
      </p:sp>
      <p:sp>
        <p:nvSpPr>
          <p:cNvPr id="31" name="TextBox 30"/>
          <p:cNvSpPr txBox="1"/>
          <p:nvPr/>
        </p:nvSpPr>
        <p:spPr>
          <a:xfrm>
            <a:off x="5381934" y="3263190"/>
            <a:ext cx="1784965" cy="687800"/>
          </a:xfrm>
          <a:prstGeom prst="rect">
            <a:avLst/>
          </a:prstGeom>
          <a:noFill/>
        </p:spPr>
        <p:txBody>
          <a:bodyPr wrap="square" lIns="0" tIns="0" rIns="0" bIns="0" anchor="t">
            <a:spAutoFit/>
          </a:bodyPr>
          <a:lstStyle/>
          <a:p>
            <a:pPr algn="l">
              <a:lnSpc>
                <a:spcPct val="105000"/>
              </a:lnSpc>
            </a:pPr>
            <a:r>
              <a:rPr sz="900" b="1" dirty="0">
                <a:solidFill>
                  <a:srgbClr val="5C4712"/>
                </a:solidFill>
                <a:latin typeface="Aptos"/>
              </a:rPr>
              <a:t>const linkage</a:t>
            </a:r>
            <a:r>
              <a:rPr sz="900" b="0" dirty="0">
                <a:solidFill>
                  <a:srgbClr val="5C4712"/>
                </a:solidFill>
                <a:latin typeface="Aptos"/>
              </a:rPr>
              <a:t>; const needs an initializer; inline; int f() before C23; main not callable; tentative definitions; types in casts, sizeof, parameters; </a:t>
            </a:r>
            <a:r>
              <a:rPr sz="900" b="1" dirty="0">
                <a:solidFill>
                  <a:srgbClr val="5C4712"/>
                </a:solidFill>
                <a:latin typeface="Aptos"/>
              </a:rPr>
              <a:t>ODR</a:t>
            </a:r>
          </a:p>
        </p:txBody>
      </p:sp>
      <p:sp>
        <p:nvSpPr>
          <p:cNvPr id="32" name="Rounded Rectangle 31"/>
          <p:cNvSpPr/>
          <p:nvPr/>
        </p:nvSpPr>
        <p:spPr>
          <a:xfrm>
            <a:off x="7266899" y="3033190"/>
            <a:ext cx="20499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6" b="1">
                <a:solidFill>
                  <a:srgbClr val="8A6D1F"/>
                </a:solidFill>
                <a:latin typeface="Aptos"/>
              </a:rPr>
              <a:t>Initialization and Lifetime</a:t>
            </a:r>
          </a:p>
        </p:txBody>
      </p:sp>
      <p:sp>
        <p:nvSpPr>
          <p:cNvPr id="33" name="TextBox 32"/>
          <p:cNvSpPr txBox="1"/>
          <p:nvPr/>
        </p:nvSpPr>
        <p:spPr>
          <a:xfrm>
            <a:off x="7266899" y="3263190"/>
            <a:ext cx="2019900" cy="824960"/>
          </a:xfrm>
          <a:prstGeom prst="rect">
            <a:avLst/>
          </a:prstGeom>
          <a:noFill/>
        </p:spPr>
        <p:txBody>
          <a:bodyPr wrap="square" lIns="0" tIns="0" rIns="0" bIns="0" anchor="t">
            <a:spAutoFit/>
          </a:bodyPr>
          <a:lstStyle/>
          <a:p>
            <a:pPr algn="l">
              <a:lnSpc>
                <a:spcPct val="105000"/>
              </a:lnSpc>
            </a:pPr>
            <a:r>
              <a:rPr sz="900" b="0" dirty="0">
                <a:solidFill>
                  <a:srgbClr val="5C4712"/>
                </a:solidFill>
                <a:latin typeface="Aptos"/>
              </a:rPr>
              <a:t>designator order and nesting; </a:t>
            </a:r>
            <a:r>
              <a:rPr sz="900" b="1" dirty="0">
                <a:solidFill>
                  <a:srgbClr val="5C4712"/>
                </a:solidFill>
                <a:latin typeface="Aptos"/>
              </a:rPr>
              <a:t>char[4]="</a:t>
            </a:r>
            <a:r>
              <a:rPr sz="900" b="1" dirty="0" err="1">
                <a:solidFill>
                  <a:srgbClr val="5C4712"/>
                </a:solidFill>
                <a:latin typeface="Aptos"/>
              </a:rPr>
              <a:t>abcd</a:t>
            </a:r>
            <a:r>
              <a:rPr sz="900" b="1" dirty="0">
                <a:solidFill>
                  <a:srgbClr val="5C4712"/>
                </a:solidFill>
                <a:latin typeface="Aptos"/>
              </a:rPr>
              <a:t>"</a:t>
            </a:r>
            <a:r>
              <a:rPr sz="900" b="0" dirty="0">
                <a:solidFill>
                  <a:srgbClr val="5C4712"/>
                </a:solidFill>
                <a:latin typeface="Aptos"/>
              </a:rPr>
              <a:t>; empty struct; non-constant static init; </a:t>
            </a:r>
            <a:r>
              <a:rPr sz="900" b="1" dirty="0" err="1">
                <a:solidFill>
                  <a:srgbClr val="5C4712"/>
                </a:solidFill>
                <a:latin typeface="Aptos"/>
              </a:rPr>
              <a:t>goto</a:t>
            </a:r>
            <a:r>
              <a:rPr sz="900" b="1" dirty="0">
                <a:solidFill>
                  <a:srgbClr val="5C4712"/>
                </a:solidFill>
                <a:latin typeface="Aptos"/>
              </a:rPr>
              <a:t> past an initialized local</a:t>
            </a:r>
            <a:r>
              <a:rPr sz="900" b="0" dirty="0">
                <a:solidFill>
                  <a:srgbClr val="5C4712"/>
                </a:solidFill>
                <a:latin typeface="Aptos"/>
              </a:rPr>
              <a:t>; falling off a function; </a:t>
            </a:r>
            <a:r>
              <a:rPr sz="900" b="1" dirty="0">
                <a:solidFill>
                  <a:srgbClr val="5C4712"/>
                </a:solidFill>
                <a:latin typeface="Aptos"/>
              </a:rPr>
              <a:t>object lifetime and aliasing model</a:t>
            </a:r>
          </a:p>
        </p:txBody>
      </p:sp>
      <p:sp>
        <p:nvSpPr>
          <p:cNvPr id="34" name="Rounded Rectangle 33"/>
          <p:cNvSpPr/>
          <p:nvPr/>
        </p:nvSpPr>
        <p:spPr>
          <a:xfrm>
            <a:off x="9386799" y="3033190"/>
            <a:ext cx="14240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8A6D1F"/>
                </a:solidFill>
                <a:latin typeface="Aptos"/>
              </a:rPr>
              <a:t>Objects and Scope</a:t>
            </a:r>
          </a:p>
        </p:txBody>
      </p:sp>
      <p:sp>
        <p:nvSpPr>
          <p:cNvPr id="35" name="TextBox 34"/>
          <p:cNvSpPr txBox="1"/>
          <p:nvPr/>
        </p:nvSpPr>
        <p:spPr>
          <a:xfrm>
            <a:off x="9386799" y="3263190"/>
            <a:ext cx="1987004" cy="824960"/>
          </a:xfrm>
          <a:prstGeom prst="rect">
            <a:avLst/>
          </a:prstGeom>
          <a:noFill/>
        </p:spPr>
        <p:txBody>
          <a:bodyPr wrap="square" lIns="0" tIns="0" rIns="0" bIns="0" anchor="t">
            <a:spAutoFit/>
          </a:bodyPr>
          <a:lstStyle/>
          <a:p>
            <a:pPr algn="l">
              <a:lnSpc>
                <a:spcPct val="105000"/>
              </a:lnSpc>
            </a:pPr>
            <a:r>
              <a:rPr sz="900" b="0">
                <a:solidFill>
                  <a:srgbClr val="5C4712"/>
                </a:solidFill>
                <a:latin typeface="Aptos"/>
              </a:rPr>
              <a:t>typedef vs tag names; alignas placement; atomics, threads; struct scope; tag hiding; bit-field signedness; volatile struct copies; union punning; attributes; NULL; </a:t>
            </a:r>
            <a:r>
              <a:rPr sz="900" b="1">
                <a:solidFill>
                  <a:srgbClr val="5C4712"/>
                </a:solidFill>
                <a:latin typeface="Aptos"/>
              </a:rPr>
              <a:t>realloc(p,0)</a:t>
            </a:r>
          </a:p>
        </p:txBody>
      </p:sp>
      <p:sp>
        <p:nvSpPr>
          <p:cNvPr id="36" name="Rounded Rectangle 35"/>
          <p:cNvSpPr/>
          <p:nvPr/>
        </p:nvSpPr>
        <p:spPr>
          <a:xfrm>
            <a:off x="838200" y="4148150"/>
            <a:ext cx="10755600" cy="18007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58200" y="4188150"/>
            <a:ext cx="1300000" cy="544508"/>
          </a:xfrm>
          <a:prstGeom prst="rect">
            <a:avLst/>
          </a:prstGeom>
          <a:noFill/>
        </p:spPr>
        <p:txBody>
          <a:bodyPr wrap="square" lIns="0" tIns="0" rIns="0" bIns="0" anchor="t">
            <a:spAutoFit/>
          </a:bodyPr>
          <a:lstStyle/>
          <a:p>
            <a:pPr algn="l">
              <a:lnSpc>
                <a:spcPct val="105000"/>
              </a:lnSpc>
            </a:pPr>
            <a:r>
              <a:rPr sz="1400" b="1" dirty="0">
                <a:solidFill>
                  <a:srgbClr val="2E5E8C"/>
                </a:solidFill>
                <a:latin typeface="Aptos"/>
              </a:rPr>
              <a:t>C++ added</a:t>
            </a:r>
          </a:p>
          <a:p>
            <a:pPr algn="l">
              <a:lnSpc>
                <a:spcPct val="105000"/>
              </a:lnSpc>
            </a:pPr>
            <a:r>
              <a:rPr sz="1000" b="0" dirty="0">
                <a:solidFill>
                  <a:srgbClr val="2E5E8C"/>
                </a:solidFill>
                <a:latin typeface="Aptos"/>
              </a:rPr>
              <a:t>more mechanisms, libraries</a:t>
            </a:r>
          </a:p>
        </p:txBody>
      </p:sp>
      <p:sp>
        <p:nvSpPr>
          <p:cNvPr id="38" name="Rounded Rectangle 37"/>
          <p:cNvSpPr/>
          <p:nvPr/>
        </p:nvSpPr>
        <p:spPr>
          <a:xfrm>
            <a:off x="2358200" y="4188150"/>
            <a:ext cx="1064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Object Model</a:t>
            </a:r>
          </a:p>
        </p:txBody>
      </p:sp>
      <p:sp>
        <p:nvSpPr>
          <p:cNvPr id="39" name="TextBox 38"/>
          <p:cNvSpPr txBox="1"/>
          <p:nvPr/>
        </p:nvSpPr>
        <p:spPr>
          <a:xfrm>
            <a:off x="2358200" y="4418150"/>
            <a:ext cx="1193615" cy="1236440"/>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classes and RAII</a:t>
            </a:r>
            <a:r>
              <a:rPr sz="900" b="0">
                <a:solidFill>
                  <a:srgbClr val="1C3E63"/>
                </a:solidFill>
                <a:latin typeface="Aptos"/>
              </a:rPr>
              <a:t>, single and multiple inheritance, virtual </a:t>
            </a:r>
            <a:r>
              <a:rPr sz="900" b="1">
                <a:solidFill>
                  <a:srgbClr val="1C3E63"/>
                </a:solidFill>
                <a:latin typeface="Aptos"/>
              </a:rPr>
              <a:t>functions</a:t>
            </a:r>
            <a:r>
              <a:rPr sz="900" b="0">
                <a:solidFill>
                  <a:srgbClr val="1C3E63"/>
                </a:solidFill>
                <a:latin typeface="Aptos"/>
              </a:rPr>
              <a:t>, </a:t>
            </a:r>
            <a:r>
              <a:rPr sz="900" b="1">
                <a:solidFill>
                  <a:srgbClr val="1C3E63"/>
                </a:solidFill>
                <a:latin typeface="Aptos"/>
              </a:rPr>
              <a:t>references</a:t>
            </a:r>
            <a:r>
              <a:rPr sz="900" b="0">
                <a:solidFill>
                  <a:srgbClr val="1C3E63"/>
                </a:solidFill>
                <a:latin typeface="Aptos"/>
              </a:rPr>
              <a:t>, new and delete, overloading, default arguments, named casts, RTTI, </a:t>
            </a:r>
            <a:r>
              <a:rPr sz="900" b="1">
                <a:solidFill>
                  <a:srgbClr val="1C3E63"/>
                </a:solidFill>
                <a:latin typeface="Aptos"/>
              </a:rPr>
              <a:t>move semantics</a:t>
            </a:r>
          </a:p>
        </p:txBody>
      </p:sp>
      <p:sp>
        <p:nvSpPr>
          <p:cNvPr id="40" name="Rounded Rectangle 39"/>
          <p:cNvSpPr/>
          <p:nvPr/>
        </p:nvSpPr>
        <p:spPr>
          <a:xfrm>
            <a:off x="3651815" y="4188150"/>
            <a:ext cx="1742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3" b="1">
                <a:solidFill>
                  <a:srgbClr val="2E5E8C"/>
                </a:solidFill>
                <a:latin typeface="Aptos"/>
              </a:rPr>
              <a:t>Generic and Compile-time</a:t>
            </a:r>
          </a:p>
        </p:txBody>
      </p:sp>
      <p:sp>
        <p:nvSpPr>
          <p:cNvPr id="41" name="TextBox 40"/>
          <p:cNvSpPr txBox="1"/>
          <p:nvPr/>
        </p:nvSpPr>
        <p:spPr>
          <a:xfrm>
            <a:off x="3651815" y="4418150"/>
            <a:ext cx="1712000" cy="962119"/>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templates</a:t>
            </a:r>
            <a:r>
              <a:rPr sz="900" b="0">
                <a:solidFill>
                  <a:srgbClr val="1C3E63"/>
                </a:solidFill>
                <a:latin typeface="Aptos"/>
              </a:rPr>
              <a:t>, alias </a:t>
            </a:r>
            <a:r>
              <a:rPr sz="900" b="1">
                <a:solidFill>
                  <a:srgbClr val="1C3E63"/>
                </a:solidFill>
                <a:latin typeface="Aptos"/>
              </a:rPr>
              <a:t>templates</a:t>
            </a:r>
            <a:r>
              <a:rPr sz="900" b="0">
                <a:solidFill>
                  <a:srgbClr val="1C3E63"/>
                </a:solidFill>
                <a:latin typeface="Aptos"/>
              </a:rPr>
              <a:t>, </a:t>
            </a:r>
            <a:r>
              <a:rPr sz="900" b="1">
                <a:solidFill>
                  <a:srgbClr val="1C3E63"/>
                </a:solidFill>
                <a:latin typeface="Aptos"/>
              </a:rPr>
              <a:t>concepts</a:t>
            </a:r>
            <a:r>
              <a:rPr sz="900" b="0">
                <a:solidFill>
                  <a:srgbClr val="1C3E63"/>
                </a:solidFill>
                <a:latin typeface="Aptos"/>
              </a:rPr>
              <a:t>, </a:t>
            </a:r>
            <a:r>
              <a:rPr sz="900" b="1">
                <a:solidFill>
                  <a:srgbClr val="1C3E63"/>
                </a:solidFill>
                <a:latin typeface="Aptos"/>
              </a:rPr>
              <a:t>lambdas</a:t>
            </a:r>
            <a:r>
              <a:rPr sz="900" b="0">
                <a:solidFill>
                  <a:srgbClr val="1C3E63"/>
                </a:solidFill>
                <a:latin typeface="Aptos"/>
              </a:rPr>
              <a:t>, auto, decltype, </a:t>
            </a:r>
            <a:r>
              <a:rPr sz="900" b="1">
                <a:solidFill>
                  <a:srgbClr val="1C3E63"/>
                </a:solidFill>
                <a:latin typeface="Aptos"/>
              </a:rPr>
              <a:t>constexpr and consteval functions</a:t>
            </a:r>
            <a:r>
              <a:rPr sz="900" b="0">
                <a:solidFill>
                  <a:srgbClr val="1C3E63"/>
                </a:solidFill>
                <a:latin typeface="Aptos"/>
              </a:rPr>
              <a:t>, constinit, if constexpr, if consteval, user-defined literals, fold expressions, CTAD, </a:t>
            </a:r>
            <a:r>
              <a:rPr sz="900" b="1">
                <a:solidFill>
                  <a:srgbClr val="1C3E63"/>
                </a:solidFill>
                <a:latin typeface="Aptos"/>
              </a:rPr>
              <a:t>reflection</a:t>
            </a:r>
          </a:p>
        </p:txBody>
      </p:sp>
      <p:sp>
        <p:nvSpPr>
          <p:cNvPr id="42" name="Rounded Rectangle 41"/>
          <p:cNvSpPr/>
          <p:nvPr/>
        </p:nvSpPr>
        <p:spPr>
          <a:xfrm>
            <a:off x="5463815" y="4188150"/>
            <a:ext cx="1496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Control and Errors</a:t>
            </a:r>
          </a:p>
        </p:txBody>
      </p:sp>
      <p:sp>
        <p:nvSpPr>
          <p:cNvPr id="43" name="TextBox 42"/>
          <p:cNvSpPr txBox="1"/>
          <p:nvPr/>
        </p:nvSpPr>
        <p:spPr>
          <a:xfrm>
            <a:off x="5463815" y="4418150"/>
            <a:ext cx="1593719" cy="1510760"/>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exceptions</a:t>
            </a:r>
            <a:r>
              <a:rPr sz="900" b="0">
                <a:solidFill>
                  <a:srgbClr val="1C3E63"/>
                </a:solidFill>
                <a:latin typeface="Aptos"/>
              </a:rPr>
              <a:t>, noexcept, range-based for, structured bindings, three-way comparison, </a:t>
            </a:r>
            <a:r>
              <a:rPr sz="900" b="1">
                <a:solidFill>
                  <a:srgbClr val="1C3E63"/>
                </a:solidFill>
                <a:latin typeface="Aptos"/>
              </a:rPr>
              <a:t>coroutines</a:t>
            </a:r>
            <a:r>
              <a:rPr sz="900" b="0">
                <a:solidFill>
                  <a:srgbClr val="1C3E63"/>
                </a:solidFill>
                <a:latin typeface="Aptos"/>
              </a:rPr>
              <a:t>, </a:t>
            </a:r>
            <a:r>
              <a:rPr sz="900" b="1">
                <a:solidFill>
                  <a:srgbClr val="1C3E63"/>
                </a:solidFill>
                <a:latin typeface="Aptos"/>
              </a:rPr>
              <a:t>contracts</a:t>
            </a:r>
            <a:r>
              <a:rPr sz="900" b="0">
                <a:solidFill>
                  <a:srgbClr val="1C3E63"/>
                </a:solidFill>
                <a:latin typeface="Aptos"/>
              </a:rPr>
              <a:t>, </a:t>
            </a:r>
            <a:r>
              <a:rPr sz="900" b="1">
                <a:solidFill>
                  <a:srgbClr val="1C3E63"/>
                </a:solidFill>
                <a:latin typeface="Aptos"/>
              </a:rPr>
              <a:t>erroneous behaviour</a:t>
            </a:r>
            <a:r>
              <a:rPr sz="900" b="0">
                <a:solidFill>
                  <a:srgbClr val="1C3E63"/>
                </a:solidFill>
                <a:latin typeface="Aptos"/>
              </a:rPr>
              <a:t>, enum class, override, final, deducing this, pack indexing, name-independent _ declarations, expansion statements</a:t>
            </a:r>
          </a:p>
        </p:txBody>
      </p:sp>
      <p:sp>
        <p:nvSpPr>
          <p:cNvPr id="44" name="Rounded Rectangle 43"/>
          <p:cNvSpPr/>
          <p:nvPr/>
        </p:nvSpPr>
        <p:spPr>
          <a:xfrm>
            <a:off x="7157534" y="4188150"/>
            <a:ext cx="1064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Organization</a:t>
            </a:r>
          </a:p>
        </p:txBody>
      </p:sp>
      <p:sp>
        <p:nvSpPr>
          <p:cNvPr id="45" name="TextBox 44"/>
          <p:cNvSpPr txBox="1"/>
          <p:nvPr/>
        </p:nvSpPr>
        <p:spPr>
          <a:xfrm>
            <a:off x="7157534" y="4418150"/>
            <a:ext cx="1064000" cy="413480"/>
          </a:xfrm>
          <a:prstGeom prst="rect">
            <a:avLst/>
          </a:prstGeom>
          <a:noFill/>
        </p:spPr>
        <p:txBody>
          <a:bodyPr wrap="square" lIns="0" tIns="0" rIns="0" bIns="0" anchor="t">
            <a:spAutoFit/>
          </a:bodyPr>
          <a:lstStyle/>
          <a:p>
            <a:pPr algn="l">
              <a:lnSpc>
                <a:spcPct val="105000"/>
              </a:lnSpc>
            </a:pPr>
            <a:r>
              <a:rPr sz="900" b="0">
                <a:solidFill>
                  <a:srgbClr val="1C3E63"/>
                </a:solidFill>
                <a:latin typeface="Aptos"/>
              </a:rPr>
              <a:t>namespaces, </a:t>
            </a:r>
            <a:r>
              <a:rPr sz="900" b="1">
                <a:solidFill>
                  <a:srgbClr val="1C3E63"/>
                </a:solidFill>
                <a:latin typeface="Aptos"/>
              </a:rPr>
              <a:t>modules</a:t>
            </a:r>
            <a:r>
              <a:rPr sz="900" b="0">
                <a:solidFill>
                  <a:srgbClr val="1C3E63"/>
                </a:solidFill>
                <a:latin typeface="Aptos"/>
              </a:rPr>
              <a:t>, extern "C" language linkage</a:t>
            </a:r>
          </a:p>
        </p:txBody>
      </p:sp>
      <p:sp>
        <p:nvSpPr>
          <p:cNvPr id="46" name="Rounded Rectangle 45"/>
          <p:cNvSpPr/>
          <p:nvPr/>
        </p:nvSpPr>
        <p:spPr>
          <a:xfrm>
            <a:off x="8321534" y="4188150"/>
            <a:ext cx="704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Library</a:t>
            </a:r>
          </a:p>
        </p:txBody>
      </p:sp>
      <p:sp>
        <p:nvSpPr>
          <p:cNvPr id="47" name="TextBox 46"/>
          <p:cNvSpPr txBox="1"/>
          <p:nvPr/>
        </p:nvSpPr>
        <p:spPr>
          <a:xfrm>
            <a:off x="8321534" y="4418150"/>
            <a:ext cx="1371410" cy="1510760"/>
          </a:xfrm>
          <a:prstGeom prst="rect">
            <a:avLst/>
          </a:prstGeom>
          <a:noFill/>
        </p:spPr>
        <p:txBody>
          <a:bodyPr wrap="square" lIns="0" tIns="0" rIns="0" bIns="0" anchor="t">
            <a:spAutoFit/>
          </a:bodyPr>
          <a:lstStyle/>
          <a:p>
            <a:pPr algn="l">
              <a:lnSpc>
                <a:spcPct val="105000"/>
              </a:lnSpc>
            </a:pPr>
            <a:r>
              <a:rPr sz="900" b="0">
                <a:solidFill>
                  <a:srgbClr val="1C3E63"/>
                </a:solidFill>
                <a:latin typeface="Aptos"/>
              </a:rPr>
              <a:t>string, containers, algorithms, iterators, </a:t>
            </a:r>
            <a:r>
              <a:rPr sz="900" b="1">
                <a:solidFill>
                  <a:srgbClr val="1C3E63"/>
                </a:solidFill>
                <a:latin typeface="Aptos"/>
              </a:rPr>
              <a:t>ranges</a:t>
            </a:r>
            <a:r>
              <a:rPr sz="900" b="0">
                <a:solidFill>
                  <a:srgbClr val="1C3E63"/>
                </a:solidFill>
                <a:latin typeface="Aptos"/>
              </a:rPr>
              <a:t>, </a:t>
            </a:r>
            <a:r>
              <a:rPr sz="900" b="1">
                <a:solidFill>
                  <a:srgbClr val="1C3E63"/>
                </a:solidFill>
                <a:latin typeface="Aptos"/>
              </a:rPr>
              <a:t>smart pointers</a:t>
            </a:r>
            <a:r>
              <a:rPr sz="900" b="0">
                <a:solidFill>
                  <a:srgbClr val="1C3E63"/>
                </a:solidFill>
                <a:latin typeface="Aptos"/>
              </a:rPr>
              <a:t>, allocators, pmr, </a:t>
            </a:r>
            <a:r>
              <a:rPr sz="900" b="1">
                <a:solidFill>
                  <a:srgbClr val="1C3E63"/>
                </a:solidFill>
                <a:latin typeface="Aptos"/>
              </a:rPr>
              <a:t>span</a:t>
            </a:r>
            <a:r>
              <a:rPr sz="900" b="0">
                <a:solidFill>
                  <a:srgbClr val="1C3E63"/>
                </a:solidFill>
                <a:latin typeface="Aptos"/>
              </a:rPr>
              <a:t>, </a:t>
            </a:r>
            <a:r>
              <a:rPr sz="900" b="1">
                <a:solidFill>
                  <a:srgbClr val="1C3E63"/>
                </a:solidFill>
                <a:latin typeface="Aptos"/>
              </a:rPr>
              <a:t>string_view</a:t>
            </a:r>
            <a:r>
              <a:rPr sz="900" b="0">
                <a:solidFill>
                  <a:srgbClr val="1C3E63"/>
                </a:solidFill>
                <a:latin typeface="Aptos"/>
              </a:rPr>
              <a:t>, </a:t>
            </a:r>
            <a:r>
              <a:rPr sz="900" b="1">
                <a:solidFill>
                  <a:srgbClr val="1C3E63"/>
                </a:solidFill>
                <a:latin typeface="Aptos"/>
              </a:rPr>
              <a:t>optional</a:t>
            </a:r>
            <a:r>
              <a:rPr sz="900" b="0">
                <a:solidFill>
                  <a:srgbClr val="1C3E63"/>
                </a:solidFill>
                <a:latin typeface="Aptos"/>
              </a:rPr>
              <a:t>, variant, expected, tuple, any, function, type_traits, </a:t>
            </a:r>
            <a:r>
              <a:rPr sz="900" b="1">
                <a:solidFill>
                  <a:srgbClr val="1C3E63"/>
                </a:solidFill>
                <a:latin typeface="Aptos"/>
              </a:rPr>
              <a:t>format</a:t>
            </a:r>
            <a:r>
              <a:rPr sz="900" b="0">
                <a:solidFill>
                  <a:srgbClr val="1C3E63"/>
                </a:solidFill>
                <a:latin typeface="Aptos"/>
              </a:rPr>
              <a:t>, print, iostreams, chrono, filesystem, regex, random, complex</a:t>
            </a:r>
          </a:p>
        </p:txBody>
      </p:sp>
      <p:sp>
        <p:nvSpPr>
          <p:cNvPr id="48" name="Rounded Rectangle 47"/>
          <p:cNvSpPr/>
          <p:nvPr/>
        </p:nvSpPr>
        <p:spPr>
          <a:xfrm>
            <a:off x="9792944" y="4188150"/>
            <a:ext cx="1280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Systems Library</a:t>
            </a:r>
          </a:p>
        </p:txBody>
      </p:sp>
      <p:sp>
        <p:nvSpPr>
          <p:cNvPr id="49" name="TextBox 48"/>
          <p:cNvSpPr txBox="1"/>
          <p:nvPr/>
        </p:nvSpPr>
        <p:spPr>
          <a:xfrm>
            <a:off x="9792944" y="4418150"/>
            <a:ext cx="1580857" cy="1373600"/>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thread</a:t>
            </a:r>
            <a:r>
              <a:rPr sz="900" b="0">
                <a:solidFill>
                  <a:srgbClr val="1C3E63"/>
                </a:solidFill>
                <a:latin typeface="Aptos"/>
              </a:rPr>
              <a:t>, jthread, mutexes, futures, parallel policies, senders and receivers, simd, linalg, mdspan, flat_map, stacktrace, generator, bit_cast, source_location, hazard </a:t>
            </a:r>
            <a:r>
              <a:rPr sz="900" b="1">
                <a:solidFill>
                  <a:srgbClr val="1C3E63"/>
                </a:solidFill>
                <a:latin typeface="Aptos"/>
              </a:rPr>
              <a:t>pointers</a:t>
            </a:r>
            <a:r>
              <a:rPr sz="900" b="0">
                <a:solidFill>
                  <a:srgbClr val="1C3E63"/>
                </a:solidFill>
                <a:latin typeface="Aptos"/>
              </a:rPr>
              <a:t>, RCU, saturating arithmetic, </a:t>
            </a:r>
            <a:r>
              <a:rPr sz="900" b="1">
                <a:solidFill>
                  <a:srgbClr val="1C3E63"/>
                </a:solidFill>
                <a:latin typeface="Aptos"/>
              </a:rPr>
              <a:t>optional</a:t>
            </a:r>
            <a:r>
              <a:rPr sz="900" b="0">
                <a:solidFill>
                  <a:srgbClr val="1C3E63"/>
                </a:solidFill>
                <a:latin typeface="Aptos"/>
              </a:rPr>
              <a:t> </a:t>
            </a:r>
            <a:r>
              <a:rPr sz="900" b="1">
                <a:solidFill>
                  <a:srgbClr val="1C3E63"/>
                </a:solidFill>
                <a:latin typeface="Aptos"/>
              </a:rPr>
              <a:t>hardened preconditions</a:t>
            </a:r>
          </a:p>
        </p:txBody>
      </p:sp>
      <p:sp>
        <p:nvSpPr>
          <p:cNvPr id="50" name="Rounded Rectangle 49"/>
          <p:cNvSpPr/>
          <p:nvPr/>
        </p:nvSpPr>
        <p:spPr>
          <a:xfrm>
            <a:off x="838200" y="5988910"/>
            <a:ext cx="10755600" cy="620000"/>
          </a:xfrm>
          <a:prstGeom prst="roundRect">
            <a:avLst>
              <a:gd name="adj" fmla="val 6000"/>
            </a:avLst>
          </a:prstGeom>
          <a:solidFill>
            <a:srgbClr val="F1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58200" y="6028910"/>
            <a:ext cx="1300000" cy="382925"/>
          </a:xfrm>
          <a:prstGeom prst="rect">
            <a:avLst/>
          </a:prstGeom>
          <a:noFill/>
        </p:spPr>
        <p:txBody>
          <a:bodyPr wrap="square" lIns="0" tIns="0" rIns="0" bIns="0" anchor="t">
            <a:spAutoFit/>
          </a:bodyPr>
          <a:lstStyle/>
          <a:p>
            <a:pPr algn="l">
              <a:lnSpc>
                <a:spcPct val="105000"/>
              </a:lnSpc>
            </a:pPr>
            <a:r>
              <a:rPr sz="1400" b="1" dirty="0">
                <a:solidFill>
                  <a:srgbClr val="595959"/>
                </a:solidFill>
                <a:latin typeface="Aptos"/>
              </a:rPr>
              <a:t>C++ removed</a:t>
            </a:r>
          </a:p>
          <a:p>
            <a:pPr algn="l">
              <a:lnSpc>
                <a:spcPct val="105000"/>
              </a:lnSpc>
            </a:pPr>
            <a:r>
              <a:rPr sz="1000" b="0" dirty="0">
                <a:solidFill>
                  <a:srgbClr val="595959"/>
                </a:solidFill>
                <a:latin typeface="Aptos"/>
              </a:rPr>
              <a:t>C forms, later dropped</a:t>
            </a:r>
          </a:p>
        </p:txBody>
      </p:sp>
      <p:sp>
        <p:nvSpPr>
          <p:cNvPr id="52" name="Rounded Rectangle 51"/>
          <p:cNvSpPr/>
          <p:nvPr/>
        </p:nvSpPr>
        <p:spPr>
          <a:xfrm>
            <a:off x="2358200" y="6028910"/>
            <a:ext cx="704000" cy="200000"/>
          </a:xfrm>
          <a:prstGeom prst="roundRect">
            <a:avLst>
              <a:gd name="adj" fmla="val 50000"/>
            </a:avLst>
          </a:prstGeom>
          <a:solidFill>
            <a:srgbClr val="DEDAD7"/>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595959"/>
                </a:solidFill>
                <a:latin typeface="Aptos"/>
              </a:rPr>
              <a:t>Dropped</a:t>
            </a:r>
          </a:p>
        </p:txBody>
      </p:sp>
      <p:sp>
        <p:nvSpPr>
          <p:cNvPr id="53" name="TextBox 52"/>
          <p:cNvSpPr txBox="1"/>
          <p:nvPr/>
        </p:nvSpPr>
        <p:spPr>
          <a:xfrm>
            <a:off x="2358200" y="6258910"/>
            <a:ext cx="9015600" cy="139160"/>
          </a:xfrm>
          <a:prstGeom prst="rect">
            <a:avLst/>
          </a:prstGeom>
          <a:noFill/>
        </p:spPr>
        <p:txBody>
          <a:bodyPr wrap="square" lIns="0" tIns="0" rIns="0" bIns="0" anchor="t">
            <a:spAutoFit/>
          </a:bodyPr>
          <a:lstStyle/>
          <a:p>
            <a:pPr algn="l">
              <a:lnSpc>
                <a:spcPct val="105000"/>
              </a:lnSpc>
            </a:pPr>
            <a:r>
              <a:rPr sz="900" b="0">
                <a:solidFill>
                  <a:srgbClr val="3F3F3F"/>
                </a:solidFill>
                <a:latin typeface="Aptos"/>
              </a:rPr>
              <a:t>register (C++17), auto as a storage class (C++11), </a:t>
            </a:r>
            <a:r>
              <a:rPr sz="900" b="1">
                <a:solidFill>
                  <a:srgbClr val="3F3F3F"/>
                </a:solidFill>
                <a:latin typeface="Aptos"/>
              </a:rPr>
              <a:t>gets</a:t>
            </a:r>
            <a:r>
              <a:rPr sz="900" b="0">
                <a:solidFill>
                  <a:srgbClr val="3F3F3F"/>
                </a:solidFill>
                <a:latin typeface="Aptos"/>
              </a:rPr>
              <a:t> (C++14), trigraphs (C++17)</a:t>
            </a:r>
          </a:p>
        </p:txBody>
      </p:sp>
    </p:spTree>
    <p:extLst>
      <p:ext uri="{BB962C8B-B14F-4D97-AF65-F5344CB8AC3E}">
        <p14:creationId xmlns:p14="http://schemas.microsoft.com/office/powerpoint/2010/main" val="1312047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C++ is not C</a:t>
            </a:r>
          </a:p>
        </p:txBody>
      </p:sp>
      <p:sp>
        <p:nvSpPr>
          <p:cNvPr id="3" name="TextBox 2"/>
          <p:cNvSpPr txBox="1"/>
          <p:nvPr/>
        </p:nvSpPr>
        <p:spPr>
          <a:xfrm>
            <a:off x="990600" y="893320"/>
            <a:ext cx="10515600" cy="200000"/>
          </a:xfrm>
          <a:prstGeom prst="rect">
            <a:avLst/>
          </a:prstGeom>
          <a:noFill/>
        </p:spPr>
        <p:txBody>
          <a:bodyPr wrap="square" lIns="0" tIns="0" rIns="0" bIns="0" anchor="t">
            <a:spAutoFit/>
          </a:bodyPr>
          <a:lstStyle/>
          <a:p>
            <a:pPr algn="r">
              <a:lnSpc>
                <a:spcPct val="105000"/>
              </a:lnSpc>
            </a:pPr>
            <a:r>
              <a:rPr sz="1100" b="0" dirty="0">
                <a:solidFill>
                  <a:srgbClr val="8C8C8C"/>
                </a:solidFill>
                <a:latin typeface="Aptos"/>
              </a:rPr>
              <a:t>C23 against the C++26 working draft</a:t>
            </a:r>
          </a:p>
        </p:txBody>
      </p:sp>
      <p:sp>
        <p:nvSpPr>
          <p:cNvPr id="4" name="Rounded Rectangle 3"/>
          <p:cNvSpPr/>
          <p:nvPr/>
        </p:nvSpPr>
        <p:spPr>
          <a:xfrm>
            <a:off x="838200" y="1452550"/>
            <a:ext cx="10755600" cy="840640"/>
          </a:xfrm>
          <a:prstGeom prst="roundRect">
            <a:avLst>
              <a:gd name="adj" fmla="val 6000"/>
            </a:avLst>
          </a:prstGeom>
          <a:solidFill>
            <a:srgbClr val="EE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8200" y="1492550"/>
            <a:ext cx="1300000" cy="382925"/>
          </a:xfrm>
          <a:prstGeom prst="rect">
            <a:avLst/>
          </a:prstGeom>
          <a:noFill/>
        </p:spPr>
        <p:txBody>
          <a:bodyPr wrap="square" lIns="0" tIns="0" rIns="0" bIns="0" anchor="t">
            <a:spAutoFit/>
          </a:bodyPr>
          <a:lstStyle/>
          <a:p>
            <a:pPr algn="l">
              <a:lnSpc>
                <a:spcPct val="105000"/>
              </a:lnSpc>
            </a:pPr>
            <a:r>
              <a:rPr sz="1400" b="1" dirty="0">
                <a:solidFill>
                  <a:srgbClr val="2E7D32"/>
                </a:solidFill>
                <a:latin typeface="Aptos"/>
              </a:rPr>
              <a:t>C core</a:t>
            </a:r>
          </a:p>
          <a:p>
            <a:pPr algn="l">
              <a:lnSpc>
                <a:spcPct val="105000"/>
              </a:lnSpc>
            </a:pPr>
            <a:r>
              <a:rPr sz="1000" b="0" dirty="0">
                <a:solidFill>
                  <a:srgbClr val="2E7D32"/>
                </a:solidFill>
                <a:latin typeface="Aptos"/>
              </a:rPr>
              <a:t>shared facilities</a:t>
            </a:r>
          </a:p>
        </p:txBody>
      </p:sp>
      <p:sp>
        <p:nvSpPr>
          <p:cNvPr id="6" name="Rounded Rectangle 5"/>
          <p:cNvSpPr/>
          <p:nvPr/>
        </p:nvSpPr>
        <p:spPr>
          <a:xfrm>
            <a:off x="2358200" y="1492550"/>
            <a:ext cx="1568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Types and Functions</a:t>
            </a:r>
          </a:p>
        </p:txBody>
      </p:sp>
      <p:sp>
        <p:nvSpPr>
          <p:cNvPr id="7" name="TextBox 6"/>
          <p:cNvSpPr txBox="1"/>
          <p:nvPr/>
        </p:nvSpPr>
        <p:spPr>
          <a:xfrm>
            <a:off x="2358200" y="1722550"/>
            <a:ext cx="2137448" cy="550640"/>
          </a:xfrm>
          <a:prstGeom prst="rect">
            <a:avLst/>
          </a:prstGeom>
          <a:noFill/>
        </p:spPr>
        <p:txBody>
          <a:bodyPr wrap="square" lIns="0" tIns="0" rIns="0" bIns="0" anchor="t">
            <a:spAutoFit/>
          </a:bodyPr>
          <a:lstStyle/>
          <a:p>
            <a:pPr algn="l">
              <a:lnSpc>
                <a:spcPct val="105000"/>
              </a:lnSpc>
            </a:pPr>
            <a:r>
              <a:rPr sz="900" b="1">
                <a:solidFill>
                  <a:srgbClr val="1F4D24"/>
                </a:solidFill>
                <a:latin typeface="Aptos"/>
              </a:rPr>
              <a:t>functions</a:t>
            </a:r>
            <a:r>
              <a:rPr sz="900" b="0">
                <a:solidFill>
                  <a:srgbClr val="1F4D24"/>
                </a:solidFill>
                <a:latin typeface="Aptos"/>
              </a:rPr>
              <a:t>, prototypes, </a:t>
            </a:r>
            <a:r>
              <a:rPr sz="900" b="1">
                <a:solidFill>
                  <a:srgbClr val="1F4D24"/>
                </a:solidFill>
                <a:latin typeface="Aptos"/>
              </a:rPr>
              <a:t>pointers</a:t>
            </a:r>
            <a:r>
              <a:rPr sz="900" b="0">
                <a:solidFill>
                  <a:srgbClr val="1F4D24"/>
                </a:solidFill>
                <a:latin typeface="Aptos"/>
              </a:rPr>
              <a:t>, void*, </a:t>
            </a:r>
            <a:r>
              <a:rPr sz="900" b="1">
                <a:solidFill>
                  <a:srgbClr val="1F4D24"/>
                </a:solidFill>
                <a:latin typeface="Aptos"/>
              </a:rPr>
              <a:t>arrays</a:t>
            </a:r>
            <a:r>
              <a:rPr sz="900" b="0">
                <a:solidFill>
                  <a:srgbClr val="1F4D24"/>
                </a:solidFill>
                <a:latin typeface="Aptos"/>
              </a:rPr>
              <a:t>, </a:t>
            </a:r>
            <a:r>
              <a:rPr sz="900" b="1">
                <a:solidFill>
                  <a:srgbClr val="1F4D24"/>
                </a:solidFill>
                <a:latin typeface="Aptos"/>
              </a:rPr>
              <a:t>structs</a:t>
            </a:r>
            <a:r>
              <a:rPr sz="900" b="0">
                <a:solidFill>
                  <a:srgbClr val="1F4D24"/>
                </a:solidFill>
                <a:latin typeface="Aptos"/>
              </a:rPr>
              <a:t>, unions, enum, typedef, long long, stdint.h, inttypes.h, bool, __func__</a:t>
            </a:r>
          </a:p>
        </p:txBody>
      </p:sp>
      <p:sp>
        <p:nvSpPr>
          <p:cNvPr id="8" name="Rounded Rectangle 7"/>
          <p:cNvSpPr/>
          <p:nvPr/>
        </p:nvSpPr>
        <p:spPr>
          <a:xfrm>
            <a:off x="4595648" y="1492550"/>
            <a:ext cx="1568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Storage and Control</a:t>
            </a:r>
          </a:p>
        </p:txBody>
      </p:sp>
      <p:sp>
        <p:nvSpPr>
          <p:cNvPr id="9" name="TextBox 8"/>
          <p:cNvSpPr txBox="1"/>
          <p:nvPr/>
        </p:nvSpPr>
        <p:spPr>
          <a:xfrm>
            <a:off x="4595648" y="1722550"/>
            <a:ext cx="1568000" cy="550640"/>
          </a:xfrm>
          <a:prstGeom prst="rect">
            <a:avLst/>
          </a:prstGeom>
          <a:noFill/>
        </p:spPr>
        <p:txBody>
          <a:bodyPr wrap="square" lIns="0" tIns="0" rIns="0" bIns="0" anchor="t">
            <a:spAutoFit/>
          </a:bodyPr>
          <a:lstStyle/>
          <a:p>
            <a:pPr algn="l">
              <a:lnSpc>
                <a:spcPct val="105000"/>
              </a:lnSpc>
            </a:pPr>
            <a:r>
              <a:rPr sz="900" b="0">
                <a:solidFill>
                  <a:srgbClr val="1F4D24"/>
                </a:solidFill>
                <a:latin typeface="Aptos"/>
              </a:rPr>
              <a:t>static, extern, thread_local, const, volatile, operators, switch, goto</a:t>
            </a:r>
          </a:p>
        </p:txBody>
      </p:sp>
      <p:sp>
        <p:nvSpPr>
          <p:cNvPr id="10" name="Rounded Rectangle 9"/>
          <p:cNvSpPr/>
          <p:nvPr/>
        </p:nvSpPr>
        <p:spPr>
          <a:xfrm>
            <a:off x="6263648" y="1492550"/>
            <a:ext cx="848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C Library</a:t>
            </a:r>
          </a:p>
        </p:txBody>
      </p:sp>
      <p:sp>
        <p:nvSpPr>
          <p:cNvPr id="11" name="TextBox 10"/>
          <p:cNvSpPr txBox="1"/>
          <p:nvPr/>
        </p:nvSpPr>
        <p:spPr>
          <a:xfrm>
            <a:off x="6263648" y="1722550"/>
            <a:ext cx="1051733" cy="413480"/>
          </a:xfrm>
          <a:prstGeom prst="rect">
            <a:avLst/>
          </a:prstGeom>
          <a:noFill/>
        </p:spPr>
        <p:txBody>
          <a:bodyPr wrap="square" lIns="0" tIns="0" rIns="0" bIns="0" anchor="t">
            <a:spAutoFit/>
          </a:bodyPr>
          <a:lstStyle/>
          <a:p>
            <a:pPr algn="l">
              <a:lnSpc>
                <a:spcPct val="105000"/>
              </a:lnSpc>
            </a:pPr>
            <a:r>
              <a:rPr sz="900" b="1">
                <a:solidFill>
                  <a:srgbClr val="1F4D24"/>
                </a:solidFill>
                <a:latin typeface="Aptos"/>
              </a:rPr>
              <a:t>malloc, free</a:t>
            </a:r>
            <a:r>
              <a:rPr sz="900" b="0">
                <a:solidFill>
                  <a:srgbClr val="1F4D24"/>
                </a:solidFill>
                <a:latin typeface="Aptos"/>
              </a:rPr>
              <a:t>, </a:t>
            </a:r>
            <a:r>
              <a:rPr sz="900" b="1">
                <a:solidFill>
                  <a:srgbClr val="1F4D24"/>
                </a:solidFill>
                <a:latin typeface="Aptos"/>
              </a:rPr>
              <a:t>printf</a:t>
            </a:r>
            <a:r>
              <a:rPr sz="900" b="0">
                <a:solidFill>
                  <a:srgbClr val="1F4D24"/>
                </a:solidFill>
                <a:latin typeface="Aptos"/>
              </a:rPr>
              <a:t>, scanf, string </a:t>
            </a:r>
            <a:r>
              <a:rPr sz="900" b="1">
                <a:solidFill>
                  <a:srgbClr val="1F4D24"/>
                </a:solidFill>
                <a:latin typeface="Aptos"/>
              </a:rPr>
              <a:t>functions</a:t>
            </a:r>
          </a:p>
        </p:txBody>
      </p:sp>
      <p:sp>
        <p:nvSpPr>
          <p:cNvPr id="12" name="Rounded Rectangle 11"/>
          <p:cNvSpPr/>
          <p:nvPr/>
        </p:nvSpPr>
        <p:spPr>
          <a:xfrm>
            <a:off x="7415381" y="1492550"/>
            <a:ext cx="1136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Preprocessing</a:t>
            </a:r>
          </a:p>
        </p:txBody>
      </p:sp>
      <p:sp>
        <p:nvSpPr>
          <p:cNvPr id="13" name="TextBox 12"/>
          <p:cNvSpPr txBox="1"/>
          <p:nvPr/>
        </p:nvSpPr>
        <p:spPr>
          <a:xfrm>
            <a:off x="7415381" y="1722550"/>
            <a:ext cx="1506791" cy="550640"/>
          </a:xfrm>
          <a:prstGeom prst="rect">
            <a:avLst/>
          </a:prstGeom>
          <a:noFill/>
        </p:spPr>
        <p:txBody>
          <a:bodyPr wrap="square" lIns="0" tIns="0" rIns="0" bIns="0" anchor="t">
            <a:spAutoFit/>
          </a:bodyPr>
          <a:lstStyle/>
          <a:p>
            <a:pPr algn="l">
              <a:lnSpc>
                <a:spcPct val="105000"/>
              </a:lnSpc>
            </a:pPr>
            <a:r>
              <a:rPr sz="900" b="1">
                <a:solidFill>
                  <a:srgbClr val="1F4D24"/>
                </a:solidFill>
                <a:latin typeface="Aptos"/>
              </a:rPr>
              <a:t>preprocessor</a:t>
            </a:r>
            <a:r>
              <a:rPr sz="900" b="0">
                <a:solidFill>
                  <a:srgbClr val="1F4D24"/>
                </a:solidFill>
                <a:latin typeface="Aptos"/>
              </a:rPr>
              <a:t>, digraphs, variadic macros, #elifdef, #warning, __VA_OPT__, #embed</a:t>
            </a:r>
          </a:p>
        </p:txBody>
      </p:sp>
      <p:sp>
        <p:nvSpPr>
          <p:cNvPr id="14" name="Rounded Rectangle 13"/>
          <p:cNvSpPr/>
          <p:nvPr/>
        </p:nvSpPr>
        <p:spPr>
          <a:xfrm>
            <a:off x="9022172" y="1492550"/>
            <a:ext cx="1280000" cy="200000"/>
          </a:xfrm>
          <a:prstGeom prst="roundRect">
            <a:avLst>
              <a:gd name="adj" fmla="val 50000"/>
            </a:avLst>
          </a:prstGeom>
          <a:solidFill>
            <a:srgbClr val="CDE5D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7D32"/>
                </a:solidFill>
                <a:latin typeface="Aptos"/>
              </a:rPr>
              <a:t>Later Additions</a:t>
            </a:r>
          </a:p>
        </p:txBody>
      </p:sp>
      <p:sp>
        <p:nvSpPr>
          <p:cNvPr id="15" name="TextBox 14"/>
          <p:cNvSpPr txBox="1"/>
          <p:nvPr/>
        </p:nvSpPr>
        <p:spPr>
          <a:xfrm>
            <a:off x="9022172" y="1722550"/>
            <a:ext cx="2351630" cy="550640"/>
          </a:xfrm>
          <a:prstGeom prst="rect">
            <a:avLst/>
          </a:prstGeom>
          <a:noFill/>
        </p:spPr>
        <p:txBody>
          <a:bodyPr wrap="square" lIns="0" tIns="0" rIns="0" bIns="0" anchor="t">
            <a:spAutoFit/>
          </a:bodyPr>
          <a:lstStyle/>
          <a:p>
            <a:pPr algn="l">
              <a:lnSpc>
                <a:spcPct val="105000"/>
              </a:lnSpc>
            </a:pPr>
            <a:r>
              <a:rPr sz="900" b="0">
                <a:solidFill>
                  <a:srgbClr val="1F4D24"/>
                </a:solidFill>
                <a:latin typeface="Aptos"/>
              </a:rPr>
              <a:t>hex floats, static_assert, enum : T, binary literals, digit separators, empty {} initializer; converged in C23: nullptr, constexpr objects, auto</a:t>
            </a:r>
          </a:p>
        </p:txBody>
      </p:sp>
      <p:sp>
        <p:nvSpPr>
          <p:cNvPr id="16" name="Rounded Rectangle 15"/>
          <p:cNvSpPr/>
          <p:nvPr/>
        </p:nvSpPr>
        <p:spPr>
          <a:xfrm>
            <a:off x="838200" y="2333190"/>
            <a:ext cx="10755600" cy="620000"/>
          </a:xfrm>
          <a:prstGeom prst="roundRect">
            <a:avLst>
              <a:gd name="adj" fmla="val 6000"/>
            </a:avLst>
          </a:prstGeom>
          <a:solidFill>
            <a:srgbClr val="FA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8200" y="2373190"/>
            <a:ext cx="1300000" cy="382925"/>
          </a:xfrm>
          <a:prstGeom prst="rect">
            <a:avLst/>
          </a:prstGeom>
          <a:noFill/>
        </p:spPr>
        <p:txBody>
          <a:bodyPr wrap="square" lIns="0" tIns="0" rIns="0" bIns="0" anchor="t">
            <a:spAutoFit/>
          </a:bodyPr>
          <a:lstStyle/>
          <a:p>
            <a:pPr algn="l">
              <a:lnSpc>
                <a:spcPct val="105000"/>
              </a:lnSpc>
            </a:pPr>
            <a:r>
              <a:rPr sz="1400" b="1" dirty="0">
                <a:solidFill>
                  <a:srgbClr val="B3261E"/>
                </a:solidFill>
                <a:latin typeface="Aptos"/>
              </a:rPr>
              <a:t>C not adopted</a:t>
            </a:r>
          </a:p>
          <a:p>
            <a:pPr algn="l">
              <a:lnSpc>
                <a:spcPct val="105000"/>
              </a:lnSpc>
            </a:pPr>
            <a:r>
              <a:rPr sz="1000" b="0" dirty="0">
                <a:solidFill>
                  <a:srgbClr val="B3261E"/>
                </a:solidFill>
                <a:latin typeface="Aptos"/>
              </a:rPr>
              <a:t>not in C++</a:t>
            </a:r>
          </a:p>
        </p:txBody>
      </p:sp>
      <p:sp>
        <p:nvSpPr>
          <p:cNvPr id="18" name="Rounded Rectangle 17"/>
          <p:cNvSpPr/>
          <p:nvPr/>
        </p:nvSpPr>
        <p:spPr>
          <a:xfrm>
            <a:off x="2358200" y="2373190"/>
            <a:ext cx="1568000" cy="200000"/>
          </a:xfrm>
          <a:prstGeom prst="roundRect">
            <a:avLst>
              <a:gd name="adj" fmla="val 50000"/>
            </a:avLst>
          </a:prstGeom>
          <a:solidFill>
            <a:srgbClr val="F2D3C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B3261E"/>
                </a:solidFill>
                <a:latin typeface="Aptos"/>
              </a:rPr>
              <a:t>Arrays and Aliasing</a:t>
            </a:r>
          </a:p>
        </p:txBody>
      </p:sp>
      <p:sp>
        <p:nvSpPr>
          <p:cNvPr id="19" name="TextBox 18"/>
          <p:cNvSpPr txBox="1"/>
          <p:nvPr/>
        </p:nvSpPr>
        <p:spPr>
          <a:xfrm>
            <a:off x="2358200" y="2603190"/>
            <a:ext cx="2796260" cy="276320"/>
          </a:xfrm>
          <a:prstGeom prst="rect">
            <a:avLst/>
          </a:prstGeom>
          <a:noFill/>
        </p:spPr>
        <p:txBody>
          <a:bodyPr wrap="square" lIns="0" tIns="0" rIns="0" bIns="0" anchor="t">
            <a:spAutoFit/>
          </a:bodyPr>
          <a:lstStyle/>
          <a:p>
            <a:pPr algn="l">
              <a:lnSpc>
                <a:spcPct val="105000"/>
              </a:lnSpc>
            </a:pPr>
            <a:r>
              <a:rPr sz="900" b="1">
                <a:solidFill>
                  <a:srgbClr val="7A1C15"/>
                </a:solidFill>
                <a:latin typeface="Aptos"/>
              </a:rPr>
              <a:t>VLAs</a:t>
            </a:r>
            <a:r>
              <a:rPr sz="900" b="0">
                <a:solidFill>
                  <a:srgbClr val="7A1C15"/>
                </a:solidFill>
                <a:latin typeface="Aptos"/>
              </a:rPr>
              <a:t>, </a:t>
            </a:r>
            <a:r>
              <a:rPr sz="900" b="1">
                <a:solidFill>
                  <a:srgbClr val="7A1C15"/>
                </a:solidFill>
                <a:latin typeface="Aptos"/>
              </a:rPr>
              <a:t>flexible array members</a:t>
            </a:r>
            <a:r>
              <a:rPr sz="900" b="0">
                <a:solidFill>
                  <a:srgbClr val="7A1C15"/>
                </a:solidFill>
                <a:latin typeface="Aptos"/>
              </a:rPr>
              <a:t>, int a[static n]; </a:t>
            </a:r>
            <a:r>
              <a:rPr sz="900" b="1">
                <a:solidFill>
                  <a:srgbClr val="7A1C15"/>
                </a:solidFill>
                <a:latin typeface="Aptos"/>
              </a:rPr>
              <a:t>restrict</a:t>
            </a:r>
          </a:p>
        </p:txBody>
      </p:sp>
      <p:sp>
        <p:nvSpPr>
          <p:cNvPr id="20" name="Rounded Rectangle 19"/>
          <p:cNvSpPr/>
          <p:nvPr/>
        </p:nvSpPr>
        <p:spPr>
          <a:xfrm>
            <a:off x="5254460" y="2373190"/>
            <a:ext cx="1136000" cy="200000"/>
          </a:xfrm>
          <a:prstGeom prst="roundRect">
            <a:avLst>
              <a:gd name="adj" fmla="val 50000"/>
            </a:avLst>
          </a:prstGeom>
          <a:solidFill>
            <a:srgbClr val="F2D3C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B3261E"/>
                </a:solidFill>
                <a:latin typeface="Aptos"/>
              </a:rPr>
              <a:t>Type Features</a:t>
            </a:r>
          </a:p>
        </p:txBody>
      </p:sp>
      <p:sp>
        <p:nvSpPr>
          <p:cNvPr id="21" name="TextBox 20"/>
          <p:cNvSpPr txBox="1"/>
          <p:nvPr/>
        </p:nvSpPr>
        <p:spPr>
          <a:xfrm>
            <a:off x="5254460" y="2603190"/>
            <a:ext cx="3253565" cy="276320"/>
          </a:xfrm>
          <a:prstGeom prst="rect">
            <a:avLst/>
          </a:prstGeom>
          <a:noFill/>
        </p:spPr>
        <p:txBody>
          <a:bodyPr wrap="square" lIns="0" tIns="0" rIns="0" bIns="0" anchor="t">
            <a:spAutoFit/>
          </a:bodyPr>
          <a:lstStyle/>
          <a:p>
            <a:pPr algn="l">
              <a:lnSpc>
                <a:spcPct val="105000"/>
              </a:lnSpc>
            </a:pPr>
            <a:r>
              <a:rPr sz="900" b="1">
                <a:solidFill>
                  <a:srgbClr val="7A1C15"/>
                </a:solidFill>
                <a:latin typeface="Aptos"/>
              </a:rPr>
              <a:t>_Generic</a:t>
            </a:r>
            <a:r>
              <a:rPr sz="900" b="0">
                <a:solidFill>
                  <a:srgbClr val="7A1C15"/>
                </a:solidFill>
                <a:latin typeface="Aptos"/>
              </a:rPr>
              <a:t>, typeof, _Complex, _Imaginary, _BitInt, the _Atomic qualifier</a:t>
            </a:r>
          </a:p>
        </p:txBody>
      </p:sp>
      <p:sp>
        <p:nvSpPr>
          <p:cNvPr id="22" name="Rounded Rectangle 21"/>
          <p:cNvSpPr/>
          <p:nvPr/>
        </p:nvSpPr>
        <p:spPr>
          <a:xfrm>
            <a:off x="8608025" y="2373190"/>
            <a:ext cx="1064000" cy="200000"/>
          </a:xfrm>
          <a:prstGeom prst="roundRect">
            <a:avLst>
              <a:gd name="adj" fmla="val 50000"/>
            </a:avLst>
          </a:prstGeom>
          <a:solidFill>
            <a:srgbClr val="F2D3C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B3261E"/>
                </a:solidFill>
                <a:latin typeface="Aptos"/>
              </a:rPr>
              <a:t>Syntax Forms</a:t>
            </a:r>
          </a:p>
        </p:txBody>
      </p:sp>
      <p:sp>
        <p:nvSpPr>
          <p:cNvPr id="23" name="TextBox 22"/>
          <p:cNvSpPr txBox="1"/>
          <p:nvPr/>
        </p:nvSpPr>
        <p:spPr>
          <a:xfrm>
            <a:off x="8608025" y="2603190"/>
            <a:ext cx="2765773" cy="276320"/>
          </a:xfrm>
          <a:prstGeom prst="rect">
            <a:avLst/>
          </a:prstGeom>
          <a:noFill/>
        </p:spPr>
        <p:txBody>
          <a:bodyPr wrap="square" lIns="0" tIns="0" rIns="0" bIns="0" anchor="t">
            <a:spAutoFit/>
          </a:bodyPr>
          <a:lstStyle/>
          <a:p>
            <a:pPr algn="l">
              <a:lnSpc>
                <a:spcPct val="105000"/>
              </a:lnSpc>
            </a:pPr>
            <a:r>
              <a:rPr sz="900" b="1">
                <a:solidFill>
                  <a:srgbClr val="7A1C15"/>
                </a:solidFill>
                <a:latin typeface="Aptos"/>
              </a:rPr>
              <a:t>compound literals</a:t>
            </a:r>
            <a:r>
              <a:rPr sz="900" b="0">
                <a:solidFill>
                  <a:srgbClr val="7A1C15"/>
                </a:solidFill>
                <a:latin typeface="Aptos"/>
              </a:rPr>
              <a:t>, anonymous struct members, _Noreturn</a:t>
            </a:r>
          </a:p>
        </p:txBody>
      </p:sp>
      <p:sp>
        <p:nvSpPr>
          <p:cNvPr id="24" name="Rounded Rectangle 23"/>
          <p:cNvSpPr/>
          <p:nvPr/>
        </p:nvSpPr>
        <p:spPr>
          <a:xfrm>
            <a:off x="838200" y="2993190"/>
            <a:ext cx="10755600" cy="1114960"/>
          </a:xfrm>
          <a:prstGeom prst="roundRect">
            <a:avLst>
              <a:gd name="adj" fmla="val 6000"/>
            </a:avLst>
          </a:prstGeom>
          <a:solidFill>
            <a:srgbClr val="FA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58200" y="3033190"/>
            <a:ext cx="1300000" cy="1114960"/>
          </a:xfrm>
          <a:prstGeom prst="rect">
            <a:avLst/>
          </a:prstGeom>
          <a:noFill/>
        </p:spPr>
        <p:txBody>
          <a:bodyPr wrap="square" lIns="0" tIns="0" rIns="0" bIns="0" anchor="t">
            <a:spAutoFit/>
          </a:bodyPr>
          <a:lstStyle/>
          <a:p>
            <a:pPr algn="l">
              <a:lnSpc>
                <a:spcPct val="105000"/>
              </a:lnSpc>
            </a:pPr>
            <a:r>
              <a:rPr sz="1300" b="1">
                <a:solidFill>
                  <a:srgbClr val="8A6D1F"/>
                </a:solidFill>
                <a:latin typeface="Aptos"/>
              </a:rPr>
              <a:t>C++ modified</a:t>
            </a:r>
          </a:p>
          <a:p>
            <a:pPr algn="l">
              <a:lnSpc>
                <a:spcPct val="105000"/>
              </a:lnSpc>
            </a:pPr>
            <a:r>
              <a:rPr sz="1000" b="0">
                <a:solidFill>
                  <a:srgbClr val="8A6D1F"/>
                </a:solidFill>
                <a:latin typeface="Aptos"/>
              </a:rPr>
              <a:t>same spelling, different rules</a:t>
            </a:r>
          </a:p>
        </p:txBody>
      </p:sp>
      <p:sp>
        <p:nvSpPr>
          <p:cNvPr id="26" name="Rounded Rectangle 25"/>
          <p:cNvSpPr/>
          <p:nvPr/>
        </p:nvSpPr>
        <p:spPr>
          <a:xfrm>
            <a:off x="2358200" y="3033190"/>
            <a:ext cx="7760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8A6D1F"/>
                </a:solidFill>
                <a:latin typeface="Aptos"/>
              </a:rPr>
              <a:t>Literals</a:t>
            </a:r>
          </a:p>
        </p:txBody>
      </p:sp>
      <p:sp>
        <p:nvSpPr>
          <p:cNvPr id="27" name="TextBox 26"/>
          <p:cNvSpPr txBox="1"/>
          <p:nvPr/>
        </p:nvSpPr>
        <p:spPr>
          <a:xfrm>
            <a:off x="2358200" y="3263190"/>
            <a:ext cx="895734" cy="687800"/>
          </a:xfrm>
          <a:prstGeom prst="rect">
            <a:avLst/>
          </a:prstGeom>
          <a:noFill/>
        </p:spPr>
        <p:txBody>
          <a:bodyPr wrap="square" lIns="0" tIns="0" rIns="0" bIns="0" anchor="t">
            <a:spAutoFit/>
          </a:bodyPr>
          <a:lstStyle/>
          <a:p>
            <a:pPr algn="l">
              <a:lnSpc>
                <a:spcPct val="105000"/>
              </a:lnSpc>
            </a:pPr>
            <a:r>
              <a:rPr sz="900" b="1" dirty="0">
                <a:solidFill>
                  <a:srgbClr val="5C4712"/>
                </a:solidFill>
                <a:latin typeface="Aptos"/>
              </a:rPr>
              <a:t>'a' is char</a:t>
            </a:r>
            <a:r>
              <a:rPr sz="900" b="0" dirty="0">
                <a:solidFill>
                  <a:srgbClr val="5C4712"/>
                </a:solidFill>
                <a:latin typeface="Aptos"/>
              </a:rPr>
              <a:t>; </a:t>
            </a:r>
            <a:r>
              <a:rPr sz="900" b="1" dirty="0">
                <a:solidFill>
                  <a:srgbClr val="5C4712"/>
                </a:solidFill>
                <a:latin typeface="Aptos"/>
              </a:rPr>
              <a:t>string literals are const</a:t>
            </a:r>
            <a:r>
              <a:rPr sz="900" b="0" dirty="0">
                <a:solidFill>
                  <a:srgbClr val="5C4712"/>
                </a:solidFill>
                <a:latin typeface="Aptos"/>
              </a:rPr>
              <a:t>; u8, char16_t, char32_t</a:t>
            </a:r>
          </a:p>
        </p:txBody>
      </p:sp>
      <p:sp>
        <p:nvSpPr>
          <p:cNvPr id="28" name="Rounded Rectangle 27"/>
          <p:cNvSpPr/>
          <p:nvPr/>
        </p:nvSpPr>
        <p:spPr>
          <a:xfrm>
            <a:off x="3353934" y="3033190"/>
            <a:ext cx="19580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13" b="1">
                <a:solidFill>
                  <a:srgbClr val="8A6D1F"/>
                </a:solidFill>
                <a:latin typeface="Aptos"/>
              </a:rPr>
              <a:t>Expressions and Conversions</a:t>
            </a:r>
          </a:p>
        </p:txBody>
      </p:sp>
      <p:sp>
        <p:nvSpPr>
          <p:cNvPr id="29" name="TextBox 28"/>
          <p:cNvSpPr txBox="1"/>
          <p:nvPr/>
        </p:nvSpPr>
        <p:spPr>
          <a:xfrm>
            <a:off x="3353934" y="3263190"/>
            <a:ext cx="1928000" cy="687800"/>
          </a:xfrm>
          <a:prstGeom prst="rect">
            <a:avLst/>
          </a:prstGeom>
          <a:noFill/>
        </p:spPr>
        <p:txBody>
          <a:bodyPr wrap="square" lIns="0" tIns="0" rIns="0" bIns="0" anchor="t">
            <a:spAutoFit/>
          </a:bodyPr>
          <a:lstStyle/>
          <a:p>
            <a:pPr algn="l">
              <a:lnSpc>
                <a:spcPct val="105000"/>
              </a:lnSpc>
            </a:pPr>
            <a:r>
              <a:rPr sz="900" b="1" dirty="0">
                <a:solidFill>
                  <a:srgbClr val="5C4712"/>
                </a:solidFill>
                <a:latin typeface="Aptos"/>
              </a:rPr>
              <a:t>void* to int*</a:t>
            </a:r>
            <a:r>
              <a:rPr sz="900" b="0" dirty="0">
                <a:solidFill>
                  <a:srgbClr val="5C4712"/>
                </a:solidFill>
                <a:latin typeface="Aptos"/>
              </a:rPr>
              <a:t>; </a:t>
            </a:r>
            <a:r>
              <a:rPr sz="900" b="1" dirty="0">
                <a:solidFill>
                  <a:srgbClr val="5C4712"/>
                </a:solidFill>
                <a:latin typeface="Aptos"/>
              </a:rPr>
              <a:t>int to </a:t>
            </a:r>
            <a:r>
              <a:rPr sz="900" b="1" dirty="0" err="1">
                <a:solidFill>
                  <a:srgbClr val="5C4712"/>
                </a:solidFill>
                <a:latin typeface="Aptos"/>
              </a:rPr>
              <a:t>enum</a:t>
            </a:r>
            <a:r>
              <a:rPr sz="900" b="0" dirty="0">
                <a:solidFill>
                  <a:srgbClr val="5C4712"/>
                </a:solidFill>
                <a:latin typeface="Aptos"/>
              </a:rPr>
              <a:t>; value categories of =, ?: and comma; bool comparisons; &amp;*p on null; built-in array comparison; </a:t>
            </a:r>
            <a:r>
              <a:rPr sz="900" b="1" dirty="0">
                <a:solidFill>
                  <a:srgbClr val="5C4712"/>
                </a:solidFill>
                <a:latin typeface="Aptos"/>
              </a:rPr>
              <a:t>narrowing in braces</a:t>
            </a:r>
            <a:r>
              <a:rPr sz="900" b="0" dirty="0">
                <a:solidFill>
                  <a:srgbClr val="5C4712"/>
                </a:solidFill>
                <a:latin typeface="Aptos"/>
              </a:rPr>
              <a:t>; </a:t>
            </a:r>
            <a:r>
              <a:rPr sz="900" b="1" dirty="0">
                <a:solidFill>
                  <a:srgbClr val="5C4712"/>
                </a:solidFill>
                <a:latin typeface="Aptos"/>
              </a:rPr>
              <a:t>evaluation order</a:t>
            </a:r>
          </a:p>
        </p:txBody>
      </p:sp>
      <p:sp>
        <p:nvSpPr>
          <p:cNvPr id="30" name="Rounded Rectangle 29"/>
          <p:cNvSpPr/>
          <p:nvPr/>
        </p:nvSpPr>
        <p:spPr>
          <a:xfrm>
            <a:off x="5381934" y="3033190"/>
            <a:ext cx="1814965"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41" b="1">
                <a:solidFill>
                  <a:srgbClr val="8A6D1F"/>
                </a:solidFill>
                <a:latin typeface="Aptos"/>
              </a:rPr>
              <a:t>Declarations and Linkage</a:t>
            </a:r>
          </a:p>
        </p:txBody>
      </p:sp>
      <p:sp>
        <p:nvSpPr>
          <p:cNvPr id="31" name="TextBox 30"/>
          <p:cNvSpPr txBox="1"/>
          <p:nvPr/>
        </p:nvSpPr>
        <p:spPr>
          <a:xfrm>
            <a:off x="5381934" y="3263190"/>
            <a:ext cx="1784965" cy="687800"/>
          </a:xfrm>
          <a:prstGeom prst="rect">
            <a:avLst/>
          </a:prstGeom>
          <a:noFill/>
        </p:spPr>
        <p:txBody>
          <a:bodyPr wrap="square" lIns="0" tIns="0" rIns="0" bIns="0" anchor="t">
            <a:spAutoFit/>
          </a:bodyPr>
          <a:lstStyle/>
          <a:p>
            <a:pPr algn="l">
              <a:lnSpc>
                <a:spcPct val="105000"/>
              </a:lnSpc>
            </a:pPr>
            <a:r>
              <a:rPr sz="900" b="1" dirty="0">
                <a:solidFill>
                  <a:srgbClr val="5C4712"/>
                </a:solidFill>
                <a:latin typeface="Aptos"/>
              </a:rPr>
              <a:t>const linkage</a:t>
            </a:r>
            <a:r>
              <a:rPr sz="900" b="0" dirty="0">
                <a:solidFill>
                  <a:srgbClr val="5C4712"/>
                </a:solidFill>
                <a:latin typeface="Aptos"/>
              </a:rPr>
              <a:t>; const needs an initializer; inline; int f() before C23; main not callable; tentative definitions; types in casts, sizeof, parameters; </a:t>
            </a:r>
            <a:r>
              <a:rPr sz="900" b="1" dirty="0">
                <a:solidFill>
                  <a:srgbClr val="5C4712"/>
                </a:solidFill>
                <a:latin typeface="Aptos"/>
              </a:rPr>
              <a:t>ODR</a:t>
            </a:r>
          </a:p>
        </p:txBody>
      </p:sp>
      <p:sp>
        <p:nvSpPr>
          <p:cNvPr id="32" name="Rounded Rectangle 31"/>
          <p:cNvSpPr/>
          <p:nvPr/>
        </p:nvSpPr>
        <p:spPr>
          <a:xfrm>
            <a:off x="7266899" y="3033190"/>
            <a:ext cx="20499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6" b="1">
                <a:solidFill>
                  <a:srgbClr val="8A6D1F"/>
                </a:solidFill>
                <a:latin typeface="Aptos"/>
              </a:rPr>
              <a:t>Initialization and Lifetime</a:t>
            </a:r>
          </a:p>
        </p:txBody>
      </p:sp>
      <p:sp>
        <p:nvSpPr>
          <p:cNvPr id="33" name="TextBox 32"/>
          <p:cNvSpPr txBox="1"/>
          <p:nvPr/>
        </p:nvSpPr>
        <p:spPr>
          <a:xfrm>
            <a:off x="7266899" y="3263190"/>
            <a:ext cx="2019900" cy="824960"/>
          </a:xfrm>
          <a:prstGeom prst="rect">
            <a:avLst/>
          </a:prstGeom>
          <a:noFill/>
        </p:spPr>
        <p:txBody>
          <a:bodyPr wrap="square" lIns="0" tIns="0" rIns="0" bIns="0" anchor="t">
            <a:spAutoFit/>
          </a:bodyPr>
          <a:lstStyle/>
          <a:p>
            <a:pPr algn="l">
              <a:lnSpc>
                <a:spcPct val="105000"/>
              </a:lnSpc>
            </a:pPr>
            <a:r>
              <a:rPr sz="900" b="0" dirty="0">
                <a:solidFill>
                  <a:srgbClr val="5C4712"/>
                </a:solidFill>
                <a:latin typeface="Aptos"/>
              </a:rPr>
              <a:t>designator order and nesting; </a:t>
            </a:r>
            <a:r>
              <a:rPr sz="900" b="1" dirty="0">
                <a:solidFill>
                  <a:srgbClr val="5C4712"/>
                </a:solidFill>
                <a:latin typeface="Aptos"/>
              </a:rPr>
              <a:t>char[4]="</a:t>
            </a:r>
            <a:r>
              <a:rPr sz="900" b="1" dirty="0" err="1">
                <a:solidFill>
                  <a:srgbClr val="5C4712"/>
                </a:solidFill>
                <a:latin typeface="Aptos"/>
              </a:rPr>
              <a:t>abcd</a:t>
            </a:r>
            <a:r>
              <a:rPr sz="900" b="1" dirty="0">
                <a:solidFill>
                  <a:srgbClr val="5C4712"/>
                </a:solidFill>
                <a:latin typeface="Aptos"/>
              </a:rPr>
              <a:t>"</a:t>
            </a:r>
            <a:r>
              <a:rPr sz="900" b="0" dirty="0">
                <a:solidFill>
                  <a:srgbClr val="5C4712"/>
                </a:solidFill>
                <a:latin typeface="Aptos"/>
              </a:rPr>
              <a:t>; empty struct; non-constant static init; </a:t>
            </a:r>
            <a:r>
              <a:rPr sz="900" b="1" dirty="0" err="1">
                <a:solidFill>
                  <a:srgbClr val="5C4712"/>
                </a:solidFill>
                <a:latin typeface="Aptos"/>
              </a:rPr>
              <a:t>goto</a:t>
            </a:r>
            <a:r>
              <a:rPr sz="900" b="1" dirty="0">
                <a:solidFill>
                  <a:srgbClr val="5C4712"/>
                </a:solidFill>
                <a:latin typeface="Aptos"/>
              </a:rPr>
              <a:t> past an initialized local</a:t>
            </a:r>
            <a:r>
              <a:rPr sz="900" b="0" dirty="0">
                <a:solidFill>
                  <a:srgbClr val="5C4712"/>
                </a:solidFill>
                <a:latin typeface="Aptos"/>
              </a:rPr>
              <a:t>; falling off a function; </a:t>
            </a:r>
            <a:r>
              <a:rPr sz="900" b="1" dirty="0">
                <a:solidFill>
                  <a:srgbClr val="5C4712"/>
                </a:solidFill>
                <a:latin typeface="Aptos"/>
              </a:rPr>
              <a:t>object lifetime and aliasing model</a:t>
            </a:r>
          </a:p>
        </p:txBody>
      </p:sp>
      <p:sp>
        <p:nvSpPr>
          <p:cNvPr id="34" name="Rounded Rectangle 33"/>
          <p:cNvSpPr/>
          <p:nvPr/>
        </p:nvSpPr>
        <p:spPr>
          <a:xfrm>
            <a:off x="9386799" y="3033190"/>
            <a:ext cx="1424000" cy="200000"/>
          </a:xfrm>
          <a:prstGeom prst="roundRect">
            <a:avLst>
              <a:gd name="adj" fmla="val 50000"/>
            </a:avLst>
          </a:prstGeom>
          <a:solidFill>
            <a:srgbClr val="F0D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8A6D1F"/>
                </a:solidFill>
                <a:latin typeface="Aptos"/>
              </a:rPr>
              <a:t>Objects and Scope</a:t>
            </a:r>
          </a:p>
        </p:txBody>
      </p:sp>
      <p:sp>
        <p:nvSpPr>
          <p:cNvPr id="35" name="TextBox 34"/>
          <p:cNvSpPr txBox="1"/>
          <p:nvPr/>
        </p:nvSpPr>
        <p:spPr>
          <a:xfrm>
            <a:off x="9386799" y="3263190"/>
            <a:ext cx="1987004" cy="824960"/>
          </a:xfrm>
          <a:prstGeom prst="rect">
            <a:avLst/>
          </a:prstGeom>
          <a:noFill/>
        </p:spPr>
        <p:txBody>
          <a:bodyPr wrap="square" lIns="0" tIns="0" rIns="0" bIns="0" anchor="t">
            <a:spAutoFit/>
          </a:bodyPr>
          <a:lstStyle/>
          <a:p>
            <a:pPr algn="l">
              <a:lnSpc>
                <a:spcPct val="105000"/>
              </a:lnSpc>
            </a:pPr>
            <a:r>
              <a:rPr sz="900" b="0">
                <a:solidFill>
                  <a:srgbClr val="5C4712"/>
                </a:solidFill>
                <a:latin typeface="Aptos"/>
              </a:rPr>
              <a:t>typedef vs tag names; alignas placement; atomics, threads; struct scope; tag hiding; bit-field signedness; volatile struct copies; union punning; attributes; NULL; </a:t>
            </a:r>
            <a:r>
              <a:rPr sz="900" b="1">
                <a:solidFill>
                  <a:srgbClr val="5C4712"/>
                </a:solidFill>
                <a:latin typeface="Aptos"/>
              </a:rPr>
              <a:t>realloc(p,0)</a:t>
            </a:r>
          </a:p>
        </p:txBody>
      </p:sp>
      <p:sp>
        <p:nvSpPr>
          <p:cNvPr id="36" name="Rounded Rectangle 35"/>
          <p:cNvSpPr/>
          <p:nvPr/>
        </p:nvSpPr>
        <p:spPr>
          <a:xfrm>
            <a:off x="838200" y="4148150"/>
            <a:ext cx="10755600" cy="180076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58200" y="4188150"/>
            <a:ext cx="1300000" cy="544508"/>
          </a:xfrm>
          <a:prstGeom prst="rect">
            <a:avLst/>
          </a:prstGeom>
          <a:noFill/>
        </p:spPr>
        <p:txBody>
          <a:bodyPr wrap="square" lIns="0" tIns="0" rIns="0" bIns="0" anchor="t">
            <a:spAutoFit/>
          </a:bodyPr>
          <a:lstStyle/>
          <a:p>
            <a:pPr algn="l">
              <a:lnSpc>
                <a:spcPct val="105000"/>
              </a:lnSpc>
            </a:pPr>
            <a:r>
              <a:rPr sz="1400" b="1" dirty="0">
                <a:solidFill>
                  <a:srgbClr val="2E5E8C"/>
                </a:solidFill>
                <a:latin typeface="Aptos"/>
              </a:rPr>
              <a:t>C++ added</a:t>
            </a:r>
          </a:p>
          <a:p>
            <a:pPr algn="l">
              <a:lnSpc>
                <a:spcPct val="105000"/>
              </a:lnSpc>
            </a:pPr>
            <a:r>
              <a:rPr sz="1000" b="0" dirty="0">
                <a:solidFill>
                  <a:srgbClr val="2E5E8C"/>
                </a:solidFill>
                <a:latin typeface="Aptos"/>
              </a:rPr>
              <a:t>more mechanisms, libraries</a:t>
            </a:r>
          </a:p>
        </p:txBody>
      </p:sp>
      <p:sp>
        <p:nvSpPr>
          <p:cNvPr id="38" name="Rounded Rectangle 37"/>
          <p:cNvSpPr/>
          <p:nvPr/>
        </p:nvSpPr>
        <p:spPr>
          <a:xfrm>
            <a:off x="2358200" y="4188150"/>
            <a:ext cx="1064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Object Model</a:t>
            </a:r>
          </a:p>
        </p:txBody>
      </p:sp>
      <p:sp>
        <p:nvSpPr>
          <p:cNvPr id="39" name="TextBox 38"/>
          <p:cNvSpPr txBox="1"/>
          <p:nvPr/>
        </p:nvSpPr>
        <p:spPr>
          <a:xfrm>
            <a:off x="2358200" y="4418150"/>
            <a:ext cx="1193615" cy="1236440"/>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classes and RAII</a:t>
            </a:r>
            <a:r>
              <a:rPr sz="900" b="0">
                <a:solidFill>
                  <a:srgbClr val="1C3E63"/>
                </a:solidFill>
                <a:latin typeface="Aptos"/>
              </a:rPr>
              <a:t>, single and multiple inheritance, virtual </a:t>
            </a:r>
            <a:r>
              <a:rPr sz="900" b="1">
                <a:solidFill>
                  <a:srgbClr val="1C3E63"/>
                </a:solidFill>
                <a:latin typeface="Aptos"/>
              </a:rPr>
              <a:t>functions</a:t>
            </a:r>
            <a:r>
              <a:rPr sz="900" b="0">
                <a:solidFill>
                  <a:srgbClr val="1C3E63"/>
                </a:solidFill>
                <a:latin typeface="Aptos"/>
              </a:rPr>
              <a:t>, </a:t>
            </a:r>
            <a:r>
              <a:rPr sz="900" b="1">
                <a:solidFill>
                  <a:srgbClr val="1C3E63"/>
                </a:solidFill>
                <a:latin typeface="Aptos"/>
              </a:rPr>
              <a:t>references</a:t>
            </a:r>
            <a:r>
              <a:rPr sz="900" b="0">
                <a:solidFill>
                  <a:srgbClr val="1C3E63"/>
                </a:solidFill>
                <a:latin typeface="Aptos"/>
              </a:rPr>
              <a:t>, new and delete, overloading, default arguments, named casts, RTTI, </a:t>
            </a:r>
            <a:r>
              <a:rPr sz="900" b="1">
                <a:solidFill>
                  <a:srgbClr val="1C3E63"/>
                </a:solidFill>
                <a:latin typeface="Aptos"/>
              </a:rPr>
              <a:t>move semantics</a:t>
            </a:r>
          </a:p>
        </p:txBody>
      </p:sp>
      <p:sp>
        <p:nvSpPr>
          <p:cNvPr id="40" name="Rounded Rectangle 39"/>
          <p:cNvSpPr/>
          <p:nvPr/>
        </p:nvSpPr>
        <p:spPr>
          <a:xfrm>
            <a:off x="3651815" y="4188150"/>
            <a:ext cx="1742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3" b="1">
                <a:solidFill>
                  <a:srgbClr val="2E5E8C"/>
                </a:solidFill>
                <a:latin typeface="Aptos"/>
              </a:rPr>
              <a:t>Generic and Compile-time</a:t>
            </a:r>
          </a:p>
        </p:txBody>
      </p:sp>
      <p:sp>
        <p:nvSpPr>
          <p:cNvPr id="41" name="TextBox 40"/>
          <p:cNvSpPr txBox="1"/>
          <p:nvPr/>
        </p:nvSpPr>
        <p:spPr>
          <a:xfrm>
            <a:off x="3651815" y="4418150"/>
            <a:ext cx="1712000" cy="962119"/>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templates</a:t>
            </a:r>
            <a:r>
              <a:rPr sz="900" b="0">
                <a:solidFill>
                  <a:srgbClr val="1C3E63"/>
                </a:solidFill>
                <a:latin typeface="Aptos"/>
              </a:rPr>
              <a:t>, alias </a:t>
            </a:r>
            <a:r>
              <a:rPr sz="900" b="1">
                <a:solidFill>
                  <a:srgbClr val="1C3E63"/>
                </a:solidFill>
                <a:latin typeface="Aptos"/>
              </a:rPr>
              <a:t>templates</a:t>
            </a:r>
            <a:r>
              <a:rPr sz="900" b="0">
                <a:solidFill>
                  <a:srgbClr val="1C3E63"/>
                </a:solidFill>
                <a:latin typeface="Aptos"/>
              </a:rPr>
              <a:t>, </a:t>
            </a:r>
            <a:r>
              <a:rPr sz="900" b="1">
                <a:solidFill>
                  <a:srgbClr val="1C3E63"/>
                </a:solidFill>
                <a:latin typeface="Aptos"/>
              </a:rPr>
              <a:t>concepts</a:t>
            </a:r>
            <a:r>
              <a:rPr sz="900" b="0">
                <a:solidFill>
                  <a:srgbClr val="1C3E63"/>
                </a:solidFill>
                <a:latin typeface="Aptos"/>
              </a:rPr>
              <a:t>, </a:t>
            </a:r>
            <a:r>
              <a:rPr sz="900" b="1">
                <a:solidFill>
                  <a:srgbClr val="1C3E63"/>
                </a:solidFill>
                <a:latin typeface="Aptos"/>
              </a:rPr>
              <a:t>lambdas</a:t>
            </a:r>
            <a:r>
              <a:rPr sz="900" b="0">
                <a:solidFill>
                  <a:srgbClr val="1C3E63"/>
                </a:solidFill>
                <a:latin typeface="Aptos"/>
              </a:rPr>
              <a:t>, auto, decltype, </a:t>
            </a:r>
            <a:r>
              <a:rPr sz="900" b="1">
                <a:solidFill>
                  <a:srgbClr val="1C3E63"/>
                </a:solidFill>
                <a:latin typeface="Aptos"/>
              </a:rPr>
              <a:t>constexpr and consteval functions</a:t>
            </a:r>
            <a:r>
              <a:rPr sz="900" b="0">
                <a:solidFill>
                  <a:srgbClr val="1C3E63"/>
                </a:solidFill>
                <a:latin typeface="Aptos"/>
              </a:rPr>
              <a:t>, constinit, if constexpr, if consteval, user-defined literals, fold expressions, CTAD, </a:t>
            </a:r>
            <a:r>
              <a:rPr sz="900" b="1">
                <a:solidFill>
                  <a:srgbClr val="1C3E63"/>
                </a:solidFill>
                <a:latin typeface="Aptos"/>
              </a:rPr>
              <a:t>reflection</a:t>
            </a:r>
          </a:p>
        </p:txBody>
      </p:sp>
      <p:sp>
        <p:nvSpPr>
          <p:cNvPr id="42" name="Rounded Rectangle 41"/>
          <p:cNvSpPr/>
          <p:nvPr/>
        </p:nvSpPr>
        <p:spPr>
          <a:xfrm>
            <a:off x="5463815" y="4188150"/>
            <a:ext cx="1496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Control and Errors</a:t>
            </a:r>
          </a:p>
        </p:txBody>
      </p:sp>
      <p:sp>
        <p:nvSpPr>
          <p:cNvPr id="43" name="TextBox 42"/>
          <p:cNvSpPr txBox="1"/>
          <p:nvPr/>
        </p:nvSpPr>
        <p:spPr>
          <a:xfrm>
            <a:off x="5463815" y="4418150"/>
            <a:ext cx="1593719" cy="1510760"/>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exceptions</a:t>
            </a:r>
            <a:r>
              <a:rPr sz="900" b="0">
                <a:solidFill>
                  <a:srgbClr val="1C3E63"/>
                </a:solidFill>
                <a:latin typeface="Aptos"/>
              </a:rPr>
              <a:t>, noexcept, range-based for, structured bindings, three-way comparison, </a:t>
            </a:r>
            <a:r>
              <a:rPr sz="900" b="1">
                <a:solidFill>
                  <a:srgbClr val="1C3E63"/>
                </a:solidFill>
                <a:latin typeface="Aptos"/>
              </a:rPr>
              <a:t>coroutines</a:t>
            </a:r>
            <a:r>
              <a:rPr sz="900" b="0">
                <a:solidFill>
                  <a:srgbClr val="1C3E63"/>
                </a:solidFill>
                <a:latin typeface="Aptos"/>
              </a:rPr>
              <a:t>, </a:t>
            </a:r>
            <a:r>
              <a:rPr sz="900" b="1">
                <a:solidFill>
                  <a:srgbClr val="1C3E63"/>
                </a:solidFill>
                <a:latin typeface="Aptos"/>
              </a:rPr>
              <a:t>contracts</a:t>
            </a:r>
            <a:r>
              <a:rPr sz="900" b="0">
                <a:solidFill>
                  <a:srgbClr val="1C3E63"/>
                </a:solidFill>
                <a:latin typeface="Aptos"/>
              </a:rPr>
              <a:t>, </a:t>
            </a:r>
            <a:r>
              <a:rPr sz="900" b="1">
                <a:solidFill>
                  <a:srgbClr val="1C3E63"/>
                </a:solidFill>
                <a:latin typeface="Aptos"/>
              </a:rPr>
              <a:t>erroneous behaviour</a:t>
            </a:r>
            <a:r>
              <a:rPr sz="900" b="0">
                <a:solidFill>
                  <a:srgbClr val="1C3E63"/>
                </a:solidFill>
                <a:latin typeface="Aptos"/>
              </a:rPr>
              <a:t>, enum class, override, final, deducing this, pack indexing, name-independent _ declarations, expansion statements</a:t>
            </a:r>
          </a:p>
        </p:txBody>
      </p:sp>
      <p:sp>
        <p:nvSpPr>
          <p:cNvPr id="44" name="Rounded Rectangle 43"/>
          <p:cNvSpPr/>
          <p:nvPr/>
        </p:nvSpPr>
        <p:spPr>
          <a:xfrm>
            <a:off x="7157534" y="4188150"/>
            <a:ext cx="1064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Organization</a:t>
            </a:r>
          </a:p>
        </p:txBody>
      </p:sp>
      <p:sp>
        <p:nvSpPr>
          <p:cNvPr id="45" name="TextBox 44"/>
          <p:cNvSpPr txBox="1"/>
          <p:nvPr/>
        </p:nvSpPr>
        <p:spPr>
          <a:xfrm>
            <a:off x="7157534" y="4418150"/>
            <a:ext cx="1064000" cy="413480"/>
          </a:xfrm>
          <a:prstGeom prst="rect">
            <a:avLst/>
          </a:prstGeom>
          <a:noFill/>
        </p:spPr>
        <p:txBody>
          <a:bodyPr wrap="square" lIns="0" tIns="0" rIns="0" bIns="0" anchor="t">
            <a:spAutoFit/>
          </a:bodyPr>
          <a:lstStyle/>
          <a:p>
            <a:pPr algn="l">
              <a:lnSpc>
                <a:spcPct val="105000"/>
              </a:lnSpc>
            </a:pPr>
            <a:r>
              <a:rPr sz="900" b="0">
                <a:solidFill>
                  <a:srgbClr val="1C3E63"/>
                </a:solidFill>
                <a:latin typeface="Aptos"/>
              </a:rPr>
              <a:t>namespaces, </a:t>
            </a:r>
            <a:r>
              <a:rPr sz="900" b="1">
                <a:solidFill>
                  <a:srgbClr val="1C3E63"/>
                </a:solidFill>
                <a:latin typeface="Aptos"/>
              </a:rPr>
              <a:t>modules</a:t>
            </a:r>
            <a:r>
              <a:rPr sz="900" b="0">
                <a:solidFill>
                  <a:srgbClr val="1C3E63"/>
                </a:solidFill>
                <a:latin typeface="Aptos"/>
              </a:rPr>
              <a:t>, extern "C" language linkage</a:t>
            </a:r>
          </a:p>
        </p:txBody>
      </p:sp>
      <p:sp>
        <p:nvSpPr>
          <p:cNvPr id="46" name="Rounded Rectangle 45"/>
          <p:cNvSpPr/>
          <p:nvPr/>
        </p:nvSpPr>
        <p:spPr>
          <a:xfrm>
            <a:off x="8321534" y="4188150"/>
            <a:ext cx="704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Library</a:t>
            </a:r>
          </a:p>
        </p:txBody>
      </p:sp>
      <p:sp>
        <p:nvSpPr>
          <p:cNvPr id="47" name="TextBox 46"/>
          <p:cNvSpPr txBox="1"/>
          <p:nvPr/>
        </p:nvSpPr>
        <p:spPr>
          <a:xfrm>
            <a:off x="8321534" y="4418150"/>
            <a:ext cx="1371410" cy="1510760"/>
          </a:xfrm>
          <a:prstGeom prst="rect">
            <a:avLst/>
          </a:prstGeom>
          <a:noFill/>
        </p:spPr>
        <p:txBody>
          <a:bodyPr wrap="square" lIns="0" tIns="0" rIns="0" bIns="0" anchor="t">
            <a:spAutoFit/>
          </a:bodyPr>
          <a:lstStyle/>
          <a:p>
            <a:pPr algn="l">
              <a:lnSpc>
                <a:spcPct val="105000"/>
              </a:lnSpc>
            </a:pPr>
            <a:r>
              <a:rPr sz="900" b="0">
                <a:solidFill>
                  <a:srgbClr val="1C3E63"/>
                </a:solidFill>
                <a:latin typeface="Aptos"/>
              </a:rPr>
              <a:t>string, containers, algorithms, iterators, </a:t>
            </a:r>
            <a:r>
              <a:rPr sz="900" b="1">
                <a:solidFill>
                  <a:srgbClr val="1C3E63"/>
                </a:solidFill>
                <a:latin typeface="Aptos"/>
              </a:rPr>
              <a:t>ranges</a:t>
            </a:r>
            <a:r>
              <a:rPr sz="900" b="0">
                <a:solidFill>
                  <a:srgbClr val="1C3E63"/>
                </a:solidFill>
                <a:latin typeface="Aptos"/>
              </a:rPr>
              <a:t>, </a:t>
            </a:r>
            <a:r>
              <a:rPr sz="900" b="1">
                <a:solidFill>
                  <a:srgbClr val="1C3E63"/>
                </a:solidFill>
                <a:latin typeface="Aptos"/>
              </a:rPr>
              <a:t>smart pointers</a:t>
            </a:r>
            <a:r>
              <a:rPr sz="900" b="0">
                <a:solidFill>
                  <a:srgbClr val="1C3E63"/>
                </a:solidFill>
                <a:latin typeface="Aptos"/>
              </a:rPr>
              <a:t>, allocators, pmr, </a:t>
            </a:r>
            <a:r>
              <a:rPr sz="900" b="1">
                <a:solidFill>
                  <a:srgbClr val="1C3E63"/>
                </a:solidFill>
                <a:latin typeface="Aptos"/>
              </a:rPr>
              <a:t>span</a:t>
            </a:r>
            <a:r>
              <a:rPr sz="900" b="0">
                <a:solidFill>
                  <a:srgbClr val="1C3E63"/>
                </a:solidFill>
                <a:latin typeface="Aptos"/>
              </a:rPr>
              <a:t>, </a:t>
            </a:r>
            <a:r>
              <a:rPr sz="900" b="1">
                <a:solidFill>
                  <a:srgbClr val="1C3E63"/>
                </a:solidFill>
                <a:latin typeface="Aptos"/>
              </a:rPr>
              <a:t>string_view</a:t>
            </a:r>
            <a:r>
              <a:rPr sz="900" b="0">
                <a:solidFill>
                  <a:srgbClr val="1C3E63"/>
                </a:solidFill>
                <a:latin typeface="Aptos"/>
              </a:rPr>
              <a:t>, </a:t>
            </a:r>
            <a:r>
              <a:rPr sz="900" b="1">
                <a:solidFill>
                  <a:srgbClr val="1C3E63"/>
                </a:solidFill>
                <a:latin typeface="Aptos"/>
              </a:rPr>
              <a:t>optional</a:t>
            </a:r>
            <a:r>
              <a:rPr sz="900" b="0">
                <a:solidFill>
                  <a:srgbClr val="1C3E63"/>
                </a:solidFill>
                <a:latin typeface="Aptos"/>
              </a:rPr>
              <a:t>, variant, expected, tuple, any, function, type_traits, </a:t>
            </a:r>
            <a:r>
              <a:rPr sz="900" b="1">
                <a:solidFill>
                  <a:srgbClr val="1C3E63"/>
                </a:solidFill>
                <a:latin typeface="Aptos"/>
              </a:rPr>
              <a:t>format</a:t>
            </a:r>
            <a:r>
              <a:rPr sz="900" b="0">
                <a:solidFill>
                  <a:srgbClr val="1C3E63"/>
                </a:solidFill>
                <a:latin typeface="Aptos"/>
              </a:rPr>
              <a:t>, print, iostreams, chrono, filesystem, regex, random, complex</a:t>
            </a:r>
          </a:p>
        </p:txBody>
      </p:sp>
      <p:sp>
        <p:nvSpPr>
          <p:cNvPr id="48" name="Rounded Rectangle 47"/>
          <p:cNvSpPr/>
          <p:nvPr/>
        </p:nvSpPr>
        <p:spPr>
          <a:xfrm>
            <a:off x="9792944" y="4188150"/>
            <a:ext cx="1280000" cy="200000"/>
          </a:xfrm>
          <a:prstGeom prst="roundRect">
            <a:avLst>
              <a:gd name="adj" fmla="val 50000"/>
            </a:avLst>
          </a:prstGeom>
          <a:solidFill>
            <a:srgbClr val="CFDDE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2E5E8C"/>
                </a:solidFill>
                <a:latin typeface="Aptos"/>
              </a:rPr>
              <a:t>Systems Library</a:t>
            </a:r>
          </a:p>
        </p:txBody>
      </p:sp>
      <p:sp>
        <p:nvSpPr>
          <p:cNvPr id="49" name="TextBox 48"/>
          <p:cNvSpPr txBox="1"/>
          <p:nvPr/>
        </p:nvSpPr>
        <p:spPr>
          <a:xfrm>
            <a:off x="9792944" y="4418150"/>
            <a:ext cx="1580857" cy="1373600"/>
          </a:xfrm>
          <a:prstGeom prst="rect">
            <a:avLst/>
          </a:prstGeom>
          <a:noFill/>
        </p:spPr>
        <p:txBody>
          <a:bodyPr wrap="square" lIns="0" tIns="0" rIns="0" bIns="0" anchor="t">
            <a:spAutoFit/>
          </a:bodyPr>
          <a:lstStyle/>
          <a:p>
            <a:pPr algn="l">
              <a:lnSpc>
                <a:spcPct val="105000"/>
              </a:lnSpc>
            </a:pPr>
            <a:r>
              <a:rPr sz="900" b="1">
                <a:solidFill>
                  <a:srgbClr val="1C3E63"/>
                </a:solidFill>
                <a:latin typeface="Aptos"/>
              </a:rPr>
              <a:t>thread</a:t>
            </a:r>
            <a:r>
              <a:rPr sz="900" b="0">
                <a:solidFill>
                  <a:srgbClr val="1C3E63"/>
                </a:solidFill>
                <a:latin typeface="Aptos"/>
              </a:rPr>
              <a:t>, jthread, mutexes, futures, parallel policies, senders and receivers, simd, linalg, mdspan, flat_map, stacktrace, generator, bit_cast, source_location, hazard </a:t>
            </a:r>
            <a:r>
              <a:rPr sz="900" b="1">
                <a:solidFill>
                  <a:srgbClr val="1C3E63"/>
                </a:solidFill>
                <a:latin typeface="Aptos"/>
              </a:rPr>
              <a:t>pointers</a:t>
            </a:r>
            <a:r>
              <a:rPr sz="900" b="0">
                <a:solidFill>
                  <a:srgbClr val="1C3E63"/>
                </a:solidFill>
                <a:latin typeface="Aptos"/>
              </a:rPr>
              <a:t>, RCU, saturating arithmetic, </a:t>
            </a:r>
            <a:r>
              <a:rPr sz="900" b="1">
                <a:solidFill>
                  <a:srgbClr val="1C3E63"/>
                </a:solidFill>
                <a:latin typeface="Aptos"/>
              </a:rPr>
              <a:t>optional</a:t>
            </a:r>
            <a:r>
              <a:rPr sz="900" b="0">
                <a:solidFill>
                  <a:srgbClr val="1C3E63"/>
                </a:solidFill>
                <a:latin typeface="Aptos"/>
              </a:rPr>
              <a:t> </a:t>
            </a:r>
            <a:r>
              <a:rPr sz="900" b="1">
                <a:solidFill>
                  <a:srgbClr val="1C3E63"/>
                </a:solidFill>
                <a:latin typeface="Aptos"/>
              </a:rPr>
              <a:t>hardened preconditions</a:t>
            </a:r>
          </a:p>
        </p:txBody>
      </p:sp>
      <p:sp>
        <p:nvSpPr>
          <p:cNvPr id="50" name="Rounded Rectangle 49"/>
          <p:cNvSpPr/>
          <p:nvPr/>
        </p:nvSpPr>
        <p:spPr>
          <a:xfrm>
            <a:off x="838200" y="5988910"/>
            <a:ext cx="10755600" cy="620000"/>
          </a:xfrm>
          <a:prstGeom prst="roundRect">
            <a:avLst>
              <a:gd name="adj" fmla="val 6000"/>
            </a:avLst>
          </a:prstGeom>
          <a:solidFill>
            <a:srgbClr val="F1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58200" y="6028910"/>
            <a:ext cx="1300000" cy="382925"/>
          </a:xfrm>
          <a:prstGeom prst="rect">
            <a:avLst/>
          </a:prstGeom>
          <a:noFill/>
        </p:spPr>
        <p:txBody>
          <a:bodyPr wrap="square" lIns="0" tIns="0" rIns="0" bIns="0" anchor="t">
            <a:spAutoFit/>
          </a:bodyPr>
          <a:lstStyle/>
          <a:p>
            <a:pPr algn="l">
              <a:lnSpc>
                <a:spcPct val="105000"/>
              </a:lnSpc>
            </a:pPr>
            <a:r>
              <a:rPr sz="1400" b="1" dirty="0">
                <a:solidFill>
                  <a:srgbClr val="595959"/>
                </a:solidFill>
                <a:latin typeface="Aptos"/>
              </a:rPr>
              <a:t>C++ removed</a:t>
            </a:r>
          </a:p>
          <a:p>
            <a:pPr algn="l">
              <a:lnSpc>
                <a:spcPct val="105000"/>
              </a:lnSpc>
            </a:pPr>
            <a:r>
              <a:rPr sz="1000" b="0" dirty="0">
                <a:solidFill>
                  <a:srgbClr val="595959"/>
                </a:solidFill>
                <a:latin typeface="Aptos"/>
              </a:rPr>
              <a:t>C forms, later dropped</a:t>
            </a:r>
          </a:p>
        </p:txBody>
      </p:sp>
      <p:sp>
        <p:nvSpPr>
          <p:cNvPr id="52" name="Rounded Rectangle 51"/>
          <p:cNvSpPr/>
          <p:nvPr/>
        </p:nvSpPr>
        <p:spPr>
          <a:xfrm>
            <a:off x="2358200" y="6028910"/>
            <a:ext cx="704000" cy="200000"/>
          </a:xfrm>
          <a:prstGeom prst="roundRect">
            <a:avLst>
              <a:gd name="adj" fmla="val 50000"/>
            </a:avLst>
          </a:prstGeom>
          <a:solidFill>
            <a:srgbClr val="DEDAD7"/>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595959"/>
                </a:solidFill>
                <a:latin typeface="Aptos"/>
              </a:rPr>
              <a:t>Dropped</a:t>
            </a:r>
          </a:p>
        </p:txBody>
      </p:sp>
      <p:sp>
        <p:nvSpPr>
          <p:cNvPr id="53" name="TextBox 52"/>
          <p:cNvSpPr txBox="1"/>
          <p:nvPr/>
        </p:nvSpPr>
        <p:spPr>
          <a:xfrm>
            <a:off x="2358200" y="6258910"/>
            <a:ext cx="9015600" cy="139160"/>
          </a:xfrm>
          <a:prstGeom prst="rect">
            <a:avLst/>
          </a:prstGeom>
          <a:noFill/>
        </p:spPr>
        <p:txBody>
          <a:bodyPr wrap="square" lIns="0" tIns="0" rIns="0" bIns="0" anchor="t">
            <a:spAutoFit/>
          </a:bodyPr>
          <a:lstStyle/>
          <a:p>
            <a:pPr algn="l">
              <a:lnSpc>
                <a:spcPct val="105000"/>
              </a:lnSpc>
            </a:pPr>
            <a:r>
              <a:rPr sz="900" b="0">
                <a:solidFill>
                  <a:srgbClr val="3F3F3F"/>
                </a:solidFill>
                <a:latin typeface="Aptos"/>
              </a:rPr>
              <a:t>register (C++17), auto as a storage class (C++11), </a:t>
            </a:r>
            <a:r>
              <a:rPr sz="900" b="1">
                <a:solidFill>
                  <a:srgbClr val="3F3F3F"/>
                </a:solidFill>
                <a:latin typeface="Aptos"/>
              </a:rPr>
              <a:t>gets</a:t>
            </a:r>
            <a:r>
              <a:rPr sz="900" b="0">
                <a:solidFill>
                  <a:srgbClr val="3F3F3F"/>
                </a:solidFill>
                <a:latin typeface="Aptos"/>
              </a:rPr>
              <a:t> (C++14), trigraphs (C++17)</a:t>
            </a:r>
          </a:p>
        </p:txBody>
      </p:sp>
      <p:sp>
        <p:nvSpPr>
          <p:cNvPr id="54" name="Rounded Rectangle 53"/>
          <p:cNvSpPr/>
          <p:nvPr/>
        </p:nvSpPr>
        <p:spPr>
          <a:xfrm>
            <a:off x="2597200" y="1412550"/>
            <a:ext cx="109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types</a:t>
            </a:r>
          </a:p>
        </p:txBody>
      </p:sp>
      <p:sp>
        <p:nvSpPr>
          <p:cNvPr id="55" name="Rounded Rectangle 54"/>
          <p:cNvSpPr/>
          <p:nvPr/>
        </p:nvSpPr>
        <p:spPr>
          <a:xfrm>
            <a:off x="2581924" y="1827870"/>
            <a:ext cx="169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functions</a:t>
            </a:r>
          </a:p>
        </p:txBody>
      </p:sp>
      <p:sp>
        <p:nvSpPr>
          <p:cNvPr id="56" name="Rounded Rectangle 55"/>
          <p:cNvSpPr/>
          <p:nvPr/>
        </p:nvSpPr>
        <p:spPr>
          <a:xfrm>
            <a:off x="3850648" y="2209250"/>
            <a:ext cx="139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structs</a:t>
            </a:r>
          </a:p>
        </p:txBody>
      </p:sp>
      <p:sp>
        <p:nvSpPr>
          <p:cNvPr id="57" name="Rounded Rectangle 56"/>
          <p:cNvSpPr/>
          <p:nvPr/>
        </p:nvSpPr>
        <p:spPr>
          <a:xfrm>
            <a:off x="1585007" y="4748150"/>
            <a:ext cx="2341193"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classes and RAII</a:t>
            </a:r>
          </a:p>
        </p:txBody>
      </p:sp>
      <p:sp>
        <p:nvSpPr>
          <p:cNvPr id="58" name="Rounded Rectangle 57"/>
          <p:cNvSpPr/>
          <p:nvPr/>
        </p:nvSpPr>
        <p:spPr>
          <a:xfrm>
            <a:off x="1220200" y="4368150"/>
            <a:ext cx="2706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operator overloading</a:t>
            </a:r>
          </a:p>
        </p:txBody>
      </p:sp>
      <p:sp>
        <p:nvSpPr>
          <p:cNvPr id="59" name="Rounded Rectangle 58"/>
          <p:cNvSpPr/>
          <p:nvPr/>
        </p:nvSpPr>
        <p:spPr>
          <a:xfrm>
            <a:off x="6769534" y="4818150"/>
            <a:ext cx="184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namespaces</a:t>
            </a:r>
          </a:p>
        </p:txBody>
      </p:sp>
      <p:sp>
        <p:nvSpPr>
          <p:cNvPr id="60" name="Rounded Rectangle 59"/>
          <p:cNvSpPr/>
          <p:nvPr/>
        </p:nvSpPr>
        <p:spPr>
          <a:xfrm>
            <a:off x="3662815" y="5179209"/>
            <a:ext cx="169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templates</a:t>
            </a:r>
          </a:p>
        </p:txBody>
      </p:sp>
      <p:sp>
        <p:nvSpPr>
          <p:cNvPr id="61" name="Rounded Rectangle 60"/>
          <p:cNvSpPr/>
          <p:nvPr/>
        </p:nvSpPr>
        <p:spPr>
          <a:xfrm>
            <a:off x="5340674" y="4298150"/>
            <a:ext cx="184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exceptions</a:t>
            </a:r>
          </a:p>
        </p:txBody>
      </p:sp>
      <p:sp>
        <p:nvSpPr>
          <p:cNvPr id="62" name="Rounded Rectangle 61"/>
          <p:cNvSpPr/>
          <p:nvPr/>
        </p:nvSpPr>
        <p:spPr>
          <a:xfrm>
            <a:off x="4489416" y="4738150"/>
            <a:ext cx="139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lambdas</a:t>
            </a:r>
          </a:p>
        </p:txBody>
      </p:sp>
      <p:sp>
        <p:nvSpPr>
          <p:cNvPr id="63" name="Rounded Rectangle 62"/>
          <p:cNvSpPr/>
          <p:nvPr/>
        </p:nvSpPr>
        <p:spPr>
          <a:xfrm>
            <a:off x="6990762" y="3683570"/>
            <a:ext cx="139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modules</a:t>
            </a:r>
          </a:p>
        </p:txBody>
      </p:sp>
      <p:sp>
        <p:nvSpPr>
          <p:cNvPr id="64" name="Rounded Rectangle 63"/>
          <p:cNvSpPr/>
          <p:nvPr/>
        </p:nvSpPr>
        <p:spPr>
          <a:xfrm>
            <a:off x="5340674" y="5648150"/>
            <a:ext cx="184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coroutines</a:t>
            </a:r>
          </a:p>
        </p:txBody>
      </p:sp>
      <p:sp>
        <p:nvSpPr>
          <p:cNvPr id="65" name="Rounded Rectangle 64"/>
          <p:cNvSpPr/>
          <p:nvPr/>
        </p:nvSpPr>
        <p:spPr>
          <a:xfrm>
            <a:off x="5415674" y="5198150"/>
            <a:ext cx="169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contracts</a:t>
            </a:r>
          </a:p>
        </p:txBody>
      </p:sp>
      <p:sp>
        <p:nvSpPr>
          <p:cNvPr id="66" name="Rounded Rectangle 65"/>
          <p:cNvSpPr/>
          <p:nvPr/>
        </p:nvSpPr>
        <p:spPr>
          <a:xfrm>
            <a:off x="7787239" y="4298150"/>
            <a:ext cx="2046561"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smart pointers</a:t>
            </a:r>
          </a:p>
        </p:txBody>
      </p:sp>
      <p:sp>
        <p:nvSpPr>
          <p:cNvPr id="67" name="Rounded Rectangle 66"/>
          <p:cNvSpPr/>
          <p:nvPr/>
        </p:nvSpPr>
        <p:spPr>
          <a:xfrm>
            <a:off x="8537239" y="5198150"/>
            <a:ext cx="94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span</a:t>
            </a:r>
          </a:p>
        </p:txBody>
      </p:sp>
      <p:sp>
        <p:nvSpPr>
          <p:cNvPr id="68" name="Rounded Rectangle 67"/>
          <p:cNvSpPr/>
          <p:nvPr/>
        </p:nvSpPr>
        <p:spPr>
          <a:xfrm>
            <a:off x="8252000" y="5648150"/>
            <a:ext cx="31018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hardened preconditions</a:t>
            </a:r>
          </a:p>
        </p:txBody>
      </p:sp>
      <p:sp>
        <p:nvSpPr>
          <p:cNvPr id="69" name="Rounded Rectangle 68"/>
          <p:cNvSpPr/>
          <p:nvPr/>
        </p:nvSpPr>
        <p:spPr>
          <a:xfrm>
            <a:off x="2642109" y="2441770"/>
            <a:ext cx="940000"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VLAs</a:t>
            </a:r>
          </a:p>
        </p:txBody>
      </p:sp>
      <p:sp>
        <p:nvSpPr>
          <p:cNvPr id="70" name="Rounded Rectangle 69"/>
          <p:cNvSpPr/>
          <p:nvPr/>
        </p:nvSpPr>
        <p:spPr>
          <a:xfrm>
            <a:off x="6111242" y="2571350"/>
            <a:ext cx="1540000"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_Generic</a:t>
            </a:r>
          </a:p>
        </p:txBody>
      </p:sp>
      <p:sp>
        <p:nvSpPr>
          <p:cNvPr id="71" name="Rounded Rectangle 70"/>
          <p:cNvSpPr/>
          <p:nvPr/>
        </p:nvSpPr>
        <p:spPr>
          <a:xfrm>
            <a:off x="8545911" y="2571350"/>
            <a:ext cx="2527033"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compound literals</a:t>
            </a:r>
          </a:p>
        </p:txBody>
      </p:sp>
      <p:sp>
        <p:nvSpPr>
          <p:cNvPr id="72" name="Rounded Rectangle 71"/>
          <p:cNvSpPr/>
          <p:nvPr/>
        </p:nvSpPr>
        <p:spPr>
          <a:xfrm>
            <a:off x="2080259" y="3437090"/>
            <a:ext cx="1720807" cy="340000"/>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5C4712"/>
                </a:solidFill>
                <a:latin typeface="Aptos"/>
              </a:rPr>
              <a:t>'a' is char</a:t>
            </a:r>
          </a:p>
        </p:txBody>
      </p:sp>
      <p:sp>
        <p:nvSpPr>
          <p:cNvPr id="73" name="Rounded Rectangle 72"/>
          <p:cNvSpPr/>
          <p:nvPr/>
        </p:nvSpPr>
        <p:spPr>
          <a:xfrm>
            <a:off x="5352814" y="3308150"/>
            <a:ext cx="1968185" cy="340000"/>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5C4712"/>
                </a:solidFill>
                <a:latin typeface="Aptos"/>
              </a:rPr>
              <a:t>const linkage</a:t>
            </a:r>
          </a:p>
        </p:txBody>
      </p:sp>
      <p:sp>
        <p:nvSpPr>
          <p:cNvPr id="74" name="Rounded Rectangle 73"/>
          <p:cNvSpPr/>
          <p:nvPr/>
        </p:nvSpPr>
        <p:spPr>
          <a:xfrm>
            <a:off x="5781000" y="3758150"/>
            <a:ext cx="790000" cy="340000"/>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5C4712"/>
                </a:solidFill>
                <a:latin typeface="Aptos"/>
              </a:rPr>
              <a:t>ODR</a:t>
            </a:r>
          </a:p>
        </p:txBody>
      </p:sp>
      <p:sp>
        <p:nvSpPr>
          <p:cNvPr id="75" name="Rounded Rectangle 74"/>
          <p:cNvSpPr/>
          <p:nvPr/>
        </p:nvSpPr>
        <p:spPr>
          <a:xfrm>
            <a:off x="6027420" y="1759290"/>
            <a:ext cx="1832094"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malloc, free</a:t>
            </a:r>
          </a:p>
        </p:txBody>
      </p:sp>
      <p:sp>
        <p:nvSpPr>
          <p:cNvPr id="76" name="Rounded Rectangle 75"/>
          <p:cNvSpPr/>
          <p:nvPr/>
        </p:nvSpPr>
        <p:spPr>
          <a:xfrm>
            <a:off x="6169514" y="1309290"/>
            <a:ext cx="12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printf</a:t>
            </a:r>
          </a:p>
        </p:txBody>
      </p:sp>
      <p:sp>
        <p:nvSpPr>
          <p:cNvPr id="77" name="Rounded Rectangle 76"/>
          <p:cNvSpPr/>
          <p:nvPr/>
        </p:nvSpPr>
        <p:spPr>
          <a:xfrm>
            <a:off x="7698776" y="1377870"/>
            <a:ext cx="21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preprocessor</a:t>
            </a:r>
          </a:p>
        </p:txBody>
      </p:sp>
      <p:sp>
        <p:nvSpPr>
          <p:cNvPr id="78" name="Rounded Rectangle 77"/>
          <p:cNvSpPr/>
          <p:nvPr/>
        </p:nvSpPr>
        <p:spPr>
          <a:xfrm>
            <a:off x="6396000" y="6158490"/>
            <a:ext cx="940000" cy="340000"/>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3F3F3F"/>
                </a:solidFill>
                <a:latin typeface="Aptos"/>
              </a:rPr>
              <a:t>gets</a:t>
            </a:r>
          </a:p>
        </p:txBody>
      </p:sp>
      <p:sp>
        <p:nvSpPr>
          <p:cNvPr id="79" name="Rounded Rectangle 78"/>
          <p:cNvSpPr/>
          <p:nvPr/>
        </p:nvSpPr>
        <p:spPr>
          <a:xfrm>
            <a:off x="9963372" y="4748150"/>
            <a:ext cx="124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thread</a:t>
            </a:r>
          </a:p>
        </p:txBody>
      </p:sp>
      <p:sp>
        <p:nvSpPr>
          <p:cNvPr id="80" name="Rounded Rectangle 79"/>
          <p:cNvSpPr/>
          <p:nvPr/>
        </p:nvSpPr>
        <p:spPr>
          <a:xfrm>
            <a:off x="3737815" y="5629209"/>
            <a:ext cx="154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concepts</a:t>
            </a:r>
          </a:p>
        </p:txBody>
      </p:sp>
      <p:sp>
        <p:nvSpPr>
          <p:cNvPr id="81" name="Rounded Rectangle 80"/>
          <p:cNvSpPr/>
          <p:nvPr/>
        </p:nvSpPr>
        <p:spPr>
          <a:xfrm>
            <a:off x="1135007" y="5198150"/>
            <a:ext cx="244000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move semantics</a:t>
            </a:r>
          </a:p>
        </p:txBody>
      </p:sp>
    </p:spTree>
    <p:extLst>
      <p:ext uri="{BB962C8B-B14F-4D97-AF65-F5344CB8AC3E}">
        <p14:creationId xmlns:p14="http://schemas.microsoft.com/office/powerpoint/2010/main" val="863416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70141" y="1723395"/>
            <a:ext cx="8333883" cy="1905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 name="Rounded Rectangle 3"/>
          <p:cNvSpPr/>
          <p:nvPr/>
        </p:nvSpPr>
        <p:spPr>
          <a:xfrm>
            <a:off x="2595141"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8200" y="1329193"/>
            <a:ext cx="1123882" cy="263727"/>
          </a:xfrm>
          <a:prstGeom prst="rect">
            <a:avLst/>
          </a:prstGeom>
          <a:noFill/>
        </p:spPr>
        <p:txBody>
          <a:bodyPr wrap="square" lIns="0" tIns="0" rIns="0" bIns="0" anchor="b">
            <a:spAutoFit/>
          </a:bodyPr>
          <a:lstStyle/>
          <a:p>
            <a:pPr algn="ctr">
              <a:lnSpc>
                <a:spcPct val="112000"/>
              </a:lnSpc>
            </a:pPr>
            <a:r>
              <a:rPr sz="1600" b="1" dirty="0">
                <a:solidFill>
                  <a:srgbClr val="1A1A1A"/>
                </a:solidFill>
                <a:latin typeface="Aptos"/>
              </a:rPr>
              <a:t>Pre-98</a:t>
            </a:r>
          </a:p>
        </p:txBody>
      </p:sp>
      <p:sp>
        <p:nvSpPr>
          <p:cNvPr id="6" name="TextBox 5"/>
          <p:cNvSpPr txBox="1"/>
          <p:nvPr/>
        </p:nvSpPr>
        <p:spPr>
          <a:xfrm>
            <a:off x="2108200" y="1842920"/>
            <a:ext cx="1123882"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1985</a:t>
            </a:r>
          </a:p>
        </p:txBody>
      </p:sp>
      <p:sp>
        <p:nvSpPr>
          <p:cNvPr id="7" name="Rounded Rectangle 6"/>
          <p:cNvSpPr/>
          <p:nvPr/>
        </p:nvSpPr>
        <p:spPr>
          <a:xfrm>
            <a:off x="3682082"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92082" y="1329193"/>
            <a:ext cx="93000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C++98/03</a:t>
            </a:r>
          </a:p>
        </p:txBody>
      </p:sp>
      <p:sp>
        <p:nvSpPr>
          <p:cNvPr id="9" name="TextBox 8"/>
          <p:cNvSpPr txBox="1"/>
          <p:nvPr/>
        </p:nvSpPr>
        <p:spPr>
          <a:xfrm>
            <a:off x="3292082" y="1842920"/>
            <a:ext cx="93000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1998</a:t>
            </a:r>
          </a:p>
        </p:txBody>
      </p:sp>
      <p:sp>
        <p:nvSpPr>
          <p:cNvPr id="10" name="Rounded Rectangle 9"/>
          <p:cNvSpPr/>
          <p:nvPr/>
        </p:nvSpPr>
        <p:spPr>
          <a:xfrm>
            <a:off x="4911214"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82082" y="1329193"/>
            <a:ext cx="1408264"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C++11</a:t>
            </a:r>
          </a:p>
        </p:txBody>
      </p:sp>
      <p:sp>
        <p:nvSpPr>
          <p:cNvPr id="12" name="TextBox 11"/>
          <p:cNvSpPr txBox="1"/>
          <p:nvPr/>
        </p:nvSpPr>
        <p:spPr>
          <a:xfrm>
            <a:off x="4282082" y="1842920"/>
            <a:ext cx="1408264"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2011</a:t>
            </a:r>
          </a:p>
        </p:txBody>
      </p:sp>
      <p:sp>
        <p:nvSpPr>
          <p:cNvPr id="13" name="Rounded Rectangle 12"/>
          <p:cNvSpPr/>
          <p:nvPr/>
        </p:nvSpPr>
        <p:spPr>
          <a:xfrm>
            <a:off x="6140346"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50346" y="1329193"/>
            <a:ext cx="93000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C++14</a:t>
            </a:r>
          </a:p>
        </p:txBody>
      </p:sp>
      <p:sp>
        <p:nvSpPr>
          <p:cNvPr id="15" name="TextBox 14"/>
          <p:cNvSpPr txBox="1"/>
          <p:nvPr/>
        </p:nvSpPr>
        <p:spPr>
          <a:xfrm>
            <a:off x="5750346" y="1842920"/>
            <a:ext cx="93000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2014</a:t>
            </a:r>
          </a:p>
        </p:txBody>
      </p:sp>
      <p:sp>
        <p:nvSpPr>
          <p:cNvPr id="16" name="Rounded Rectangle 15"/>
          <p:cNvSpPr/>
          <p:nvPr/>
        </p:nvSpPr>
        <p:spPr>
          <a:xfrm>
            <a:off x="7303649"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40346" y="1329193"/>
            <a:ext cx="1276606"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C++17</a:t>
            </a:r>
          </a:p>
        </p:txBody>
      </p:sp>
      <p:sp>
        <p:nvSpPr>
          <p:cNvPr id="18" name="TextBox 17"/>
          <p:cNvSpPr txBox="1"/>
          <p:nvPr/>
        </p:nvSpPr>
        <p:spPr>
          <a:xfrm>
            <a:off x="6740346" y="1842920"/>
            <a:ext cx="1276606"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2017</a:t>
            </a:r>
          </a:p>
        </p:txBody>
      </p:sp>
      <p:sp>
        <p:nvSpPr>
          <p:cNvPr id="19" name="Rounded Rectangle 18"/>
          <p:cNvSpPr/>
          <p:nvPr/>
        </p:nvSpPr>
        <p:spPr>
          <a:xfrm>
            <a:off x="8671853"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76952" y="1329193"/>
            <a:ext cx="1339802"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C++20</a:t>
            </a:r>
          </a:p>
        </p:txBody>
      </p:sp>
      <p:sp>
        <p:nvSpPr>
          <p:cNvPr id="21" name="TextBox 20"/>
          <p:cNvSpPr txBox="1"/>
          <p:nvPr/>
        </p:nvSpPr>
        <p:spPr>
          <a:xfrm>
            <a:off x="8076952" y="1842920"/>
            <a:ext cx="1339802"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2020</a:t>
            </a:r>
          </a:p>
        </p:txBody>
      </p:sp>
      <p:sp>
        <p:nvSpPr>
          <p:cNvPr id="22" name="Rounded Rectangle 21"/>
          <p:cNvSpPr/>
          <p:nvPr/>
        </p:nvSpPr>
        <p:spPr>
          <a:xfrm>
            <a:off x="9900499"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6754" y="1329193"/>
            <a:ext cx="99749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C++23</a:t>
            </a:r>
          </a:p>
        </p:txBody>
      </p:sp>
      <p:sp>
        <p:nvSpPr>
          <p:cNvPr id="24" name="TextBox 23"/>
          <p:cNvSpPr txBox="1"/>
          <p:nvPr/>
        </p:nvSpPr>
        <p:spPr>
          <a:xfrm>
            <a:off x="9476754" y="1842920"/>
            <a:ext cx="99749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2023</a:t>
            </a:r>
          </a:p>
        </p:txBody>
      </p:sp>
      <p:sp>
        <p:nvSpPr>
          <p:cNvPr id="25" name="Rounded Rectangle 24"/>
          <p:cNvSpPr/>
          <p:nvPr/>
        </p:nvSpPr>
        <p:spPr>
          <a:xfrm>
            <a:off x="10929024"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34244" y="1329193"/>
            <a:ext cx="93956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C++26</a:t>
            </a:r>
          </a:p>
        </p:txBody>
      </p:sp>
      <p:sp>
        <p:nvSpPr>
          <p:cNvPr id="27" name="TextBox 26"/>
          <p:cNvSpPr txBox="1"/>
          <p:nvPr/>
        </p:nvSpPr>
        <p:spPr>
          <a:xfrm>
            <a:off x="10534244" y="1842920"/>
            <a:ext cx="93956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2026</a:t>
            </a:r>
          </a:p>
        </p:txBody>
      </p:sp>
      <p:sp>
        <p:nvSpPr>
          <p:cNvPr id="28" name="Rounded Rectangle 27"/>
          <p:cNvSpPr/>
          <p:nvPr/>
        </p:nvSpPr>
        <p:spPr>
          <a:xfrm>
            <a:off x="838200" y="2102920"/>
            <a:ext cx="10755600" cy="1485875"/>
          </a:xfrm>
          <a:prstGeom prst="roundRect">
            <a:avLst>
              <a:gd name="adj" fmla="val 6000"/>
            </a:avLst>
          </a:prstGeom>
          <a:solidFill>
            <a:srgbClr val="EE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262082" y="2142920"/>
            <a:ext cx="990000"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720346" y="2142920"/>
            <a:ext cx="990000"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046952" y="2142920"/>
            <a:ext cx="1399802"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0504244" y="2142920"/>
            <a:ext cx="999560"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8200" y="2182920"/>
            <a:ext cx="1050000" cy="1385875"/>
          </a:xfrm>
          <a:prstGeom prst="rect">
            <a:avLst/>
          </a:prstGeom>
          <a:noFill/>
        </p:spPr>
        <p:txBody>
          <a:bodyPr wrap="square" lIns="0" tIns="0" rIns="0" bIns="0" anchor="t">
            <a:spAutoFit/>
          </a:bodyPr>
          <a:lstStyle/>
          <a:p>
            <a:pPr algn="l">
              <a:lnSpc>
                <a:spcPct val="112000"/>
              </a:lnSpc>
            </a:pPr>
            <a:r>
              <a:rPr sz="1200" b="1">
                <a:solidFill>
                  <a:srgbClr val="2E7D32"/>
                </a:solidFill>
                <a:latin typeface="Aptos"/>
              </a:rPr>
              <a:t>Added</a:t>
            </a:r>
          </a:p>
        </p:txBody>
      </p:sp>
      <p:sp>
        <p:nvSpPr>
          <p:cNvPr id="34" name="TextBox 33"/>
          <p:cNvSpPr txBox="1"/>
          <p:nvPr/>
        </p:nvSpPr>
        <p:spPr>
          <a:xfrm>
            <a:off x="2108200" y="2192920"/>
            <a:ext cx="1123882" cy="1365875"/>
          </a:xfrm>
          <a:prstGeom prst="rect">
            <a:avLst/>
          </a:prstGeom>
          <a:noFill/>
        </p:spPr>
        <p:txBody>
          <a:bodyPr wrap="square" lIns="0" tIns="0" rIns="0" bIns="0" anchor="t">
            <a:spAutoFit/>
          </a:bodyPr>
          <a:lstStyle/>
          <a:p>
            <a:pPr algn="l">
              <a:lnSpc>
                <a:spcPct val="112000"/>
              </a:lnSpc>
            </a:pPr>
            <a:r>
              <a:rPr sz="900" b="0" dirty="0">
                <a:solidFill>
                  <a:srgbClr val="1F4D24"/>
                </a:solidFill>
                <a:latin typeface="Aptos"/>
              </a:rPr>
              <a:t>Type-checked arguments, </a:t>
            </a:r>
            <a:r>
              <a:rPr sz="900" b="1" dirty="0">
                <a:solidFill>
                  <a:srgbClr val="1F4D24"/>
                </a:solidFill>
                <a:latin typeface="Aptos"/>
              </a:rPr>
              <a:t>constructors and destructors</a:t>
            </a:r>
            <a:r>
              <a:rPr sz="900" b="0" dirty="0">
                <a:solidFill>
                  <a:srgbClr val="1F4D24"/>
                </a:solidFill>
                <a:latin typeface="Aptos"/>
              </a:rPr>
              <a:t>, const, references, virtual, abstract classes, </a:t>
            </a:r>
            <a:r>
              <a:rPr sz="900" b="1" dirty="0">
                <a:solidFill>
                  <a:srgbClr val="1F4D24"/>
                </a:solidFill>
                <a:latin typeface="Aptos"/>
              </a:rPr>
              <a:t>exceptions</a:t>
            </a:r>
            <a:r>
              <a:rPr sz="900" b="0" dirty="0">
                <a:solidFill>
                  <a:srgbClr val="1F4D24"/>
                </a:solidFill>
                <a:latin typeface="Aptos"/>
              </a:rPr>
              <a:t>, </a:t>
            </a:r>
            <a:r>
              <a:rPr sz="900" b="1" dirty="0">
                <a:solidFill>
                  <a:srgbClr val="1F4D24"/>
                </a:solidFill>
                <a:latin typeface="Aptos"/>
              </a:rPr>
              <a:t>templates</a:t>
            </a:r>
            <a:r>
              <a:rPr sz="900" b="0" dirty="0">
                <a:solidFill>
                  <a:srgbClr val="1F4D24"/>
                </a:solidFill>
                <a:latin typeface="Aptos"/>
              </a:rPr>
              <a:t>, named casts, bool</a:t>
            </a:r>
          </a:p>
        </p:txBody>
      </p:sp>
      <p:sp>
        <p:nvSpPr>
          <p:cNvPr id="35" name="TextBox 34"/>
          <p:cNvSpPr txBox="1"/>
          <p:nvPr/>
        </p:nvSpPr>
        <p:spPr>
          <a:xfrm>
            <a:off x="3307322" y="2192920"/>
            <a:ext cx="930000"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string, vector, at()</a:t>
            </a:r>
            <a:r>
              <a:rPr sz="900" b="0" dirty="0">
                <a:solidFill>
                  <a:srgbClr val="1F4D24"/>
                </a:solidFill>
                <a:latin typeface="Aptos"/>
              </a:rPr>
              <a:t>, exception safety guarantees, value initialization, </a:t>
            </a:r>
            <a:r>
              <a:rPr sz="900" b="1" dirty="0">
                <a:solidFill>
                  <a:srgbClr val="1F4D24"/>
                </a:solidFill>
                <a:latin typeface="Aptos"/>
              </a:rPr>
              <a:t>auto_ptr</a:t>
            </a:r>
          </a:p>
        </p:txBody>
      </p:sp>
      <p:sp>
        <p:nvSpPr>
          <p:cNvPr id="36" name="TextBox 35"/>
          <p:cNvSpPr txBox="1"/>
          <p:nvPr/>
        </p:nvSpPr>
        <p:spPr>
          <a:xfrm>
            <a:off x="4304942" y="2192920"/>
            <a:ext cx="1408264"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Memory model</a:t>
            </a:r>
            <a:r>
              <a:rPr sz="900" b="0" dirty="0">
                <a:solidFill>
                  <a:srgbClr val="1F4D24"/>
                </a:solidFill>
                <a:latin typeface="Aptos"/>
              </a:rPr>
              <a:t>, </a:t>
            </a:r>
            <a:r>
              <a:rPr sz="900" b="0" dirty="0" err="1">
                <a:solidFill>
                  <a:srgbClr val="1F4D24"/>
                </a:solidFill>
                <a:latin typeface="Aptos"/>
              </a:rPr>
              <a:t>nullptr</a:t>
            </a:r>
            <a:r>
              <a:rPr sz="900" b="0" dirty="0">
                <a:solidFill>
                  <a:srgbClr val="1F4D24"/>
                </a:solidFill>
                <a:latin typeface="Aptos"/>
              </a:rPr>
              <a:t>, </a:t>
            </a:r>
            <a:r>
              <a:rPr sz="900" b="0" dirty="0" err="1">
                <a:solidFill>
                  <a:srgbClr val="1F4D24"/>
                </a:solidFill>
                <a:latin typeface="Aptos"/>
              </a:rPr>
              <a:t>enum</a:t>
            </a:r>
            <a:r>
              <a:rPr sz="900" b="0" dirty="0">
                <a:solidFill>
                  <a:srgbClr val="1F4D24"/>
                </a:solidFill>
                <a:latin typeface="Aptos"/>
              </a:rPr>
              <a:t> class, brace init, override, final, =default, =delete, </a:t>
            </a:r>
            <a:r>
              <a:rPr sz="900" b="0" dirty="0" err="1">
                <a:solidFill>
                  <a:srgbClr val="1F4D24"/>
                </a:solidFill>
                <a:latin typeface="Aptos"/>
              </a:rPr>
              <a:t>constexpr</a:t>
            </a:r>
            <a:r>
              <a:rPr sz="900" b="0" dirty="0">
                <a:solidFill>
                  <a:srgbClr val="1F4D24"/>
                </a:solidFill>
                <a:latin typeface="Aptos"/>
              </a:rPr>
              <a:t>, range-for, </a:t>
            </a:r>
            <a:r>
              <a:rPr sz="900" b="0" dirty="0" err="1">
                <a:solidFill>
                  <a:srgbClr val="1F4D24"/>
                </a:solidFill>
                <a:latin typeface="Aptos"/>
              </a:rPr>
              <a:t>static_assert</a:t>
            </a:r>
            <a:r>
              <a:rPr sz="900" b="0" dirty="0">
                <a:solidFill>
                  <a:srgbClr val="1F4D24"/>
                </a:solidFill>
                <a:latin typeface="Aptos"/>
              </a:rPr>
              <a:t>, </a:t>
            </a:r>
            <a:r>
              <a:rPr sz="900" b="0" dirty="0" err="1">
                <a:solidFill>
                  <a:srgbClr val="1F4D24"/>
                </a:solidFill>
                <a:latin typeface="Aptos"/>
              </a:rPr>
              <a:t>noexcept</a:t>
            </a:r>
            <a:r>
              <a:rPr sz="900" b="0" dirty="0">
                <a:solidFill>
                  <a:srgbClr val="1F4D24"/>
                </a:solidFill>
                <a:latin typeface="Aptos"/>
              </a:rPr>
              <a:t>, move, lambdas, </a:t>
            </a:r>
            <a:r>
              <a:rPr sz="900" b="1" dirty="0" err="1">
                <a:solidFill>
                  <a:srgbClr val="1F4D24"/>
                </a:solidFill>
                <a:latin typeface="Aptos"/>
              </a:rPr>
              <a:t>unique_ptr</a:t>
            </a:r>
            <a:r>
              <a:rPr sz="900" b="0" dirty="0">
                <a:solidFill>
                  <a:srgbClr val="1F4D24"/>
                </a:solidFill>
                <a:latin typeface="Aptos"/>
              </a:rPr>
              <a:t>, </a:t>
            </a:r>
            <a:r>
              <a:rPr sz="900" b="1" dirty="0" err="1">
                <a:solidFill>
                  <a:srgbClr val="1F4D24"/>
                </a:solidFill>
                <a:latin typeface="Aptos"/>
              </a:rPr>
              <a:t>shared_ptr</a:t>
            </a:r>
            <a:r>
              <a:rPr sz="900" b="0" dirty="0">
                <a:solidFill>
                  <a:srgbClr val="1F4D24"/>
                </a:solidFill>
                <a:latin typeface="Aptos"/>
              </a:rPr>
              <a:t>, array, </a:t>
            </a:r>
            <a:r>
              <a:rPr sz="900" b="0" dirty="0" err="1">
                <a:solidFill>
                  <a:srgbClr val="1F4D24"/>
                </a:solidFill>
                <a:latin typeface="Aptos"/>
              </a:rPr>
              <a:t>lock_guard</a:t>
            </a:r>
            <a:r>
              <a:rPr sz="900" b="0" dirty="0">
                <a:solidFill>
                  <a:srgbClr val="1F4D24"/>
                </a:solidFill>
                <a:latin typeface="Aptos"/>
              </a:rPr>
              <a:t>, atomic</a:t>
            </a:r>
          </a:p>
        </p:txBody>
      </p:sp>
      <p:sp>
        <p:nvSpPr>
          <p:cNvPr id="37" name="TextBox 36"/>
          <p:cNvSpPr txBox="1"/>
          <p:nvPr/>
        </p:nvSpPr>
        <p:spPr>
          <a:xfrm>
            <a:off x="5818926" y="2192920"/>
            <a:ext cx="930000" cy="1365875"/>
          </a:xfrm>
          <a:prstGeom prst="rect">
            <a:avLst/>
          </a:prstGeom>
          <a:noFill/>
        </p:spPr>
        <p:txBody>
          <a:bodyPr wrap="square" lIns="0" tIns="0" rIns="0" bIns="0" anchor="t">
            <a:spAutoFit/>
          </a:bodyPr>
          <a:lstStyle/>
          <a:p>
            <a:pPr algn="l">
              <a:lnSpc>
                <a:spcPct val="112000"/>
              </a:lnSpc>
            </a:pPr>
            <a:r>
              <a:rPr sz="900" b="0" dirty="0" err="1">
                <a:solidFill>
                  <a:srgbClr val="1F4D24"/>
                </a:solidFill>
                <a:latin typeface="Aptos"/>
              </a:rPr>
              <a:t>make_unique</a:t>
            </a:r>
            <a:r>
              <a:rPr sz="900" b="0" dirty="0">
                <a:solidFill>
                  <a:srgbClr val="1F4D24"/>
                </a:solidFill>
                <a:latin typeface="Aptos"/>
              </a:rPr>
              <a:t>, extended </a:t>
            </a:r>
            <a:r>
              <a:rPr sz="900" b="0" dirty="0" err="1">
                <a:solidFill>
                  <a:srgbClr val="1F4D24"/>
                </a:solidFill>
                <a:latin typeface="Aptos"/>
              </a:rPr>
              <a:t>constexpr</a:t>
            </a:r>
            <a:r>
              <a:rPr sz="900" b="0" dirty="0">
                <a:solidFill>
                  <a:srgbClr val="1F4D24"/>
                </a:solidFill>
                <a:latin typeface="Aptos"/>
              </a:rPr>
              <a:t>, [[deprecated]]</a:t>
            </a:r>
          </a:p>
        </p:txBody>
      </p:sp>
      <p:sp>
        <p:nvSpPr>
          <p:cNvPr id="38" name="TextBox 37"/>
          <p:cNvSpPr txBox="1"/>
          <p:nvPr/>
        </p:nvSpPr>
        <p:spPr>
          <a:xfrm>
            <a:off x="6770826" y="2192920"/>
            <a:ext cx="1276606" cy="1365875"/>
          </a:xfrm>
          <a:prstGeom prst="rect">
            <a:avLst/>
          </a:prstGeom>
          <a:noFill/>
        </p:spPr>
        <p:txBody>
          <a:bodyPr wrap="square" lIns="0" tIns="0" rIns="0" bIns="0" anchor="t">
            <a:spAutoFit/>
          </a:bodyPr>
          <a:lstStyle/>
          <a:p>
            <a:pPr algn="l">
              <a:lnSpc>
                <a:spcPct val="112000"/>
              </a:lnSpc>
            </a:pPr>
            <a:r>
              <a:rPr sz="900" b="0" dirty="0">
                <a:solidFill>
                  <a:srgbClr val="1F4D24"/>
                </a:solidFill>
                <a:latin typeface="Aptos"/>
              </a:rPr>
              <a:t>Evaluation order, copy elision, </a:t>
            </a:r>
            <a:r>
              <a:rPr sz="900" b="1" dirty="0">
                <a:solidFill>
                  <a:srgbClr val="1F4D24"/>
                </a:solidFill>
                <a:latin typeface="Aptos"/>
              </a:rPr>
              <a:t>structured bindings</a:t>
            </a:r>
            <a:r>
              <a:rPr sz="900" b="0" dirty="0">
                <a:solidFill>
                  <a:srgbClr val="1F4D24"/>
                </a:solidFill>
                <a:latin typeface="Aptos"/>
              </a:rPr>
              <a:t>, if </a:t>
            </a:r>
            <a:r>
              <a:rPr sz="900" b="0" dirty="0" err="1">
                <a:solidFill>
                  <a:srgbClr val="1F4D24"/>
                </a:solidFill>
                <a:latin typeface="Aptos"/>
              </a:rPr>
              <a:t>constexpr</a:t>
            </a:r>
            <a:r>
              <a:rPr sz="900" b="0" dirty="0">
                <a:solidFill>
                  <a:srgbClr val="1F4D24"/>
                </a:solidFill>
                <a:latin typeface="Aptos"/>
              </a:rPr>
              <a:t>, [[</a:t>
            </a:r>
            <a:r>
              <a:rPr sz="900" b="0" dirty="0" err="1">
                <a:solidFill>
                  <a:srgbClr val="1F4D24"/>
                </a:solidFill>
                <a:latin typeface="Aptos"/>
              </a:rPr>
              <a:t>nodiscard</a:t>
            </a:r>
            <a:r>
              <a:rPr sz="900" b="0" dirty="0">
                <a:solidFill>
                  <a:srgbClr val="1F4D24"/>
                </a:solidFill>
                <a:latin typeface="Aptos"/>
              </a:rPr>
              <a:t>]], [[</a:t>
            </a:r>
            <a:r>
              <a:rPr sz="900" b="0" dirty="0" err="1">
                <a:solidFill>
                  <a:srgbClr val="1F4D24"/>
                </a:solidFill>
                <a:latin typeface="Aptos"/>
              </a:rPr>
              <a:t>fallthrough</a:t>
            </a:r>
            <a:r>
              <a:rPr sz="900" b="0" dirty="0">
                <a:solidFill>
                  <a:srgbClr val="1F4D24"/>
                </a:solidFill>
                <a:latin typeface="Aptos"/>
              </a:rPr>
              <a:t>]], </a:t>
            </a:r>
            <a:r>
              <a:rPr sz="900" b="1" dirty="0">
                <a:solidFill>
                  <a:srgbClr val="1F4D24"/>
                </a:solidFill>
                <a:latin typeface="Aptos"/>
              </a:rPr>
              <a:t>optional, variant</a:t>
            </a:r>
            <a:r>
              <a:rPr sz="900" b="0" dirty="0">
                <a:solidFill>
                  <a:srgbClr val="1F4D24"/>
                </a:solidFill>
                <a:latin typeface="Aptos"/>
              </a:rPr>
              <a:t>, </a:t>
            </a:r>
            <a:r>
              <a:rPr sz="900" b="0" dirty="0" err="1">
                <a:solidFill>
                  <a:srgbClr val="1F4D24"/>
                </a:solidFill>
                <a:latin typeface="Aptos"/>
              </a:rPr>
              <a:t>string_view</a:t>
            </a:r>
            <a:r>
              <a:rPr sz="900" b="0" dirty="0">
                <a:solidFill>
                  <a:srgbClr val="1F4D24"/>
                </a:solidFill>
                <a:latin typeface="Aptos"/>
              </a:rPr>
              <a:t>, byte, </a:t>
            </a:r>
            <a:r>
              <a:rPr sz="900" b="0" dirty="0" err="1">
                <a:solidFill>
                  <a:srgbClr val="1F4D24"/>
                </a:solidFill>
                <a:latin typeface="Aptos"/>
              </a:rPr>
              <a:t>scoped_lock</a:t>
            </a:r>
            <a:r>
              <a:rPr sz="900" b="0" dirty="0">
                <a:solidFill>
                  <a:srgbClr val="1F4D24"/>
                </a:solidFill>
                <a:latin typeface="Aptos"/>
              </a:rPr>
              <a:t>, parallel algorithms</a:t>
            </a:r>
          </a:p>
        </p:txBody>
      </p:sp>
      <p:sp>
        <p:nvSpPr>
          <p:cNvPr id="39" name="TextBox 38"/>
          <p:cNvSpPr txBox="1"/>
          <p:nvPr/>
        </p:nvSpPr>
        <p:spPr>
          <a:xfrm>
            <a:off x="8122672" y="2192920"/>
            <a:ext cx="1339802" cy="1365875"/>
          </a:xfrm>
          <a:prstGeom prst="rect">
            <a:avLst/>
          </a:prstGeom>
          <a:noFill/>
        </p:spPr>
        <p:txBody>
          <a:bodyPr wrap="square" lIns="0" tIns="0" rIns="0" bIns="0" anchor="t">
            <a:spAutoFit/>
          </a:bodyPr>
          <a:lstStyle/>
          <a:p>
            <a:pPr algn="l">
              <a:lnSpc>
                <a:spcPct val="112000"/>
              </a:lnSpc>
            </a:pPr>
            <a:r>
              <a:rPr sz="900" b="0" dirty="0">
                <a:solidFill>
                  <a:srgbClr val="1F4D24"/>
                </a:solidFill>
                <a:latin typeface="Aptos"/>
              </a:rPr>
              <a:t>Concepts, modules, </a:t>
            </a:r>
            <a:r>
              <a:rPr sz="900" b="0" dirty="0" err="1">
                <a:solidFill>
                  <a:srgbClr val="1F4D24"/>
                </a:solidFill>
                <a:latin typeface="Aptos"/>
              </a:rPr>
              <a:t>constinit</a:t>
            </a:r>
            <a:r>
              <a:rPr sz="900" b="0" dirty="0">
                <a:solidFill>
                  <a:srgbClr val="1F4D24"/>
                </a:solidFill>
                <a:latin typeface="Aptos"/>
              </a:rPr>
              <a:t>, </a:t>
            </a:r>
            <a:r>
              <a:rPr sz="900" b="0" dirty="0" err="1">
                <a:solidFill>
                  <a:srgbClr val="1F4D24"/>
                </a:solidFill>
                <a:latin typeface="Aptos"/>
              </a:rPr>
              <a:t>consteval</a:t>
            </a:r>
            <a:r>
              <a:rPr sz="900" b="0" dirty="0">
                <a:solidFill>
                  <a:srgbClr val="1F4D24"/>
                </a:solidFill>
                <a:latin typeface="Aptos"/>
              </a:rPr>
              <a:t>, designated initializers, three-way comparison, </a:t>
            </a:r>
            <a:r>
              <a:rPr sz="900" b="1" dirty="0">
                <a:solidFill>
                  <a:srgbClr val="1F4D24"/>
                </a:solidFill>
                <a:latin typeface="Aptos"/>
              </a:rPr>
              <a:t>span</a:t>
            </a:r>
            <a:r>
              <a:rPr sz="900" b="0" dirty="0">
                <a:solidFill>
                  <a:srgbClr val="1F4D24"/>
                </a:solidFill>
                <a:latin typeface="Aptos"/>
              </a:rPr>
              <a:t>, </a:t>
            </a:r>
            <a:r>
              <a:rPr sz="900" b="1" dirty="0">
                <a:solidFill>
                  <a:srgbClr val="1F4D24"/>
                </a:solidFill>
                <a:latin typeface="Aptos"/>
              </a:rPr>
              <a:t>ranges</a:t>
            </a:r>
            <a:r>
              <a:rPr sz="900" b="0" dirty="0">
                <a:solidFill>
                  <a:srgbClr val="1F4D24"/>
                </a:solidFill>
                <a:latin typeface="Aptos"/>
              </a:rPr>
              <a:t>, </a:t>
            </a:r>
            <a:r>
              <a:rPr sz="900" b="0" dirty="0" err="1">
                <a:solidFill>
                  <a:srgbClr val="1F4D24"/>
                </a:solidFill>
                <a:latin typeface="Aptos"/>
              </a:rPr>
              <a:t>jthread</a:t>
            </a:r>
            <a:r>
              <a:rPr sz="900" b="0" dirty="0">
                <a:solidFill>
                  <a:srgbClr val="1F4D24"/>
                </a:solidFill>
                <a:latin typeface="Aptos"/>
              </a:rPr>
              <a:t>, safe integer compare, format, </a:t>
            </a:r>
            <a:r>
              <a:rPr sz="900" b="0" dirty="0" err="1">
                <a:solidFill>
                  <a:srgbClr val="1F4D24"/>
                </a:solidFill>
                <a:latin typeface="Aptos"/>
              </a:rPr>
              <a:t>bit_cast</a:t>
            </a:r>
            <a:r>
              <a:rPr sz="900" b="0" dirty="0">
                <a:solidFill>
                  <a:srgbClr val="1F4D24"/>
                </a:solidFill>
                <a:latin typeface="Aptos"/>
              </a:rPr>
              <a:t>, latches, barriers, atomic wait</a:t>
            </a:r>
          </a:p>
        </p:txBody>
      </p:sp>
      <p:sp>
        <p:nvSpPr>
          <p:cNvPr id="40" name="TextBox 39"/>
          <p:cNvSpPr txBox="1"/>
          <p:nvPr/>
        </p:nvSpPr>
        <p:spPr>
          <a:xfrm>
            <a:off x="9514854" y="2192920"/>
            <a:ext cx="997490"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expected</a:t>
            </a:r>
            <a:r>
              <a:rPr sz="900" b="0" dirty="0">
                <a:solidFill>
                  <a:srgbClr val="1F4D24"/>
                </a:solidFill>
                <a:latin typeface="Aptos"/>
              </a:rPr>
              <a:t>, </a:t>
            </a:r>
            <a:r>
              <a:rPr sz="900" b="0" dirty="0" err="1">
                <a:solidFill>
                  <a:srgbClr val="1F4D24"/>
                </a:solidFill>
                <a:latin typeface="Aptos"/>
              </a:rPr>
              <a:t>start_lifetime_as</a:t>
            </a:r>
            <a:r>
              <a:rPr sz="900" b="0" dirty="0">
                <a:solidFill>
                  <a:srgbClr val="1F4D24"/>
                </a:solidFill>
                <a:latin typeface="Aptos"/>
              </a:rPr>
              <a:t>, </a:t>
            </a:r>
            <a:r>
              <a:rPr sz="900" b="0" dirty="0" err="1">
                <a:solidFill>
                  <a:srgbClr val="1F4D24"/>
                </a:solidFill>
                <a:latin typeface="Aptos"/>
              </a:rPr>
              <a:t>mdspan</a:t>
            </a:r>
            <a:r>
              <a:rPr sz="900" b="0" dirty="0">
                <a:solidFill>
                  <a:srgbClr val="1F4D24"/>
                </a:solidFill>
                <a:latin typeface="Aptos"/>
              </a:rPr>
              <a:t>, print, </a:t>
            </a:r>
            <a:r>
              <a:rPr sz="900" b="0" dirty="0" err="1">
                <a:solidFill>
                  <a:srgbClr val="1F4D24"/>
                </a:solidFill>
                <a:latin typeface="Aptos"/>
              </a:rPr>
              <a:t>stacktrace</a:t>
            </a:r>
            <a:r>
              <a:rPr sz="900" b="0" dirty="0">
                <a:solidFill>
                  <a:srgbClr val="1F4D24"/>
                </a:solidFill>
                <a:latin typeface="Aptos"/>
              </a:rPr>
              <a:t>, </a:t>
            </a:r>
            <a:r>
              <a:rPr sz="900" b="0" dirty="0" err="1">
                <a:solidFill>
                  <a:srgbClr val="1F4D24"/>
                </a:solidFill>
                <a:latin typeface="Aptos"/>
              </a:rPr>
              <a:t>out_ptr</a:t>
            </a:r>
            <a:r>
              <a:rPr sz="900" b="0" dirty="0">
                <a:solidFill>
                  <a:srgbClr val="1F4D24"/>
                </a:solidFill>
                <a:latin typeface="Aptos"/>
              </a:rPr>
              <a:t>, </a:t>
            </a:r>
            <a:r>
              <a:rPr sz="900" b="0" dirty="0" err="1">
                <a:solidFill>
                  <a:srgbClr val="1F4D24"/>
                </a:solidFill>
                <a:latin typeface="Aptos"/>
              </a:rPr>
              <a:t>to_underlying</a:t>
            </a:r>
            <a:r>
              <a:rPr sz="900" b="0" dirty="0">
                <a:solidFill>
                  <a:srgbClr val="1F4D24"/>
                </a:solidFill>
                <a:latin typeface="Aptos"/>
              </a:rPr>
              <a:t>, deducing this, range-for temporaries</a:t>
            </a:r>
          </a:p>
        </p:txBody>
      </p:sp>
      <p:sp>
        <p:nvSpPr>
          <p:cNvPr id="41" name="TextBox 40"/>
          <p:cNvSpPr txBox="1"/>
          <p:nvPr/>
        </p:nvSpPr>
        <p:spPr>
          <a:xfrm>
            <a:off x="10557104" y="2192920"/>
            <a:ext cx="939560"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Erroneous </a:t>
            </a:r>
            <a:r>
              <a:rPr sz="900" b="1" dirty="0" err="1">
                <a:solidFill>
                  <a:srgbClr val="1F4D24"/>
                </a:solidFill>
                <a:latin typeface="Aptos"/>
              </a:rPr>
              <a:t>behaviour</a:t>
            </a:r>
            <a:r>
              <a:rPr sz="900" b="0" dirty="0">
                <a:solidFill>
                  <a:srgbClr val="1F4D24"/>
                </a:solidFill>
                <a:latin typeface="Aptos"/>
              </a:rPr>
              <a:t>, </a:t>
            </a:r>
            <a:r>
              <a:rPr sz="900" b="1" dirty="0">
                <a:solidFill>
                  <a:srgbClr val="1F4D24"/>
                </a:solidFill>
                <a:latin typeface="Aptos"/>
              </a:rPr>
              <a:t>contracts</a:t>
            </a:r>
            <a:r>
              <a:rPr sz="900" b="0" dirty="0">
                <a:solidFill>
                  <a:srgbClr val="1F4D24"/>
                </a:solidFill>
                <a:latin typeface="Aptos"/>
              </a:rPr>
              <a:t>, </a:t>
            </a:r>
            <a:r>
              <a:rPr sz="900" b="1" dirty="0">
                <a:solidFill>
                  <a:srgbClr val="1F4D24"/>
                </a:solidFill>
                <a:latin typeface="Aptos"/>
              </a:rPr>
              <a:t>hardening</a:t>
            </a:r>
            <a:r>
              <a:rPr sz="900" b="0" dirty="0">
                <a:solidFill>
                  <a:srgbClr val="1F4D24"/>
                </a:solidFill>
                <a:latin typeface="Aptos"/>
              </a:rPr>
              <a:t>, saturating arithmetic, hazard pointers, RCU, =delete("reason")</a:t>
            </a:r>
          </a:p>
        </p:txBody>
      </p:sp>
      <p:sp>
        <p:nvSpPr>
          <p:cNvPr id="42" name="Rounded Rectangle 41"/>
          <p:cNvSpPr/>
          <p:nvPr/>
        </p:nvSpPr>
        <p:spPr>
          <a:xfrm>
            <a:off x="838200" y="3648795"/>
            <a:ext cx="10755600" cy="94000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3262082" y="3688795"/>
            <a:ext cx="990000"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720346" y="3688795"/>
            <a:ext cx="990000"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046952" y="3688795"/>
            <a:ext cx="1399802"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10504244" y="3688795"/>
            <a:ext cx="999560"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58200" y="3728795"/>
            <a:ext cx="1050000" cy="860000"/>
          </a:xfrm>
          <a:prstGeom prst="rect">
            <a:avLst/>
          </a:prstGeom>
          <a:noFill/>
        </p:spPr>
        <p:txBody>
          <a:bodyPr wrap="square" lIns="0" tIns="0" rIns="0" bIns="0" anchor="t">
            <a:spAutoFit/>
          </a:bodyPr>
          <a:lstStyle/>
          <a:p>
            <a:pPr algn="l">
              <a:lnSpc>
                <a:spcPct val="112000"/>
              </a:lnSpc>
            </a:pPr>
            <a:r>
              <a:rPr sz="1200" b="1">
                <a:solidFill>
                  <a:srgbClr val="2E5E8C"/>
                </a:solidFill>
                <a:latin typeface="Aptos"/>
              </a:rPr>
              <a:t>Modified</a:t>
            </a:r>
          </a:p>
        </p:txBody>
      </p:sp>
      <p:sp>
        <p:nvSpPr>
          <p:cNvPr id="48" name="TextBox 47"/>
          <p:cNvSpPr txBox="1"/>
          <p:nvPr/>
        </p:nvSpPr>
        <p:spPr>
          <a:xfrm>
            <a:off x="4282082" y="3738795"/>
            <a:ext cx="1408264" cy="860000"/>
          </a:xfrm>
          <a:prstGeom prst="rect">
            <a:avLst/>
          </a:prstGeom>
          <a:noFill/>
        </p:spPr>
        <p:txBody>
          <a:bodyPr wrap="square" lIns="0" tIns="0" rIns="0" bIns="0" anchor="t">
            <a:spAutoFit/>
          </a:bodyPr>
          <a:lstStyle/>
          <a:p>
            <a:pPr algn="l">
              <a:lnSpc>
                <a:spcPct val="112000"/>
              </a:lnSpc>
            </a:pPr>
            <a:r>
              <a:rPr sz="900" b="0">
                <a:solidFill>
                  <a:srgbClr val="1C3E63"/>
                </a:solidFill>
                <a:latin typeface="Aptos"/>
              </a:rPr>
              <a:t>Narrowing in braces ill-formed, </a:t>
            </a:r>
            <a:r>
              <a:rPr sz="900" b="1">
                <a:solidFill>
                  <a:srgbClr val="1C3E63"/>
                </a:solidFill>
                <a:latin typeface="Aptos"/>
              </a:rPr>
              <a:t>data races are UB</a:t>
            </a:r>
            <a:r>
              <a:rPr sz="900" b="0">
                <a:solidFill>
                  <a:srgbClr val="1C3E63"/>
                </a:solidFill>
                <a:latin typeface="Aptos"/>
              </a:rPr>
              <a:t>, literal to char* gone</a:t>
            </a:r>
          </a:p>
        </p:txBody>
      </p:sp>
      <p:sp>
        <p:nvSpPr>
          <p:cNvPr id="49" name="TextBox 48"/>
          <p:cNvSpPr txBox="1"/>
          <p:nvPr/>
        </p:nvSpPr>
        <p:spPr>
          <a:xfrm>
            <a:off x="6740346" y="3738795"/>
            <a:ext cx="1276606" cy="860000"/>
          </a:xfrm>
          <a:prstGeom prst="rect">
            <a:avLst/>
          </a:prstGeom>
          <a:noFill/>
        </p:spPr>
        <p:txBody>
          <a:bodyPr wrap="square" lIns="0" tIns="0" rIns="0" bIns="0" anchor="t">
            <a:spAutoFit/>
          </a:bodyPr>
          <a:lstStyle/>
          <a:p>
            <a:pPr algn="l">
              <a:lnSpc>
                <a:spcPct val="112000"/>
              </a:lnSpc>
            </a:pPr>
            <a:r>
              <a:rPr sz="900" b="0">
                <a:solidFill>
                  <a:srgbClr val="1C3E63"/>
                </a:solidFill>
                <a:latin typeface="Aptos"/>
              </a:rPr>
              <a:t>Evaluation order defined, noexcept part of the type</a:t>
            </a:r>
          </a:p>
        </p:txBody>
      </p:sp>
      <p:sp>
        <p:nvSpPr>
          <p:cNvPr id="50" name="TextBox 49"/>
          <p:cNvSpPr txBox="1"/>
          <p:nvPr/>
        </p:nvSpPr>
        <p:spPr>
          <a:xfrm>
            <a:off x="8076952" y="3738795"/>
            <a:ext cx="1339802" cy="860000"/>
          </a:xfrm>
          <a:prstGeom prst="rect">
            <a:avLst/>
          </a:prstGeom>
          <a:noFill/>
        </p:spPr>
        <p:txBody>
          <a:bodyPr wrap="square" lIns="0" tIns="0" rIns="0" bIns="0" anchor="t">
            <a:spAutoFit/>
          </a:bodyPr>
          <a:lstStyle/>
          <a:p>
            <a:pPr algn="l">
              <a:lnSpc>
                <a:spcPct val="112000"/>
              </a:lnSpc>
            </a:pPr>
            <a:r>
              <a:rPr sz="900" b="0">
                <a:solidFill>
                  <a:srgbClr val="1C3E63"/>
                </a:solidFill>
                <a:latin typeface="Aptos"/>
              </a:rPr>
              <a:t>Two’s complement mandated, [=] this capture deprecated</a:t>
            </a:r>
          </a:p>
        </p:txBody>
      </p:sp>
      <p:sp>
        <p:nvSpPr>
          <p:cNvPr id="51" name="TextBox 50"/>
          <p:cNvSpPr txBox="1"/>
          <p:nvPr/>
        </p:nvSpPr>
        <p:spPr>
          <a:xfrm>
            <a:off x="10557104" y="3738795"/>
            <a:ext cx="939560" cy="860000"/>
          </a:xfrm>
          <a:prstGeom prst="rect">
            <a:avLst/>
          </a:prstGeom>
          <a:noFill/>
        </p:spPr>
        <p:txBody>
          <a:bodyPr wrap="square" lIns="0" tIns="0" rIns="0" bIns="0" anchor="t">
            <a:spAutoFit/>
          </a:bodyPr>
          <a:lstStyle/>
          <a:p>
            <a:pPr algn="l">
              <a:lnSpc>
                <a:spcPct val="112000"/>
              </a:lnSpc>
            </a:pPr>
            <a:r>
              <a:rPr sz="900" b="1" dirty="0">
                <a:solidFill>
                  <a:srgbClr val="1C3E63"/>
                </a:solidFill>
                <a:latin typeface="Aptos"/>
              </a:rPr>
              <a:t>Uninitialized reads erron</a:t>
            </a:r>
            <a:r>
              <a:rPr lang="en-US" sz="900" b="1" dirty="0">
                <a:solidFill>
                  <a:srgbClr val="1C3E63"/>
                </a:solidFill>
                <a:latin typeface="Aptos"/>
              </a:rPr>
              <a:t>eous</a:t>
            </a:r>
            <a:r>
              <a:rPr sz="900" b="0" dirty="0">
                <a:solidFill>
                  <a:srgbClr val="1C3E63"/>
                </a:solidFill>
                <a:latin typeface="Aptos"/>
              </a:rPr>
              <a:t>, infinite loops defined, </a:t>
            </a:r>
            <a:r>
              <a:rPr sz="900" b="0" dirty="0" err="1">
                <a:solidFill>
                  <a:srgbClr val="1C3E63"/>
                </a:solidFill>
                <a:latin typeface="Aptos"/>
              </a:rPr>
              <a:t>enum</a:t>
            </a:r>
            <a:r>
              <a:rPr sz="900" b="0" dirty="0">
                <a:solidFill>
                  <a:srgbClr val="1C3E63"/>
                </a:solidFill>
                <a:latin typeface="Aptos"/>
              </a:rPr>
              <a:t> and float arith</a:t>
            </a:r>
            <a:r>
              <a:rPr lang="en-US" sz="900" b="0" dirty="0">
                <a:solidFill>
                  <a:srgbClr val="1C3E63"/>
                </a:solidFill>
                <a:latin typeface="Aptos"/>
              </a:rPr>
              <a:t>metic</a:t>
            </a:r>
            <a:r>
              <a:rPr sz="900" b="0" dirty="0">
                <a:solidFill>
                  <a:srgbClr val="1C3E63"/>
                </a:solidFill>
                <a:latin typeface="Aptos"/>
              </a:rPr>
              <a:t> ill-formed</a:t>
            </a:r>
          </a:p>
        </p:txBody>
      </p:sp>
      <p:sp>
        <p:nvSpPr>
          <p:cNvPr id="52" name="Rounded Rectangle 51"/>
          <p:cNvSpPr/>
          <p:nvPr/>
        </p:nvSpPr>
        <p:spPr>
          <a:xfrm>
            <a:off x="838200" y="4648795"/>
            <a:ext cx="10755600" cy="720000"/>
          </a:xfrm>
          <a:prstGeom prst="roundRect">
            <a:avLst>
              <a:gd name="adj" fmla="val 6000"/>
            </a:avLst>
          </a:prstGeom>
          <a:solidFill>
            <a:srgbClr val="F1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3262082" y="4688795"/>
            <a:ext cx="990000"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5720346" y="4688795"/>
            <a:ext cx="990000"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046952" y="4688795"/>
            <a:ext cx="1399802"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10504244" y="4688795"/>
            <a:ext cx="999560"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58200" y="4728795"/>
            <a:ext cx="1050000" cy="640000"/>
          </a:xfrm>
          <a:prstGeom prst="rect">
            <a:avLst/>
          </a:prstGeom>
          <a:noFill/>
        </p:spPr>
        <p:txBody>
          <a:bodyPr wrap="square" lIns="0" tIns="0" rIns="0" bIns="0" anchor="t">
            <a:spAutoFit/>
          </a:bodyPr>
          <a:lstStyle/>
          <a:p>
            <a:pPr algn="l">
              <a:lnSpc>
                <a:spcPct val="112000"/>
              </a:lnSpc>
            </a:pPr>
            <a:r>
              <a:rPr sz="1200" b="1">
                <a:solidFill>
                  <a:srgbClr val="595959"/>
                </a:solidFill>
                <a:latin typeface="Aptos"/>
              </a:rPr>
              <a:t>Removed or deprecated</a:t>
            </a:r>
          </a:p>
        </p:txBody>
      </p:sp>
      <p:sp>
        <p:nvSpPr>
          <p:cNvPr id="58" name="TextBox 57"/>
          <p:cNvSpPr txBox="1"/>
          <p:nvPr/>
        </p:nvSpPr>
        <p:spPr>
          <a:xfrm>
            <a:off x="4282082" y="4738795"/>
            <a:ext cx="1408264" cy="651500"/>
          </a:xfrm>
          <a:prstGeom prst="rect">
            <a:avLst/>
          </a:prstGeom>
          <a:noFill/>
        </p:spPr>
        <p:txBody>
          <a:bodyPr wrap="square" lIns="0" tIns="0" rIns="0" bIns="0" anchor="t">
            <a:spAutoFit/>
          </a:bodyPr>
          <a:lstStyle/>
          <a:p>
            <a:pPr algn="l">
              <a:lnSpc>
                <a:spcPct val="112000"/>
              </a:lnSpc>
            </a:pPr>
            <a:r>
              <a:rPr sz="900" b="1">
                <a:solidFill>
                  <a:srgbClr val="3F3F3F"/>
                </a:solidFill>
                <a:latin typeface="Aptos"/>
              </a:rPr>
              <a:t>auto_ptr</a:t>
            </a:r>
            <a:r>
              <a:rPr sz="900" b="0">
                <a:solidFill>
                  <a:srgbClr val="3F3F3F"/>
                </a:solidFill>
                <a:latin typeface="Aptos"/>
              </a:rPr>
              <a:t>, throw()</a:t>
            </a:r>
          </a:p>
        </p:txBody>
      </p:sp>
      <p:sp>
        <p:nvSpPr>
          <p:cNvPr id="59" name="TextBox 58"/>
          <p:cNvSpPr txBox="1"/>
          <p:nvPr/>
        </p:nvSpPr>
        <p:spPr>
          <a:xfrm>
            <a:off x="5750346" y="4738795"/>
            <a:ext cx="930000" cy="651500"/>
          </a:xfrm>
          <a:prstGeom prst="rect">
            <a:avLst/>
          </a:prstGeom>
          <a:noFill/>
        </p:spPr>
        <p:txBody>
          <a:bodyPr wrap="square" lIns="0" tIns="0" rIns="0" bIns="0" anchor="t">
            <a:spAutoFit/>
          </a:bodyPr>
          <a:lstStyle/>
          <a:p>
            <a:pPr algn="l">
              <a:lnSpc>
                <a:spcPct val="112000"/>
              </a:lnSpc>
            </a:pPr>
            <a:r>
              <a:rPr sz="900" b="1">
                <a:solidFill>
                  <a:srgbClr val="3F3F3F"/>
                </a:solidFill>
                <a:latin typeface="Aptos"/>
              </a:rPr>
              <a:t>gets</a:t>
            </a:r>
            <a:r>
              <a:rPr sz="900" b="0">
                <a:solidFill>
                  <a:srgbClr val="3F3F3F"/>
                </a:solidFill>
                <a:latin typeface="Aptos"/>
              </a:rPr>
              <a:t>; random_shuffle</a:t>
            </a:r>
          </a:p>
        </p:txBody>
      </p:sp>
      <p:sp>
        <p:nvSpPr>
          <p:cNvPr id="60" name="TextBox 59"/>
          <p:cNvSpPr txBox="1"/>
          <p:nvPr/>
        </p:nvSpPr>
        <p:spPr>
          <a:xfrm>
            <a:off x="6740346" y="4738795"/>
            <a:ext cx="1276606" cy="651500"/>
          </a:xfrm>
          <a:prstGeom prst="rect">
            <a:avLst/>
          </a:prstGeom>
          <a:noFill/>
        </p:spPr>
        <p:txBody>
          <a:bodyPr wrap="square" lIns="0" tIns="0" rIns="0" bIns="0" anchor="t">
            <a:spAutoFit/>
          </a:bodyPr>
          <a:lstStyle/>
          <a:p>
            <a:pPr algn="l">
              <a:lnSpc>
                <a:spcPct val="112000"/>
              </a:lnSpc>
            </a:pPr>
            <a:r>
              <a:rPr sz="900" b="1">
                <a:solidFill>
                  <a:srgbClr val="3F3F3F"/>
                </a:solidFill>
                <a:latin typeface="Aptos"/>
              </a:rPr>
              <a:t>auto_ptr</a:t>
            </a:r>
            <a:r>
              <a:rPr sz="900" b="0">
                <a:solidFill>
                  <a:srgbClr val="3F3F3F"/>
                </a:solidFill>
                <a:latin typeface="Aptos"/>
              </a:rPr>
              <a:t>, throw(X), random_shuffle, bind1st, ptr_fun, mem_fun</a:t>
            </a:r>
          </a:p>
        </p:txBody>
      </p:sp>
      <p:sp>
        <p:nvSpPr>
          <p:cNvPr id="61" name="TextBox 60"/>
          <p:cNvSpPr txBox="1"/>
          <p:nvPr/>
        </p:nvSpPr>
        <p:spPr>
          <a:xfrm>
            <a:off x="8076952" y="4738795"/>
            <a:ext cx="1339802" cy="651500"/>
          </a:xfrm>
          <a:prstGeom prst="rect">
            <a:avLst/>
          </a:prstGeom>
          <a:noFill/>
        </p:spPr>
        <p:txBody>
          <a:bodyPr wrap="square" lIns="0" tIns="0" rIns="0" bIns="0" anchor="t">
            <a:spAutoFit/>
          </a:bodyPr>
          <a:lstStyle/>
          <a:p>
            <a:pPr algn="l">
              <a:lnSpc>
                <a:spcPct val="112000"/>
              </a:lnSpc>
            </a:pPr>
            <a:r>
              <a:rPr sz="900" b="0">
                <a:solidFill>
                  <a:srgbClr val="3F3F3F"/>
                </a:solidFill>
                <a:latin typeface="Aptos"/>
              </a:rPr>
              <a:t>not1, not2; volatile compound assignment</a:t>
            </a:r>
          </a:p>
        </p:txBody>
      </p:sp>
      <p:sp>
        <p:nvSpPr>
          <p:cNvPr id="62" name="TextBox 61"/>
          <p:cNvSpPr txBox="1"/>
          <p:nvPr/>
        </p:nvSpPr>
        <p:spPr>
          <a:xfrm>
            <a:off x="9476754" y="4738795"/>
            <a:ext cx="997490" cy="651500"/>
          </a:xfrm>
          <a:prstGeom prst="rect">
            <a:avLst/>
          </a:prstGeom>
          <a:noFill/>
        </p:spPr>
        <p:txBody>
          <a:bodyPr wrap="square" lIns="0" tIns="0" rIns="0" bIns="0" anchor="t">
            <a:spAutoFit/>
          </a:bodyPr>
          <a:lstStyle/>
          <a:p>
            <a:pPr algn="l">
              <a:lnSpc>
                <a:spcPct val="112000"/>
              </a:lnSpc>
            </a:pPr>
            <a:r>
              <a:rPr sz="900" b="0">
                <a:solidFill>
                  <a:srgbClr val="3F3F3F"/>
                </a:solidFill>
                <a:latin typeface="Aptos"/>
              </a:rPr>
              <a:t>GC support; aligned_storage</a:t>
            </a:r>
          </a:p>
        </p:txBody>
      </p:sp>
      <p:sp>
        <p:nvSpPr>
          <p:cNvPr id="63" name="TextBox 62"/>
          <p:cNvSpPr txBox="1"/>
          <p:nvPr/>
        </p:nvSpPr>
        <p:spPr>
          <a:xfrm>
            <a:off x="10534244" y="4738795"/>
            <a:ext cx="939560" cy="651500"/>
          </a:xfrm>
          <a:prstGeom prst="rect">
            <a:avLst/>
          </a:prstGeom>
          <a:noFill/>
        </p:spPr>
        <p:txBody>
          <a:bodyPr wrap="square" lIns="0" tIns="0" rIns="0" bIns="0" anchor="t">
            <a:spAutoFit/>
          </a:bodyPr>
          <a:lstStyle/>
          <a:p>
            <a:pPr algn="l">
              <a:lnSpc>
                <a:spcPct val="112000"/>
              </a:lnSpc>
            </a:pPr>
            <a:r>
              <a:rPr sz="900" b="0">
                <a:solidFill>
                  <a:srgbClr val="3F3F3F"/>
                </a:solidFill>
                <a:latin typeface="Aptos"/>
              </a:rPr>
              <a:t>codecvt, strstream, wstring_convert</a:t>
            </a:r>
          </a:p>
        </p:txBody>
      </p:sp>
      <p:sp>
        <p:nvSpPr>
          <p:cNvPr id="64" name="Rounded Rectangle 63"/>
          <p:cNvSpPr/>
          <p:nvPr/>
        </p:nvSpPr>
        <p:spPr>
          <a:xfrm>
            <a:off x="838200" y="5428795"/>
            <a:ext cx="10755600" cy="1200125"/>
          </a:xfrm>
          <a:prstGeom prst="roundRect">
            <a:avLst>
              <a:gd name="adj" fmla="val 6000"/>
            </a:avLst>
          </a:prstGeom>
          <a:solidFill>
            <a:srgbClr val="FA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3262082" y="5468795"/>
            <a:ext cx="990000"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5720346" y="5468795"/>
            <a:ext cx="990000"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8046952" y="5468795"/>
            <a:ext cx="1399802"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10504244" y="5468795"/>
            <a:ext cx="999560"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58200" y="5508795"/>
            <a:ext cx="1050000" cy="1100125"/>
          </a:xfrm>
          <a:prstGeom prst="rect">
            <a:avLst/>
          </a:prstGeom>
          <a:noFill/>
        </p:spPr>
        <p:txBody>
          <a:bodyPr wrap="square" lIns="0" tIns="0" rIns="0" bIns="0" anchor="t">
            <a:spAutoFit/>
          </a:bodyPr>
          <a:lstStyle/>
          <a:p>
            <a:pPr algn="l">
              <a:lnSpc>
                <a:spcPct val="112000"/>
              </a:lnSpc>
            </a:pPr>
            <a:r>
              <a:rPr sz="1200" b="1">
                <a:solidFill>
                  <a:srgbClr val="B3261E"/>
                </a:solidFill>
                <a:latin typeface="Aptos"/>
              </a:rPr>
              <a:t>Hazards introduced</a:t>
            </a:r>
          </a:p>
        </p:txBody>
      </p:sp>
      <p:sp>
        <p:nvSpPr>
          <p:cNvPr id="70" name="TextBox 69"/>
          <p:cNvSpPr txBox="1"/>
          <p:nvPr/>
        </p:nvSpPr>
        <p:spPr>
          <a:xfrm>
            <a:off x="2108200" y="5518795"/>
            <a:ext cx="1123882"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new and delete dangle, </a:t>
            </a:r>
            <a:r>
              <a:rPr sz="900" b="1">
                <a:solidFill>
                  <a:srgbClr val="7A1C15"/>
                </a:solidFill>
                <a:latin typeface="Aptos"/>
              </a:rPr>
              <a:t>references dangle</a:t>
            </a:r>
            <a:r>
              <a:rPr sz="900" b="0">
                <a:solidFill>
                  <a:srgbClr val="7A1C15"/>
                </a:solidFill>
                <a:latin typeface="Aptos"/>
              </a:rPr>
              <a:t>, reinterpret_cast, </a:t>
            </a:r>
            <a:r>
              <a:rPr sz="900" b="1">
                <a:solidFill>
                  <a:srgbClr val="7A1C15"/>
                </a:solidFill>
                <a:latin typeface="Aptos"/>
              </a:rPr>
              <a:t>operator[] unchecked</a:t>
            </a:r>
            <a:r>
              <a:rPr sz="900" b="0">
                <a:solidFill>
                  <a:srgbClr val="7A1C15"/>
                </a:solidFill>
                <a:latin typeface="Aptos"/>
              </a:rPr>
              <a:t>, </a:t>
            </a:r>
            <a:r>
              <a:rPr sz="900" b="1">
                <a:solidFill>
                  <a:srgbClr val="7A1C15"/>
                </a:solidFill>
                <a:latin typeface="Aptos"/>
              </a:rPr>
              <a:t>auto_ptr</a:t>
            </a:r>
            <a:r>
              <a:rPr sz="900" b="0">
                <a:solidFill>
                  <a:srgbClr val="7A1C15"/>
                </a:solidFill>
                <a:latin typeface="Aptos"/>
              </a:rPr>
              <a:t> moves on copy</a:t>
            </a:r>
          </a:p>
        </p:txBody>
      </p:sp>
      <p:sp>
        <p:nvSpPr>
          <p:cNvPr id="71" name="TextBox 70"/>
          <p:cNvSpPr txBox="1"/>
          <p:nvPr/>
        </p:nvSpPr>
        <p:spPr>
          <a:xfrm>
            <a:off x="4282082" y="5518795"/>
            <a:ext cx="1408264"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auto hides types, </a:t>
            </a:r>
            <a:r>
              <a:rPr sz="900" b="1">
                <a:solidFill>
                  <a:srgbClr val="7A1C15"/>
                </a:solidFill>
                <a:latin typeface="Aptos"/>
              </a:rPr>
              <a:t>lambdas capture dangling</a:t>
            </a:r>
            <a:r>
              <a:rPr sz="900" b="0">
                <a:solidFill>
                  <a:srgbClr val="7A1C15"/>
                </a:solidFill>
                <a:latin typeface="Aptos"/>
              </a:rPr>
              <a:t>, </a:t>
            </a:r>
            <a:r>
              <a:rPr sz="900" b="1">
                <a:solidFill>
                  <a:srgbClr val="7A1C15"/>
                </a:solidFill>
                <a:latin typeface="Aptos"/>
              </a:rPr>
              <a:t>moved-from objects</a:t>
            </a:r>
            <a:r>
              <a:rPr sz="900" b="0">
                <a:solidFill>
                  <a:srgbClr val="7A1C15"/>
                </a:solidFill>
                <a:latin typeface="Aptos"/>
              </a:rPr>
              <a:t>, </a:t>
            </a:r>
            <a:r>
              <a:rPr sz="900" b="1">
                <a:solidFill>
                  <a:srgbClr val="7A1C15"/>
                </a:solidFill>
                <a:latin typeface="Aptos"/>
              </a:rPr>
              <a:t>shared_ptr</a:t>
            </a:r>
            <a:r>
              <a:rPr sz="900" b="0">
                <a:solidFill>
                  <a:srgbClr val="7A1C15"/>
                </a:solidFill>
                <a:latin typeface="Aptos"/>
              </a:rPr>
              <a:t> cycles, thread terminates unjoined, range-for over temporary</a:t>
            </a:r>
          </a:p>
        </p:txBody>
      </p:sp>
      <p:sp>
        <p:nvSpPr>
          <p:cNvPr id="72" name="TextBox 71"/>
          <p:cNvSpPr txBox="1"/>
          <p:nvPr/>
        </p:nvSpPr>
        <p:spPr>
          <a:xfrm>
            <a:off x="6740346" y="5518795"/>
            <a:ext cx="1276606" cy="1080125"/>
          </a:xfrm>
          <a:prstGeom prst="rect">
            <a:avLst/>
          </a:prstGeom>
          <a:noFill/>
        </p:spPr>
        <p:txBody>
          <a:bodyPr wrap="square" lIns="0" tIns="0" rIns="0" bIns="0" anchor="t">
            <a:spAutoFit/>
          </a:bodyPr>
          <a:lstStyle/>
          <a:p>
            <a:pPr algn="l">
              <a:lnSpc>
                <a:spcPct val="112000"/>
              </a:lnSpc>
            </a:pPr>
            <a:r>
              <a:rPr sz="900" b="1">
                <a:solidFill>
                  <a:srgbClr val="7A1C15"/>
                </a:solidFill>
                <a:latin typeface="Aptos"/>
              </a:rPr>
              <a:t>string_view dangles</a:t>
            </a:r>
            <a:r>
              <a:rPr sz="900" b="0">
                <a:solidFill>
                  <a:srgbClr val="7A1C15"/>
                </a:solidFill>
                <a:latin typeface="Aptos"/>
              </a:rPr>
              <a:t>, optional deref UB</a:t>
            </a:r>
          </a:p>
        </p:txBody>
      </p:sp>
      <p:sp>
        <p:nvSpPr>
          <p:cNvPr id="73" name="TextBox 72"/>
          <p:cNvSpPr txBox="1"/>
          <p:nvPr/>
        </p:nvSpPr>
        <p:spPr>
          <a:xfrm>
            <a:off x="8076952" y="5518795"/>
            <a:ext cx="1339802" cy="1080125"/>
          </a:xfrm>
          <a:prstGeom prst="rect">
            <a:avLst/>
          </a:prstGeom>
          <a:noFill/>
        </p:spPr>
        <p:txBody>
          <a:bodyPr wrap="square" lIns="0" tIns="0" rIns="0" bIns="0" anchor="t">
            <a:spAutoFit/>
          </a:bodyPr>
          <a:lstStyle/>
          <a:p>
            <a:pPr algn="l">
              <a:lnSpc>
                <a:spcPct val="112000"/>
              </a:lnSpc>
            </a:pPr>
            <a:r>
              <a:rPr sz="900" b="1">
                <a:solidFill>
                  <a:srgbClr val="7A1C15"/>
                </a:solidFill>
                <a:latin typeface="Aptos"/>
              </a:rPr>
              <a:t>span and mdspan unchecked</a:t>
            </a:r>
            <a:r>
              <a:rPr sz="900" b="0">
                <a:solidFill>
                  <a:srgbClr val="7A1C15"/>
                </a:solidFill>
                <a:latin typeface="Aptos"/>
              </a:rPr>
              <a:t>, coroutines dangle, assume_aligned UB</a:t>
            </a:r>
          </a:p>
        </p:txBody>
      </p:sp>
      <p:sp>
        <p:nvSpPr>
          <p:cNvPr id="74" name="TextBox 73"/>
          <p:cNvSpPr txBox="1"/>
          <p:nvPr/>
        </p:nvSpPr>
        <p:spPr>
          <a:xfrm>
            <a:off x="9476754" y="5518795"/>
            <a:ext cx="997490"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[[assume]], unreachable()</a:t>
            </a:r>
          </a:p>
        </p:txBody>
      </p:sp>
      <p:sp>
        <p:nvSpPr>
          <p:cNvPr id="75" name="TextBox 74"/>
          <p:cNvSpPr txBox="1"/>
          <p:nvPr/>
        </p:nvSpPr>
        <p:spPr>
          <a:xfrm>
            <a:off x="10534244" y="5518795"/>
            <a:ext cx="939560"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[[indeterminate]], </a:t>
            </a:r>
            <a:r>
              <a:rPr sz="900" b="1">
                <a:solidFill>
                  <a:srgbClr val="7A1C15"/>
                </a:solidFill>
                <a:latin typeface="Aptos"/>
              </a:rPr>
              <a:t>hardening is library only</a:t>
            </a:r>
            <a:r>
              <a:rPr sz="900" b="0">
                <a:solidFill>
                  <a:srgbClr val="7A1C15"/>
                </a:solidFill>
                <a:latin typeface="Aptos"/>
              </a:rPr>
              <a:t>, </a:t>
            </a:r>
            <a:r>
              <a:rPr sz="900" b="1">
                <a:solidFill>
                  <a:srgbClr val="7A1C15"/>
                </a:solidFill>
                <a:latin typeface="Aptos"/>
              </a:rPr>
              <a:t>contracts contested to the last ballot</a:t>
            </a:r>
          </a:p>
        </p:txBody>
      </p:sp>
      <p:sp>
        <p:nvSpPr>
          <p:cNvPr id="76" name="Title 75">
            <a:extLst>
              <a:ext uri="{FF2B5EF4-FFF2-40B4-BE49-F238E27FC236}">
                <a16:creationId xmlns:a16="http://schemas.microsoft.com/office/drawing/2014/main" id="{0218E9A5-95C2-0FBA-40E1-4A33480CFEC9}"/>
              </a:ext>
            </a:extLst>
          </p:cNvPr>
          <p:cNvSpPr>
            <a:spLocks noGrp="1"/>
          </p:cNvSpPr>
          <p:nvPr>
            <p:ph type="title"/>
          </p:nvPr>
        </p:nvSpPr>
        <p:spPr/>
        <p:txBody>
          <a:bodyPr/>
          <a:lstStyle/>
          <a:p>
            <a:r>
              <a:rPr lang="en-US" dirty="0"/>
              <a:t>History of safety in C++</a:t>
            </a:r>
          </a:p>
        </p:txBody>
      </p:sp>
    </p:spTree>
    <p:extLst>
      <p:ext uri="{BB962C8B-B14F-4D97-AF65-F5344CB8AC3E}">
        <p14:creationId xmlns:p14="http://schemas.microsoft.com/office/powerpoint/2010/main" val="1880734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70141" y="1723395"/>
            <a:ext cx="8333883" cy="1905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 name="Rounded Rectangle 3"/>
          <p:cNvSpPr/>
          <p:nvPr/>
        </p:nvSpPr>
        <p:spPr>
          <a:xfrm>
            <a:off x="2595141"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08200" y="1329193"/>
            <a:ext cx="1123882" cy="263727"/>
          </a:xfrm>
          <a:prstGeom prst="rect">
            <a:avLst/>
          </a:prstGeom>
          <a:noFill/>
        </p:spPr>
        <p:txBody>
          <a:bodyPr wrap="square" lIns="0" tIns="0" rIns="0" bIns="0" anchor="b">
            <a:spAutoFit/>
          </a:bodyPr>
          <a:lstStyle/>
          <a:p>
            <a:pPr algn="ctr">
              <a:lnSpc>
                <a:spcPct val="112000"/>
              </a:lnSpc>
            </a:pPr>
            <a:r>
              <a:rPr sz="1600" b="1" dirty="0">
                <a:solidFill>
                  <a:srgbClr val="1A1A1A"/>
                </a:solidFill>
                <a:latin typeface="Aptos"/>
              </a:rPr>
              <a:t>Pre-98</a:t>
            </a:r>
          </a:p>
        </p:txBody>
      </p:sp>
      <p:sp>
        <p:nvSpPr>
          <p:cNvPr id="6" name="TextBox 5"/>
          <p:cNvSpPr txBox="1"/>
          <p:nvPr/>
        </p:nvSpPr>
        <p:spPr>
          <a:xfrm>
            <a:off x="2108200" y="1842920"/>
            <a:ext cx="1123882"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1985</a:t>
            </a:r>
          </a:p>
        </p:txBody>
      </p:sp>
      <p:sp>
        <p:nvSpPr>
          <p:cNvPr id="7" name="Rounded Rectangle 6"/>
          <p:cNvSpPr/>
          <p:nvPr/>
        </p:nvSpPr>
        <p:spPr>
          <a:xfrm>
            <a:off x="3682082"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92082" y="1329193"/>
            <a:ext cx="93000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C++98/03</a:t>
            </a:r>
          </a:p>
        </p:txBody>
      </p:sp>
      <p:sp>
        <p:nvSpPr>
          <p:cNvPr id="9" name="TextBox 8"/>
          <p:cNvSpPr txBox="1"/>
          <p:nvPr/>
        </p:nvSpPr>
        <p:spPr>
          <a:xfrm>
            <a:off x="3292082" y="1842920"/>
            <a:ext cx="93000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1998</a:t>
            </a:r>
          </a:p>
        </p:txBody>
      </p:sp>
      <p:sp>
        <p:nvSpPr>
          <p:cNvPr id="10" name="Rounded Rectangle 9"/>
          <p:cNvSpPr/>
          <p:nvPr/>
        </p:nvSpPr>
        <p:spPr>
          <a:xfrm>
            <a:off x="4911214"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82082" y="1329193"/>
            <a:ext cx="1408264"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C++11</a:t>
            </a:r>
          </a:p>
        </p:txBody>
      </p:sp>
      <p:sp>
        <p:nvSpPr>
          <p:cNvPr id="12" name="TextBox 11"/>
          <p:cNvSpPr txBox="1"/>
          <p:nvPr/>
        </p:nvSpPr>
        <p:spPr>
          <a:xfrm>
            <a:off x="4282082" y="1842920"/>
            <a:ext cx="1408264"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2011</a:t>
            </a:r>
          </a:p>
        </p:txBody>
      </p:sp>
      <p:sp>
        <p:nvSpPr>
          <p:cNvPr id="13" name="Rounded Rectangle 12"/>
          <p:cNvSpPr/>
          <p:nvPr/>
        </p:nvSpPr>
        <p:spPr>
          <a:xfrm>
            <a:off x="6140346"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50346" y="1329193"/>
            <a:ext cx="93000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C++14</a:t>
            </a:r>
          </a:p>
        </p:txBody>
      </p:sp>
      <p:sp>
        <p:nvSpPr>
          <p:cNvPr id="15" name="TextBox 14"/>
          <p:cNvSpPr txBox="1"/>
          <p:nvPr/>
        </p:nvSpPr>
        <p:spPr>
          <a:xfrm>
            <a:off x="5750346" y="1842920"/>
            <a:ext cx="93000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2014</a:t>
            </a:r>
          </a:p>
        </p:txBody>
      </p:sp>
      <p:sp>
        <p:nvSpPr>
          <p:cNvPr id="16" name="Rounded Rectangle 15"/>
          <p:cNvSpPr/>
          <p:nvPr/>
        </p:nvSpPr>
        <p:spPr>
          <a:xfrm>
            <a:off x="7303649"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40346" y="1329193"/>
            <a:ext cx="1276606"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C++17</a:t>
            </a:r>
          </a:p>
        </p:txBody>
      </p:sp>
      <p:sp>
        <p:nvSpPr>
          <p:cNvPr id="18" name="TextBox 17"/>
          <p:cNvSpPr txBox="1"/>
          <p:nvPr/>
        </p:nvSpPr>
        <p:spPr>
          <a:xfrm>
            <a:off x="6740346" y="1842920"/>
            <a:ext cx="1276606"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2017</a:t>
            </a:r>
          </a:p>
        </p:txBody>
      </p:sp>
      <p:sp>
        <p:nvSpPr>
          <p:cNvPr id="19" name="Rounded Rectangle 18"/>
          <p:cNvSpPr/>
          <p:nvPr/>
        </p:nvSpPr>
        <p:spPr>
          <a:xfrm>
            <a:off x="8671853"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76952" y="1329193"/>
            <a:ext cx="1339802"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C++20</a:t>
            </a:r>
          </a:p>
        </p:txBody>
      </p:sp>
      <p:sp>
        <p:nvSpPr>
          <p:cNvPr id="21" name="TextBox 20"/>
          <p:cNvSpPr txBox="1"/>
          <p:nvPr/>
        </p:nvSpPr>
        <p:spPr>
          <a:xfrm>
            <a:off x="8076952" y="1842920"/>
            <a:ext cx="1339802"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2020</a:t>
            </a:r>
          </a:p>
        </p:txBody>
      </p:sp>
      <p:sp>
        <p:nvSpPr>
          <p:cNvPr id="22" name="Rounded Rectangle 21"/>
          <p:cNvSpPr/>
          <p:nvPr/>
        </p:nvSpPr>
        <p:spPr>
          <a:xfrm>
            <a:off x="9900499"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6754" y="1329193"/>
            <a:ext cx="99749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C++23</a:t>
            </a:r>
          </a:p>
        </p:txBody>
      </p:sp>
      <p:sp>
        <p:nvSpPr>
          <p:cNvPr id="24" name="TextBox 23"/>
          <p:cNvSpPr txBox="1"/>
          <p:nvPr/>
        </p:nvSpPr>
        <p:spPr>
          <a:xfrm>
            <a:off x="9476754" y="1842920"/>
            <a:ext cx="99749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2023</a:t>
            </a:r>
          </a:p>
        </p:txBody>
      </p:sp>
      <p:sp>
        <p:nvSpPr>
          <p:cNvPr id="25" name="Rounded Rectangle 24"/>
          <p:cNvSpPr/>
          <p:nvPr/>
        </p:nvSpPr>
        <p:spPr>
          <a:xfrm>
            <a:off x="10929024" y="1657920"/>
            <a:ext cx="150000" cy="150000"/>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34244" y="1329193"/>
            <a:ext cx="939560" cy="263727"/>
          </a:xfrm>
          <a:prstGeom prst="rect">
            <a:avLst/>
          </a:prstGeom>
          <a:noFill/>
        </p:spPr>
        <p:txBody>
          <a:bodyPr wrap="square" lIns="0" tIns="0" rIns="0" bIns="0" anchor="b">
            <a:spAutoFit/>
          </a:bodyPr>
          <a:lstStyle/>
          <a:p>
            <a:pPr algn="ctr">
              <a:lnSpc>
                <a:spcPct val="112000"/>
              </a:lnSpc>
            </a:pPr>
            <a:r>
              <a:rPr sz="1600" b="1">
                <a:solidFill>
                  <a:srgbClr val="1A1A1A"/>
                </a:solidFill>
                <a:latin typeface="Aptos"/>
              </a:rPr>
              <a:t>C++26</a:t>
            </a:r>
          </a:p>
        </p:txBody>
      </p:sp>
      <p:sp>
        <p:nvSpPr>
          <p:cNvPr id="27" name="TextBox 26"/>
          <p:cNvSpPr txBox="1"/>
          <p:nvPr/>
        </p:nvSpPr>
        <p:spPr>
          <a:xfrm>
            <a:off x="10534244" y="1842920"/>
            <a:ext cx="939560" cy="197746"/>
          </a:xfrm>
          <a:prstGeom prst="rect">
            <a:avLst/>
          </a:prstGeom>
          <a:noFill/>
        </p:spPr>
        <p:txBody>
          <a:bodyPr wrap="square" lIns="0" tIns="0" rIns="0" bIns="0" anchor="t">
            <a:spAutoFit/>
          </a:bodyPr>
          <a:lstStyle/>
          <a:p>
            <a:pPr algn="ctr">
              <a:lnSpc>
                <a:spcPct val="112000"/>
              </a:lnSpc>
            </a:pPr>
            <a:r>
              <a:rPr sz="1200" b="0">
                <a:solidFill>
                  <a:srgbClr val="8C8C8C"/>
                </a:solidFill>
                <a:latin typeface="Aptos"/>
              </a:rPr>
              <a:t>2026</a:t>
            </a:r>
          </a:p>
        </p:txBody>
      </p:sp>
      <p:sp>
        <p:nvSpPr>
          <p:cNvPr id="28" name="Rounded Rectangle 27"/>
          <p:cNvSpPr/>
          <p:nvPr/>
        </p:nvSpPr>
        <p:spPr>
          <a:xfrm>
            <a:off x="838200" y="2102920"/>
            <a:ext cx="10755600" cy="1485875"/>
          </a:xfrm>
          <a:prstGeom prst="roundRect">
            <a:avLst>
              <a:gd name="adj" fmla="val 6000"/>
            </a:avLst>
          </a:prstGeom>
          <a:solidFill>
            <a:srgbClr val="EE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262082" y="2142920"/>
            <a:ext cx="990000"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720346" y="2142920"/>
            <a:ext cx="990000"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046952" y="2142920"/>
            <a:ext cx="1399802"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0504244" y="2142920"/>
            <a:ext cx="999560" cy="1405875"/>
          </a:xfrm>
          <a:prstGeom prst="roundRect">
            <a:avLst>
              <a:gd name="adj" fmla="val 8000"/>
            </a:avLst>
          </a:prstGeom>
          <a:solidFill>
            <a:srgbClr val="D3E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8200" y="2182920"/>
            <a:ext cx="1050000" cy="1385875"/>
          </a:xfrm>
          <a:prstGeom prst="rect">
            <a:avLst/>
          </a:prstGeom>
          <a:noFill/>
        </p:spPr>
        <p:txBody>
          <a:bodyPr wrap="square" lIns="0" tIns="0" rIns="0" bIns="0" anchor="t">
            <a:spAutoFit/>
          </a:bodyPr>
          <a:lstStyle/>
          <a:p>
            <a:pPr algn="l">
              <a:lnSpc>
                <a:spcPct val="112000"/>
              </a:lnSpc>
            </a:pPr>
            <a:r>
              <a:rPr sz="1200" b="1">
                <a:solidFill>
                  <a:srgbClr val="2E7D32"/>
                </a:solidFill>
                <a:latin typeface="Aptos"/>
              </a:rPr>
              <a:t>Added</a:t>
            </a:r>
          </a:p>
        </p:txBody>
      </p:sp>
      <p:sp>
        <p:nvSpPr>
          <p:cNvPr id="34" name="TextBox 33"/>
          <p:cNvSpPr txBox="1"/>
          <p:nvPr/>
        </p:nvSpPr>
        <p:spPr>
          <a:xfrm>
            <a:off x="2108200" y="2192920"/>
            <a:ext cx="1123882" cy="1365875"/>
          </a:xfrm>
          <a:prstGeom prst="rect">
            <a:avLst/>
          </a:prstGeom>
          <a:noFill/>
        </p:spPr>
        <p:txBody>
          <a:bodyPr wrap="square" lIns="0" tIns="0" rIns="0" bIns="0" anchor="t">
            <a:spAutoFit/>
          </a:bodyPr>
          <a:lstStyle/>
          <a:p>
            <a:pPr algn="l">
              <a:lnSpc>
                <a:spcPct val="112000"/>
              </a:lnSpc>
            </a:pPr>
            <a:r>
              <a:rPr sz="900" b="0" dirty="0">
                <a:solidFill>
                  <a:srgbClr val="1F4D24"/>
                </a:solidFill>
                <a:latin typeface="Aptos"/>
              </a:rPr>
              <a:t>Type-checked arguments, </a:t>
            </a:r>
            <a:r>
              <a:rPr sz="900" b="1" dirty="0">
                <a:solidFill>
                  <a:srgbClr val="1F4D24"/>
                </a:solidFill>
                <a:latin typeface="Aptos"/>
              </a:rPr>
              <a:t>constructors and destructors</a:t>
            </a:r>
            <a:r>
              <a:rPr sz="900" b="0" dirty="0">
                <a:solidFill>
                  <a:srgbClr val="1F4D24"/>
                </a:solidFill>
                <a:latin typeface="Aptos"/>
              </a:rPr>
              <a:t>, const, references, virtual, abstract classes, </a:t>
            </a:r>
            <a:r>
              <a:rPr sz="900" b="1" dirty="0">
                <a:solidFill>
                  <a:srgbClr val="1F4D24"/>
                </a:solidFill>
                <a:latin typeface="Aptos"/>
              </a:rPr>
              <a:t>exceptions</a:t>
            </a:r>
            <a:r>
              <a:rPr sz="900" b="0" dirty="0">
                <a:solidFill>
                  <a:srgbClr val="1F4D24"/>
                </a:solidFill>
                <a:latin typeface="Aptos"/>
              </a:rPr>
              <a:t>, </a:t>
            </a:r>
            <a:r>
              <a:rPr sz="900" b="1" dirty="0">
                <a:solidFill>
                  <a:srgbClr val="1F4D24"/>
                </a:solidFill>
                <a:latin typeface="Aptos"/>
              </a:rPr>
              <a:t>templates</a:t>
            </a:r>
            <a:r>
              <a:rPr sz="900" b="0" dirty="0">
                <a:solidFill>
                  <a:srgbClr val="1F4D24"/>
                </a:solidFill>
                <a:latin typeface="Aptos"/>
              </a:rPr>
              <a:t>, named casts, bool</a:t>
            </a:r>
          </a:p>
        </p:txBody>
      </p:sp>
      <p:sp>
        <p:nvSpPr>
          <p:cNvPr id="35" name="TextBox 34"/>
          <p:cNvSpPr txBox="1"/>
          <p:nvPr/>
        </p:nvSpPr>
        <p:spPr>
          <a:xfrm>
            <a:off x="3307322" y="2192920"/>
            <a:ext cx="930000"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string, vector, at()</a:t>
            </a:r>
            <a:r>
              <a:rPr sz="900" b="0" dirty="0">
                <a:solidFill>
                  <a:srgbClr val="1F4D24"/>
                </a:solidFill>
                <a:latin typeface="Aptos"/>
              </a:rPr>
              <a:t>, exception safety guarantees, value initialization, </a:t>
            </a:r>
            <a:r>
              <a:rPr sz="900" b="1" dirty="0">
                <a:solidFill>
                  <a:srgbClr val="1F4D24"/>
                </a:solidFill>
                <a:latin typeface="Aptos"/>
              </a:rPr>
              <a:t>auto_ptr</a:t>
            </a:r>
          </a:p>
        </p:txBody>
      </p:sp>
      <p:sp>
        <p:nvSpPr>
          <p:cNvPr id="36" name="TextBox 35"/>
          <p:cNvSpPr txBox="1"/>
          <p:nvPr/>
        </p:nvSpPr>
        <p:spPr>
          <a:xfrm>
            <a:off x="4304942" y="2192920"/>
            <a:ext cx="1408264"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Memory model</a:t>
            </a:r>
            <a:r>
              <a:rPr sz="900" b="0" dirty="0">
                <a:solidFill>
                  <a:srgbClr val="1F4D24"/>
                </a:solidFill>
                <a:latin typeface="Aptos"/>
              </a:rPr>
              <a:t>, </a:t>
            </a:r>
            <a:r>
              <a:rPr sz="900" b="0" dirty="0" err="1">
                <a:solidFill>
                  <a:srgbClr val="1F4D24"/>
                </a:solidFill>
                <a:latin typeface="Aptos"/>
              </a:rPr>
              <a:t>nullptr</a:t>
            </a:r>
            <a:r>
              <a:rPr sz="900" b="0" dirty="0">
                <a:solidFill>
                  <a:srgbClr val="1F4D24"/>
                </a:solidFill>
                <a:latin typeface="Aptos"/>
              </a:rPr>
              <a:t>, </a:t>
            </a:r>
            <a:r>
              <a:rPr sz="900" b="0" dirty="0" err="1">
                <a:solidFill>
                  <a:srgbClr val="1F4D24"/>
                </a:solidFill>
                <a:latin typeface="Aptos"/>
              </a:rPr>
              <a:t>enum</a:t>
            </a:r>
            <a:r>
              <a:rPr sz="900" b="0" dirty="0">
                <a:solidFill>
                  <a:srgbClr val="1F4D24"/>
                </a:solidFill>
                <a:latin typeface="Aptos"/>
              </a:rPr>
              <a:t> class, brace init, override, final, =default, =delete, </a:t>
            </a:r>
            <a:r>
              <a:rPr sz="900" b="0" dirty="0" err="1">
                <a:solidFill>
                  <a:srgbClr val="1F4D24"/>
                </a:solidFill>
                <a:latin typeface="Aptos"/>
              </a:rPr>
              <a:t>constexpr</a:t>
            </a:r>
            <a:r>
              <a:rPr sz="900" b="0" dirty="0">
                <a:solidFill>
                  <a:srgbClr val="1F4D24"/>
                </a:solidFill>
                <a:latin typeface="Aptos"/>
              </a:rPr>
              <a:t>, range-for, </a:t>
            </a:r>
            <a:r>
              <a:rPr sz="900" b="0" dirty="0" err="1">
                <a:solidFill>
                  <a:srgbClr val="1F4D24"/>
                </a:solidFill>
                <a:latin typeface="Aptos"/>
              </a:rPr>
              <a:t>static_assert</a:t>
            </a:r>
            <a:r>
              <a:rPr sz="900" b="0" dirty="0">
                <a:solidFill>
                  <a:srgbClr val="1F4D24"/>
                </a:solidFill>
                <a:latin typeface="Aptos"/>
              </a:rPr>
              <a:t>, </a:t>
            </a:r>
            <a:r>
              <a:rPr sz="900" b="0" dirty="0" err="1">
                <a:solidFill>
                  <a:srgbClr val="1F4D24"/>
                </a:solidFill>
                <a:latin typeface="Aptos"/>
              </a:rPr>
              <a:t>noexcept</a:t>
            </a:r>
            <a:r>
              <a:rPr sz="900" b="0" dirty="0">
                <a:solidFill>
                  <a:srgbClr val="1F4D24"/>
                </a:solidFill>
                <a:latin typeface="Aptos"/>
              </a:rPr>
              <a:t>, move, lambdas, </a:t>
            </a:r>
            <a:r>
              <a:rPr sz="900" b="1" dirty="0" err="1">
                <a:solidFill>
                  <a:srgbClr val="1F4D24"/>
                </a:solidFill>
                <a:latin typeface="Aptos"/>
              </a:rPr>
              <a:t>unique_ptr</a:t>
            </a:r>
            <a:r>
              <a:rPr sz="900" b="0" dirty="0">
                <a:solidFill>
                  <a:srgbClr val="1F4D24"/>
                </a:solidFill>
                <a:latin typeface="Aptos"/>
              </a:rPr>
              <a:t>, </a:t>
            </a:r>
            <a:r>
              <a:rPr sz="900" b="1" dirty="0" err="1">
                <a:solidFill>
                  <a:srgbClr val="1F4D24"/>
                </a:solidFill>
                <a:latin typeface="Aptos"/>
              </a:rPr>
              <a:t>shared_ptr</a:t>
            </a:r>
            <a:r>
              <a:rPr sz="900" b="0" dirty="0">
                <a:solidFill>
                  <a:srgbClr val="1F4D24"/>
                </a:solidFill>
                <a:latin typeface="Aptos"/>
              </a:rPr>
              <a:t>, array, </a:t>
            </a:r>
            <a:r>
              <a:rPr sz="900" b="0" dirty="0" err="1">
                <a:solidFill>
                  <a:srgbClr val="1F4D24"/>
                </a:solidFill>
                <a:latin typeface="Aptos"/>
              </a:rPr>
              <a:t>lock_guard</a:t>
            </a:r>
            <a:r>
              <a:rPr sz="900" b="0" dirty="0">
                <a:solidFill>
                  <a:srgbClr val="1F4D24"/>
                </a:solidFill>
                <a:latin typeface="Aptos"/>
              </a:rPr>
              <a:t>, atomic</a:t>
            </a:r>
          </a:p>
        </p:txBody>
      </p:sp>
      <p:sp>
        <p:nvSpPr>
          <p:cNvPr id="37" name="TextBox 36"/>
          <p:cNvSpPr txBox="1"/>
          <p:nvPr/>
        </p:nvSpPr>
        <p:spPr>
          <a:xfrm>
            <a:off x="5818926" y="2192920"/>
            <a:ext cx="930000" cy="1365875"/>
          </a:xfrm>
          <a:prstGeom prst="rect">
            <a:avLst/>
          </a:prstGeom>
          <a:noFill/>
        </p:spPr>
        <p:txBody>
          <a:bodyPr wrap="square" lIns="0" tIns="0" rIns="0" bIns="0" anchor="t">
            <a:spAutoFit/>
          </a:bodyPr>
          <a:lstStyle/>
          <a:p>
            <a:pPr algn="l">
              <a:lnSpc>
                <a:spcPct val="112000"/>
              </a:lnSpc>
            </a:pPr>
            <a:r>
              <a:rPr sz="900" b="0" dirty="0" err="1">
                <a:solidFill>
                  <a:srgbClr val="1F4D24"/>
                </a:solidFill>
                <a:latin typeface="Aptos"/>
              </a:rPr>
              <a:t>make_unique</a:t>
            </a:r>
            <a:r>
              <a:rPr sz="900" b="0" dirty="0">
                <a:solidFill>
                  <a:srgbClr val="1F4D24"/>
                </a:solidFill>
                <a:latin typeface="Aptos"/>
              </a:rPr>
              <a:t>, extended </a:t>
            </a:r>
            <a:r>
              <a:rPr sz="900" b="0" dirty="0" err="1">
                <a:solidFill>
                  <a:srgbClr val="1F4D24"/>
                </a:solidFill>
                <a:latin typeface="Aptos"/>
              </a:rPr>
              <a:t>constexpr</a:t>
            </a:r>
            <a:r>
              <a:rPr sz="900" b="0" dirty="0">
                <a:solidFill>
                  <a:srgbClr val="1F4D24"/>
                </a:solidFill>
                <a:latin typeface="Aptos"/>
              </a:rPr>
              <a:t>, [[deprecated]]</a:t>
            </a:r>
          </a:p>
        </p:txBody>
      </p:sp>
      <p:sp>
        <p:nvSpPr>
          <p:cNvPr id="38" name="TextBox 37"/>
          <p:cNvSpPr txBox="1"/>
          <p:nvPr/>
        </p:nvSpPr>
        <p:spPr>
          <a:xfrm>
            <a:off x="6770826" y="2192920"/>
            <a:ext cx="1276606" cy="1365875"/>
          </a:xfrm>
          <a:prstGeom prst="rect">
            <a:avLst/>
          </a:prstGeom>
          <a:noFill/>
        </p:spPr>
        <p:txBody>
          <a:bodyPr wrap="square" lIns="0" tIns="0" rIns="0" bIns="0" anchor="t">
            <a:spAutoFit/>
          </a:bodyPr>
          <a:lstStyle/>
          <a:p>
            <a:pPr algn="l">
              <a:lnSpc>
                <a:spcPct val="112000"/>
              </a:lnSpc>
            </a:pPr>
            <a:r>
              <a:rPr sz="900" b="0" dirty="0">
                <a:solidFill>
                  <a:srgbClr val="1F4D24"/>
                </a:solidFill>
                <a:latin typeface="Aptos"/>
              </a:rPr>
              <a:t>Evaluation order, copy elision, </a:t>
            </a:r>
            <a:r>
              <a:rPr sz="900" b="1" dirty="0">
                <a:solidFill>
                  <a:srgbClr val="1F4D24"/>
                </a:solidFill>
                <a:latin typeface="Aptos"/>
              </a:rPr>
              <a:t>structured bindings</a:t>
            </a:r>
            <a:r>
              <a:rPr sz="900" b="0" dirty="0">
                <a:solidFill>
                  <a:srgbClr val="1F4D24"/>
                </a:solidFill>
                <a:latin typeface="Aptos"/>
              </a:rPr>
              <a:t>, if </a:t>
            </a:r>
            <a:r>
              <a:rPr sz="900" b="0" dirty="0" err="1">
                <a:solidFill>
                  <a:srgbClr val="1F4D24"/>
                </a:solidFill>
                <a:latin typeface="Aptos"/>
              </a:rPr>
              <a:t>constexpr</a:t>
            </a:r>
            <a:r>
              <a:rPr sz="900" b="0" dirty="0">
                <a:solidFill>
                  <a:srgbClr val="1F4D24"/>
                </a:solidFill>
                <a:latin typeface="Aptos"/>
              </a:rPr>
              <a:t>, [[</a:t>
            </a:r>
            <a:r>
              <a:rPr sz="900" b="0" dirty="0" err="1">
                <a:solidFill>
                  <a:srgbClr val="1F4D24"/>
                </a:solidFill>
                <a:latin typeface="Aptos"/>
              </a:rPr>
              <a:t>nodiscard</a:t>
            </a:r>
            <a:r>
              <a:rPr sz="900" b="0" dirty="0">
                <a:solidFill>
                  <a:srgbClr val="1F4D24"/>
                </a:solidFill>
                <a:latin typeface="Aptos"/>
              </a:rPr>
              <a:t>]], [[</a:t>
            </a:r>
            <a:r>
              <a:rPr sz="900" b="0" dirty="0" err="1">
                <a:solidFill>
                  <a:srgbClr val="1F4D24"/>
                </a:solidFill>
                <a:latin typeface="Aptos"/>
              </a:rPr>
              <a:t>fallthrough</a:t>
            </a:r>
            <a:r>
              <a:rPr sz="900" b="0" dirty="0">
                <a:solidFill>
                  <a:srgbClr val="1F4D24"/>
                </a:solidFill>
                <a:latin typeface="Aptos"/>
              </a:rPr>
              <a:t>]], </a:t>
            </a:r>
            <a:r>
              <a:rPr sz="900" b="1" dirty="0">
                <a:solidFill>
                  <a:srgbClr val="1F4D24"/>
                </a:solidFill>
                <a:latin typeface="Aptos"/>
              </a:rPr>
              <a:t>optional, variant</a:t>
            </a:r>
            <a:r>
              <a:rPr sz="900" b="0" dirty="0">
                <a:solidFill>
                  <a:srgbClr val="1F4D24"/>
                </a:solidFill>
                <a:latin typeface="Aptos"/>
              </a:rPr>
              <a:t>, </a:t>
            </a:r>
            <a:r>
              <a:rPr sz="900" b="0" dirty="0" err="1">
                <a:solidFill>
                  <a:srgbClr val="1F4D24"/>
                </a:solidFill>
                <a:latin typeface="Aptos"/>
              </a:rPr>
              <a:t>string_view</a:t>
            </a:r>
            <a:r>
              <a:rPr sz="900" b="0" dirty="0">
                <a:solidFill>
                  <a:srgbClr val="1F4D24"/>
                </a:solidFill>
                <a:latin typeface="Aptos"/>
              </a:rPr>
              <a:t>, byte, </a:t>
            </a:r>
            <a:r>
              <a:rPr sz="900" b="0" dirty="0" err="1">
                <a:solidFill>
                  <a:srgbClr val="1F4D24"/>
                </a:solidFill>
                <a:latin typeface="Aptos"/>
              </a:rPr>
              <a:t>scoped_lock</a:t>
            </a:r>
            <a:r>
              <a:rPr sz="900" b="0" dirty="0">
                <a:solidFill>
                  <a:srgbClr val="1F4D24"/>
                </a:solidFill>
                <a:latin typeface="Aptos"/>
              </a:rPr>
              <a:t>, parallel algorithms</a:t>
            </a:r>
          </a:p>
        </p:txBody>
      </p:sp>
      <p:sp>
        <p:nvSpPr>
          <p:cNvPr id="39" name="TextBox 38"/>
          <p:cNvSpPr txBox="1"/>
          <p:nvPr/>
        </p:nvSpPr>
        <p:spPr>
          <a:xfrm>
            <a:off x="8122672" y="2192920"/>
            <a:ext cx="1339802" cy="1365875"/>
          </a:xfrm>
          <a:prstGeom prst="rect">
            <a:avLst/>
          </a:prstGeom>
          <a:noFill/>
        </p:spPr>
        <p:txBody>
          <a:bodyPr wrap="square" lIns="0" tIns="0" rIns="0" bIns="0" anchor="t">
            <a:spAutoFit/>
          </a:bodyPr>
          <a:lstStyle/>
          <a:p>
            <a:pPr algn="l">
              <a:lnSpc>
                <a:spcPct val="112000"/>
              </a:lnSpc>
            </a:pPr>
            <a:r>
              <a:rPr sz="900" b="0" dirty="0">
                <a:solidFill>
                  <a:srgbClr val="1F4D24"/>
                </a:solidFill>
                <a:latin typeface="Aptos"/>
              </a:rPr>
              <a:t>Concepts, modules, </a:t>
            </a:r>
            <a:r>
              <a:rPr sz="900" b="0" dirty="0" err="1">
                <a:solidFill>
                  <a:srgbClr val="1F4D24"/>
                </a:solidFill>
                <a:latin typeface="Aptos"/>
              </a:rPr>
              <a:t>constinit</a:t>
            </a:r>
            <a:r>
              <a:rPr sz="900" b="0" dirty="0">
                <a:solidFill>
                  <a:srgbClr val="1F4D24"/>
                </a:solidFill>
                <a:latin typeface="Aptos"/>
              </a:rPr>
              <a:t>, </a:t>
            </a:r>
            <a:r>
              <a:rPr sz="900" b="0" dirty="0" err="1">
                <a:solidFill>
                  <a:srgbClr val="1F4D24"/>
                </a:solidFill>
                <a:latin typeface="Aptos"/>
              </a:rPr>
              <a:t>consteval</a:t>
            </a:r>
            <a:r>
              <a:rPr sz="900" b="0" dirty="0">
                <a:solidFill>
                  <a:srgbClr val="1F4D24"/>
                </a:solidFill>
                <a:latin typeface="Aptos"/>
              </a:rPr>
              <a:t>, designated initializers, three-way comparison, </a:t>
            </a:r>
            <a:r>
              <a:rPr sz="900" b="1" dirty="0">
                <a:solidFill>
                  <a:srgbClr val="1F4D24"/>
                </a:solidFill>
                <a:latin typeface="Aptos"/>
              </a:rPr>
              <a:t>span</a:t>
            </a:r>
            <a:r>
              <a:rPr sz="900" b="0" dirty="0">
                <a:solidFill>
                  <a:srgbClr val="1F4D24"/>
                </a:solidFill>
                <a:latin typeface="Aptos"/>
              </a:rPr>
              <a:t>, </a:t>
            </a:r>
            <a:r>
              <a:rPr sz="900" b="1" dirty="0">
                <a:solidFill>
                  <a:srgbClr val="1F4D24"/>
                </a:solidFill>
                <a:latin typeface="Aptos"/>
              </a:rPr>
              <a:t>ranges</a:t>
            </a:r>
            <a:r>
              <a:rPr sz="900" b="0" dirty="0">
                <a:solidFill>
                  <a:srgbClr val="1F4D24"/>
                </a:solidFill>
                <a:latin typeface="Aptos"/>
              </a:rPr>
              <a:t>, </a:t>
            </a:r>
            <a:r>
              <a:rPr sz="900" b="0" dirty="0" err="1">
                <a:solidFill>
                  <a:srgbClr val="1F4D24"/>
                </a:solidFill>
                <a:latin typeface="Aptos"/>
              </a:rPr>
              <a:t>jthread</a:t>
            </a:r>
            <a:r>
              <a:rPr sz="900" b="0" dirty="0">
                <a:solidFill>
                  <a:srgbClr val="1F4D24"/>
                </a:solidFill>
                <a:latin typeface="Aptos"/>
              </a:rPr>
              <a:t>, safe integer compare, format, </a:t>
            </a:r>
            <a:r>
              <a:rPr sz="900" b="0" dirty="0" err="1">
                <a:solidFill>
                  <a:srgbClr val="1F4D24"/>
                </a:solidFill>
                <a:latin typeface="Aptos"/>
              </a:rPr>
              <a:t>bit_cast</a:t>
            </a:r>
            <a:r>
              <a:rPr sz="900" b="0" dirty="0">
                <a:solidFill>
                  <a:srgbClr val="1F4D24"/>
                </a:solidFill>
                <a:latin typeface="Aptos"/>
              </a:rPr>
              <a:t>, latches, barriers, atomic wait</a:t>
            </a:r>
          </a:p>
        </p:txBody>
      </p:sp>
      <p:sp>
        <p:nvSpPr>
          <p:cNvPr id="40" name="TextBox 39"/>
          <p:cNvSpPr txBox="1"/>
          <p:nvPr/>
        </p:nvSpPr>
        <p:spPr>
          <a:xfrm>
            <a:off x="9514854" y="2192920"/>
            <a:ext cx="997490"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expected</a:t>
            </a:r>
            <a:r>
              <a:rPr sz="900" b="0" dirty="0">
                <a:solidFill>
                  <a:srgbClr val="1F4D24"/>
                </a:solidFill>
                <a:latin typeface="Aptos"/>
              </a:rPr>
              <a:t>, </a:t>
            </a:r>
            <a:r>
              <a:rPr sz="900" b="0" dirty="0" err="1">
                <a:solidFill>
                  <a:srgbClr val="1F4D24"/>
                </a:solidFill>
                <a:latin typeface="Aptos"/>
              </a:rPr>
              <a:t>start_lifetime_as</a:t>
            </a:r>
            <a:r>
              <a:rPr sz="900" b="0" dirty="0">
                <a:solidFill>
                  <a:srgbClr val="1F4D24"/>
                </a:solidFill>
                <a:latin typeface="Aptos"/>
              </a:rPr>
              <a:t>, </a:t>
            </a:r>
            <a:r>
              <a:rPr sz="900" b="0" dirty="0" err="1">
                <a:solidFill>
                  <a:srgbClr val="1F4D24"/>
                </a:solidFill>
                <a:latin typeface="Aptos"/>
              </a:rPr>
              <a:t>mdspan</a:t>
            </a:r>
            <a:r>
              <a:rPr sz="900" b="0" dirty="0">
                <a:solidFill>
                  <a:srgbClr val="1F4D24"/>
                </a:solidFill>
                <a:latin typeface="Aptos"/>
              </a:rPr>
              <a:t>, print, </a:t>
            </a:r>
            <a:r>
              <a:rPr sz="900" b="0" dirty="0" err="1">
                <a:solidFill>
                  <a:srgbClr val="1F4D24"/>
                </a:solidFill>
                <a:latin typeface="Aptos"/>
              </a:rPr>
              <a:t>stacktrace</a:t>
            </a:r>
            <a:r>
              <a:rPr sz="900" b="0" dirty="0">
                <a:solidFill>
                  <a:srgbClr val="1F4D24"/>
                </a:solidFill>
                <a:latin typeface="Aptos"/>
              </a:rPr>
              <a:t>, </a:t>
            </a:r>
            <a:r>
              <a:rPr sz="900" b="0" dirty="0" err="1">
                <a:solidFill>
                  <a:srgbClr val="1F4D24"/>
                </a:solidFill>
                <a:latin typeface="Aptos"/>
              </a:rPr>
              <a:t>out_ptr</a:t>
            </a:r>
            <a:r>
              <a:rPr sz="900" b="0" dirty="0">
                <a:solidFill>
                  <a:srgbClr val="1F4D24"/>
                </a:solidFill>
                <a:latin typeface="Aptos"/>
              </a:rPr>
              <a:t>, </a:t>
            </a:r>
            <a:r>
              <a:rPr sz="900" b="0" dirty="0" err="1">
                <a:solidFill>
                  <a:srgbClr val="1F4D24"/>
                </a:solidFill>
                <a:latin typeface="Aptos"/>
              </a:rPr>
              <a:t>to_underlying</a:t>
            </a:r>
            <a:r>
              <a:rPr sz="900" b="0" dirty="0">
                <a:solidFill>
                  <a:srgbClr val="1F4D24"/>
                </a:solidFill>
                <a:latin typeface="Aptos"/>
              </a:rPr>
              <a:t>, deducing this, range-for temporaries</a:t>
            </a:r>
          </a:p>
        </p:txBody>
      </p:sp>
      <p:sp>
        <p:nvSpPr>
          <p:cNvPr id="41" name="TextBox 40"/>
          <p:cNvSpPr txBox="1"/>
          <p:nvPr/>
        </p:nvSpPr>
        <p:spPr>
          <a:xfrm>
            <a:off x="10557104" y="2192920"/>
            <a:ext cx="939560" cy="1365875"/>
          </a:xfrm>
          <a:prstGeom prst="rect">
            <a:avLst/>
          </a:prstGeom>
          <a:noFill/>
        </p:spPr>
        <p:txBody>
          <a:bodyPr wrap="square" lIns="0" tIns="0" rIns="0" bIns="0" anchor="t">
            <a:spAutoFit/>
          </a:bodyPr>
          <a:lstStyle/>
          <a:p>
            <a:pPr algn="l">
              <a:lnSpc>
                <a:spcPct val="112000"/>
              </a:lnSpc>
            </a:pPr>
            <a:r>
              <a:rPr sz="900" b="1" dirty="0">
                <a:solidFill>
                  <a:srgbClr val="1F4D24"/>
                </a:solidFill>
                <a:latin typeface="Aptos"/>
              </a:rPr>
              <a:t>Erroneous </a:t>
            </a:r>
            <a:r>
              <a:rPr sz="900" b="1" dirty="0" err="1">
                <a:solidFill>
                  <a:srgbClr val="1F4D24"/>
                </a:solidFill>
                <a:latin typeface="Aptos"/>
              </a:rPr>
              <a:t>behaviour</a:t>
            </a:r>
            <a:r>
              <a:rPr sz="900" b="0" dirty="0">
                <a:solidFill>
                  <a:srgbClr val="1F4D24"/>
                </a:solidFill>
                <a:latin typeface="Aptos"/>
              </a:rPr>
              <a:t>, </a:t>
            </a:r>
            <a:r>
              <a:rPr sz="900" b="1" dirty="0">
                <a:solidFill>
                  <a:srgbClr val="1F4D24"/>
                </a:solidFill>
                <a:latin typeface="Aptos"/>
              </a:rPr>
              <a:t>contracts</a:t>
            </a:r>
            <a:r>
              <a:rPr sz="900" b="0" dirty="0">
                <a:solidFill>
                  <a:srgbClr val="1F4D24"/>
                </a:solidFill>
                <a:latin typeface="Aptos"/>
              </a:rPr>
              <a:t>, </a:t>
            </a:r>
            <a:r>
              <a:rPr sz="900" b="1" dirty="0">
                <a:solidFill>
                  <a:srgbClr val="1F4D24"/>
                </a:solidFill>
                <a:latin typeface="Aptos"/>
              </a:rPr>
              <a:t>hardening</a:t>
            </a:r>
            <a:r>
              <a:rPr sz="900" b="0" dirty="0">
                <a:solidFill>
                  <a:srgbClr val="1F4D24"/>
                </a:solidFill>
                <a:latin typeface="Aptos"/>
              </a:rPr>
              <a:t>, saturating arithmetic, hazard pointers, RCU, =delete("reason")</a:t>
            </a:r>
          </a:p>
        </p:txBody>
      </p:sp>
      <p:sp>
        <p:nvSpPr>
          <p:cNvPr id="42" name="Rounded Rectangle 41"/>
          <p:cNvSpPr/>
          <p:nvPr/>
        </p:nvSpPr>
        <p:spPr>
          <a:xfrm>
            <a:off x="838200" y="3648795"/>
            <a:ext cx="10755600" cy="94000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3262082" y="3688795"/>
            <a:ext cx="990000"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720346" y="3688795"/>
            <a:ext cx="990000"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046952" y="3688795"/>
            <a:ext cx="1399802"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10504244" y="3688795"/>
            <a:ext cx="999560" cy="860000"/>
          </a:xfrm>
          <a:prstGeom prst="roundRect">
            <a:avLst>
              <a:gd name="adj" fmla="val 8000"/>
            </a:avLst>
          </a:prstGeom>
          <a:solidFill>
            <a:srgbClr val="D0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58200" y="3728795"/>
            <a:ext cx="1050000" cy="860000"/>
          </a:xfrm>
          <a:prstGeom prst="rect">
            <a:avLst/>
          </a:prstGeom>
          <a:noFill/>
        </p:spPr>
        <p:txBody>
          <a:bodyPr wrap="square" lIns="0" tIns="0" rIns="0" bIns="0" anchor="t">
            <a:spAutoFit/>
          </a:bodyPr>
          <a:lstStyle/>
          <a:p>
            <a:pPr algn="l">
              <a:lnSpc>
                <a:spcPct val="112000"/>
              </a:lnSpc>
            </a:pPr>
            <a:r>
              <a:rPr sz="1200" b="1">
                <a:solidFill>
                  <a:srgbClr val="2E5E8C"/>
                </a:solidFill>
                <a:latin typeface="Aptos"/>
              </a:rPr>
              <a:t>Modified</a:t>
            </a:r>
          </a:p>
        </p:txBody>
      </p:sp>
      <p:sp>
        <p:nvSpPr>
          <p:cNvPr id="48" name="TextBox 47"/>
          <p:cNvSpPr txBox="1"/>
          <p:nvPr/>
        </p:nvSpPr>
        <p:spPr>
          <a:xfrm>
            <a:off x="4282082" y="3738795"/>
            <a:ext cx="1408264" cy="860000"/>
          </a:xfrm>
          <a:prstGeom prst="rect">
            <a:avLst/>
          </a:prstGeom>
          <a:noFill/>
        </p:spPr>
        <p:txBody>
          <a:bodyPr wrap="square" lIns="0" tIns="0" rIns="0" bIns="0" anchor="t">
            <a:spAutoFit/>
          </a:bodyPr>
          <a:lstStyle/>
          <a:p>
            <a:pPr algn="l">
              <a:lnSpc>
                <a:spcPct val="112000"/>
              </a:lnSpc>
            </a:pPr>
            <a:r>
              <a:rPr sz="900" b="0">
                <a:solidFill>
                  <a:srgbClr val="1C3E63"/>
                </a:solidFill>
                <a:latin typeface="Aptos"/>
              </a:rPr>
              <a:t>Narrowing in braces ill-formed, </a:t>
            </a:r>
            <a:r>
              <a:rPr sz="900" b="1">
                <a:solidFill>
                  <a:srgbClr val="1C3E63"/>
                </a:solidFill>
                <a:latin typeface="Aptos"/>
              </a:rPr>
              <a:t>data races are UB</a:t>
            </a:r>
            <a:r>
              <a:rPr sz="900" b="0">
                <a:solidFill>
                  <a:srgbClr val="1C3E63"/>
                </a:solidFill>
                <a:latin typeface="Aptos"/>
              </a:rPr>
              <a:t>, literal to char* gone</a:t>
            </a:r>
          </a:p>
        </p:txBody>
      </p:sp>
      <p:sp>
        <p:nvSpPr>
          <p:cNvPr id="49" name="TextBox 48"/>
          <p:cNvSpPr txBox="1"/>
          <p:nvPr/>
        </p:nvSpPr>
        <p:spPr>
          <a:xfrm>
            <a:off x="6740346" y="3738795"/>
            <a:ext cx="1276606" cy="860000"/>
          </a:xfrm>
          <a:prstGeom prst="rect">
            <a:avLst/>
          </a:prstGeom>
          <a:noFill/>
        </p:spPr>
        <p:txBody>
          <a:bodyPr wrap="square" lIns="0" tIns="0" rIns="0" bIns="0" anchor="t">
            <a:spAutoFit/>
          </a:bodyPr>
          <a:lstStyle/>
          <a:p>
            <a:pPr algn="l">
              <a:lnSpc>
                <a:spcPct val="112000"/>
              </a:lnSpc>
            </a:pPr>
            <a:r>
              <a:rPr sz="900" b="0">
                <a:solidFill>
                  <a:srgbClr val="1C3E63"/>
                </a:solidFill>
                <a:latin typeface="Aptos"/>
              </a:rPr>
              <a:t>Evaluation order defined, noexcept part of the type</a:t>
            </a:r>
          </a:p>
        </p:txBody>
      </p:sp>
      <p:sp>
        <p:nvSpPr>
          <p:cNvPr id="50" name="TextBox 49"/>
          <p:cNvSpPr txBox="1"/>
          <p:nvPr/>
        </p:nvSpPr>
        <p:spPr>
          <a:xfrm>
            <a:off x="8076952" y="3738795"/>
            <a:ext cx="1339802" cy="860000"/>
          </a:xfrm>
          <a:prstGeom prst="rect">
            <a:avLst/>
          </a:prstGeom>
          <a:noFill/>
        </p:spPr>
        <p:txBody>
          <a:bodyPr wrap="square" lIns="0" tIns="0" rIns="0" bIns="0" anchor="t">
            <a:spAutoFit/>
          </a:bodyPr>
          <a:lstStyle/>
          <a:p>
            <a:pPr algn="l">
              <a:lnSpc>
                <a:spcPct val="112000"/>
              </a:lnSpc>
            </a:pPr>
            <a:r>
              <a:rPr sz="900" b="0">
                <a:solidFill>
                  <a:srgbClr val="1C3E63"/>
                </a:solidFill>
                <a:latin typeface="Aptos"/>
              </a:rPr>
              <a:t>Two’s complement mandated, [=] this capture deprecated</a:t>
            </a:r>
          </a:p>
        </p:txBody>
      </p:sp>
      <p:sp>
        <p:nvSpPr>
          <p:cNvPr id="51" name="TextBox 50"/>
          <p:cNvSpPr txBox="1"/>
          <p:nvPr/>
        </p:nvSpPr>
        <p:spPr>
          <a:xfrm>
            <a:off x="10557104" y="3738795"/>
            <a:ext cx="939560" cy="860000"/>
          </a:xfrm>
          <a:prstGeom prst="rect">
            <a:avLst/>
          </a:prstGeom>
          <a:noFill/>
        </p:spPr>
        <p:txBody>
          <a:bodyPr wrap="square" lIns="0" tIns="0" rIns="0" bIns="0" anchor="t">
            <a:spAutoFit/>
          </a:bodyPr>
          <a:lstStyle/>
          <a:p>
            <a:pPr algn="l">
              <a:lnSpc>
                <a:spcPct val="112000"/>
              </a:lnSpc>
            </a:pPr>
            <a:r>
              <a:rPr sz="900" b="1" dirty="0">
                <a:solidFill>
                  <a:srgbClr val="1C3E63"/>
                </a:solidFill>
                <a:latin typeface="Aptos"/>
              </a:rPr>
              <a:t>Uninitialized reads erroneous</a:t>
            </a:r>
            <a:r>
              <a:rPr sz="900" b="0" dirty="0">
                <a:solidFill>
                  <a:srgbClr val="1C3E63"/>
                </a:solidFill>
                <a:latin typeface="Aptos"/>
              </a:rPr>
              <a:t>, infinite loops defined, </a:t>
            </a:r>
            <a:r>
              <a:rPr sz="900" b="0" dirty="0" err="1">
                <a:solidFill>
                  <a:srgbClr val="1C3E63"/>
                </a:solidFill>
                <a:latin typeface="Aptos"/>
              </a:rPr>
              <a:t>enum</a:t>
            </a:r>
            <a:r>
              <a:rPr sz="900" b="0" dirty="0">
                <a:solidFill>
                  <a:srgbClr val="1C3E63"/>
                </a:solidFill>
                <a:latin typeface="Aptos"/>
              </a:rPr>
              <a:t> and float arithmetic ill-formed</a:t>
            </a:r>
          </a:p>
        </p:txBody>
      </p:sp>
      <p:sp>
        <p:nvSpPr>
          <p:cNvPr id="52" name="Rounded Rectangle 51"/>
          <p:cNvSpPr/>
          <p:nvPr/>
        </p:nvSpPr>
        <p:spPr>
          <a:xfrm>
            <a:off x="838200" y="4648795"/>
            <a:ext cx="10755600" cy="720000"/>
          </a:xfrm>
          <a:prstGeom prst="roundRect">
            <a:avLst>
              <a:gd name="adj" fmla="val 6000"/>
            </a:avLst>
          </a:prstGeom>
          <a:solidFill>
            <a:srgbClr val="F1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3262082" y="4688795"/>
            <a:ext cx="990000"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5720346" y="4688795"/>
            <a:ext cx="990000"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046952" y="4688795"/>
            <a:ext cx="1399802"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10504244" y="4688795"/>
            <a:ext cx="999560" cy="640000"/>
          </a:xfrm>
          <a:prstGeom prst="roundRect">
            <a:avLst>
              <a:gd name="adj" fmla="val 8000"/>
            </a:avLst>
          </a:prstGeom>
          <a:solidFill>
            <a:srgbClr val="DCD8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58200" y="4728795"/>
            <a:ext cx="1050000" cy="640000"/>
          </a:xfrm>
          <a:prstGeom prst="rect">
            <a:avLst/>
          </a:prstGeom>
          <a:noFill/>
        </p:spPr>
        <p:txBody>
          <a:bodyPr wrap="square" lIns="0" tIns="0" rIns="0" bIns="0" anchor="t">
            <a:spAutoFit/>
          </a:bodyPr>
          <a:lstStyle/>
          <a:p>
            <a:pPr algn="l">
              <a:lnSpc>
                <a:spcPct val="112000"/>
              </a:lnSpc>
            </a:pPr>
            <a:r>
              <a:rPr sz="1200" b="1">
                <a:solidFill>
                  <a:srgbClr val="595959"/>
                </a:solidFill>
                <a:latin typeface="Aptos"/>
              </a:rPr>
              <a:t>Removed or deprecated</a:t>
            </a:r>
          </a:p>
        </p:txBody>
      </p:sp>
      <p:sp>
        <p:nvSpPr>
          <p:cNvPr id="58" name="TextBox 57"/>
          <p:cNvSpPr txBox="1"/>
          <p:nvPr/>
        </p:nvSpPr>
        <p:spPr>
          <a:xfrm>
            <a:off x="4282082" y="4738795"/>
            <a:ext cx="1408264" cy="651500"/>
          </a:xfrm>
          <a:prstGeom prst="rect">
            <a:avLst/>
          </a:prstGeom>
          <a:noFill/>
        </p:spPr>
        <p:txBody>
          <a:bodyPr wrap="square" lIns="0" tIns="0" rIns="0" bIns="0" anchor="t">
            <a:spAutoFit/>
          </a:bodyPr>
          <a:lstStyle/>
          <a:p>
            <a:pPr algn="l">
              <a:lnSpc>
                <a:spcPct val="112000"/>
              </a:lnSpc>
            </a:pPr>
            <a:r>
              <a:rPr sz="900" b="1">
                <a:solidFill>
                  <a:srgbClr val="3F3F3F"/>
                </a:solidFill>
                <a:latin typeface="Aptos"/>
              </a:rPr>
              <a:t>auto_ptr</a:t>
            </a:r>
            <a:r>
              <a:rPr sz="900" b="0">
                <a:solidFill>
                  <a:srgbClr val="3F3F3F"/>
                </a:solidFill>
                <a:latin typeface="Aptos"/>
              </a:rPr>
              <a:t>, throw()</a:t>
            </a:r>
          </a:p>
        </p:txBody>
      </p:sp>
      <p:sp>
        <p:nvSpPr>
          <p:cNvPr id="59" name="TextBox 58"/>
          <p:cNvSpPr txBox="1"/>
          <p:nvPr/>
        </p:nvSpPr>
        <p:spPr>
          <a:xfrm>
            <a:off x="5750346" y="4738795"/>
            <a:ext cx="930000" cy="651500"/>
          </a:xfrm>
          <a:prstGeom prst="rect">
            <a:avLst/>
          </a:prstGeom>
          <a:noFill/>
        </p:spPr>
        <p:txBody>
          <a:bodyPr wrap="square" lIns="0" tIns="0" rIns="0" bIns="0" anchor="t">
            <a:spAutoFit/>
          </a:bodyPr>
          <a:lstStyle/>
          <a:p>
            <a:pPr algn="l">
              <a:lnSpc>
                <a:spcPct val="112000"/>
              </a:lnSpc>
            </a:pPr>
            <a:r>
              <a:rPr sz="900" b="1">
                <a:solidFill>
                  <a:srgbClr val="3F3F3F"/>
                </a:solidFill>
                <a:latin typeface="Aptos"/>
              </a:rPr>
              <a:t>gets</a:t>
            </a:r>
            <a:r>
              <a:rPr sz="900" b="0">
                <a:solidFill>
                  <a:srgbClr val="3F3F3F"/>
                </a:solidFill>
                <a:latin typeface="Aptos"/>
              </a:rPr>
              <a:t>; random_shuffle</a:t>
            </a:r>
          </a:p>
        </p:txBody>
      </p:sp>
      <p:sp>
        <p:nvSpPr>
          <p:cNvPr id="60" name="TextBox 59"/>
          <p:cNvSpPr txBox="1"/>
          <p:nvPr/>
        </p:nvSpPr>
        <p:spPr>
          <a:xfrm>
            <a:off x="6740346" y="4738795"/>
            <a:ext cx="1276606" cy="651500"/>
          </a:xfrm>
          <a:prstGeom prst="rect">
            <a:avLst/>
          </a:prstGeom>
          <a:noFill/>
        </p:spPr>
        <p:txBody>
          <a:bodyPr wrap="square" lIns="0" tIns="0" rIns="0" bIns="0" anchor="t">
            <a:spAutoFit/>
          </a:bodyPr>
          <a:lstStyle/>
          <a:p>
            <a:pPr algn="l">
              <a:lnSpc>
                <a:spcPct val="112000"/>
              </a:lnSpc>
            </a:pPr>
            <a:r>
              <a:rPr sz="900" b="1">
                <a:solidFill>
                  <a:srgbClr val="3F3F3F"/>
                </a:solidFill>
                <a:latin typeface="Aptos"/>
              </a:rPr>
              <a:t>auto_ptr</a:t>
            </a:r>
            <a:r>
              <a:rPr sz="900" b="0">
                <a:solidFill>
                  <a:srgbClr val="3F3F3F"/>
                </a:solidFill>
                <a:latin typeface="Aptos"/>
              </a:rPr>
              <a:t>, throw(X), random_shuffle, bind1st, ptr_fun, mem_fun</a:t>
            </a:r>
          </a:p>
        </p:txBody>
      </p:sp>
      <p:sp>
        <p:nvSpPr>
          <p:cNvPr id="61" name="TextBox 60"/>
          <p:cNvSpPr txBox="1"/>
          <p:nvPr/>
        </p:nvSpPr>
        <p:spPr>
          <a:xfrm>
            <a:off x="8076952" y="4738795"/>
            <a:ext cx="1339802" cy="651500"/>
          </a:xfrm>
          <a:prstGeom prst="rect">
            <a:avLst/>
          </a:prstGeom>
          <a:noFill/>
        </p:spPr>
        <p:txBody>
          <a:bodyPr wrap="square" lIns="0" tIns="0" rIns="0" bIns="0" anchor="t">
            <a:spAutoFit/>
          </a:bodyPr>
          <a:lstStyle/>
          <a:p>
            <a:pPr algn="l">
              <a:lnSpc>
                <a:spcPct val="112000"/>
              </a:lnSpc>
            </a:pPr>
            <a:r>
              <a:rPr sz="900" b="0">
                <a:solidFill>
                  <a:srgbClr val="3F3F3F"/>
                </a:solidFill>
                <a:latin typeface="Aptos"/>
              </a:rPr>
              <a:t>not1, not2; volatile compound assignment</a:t>
            </a:r>
          </a:p>
        </p:txBody>
      </p:sp>
      <p:sp>
        <p:nvSpPr>
          <p:cNvPr id="62" name="TextBox 61"/>
          <p:cNvSpPr txBox="1"/>
          <p:nvPr/>
        </p:nvSpPr>
        <p:spPr>
          <a:xfrm>
            <a:off x="9476754" y="4738795"/>
            <a:ext cx="997490" cy="651500"/>
          </a:xfrm>
          <a:prstGeom prst="rect">
            <a:avLst/>
          </a:prstGeom>
          <a:noFill/>
        </p:spPr>
        <p:txBody>
          <a:bodyPr wrap="square" lIns="0" tIns="0" rIns="0" bIns="0" anchor="t">
            <a:spAutoFit/>
          </a:bodyPr>
          <a:lstStyle/>
          <a:p>
            <a:pPr algn="l">
              <a:lnSpc>
                <a:spcPct val="112000"/>
              </a:lnSpc>
            </a:pPr>
            <a:r>
              <a:rPr sz="900" b="0">
                <a:solidFill>
                  <a:srgbClr val="3F3F3F"/>
                </a:solidFill>
                <a:latin typeface="Aptos"/>
              </a:rPr>
              <a:t>GC support; aligned_storage</a:t>
            </a:r>
          </a:p>
        </p:txBody>
      </p:sp>
      <p:sp>
        <p:nvSpPr>
          <p:cNvPr id="63" name="TextBox 62"/>
          <p:cNvSpPr txBox="1"/>
          <p:nvPr/>
        </p:nvSpPr>
        <p:spPr>
          <a:xfrm>
            <a:off x="10534244" y="4738795"/>
            <a:ext cx="939560" cy="651500"/>
          </a:xfrm>
          <a:prstGeom prst="rect">
            <a:avLst/>
          </a:prstGeom>
          <a:noFill/>
        </p:spPr>
        <p:txBody>
          <a:bodyPr wrap="square" lIns="0" tIns="0" rIns="0" bIns="0" anchor="t">
            <a:spAutoFit/>
          </a:bodyPr>
          <a:lstStyle/>
          <a:p>
            <a:pPr algn="l">
              <a:lnSpc>
                <a:spcPct val="112000"/>
              </a:lnSpc>
            </a:pPr>
            <a:r>
              <a:rPr sz="900" b="0">
                <a:solidFill>
                  <a:srgbClr val="3F3F3F"/>
                </a:solidFill>
                <a:latin typeface="Aptos"/>
              </a:rPr>
              <a:t>codecvt, strstream, wstring_convert</a:t>
            </a:r>
          </a:p>
        </p:txBody>
      </p:sp>
      <p:sp>
        <p:nvSpPr>
          <p:cNvPr id="64" name="Rounded Rectangle 63"/>
          <p:cNvSpPr/>
          <p:nvPr/>
        </p:nvSpPr>
        <p:spPr>
          <a:xfrm>
            <a:off x="838200" y="5428795"/>
            <a:ext cx="10755600" cy="1200125"/>
          </a:xfrm>
          <a:prstGeom prst="roundRect">
            <a:avLst>
              <a:gd name="adj" fmla="val 6000"/>
            </a:avLst>
          </a:prstGeom>
          <a:solidFill>
            <a:srgbClr val="FA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3262082" y="5468795"/>
            <a:ext cx="990000"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5720346" y="5468795"/>
            <a:ext cx="990000"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8046952" y="5468795"/>
            <a:ext cx="1399802"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10504244" y="5468795"/>
            <a:ext cx="999560" cy="1120125"/>
          </a:xfrm>
          <a:prstGeom prst="roundRect">
            <a:avLst>
              <a:gd name="adj" fmla="val 8000"/>
            </a:avLst>
          </a:prstGeom>
          <a:solidFill>
            <a:srgbClr val="F1D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58200" y="5508795"/>
            <a:ext cx="1050000" cy="1100125"/>
          </a:xfrm>
          <a:prstGeom prst="rect">
            <a:avLst/>
          </a:prstGeom>
          <a:noFill/>
        </p:spPr>
        <p:txBody>
          <a:bodyPr wrap="square" lIns="0" tIns="0" rIns="0" bIns="0" anchor="t">
            <a:spAutoFit/>
          </a:bodyPr>
          <a:lstStyle/>
          <a:p>
            <a:pPr algn="l">
              <a:lnSpc>
                <a:spcPct val="112000"/>
              </a:lnSpc>
            </a:pPr>
            <a:r>
              <a:rPr sz="1200" b="1">
                <a:solidFill>
                  <a:srgbClr val="B3261E"/>
                </a:solidFill>
                <a:latin typeface="Aptos"/>
              </a:rPr>
              <a:t>Hazards introduced</a:t>
            </a:r>
          </a:p>
        </p:txBody>
      </p:sp>
      <p:sp>
        <p:nvSpPr>
          <p:cNvPr id="70" name="TextBox 69"/>
          <p:cNvSpPr txBox="1"/>
          <p:nvPr/>
        </p:nvSpPr>
        <p:spPr>
          <a:xfrm>
            <a:off x="2108200" y="5518795"/>
            <a:ext cx="1123882"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new and delete dangle, </a:t>
            </a:r>
            <a:r>
              <a:rPr sz="900" b="1">
                <a:solidFill>
                  <a:srgbClr val="7A1C15"/>
                </a:solidFill>
                <a:latin typeface="Aptos"/>
              </a:rPr>
              <a:t>references dangle</a:t>
            </a:r>
            <a:r>
              <a:rPr sz="900" b="0">
                <a:solidFill>
                  <a:srgbClr val="7A1C15"/>
                </a:solidFill>
                <a:latin typeface="Aptos"/>
              </a:rPr>
              <a:t>, reinterpret_cast, </a:t>
            </a:r>
            <a:r>
              <a:rPr sz="900" b="1">
                <a:solidFill>
                  <a:srgbClr val="7A1C15"/>
                </a:solidFill>
                <a:latin typeface="Aptos"/>
              </a:rPr>
              <a:t>operator[] unchecked</a:t>
            </a:r>
            <a:r>
              <a:rPr sz="900" b="0">
                <a:solidFill>
                  <a:srgbClr val="7A1C15"/>
                </a:solidFill>
                <a:latin typeface="Aptos"/>
              </a:rPr>
              <a:t>, </a:t>
            </a:r>
            <a:r>
              <a:rPr sz="900" b="1">
                <a:solidFill>
                  <a:srgbClr val="7A1C15"/>
                </a:solidFill>
                <a:latin typeface="Aptos"/>
              </a:rPr>
              <a:t>auto_ptr</a:t>
            </a:r>
            <a:r>
              <a:rPr sz="900" b="0">
                <a:solidFill>
                  <a:srgbClr val="7A1C15"/>
                </a:solidFill>
                <a:latin typeface="Aptos"/>
              </a:rPr>
              <a:t> moves on copy</a:t>
            </a:r>
          </a:p>
        </p:txBody>
      </p:sp>
      <p:sp>
        <p:nvSpPr>
          <p:cNvPr id="71" name="TextBox 70"/>
          <p:cNvSpPr txBox="1"/>
          <p:nvPr/>
        </p:nvSpPr>
        <p:spPr>
          <a:xfrm>
            <a:off x="4282082" y="5518795"/>
            <a:ext cx="1408264"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auto hides types, </a:t>
            </a:r>
            <a:r>
              <a:rPr sz="900" b="1">
                <a:solidFill>
                  <a:srgbClr val="7A1C15"/>
                </a:solidFill>
                <a:latin typeface="Aptos"/>
              </a:rPr>
              <a:t>lambdas capture dangling</a:t>
            </a:r>
            <a:r>
              <a:rPr sz="900" b="0">
                <a:solidFill>
                  <a:srgbClr val="7A1C15"/>
                </a:solidFill>
                <a:latin typeface="Aptos"/>
              </a:rPr>
              <a:t>, </a:t>
            </a:r>
            <a:r>
              <a:rPr sz="900" b="1">
                <a:solidFill>
                  <a:srgbClr val="7A1C15"/>
                </a:solidFill>
                <a:latin typeface="Aptos"/>
              </a:rPr>
              <a:t>moved-from objects</a:t>
            </a:r>
            <a:r>
              <a:rPr sz="900" b="0">
                <a:solidFill>
                  <a:srgbClr val="7A1C15"/>
                </a:solidFill>
                <a:latin typeface="Aptos"/>
              </a:rPr>
              <a:t>, </a:t>
            </a:r>
            <a:r>
              <a:rPr sz="900" b="1">
                <a:solidFill>
                  <a:srgbClr val="7A1C15"/>
                </a:solidFill>
                <a:latin typeface="Aptos"/>
              </a:rPr>
              <a:t>shared_ptr</a:t>
            </a:r>
            <a:r>
              <a:rPr sz="900" b="0">
                <a:solidFill>
                  <a:srgbClr val="7A1C15"/>
                </a:solidFill>
                <a:latin typeface="Aptos"/>
              </a:rPr>
              <a:t> cycles, thread terminates unjoined, range-for over temporary</a:t>
            </a:r>
          </a:p>
        </p:txBody>
      </p:sp>
      <p:sp>
        <p:nvSpPr>
          <p:cNvPr id="72" name="TextBox 71"/>
          <p:cNvSpPr txBox="1"/>
          <p:nvPr/>
        </p:nvSpPr>
        <p:spPr>
          <a:xfrm>
            <a:off x="6740346" y="5518795"/>
            <a:ext cx="1276606" cy="1080125"/>
          </a:xfrm>
          <a:prstGeom prst="rect">
            <a:avLst/>
          </a:prstGeom>
          <a:noFill/>
        </p:spPr>
        <p:txBody>
          <a:bodyPr wrap="square" lIns="0" tIns="0" rIns="0" bIns="0" anchor="t">
            <a:spAutoFit/>
          </a:bodyPr>
          <a:lstStyle/>
          <a:p>
            <a:pPr algn="l">
              <a:lnSpc>
                <a:spcPct val="112000"/>
              </a:lnSpc>
            </a:pPr>
            <a:r>
              <a:rPr sz="900" b="1">
                <a:solidFill>
                  <a:srgbClr val="7A1C15"/>
                </a:solidFill>
                <a:latin typeface="Aptos"/>
              </a:rPr>
              <a:t>string_view dangles</a:t>
            </a:r>
            <a:r>
              <a:rPr sz="900" b="0">
                <a:solidFill>
                  <a:srgbClr val="7A1C15"/>
                </a:solidFill>
                <a:latin typeface="Aptos"/>
              </a:rPr>
              <a:t>, optional deref UB</a:t>
            </a:r>
          </a:p>
        </p:txBody>
      </p:sp>
      <p:sp>
        <p:nvSpPr>
          <p:cNvPr id="73" name="TextBox 72"/>
          <p:cNvSpPr txBox="1"/>
          <p:nvPr/>
        </p:nvSpPr>
        <p:spPr>
          <a:xfrm>
            <a:off x="8076952" y="5518795"/>
            <a:ext cx="1339802" cy="1080125"/>
          </a:xfrm>
          <a:prstGeom prst="rect">
            <a:avLst/>
          </a:prstGeom>
          <a:noFill/>
        </p:spPr>
        <p:txBody>
          <a:bodyPr wrap="square" lIns="0" tIns="0" rIns="0" bIns="0" anchor="t">
            <a:spAutoFit/>
          </a:bodyPr>
          <a:lstStyle/>
          <a:p>
            <a:pPr algn="l">
              <a:lnSpc>
                <a:spcPct val="112000"/>
              </a:lnSpc>
            </a:pPr>
            <a:r>
              <a:rPr sz="900" b="1">
                <a:solidFill>
                  <a:srgbClr val="7A1C15"/>
                </a:solidFill>
                <a:latin typeface="Aptos"/>
              </a:rPr>
              <a:t>span and mdspan unchecked</a:t>
            </a:r>
            <a:r>
              <a:rPr sz="900" b="0">
                <a:solidFill>
                  <a:srgbClr val="7A1C15"/>
                </a:solidFill>
                <a:latin typeface="Aptos"/>
              </a:rPr>
              <a:t>, coroutines dangle, assume_aligned UB</a:t>
            </a:r>
          </a:p>
        </p:txBody>
      </p:sp>
      <p:sp>
        <p:nvSpPr>
          <p:cNvPr id="74" name="TextBox 73"/>
          <p:cNvSpPr txBox="1"/>
          <p:nvPr/>
        </p:nvSpPr>
        <p:spPr>
          <a:xfrm>
            <a:off x="9476754" y="5518795"/>
            <a:ext cx="997490"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[[assume]], unreachable()</a:t>
            </a:r>
          </a:p>
        </p:txBody>
      </p:sp>
      <p:sp>
        <p:nvSpPr>
          <p:cNvPr id="75" name="TextBox 74"/>
          <p:cNvSpPr txBox="1"/>
          <p:nvPr/>
        </p:nvSpPr>
        <p:spPr>
          <a:xfrm>
            <a:off x="10534244" y="5518795"/>
            <a:ext cx="939560" cy="1080125"/>
          </a:xfrm>
          <a:prstGeom prst="rect">
            <a:avLst/>
          </a:prstGeom>
          <a:noFill/>
        </p:spPr>
        <p:txBody>
          <a:bodyPr wrap="square" lIns="0" tIns="0" rIns="0" bIns="0" anchor="t">
            <a:spAutoFit/>
          </a:bodyPr>
          <a:lstStyle/>
          <a:p>
            <a:pPr algn="l">
              <a:lnSpc>
                <a:spcPct val="112000"/>
              </a:lnSpc>
            </a:pPr>
            <a:r>
              <a:rPr sz="900" b="0">
                <a:solidFill>
                  <a:srgbClr val="7A1C15"/>
                </a:solidFill>
                <a:latin typeface="Aptos"/>
              </a:rPr>
              <a:t>[[indeterminate]], </a:t>
            </a:r>
            <a:r>
              <a:rPr sz="900" b="1">
                <a:solidFill>
                  <a:srgbClr val="7A1C15"/>
                </a:solidFill>
                <a:latin typeface="Aptos"/>
              </a:rPr>
              <a:t>hardening is library only</a:t>
            </a:r>
            <a:r>
              <a:rPr sz="900" b="0">
                <a:solidFill>
                  <a:srgbClr val="7A1C15"/>
                </a:solidFill>
                <a:latin typeface="Aptos"/>
              </a:rPr>
              <a:t>, </a:t>
            </a:r>
            <a:r>
              <a:rPr sz="900" b="1">
                <a:solidFill>
                  <a:srgbClr val="7A1C15"/>
                </a:solidFill>
                <a:latin typeface="Aptos"/>
              </a:rPr>
              <a:t>contracts contested to the last ballot</a:t>
            </a:r>
          </a:p>
        </p:txBody>
      </p:sp>
      <p:sp>
        <p:nvSpPr>
          <p:cNvPr id="76" name="Title 75">
            <a:extLst>
              <a:ext uri="{FF2B5EF4-FFF2-40B4-BE49-F238E27FC236}">
                <a16:creationId xmlns:a16="http://schemas.microsoft.com/office/drawing/2014/main" id="{0218E9A5-95C2-0FBA-40E1-4A33480CFEC9}"/>
              </a:ext>
            </a:extLst>
          </p:cNvPr>
          <p:cNvSpPr>
            <a:spLocks noGrp="1"/>
          </p:cNvSpPr>
          <p:nvPr>
            <p:ph type="title"/>
          </p:nvPr>
        </p:nvSpPr>
        <p:spPr/>
        <p:txBody>
          <a:bodyPr/>
          <a:lstStyle/>
          <a:p>
            <a:r>
              <a:rPr lang="en-US" dirty="0"/>
              <a:t>History of safety in C++</a:t>
            </a:r>
          </a:p>
        </p:txBody>
      </p:sp>
      <p:sp>
        <p:nvSpPr>
          <p:cNvPr id="77" name="Rounded Rectangle 76"/>
          <p:cNvSpPr/>
          <p:nvPr/>
        </p:nvSpPr>
        <p:spPr>
          <a:xfrm>
            <a:off x="1825141" y="2522920"/>
            <a:ext cx="169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templates</a:t>
            </a:r>
          </a:p>
        </p:txBody>
      </p:sp>
      <p:sp>
        <p:nvSpPr>
          <p:cNvPr id="78" name="Rounded Rectangle 77"/>
          <p:cNvSpPr/>
          <p:nvPr/>
        </p:nvSpPr>
        <p:spPr>
          <a:xfrm>
            <a:off x="1750141" y="2072920"/>
            <a:ext cx="18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exceptions</a:t>
            </a:r>
          </a:p>
        </p:txBody>
      </p:sp>
      <p:sp>
        <p:nvSpPr>
          <p:cNvPr id="79" name="Rounded Rectangle 78"/>
          <p:cNvSpPr/>
          <p:nvPr/>
        </p:nvSpPr>
        <p:spPr>
          <a:xfrm>
            <a:off x="10181884" y="2522920"/>
            <a:ext cx="169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contracts</a:t>
            </a:r>
          </a:p>
        </p:txBody>
      </p:sp>
      <p:sp>
        <p:nvSpPr>
          <p:cNvPr id="80" name="Rounded Rectangle 79"/>
          <p:cNvSpPr/>
          <p:nvPr/>
        </p:nvSpPr>
        <p:spPr>
          <a:xfrm>
            <a:off x="8322573" y="2522920"/>
            <a:ext cx="9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span</a:t>
            </a:r>
          </a:p>
        </p:txBody>
      </p:sp>
      <p:sp>
        <p:nvSpPr>
          <p:cNvPr id="81" name="Rounded Rectangle 80"/>
          <p:cNvSpPr/>
          <p:nvPr/>
        </p:nvSpPr>
        <p:spPr>
          <a:xfrm>
            <a:off x="5745346" y="4894545"/>
            <a:ext cx="940000" cy="340000"/>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3F3F3F"/>
                </a:solidFill>
                <a:latin typeface="Aptos"/>
              </a:rPr>
              <a:t>gets</a:t>
            </a:r>
          </a:p>
        </p:txBody>
      </p:sp>
      <p:sp>
        <p:nvSpPr>
          <p:cNvPr id="82" name="Rounded Rectangle 81"/>
          <p:cNvSpPr/>
          <p:nvPr/>
        </p:nvSpPr>
        <p:spPr>
          <a:xfrm>
            <a:off x="4182170" y="2522920"/>
            <a:ext cx="1896903"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Memory model</a:t>
            </a:r>
          </a:p>
        </p:txBody>
      </p:sp>
      <p:sp>
        <p:nvSpPr>
          <p:cNvPr id="83" name="Rounded Rectangle 82"/>
          <p:cNvSpPr/>
          <p:nvPr/>
        </p:nvSpPr>
        <p:spPr>
          <a:xfrm>
            <a:off x="4089074" y="2072920"/>
            <a:ext cx="18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unique_ptr</a:t>
            </a:r>
          </a:p>
        </p:txBody>
      </p:sp>
      <p:sp>
        <p:nvSpPr>
          <p:cNvPr id="84" name="Rounded Rectangle 83"/>
          <p:cNvSpPr/>
          <p:nvPr/>
        </p:nvSpPr>
        <p:spPr>
          <a:xfrm>
            <a:off x="4327322" y="2972920"/>
            <a:ext cx="1601752"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shared_ptr</a:t>
            </a:r>
          </a:p>
        </p:txBody>
      </p:sp>
      <p:sp>
        <p:nvSpPr>
          <p:cNvPr id="85" name="Rounded Rectangle 84"/>
          <p:cNvSpPr/>
          <p:nvPr/>
        </p:nvSpPr>
        <p:spPr>
          <a:xfrm>
            <a:off x="5814129" y="3422920"/>
            <a:ext cx="1984739"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structured bindings</a:t>
            </a:r>
          </a:p>
        </p:txBody>
      </p:sp>
      <p:sp>
        <p:nvSpPr>
          <p:cNvPr id="86" name="Rounded Rectangle 85"/>
          <p:cNvSpPr/>
          <p:nvPr/>
        </p:nvSpPr>
        <p:spPr>
          <a:xfrm>
            <a:off x="5964129" y="2072920"/>
            <a:ext cx="2214481"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optional, variant</a:t>
            </a:r>
          </a:p>
        </p:txBody>
      </p:sp>
      <p:sp>
        <p:nvSpPr>
          <p:cNvPr id="87" name="Rounded Rectangle 86"/>
          <p:cNvSpPr/>
          <p:nvPr/>
        </p:nvSpPr>
        <p:spPr>
          <a:xfrm>
            <a:off x="8172573" y="2972920"/>
            <a:ext cx="12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ranges</a:t>
            </a:r>
          </a:p>
        </p:txBody>
      </p:sp>
      <p:sp>
        <p:nvSpPr>
          <p:cNvPr id="88" name="Rounded Rectangle 87"/>
          <p:cNvSpPr/>
          <p:nvPr/>
        </p:nvSpPr>
        <p:spPr>
          <a:xfrm>
            <a:off x="9243599" y="2072920"/>
            <a:ext cx="15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expected</a:t>
            </a:r>
          </a:p>
        </p:txBody>
      </p:sp>
      <p:sp>
        <p:nvSpPr>
          <p:cNvPr id="89" name="Rounded Rectangle 88"/>
          <p:cNvSpPr/>
          <p:nvPr/>
        </p:nvSpPr>
        <p:spPr>
          <a:xfrm>
            <a:off x="10181884" y="2972920"/>
            <a:ext cx="169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hardening</a:t>
            </a:r>
          </a:p>
        </p:txBody>
      </p:sp>
      <p:sp>
        <p:nvSpPr>
          <p:cNvPr id="90" name="Rounded Rectangle 89"/>
          <p:cNvSpPr/>
          <p:nvPr/>
        </p:nvSpPr>
        <p:spPr>
          <a:xfrm>
            <a:off x="560116" y="3422920"/>
            <a:ext cx="3121966"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constructors and destructors</a:t>
            </a:r>
          </a:p>
        </p:txBody>
      </p:sp>
      <p:sp>
        <p:nvSpPr>
          <p:cNvPr id="91" name="Rounded Rectangle 90"/>
          <p:cNvSpPr/>
          <p:nvPr/>
        </p:nvSpPr>
        <p:spPr>
          <a:xfrm>
            <a:off x="4222082" y="3998795"/>
            <a:ext cx="2209132"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data races are UB</a:t>
            </a:r>
          </a:p>
        </p:txBody>
      </p:sp>
      <p:sp>
        <p:nvSpPr>
          <p:cNvPr id="92" name="Rounded Rectangle 91"/>
          <p:cNvSpPr/>
          <p:nvPr/>
        </p:nvSpPr>
        <p:spPr>
          <a:xfrm>
            <a:off x="7627620" y="3998795"/>
            <a:ext cx="3063240" cy="34000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C3E63"/>
                </a:solidFill>
                <a:latin typeface="Aptos"/>
              </a:rPr>
              <a:t>Uninitialized reads erroneous</a:t>
            </a:r>
          </a:p>
        </p:txBody>
      </p:sp>
      <p:sp>
        <p:nvSpPr>
          <p:cNvPr id="93" name="Rounded Rectangle 92"/>
          <p:cNvSpPr/>
          <p:nvPr/>
        </p:nvSpPr>
        <p:spPr>
          <a:xfrm>
            <a:off x="2402322" y="2972920"/>
            <a:ext cx="15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4D24"/>
                </a:solidFill>
                <a:latin typeface="Aptos"/>
              </a:rPr>
              <a:t>auto_ptr</a:t>
            </a:r>
          </a:p>
        </p:txBody>
      </p:sp>
      <p:sp>
        <p:nvSpPr>
          <p:cNvPr id="94" name="Rounded Rectangle 93"/>
          <p:cNvSpPr/>
          <p:nvPr/>
        </p:nvSpPr>
        <p:spPr>
          <a:xfrm>
            <a:off x="1717756" y="5848795"/>
            <a:ext cx="2114326"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references dangle</a:t>
            </a:r>
          </a:p>
        </p:txBody>
      </p:sp>
      <p:sp>
        <p:nvSpPr>
          <p:cNvPr id="95" name="Rounded Rectangle 94"/>
          <p:cNvSpPr/>
          <p:nvPr/>
        </p:nvSpPr>
        <p:spPr>
          <a:xfrm>
            <a:off x="1181100" y="5398795"/>
            <a:ext cx="2743200"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operator[] unchecked</a:t>
            </a:r>
          </a:p>
        </p:txBody>
      </p:sp>
      <p:sp>
        <p:nvSpPr>
          <p:cNvPr id="96" name="Rounded Rectangle 95"/>
          <p:cNvSpPr/>
          <p:nvPr/>
        </p:nvSpPr>
        <p:spPr>
          <a:xfrm>
            <a:off x="3476464" y="6268000"/>
            <a:ext cx="3025192"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lambdas capture dangling</a:t>
            </a:r>
          </a:p>
        </p:txBody>
      </p:sp>
      <p:sp>
        <p:nvSpPr>
          <p:cNvPr id="97" name="Rounded Rectangle 96"/>
          <p:cNvSpPr/>
          <p:nvPr/>
        </p:nvSpPr>
        <p:spPr>
          <a:xfrm>
            <a:off x="6347459" y="5848795"/>
            <a:ext cx="2626189"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string_view dangles</a:t>
            </a:r>
          </a:p>
        </p:txBody>
      </p:sp>
      <p:sp>
        <p:nvSpPr>
          <p:cNvPr id="98" name="Rounded Rectangle 97"/>
          <p:cNvSpPr/>
          <p:nvPr/>
        </p:nvSpPr>
        <p:spPr>
          <a:xfrm>
            <a:off x="7619999" y="5398795"/>
            <a:ext cx="3171853"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span and mdspan unchecked</a:t>
            </a:r>
          </a:p>
        </p:txBody>
      </p:sp>
      <p:sp>
        <p:nvSpPr>
          <p:cNvPr id="99" name="Rounded Rectangle 98"/>
          <p:cNvSpPr/>
          <p:nvPr/>
        </p:nvSpPr>
        <p:spPr>
          <a:xfrm>
            <a:off x="8178610" y="6268000"/>
            <a:ext cx="2954210" cy="3400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7A1C15"/>
                </a:solidFill>
                <a:latin typeface="Aptos"/>
              </a:rPr>
              <a:t>hardening is library only</a:t>
            </a:r>
          </a:p>
        </p:txBody>
      </p:sp>
      <p:sp>
        <p:nvSpPr>
          <p:cNvPr id="100" name="Rounded Rectangle 92">
            <a:extLst>
              <a:ext uri="{FF2B5EF4-FFF2-40B4-BE49-F238E27FC236}">
                <a16:creationId xmlns:a16="http://schemas.microsoft.com/office/drawing/2014/main" id="{9BDC05DB-B9CF-B37D-11FF-D005A6B8F92E}"/>
              </a:ext>
            </a:extLst>
          </p:cNvPr>
          <p:cNvSpPr/>
          <p:nvPr/>
        </p:nvSpPr>
        <p:spPr>
          <a:xfrm>
            <a:off x="2477082" y="3831027"/>
            <a:ext cx="1540000" cy="340000"/>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600" b="1" dirty="0">
                <a:solidFill>
                  <a:srgbClr val="1F4D24"/>
                </a:solidFill>
                <a:latin typeface="Aptos"/>
              </a:rPr>
              <a:t>STL</a:t>
            </a:r>
            <a:endParaRPr sz="1600" b="1" dirty="0">
              <a:solidFill>
                <a:srgbClr val="1F4D24"/>
              </a:solidFill>
              <a:latin typeface="Aptos"/>
            </a:endParaRPr>
          </a:p>
        </p:txBody>
      </p:sp>
    </p:spTree>
    <p:extLst>
      <p:ext uri="{BB962C8B-B14F-4D97-AF65-F5344CB8AC3E}">
        <p14:creationId xmlns:p14="http://schemas.microsoft.com/office/powerpoint/2010/main" val="1649400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Signal/</a:t>
            </a:r>
            <a:r>
              <a:rPr lang="en-US" sz="1400" b="1" dirty="0">
                <a:solidFill>
                  <a:schemeClr val="tx1"/>
                </a:solidFill>
              </a:rPr>
              <a:t>R</a:t>
            </a:r>
            <a:r>
              <a:rPr sz="1400" b="1" dirty="0">
                <a:solidFill>
                  <a:schemeClr val="tx1"/>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Atomicity/</a:t>
            </a:r>
            <a:r>
              <a:rPr lang="en-US" sz="1400" b="1" dirty="0">
                <a:solidFill>
                  <a:schemeClr val="tx1"/>
                </a:solidFill>
              </a:rPr>
              <a:t>O</a:t>
            </a:r>
            <a:r>
              <a:rPr sz="1400" b="1" dirty="0">
                <a:solidFill>
                  <a:schemeClr val="tx1"/>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Non-</a:t>
            </a:r>
            <a:r>
              <a:rPr lang="en-US" sz="1400" b="1" dirty="0">
                <a:solidFill>
                  <a:schemeClr val="tx1"/>
                </a:solidFill>
              </a:rPr>
              <a:t>M</a:t>
            </a:r>
            <a:r>
              <a:rPr sz="1400" b="1" dirty="0">
                <a:solidFill>
                  <a:schemeClr val="tx1"/>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WG21 papers on safety by area</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De</a:t>
            </a:r>
            <a:r>
              <a:rPr sz="1400" b="1" dirty="0">
                <a:solidFill>
                  <a:schemeClr val="tx1"/>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Toolchain/Optimizer</a:t>
            </a:r>
            <a:endParaRPr sz="1400" b="1" dirty="0">
              <a:solidFill>
                <a:schemeClr val="tx1"/>
              </a:solidFill>
            </a:endParaRPr>
          </a:p>
        </p:txBody>
      </p:sp>
      <p:sp>
        <p:nvSpPr>
          <p:cNvPr id="76" name="Rounded Rectangle 75"/>
          <p:cNvSpPr/>
          <p:nvPr/>
        </p:nvSpPr>
        <p:spPr>
          <a:xfrm>
            <a:off x="7223591" y="1528951"/>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14</a:t>
            </a:r>
          </a:p>
        </p:txBody>
      </p:sp>
      <p:sp>
        <p:nvSpPr>
          <p:cNvPr id="77" name="Rounded Rectangle 76"/>
          <p:cNvSpPr/>
          <p:nvPr/>
        </p:nvSpPr>
        <p:spPr>
          <a:xfrm>
            <a:off x="6919791" y="1528951"/>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5</a:t>
            </a:r>
          </a:p>
        </p:txBody>
      </p:sp>
      <p:sp>
        <p:nvSpPr>
          <p:cNvPr id="78" name="Rounded Rectangle 77"/>
          <p:cNvSpPr/>
          <p:nvPr/>
        </p:nvSpPr>
        <p:spPr>
          <a:xfrm>
            <a:off x="8399510" y="1528951"/>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25</a:t>
            </a:r>
          </a:p>
        </p:txBody>
      </p:sp>
      <p:sp>
        <p:nvSpPr>
          <p:cNvPr id="79" name="Rounded Rectangle 78"/>
          <p:cNvSpPr/>
          <p:nvPr/>
        </p:nvSpPr>
        <p:spPr>
          <a:xfrm>
            <a:off x="8095710" y="1528951"/>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4</a:t>
            </a:r>
          </a:p>
        </p:txBody>
      </p:sp>
      <p:sp>
        <p:nvSpPr>
          <p:cNvPr id="80" name="Rounded Rectangle 79"/>
          <p:cNvSpPr/>
          <p:nvPr/>
        </p:nvSpPr>
        <p:spPr>
          <a:xfrm>
            <a:off x="9202353" y="1528951"/>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81" name="Rounded Rectangle 80"/>
          <p:cNvSpPr/>
          <p:nvPr/>
        </p:nvSpPr>
        <p:spPr>
          <a:xfrm>
            <a:off x="10471540" y="1528951"/>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7</a:t>
            </a:r>
          </a:p>
        </p:txBody>
      </p:sp>
      <p:sp>
        <p:nvSpPr>
          <p:cNvPr id="82" name="Rounded Rectangle 81"/>
          <p:cNvSpPr/>
          <p:nvPr/>
        </p:nvSpPr>
        <p:spPr>
          <a:xfrm>
            <a:off x="10171540" y="1528951"/>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3</a:t>
            </a:r>
          </a:p>
        </p:txBody>
      </p:sp>
      <p:sp>
        <p:nvSpPr>
          <p:cNvPr id="83" name="Rounded Rectangle 82"/>
          <p:cNvSpPr/>
          <p:nvPr/>
        </p:nvSpPr>
        <p:spPr>
          <a:xfrm>
            <a:off x="11647458" y="1528951"/>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17</a:t>
            </a:r>
          </a:p>
        </p:txBody>
      </p:sp>
      <p:sp>
        <p:nvSpPr>
          <p:cNvPr id="84" name="Rounded Rectangle 83"/>
          <p:cNvSpPr/>
          <p:nvPr/>
        </p:nvSpPr>
        <p:spPr>
          <a:xfrm>
            <a:off x="11343658" y="1528951"/>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85" name="Rounded Rectangle 84"/>
          <p:cNvSpPr/>
          <p:nvPr/>
        </p:nvSpPr>
        <p:spPr>
          <a:xfrm>
            <a:off x="5301523" y="209435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9</a:t>
            </a:r>
          </a:p>
        </p:txBody>
      </p:sp>
      <p:sp>
        <p:nvSpPr>
          <p:cNvPr id="86" name="Rounded Rectangle 85"/>
          <p:cNvSpPr/>
          <p:nvPr/>
        </p:nvSpPr>
        <p:spPr>
          <a:xfrm>
            <a:off x="5001523" y="2094355"/>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87" name="Rounded Rectangle 86"/>
          <p:cNvSpPr/>
          <p:nvPr/>
        </p:nvSpPr>
        <p:spPr>
          <a:xfrm>
            <a:off x="6663979" y="209435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7</a:t>
            </a:r>
          </a:p>
        </p:txBody>
      </p:sp>
      <p:sp>
        <p:nvSpPr>
          <p:cNvPr id="88" name="Rounded Rectangle 87"/>
          <p:cNvSpPr/>
          <p:nvPr/>
        </p:nvSpPr>
        <p:spPr>
          <a:xfrm>
            <a:off x="6363979" y="2094355"/>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89" name="Rounded Rectangle 88"/>
          <p:cNvSpPr/>
          <p:nvPr/>
        </p:nvSpPr>
        <p:spPr>
          <a:xfrm>
            <a:off x="8026435" y="209435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3</a:t>
            </a:r>
          </a:p>
        </p:txBody>
      </p:sp>
      <p:sp>
        <p:nvSpPr>
          <p:cNvPr id="90" name="Rounded Rectangle 89"/>
          <p:cNvSpPr/>
          <p:nvPr/>
        </p:nvSpPr>
        <p:spPr>
          <a:xfrm>
            <a:off x="8922547" y="209435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6</a:t>
            </a:r>
          </a:p>
        </p:txBody>
      </p:sp>
      <p:sp>
        <p:nvSpPr>
          <p:cNvPr id="91" name="Rounded Rectangle 90"/>
          <p:cNvSpPr/>
          <p:nvPr/>
        </p:nvSpPr>
        <p:spPr>
          <a:xfrm>
            <a:off x="11460921" y="209435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92" name="Rounded Rectangle 91"/>
          <p:cNvSpPr/>
          <p:nvPr/>
        </p:nvSpPr>
        <p:spPr>
          <a:xfrm>
            <a:off x="11160921" y="2094355"/>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93" name="Rounded Rectangle 92"/>
          <p:cNvSpPr/>
          <p:nvPr/>
        </p:nvSpPr>
        <p:spPr>
          <a:xfrm>
            <a:off x="6420748" y="3177922"/>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8</a:t>
            </a:r>
          </a:p>
        </p:txBody>
      </p:sp>
      <p:sp>
        <p:nvSpPr>
          <p:cNvPr id="94" name="Rounded Rectangle 93"/>
          <p:cNvSpPr/>
          <p:nvPr/>
        </p:nvSpPr>
        <p:spPr>
          <a:xfrm>
            <a:off x="6120748" y="3177922"/>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95" name="Rounded Rectangle 94"/>
          <p:cNvSpPr/>
          <p:nvPr/>
        </p:nvSpPr>
        <p:spPr>
          <a:xfrm>
            <a:off x="8156279" y="3177922"/>
            <a:ext cx="43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211</a:t>
            </a:r>
          </a:p>
        </p:txBody>
      </p:sp>
      <p:sp>
        <p:nvSpPr>
          <p:cNvPr id="96" name="Rounded Rectangle 95"/>
          <p:cNvSpPr/>
          <p:nvPr/>
        </p:nvSpPr>
        <p:spPr>
          <a:xfrm>
            <a:off x="7762479" y="3177922"/>
            <a:ext cx="34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23</a:t>
            </a:r>
          </a:p>
        </p:txBody>
      </p:sp>
      <p:sp>
        <p:nvSpPr>
          <p:cNvPr id="97" name="Rounded Rectangle 96"/>
          <p:cNvSpPr/>
          <p:nvPr/>
        </p:nvSpPr>
        <p:spPr>
          <a:xfrm>
            <a:off x="10171617" y="3177922"/>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98" name="Rounded Rectangle 97"/>
          <p:cNvSpPr/>
          <p:nvPr/>
        </p:nvSpPr>
        <p:spPr>
          <a:xfrm>
            <a:off x="10824497" y="3645346"/>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5</a:t>
            </a:r>
          </a:p>
        </p:txBody>
      </p:sp>
      <p:sp>
        <p:nvSpPr>
          <p:cNvPr id="99" name="Rounded Rectangle 98"/>
          <p:cNvSpPr/>
          <p:nvPr/>
        </p:nvSpPr>
        <p:spPr>
          <a:xfrm>
            <a:off x="6420748" y="3635122"/>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4</a:t>
            </a:r>
          </a:p>
        </p:txBody>
      </p:sp>
      <p:sp>
        <p:nvSpPr>
          <p:cNvPr id="100" name="Rounded Rectangle 99"/>
          <p:cNvSpPr/>
          <p:nvPr/>
        </p:nvSpPr>
        <p:spPr>
          <a:xfrm>
            <a:off x="6120748" y="3635122"/>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101" name="Rounded Rectangle 100"/>
          <p:cNvSpPr/>
          <p:nvPr/>
        </p:nvSpPr>
        <p:spPr>
          <a:xfrm>
            <a:off x="8902429" y="3635122"/>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10</a:t>
            </a:r>
          </a:p>
        </p:txBody>
      </p:sp>
      <p:sp>
        <p:nvSpPr>
          <p:cNvPr id="102" name="Rounded Rectangle 101"/>
          <p:cNvSpPr/>
          <p:nvPr/>
        </p:nvSpPr>
        <p:spPr>
          <a:xfrm>
            <a:off x="5861136" y="4219828"/>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103" name="Rounded Rectangle 102"/>
          <p:cNvSpPr/>
          <p:nvPr/>
        </p:nvSpPr>
        <p:spPr>
          <a:xfrm>
            <a:off x="5561136" y="4219828"/>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4</a:t>
            </a:r>
          </a:p>
        </p:txBody>
      </p:sp>
      <p:sp>
        <p:nvSpPr>
          <p:cNvPr id="104" name="Rounded Rectangle 103"/>
          <p:cNvSpPr/>
          <p:nvPr/>
        </p:nvSpPr>
        <p:spPr>
          <a:xfrm>
            <a:off x="7969742" y="4219828"/>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24</a:t>
            </a:r>
          </a:p>
        </p:txBody>
      </p:sp>
      <p:sp>
        <p:nvSpPr>
          <p:cNvPr id="105" name="Rounded Rectangle 104"/>
          <p:cNvSpPr/>
          <p:nvPr/>
        </p:nvSpPr>
        <p:spPr>
          <a:xfrm>
            <a:off x="7665942" y="4219828"/>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6</a:t>
            </a:r>
          </a:p>
        </p:txBody>
      </p:sp>
      <p:sp>
        <p:nvSpPr>
          <p:cNvPr id="106" name="Rounded Rectangle 105"/>
          <p:cNvSpPr/>
          <p:nvPr/>
        </p:nvSpPr>
        <p:spPr>
          <a:xfrm>
            <a:off x="9145660" y="4219828"/>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8</a:t>
            </a:r>
          </a:p>
        </p:txBody>
      </p:sp>
      <p:sp>
        <p:nvSpPr>
          <p:cNvPr id="107" name="Rounded Rectangle 106"/>
          <p:cNvSpPr/>
          <p:nvPr/>
        </p:nvSpPr>
        <p:spPr>
          <a:xfrm>
            <a:off x="5861136" y="4819267"/>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23</a:t>
            </a:r>
          </a:p>
        </p:txBody>
      </p:sp>
      <p:sp>
        <p:nvSpPr>
          <p:cNvPr id="108" name="Rounded Rectangle 107"/>
          <p:cNvSpPr/>
          <p:nvPr/>
        </p:nvSpPr>
        <p:spPr>
          <a:xfrm>
            <a:off x="5557336" y="4819267"/>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6</a:t>
            </a:r>
          </a:p>
        </p:txBody>
      </p:sp>
      <p:sp>
        <p:nvSpPr>
          <p:cNvPr id="109" name="Rounded Rectangle 108"/>
          <p:cNvSpPr/>
          <p:nvPr/>
        </p:nvSpPr>
        <p:spPr>
          <a:xfrm>
            <a:off x="9052392" y="4819267"/>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4</a:t>
            </a:r>
          </a:p>
        </p:txBody>
      </p:sp>
      <p:sp>
        <p:nvSpPr>
          <p:cNvPr id="110" name="Rounded Rectangle 109"/>
          <p:cNvSpPr/>
          <p:nvPr/>
        </p:nvSpPr>
        <p:spPr>
          <a:xfrm>
            <a:off x="5768883" y="5422772"/>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6</a:t>
            </a:r>
          </a:p>
        </p:txBody>
      </p:sp>
      <p:sp>
        <p:nvSpPr>
          <p:cNvPr id="111" name="Rounded Rectangle 110"/>
          <p:cNvSpPr/>
          <p:nvPr/>
        </p:nvSpPr>
        <p:spPr>
          <a:xfrm>
            <a:off x="5468883" y="5422772"/>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112" name="Rounded Rectangle 111"/>
          <p:cNvSpPr/>
          <p:nvPr/>
        </p:nvSpPr>
        <p:spPr>
          <a:xfrm>
            <a:off x="6478457" y="5422772"/>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113" name="Rounded Rectangle 112"/>
          <p:cNvSpPr/>
          <p:nvPr/>
        </p:nvSpPr>
        <p:spPr>
          <a:xfrm>
            <a:off x="5581329" y="602627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7</a:t>
            </a:r>
          </a:p>
        </p:txBody>
      </p:sp>
      <p:sp>
        <p:nvSpPr>
          <p:cNvPr id="114" name="Rounded Rectangle 113"/>
          <p:cNvSpPr/>
          <p:nvPr/>
        </p:nvSpPr>
        <p:spPr>
          <a:xfrm>
            <a:off x="5281329" y="6026275"/>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115" name="Rounded Rectangle 114"/>
          <p:cNvSpPr/>
          <p:nvPr/>
        </p:nvSpPr>
        <p:spPr>
          <a:xfrm>
            <a:off x="6757247" y="602627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116" name="Rounded Rectangle 115"/>
          <p:cNvSpPr/>
          <p:nvPr/>
        </p:nvSpPr>
        <p:spPr>
          <a:xfrm>
            <a:off x="8026435" y="6026275"/>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117" name="Rounded Rectangle 116"/>
          <p:cNvSpPr/>
          <p:nvPr/>
        </p:nvSpPr>
        <p:spPr>
          <a:xfrm>
            <a:off x="5488060" y="1522348"/>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11</a:t>
            </a:r>
          </a:p>
        </p:txBody>
      </p:sp>
      <p:sp>
        <p:nvSpPr>
          <p:cNvPr id="118" name="Rounded Rectangle 117"/>
          <p:cNvSpPr/>
          <p:nvPr/>
        </p:nvSpPr>
        <p:spPr>
          <a:xfrm>
            <a:off x="5184260" y="1522348"/>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5</a:t>
            </a:r>
          </a:p>
        </p:txBody>
      </p:sp>
      <p:sp>
        <p:nvSpPr>
          <p:cNvPr id="119" name="Rounded Rectangle 118"/>
          <p:cNvSpPr/>
          <p:nvPr/>
        </p:nvSpPr>
        <p:spPr>
          <a:xfrm>
            <a:off x="5861136" y="2612897"/>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4</a:t>
            </a:r>
          </a:p>
        </p:txBody>
      </p:sp>
      <p:sp>
        <p:nvSpPr>
          <p:cNvPr id="120" name="Rounded Rectangle 119"/>
          <p:cNvSpPr/>
          <p:nvPr/>
        </p:nvSpPr>
        <p:spPr>
          <a:xfrm>
            <a:off x="5561136" y="2612897"/>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
        <p:nvSpPr>
          <p:cNvPr id="121" name="Rounded Rectangle 120"/>
          <p:cNvSpPr/>
          <p:nvPr/>
        </p:nvSpPr>
        <p:spPr>
          <a:xfrm>
            <a:off x="7377211" y="2607183"/>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13</a:t>
            </a:r>
          </a:p>
        </p:txBody>
      </p:sp>
      <p:sp>
        <p:nvSpPr>
          <p:cNvPr id="122" name="Rounded Rectangle 121"/>
          <p:cNvSpPr/>
          <p:nvPr/>
        </p:nvSpPr>
        <p:spPr>
          <a:xfrm>
            <a:off x="7058171" y="2607183"/>
            <a:ext cx="260000" cy="260000"/>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2</a:t>
            </a:r>
          </a:p>
        </p:txBody>
      </p:sp>
      <p:sp>
        <p:nvSpPr>
          <p:cNvPr id="123" name="Rounded Rectangle 122"/>
          <p:cNvSpPr/>
          <p:nvPr/>
        </p:nvSpPr>
        <p:spPr>
          <a:xfrm>
            <a:off x="10127726" y="6032110"/>
            <a:ext cx="26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3</a:t>
            </a:r>
          </a:p>
        </p:txBody>
      </p:sp>
      <p:sp>
        <p:nvSpPr>
          <p:cNvPr id="124" name="Rounded Rectangle 123"/>
          <p:cNvSpPr/>
          <p:nvPr/>
        </p:nvSpPr>
        <p:spPr>
          <a:xfrm>
            <a:off x="8590619" y="5432178"/>
            <a:ext cx="340000" cy="260000"/>
          </a:xfrm>
          <a:prstGeom prst="roundRect">
            <a:avLst>
              <a:gd name="adj" fmla="val 50000"/>
            </a:avLst>
          </a:prstGeom>
          <a:solidFill>
            <a:srgbClr val="C0392B"/>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55</a:t>
            </a:r>
          </a:p>
        </p:txBody>
      </p:sp>
      <p:sp>
        <p:nvSpPr>
          <p:cNvPr id="125" name="Rounded Rectangle 124"/>
          <p:cNvSpPr/>
          <p:nvPr/>
        </p:nvSpPr>
        <p:spPr>
          <a:xfrm>
            <a:off x="8286819" y="5443996"/>
            <a:ext cx="260000" cy="236364"/>
          </a:xfrm>
          <a:prstGeom prst="roundRect">
            <a:avLst>
              <a:gd name="adj" fmla="val 50000"/>
            </a:avLst>
          </a:prstGeom>
          <a:solidFill>
            <a:srgbClr val="2E7D32"/>
          </a:solidFill>
          <a:ln w="19050">
            <a:solidFill>
              <a:srgbClr val="FAF7F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Aptos"/>
              </a:rPr>
              <a:t>1</a:t>
            </a:r>
          </a:p>
        </p:txBody>
      </p:sp>
    </p:spTree>
    <p:extLst>
      <p:ext uri="{BB962C8B-B14F-4D97-AF65-F5344CB8AC3E}">
        <p14:creationId xmlns:p14="http://schemas.microsoft.com/office/powerpoint/2010/main" val="2284144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Signal/</a:t>
            </a:r>
            <a:r>
              <a:rPr lang="en-US" sz="1400" b="1" dirty="0">
                <a:solidFill>
                  <a:schemeClr val="tx1"/>
                </a:solidFill>
              </a:rPr>
              <a:t>R</a:t>
            </a:r>
            <a:r>
              <a:rPr sz="1400" b="1" dirty="0">
                <a:solidFill>
                  <a:schemeClr val="tx1"/>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Atomicity/</a:t>
            </a:r>
            <a:r>
              <a:rPr lang="en-US" sz="1400" b="1" dirty="0">
                <a:solidFill>
                  <a:schemeClr val="tx1"/>
                </a:solidFill>
              </a:rPr>
              <a:t>O</a:t>
            </a:r>
            <a:r>
              <a:rPr sz="1400" b="1" dirty="0">
                <a:solidFill>
                  <a:schemeClr val="tx1"/>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Non-</a:t>
            </a:r>
            <a:r>
              <a:rPr lang="en-US" sz="1400" b="1" dirty="0">
                <a:solidFill>
                  <a:schemeClr val="tx1"/>
                </a:solidFill>
              </a:rPr>
              <a:t>M</a:t>
            </a:r>
            <a:r>
              <a:rPr sz="1400" b="1" dirty="0">
                <a:solidFill>
                  <a:schemeClr val="tx1"/>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 taxonomy of C/C++ safety</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De</a:t>
            </a:r>
            <a:r>
              <a:rPr sz="1400" b="1" dirty="0">
                <a:solidFill>
                  <a:schemeClr val="tx1"/>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Toolchain/Optimizer</a:t>
            </a:r>
            <a:endParaRPr sz="1400" b="1" dirty="0">
              <a:solidFill>
                <a:schemeClr val="tx1"/>
              </a:solidFill>
            </a:endParaRPr>
          </a:p>
        </p:txBody>
      </p:sp>
      <p:pic>
        <p:nvPicPr>
          <p:cNvPr id="76" name="Morph 00" descr="f000.png"/>
          <p:cNvPicPr>
            <a:picLocks noChangeAspect="1"/>
          </p:cNvPicPr>
          <p:nvPr/>
        </p:nvPicPr>
        <p:blipFill>
          <a:blip r:embed="rId3"/>
          <a:stretch>
            <a:fillRect/>
          </a:stretch>
        </p:blipFill>
        <p:spPr>
          <a:xfrm>
            <a:off x="0" y="0"/>
            <a:ext cx="12192000" cy="6858000"/>
          </a:xfrm>
          <a:prstGeom prst="rect">
            <a:avLst/>
          </a:prstGeom>
        </p:spPr>
      </p:pic>
      <p:pic>
        <p:nvPicPr>
          <p:cNvPr id="77" name="Morph 01" descr="f001.png"/>
          <p:cNvPicPr>
            <a:picLocks noChangeAspect="1"/>
          </p:cNvPicPr>
          <p:nvPr/>
        </p:nvPicPr>
        <p:blipFill>
          <a:blip r:embed="rId4"/>
          <a:stretch>
            <a:fillRect/>
          </a:stretch>
        </p:blipFill>
        <p:spPr>
          <a:xfrm>
            <a:off x="0" y="0"/>
            <a:ext cx="12192000" cy="6858000"/>
          </a:xfrm>
          <a:prstGeom prst="rect">
            <a:avLst/>
          </a:prstGeom>
        </p:spPr>
      </p:pic>
      <p:pic>
        <p:nvPicPr>
          <p:cNvPr id="78" name="Morph 02" descr="f002.png"/>
          <p:cNvPicPr>
            <a:picLocks noChangeAspect="1"/>
          </p:cNvPicPr>
          <p:nvPr/>
        </p:nvPicPr>
        <p:blipFill>
          <a:blip r:embed="rId5"/>
          <a:stretch>
            <a:fillRect/>
          </a:stretch>
        </p:blipFill>
        <p:spPr>
          <a:xfrm>
            <a:off x="0" y="0"/>
            <a:ext cx="12192000" cy="6858000"/>
          </a:xfrm>
          <a:prstGeom prst="rect">
            <a:avLst/>
          </a:prstGeom>
        </p:spPr>
      </p:pic>
      <p:pic>
        <p:nvPicPr>
          <p:cNvPr id="79" name="Morph 03" descr="f003.png"/>
          <p:cNvPicPr>
            <a:picLocks noChangeAspect="1"/>
          </p:cNvPicPr>
          <p:nvPr/>
        </p:nvPicPr>
        <p:blipFill>
          <a:blip r:embed="rId6"/>
          <a:stretch>
            <a:fillRect/>
          </a:stretch>
        </p:blipFill>
        <p:spPr>
          <a:xfrm>
            <a:off x="0" y="0"/>
            <a:ext cx="12192000" cy="6858000"/>
          </a:xfrm>
          <a:prstGeom prst="rect">
            <a:avLst/>
          </a:prstGeom>
        </p:spPr>
      </p:pic>
      <p:pic>
        <p:nvPicPr>
          <p:cNvPr id="80" name="Morph 04" descr="f004.png"/>
          <p:cNvPicPr>
            <a:picLocks noChangeAspect="1"/>
          </p:cNvPicPr>
          <p:nvPr/>
        </p:nvPicPr>
        <p:blipFill>
          <a:blip r:embed="rId7"/>
          <a:stretch>
            <a:fillRect/>
          </a:stretch>
        </p:blipFill>
        <p:spPr>
          <a:xfrm>
            <a:off x="0" y="0"/>
            <a:ext cx="12192000" cy="6858000"/>
          </a:xfrm>
          <a:prstGeom prst="rect">
            <a:avLst/>
          </a:prstGeom>
        </p:spPr>
      </p:pic>
      <p:pic>
        <p:nvPicPr>
          <p:cNvPr id="81" name="Morph 05" descr="f005.png"/>
          <p:cNvPicPr>
            <a:picLocks noChangeAspect="1"/>
          </p:cNvPicPr>
          <p:nvPr/>
        </p:nvPicPr>
        <p:blipFill>
          <a:blip r:embed="rId8"/>
          <a:stretch>
            <a:fillRect/>
          </a:stretch>
        </p:blipFill>
        <p:spPr>
          <a:xfrm>
            <a:off x="0" y="0"/>
            <a:ext cx="12192000" cy="6858000"/>
          </a:xfrm>
          <a:prstGeom prst="rect">
            <a:avLst/>
          </a:prstGeom>
        </p:spPr>
      </p:pic>
      <p:pic>
        <p:nvPicPr>
          <p:cNvPr id="82" name="Morph 06" descr="f006.png"/>
          <p:cNvPicPr>
            <a:picLocks noChangeAspect="1"/>
          </p:cNvPicPr>
          <p:nvPr/>
        </p:nvPicPr>
        <p:blipFill>
          <a:blip r:embed="rId9"/>
          <a:stretch>
            <a:fillRect/>
          </a:stretch>
        </p:blipFill>
        <p:spPr>
          <a:xfrm>
            <a:off x="0" y="0"/>
            <a:ext cx="12192000" cy="6858000"/>
          </a:xfrm>
          <a:prstGeom prst="rect">
            <a:avLst/>
          </a:prstGeom>
        </p:spPr>
      </p:pic>
      <p:pic>
        <p:nvPicPr>
          <p:cNvPr id="83" name="Morph 07" descr="f007.png"/>
          <p:cNvPicPr>
            <a:picLocks noChangeAspect="1"/>
          </p:cNvPicPr>
          <p:nvPr/>
        </p:nvPicPr>
        <p:blipFill>
          <a:blip r:embed="rId10"/>
          <a:stretch>
            <a:fillRect/>
          </a:stretch>
        </p:blipFill>
        <p:spPr>
          <a:xfrm>
            <a:off x="0" y="0"/>
            <a:ext cx="12192000" cy="6858000"/>
          </a:xfrm>
          <a:prstGeom prst="rect">
            <a:avLst/>
          </a:prstGeom>
        </p:spPr>
      </p:pic>
      <p:pic>
        <p:nvPicPr>
          <p:cNvPr id="84" name="Morph 08" descr="f008.png"/>
          <p:cNvPicPr>
            <a:picLocks noChangeAspect="1"/>
          </p:cNvPicPr>
          <p:nvPr/>
        </p:nvPicPr>
        <p:blipFill>
          <a:blip r:embed="rId11"/>
          <a:stretch>
            <a:fillRect/>
          </a:stretch>
        </p:blipFill>
        <p:spPr>
          <a:xfrm>
            <a:off x="0" y="0"/>
            <a:ext cx="12192000" cy="6858000"/>
          </a:xfrm>
          <a:prstGeom prst="rect">
            <a:avLst/>
          </a:prstGeom>
        </p:spPr>
      </p:pic>
      <p:pic>
        <p:nvPicPr>
          <p:cNvPr id="85" name="Morph 09" descr="f009.png"/>
          <p:cNvPicPr>
            <a:picLocks noChangeAspect="1"/>
          </p:cNvPicPr>
          <p:nvPr/>
        </p:nvPicPr>
        <p:blipFill>
          <a:blip r:embed="rId12"/>
          <a:stretch>
            <a:fillRect/>
          </a:stretch>
        </p:blipFill>
        <p:spPr>
          <a:xfrm>
            <a:off x="0" y="0"/>
            <a:ext cx="12192000" cy="6858000"/>
          </a:xfrm>
          <a:prstGeom prst="rect">
            <a:avLst/>
          </a:prstGeom>
        </p:spPr>
      </p:pic>
      <p:pic>
        <p:nvPicPr>
          <p:cNvPr id="86" name="Morph 10" descr="f010.png"/>
          <p:cNvPicPr>
            <a:picLocks noChangeAspect="1"/>
          </p:cNvPicPr>
          <p:nvPr/>
        </p:nvPicPr>
        <p:blipFill>
          <a:blip r:embed="rId13"/>
          <a:stretch>
            <a:fillRect/>
          </a:stretch>
        </p:blipFill>
        <p:spPr>
          <a:xfrm>
            <a:off x="0" y="0"/>
            <a:ext cx="12192000" cy="6858000"/>
          </a:xfrm>
          <a:prstGeom prst="rect">
            <a:avLst/>
          </a:prstGeom>
        </p:spPr>
      </p:pic>
      <p:pic>
        <p:nvPicPr>
          <p:cNvPr id="87" name="Morph 11" descr="f011.png"/>
          <p:cNvPicPr>
            <a:picLocks noChangeAspect="1"/>
          </p:cNvPicPr>
          <p:nvPr/>
        </p:nvPicPr>
        <p:blipFill>
          <a:blip r:embed="rId14"/>
          <a:stretch>
            <a:fillRect/>
          </a:stretch>
        </p:blipFill>
        <p:spPr>
          <a:xfrm>
            <a:off x="0" y="0"/>
            <a:ext cx="12192000" cy="6858000"/>
          </a:xfrm>
          <a:prstGeom prst="rect">
            <a:avLst/>
          </a:prstGeom>
        </p:spPr>
      </p:pic>
      <p:pic>
        <p:nvPicPr>
          <p:cNvPr id="88" name="Morph 12" descr="f012.png"/>
          <p:cNvPicPr>
            <a:picLocks noChangeAspect="1"/>
          </p:cNvPicPr>
          <p:nvPr/>
        </p:nvPicPr>
        <p:blipFill>
          <a:blip r:embed="rId15"/>
          <a:stretch>
            <a:fillRect/>
          </a:stretch>
        </p:blipFill>
        <p:spPr>
          <a:xfrm>
            <a:off x="0" y="0"/>
            <a:ext cx="12192000" cy="6858000"/>
          </a:xfrm>
          <a:prstGeom prst="rect">
            <a:avLst/>
          </a:prstGeom>
        </p:spPr>
      </p:pic>
      <p:pic>
        <p:nvPicPr>
          <p:cNvPr id="89" name="Morph 13" descr="f013.png"/>
          <p:cNvPicPr>
            <a:picLocks noChangeAspect="1"/>
          </p:cNvPicPr>
          <p:nvPr/>
        </p:nvPicPr>
        <p:blipFill>
          <a:blip r:embed="rId16"/>
          <a:stretch>
            <a:fillRect/>
          </a:stretch>
        </p:blipFill>
        <p:spPr>
          <a:xfrm>
            <a:off x="0" y="0"/>
            <a:ext cx="12192000" cy="6858000"/>
          </a:xfrm>
          <a:prstGeom prst="rect">
            <a:avLst/>
          </a:prstGeom>
        </p:spPr>
      </p:pic>
      <p:pic>
        <p:nvPicPr>
          <p:cNvPr id="90" name="Morph 14" descr="f014.png"/>
          <p:cNvPicPr>
            <a:picLocks noChangeAspect="1"/>
          </p:cNvPicPr>
          <p:nvPr/>
        </p:nvPicPr>
        <p:blipFill>
          <a:blip r:embed="rId17"/>
          <a:stretch>
            <a:fillRect/>
          </a:stretch>
        </p:blipFill>
        <p:spPr>
          <a:xfrm>
            <a:off x="0" y="0"/>
            <a:ext cx="12192000" cy="6858000"/>
          </a:xfrm>
          <a:prstGeom prst="rect">
            <a:avLst/>
          </a:prstGeom>
        </p:spPr>
      </p:pic>
      <p:pic>
        <p:nvPicPr>
          <p:cNvPr id="91" name="Morph 15" descr="f015.png"/>
          <p:cNvPicPr>
            <a:picLocks noChangeAspect="1"/>
          </p:cNvPicPr>
          <p:nvPr/>
        </p:nvPicPr>
        <p:blipFill>
          <a:blip r:embed="rId18"/>
          <a:stretch>
            <a:fillRect/>
          </a:stretch>
        </p:blipFill>
        <p:spPr>
          <a:xfrm>
            <a:off x="0" y="0"/>
            <a:ext cx="12192000" cy="6858000"/>
          </a:xfrm>
          <a:prstGeom prst="rect">
            <a:avLst/>
          </a:prstGeom>
        </p:spPr>
      </p:pic>
      <p:pic>
        <p:nvPicPr>
          <p:cNvPr id="92" name="Morph 16" descr="f016.png"/>
          <p:cNvPicPr>
            <a:picLocks noChangeAspect="1"/>
          </p:cNvPicPr>
          <p:nvPr/>
        </p:nvPicPr>
        <p:blipFill>
          <a:blip r:embed="rId19"/>
          <a:stretch>
            <a:fillRect/>
          </a:stretch>
        </p:blipFill>
        <p:spPr>
          <a:xfrm>
            <a:off x="0" y="0"/>
            <a:ext cx="12192000" cy="6858000"/>
          </a:xfrm>
          <a:prstGeom prst="rect">
            <a:avLst/>
          </a:prstGeom>
        </p:spPr>
      </p:pic>
      <p:pic>
        <p:nvPicPr>
          <p:cNvPr id="93" name="Morph 17" descr="f017.png"/>
          <p:cNvPicPr>
            <a:picLocks noChangeAspect="1"/>
          </p:cNvPicPr>
          <p:nvPr/>
        </p:nvPicPr>
        <p:blipFill>
          <a:blip r:embed="rId20"/>
          <a:stretch>
            <a:fillRect/>
          </a:stretch>
        </p:blipFill>
        <p:spPr>
          <a:xfrm>
            <a:off x="0" y="0"/>
            <a:ext cx="12192000" cy="6858000"/>
          </a:xfrm>
          <a:prstGeom prst="rect">
            <a:avLst/>
          </a:prstGeom>
        </p:spPr>
      </p:pic>
      <p:pic>
        <p:nvPicPr>
          <p:cNvPr id="94" name="Morph 18" descr="f018.png"/>
          <p:cNvPicPr>
            <a:picLocks noChangeAspect="1"/>
          </p:cNvPicPr>
          <p:nvPr/>
        </p:nvPicPr>
        <p:blipFill>
          <a:blip r:embed="rId21"/>
          <a:stretch>
            <a:fillRect/>
          </a:stretch>
        </p:blipFill>
        <p:spPr>
          <a:xfrm>
            <a:off x="0" y="0"/>
            <a:ext cx="12192000" cy="6858000"/>
          </a:xfrm>
          <a:prstGeom prst="rect">
            <a:avLst/>
          </a:prstGeom>
        </p:spPr>
      </p:pic>
      <p:pic>
        <p:nvPicPr>
          <p:cNvPr id="95" name="Morph 19" descr="f019.png"/>
          <p:cNvPicPr>
            <a:picLocks noChangeAspect="1"/>
          </p:cNvPicPr>
          <p:nvPr/>
        </p:nvPicPr>
        <p:blipFill>
          <a:blip r:embed="rId22"/>
          <a:stretch>
            <a:fillRect/>
          </a:stretch>
        </p:blipFill>
        <p:spPr>
          <a:xfrm>
            <a:off x="0" y="0"/>
            <a:ext cx="12192000" cy="6858000"/>
          </a:xfrm>
          <a:prstGeom prst="rect">
            <a:avLst/>
          </a:prstGeom>
        </p:spPr>
      </p:pic>
      <p:pic>
        <p:nvPicPr>
          <p:cNvPr id="96" name="Morph 20" descr="f020.png"/>
          <p:cNvPicPr>
            <a:picLocks noChangeAspect="1"/>
          </p:cNvPicPr>
          <p:nvPr/>
        </p:nvPicPr>
        <p:blipFill>
          <a:blip r:embed="rId23"/>
          <a:stretch>
            <a:fillRect/>
          </a:stretch>
        </p:blipFill>
        <p:spPr>
          <a:xfrm>
            <a:off x="0" y="0"/>
            <a:ext cx="12192000" cy="6858000"/>
          </a:xfrm>
          <a:prstGeom prst="rect">
            <a:avLst/>
          </a:prstGeom>
        </p:spPr>
      </p:pic>
      <p:pic>
        <p:nvPicPr>
          <p:cNvPr id="97" name="Morph 21" descr="f021.png"/>
          <p:cNvPicPr>
            <a:picLocks noChangeAspect="1"/>
          </p:cNvPicPr>
          <p:nvPr/>
        </p:nvPicPr>
        <p:blipFill>
          <a:blip r:embed="rId24"/>
          <a:stretch>
            <a:fillRect/>
          </a:stretch>
        </p:blipFill>
        <p:spPr>
          <a:xfrm>
            <a:off x="0" y="0"/>
            <a:ext cx="12192000" cy="6858000"/>
          </a:xfrm>
          <a:prstGeom prst="rect">
            <a:avLst/>
          </a:prstGeom>
        </p:spPr>
      </p:pic>
      <p:pic>
        <p:nvPicPr>
          <p:cNvPr id="98" name="Morph 22" descr="f022.png"/>
          <p:cNvPicPr>
            <a:picLocks noChangeAspect="1"/>
          </p:cNvPicPr>
          <p:nvPr/>
        </p:nvPicPr>
        <p:blipFill>
          <a:blip r:embed="rId25"/>
          <a:stretch>
            <a:fillRect/>
          </a:stretch>
        </p:blipFill>
        <p:spPr>
          <a:xfrm>
            <a:off x="0" y="0"/>
            <a:ext cx="12192000" cy="6858000"/>
          </a:xfrm>
          <a:prstGeom prst="rect">
            <a:avLst/>
          </a:prstGeom>
        </p:spPr>
      </p:pic>
      <p:pic>
        <p:nvPicPr>
          <p:cNvPr id="99" name="Morph 23" descr="f023.png"/>
          <p:cNvPicPr>
            <a:picLocks noChangeAspect="1"/>
          </p:cNvPicPr>
          <p:nvPr/>
        </p:nvPicPr>
        <p:blipFill>
          <a:blip r:embed="rId26"/>
          <a:stretch>
            <a:fillRect/>
          </a:stretch>
        </p:blipFill>
        <p:spPr>
          <a:xfrm>
            <a:off x="0" y="0"/>
            <a:ext cx="12192000" cy="6858000"/>
          </a:xfrm>
          <a:prstGeom prst="rect">
            <a:avLst/>
          </a:prstGeom>
        </p:spPr>
      </p:pic>
      <p:pic>
        <p:nvPicPr>
          <p:cNvPr id="100" name="Morph 24" descr="f024.png"/>
          <p:cNvPicPr>
            <a:picLocks noChangeAspect="1"/>
          </p:cNvPicPr>
          <p:nvPr/>
        </p:nvPicPr>
        <p:blipFill>
          <a:blip r:embed="rId27"/>
          <a:stretch>
            <a:fillRect/>
          </a:stretch>
        </p:blipFill>
        <p:spPr>
          <a:xfrm>
            <a:off x="0" y="0"/>
            <a:ext cx="12192000" cy="6858000"/>
          </a:xfrm>
          <a:prstGeom prst="rect">
            <a:avLst/>
          </a:prstGeom>
        </p:spPr>
      </p:pic>
      <p:pic>
        <p:nvPicPr>
          <p:cNvPr id="101" name="Morph 25" descr="f025.png"/>
          <p:cNvPicPr>
            <a:picLocks noChangeAspect="1"/>
          </p:cNvPicPr>
          <p:nvPr/>
        </p:nvPicPr>
        <p:blipFill>
          <a:blip r:embed="rId28"/>
          <a:stretch>
            <a:fillRect/>
          </a:stretch>
        </p:blipFill>
        <p:spPr>
          <a:xfrm>
            <a:off x="0" y="0"/>
            <a:ext cx="12192000" cy="6858000"/>
          </a:xfrm>
          <a:prstGeom prst="rect">
            <a:avLst/>
          </a:prstGeom>
        </p:spPr>
      </p:pic>
      <p:pic>
        <p:nvPicPr>
          <p:cNvPr id="102" name="Morph 26" descr="f026.png"/>
          <p:cNvPicPr>
            <a:picLocks noChangeAspect="1"/>
          </p:cNvPicPr>
          <p:nvPr/>
        </p:nvPicPr>
        <p:blipFill>
          <a:blip r:embed="rId29"/>
          <a:stretch>
            <a:fillRect/>
          </a:stretch>
        </p:blipFill>
        <p:spPr>
          <a:xfrm>
            <a:off x="0" y="0"/>
            <a:ext cx="12192000" cy="6858000"/>
          </a:xfrm>
          <a:prstGeom prst="rect">
            <a:avLst/>
          </a:prstGeom>
        </p:spPr>
      </p:pic>
      <p:pic>
        <p:nvPicPr>
          <p:cNvPr id="103" name="Morph 27" descr="f027.png"/>
          <p:cNvPicPr>
            <a:picLocks noChangeAspect="1"/>
          </p:cNvPicPr>
          <p:nvPr/>
        </p:nvPicPr>
        <p:blipFill>
          <a:blip r:embed="rId30"/>
          <a:stretch>
            <a:fillRect/>
          </a:stretch>
        </p:blipFill>
        <p:spPr>
          <a:xfrm>
            <a:off x="0" y="0"/>
            <a:ext cx="12192000" cy="6858000"/>
          </a:xfrm>
          <a:prstGeom prst="rect">
            <a:avLst/>
          </a:prstGeom>
        </p:spPr>
      </p:pic>
      <p:pic>
        <p:nvPicPr>
          <p:cNvPr id="104" name="Morph 28" descr="f028.png"/>
          <p:cNvPicPr>
            <a:picLocks noChangeAspect="1"/>
          </p:cNvPicPr>
          <p:nvPr/>
        </p:nvPicPr>
        <p:blipFill>
          <a:blip r:embed="rId31"/>
          <a:stretch>
            <a:fillRect/>
          </a:stretch>
        </p:blipFill>
        <p:spPr>
          <a:xfrm>
            <a:off x="0" y="0"/>
            <a:ext cx="12192000" cy="6858000"/>
          </a:xfrm>
          <a:prstGeom prst="rect">
            <a:avLst/>
          </a:prstGeom>
        </p:spPr>
      </p:pic>
      <p:pic>
        <p:nvPicPr>
          <p:cNvPr id="105" name="Morph 29" descr="f029.png"/>
          <p:cNvPicPr>
            <a:picLocks noChangeAspect="1"/>
          </p:cNvPicPr>
          <p:nvPr/>
        </p:nvPicPr>
        <p:blipFill>
          <a:blip r:embed="rId32"/>
          <a:stretch>
            <a:fillRect/>
          </a:stretch>
        </p:blipFill>
        <p:spPr>
          <a:xfrm>
            <a:off x="0" y="0"/>
            <a:ext cx="12192000" cy="6858000"/>
          </a:xfrm>
          <a:prstGeom prst="rect">
            <a:avLst/>
          </a:prstGeom>
        </p:spPr>
      </p:pic>
      <p:pic>
        <p:nvPicPr>
          <p:cNvPr id="106" name="Morph 30" descr="f030.png"/>
          <p:cNvPicPr>
            <a:picLocks noChangeAspect="1"/>
          </p:cNvPicPr>
          <p:nvPr/>
        </p:nvPicPr>
        <p:blipFill>
          <a:blip r:embed="rId33"/>
          <a:stretch>
            <a:fillRect/>
          </a:stretch>
        </p:blipFill>
        <p:spPr>
          <a:xfrm>
            <a:off x="0" y="0"/>
            <a:ext cx="12192000" cy="6858000"/>
          </a:xfrm>
          <a:prstGeom prst="rect">
            <a:avLst/>
          </a:prstGeom>
        </p:spPr>
      </p:pic>
      <p:pic>
        <p:nvPicPr>
          <p:cNvPr id="107" name="Morph 31" descr="f031.png"/>
          <p:cNvPicPr>
            <a:picLocks noChangeAspect="1"/>
          </p:cNvPicPr>
          <p:nvPr/>
        </p:nvPicPr>
        <p:blipFill>
          <a:blip r:embed="rId34"/>
          <a:stretch>
            <a:fillRect/>
          </a:stretch>
        </p:blipFill>
        <p:spPr>
          <a:xfrm>
            <a:off x="0" y="0"/>
            <a:ext cx="12192000" cy="6858000"/>
          </a:xfrm>
          <a:prstGeom prst="rect">
            <a:avLst/>
          </a:prstGeom>
        </p:spPr>
      </p:pic>
      <p:pic>
        <p:nvPicPr>
          <p:cNvPr id="108" name="Morph 32" descr="f032.png"/>
          <p:cNvPicPr>
            <a:picLocks noChangeAspect="1"/>
          </p:cNvPicPr>
          <p:nvPr/>
        </p:nvPicPr>
        <p:blipFill>
          <a:blip r:embed="rId35"/>
          <a:stretch>
            <a:fillRect/>
          </a:stretch>
        </p:blipFill>
        <p:spPr>
          <a:xfrm>
            <a:off x="0" y="0"/>
            <a:ext cx="12192000" cy="6858000"/>
          </a:xfrm>
          <a:prstGeom prst="rect">
            <a:avLst/>
          </a:prstGeom>
        </p:spPr>
      </p:pic>
      <p:pic>
        <p:nvPicPr>
          <p:cNvPr id="109" name="Morph 33" descr="f033.png"/>
          <p:cNvPicPr>
            <a:picLocks noChangeAspect="1"/>
          </p:cNvPicPr>
          <p:nvPr/>
        </p:nvPicPr>
        <p:blipFill>
          <a:blip r:embed="rId36"/>
          <a:stretch>
            <a:fillRect/>
          </a:stretch>
        </p:blipFill>
        <p:spPr>
          <a:xfrm>
            <a:off x="0" y="0"/>
            <a:ext cx="12192000" cy="6858000"/>
          </a:xfrm>
          <a:prstGeom prst="rect">
            <a:avLst/>
          </a:prstGeom>
        </p:spPr>
      </p:pic>
      <p:pic>
        <p:nvPicPr>
          <p:cNvPr id="110" name="Morph 34" descr="f034.png"/>
          <p:cNvPicPr>
            <a:picLocks noChangeAspect="1"/>
          </p:cNvPicPr>
          <p:nvPr/>
        </p:nvPicPr>
        <p:blipFill>
          <a:blip r:embed="rId37"/>
          <a:stretch>
            <a:fillRect/>
          </a:stretch>
        </p:blipFill>
        <p:spPr>
          <a:xfrm>
            <a:off x="0" y="0"/>
            <a:ext cx="12192000" cy="6858000"/>
          </a:xfrm>
          <a:prstGeom prst="rect">
            <a:avLst/>
          </a:prstGeom>
        </p:spPr>
      </p:pic>
      <p:pic>
        <p:nvPicPr>
          <p:cNvPr id="111" name="Morph 35" descr="f035.png"/>
          <p:cNvPicPr>
            <a:picLocks noChangeAspect="1"/>
          </p:cNvPicPr>
          <p:nvPr/>
        </p:nvPicPr>
        <p:blipFill>
          <a:blip r:embed="rId38"/>
          <a:stretch>
            <a:fillRect/>
          </a:stretch>
        </p:blipFill>
        <p:spPr>
          <a:xfrm>
            <a:off x="0" y="0"/>
            <a:ext cx="12192000" cy="6858000"/>
          </a:xfrm>
          <a:prstGeom prst="rect">
            <a:avLst/>
          </a:prstGeom>
        </p:spPr>
      </p:pic>
    </p:spTree>
    <p:extLst>
      <p:ext uri="{BB962C8B-B14F-4D97-AF65-F5344CB8AC3E}">
        <p14:creationId xmlns:p14="http://schemas.microsoft.com/office/powerpoint/2010/main" val="349603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dur="3855" repeatCount="indefinite"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nodeType="withEffect">
                                  <p:stCondLst>
                                    <p:cond delay="90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xit" presetSubtype="0" fill="hold" nodeType="withEffect">
                                  <p:stCondLst>
                                    <p:cond delay="900"/>
                                  </p:stCondLst>
                                  <p:childTnLst>
                                    <p:set>
                                      <p:cBhvr>
                                        <p:cTn id="10" dur="1" fill="hold">
                                          <p:stCondLst>
                                            <p:cond delay="0"/>
                                          </p:stCondLst>
                                        </p:cTn>
                                        <p:tgtEl>
                                          <p:spTgt spid="76"/>
                                        </p:tgtEl>
                                        <p:attrNameLst>
                                          <p:attrName>style.visibility</p:attrName>
                                        </p:attrNameLst>
                                      </p:cBhvr>
                                      <p:to>
                                        <p:strVal val="hidden"/>
                                      </p:to>
                                    </p:set>
                                  </p:childTnLst>
                                </p:cTn>
                              </p:par>
                              <p:par>
                                <p:cTn id="11" presetID="1" presetClass="entr" presetSubtype="0" fill="hold" nodeType="withEffect">
                                  <p:stCondLst>
                                    <p:cond delay="935"/>
                                  </p:stCondLst>
                                  <p:childTnLst>
                                    <p:set>
                                      <p:cBhvr>
                                        <p:cTn id="12" dur="1" fill="hold">
                                          <p:stCondLst>
                                            <p:cond delay="0"/>
                                          </p:stCondLst>
                                        </p:cTn>
                                        <p:tgtEl>
                                          <p:spTgt spid="78"/>
                                        </p:tgtEl>
                                        <p:attrNameLst>
                                          <p:attrName>style.visibility</p:attrName>
                                        </p:attrNameLst>
                                      </p:cBhvr>
                                      <p:to>
                                        <p:strVal val="visible"/>
                                      </p:to>
                                    </p:set>
                                  </p:childTnLst>
                                </p:cTn>
                              </p:par>
                              <p:par>
                                <p:cTn id="13" presetID="1" presetClass="exit" presetSubtype="0" fill="hold" nodeType="withEffect">
                                  <p:stCondLst>
                                    <p:cond delay="935"/>
                                  </p:stCondLst>
                                  <p:childTnLst>
                                    <p:set>
                                      <p:cBhvr>
                                        <p:cTn id="14" dur="1" fill="hold">
                                          <p:stCondLst>
                                            <p:cond delay="0"/>
                                          </p:stCondLst>
                                        </p:cTn>
                                        <p:tgtEl>
                                          <p:spTgt spid="77"/>
                                        </p:tgtEl>
                                        <p:attrNameLst>
                                          <p:attrName>style.visibility</p:attrName>
                                        </p:attrNameLst>
                                      </p:cBhvr>
                                      <p:to>
                                        <p:strVal val="hidden"/>
                                      </p:to>
                                    </p:set>
                                  </p:childTnLst>
                                </p:cTn>
                              </p:par>
                              <p:par>
                                <p:cTn id="15" presetID="1" presetClass="entr" presetSubtype="0" fill="hold" nodeType="withEffect">
                                  <p:stCondLst>
                                    <p:cond delay="970"/>
                                  </p:stCondLst>
                                  <p:childTnLst>
                                    <p:set>
                                      <p:cBhvr>
                                        <p:cTn id="16" dur="1" fill="hold">
                                          <p:stCondLst>
                                            <p:cond delay="0"/>
                                          </p:stCondLst>
                                        </p:cTn>
                                        <p:tgtEl>
                                          <p:spTgt spid="79"/>
                                        </p:tgtEl>
                                        <p:attrNameLst>
                                          <p:attrName>style.visibility</p:attrName>
                                        </p:attrNameLst>
                                      </p:cBhvr>
                                      <p:to>
                                        <p:strVal val="visible"/>
                                      </p:to>
                                    </p:set>
                                  </p:childTnLst>
                                </p:cTn>
                              </p:par>
                              <p:par>
                                <p:cTn id="17" presetID="1" presetClass="exit" presetSubtype="0" fill="hold" nodeType="withEffect">
                                  <p:stCondLst>
                                    <p:cond delay="970"/>
                                  </p:stCondLst>
                                  <p:childTnLst>
                                    <p:set>
                                      <p:cBhvr>
                                        <p:cTn id="18" dur="1" fill="hold">
                                          <p:stCondLst>
                                            <p:cond delay="0"/>
                                          </p:stCondLst>
                                        </p:cTn>
                                        <p:tgtEl>
                                          <p:spTgt spid="78"/>
                                        </p:tgtEl>
                                        <p:attrNameLst>
                                          <p:attrName>style.visibility</p:attrName>
                                        </p:attrNameLst>
                                      </p:cBhvr>
                                      <p:to>
                                        <p:strVal val="hidden"/>
                                      </p:to>
                                    </p:set>
                                  </p:childTnLst>
                                </p:cTn>
                              </p:par>
                              <p:par>
                                <p:cTn id="19" presetID="1" presetClass="entr" presetSubtype="0" fill="hold" nodeType="withEffect">
                                  <p:stCondLst>
                                    <p:cond delay="1005"/>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xit" presetSubtype="0" fill="hold" nodeType="withEffect">
                                  <p:stCondLst>
                                    <p:cond delay="1005"/>
                                  </p:stCondLst>
                                  <p:childTnLst>
                                    <p:set>
                                      <p:cBhvr>
                                        <p:cTn id="22" dur="1" fill="hold">
                                          <p:stCondLst>
                                            <p:cond delay="0"/>
                                          </p:stCondLst>
                                        </p:cTn>
                                        <p:tgtEl>
                                          <p:spTgt spid="79"/>
                                        </p:tgtEl>
                                        <p:attrNameLst>
                                          <p:attrName>style.visibility</p:attrName>
                                        </p:attrNameLst>
                                      </p:cBhvr>
                                      <p:to>
                                        <p:strVal val="hidden"/>
                                      </p:to>
                                    </p:set>
                                  </p:childTnLst>
                                </p:cTn>
                              </p:par>
                              <p:par>
                                <p:cTn id="23" presetID="1" presetClass="entr" presetSubtype="0" fill="hold" nodeType="withEffect">
                                  <p:stCondLst>
                                    <p:cond delay="1040"/>
                                  </p:stCondLst>
                                  <p:childTnLst>
                                    <p:set>
                                      <p:cBhvr>
                                        <p:cTn id="24" dur="1" fill="hold">
                                          <p:stCondLst>
                                            <p:cond delay="0"/>
                                          </p:stCondLst>
                                        </p:cTn>
                                        <p:tgtEl>
                                          <p:spTgt spid="81"/>
                                        </p:tgtEl>
                                        <p:attrNameLst>
                                          <p:attrName>style.visibility</p:attrName>
                                        </p:attrNameLst>
                                      </p:cBhvr>
                                      <p:to>
                                        <p:strVal val="visible"/>
                                      </p:to>
                                    </p:set>
                                  </p:childTnLst>
                                </p:cTn>
                              </p:par>
                              <p:par>
                                <p:cTn id="25" presetID="1" presetClass="exit" presetSubtype="0" fill="hold" nodeType="withEffect">
                                  <p:stCondLst>
                                    <p:cond delay="1040"/>
                                  </p:stCondLst>
                                  <p:childTnLst>
                                    <p:set>
                                      <p:cBhvr>
                                        <p:cTn id="26" dur="1" fill="hold">
                                          <p:stCondLst>
                                            <p:cond delay="0"/>
                                          </p:stCondLst>
                                        </p:cTn>
                                        <p:tgtEl>
                                          <p:spTgt spid="80"/>
                                        </p:tgtEl>
                                        <p:attrNameLst>
                                          <p:attrName>style.visibility</p:attrName>
                                        </p:attrNameLst>
                                      </p:cBhvr>
                                      <p:to>
                                        <p:strVal val="hidden"/>
                                      </p:to>
                                    </p:set>
                                  </p:childTnLst>
                                </p:cTn>
                              </p:par>
                              <p:par>
                                <p:cTn id="27" presetID="1" presetClass="entr" presetSubtype="0" fill="hold" nodeType="withEffect">
                                  <p:stCondLst>
                                    <p:cond delay="1075"/>
                                  </p:stCondLst>
                                  <p:childTnLst>
                                    <p:set>
                                      <p:cBhvr>
                                        <p:cTn id="28" dur="1" fill="hold">
                                          <p:stCondLst>
                                            <p:cond delay="0"/>
                                          </p:stCondLst>
                                        </p:cTn>
                                        <p:tgtEl>
                                          <p:spTgt spid="82"/>
                                        </p:tgtEl>
                                        <p:attrNameLst>
                                          <p:attrName>style.visibility</p:attrName>
                                        </p:attrNameLst>
                                      </p:cBhvr>
                                      <p:to>
                                        <p:strVal val="visible"/>
                                      </p:to>
                                    </p:set>
                                  </p:childTnLst>
                                </p:cTn>
                              </p:par>
                              <p:par>
                                <p:cTn id="29" presetID="1" presetClass="exit" presetSubtype="0" fill="hold" nodeType="withEffect">
                                  <p:stCondLst>
                                    <p:cond delay="1075"/>
                                  </p:stCondLst>
                                  <p:childTnLst>
                                    <p:set>
                                      <p:cBhvr>
                                        <p:cTn id="30" dur="1" fill="hold">
                                          <p:stCondLst>
                                            <p:cond delay="0"/>
                                          </p:stCondLst>
                                        </p:cTn>
                                        <p:tgtEl>
                                          <p:spTgt spid="81"/>
                                        </p:tgtEl>
                                        <p:attrNameLst>
                                          <p:attrName>style.visibility</p:attrName>
                                        </p:attrNameLst>
                                      </p:cBhvr>
                                      <p:to>
                                        <p:strVal val="hidden"/>
                                      </p:to>
                                    </p:set>
                                  </p:childTnLst>
                                </p:cTn>
                              </p:par>
                              <p:par>
                                <p:cTn id="31" presetID="1" presetClass="entr" presetSubtype="0" fill="hold" nodeType="withEffect">
                                  <p:stCondLst>
                                    <p:cond delay="111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xit" presetSubtype="0" fill="hold" nodeType="withEffect">
                                  <p:stCondLst>
                                    <p:cond delay="1110"/>
                                  </p:stCondLst>
                                  <p:childTnLst>
                                    <p:set>
                                      <p:cBhvr>
                                        <p:cTn id="34" dur="1" fill="hold">
                                          <p:stCondLst>
                                            <p:cond delay="0"/>
                                          </p:stCondLst>
                                        </p:cTn>
                                        <p:tgtEl>
                                          <p:spTgt spid="82"/>
                                        </p:tgtEl>
                                        <p:attrNameLst>
                                          <p:attrName>style.visibility</p:attrName>
                                        </p:attrNameLst>
                                      </p:cBhvr>
                                      <p:to>
                                        <p:strVal val="hidden"/>
                                      </p:to>
                                    </p:set>
                                  </p:childTnLst>
                                </p:cTn>
                              </p:par>
                              <p:par>
                                <p:cTn id="35" presetID="1" presetClass="entr" presetSubtype="0" fill="hold" nodeType="withEffect">
                                  <p:stCondLst>
                                    <p:cond delay="1145"/>
                                  </p:stCondLst>
                                  <p:childTnLst>
                                    <p:set>
                                      <p:cBhvr>
                                        <p:cTn id="36" dur="1" fill="hold">
                                          <p:stCondLst>
                                            <p:cond delay="0"/>
                                          </p:stCondLst>
                                        </p:cTn>
                                        <p:tgtEl>
                                          <p:spTgt spid="84"/>
                                        </p:tgtEl>
                                        <p:attrNameLst>
                                          <p:attrName>style.visibility</p:attrName>
                                        </p:attrNameLst>
                                      </p:cBhvr>
                                      <p:to>
                                        <p:strVal val="visible"/>
                                      </p:to>
                                    </p:set>
                                  </p:childTnLst>
                                </p:cTn>
                              </p:par>
                              <p:par>
                                <p:cTn id="37" presetID="1" presetClass="exit" presetSubtype="0" fill="hold" nodeType="withEffect">
                                  <p:stCondLst>
                                    <p:cond delay="1145"/>
                                  </p:stCondLst>
                                  <p:childTnLst>
                                    <p:set>
                                      <p:cBhvr>
                                        <p:cTn id="38" dur="1" fill="hold">
                                          <p:stCondLst>
                                            <p:cond delay="0"/>
                                          </p:stCondLst>
                                        </p:cTn>
                                        <p:tgtEl>
                                          <p:spTgt spid="83"/>
                                        </p:tgtEl>
                                        <p:attrNameLst>
                                          <p:attrName>style.visibility</p:attrName>
                                        </p:attrNameLst>
                                      </p:cBhvr>
                                      <p:to>
                                        <p:strVal val="hidden"/>
                                      </p:to>
                                    </p:set>
                                  </p:childTnLst>
                                </p:cTn>
                              </p:par>
                              <p:par>
                                <p:cTn id="39" presetID="1" presetClass="entr" presetSubtype="0" fill="hold" nodeType="withEffect">
                                  <p:stCondLst>
                                    <p:cond delay="118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xit" presetSubtype="0" fill="hold" nodeType="withEffect">
                                  <p:stCondLst>
                                    <p:cond delay="1180"/>
                                  </p:stCondLst>
                                  <p:childTnLst>
                                    <p:set>
                                      <p:cBhvr>
                                        <p:cTn id="42" dur="1" fill="hold">
                                          <p:stCondLst>
                                            <p:cond delay="0"/>
                                          </p:stCondLst>
                                        </p:cTn>
                                        <p:tgtEl>
                                          <p:spTgt spid="84"/>
                                        </p:tgtEl>
                                        <p:attrNameLst>
                                          <p:attrName>style.visibility</p:attrName>
                                        </p:attrNameLst>
                                      </p:cBhvr>
                                      <p:to>
                                        <p:strVal val="hidden"/>
                                      </p:to>
                                    </p:set>
                                  </p:childTnLst>
                                </p:cTn>
                              </p:par>
                              <p:par>
                                <p:cTn id="43" presetID="1" presetClass="entr" presetSubtype="0" fill="hold" nodeType="withEffect">
                                  <p:stCondLst>
                                    <p:cond delay="1215"/>
                                  </p:stCondLst>
                                  <p:childTnLst>
                                    <p:set>
                                      <p:cBhvr>
                                        <p:cTn id="44" dur="1" fill="hold">
                                          <p:stCondLst>
                                            <p:cond delay="0"/>
                                          </p:stCondLst>
                                        </p:cTn>
                                        <p:tgtEl>
                                          <p:spTgt spid="86"/>
                                        </p:tgtEl>
                                        <p:attrNameLst>
                                          <p:attrName>style.visibility</p:attrName>
                                        </p:attrNameLst>
                                      </p:cBhvr>
                                      <p:to>
                                        <p:strVal val="visible"/>
                                      </p:to>
                                    </p:set>
                                  </p:childTnLst>
                                </p:cTn>
                              </p:par>
                              <p:par>
                                <p:cTn id="45" presetID="1" presetClass="exit" presetSubtype="0" fill="hold" nodeType="withEffect">
                                  <p:stCondLst>
                                    <p:cond delay="1215"/>
                                  </p:stCondLst>
                                  <p:childTnLst>
                                    <p:set>
                                      <p:cBhvr>
                                        <p:cTn id="46" dur="1" fill="hold">
                                          <p:stCondLst>
                                            <p:cond delay="0"/>
                                          </p:stCondLst>
                                        </p:cTn>
                                        <p:tgtEl>
                                          <p:spTgt spid="85"/>
                                        </p:tgtEl>
                                        <p:attrNameLst>
                                          <p:attrName>style.visibility</p:attrName>
                                        </p:attrNameLst>
                                      </p:cBhvr>
                                      <p:to>
                                        <p:strVal val="hidden"/>
                                      </p:to>
                                    </p:set>
                                  </p:childTnLst>
                                </p:cTn>
                              </p:par>
                              <p:par>
                                <p:cTn id="47" presetID="1" presetClass="entr" presetSubtype="0" fill="hold" nodeType="withEffect">
                                  <p:stCondLst>
                                    <p:cond delay="1250"/>
                                  </p:stCondLst>
                                  <p:childTnLst>
                                    <p:set>
                                      <p:cBhvr>
                                        <p:cTn id="48" dur="1" fill="hold">
                                          <p:stCondLst>
                                            <p:cond delay="0"/>
                                          </p:stCondLst>
                                        </p:cTn>
                                        <p:tgtEl>
                                          <p:spTgt spid="87"/>
                                        </p:tgtEl>
                                        <p:attrNameLst>
                                          <p:attrName>style.visibility</p:attrName>
                                        </p:attrNameLst>
                                      </p:cBhvr>
                                      <p:to>
                                        <p:strVal val="visible"/>
                                      </p:to>
                                    </p:set>
                                  </p:childTnLst>
                                </p:cTn>
                              </p:par>
                              <p:par>
                                <p:cTn id="49" presetID="1" presetClass="exit" presetSubtype="0" fill="hold" nodeType="withEffect">
                                  <p:stCondLst>
                                    <p:cond delay="1250"/>
                                  </p:stCondLst>
                                  <p:childTnLst>
                                    <p:set>
                                      <p:cBhvr>
                                        <p:cTn id="50" dur="1" fill="hold">
                                          <p:stCondLst>
                                            <p:cond delay="0"/>
                                          </p:stCondLst>
                                        </p:cTn>
                                        <p:tgtEl>
                                          <p:spTgt spid="86"/>
                                        </p:tgtEl>
                                        <p:attrNameLst>
                                          <p:attrName>style.visibility</p:attrName>
                                        </p:attrNameLst>
                                      </p:cBhvr>
                                      <p:to>
                                        <p:strVal val="hidden"/>
                                      </p:to>
                                    </p:set>
                                  </p:childTnLst>
                                </p:cTn>
                              </p:par>
                              <p:par>
                                <p:cTn id="51" presetID="1" presetClass="entr" presetSubtype="0" fill="hold" nodeType="withEffect">
                                  <p:stCondLst>
                                    <p:cond delay="1285"/>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xit" presetSubtype="0" fill="hold" nodeType="withEffect">
                                  <p:stCondLst>
                                    <p:cond delay="1285"/>
                                  </p:stCondLst>
                                  <p:childTnLst>
                                    <p:set>
                                      <p:cBhvr>
                                        <p:cTn id="54" dur="1" fill="hold">
                                          <p:stCondLst>
                                            <p:cond delay="0"/>
                                          </p:stCondLst>
                                        </p:cTn>
                                        <p:tgtEl>
                                          <p:spTgt spid="87"/>
                                        </p:tgtEl>
                                        <p:attrNameLst>
                                          <p:attrName>style.visibility</p:attrName>
                                        </p:attrNameLst>
                                      </p:cBhvr>
                                      <p:to>
                                        <p:strVal val="hidden"/>
                                      </p:to>
                                    </p:set>
                                  </p:childTnLst>
                                </p:cTn>
                              </p:par>
                              <p:par>
                                <p:cTn id="55" presetID="1" presetClass="entr" presetSubtype="0" fill="hold" nodeType="withEffect">
                                  <p:stCondLst>
                                    <p:cond delay="2185"/>
                                  </p:stCondLst>
                                  <p:childTnLst>
                                    <p:set>
                                      <p:cBhvr>
                                        <p:cTn id="56" dur="1" fill="hold">
                                          <p:stCondLst>
                                            <p:cond delay="0"/>
                                          </p:stCondLst>
                                        </p:cTn>
                                        <p:tgtEl>
                                          <p:spTgt spid="89"/>
                                        </p:tgtEl>
                                        <p:attrNameLst>
                                          <p:attrName>style.visibility</p:attrName>
                                        </p:attrNameLst>
                                      </p:cBhvr>
                                      <p:to>
                                        <p:strVal val="visible"/>
                                      </p:to>
                                    </p:set>
                                  </p:childTnLst>
                                </p:cTn>
                              </p:par>
                              <p:par>
                                <p:cTn id="57" presetID="1" presetClass="exit" presetSubtype="0" fill="hold" nodeType="withEffect">
                                  <p:stCondLst>
                                    <p:cond delay="2185"/>
                                  </p:stCondLst>
                                  <p:childTnLst>
                                    <p:set>
                                      <p:cBhvr>
                                        <p:cTn id="58" dur="1" fill="hold">
                                          <p:stCondLst>
                                            <p:cond delay="0"/>
                                          </p:stCondLst>
                                        </p:cTn>
                                        <p:tgtEl>
                                          <p:spTgt spid="88"/>
                                        </p:tgtEl>
                                        <p:attrNameLst>
                                          <p:attrName>style.visibility</p:attrName>
                                        </p:attrNameLst>
                                      </p:cBhvr>
                                      <p:to>
                                        <p:strVal val="hidden"/>
                                      </p:to>
                                    </p:set>
                                  </p:childTnLst>
                                </p:cTn>
                              </p:par>
                              <p:par>
                                <p:cTn id="59" presetID="1" presetClass="entr" presetSubtype="0" fill="hold" nodeType="withEffect">
                                  <p:stCondLst>
                                    <p:cond delay="2220"/>
                                  </p:stCondLst>
                                  <p:childTnLst>
                                    <p:set>
                                      <p:cBhvr>
                                        <p:cTn id="60" dur="1" fill="hold">
                                          <p:stCondLst>
                                            <p:cond delay="0"/>
                                          </p:stCondLst>
                                        </p:cTn>
                                        <p:tgtEl>
                                          <p:spTgt spid="90"/>
                                        </p:tgtEl>
                                        <p:attrNameLst>
                                          <p:attrName>style.visibility</p:attrName>
                                        </p:attrNameLst>
                                      </p:cBhvr>
                                      <p:to>
                                        <p:strVal val="visible"/>
                                      </p:to>
                                    </p:set>
                                  </p:childTnLst>
                                </p:cTn>
                              </p:par>
                              <p:par>
                                <p:cTn id="61" presetID="1" presetClass="exit" presetSubtype="0" fill="hold" nodeType="withEffect">
                                  <p:stCondLst>
                                    <p:cond delay="2220"/>
                                  </p:stCondLst>
                                  <p:childTnLst>
                                    <p:set>
                                      <p:cBhvr>
                                        <p:cTn id="62" dur="1" fill="hold">
                                          <p:stCondLst>
                                            <p:cond delay="0"/>
                                          </p:stCondLst>
                                        </p:cTn>
                                        <p:tgtEl>
                                          <p:spTgt spid="89"/>
                                        </p:tgtEl>
                                        <p:attrNameLst>
                                          <p:attrName>style.visibility</p:attrName>
                                        </p:attrNameLst>
                                      </p:cBhvr>
                                      <p:to>
                                        <p:strVal val="hidden"/>
                                      </p:to>
                                    </p:set>
                                  </p:childTnLst>
                                </p:cTn>
                              </p:par>
                              <p:par>
                                <p:cTn id="63" presetID="1" presetClass="entr" presetSubtype="0" fill="hold" nodeType="withEffect">
                                  <p:stCondLst>
                                    <p:cond delay="2255"/>
                                  </p:stCondLst>
                                  <p:childTnLst>
                                    <p:set>
                                      <p:cBhvr>
                                        <p:cTn id="64" dur="1" fill="hold">
                                          <p:stCondLst>
                                            <p:cond delay="0"/>
                                          </p:stCondLst>
                                        </p:cTn>
                                        <p:tgtEl>
                                          <p:spTgt spid="91"/>
                                        </p:tgtEl>
                                        <p:attrNameLst>
                                          <p:attrName>style.visibility</p:attrName>
                                        </p:attrNameLst>
                                      </p:cBhvr>
                                      <p:to>
                                        <p:strVal val="visible"/>
                                      </p:to>
                                    </p:set>
                                  </p:childTnLst>
                                </p:cTn>
                              </p:par>
                              <p:par>
                                <p:cTn id="65" presetID="1" presetClass="exit" presetSubtype="0" fill="hold" nodeType="withEffect">
                                  <p:stCondLst>
                                    <p:cond delay="2255"/>
                                  </p:stCondLst>
                                  <p:childTnLst>
                                    <p:set>
                                      <p:cBhvr>
                                        <p:cTn id="66" dur="1" fill="hold">
                                          <p:stCondLst>
                                            <p:cond delay="0"/>
                                          </p:stCondLst>
                                        </p:cTn>
                                        <p:tgtEl>
                                          <p:spTgt spid="90"/>
                                        </p:tgtEl>
                                        <p:attrNameLst>
                                          <p:attrName>style.visibility</p:attrName>
                                        </p:attrNameLst>
                                      </p:cBhvr>
                                      <p:to>
                                        <p:strVal val="hidden"/>
                                      </p:to>
                                    </p:set>
                                  </p:childTnLst>
                                </p:cTn>
                              </p:par>
                              <p:par>
                                <p:cTn id="67" presetID="1" presetClass="entr" presetSubtype="0" fill="hold" nodeType="withEffect">
                                  <p:stCondLst>
                                    <p:cond delay="2290"/>
                                  </p:stCondLst>
                                  <p:childTnLst>
                                    <p:set>
                                      <p:cBhvr>
                                        <p:cTn id="68" dur="1" fill="hold">
                                          <p:stCondLst>
                                            <p:cond delay="0"/>
                                          </p:stCondLst>
                                        </p:cTn>
                                        <p:tgtEl>
                                          <p:spTgt spid="92"/>
                                        </p:tgtEl>
                                        <p:attrNameLst>
                                          <p:attrName>style.visibility</p:attrName>
                                        </p:attrNameLst>
                                      </p:cBhvr>
                                      <p:to>
                                        <p:strVal val="visible"/>
                                      </p:to>
                                    </p:set>
                                  </p:childTnLst>
                                </p:cTn>
                              </p:par>
                              <p:par>
                                <p:cTn id="69" presetID="1" presetClass="exit" presetSubtype="0" fill="hold" nodeType="withEffect">
                                  <p:stCondLst>
                                    <p:cond delay="2290"/>
                                  </p:stCondLst>
                                  <p:childTnLst>
                                    <p:set>
                                      <p:cBhvr>
                                        <p:cTn id="70" dur="1" fill="hold">
                                          <p:stCondLst>
                                            <p:cond delay="0"/>
                                          </p:stCondLst>
                                        </p:cTn>
                                        <p:tgtEl>
                                          <p:spTgt spid="91"/>
                                        </p:tgtEl>
                                        <p:attrNameLst>
                                          <p:attrName>style.visibility</p:attrName>
                                        </p:attrNameLst>
                                      </p:cBhvr>
                                      <p:to>
                                        <p:strVal val="hidden"/>
                                      </p:to>
                                    </p:set>
                                  </p:childTnLst>
                                </p:cTn>
                              </p:par>
                              <p:par>
                                <p:cTn id="71" presetID="1" presetClass="entr" presetSubtype="0" fill="hold" nodeType="withEffect">
                                  <p:stCondLst>
                                    <p:cond delay="2325"/>
                                  </p:stCondLst>
                                  <p:childTnLst>
                                    <p:set>
                                      <p:cBhvr>
                                        <p:cTn id="72" dur="1" fill="hold">
                                          <p:stCondLst>
                                            <p:cond delay="0"/>
                                          </p:stCondLst>
                                        </p:cTn>
                                        <p:tgtEl>
                                          <p:spTgt spid="93"/>
                                        </p:tgtEl>
                                        <p:attrNameLst>
                                          <p:attrName>style.visibility</p:attrName>
                                        </p:attrNameLst>
                                      </p:cBhvr>
                                      <p:to>
                                        <p:strVal val="visible"/>
                                      </p:to>
                                    </p:set>
                                  </p:childTnLst>
                                </p:cTn>
                              </p:par>
                              <p:par>
                                <p:cTn id="73" presetID="1" presetClass="exit" presetSubtype="0" fill="hold" nodeType="withEffect">
                                  <p:stCondLst>
                                    <p:cond delay="2325"/>
                                  </p:stCondLst>
                                  <p:childTnLst>
                                    <p:set>
                                      <p:cBhvr>
                                        <p:cTn id="74" dur="1" fill="hold">
                                          <p:stCondLst>
                                            <p:cond delay="0"/>
                                          </p:stCondLst>
                                        </p:cTn>
                                        <p:tgtEl>
                                          <p:spTgt spid="92"/>
                                        </p:tgtEl>
                                        <p:attrNameLst>
                                          <p:attrName>style.visibility</p:attrName>
                                        </p:attrNameLst>
                                      </p:cBhvr>
                                      <p:to>
                                        <p:strVal val="hidden"/>
                                      </p:to>
                                    </p:set>
                                  </p:childTnLst>
                                </p:cTn>
                              </p:par>
                              <p:par>
                                <p:cTn id="75" presetID="1" presetClass="entr" presetSubtype="0" fill="hold" nodeType="withEffect">
                                  <p:stCondLst>
                                    <p:cond delay="2360"/>
                                  </p:stCondLst>
                                  <p:childTnLst>
                                    <p:set>
                                      <p:cBhvr>
                                        <p:cTn id="76" dur="1" fill="hold">
                                          <p:stCondLst>
                                            <p:cond delay="0"/>
                                          </p:stCondLst>
                                        </p:cTn>
                                        <p:tgtEl>
                                          <p:spTgt spid="94"/>
                                        </p:tgtEl>
                                        <p:attrNameLst>
                                          <p:attrName>style.visibility</p:attrName>
                                        </p:attrNameLst>
                                      </p:cBhvr>
                                      <p:to>
                                        <p:strVal val="visible"/>
                                      </p:to>
                                    </p:set>
                                  </p:childTnLst>
                                </p:cTn>
                              </p:par>
                              <p:par>
                                <p:cTn id="77" presetID="1" presetClass="exit" presetSubtype="0" fill="hold" nodeType="withEffect">
                                  <p:stCondLst>
                                    <p:cond delay="2360"/>
                                  </p:stCondLst>
                                  <p:childTnLst>
                                    <p:set>
                                      <p:cBhvr>
                                        <p:cTn id="78" dur="1" fill="hold">
                                          <p:stCondLst>
                                            <p:cond delay="0"/>
                                          </p:stCondLst>
                                        </p:cTn>
                                        <p:tgtEl>
                                          <p:spTgt spid="93"/>
                                        </p:tgtEl>
                                        <p:attrNameLst>
                                          <p:attrName>style.visibility</p:attrName>
                                        </p:attrNameLst>
                                      </p:cBhvr>
                                      <p:to>
                                        <p:strVal val="hidden"/>
                                      </p:to>
                                    </p:set>
                                  </p:childTnLst>
                                </p:cTn>
                              </p:par>
                              <p:par>
                                <p:cTn id="79" presetID="1" presetClass="entr" presetSubtype="0" fill="hold" nodeType="withEffect">
                                  <p:stCondLst>
                                    <p:cond delay="2395"/>
                                  </p:stCondLst>
                                  <p:childTnLst>
                                    <p:set>
                                      <p:cBhvr>
                                        <p:cTn id="80" dur="1" fill="hold">
                                          <p:stCondLst>
                                            <p:cond delay="0"/>
                                          </p:stCondLst>
                                        </p:cTn>
                                        <p:tgtEl>
                                          <p:spTgt spid="95"/>
                                        </p:tgtEl>
                                        <p:attrNameLst>
                                          <p:attrName>style.visibility</p:attrName>
                                        </p:attrNameLst>
                                      </p:cBhvr>
                                      <p:to>
                                        <p:strVal val="visible"/>
                                      </p:to>
                                    </p:set>
                                  </p:childTnLst>
                                </p:cTn>
                              </p:par>
                              <p:par>
                                <p:cTn id="81" presetID="1" presetClass="exit" presetSubtype="0" fill="hold" nodeType="withEffect">
                                  <p:stCondLst>
                                    <p:cond delay="2395"/>
                                  </p:stCondLst>
                                  <p:childTnLst>
                                    <p:set>
                                      <p:cBhvr>
                                        <p:cTn id="82" dur="1" fill="hold">
                                          <p:stCondLst>
                                            <p:cond delay="0"/>
                                          </p:stCondLst>
                                        </p:cTn>
                                        <p:tgtEl>
                                          <p:spTgt spid="94"/>
                                        </p:tgtEl>
                                        <p:attrNameLst>
                                          <p:attrName>style.visibility</p:attrName>
                                        </p:attrNameLst>
                                      </p:cBhvr>
                                      <p:to>
                                        <p:strVal val="hidden"/>
                                      </p:to>
                                    </p:set>
                                  </p:childTnLst>
                                </p:cTn>
                              </p:par>
                              <p:par>
                                <p:cTn id="83" presetID="1" presetClass="entr" presetSubtype="0" fill="hold" nodeType="withEffect">
                                  <p:stCondLst>
                                    <p:cond delay="2430"/>
                                  </p:stCondLst>
                                  <p:childTnLst>
                                    <p:set>
                                      <p:cBhvr>
                                        <p:cTn id="84" dur="1" fill="hold">
                                          <p:stCondLst>
                                            <p:cond delay="0"/>
                                          </p:stCondLst>
                                        </p:cTn>
                                        <p:tgtEl>
                                          <p:spTgt spid="96"/>
                                        </p:tgtEl>
                                        <p:attrNameLst>
                                          <p:attrName>style.visibility</p:attrName>
                                        </p:attrNameLst>
                                      </p:cBhvr>
                                      <p:to>
                                        <p:strVal val="visible"/>
                                      </p:to>
                                    </p:set>
                                  </p:childTnLst>
                                </p:cTn>
                              </p:par>
                              <p:par>
                                <p:cTn id="85" presetID="1" presetClass="exit" presetSubtype="0" fill="hold" nodeType="withEffect">
                                  <p:stCondLst>
                                    <p:cond delay="2430"/>
                                  </p:stCondLst>
                                  <p:childTnLst>
                                    <p:set>
                                      <p:cBhvr>
                                        <p:cTn id="86" dur="1" fill="hold">
                                          <p:stCondLst>
                                            <p:cond delay="0"/>
                                          </p:stCondLst>
                                        </p:cTn>
                                        <p:tgtEl>
                                          <p:spTgt spid="95"/>
                                        </p:tgtEl>
                                        <p:attrNameLst>
                                          <p:attrName>style.visibility</p:attrName>
                                        </p:attrNameLst>
                                      </p:cBhvr>
                                      <p:to>
                                        <p:strVal val="hidden"/>
                                      </p:to>
                                    </p:set>
                                  </p:childTnLst>
                                </p:cTn>
                              </p:par>
                              <p:par>
                                <p:cTn id="87" presetID="1" presetClass="entr" presetSubtype="0" fill="hold" nodeType="withEffect">
                                  <p:stCondLst>
                                    <p:cond delay="2465"/>
                                  </p:stCondLst>
                                  <p:childTnLst>
                                    <p:set>
                                      <p:cBhvr>
                                        <p:cTn id="88" dur="1" fill="hold">
                                          <p:stCondLst>
                                            <p:cond delay="0"/>
                                          </p:stCondLst>
                                        </p:cTn>
                                        <p:tgtEl>
                                          <p:spTgt spid="97"/>
                                        </p:tgtEl>
                                        <p:attrNameLst>
                                          <p:attrName>style.visibility</p:attrName>
                                        </p:attrNameLst>
                                      </p:cBhvr>
                                      <p:to>
                                        <p:strVal val="visible"/>
                                      </p:to>
                                    </p:set>
                                  </p:childTnLst>
                                </p:cTn>
                              </p:par>
                              <p:par>
                                <p:cTn id="89" presetID="1" presetClass="exit" presetSubtype="0" fill="hold" nodeType="withEffect">
                                  <p:stCondLst>
                                    <p:cond delay="2465"/>
                                  </p:stCondLst>
                                  <p:childTnLst>
                                    <p:set>
                                      <p:cBhvr>
                                        <p:cTn id="90" dur="1" fill="hold">
                                          <p:stCondLst>
                                            <p:cond delay="0"/>
                                          </p:stCondLst>
                                        </p:cTn>
                                        <p:tgtEl>
                                          <p:spTgt spid="96"/>
                                        </p:tgtEl>
                                        <p:attrNameLst>
                                          <p:attrName>style.visibility</p:attrName>
                                        </p:attrNameLst>
                                      </p:cBhvr>
                                      <p:to>
                                        <p:strVal val="hidden"/>
                                      </p:to>
                                    </p:set>
                                  </p:childTnLst>
                                </p:cTn>
                              </p:par>
                              <p:par>
                                <p:cTn id="91" presetID="1" presetClass="entr" presetSubtype="0" fill="hold" nodeType="withEffect">
                                  <p:stCondLst>
                                    <p:cond delay="2500"/>
                                  </p:stCondLst>
                                  <p:childTnLst>
                                    <p:set>
                                      <p:cBhvr>
                                        <p:cTn id="92" dur="1" fill="hold">
                                          <p:stCondLst>
                                            <p:cond delay="0"/>
                                          </p:stCondLst>
                                        </p:cTn>
                                        <p:tgtEl>
                                          <p:spTgt spid="98"/>
                                        </p:tgtEl>
                                        <p:attrNameLst>
                                          <p:attrName>style.visibility</p:attrName>
                                        </p:attrNameLst>
                                      </p:cBhvr>
                                      <p:to>
                                        <p:strVal val="visible"/>
                                      </p:to>
                                    </p:set>
                                  </p:childTnLst>
                                </p:cTn>
                              </p:par>
                              <p:par>
                                <p:cTn id="93" presetID="1" presetClass="exit" presetSubtype="0" fill="hold" nodeType="withEffect">
                                  <p:stCondLst>
                                    <p:cond delay="2500"/>
                                  </p:stCondLst>
                                  <p:childTnLst>
                                    <p:set>
                                      <p:cBhvr>
                                        <p:cTn id="94" dur="1" fill="hold">
                                          <p:stCondLst>
                                            <p:cond delay="0"/>
                                          </p:stCondLst>
                                        </p:cTn>
                                        <p:tgtEl>
                                          <p:spTgt spid="97"/>
                                        </p:tgtEl>
                                        <p:attrNameLst>
                                          <p:attrName>style.visibility</p:attrName>
                                        </p:attrNameLst>
                                      </p:cBhvr>
                                      <p:to>
                                        <p:strVal val="hidden"/>
                                      </p:to>
                                    </p:set>
                                  </p:childTnLst>
                                </p:cTn>
                              </p:par>
                              <p:par>
                                <p:cTn id="95" presetID="1" presetClass="entr" presetSubtype="0" fill="hold" nodeType="withEffect">
                                  <p:stCondLst>
                                    <p:cond delay="2535"/>
                                  </p:stCondLst>
                                  <p:childTnLst>
                                    <p:set>
                                      <p:cBhvr>
                                        <p:cTn id="96" dur="1" fill="hold">
                                          <p:stCondLst>
                                            <p:cond delay="0"/>
                                          </p:stCondLst>
                                        </p:cTn>
                                        <p:tgtEl>
                                          <p:spTgt spid="99"/>
                                        </p:tgtEl>
                                        <p:attrNameLst>
                                          <p:attrName>style.visibility</p:attrName>
                                        </p:attrNameLst>
                                      </p:cBhvr>
                                      <p:to>
                                        <p:strVal val="visible"/>
                                      </p:to>
                                    </p:set>
                                  </p:childTnLst>
                                </p:cTn>
                              </p:par>
                              <p:par>
                                <p:cTn id="97" presetID="1" presetClass="exit" presetSubtype="0" fill="hold" nodeType="withEffect">
                                  <p:stCondLst>
                                    <p:cond delay="2535"/>
                                  </p:stCondLst>
                                  <p:childTnLst>
                                    <p:set>
                                      <p:cBhvr>
                                        <p:cTn id="98" dur="1" fill="hold">
                                          <p:stCondLst>
                                            <p:cond delay="0"/>
                                          </p:stCondLst>
                                        </p:cTn>
                                        <p:tgtEl>
                                          <p:spTgt spid="98"/>
                                        </p:tgtEl>
                                        <p:attrNameLst>
                                          <p:attrName>style.visibility</p:attrName>
                                        </p:attrNameLst>
                                      </p:cBhvr>
                                      <p:to>
                                        <p:strVal val="hidden"/>
                                      </p:to>
                                    </p:set>
                                  </p:childTnLst>
                                </p:cTn>
                              </p:par>
                              <p:par>
                                <p:cTn id="99" presetID="1" presetClass="entr" presetSubtype="0" fill="hold" nodeType="withEffect">
                                  <p:stCondLst>
                                    <p:cond delay="2570"/>
                                  </p:stCondLst>
                                  <p:childTnLst>
                                    <p:set>
                                      <p:cBhvr>
                                        <p:cTn id="100" dur="1" fill="hold">
                                          <p:stCondLst>
                                            <p:cond delay="0"/>
                                          </p:stCondLst>
                                        </p:cTn>
                                        <p:tgtEl>
                                          <p:spTgt spid="100"/>
                                        </p:tgtEl>
                                        <p:attrNameLst>
                                          <p:attrName>style.visibility</p:attrName>
                                        </p:attrNameLst>
                                      </p:cBhvr>
                                      <p:to>
                                        <p:strVal val="visible"/>
                                      </p:to>
                                    </p:set>
                                  </p:childTnLst>
                                </p:cTn>
                              </p:par>
                              <p:par>
                                <p:cTn id="101" presetID="1" presetClass="exit" presetSubtype="0" fill="hold" nodeType="withEffect">
                                  <p:stCondLst>
                                    <p:cond delay="2570"/>
                                  </p:stCondLst>
                                  <p:childTnLst>
                                    <p:set>
                                      <p:cBhvr>
                                        <p:cTn id="102" dur="1" fill="hold">
                                          <p:stCondLst>
                                            <p:cond delay="0"/>
                                          </p:stCondLst>
                                        </p:cTn>
                                        <p:tgtEl>
                                          <p:spTgt spid="99"/>
                                        </p:tgtEl>
                                        <p:attrNameLst>
                                          <p:attrName>style.visibility</p:attrName>
                                        </p:attrNameLst>
                                      </p:cBhvr>
                                      <p:to>
                                        <p:strVal val="hidden"/>
                                      </p:to>
                                    </p:set>
                                  </p:childTnLst>
                                </p:cTn>
                              </p:par>
                              <p:par>
                                <p:cTn id="103" presetID="1" presetClass="entr" presetSubtype="0" fill="hold" nodeType="withEffect">
                                  <p:stCondLst>
                                    <p:cond delay="3470"/>
                                  </p:stCondLst>
                                  <p:childTnLst>
                                    <p:set>
                                      <p:cBhvr>
                                        <p:cTn id="104" dur="1" fill="hold">
                                          <p:stCondLst>
                                            <p:cond delay="0"/>
                                          </p:stCondLst>
                                        </p:cTn>
                                        <p:tgtEl>
                                          <p:spTgt spid="101"/>
                                        </p:tgtEl>
                                        <p:attrNameLst>
                                          <p:attrName>style.visibility</p:attrName>
                                        </p:attrNameLst>
                                      </p:cBhvr>
                                      <p:to>
                                        <p:strVal val="visible"/>
                                      </p:to>
                                    </p:set>
                                  </p:childTnLst>
                                </p:cTn>
                              </p:par>
                              <p:par>
                                <p:cTn id="105" presetID="1" presetClass="exit" presetSubtype="0" fill="hold" nodeType="withEffect">
                                  <p:stCondLst>
                                    <p:cond delay="3470"/>
                                  </p:stCondLst>
                                  <p:childTnLst>
                                    <p:set>
                                      <p:cBhvr>
                                        <p:cTn id="106" dur="1" fill="hold">
                                          <p:stCondLst>
                                            <p:cond delay="0"/>
                                          </p:stCondLst>
                                        </p:cTn>
                                        <p:tgtEl>
                                          <p:spTgt spid="100"/>
                                        </p:tgtEl>
                                        <p:attrNameLst>
                                          <p:attrName>style.visibility</p:attrName>
                                        </p:attrNameLst>
                                      </p:cBhvr>
                                      <p:to>
                                        <p:strVal val="hidden"/>
                                      </p:to>
                                    </p:set>
                                  </p:childTnLst>
                                </p:cTn>
                              </p:par>
                              <p:par>
                                <p:cTn id="107" presetID="1" presetClass="entr" presetSubtype="0" fill="hold" nodeType="withEffect">
                                  <p:stCondLst>
                                    <p:cond delay="3505"/>
                                  </p:stCondLst>
                                  <p:childTnLst>
                                    <p:set>
                                      <p:cBhvr>
                                        <p:cTn id="108" dur="1" fill="hold">
                                          <p:stCondLst>
                                            <p:cond delay="0"/>
                                          </p:stCondLst>
                                        </p:cTn>
                                        <p:tgtEl>
                                          <p:spTgt spid="102"/>
                                        </p:tgtEl>
                                        <p:attrNameLst>
                                          <p:attrName>style.visibility</p:attrName>
                                        </p:attrNameLst>
                                      </p:cBhvr>
                                      <p:to>
                                        <p:strVal val="visible"/>
                                      </p:to>
                                    </p:set>
                                  </p:childTnLst>
                                </p:cTn>
                              </p:par>
                              <p:par>
                                <p:cTn id="109" presetID="1" presetClass="exit" presetSubtype="0" fill="hold" nodeType="withEffect">
                                  <p:stCondLst>
                                    <p:cond delay="3505"/>
                                  </p:stCondLst>
                                  <p:childTnLst>
                                    <p:set>
                                      <p:cBhvr>
                                        <p:cTn id="110" dur="1" fill="hold">
                                          <p:stCondLst>
                                            <p:cond delay="0"/>
                                          </p:stCondLst>
                                        </p:cTn>
                                        <p:tgtEl>
                                          <p:spTgt spid="101"/>
                                        </p:tgtEl>
                                        <p:attrNameLst>
                                          <p:attrName>style.visibility</p:attrName>
                                        </p:attrNameLst>
                                      </p:cBhvr>
                                      <p:to>
                                        <p:strVal val="hidden"/>
                                      </p:to>
                                    </p:set>
                                  </p:childTnLst>
                                </p:cTn>
                              </p:par>
                              <p:par>
                                <p:cTn id="111" presetID="1" presetClass="entr" presetSubtype="0" fill="hold" nodeType="withEffect">
                                  <p:stCondLst>
                                    <p:cond delay="3540"/>
                                  </p:stCondLst>
                                  <p:childTnLst>
                                    <p:set>
                                      <p:cBhvr>
                                        <p:cTn id="112" dur="1" fill="hold">
                                          <p:stCondLst>
                                            <p:cond delay="0"/>
                                          </p:stCondLst>
                                        </p:cTn>
                                        <p:tgtEl>
                                          <p:spTgt spid="103"/>
                                        </p:tgtEl>
                                        <p:attrNameLst>
                                          <p:attrName>style.visibility</p:attrName>
                                        </p:attrNameLst>
                                      </p:cBhvr>
                                      <p:to>
                                        <p:strVal val="visible"/>
                                      </p:to>
                                    </p:set>
                                  </p:childTnLst>
                                </p:cTn>
                              </p:par>
                              <p:par>
                                <p:cTn id="113" presetID="1" presetClass="exit" presetSubtype="0" fill="hold" nodeType="withEffect">
                                  <p:stCondLst>
                                    <p:cond delay="3540"/>
                                  </p:stCondLst>
                                  <p:childTnLst>
                                    <p:set>
                                      <p:cBhvr>
                                        <p:cTn id="114" dur="1" fill="hold">
                                          <p:stCondLst>
                                            <p:cond delay="0"/>
                                          </p:stCondLst>
                                        </p:cTn>
                                        <p:tgtEl>
                                          <p:spTgt spid="102"/>
                                        </p:tgtEl>
                                        <p:attrNameLst>
                                          <p:attrName>style.visibility</p:attrName>
                                        </p:attrNameLst>
                                      </p:cBhvr>
                                      <p:to>
                                        <p:strVal val="hidden"/>
                                      </p:to>
                                    </p:set>
                                  </p:childTnLst>
                                </p:cTn>
                              </p:par>
                              <p:par>
                                <p:cTn id="115" presetID="1" presetClass="entr" presetSubtype="0" fill="hold" nodeType="withEffect">
                                  <p:stCondLst>
                                    <p:cond delay="3575"/>
                                  </p:stCondLst>
                                  <p:childTnLst>
                                    <p:set>
                                      <p:cBhvr>
                                        <p:cTn id="116" dur="1" fill="hold">
                                          <p:stCondLst>
                                            <p:cond delay="0"/>
                                          </p:stCondLst>
                                        </p:cTn>
                                        <p:tgtEl>
                                          <p:spTgt spid="104"/>
                                        </p:tgtEl>
                                        <p:attrNameLst>
                                          <p:attrName>style.visibility</p:attrName>
                                        </p:attrNameLst>
                                      </p:cBhvr>
                                      <p:to>
                                        <p:strVal val="visible"/>
                                      </p:to>
                                    </p:set>
                                  </p:childTnLst>
                                </p:cTn>
                              </p:par>
                              <p:par>
                                <p:cTn id="117" presetID="1" presetClass="exit" presetSubtype="0" fill="hold" nodeType="withEffect">
                                  <p:stCondLst>
                                    <p:cond delay="3575"/>
                                  </p:stCondLst>
                                  <p:childTnLst>
                                    <p:set>
                                      <p:cBhvr>
                                        <p:cTn id="118" dur="1" fill="hold">
                                          <p:stCondLst>
                                            <p:cond delay="0"/>
                                          </p:stCondLst>
                                        </p:cTn>
                                        <p:tgtEl>
                                          <p:spTgt spid="103"/>
                                        </p:tgtEl>
                                        <p:attrNameLst>
                                          <p:attrName>style.visibility</p:attrName>
                                        </p:attrNameLst>
                                      </p:cBhvr>
                                      <p:to>
                                        <p:strVal val="hidden"/>
                                      </p:to>
                                    </p:set>
                                  </p:childTnLst>
                                </p:cTn>
                              </p:par>
                              <p:par>
                                <p:cTn id="119" presetID="1" presetClass="entr" presetSubtype="0" fill="hold" nodeType="withEffect">
                                  <p:stCondLst>
                                    <p:cond delay="3610"/>
                                  </p:stCondLst>
                                  <p:childTnLst>
                                    <p:set>
                                      <p:cBhvr>
                                        <p:cTn id="120" dur="1" fill="hold">
                                          <p:stCondLst>
                                            <p:cond delay="0"/>
                                          </p:stCondLst>
                                        </p:cTn>
                                        <p:tgtEl>
                                          <p:spTgt spid="105"/>
                                        </p:tgtEl>
                                        <p:attrNameLst>
                                          <p:attrName>style.visibility</p:attrName>
                                        </p:attrNameLst>
                                      </p:cBhvr>
                                      <p:to>
                                        <p:strVal val="visible"/>
                                      </p:to>
                                    </p:set>
                                  </p:childTnLst>
                                </p:cTn>
                              </p:par>
                              <p:par>
                                <p:cTn id="121" presetID="1" presetClass="exit" presetSubtype="0" fill="hold" nodeType="withEffect">
                                  <p:stCondLst>
                                    <p:cond delay="3610"/>
                                  </p:stCondLst>
                                  <p:childTnLst>
                                    <p:set>
                                      <p:cBhvr>
                                        <p:cTn id="122" dur="1" fill="hold">
                                          <p:stCondLst>
                                            <p:cond delay="0"/>
                                          </p:stCondLst>
                                        </p:cTn>
                                        <p:tgtEl>
                                          <p:spTgt spid="104"/>
                                        </p:tgtEl>
                                        <p:attrNameLst>
                                          <p:attrName>style.visibility</p:attrName>
                                        </p:attrNameLst>
                                      </p:cBhvr>
                                      <p:to>
                                        <p:strVal val="hidden"/>
                                      </p:to>
                                    </p:set>
                                  </p:childTnLst>
                                </p:cTn>
                              </p:par>
                              <p:par>
                                <p:cTn id="123" presetID="1" presetClass="entr" presetSubtype="0" fill="hold" nodeType="withEffect">
                                  <p:stCondLst>
                                    <p:cond delay="3645"/>
                                  </p:stCondLst>
                                  <p:childTnLst>
                                    <p:set>
                                      <p:cBhvr>
                                        <p:cTn id="124" dur="1" fill="hold">
                                          <p:stCondLst>
                                            <p:cond delay="0"/>
                                          </p:stCondLst>
                                        </p:cTn>
                                        <p:tgtEl>
                                          <p:spTgt spid="106"/>
                                        </p:tgtEl>
                                        <p:attrNameLst>
                                          <p:attrName>style.visibility</p:attrName>
                                        </p:attrNameLst>
                                      </p:cBhvr>
                                      <p:to>
                                        <p:strVal val="visible"/>
                                      </p:to>
                                    </p:set>
                                  </p:childTnLst>
                                </p:cTn>
                              </p:par>
                              <p:par>
                                <p:cTn id="125" presetID="1" presetClass="exit" presetSubtype="0" fill="hold" nodeType="withEffect">
                                  <p:stCondLst>
                                    <p:cond delay="3645"/>
                                  </p:stCondLst>
                                  <p:childTnLst>
                                    <p:set>
                                      <p:cBhvr>
                                        <p:cTn id="126" dur="1" fill="hold">
                                          <p:stCondLst>
                                            <p:cond delay="0"/>
                                          </p:stCondLst>
                                        </p:cTn>
                                        <p:tgtEl>
                                          <p:spTgt spid="105"/>
                                        </p:tgtEl>
                                        <p:attrNameLst>
                                          <p:attrName>style.visibility</p:attrName>
                                        </p:attrNameLst>
                                      </p:cBhvr>
                                      <p:to>
                                        <p:strVal val="hidden"/>
                                      </p:to>
                                    </p:set>
                                  </p:childTnLst>
                                </p:cTn>
                              </p:par>
                              <p:par>
                                <p:cTn id="127" presetID="1" presetClass="entr" presetSubtype="0" fill="hold" nodeType="withEffect">
                                  <p:stCondLst>
                                    <p:cond delay="3680"/>
                                  </p:stCondLst>
                                  <p:childTnLst>
                                    <p:set>
                                      <p:cBhvr>
                                        <p:cTn id="128" dur="1" fill="hold">
                                          <p:stCondLst>
                                            <p:cond delay="0"/>
                                          </p:stCondLst>
                                        </p:cTn>
                                        <p:tgtEl>
                                          <p:spTgt spid="107"/>
                                        </p:tgtEl>
                                        <p:attrNameLst>
                                          <p:attrName>style.visibility</p:attrName>
                                        </p:attrNameLst>
                                      </p:cBhvr>
                                      <p:to>
                                        <p:strVal val="visible"/>
                                      </p:to>
                                    </p:set>
                                  </p:childTnLst>
                                </p:cTn>
                              </p:par>
                              <p:par>
                                <p:cTn id="129" presetID="1" presetClass="exit" presetSubtype="0" fill="hold" nodeType="withEffect">
                                  <p:stCondLst>
                                    <p:cond delay="3680"/>
                                  </p:stCondLst>
                                  <p:childTnLst>
                                    <p:set>
                                      <p:cBhvr>
                                        <p:cTn id="130" dur="1" fill="hold">
                                          <p:stCondLst>
                                            <p:cond delay="0"/>
                                          </p:stCondLst>
                                        </p:cTn>
                                        <p:tgtEl>
                                          <p:spTgt spid="106"/>
                                        </p:tgtEl>
                                        <p:attrNameLst>
                                          <p:attrName>style.visibility</p:attrName>
                                        </p:attrNameLst>
                                      </p:cBhvr>
                                      <p:to>
                                        <p:strVal val="hidden"/>
                                      </p:to>
                                    </p:set>
                                  </p:childTnLst>
                                </p:cTn>
                              </p:par>
                              <p:par>
                                <p:cTn id="131" presetID="1" presetClass="entr" presetSubtype="0" fill="hold" nodeType="withEffect">
                                  <p:stCondLst>
                                    <p:cond delay="3715"/>
                                  </p:stCondLst>
                                  <p:childTnLst>
                                    <p:set>
                                      <p:cBhvr>
                                        <p:cTn id="132" dur="1" fill="hold">
                                          <p:stCondLst>
                                            <p:cond delay="0"/>
                                          </p:stCondLst>
                                        </p:cTn>
                                        <p:tgtEl>
                                          <p:spTgt spid="108"/>
                                        </p:tgtEl>
                                        <p:attrNameLst>
                                          <p:attrName>style.visibility</p:attrName>
                                        </p:attrNameLst>
                                      </p:cBhvr>
                                      <p:to>
                                        <p:strVal val="visible"/>
                                      </p:to>
                                    </p:set>
                                  </p:childTnLst>
                                </p:cTn>
                              </p:par>
                              <p:par>
                                <p:cTn id="133" presetID="1" presetClass="exit" presetSubtype="0" fill="hold" nodeType="withEffect">
                                  <p:stCondLst>
                                    <p:cond delay="3715"/>
                                  </p:stCondLst>
                                  <p:childTnLst>
                                    <p:set>
                                      <p:cBhvr>
                                        <p:cTn id="134" dur="1" fill="hold">
                                          <p:stCondLst>
                                            <p:cond delay="0"/>
                                          </p:stCondLst>
                                        </p:cTn>
                                        <p:tgtEl>
                                          <p:spTgt spid="107"/>
                                        </p:tgtEl>
                                        <p:attrNameLst>
                                          <p:attrName>style.visibility</p:attrName>
                                        </p:attrNameLst>
                                      </p:cBhvr>
                                      <p:to>
                                        <p:strVal val="hidden"/>
                                      </p:to>
                                    </p:set>
                                  </p:childTnLst>
                                </p:cTn>
                              </p:par>
                              <p:par>
                                <p:cTn id="135" presetID="1" presetClass="entr" presetSubtype="0" fill="hold" nodeType="withEffect">
                                  <p:stCondLst>
                                    <p:cond delay="3750"/>
                                  </p:stCondLst>
                                  <p:childTnLst>
                                    <p:set>
                                      <p:cBhvr>
                                        <p:cTn id="136" dur="1" fill="hold">
                                          <p:stCondLst>
                                            <p:cond delay="0"/>
                                          </p:stCondLst>
                                        </p:cTn>
                                        <p:tgtEl>
                                          <p:spTgt spid="109"/>
                                        </p:tgtEl>
                                        <p:attrNameLst>
                                          <p:attrName>style.visibility</p:attrName>
                                        </p:attrNameLst>
                                      </p:cBhvr>
                                      <p:to>
                                        <p:strVal val="visible"/>
                                      </p:to>
                                    </p:set>
                                  </p:childTnLst>
                                </p:cTn>
                              </p:par>
                              <p:par>
                                <p:cTn id="137" presetID="1" presetClass="exit" presetSubtype="0" fill="hold" nodeType="withEffect">
                                  <p:stCondLst>
                                    <p:cond delay="3750"/>
                                  </p:stCondLst>
                                  <p:childTnLst>
                                    <p:set>
                                      <p:cBhvr>
                                        <p:cTn id="138" dur="1" fill="hold">
                                          <p:stCondLst>
                                            <p:cond delay="0"/>
                                          </p:stCondLst>
                                        </p:cTn>
                                        <p:tgtEl>
                                          <p:spTgt spid="108"/>
                                        </p:tgtEl>
                                        <p:attrNameLst>
                                          <p:attrName>style.visibility</p:attrName>
                                        </p:attrNameLst>
                                      </p:cBhvr>
                                      <p:to>
                                        <p:strVal val="hidden"/>
                                      </p:to>
                                    </p:set>
                                  </p:childTnLst>
                                </p:cTn>
                              </p:par>
                              <p:par>
                                <p:cTn id="139" presetID="1" presetClass="entr" presetSubtype="0" fill="hold" nodeType="withEffect">
                                  <p:stCondLst>
                                    <p:cond delay="3785"/>
                                  </p:stCondLst>
                                  <p:childTnLst>
                                    <p:set>
                                      <p:cBhvr>
                                        <p:cTn id="140" dur="1" fill="hold">
                                          <p:stCondLst>
                                            <p:cond delay="0"/>
                                          </p:stCondLst>
                                        </p:cTn>
                                        <p:tgtEl>
                                          <p:spTgt spid="110"/>
                                        </p:tgtEl>
                                        <p:attrNameLst>
                                          <p:attrName>style.visibility</p:attrName>
                                        </p:attrNameLst>
                                      </p:cBhvr>
                                      <p:to>
                                        <p:strVal val="visible"/>
                                      </p:to>
                                    </p:set>
                                  </p:childTnLst>
                                </p:cTn>
                              </p:par>
                              <p:par>
                                <p:cTn id="141" presetID="1" presetClass="exit" presetSubtype="0" fill="hold" nodeType="withEffect">
                                  <p:stCondLst>
                                    <p:cond delay="3785"/>
                                  </p:stCondLst>
                                  <p:childTnLst>
                                    <p:set>
                                      <p:cBhvr>
                                        <p:cTn id="142" dur="1" fill="hold">
                                          <p:stCondLst>
                                            <p:cond delay="0"/>
                                          </p:stCondLst>
                                        </p:cTn>
                                        <p:tgtEl>
                                          <p:spTgt spid="109"/>
                                        </p:tgtEl>
                                        <p:attrNameLst>
                                          <p:attrName>style.visibility</p:attrName>
                                        </p:attrNameLst>
                                      </p:cBhvr>
                                      <p:to>
                                        <p:strVal val="hidden"/>
                                      </p:to>
                                    </p:set>
                                  </p:childTnLst>
                                </p:cTn>
                              </p:par>
                              <p:par>
                                <p:cTn id="143" presetID="1" presetClass="entr" presetSubtype="0" fill="hold" nodeType="withEffect">
                                  <p:stCondLst>
                                    <p:cond delay="3820"/>
                                  </p:stCondLst>
                                  <p:childTnLst>
                                    <p:set>
                                      <p:cBhvr>
                                        <p:cTn id="144" dur="1" fill="hold">
                                          <p:stCondLst>
                                            <p:cond delay="0"/>
                                          </p:stCondLst>
                                        </p:cTn>
                                        <p:tgtEl>
                                          <p:spTgt spid="111"/>
                                        </p:tgtEl>
                                        <p:attrNameLst>
                                          <p:attrName>style.visibility</p:attrName>
                                        </p:attrNameLst>
                                      </p:cBhvr>
                                      <p:to>
                                        <p:strVal val="visible"/>
                                      </p:to>
                                    </p:set>
                                  </p:childTnLst>
                                </p:cTn>
                              </p:par>
                              <p:par>
                                <p:cTn id="145" presetID="1" presetClass="exit" presetSubtype="0" fill="hold" nodeType="withEffect">
                                  <p:stCondLst>
                                    <p:cond delay="3820"/>
                                  </p:stCondLst>
                                  <p:childTnLst>
                                    <p:set>
                                      <p:cBhvr>
                                        <p:cTn id="146" dur="1" fill="hold">
                                          <p:stCondLst>
                                            <p:cond delay="0"/>
                                          </p:stCondLst>
                                        </p:cTn>
                                        <p:tgtEl>
                                          <p:spTgt spid="110"/>
                                        </p:tgtEl>
                                        <p:attrNameLst>
                                          <p:attrName>style.visibility</p:attrName>
                                        </p:attrNameLst>
                                      </p:cBhvr>
                                      <p:to>
                                        <p:strVal val="hidden"/>
                                      </p:to>
                                    </p:set>
                                  </p:childTnLst>
                                </p:cTn>
                              </p:par>
                              <p:par>
                                <p:cTn id="147" presetID="1" presetClass="exit" presetSubtype="0" fill="hold" nodeType="withEffect">
                                  <p:stCondLst>
                                    <p:cond delay="3855"/>
                                  </p:stCondLst>
                                  <p:childTnLst>
                                    <p:set>
                                      <p:cBhvr>
                                        <p:cTn id="148" dur="1" fill="hold">
                                          <p:stCondLst>
                                            <p:cond delay="0"/>
                                          </p:stCondLst>
                                        </p:cTn>
                                        <p:tgtEl>
                                          <p:spTgt spid="1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3A585-B83A-49F9-D5E1-53871B1E3DFE}"/>
              </a:ext>
            </a:extLst>
          </p:cNvPr>
          <p:cNvSpPr>
            <a:spLocks noGrp="1"/>
          </p:cNvSpPr>
          <p:nvPr>
            <p:ph type="title"/>
          </p:nvPr>
        </p:nvSpPr>
        <p:spPr/>
        <p:txBody>
          <a:bodyPr/>
          <a:lstStyle/>
          <a:p>
            <a:r>
              <a:rPr lang="en-US" dirty="0"/>
              <a:t>The C++ safety issues</a:t>
            </a:r>
          </a:p>
        </p:txBody>
      </p:sp>
      <p:sp>
        <p:nvSpPr>
          <p:cNvPr id="3" name="Text Placeholder 2">
            <a:extLst>
              <a:ext uri="{FF2B5EF4-FFF2-40B4-BE49-F238E27FC236}">
                <a16:creationId xmlns:a16="http://schemas.microsoft.com/office/drawing/2014/main" id="{BE8B2F49-03AC-5635-0A2F-48D4338129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89020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Bounds</a:t>
            </a:r>
            <a:endParaRPr lang="en-US" sz="2400" dirty="0"/>
          </a:p>
        </p:txBody>
      </p:sp>
      <p:sp>
        <p:nvSpPr>
          <p:cNvPr id="10" name="Text 8"/>
          <p:cNvSpPr txBox="1"/>
          <p:nvPr/>
        </p:nvSpPr>
        <p:spPr>
          <a:xfrm>
            <a:off x="3840480"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at(), hardened STL</a:t>
            </a:r>
            <a:endParaRPr lang="en-US" sz="1800" dirty="0"/>
          </a:p>
        </p:txBody>
      </p:sp>
      <p:sp>
        <p:nvSpPr>
          <p:cNvPr id="11" name="Text 9"/>
          <p:cNvSpPr txBox="1"/>
          <p:nvPr/>
        </p:nvSpPr>
        <p:spPr>
          <a:xfrm>
            <a:off x="5952744"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 get → Option</a:t>
            </a:r>
            <a:endParaRPr lang="en-US" sz="1800" dirty="0"/>
          </a:p>
        </p:txBody>
      </p:sp>
      <p:sp>
        <p:nvSpPr>
          <p:cNvPr id="12" name="Text 10"/>
          <p:cNvSpPr txBox="1"/>
          <p:nvPr/>
        </p:nvSpPr>
        <p:spPr>
          <a:xfrm>
            <a:off x="8065008"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a:t>
            </a:r>
            <a:endParaRPr lang="en-US" sz="1800" dirty="0"/>
          </a:p>
        </p:txBody>
      </p:sp>
      <p:sp>
        <p:nvSpPr>
          <p:cNvPr id="13" name="Text 11"/>
          <p:cNvSpPr txBox="1"/>
          <p:nvPr/>
        </p:nvSpPr>
        <p:spPr>
          <a:xfrm>
            <a:off x="10177272"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trap; Span</a:t>
            </a:r>
            <a:endParaRPr lang="en-US" sz="1800" dirty="0"/>
          </a:p>
        </p:txBody>
      </p:sp>
      <p:sp>
        <p:nvSpPr>
          <p:cNvPr id="14" name="Shape 12"/>
          <p:cNvSpPr/>
          <p:nvPr/>
        </p:nvSpPr>
        <p:spPr>
          <a:xfrm>
            <a:off x="868680" y="2673477"/>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82621"/>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Bounds</a:t>
            </a:r>
            <a:endParaRPr lang="en-US" sz="2400" dirty="0"/>
          </a:p>
        </p:txBody>
      </p:sp>
      <p:sp>
        <p:nvSpPr>
          <p:cNvPr id="16" name="Text 14"/>
          <p:cNvSpPr txBox="1"/>
          <p:nvPr/>
        </p:nvSpPr>
        <p:spPr>
          <a:xfrm>
            <a:off x="3840480"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narrow contracts; 26</a:t>
            </a:r>
            <a:endParaRPr lang="en-US" sz="1800" dirty="0"/>
          </a:p>
        </p:txBody>
      </p:sp>
      <p:sp>
        <p:nvSpPr>
          <p:cNvPr id="17" name="Text 15"/>
          <p:cNvSpPr txBox="1"/>
          <p:nvPr/>
        </p:nvSpPr>
        <p:spPr>
          <a:xfrm>
            <a:off x="5952744"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documented panics</a:t>
            </a:r>
            <a:endParaRPr lang="en-US" sz="1800" dirty="0"/>
          </a:p>
        </p:txBody>
      </p:sp>
      <p:sp>
        <p:nvSpPr>
          <p:cNvPr id="18" name="Text 16"/>
          <p:cNvSpPr txBox="1"/>
          <p:nvPr/>
        </p:nvSpPr>
        <p:spPr>
          <a:xfrm>
            <a:off x="8065008"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panics</a:t>
            </a:r>
            <a:endParaRPr lang="en-US" sz="1800" dirty="0"/>
          </a:p>
        </p:txBody>
      </p:sp>
      <p:sp>
        <p:nvSpPr>
          <p:cNvPr id="19" name="Text 17"/>
          <p:cNvSpPr txBox="1"/>
          <p:nvPr/>
        </p:nvSpPr>
        <p:spPr>
          <a:xfrm>
            <a:off x="10177272"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precondition traps</a:t>
            </a:r>
            <a:endParaRPr lang="en-US" sz="1800" dirty="0"/>
          </a:p>
        </p:txBody>
      </p:sp>
      <p:sp>
        <p:nvSpPr>
          <p:cNvPr id="20" name="Shape 18"/>
          <p:cNvSpPr/>
          <p:nvPr/>
        </p:nvSpPr>
        <p:spPr>
          <a:xfrm>
            <a:off x="868680" y="3252978"/>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262122"/>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22" name="Text 20"/>
          <p:cNvSpPr txBox="1"/>
          <p:nvPr/>
        </p:nvSpPr>
        <p:spPr>
          <a:xfrm>
            <a:off x="3840480"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views and refs dangle</a:t>
            </a:r>
            <a:endParaRPr lang="en-US" sz="1800" dirty="0"/>
          </a:p>
        </p:txBody>
      </p:sp>
      <p:sp>
        <p:nvSpPr>
          <p:cNvPr id="23" name="Text 21"/>
          <p:cNvSpPr txBox="1"/>
          <p:nvPr/>
        </p:nvSpPr>
        <p:spPr>
          <a:xfrm>
            <a:off x="5952744"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borrow checker</a:t>
            </a:r>
            <a:endParaRPr lang="en-US" sz="1800" dirty="0"/>
          </a:p>
        </p:txBody>
      </p:sp>
      <p:sp>
        <p:nvSpPr>
          <p:cNvPr id="24" name="Text 22"/>
          <p:cNvSpPr txBox="1"/>
          <p:nvPr/>
        </p:nvSpPr>
        <p:spPr>
          <a:xfrm>
            <a:off x="8065008"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GC keeps targets</a:t>
            </a:r>
            <a:endParaRPr lang="en-US" sz="1800" dirty="0"/>
          </a:p>
        </p:txBody>
      </p:sp>
      <p:sp>
        <p:nvSpPr>
          <p:cNvPr id="25" name="Text 23"/>
          <p:cNvSpPr txBox="1"/>
          <p:nvPr/>
        </p:nvSpPr>
        <p:spPr>
          <a:xfrm>
            <a:off x="10177272"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ARC; unowned traps</a:t>
            </a:r>
            <a:endParaRPr lang="en-US" sz="1800" dirty="0"/>
          </a:p>
        </p:txBody>
      </p:sp>
      <p:sp>
        <p:nvSpPr>
          <p:cNvPr id="26" name="Shape 24"/>
          <p:cNvSpPr/>
          <p:nvPr/>
        </p:nvSpPr>
        <p:spPr>
          <a:xfrm>
            <a:off x="868680" y="3832479"/>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841623"/>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28" name="Text 26"/>
          <p:cNvSpPr txBox="1"/>
          <p:nvPr/>
        </p:nvSpPr>
        <p:spPr>
          <a:xfrm>
            <a:off x="3840480"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iterators invalidate</a:t>
            </a:r>
            <a:endParaRPr lang="en-US" sz="1800" dirty="0"/>
          </a:p>
        </p:txBody>
      </p:sp>
      <p:sp>
        <p:nvSpPr>
          <p:cNvPr id="29" name="Text 27"/>
          <p:cNvSpPr txBox="1"/>
          <p:nvPr/>
        </p:nvSpPr>
        <p:spPr>
          <a:xfrm>
            <a:off x="5952744"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borrow checker</a:t>
            </a:r>
            <a:endParaRPr lang="en-US" sz="1800" dirty="0"/>
          </a:p>
        </p:txBody>
      </p:sp>
      <p:sp>
        <p:nvSpPr>
          <p:cNvPr id="30" name="Text 28"/>
          <p:cNvSpPr txBox="1"/>
          <p:nvPr/>
        </p:nvSpPr>
        <p:spPr>
          <a:xfrm>
            <a:off x="8065008"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ranges; slice aliasing</a:t>
            </a:r>
            <a:endParaRPr lang="en-US" sz="1800" dirty="0"/>
          </a:p>
        </p:txBody>
      </p:sp>
      <p:sp>
        <p:nvSpPr>
          <p:cNvPr id="31" name="Text 29"/>
          <p:cNvSpPr txBox="1"/>
          <p:nvPr/>
        </p:nvSpPr>
        <p:spPr>
          <a:xfrm>
            <a:off x="10177272"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index traps</a:t>
            </a:r>
            <a:endParaRPr lang="en-US" sz="1800" dirty="0"/>
          </a:p>
        </p:txBody>
      </p:sp>
      <p:sp>
        <p:nvSpPr>
          <p:cNvPr id="32" name="Shape 30"/>
          <p:cNvSpPr/>
          <p:nvPr/>
        </p:nvSpPr>
        <p:spPr>
          <a:xfrm>
            <a:off x="868680" y="4411980"/>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421124"/>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34" name="Text 32"/>
          <p:cNvSpPr txBox="1"/>
          <p:nvPr/>
        </p:nvSpPr>
        <p:spPr>
          <a:xfrm>
            <a:off x="3840480"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coroutine frames</a:t>
            </a:r>
            <a:endParaRPr lang="en-US" sz="1800" dirty="0"/>
          </a:p>
        </p:txBody>
      </p:sp>
      <p:sp>
        <p:nvSpPr>
          <p:cNvPr id="35" name="Text 33"/>
          <p:cNvSpPr txBox="1"/>
          <p:nvPr/>
        </p:nvSpPr>
        <p:spPr>
          <a:xfrm>
            <a:off x="5952744"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Pin; drop cancels</a:t>
            </a:r>
            <a:endParaRPr lang="en-US" sz="1800" dirty="0"/>
          </a:p>
        </p:txBody>
      </p:sp>
      <p:sp>
        <p:nvSpPr>
          <p:cNvPr id="36" name="Text 34"/>
          <p:cNvSpPr txBox="1"/>
          <p:nvPr/>
        </p:nvSpPr>
        <p:spPr>
          <a:xfrm>
            <a:off x="8065008"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real stacks</a:t>
            </a:r>
            <a:endParaRPr lang="en-US" sz="1800" dirty="0"/>
          </a:p>
        </p:txBody>
      </p:sp>
      <p:sp>
        <p:nvSpPr>
          <p:cNvPr id="37" name="Text 35"/>
          <p:cNvSpPr txBox="1"/>
          <p:nvPr/>
        </p:nvSpPr>
        <p:spPr>
          <a:xfrm>
            <a:off x="10177272"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continuation misuse</a:t>
            </a:r>
            <a:endParaRPr lang="en-US" sz="1800" dirty="0"/>
          </a:p>
        </p:txBody>
      </p:sp>
      <p:sp>
        <p:nvSpPr>
          <p:cNvPr id="38" name="Shape 36"/>
          <p:cNvSpPr/>
          <p:nvPr/>
        </p:nvSpPr>
        <p:spPr>
          <a:xfrm>
            <a:off x="868680" y="4991481"/>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000625"/>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40" name="Text 38"/>
          <p:cNvSpPr txBox="1"/>
          <p:nvPr/>
        </p:nvSpPr>
        <p:spPr>
          <a:xfrm>
            <a:off x="3840480"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getters expose ptrs</a:t>
            </a:r>
            <a:endParaRPr lang="en-US" sz="1800" dirty="0"/>
          </a:p>
        </p:txBody>
      </p:sp>
      <p:sp>
        <p:nvSpPr>
          <p:cNvPr id="41" name="Text 39"/>
          <p:cNvSpPr txBox="1"/>
          <p:nvPr/>
        </p:nvSpPr>
        <p:spPr>
          <a:xfrm>
            <a:off x="5952744"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borrow rules</a:t>
            </a:r>
            <a:endParaRPr lang="en-US" sz="1800" dirty="0"/>
          </a:p>
        </p:txBody>
      </p:sp>
      <p:sp>
        <p:nvSpPr>
          <p:cNvPr id="42" name="Text 40"/>
          <p:cNvSpPr txBox="1"/>
          <p:nvPr/>
        </p:nvSpPr>
        <p:spPr>
          <a:xfrm>
            <a:off x="8065008"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aliasing possible</a:t>
            </a:r>
            <a:endParaRPr lang="en-US" sz="1800" dirty="0"/>
          </a:p>
        </p:txBody>
      </p:sp>
      <p:sp>
        <p:nvSpPr>
          <p:cNvPr id="43" name="Text 41"/>
          <p:cNvSpPr txBox="1"/>
          <p:nvPr/>
        </p:nvSpPr>
        <p:spPr>
          <a:xfrm>
            <a:off x="10177272"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classes alias</a:t>
            </a:r>
            <a:endParaRPr lang="en-US" sz="1800" dirty="0"/>
          </a:p>
        </p:txBody>
      </p:sp>
      <p:sp>
        <p:nvSpPr>
          <p:cNvPr id="44" name="Shape 42"/>
          <p:cNvSpPr/>
          <p:nvPr/>
        </p:nvSpPr>
        <p:spPr>
          <a:xfrm>
            <a:off x="868680" y="5570982"/>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580126"/>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Null</a:t>
            </a:r>
            <a:endParaRPr lang="en-US" sz="2400" dirty="0"/>
          </a:p>
        </p:txBody>
      </p:sp>
      <p:sp>
        <p:nvSpPr>
          <p:cNvPr id="46" name="Text 44"/>
          <p:cNvSpPr txBox="1"/>
          <p:nvPr/>
        </p:nvSpPr>
        <p:spPr>
          <a:xfrm>
            <a:off x="3840480"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null deref</a:t>
            </a:r>
            <a:endParaRPr lang="en-US" sz="1800" dirty="0"/>
          </a:p>
        </p:txBody>
      </p:sp>
      <p:sp>
        <p:nvSpPr>
          <p:cNvPr id="47" name="Text 45"/>
          <p:cNvSpPr txBox="1"/>
          <p:nvPr/>
        </p:nvSpPr>
        <p:spPr>
          <a:xfrm>
            <a:off x="5952744"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null; unwrap panics</a:t>
            </a:r>
            <a:endParaRPr lang="en-US" sz="1800" dirty="0"/>
          </a:p>
        </p:txBody>
      </p:sp>
      <p:sp>
        <p:nvSpPr>
          <p:cNvPr id="48" name="Text 46"/>
          <p:cNvSpPr txBox="1"/>
          <p:nvPr/>
        </p:nvSpPr>
        <p:spPr>
          <a:xfrm>
            <a:off x="8065008"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nil deref panics</a:t>
            </a:r>
            <a:endParaRPr lang="en-US" sz="1800" dirty="0"/>
          </a:p>
        </p:txBody>
      </p:sp>
      <p:sp>
        <p:nvSpPr>
          <p:cNvPr id="49" name="Text 47"/>
          <p:cNvSpPr txBox="1"/>
          <p:nvPr/>
        </p:nvSpPr>
        <p:spPr>
          <a:xfrm>
            <a:off x="10177272"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err="1">
                <a:solidFill>
                  <a:srgbClr val="6B6B6B"/>
                </a:solidFill>
                <a:latin typeface="Aptos" pitchFamily="34" charset="0"/>
                <a:ea typeface="Aptos" pitchFamily="34" charset="-122"/>
                <a:cs typeface="Aptos" pitchFamily="34" charset="-120"/>
              </a:rPr>
              <a:t>optionals</a:t>
            </a:r>
            <a:r>
              <a:rPr lang="en-US" sz="1300" dirty="0">
                <a:solidFill>
                  <a:srgbClr val="6B6B6B"/>
                </a:solidFill>
                <a:latin typeface="Aptos" pitchFamily="34" charset="0"/>
                <a:ea typeface="Aptos" pitchFamily="34" charset="-122"/>
                <a:cs typeface="Aptos" pitchFamily="34" charset="-120"/>
              </a:rPr>
              <a:t>; ! traps</a:t>
            </a:r>
            <a:endParaRPr lang="en-US" sz="1800" dirty="0"/>
          </a:p>
        </p:txBody>
      </p:sp>
      <p:sp>
        <p:nvSpPr>
          <p:cNvPr id="50" name="Shape 48"/>
          <p:cNvSpPr/>
          <p:nvPr/>
        </p:nvSpPr>
        <p:spPr>
          <a:xfrm>
            <a:off x="868680" y="6150483"/>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59627"/>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Initialization</a:t>
            </a:r>
            <a:endParaRPr lang="en-US" sz="2400" dirty="0"/>
          </a:p>
        </p:txBody>
      </p:sp>
      <p:sp>
        <p:nvSpPr>
          <p:cNvPr id="52" name="Text 50"/>
          <p:cNvSpPr txBox="1"/>
          <p:nvPr/>
        </p:nvSpPr>
        <p:spPr>
          <a:xfrm>
            <a:off x="3840480"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erroneous (26)</a:t>
            </a:r>
            <a:endParaRPr lang="en-US" sz="1800" dirty="0"/>
          </a:p>
        </p:txBody>
      </p:sp>
      <p:sp>
        <p:nvSpPr>
          <p:cNvPr id="53" name="Text 51"/>
          <p:cNvSpPr txBox="1"/>
          <p:nvPr/>
        </p:nvSpPr>
        <p:spPr>
          <a:xfrm>
            <a:off x="5952744"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definite init</a:t>
            </a:r>
            <a:endParaRPr lang="en-US" sz="1800" dirty="0"/>
          </a:p>
        </p:txBody>
      </p:sp>
      <p:sp>
        <p:nvSpPr>
          <p:cNvPr id="54" name="Text 52"/>
          <p:cNvSpPr txBox="1"/>
          <p:nvPr/>
        </p:nvSpPr>
        <p:spPr>
          <a:xfrm>
            <a:off x="8065008"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zero values</a:t>
            </a:r>
            <a:endParaRPr lang="en-US" sz="1800" dirty="0"/>
          </a:p>
        </p:txBody>
      </p:sp>
      <p:sp>
        <p:nvSpPr>
          <p:cNvPr id="55" name="Text 53"/>
          <p:cNvSpPr txBox="1"/>
          <p:nvPr/>
        </p:nvSpPr>
        <p:spPr>
          <a:xfrm>
            <a:off x="10177272"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definite init</a:t>
            </a:r>
            <a:endParaRPr lang="en-US" sz="1800" dirty="0"/>
          </a:p>
        </p:txBody>
      </p:sp>
      <p:sp>
        <p:nvSpPr>
          <p:cNvPr id="58" name="Title 57">
            <a:extLst>
              <a:ext uri="{FF2B5EF4-FFF2-40B4-BE49-F238E27FC236}">
                <a16:creationId xmlns:a16="http://schemas.microsoft.com/office/drawing/2014/main" id="{20122FAE-58CE-1616-274C-83AFDAA3CDAF}"/>
              </a:ext>
            </a:extLst>
          </p:cNvPr>
          <p:cNvSpPr>
            <a:spLocks noGrp="1"/>
          </p:cNvSpPr>
          <p:nvPr>
            <p:ph type="title"/>
          </p:nvPr>
        </p:nvSpPr>
        <p:spPr/>
        <p:txBody>
          <a:bodyPr/>
          <a:lstStyle/>
          <a:p>
            <a:r>
              <a:rPr lang="en-US" dirty="0"/>
              <a:t>The C++ safety issues</a:t>
            </a:r>
          </a:p>
        </p:txBody>
      </p:sp>
      <p:sp>
        <p:nvSpPr>
          <p:cNvPr id="2" name="TextBox 1">
            <a:extLst>
              <a:ext uri="{FF2B5EF4-FFF2-40B4-BE49-F238E27FC236}">
                <a16:creationId xmlns:a16="http://schemas.microsoft.com/office/drawing/2014/main" id="{E6370722-DE55-D72D-C141-629791495269}"/>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1/6</a:t>
            </a:r>
            <a:endParaRPr lang="en-US" sz="2800" dirty="0">
              <a:solidFill>
                <a:schemeClr val="bg1">
                  <a:lumMod val="75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Bounds</a:t>
            </a:r>
            <a:endParaRPr lang="en-US" sz="2400" dirty="0"/>
          </a:p>
        </p:txBody>
      </p:sp>
      <p:sp>
        <p:nvSpPr>
          <p:cNvPr id="10" name="Text 8"/>
          <p:cNvSpPr txBox="1"/>
          <p:nvPr/>
        </p:nvSpPr>
        <p:spPr>
          <a:xfrm>
            <a:off x="3840480"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at(), hardened STL</a:t>
            </a:r>
            <a:endParaRPr lang="en-US" sz="1800" dirty="0"/>
          </a:p>
        </p:txBody>
      </p:sp>
      <p:sp>
        <p:nvSpPr>
          <p:cNvPr id="11" name="Text 9"/>
          <p:cNvSpPr txBox="1"/>
          <p:nvPr/>
        </p:nvSpPr>
        <p:spPr>
          <a:xfrm>
            <a:off x="5952744"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 get → Option</a:t>
            </a:r>
            <a:endParaRPr lang="en-US" sz="1800" dirty="0"/>
          </a:p>
        </p:txBody>
      </p:sp>
      <p:sp>
        <p:nvSpPr>
          <p:cNvPr id="12" name="Text 10"/>
          <p:cNvSpPr txBox="1"/>
          <p:nvPr/>
        </p:nvSpPr>
        <p:spPr>
          <a:xfrm>
            <a:off x="8065008"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a:t>
            </a:r>
            <a:endParaRPr lang="en-US" sz="1800" dirty="0"/>
          </a:p>
        </p:txBody>
      </p:sp>
      <p:sp>
        <p:nvSpPr>
          <p:cNvPr id="13" name="Text 11"/>
          <p:cNvSpPr txBox="1"/>
          <p:nvPr/>
        </p:nvSpPr>
        <p:spPr>
          <a:xfrm>
            <a:off x="10177272"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trap; Span</a:t>
            </a:r>
            <a:endParaRPr lang="en-US" sz="1800" dirty="0"/>
          </a:p>
        </p:txBody>
      </p:sp>
      <p:sp>
        <p:nvSpPr>
          <p:cNvPr id="14" name="Shape 12"/>
          <p:cNvSpPr/>
          <p:nvPr/>
        </p:nvSpPr>
        <p:spPr>
          <a:xfrm>
            <a:off x="868680" y="2673477"/>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82621"/>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Bounds</a:t>
            </a:r>
            <a:endParaRPr lang="en-US" sz="2400" dirty="0"/>
          </a:p>
        </p:txBody>
      </p:sp>
      <p:sp>
        <p:nvSpPr>
          <p:cNvPr id="16" name="Text 14"/>
          <p:cNvSpPr txBox="1"/>
          <p:nvPr/>
        </p:nvSpPr>
        <p:spPr>
          <a:xfrm>
            <a:off x="3840480"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narrow contracts; 26</a:t>
            </a:r>
            <a:endParaRPr lang="en-US" sz="1800" dirty="0"/>
          </a:p>
        </p:txBody>
      </p:sp>
      <p:sp>
        <p:nvSpPr>
          <p:cNvPr id="17" name="Text 15"/>
          <p:cNvSpPr txBox="1"/>
          <p:nvPr/>
        </p:nvSpPr>
        <p:spPr>
          <a:xfrm>
            <a:off x="5952744"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documented panics</a:t>
            </a:r>
            <a:endParaRPr lang="en-US" sz="1800" dirty="0"/>
          </a:p>
        </p:txBody>
      </p:sp>
      <p:sp>
        <p:nvSpPr>
          <p:cNvPr id="18" name="Text 16"/>
          <p:cNvSpPr txBox="1"/>
          <p:nvPr/>
        </p:nvSpPr>
        <p:spPr>
          <a:xfrm>
            <a:off x="8065008"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panics</a:t>
            </a:r>
            <a:endParaRPr lang="en-US" sz="1800" dirty="0"/>
          </a:p>
        </p:txBody>
      </p:sp>
      <p:sp>
        <p:nvSpPr>
          <p:cNvPr id="19" name="Text 17"/>
          <p:cNvSpPr txBox="1"/>
          <p:nvPr/>
        </p:nvSpPr>
        <p:spPr>
          <a:xfrm>
            <a:off x="10177272"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precondition traps</a:t>
            </a:r>
            <a:endParaRPr lang="en-US" sz="1800" dirty="0"/>
          </a:p>
        </p:txBody>
      </p:sp>
      <p:sp>
        <p:nvSpPr>
          <p:cNvPr id="20" name="Shape 18"/>
          <p:cNvSpPr/>
          <p:nvPr/>
        </p:nvSpPr>
        <p:spPr>
          <a:xfrm>
            <a:off x="868680" y="3252978"/>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262122"/>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22" name="Text 20"/>
          <p:cNvSpPr txBox="1"/>
          <p:nvPr/>
        </p:nvSpPr>
        <p:spPr>
          <a:xfrm>
            <a:off x="3840480"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views and refs dangle</a:t>
            </a:r>
            <a:endParaRPr lang="en-US" sz="1800" dirty="0"/>
          </a:p>
        </p:txBody>
      </p:sp>
      <p:sp>
        <p:nvSpPr>
          <p:cNvPr id="23" name="Text 21"/>
          <p:cNvSpPr txBox="1"/>
          <p:nvPr/>
        </p:nvSpPr>
        <p:spPr>
          <a:xfrm>
            <a:off x="5952744"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borrow checker</a:t>
            </a:r>
            <a:endParaRPr lang="en-US" sz="1800" dirty="0"/>
          </a:p>
        </p:txBody>
      </p:sp>
      <p:sp>
        <p:nvSpPr>
          <p:cNvPr id="24" name="Text 22"/>
          <p:cNvSpPr txBox="1"/>
          <p:nvPr/>
        </p:nvSpPr>
        <p:spPr>
          <a:xfrm>
            <a:off x="8065008"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GC keeps targets</a:t>
            </a:r>
            <a:endParaRPr lang="en-US" sz="1800" dirty="0"/>
          </a:p>
        </p:txBody>
      </p:sp>
      <p:sp>
        <p:nvSpPr>
          <p:cNvPr id="25" name="Text 23"/>
          <p:cNvSpPr txBox="1"/>
          <p:nvPr/>
        </p:nvSpPr>
        <p:spPr>
          <a:xfrm>
            <a:off x="10177272"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ARC; unowned traps</a:t>
            </a:r>
            <a:endParaRPr lang="en-US" sz="1800" dirty="0"/>
          </a:p>
        </p:txBody>
      </p:sp>
      <p:sp>
        <p:nvSpPr>
          <p:cNvPr id="26" name="Shape 24"/>
          <p:cNvSpPr/>
          <p:nvPr/>
        </p:nvSpPr>
        <p:spPr>
          <a:xfrm>
            <a:off x="868680" y="3832479"/>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841623"/>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28" name="Text 26"/>
          <p:cNvSpPr txBox="1"/>
          <p:nvPr/>
        </p:nvSpPr>
        <p:spPr>
          <a:xfrm>
            <a:off x="3840480"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iterators invalidate</a:t>
            </a:r>
            <a:endParaRPr lang="en-US" sz="1800" dirty="0"/>
          </a:p>
        </p:txBody>
      </p:sp>
      <p:sp>
        <p:nvSpPr>
          <p:cNvPr id="29" name="Text 27"/>
          <p:cNvSpPr txBox="1"/>
          <p:nvPr/>
        </p:nvSpPr>
        <p:spPr>
          <a:xfrm>
            <a:off x="5952744"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borrow checker</a:t>
            </a:r>
            <a:endParaRPr lang="en-US" sz="1800" dirty="0"/>
          </a:p>
        </p:txBody>
      </p:sp>
      <p:sp>
        <p:nvSpPr>
          <p:cNvPr id="30" name="Text 28"/>
          <p:cNvSpPr txBox="1"/>
          <p:nvPr/>
        </p:nvSpPr>
        <p:spPr>
          <a:xfrm>
            <a:off x="8065008"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ranges; slice aliasing</a:t>
            </a:r>
            <a:endParaRPr lang="en-US" sz="1800" dirty="0"/>
          </a:p>
        </p:txBody>
      </p:sp>
      <p:sp>
        <p:nvSpPr>
          <p:cNvPr id="31" name="Text 29"/>
          <p:cNvSpPr txBox="1"/>
          <p:nvPr/>
        </p:nvSpPr>
        <p:spPr>
          <a:xfrm>
            <a:off x="10177272"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index traps</a:t>
            </a:r>
            <a:endParaRPr lang="en-US" sz="1800" dirty="0"/>
          </a:p>
        </p:txBody>
      </p:sp>
      <p:sp>
        <p:nvSpPr>
          <p:cNvPr id="32" name="Shape 30"/>
          <p:cNvSpPr/>
          <p:nvPr/>
        </p:nvSpPr>
        <p:spPr>
          <a:xfrm>
            <a:off x="868680" y="4411980"/>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421124"/>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34" name="Text 32"/>
          <p:cNvSpPr txBox="1"/>
          <p:nvPr/>
        </p:nvSpPr>
        <p:spPr>
          <a:xfrm>
            <a:off x="3840480"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coroutine frames</a:t>
            </a:r>
            <a:endParaRPr lang="en-US" sz="1800" dirty="0"/>
          </a:p>
        </p:txBody>
      </p:sp>
      <p:sp>
        <p:nvSpPr>
          <p:cNvPr id="35" name="Text 33"/>
          <p:cNvSpPr txBox="1"/>
          <p:nvPr/>
        </p:nvSpPr>
        <p:spPr>
          <a:xfrm>
            <a:off x="5952744"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Pin; drop cancels</a:t>
            </a:r>
            <a:endParaRPr lang="en-US" sz="1800" dirty="0"/>
          </a:p>
        </p:txBody>
      </p:sp>
      <p:sp>
        <p:nvSpPr>
          <p:cNvPr id="36" name="Text 34"/>
          <p:cNvSpPr txBox="1"/>
          <p:nvPr/>
        </p:nvSpPr>
        <p:spPr>
          <a:xfrm>
            <a:off x="8065008"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real stacks</a:t>
            </a:r>
            <a:endParaRPr lang="en-US" sz="1800" dirty="0"/>
          </a:p>
        </p:txBody>
      </p:sp>
      <p:sp>
        <p:nvSpPr>
          <p:cNvPr id="37" name="Text 35"/>
          <p:cNvSpPr txBox="1"/>
          <p:nvPr/>
        </p:nvSpPr>
        <p:spPr>
          <a:xfrm>
            <a:off x="10177272"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continuation misuse</a:t>
            </a:r>
            <a:endParaRPr lang="en-US" sz="1800" dirty="0"/>
          </a:p>
        </p:txBody>
      </p:sp>
      <p:sp>
        <p:nvSpPr>
          <p:cNvPr id="38" name="Shape 36"/>
          <p:cNvSpPr/>
          <p:nvPr/>
        </p:nvSpPr>
        <p:spPr>
          <a:xfrm>
            <a:off x="868680" y="4991481"/>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000625"/>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Lifetime</a:t>
            </a:r>
            <a:endParaRPr lang="en-US" sz="2400" dirty="0"/>
          </a:p>
        </p:txBody>
      </p:sp>
      <p:sp>
        <p:nvSpPr>
          <p:cNvPr id="40" name="Text 38"/>
          <p:cNvSpPr txBox="1"/>
          <p:nvPr/>
        </p:nvSpPr>
        <p:spPr>
          <a:xfrm>
            <a:off x="3840480"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getters expose ptrs</a:t>
            </a:r>
            <a:endParaRPr lang="en-US" sz="1800" dirty="0"/>
          </a:p>
        </p:txBody>
      </p:sp>
      <p:sp>
        <p:nvSpPr>
          <p:cNvPr id="41" name="Text 39"/>
          <p:cNvSpPr txBox="1"/>
          <p:nvPr/>
        </p:nvSpPr>
        <p:spPr>
          <a:xfrm>
            <a:off x="5952744"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borrow rules</a:t>
            </a:r>
            <a:endParaRPr lang="en-US" sz="1800" dirty="0"/>
          </a:p>
        </p:txBody>
      </p:sp>
      <p:sp>
        <p:nvSpPr>
          <p:cNvPr id="42" name="Text 40"/>
          <p:cNvSpPr txBox="1"/>
          <p:nvPr/>
        </p:nvSpPr>
        <p:spPr>
          <a:xfrm>
            <a:off x="8065008"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aliasing possible</a:t>
            </a:r>
            <a:endParaRPr lang="en-US" sz="1800" dirty="0"/>
          </a:p>
        </p:txBody>
      </p:sp>
      <p:sp>
        <p:nvSpPr>
          <p:cNvPr id="43" name="Text 41"/>
          <p:cNvSpPr txBox="1"/>
          <p:nvPr/>
        </p:nvSpPr>
        <p:spPr>
          <a:xfrm>
            <a:off x="10177272"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classes alias</a:t>
            </a:r>
            <a:endParaRPr lang="en-US" sz="1800" dirty="0"/>
          </a:p>
        </p:txBody>
      </p:sp>
      <p:sp>
        <p:nvSpPr>
          <p:cNvPr id="44" name="Shape 42"/>
          <p:cNvSpPr/>
          <p:nvPr/>
        </p:nvSpPr>
        <p:spPr>
          <a:xfrm>
            <a:off x="868680" y="5570982"/>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580126"/>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Null</a:t>
            </a:r>
            <a:endParaRPr lang="en-US" sz="2400" dirty="0"/>
          </a:p>
        </p:txBody>
      </p:sp>
      <p:sp>
        <p:nvSpPr>
          <p:cNvPr id="46" name="Text 44"/>
          <p:cNvSpPr txBox="1"/>
          <p:nvPr/>
        </p:nvSpPr>
        <p:spPr>
          <a:xfrm>
            <a:off x="3840480"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null deref</a:t>
            </a:r>
            <a:endParaRPr lang="en-US" sz="1800" dirty="0"/>
          </a:p>
        </p:txBody>
      </p:sp>
      <p:sp>
        <p:nvSpPr>
          <p:cNvPr id="47" name="Text 45"/>
          <p:cNvSpPr txBox="1"/>
          <p:nvPr/>
        </p:nvSpPr>
        <p:spPr>
          <a:xfrm>
            <a:off x="5952744"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null; unwrap panics</a:t>
            </a:r>
            <a:endParaRPr lang="en-US" sz="1800" dirty="0"/>
          </a:p>
        </p:txBody>
      </p:sp>
      <p:sp>
        <p:nvSpPr>
          <p:cNvPr id="48" name="Text 46"/>
          <p:cNvSpPr txBox="1"/>
          <p:nvPr/>
        </p:nvSpPr>
        <p:spPr>
          <a:xfrm>
            <a:off x="8065008"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nil deref panics</a:t>
            </a:r>
            <a:endParaRPr lang="en-US" sz="1800" dirty="0"/>
          </a:p>
        </p:txBody>
      </p:sp>
      <p:sp>
        <p:nvSpPr>
          <p:cNvPr id="49" name="Text 47"/>
          <p:cNvSpPr txBox="1"/>
          <p:nvPr/>
        </p:nvSpPr>
        <p:spPr>
          <a:xfrm>
            <a:off x="10177272"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err="1">
                <a:solidFill>
                  <a:srgbClr val="6B6B6B"/>
                </a:solidFill>
                <a:latin typeface="Aptos" pitchFamily="34" charset="0"/>
                <a:ea typeface="Aptos" pitchFamily="34" charset="-122"/>
                <a:cs typeface="Aptos" pitchFamily="34" charset="-120"/>
              </a:rPr>
              <a:t>optionals</a:t>
            </a:r>
            <a:r>
              <a:rPr lang="en-US" sz="1300" dirty="0">
                <a:solidFill>
                  <a:srgbClr val="6B6B6B"/>
                </a:solidFill>
                <a:latin typeface="Aptos" pitchFamily="34" charset="0"/>
                <a:ea typeface="Aptos" pitchFamily="34" charset="-122"/>
                <a:cs typeface="Aptos" pitchFamily="34" charset="-120"/>
              </a:rPr>
              <a:t>; ! traps</a:t>
            </a:r>
            <a:endParaRPr lang="en-US" sz="1800" dirty="0"/>
          </a:p>
        </p:txBody>
      </p:sp>
      <p:sp>
        <p:nvSpPr>
          <p:cNvPr id="50" name="Shape 48"/>
          <p:cNvSpPr/>
          <p:nvPr/>
        </p:nvSpPr>
        <p:spPr>
          <a:xfrm>
            <a:off x="868680" y="6150483"/>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59627"/>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Initialization</a:t>
            </a:r>
            <a:endParaRPr lang="en-US" sz="2400" dirty="0"/>
          </a:p>
        </p:txBody>
      </p:sp>
      <p:sp>
        <p:nvSpPr>
          <p:cNvPr id="52" name="Text 50"/>
          <p:cNvSpPr txBox="1"/>
          <p:nvPr/>
        </p:nvSpPr>
        <p:spPr>
          <a:xfrm>
            <a:off x="3840480"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erroneous (26)</a:t>
            </a:r>
            <a:endParaRPr lang="en-US" sz="1800" dirty="0"/>
          </a:p>
        </p:txBody>
      </p:sp>
      <p:sp>
        <p:nvSpPr>
          <p:cNvPr id="53" name="Text 51"/>
          <p:cNvSpPr txBox="1"/>
          <p:nvPr/>
        </p:nvSpPr>
        <p:spPr>
          <a:xfrm>
            <a:off x="5952744"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definite init</a:t>
            </a:r>
            <a:endParaRPr lang="en-US" sz="1800" dirty="0"/>
          </a:p>
        </p:txBody>
      </p:sp>
      <p:sp>
        <p:nvSpPr>
          <p:cNvPr id="54" name="Text 52"/>
          <p:cNvSpPr txBox="1"/>
          <p:nvPr/>
        </p:nvSpPr>
        <p:spPr>
          <a:xfrm>
            <a:off x="8065008"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zero values</a:t>
            </a:r>
            <a:endParaRPr lang="en-US" sz="1800" dirty="0"/>
          </a:p>
        </p:txBody>
      </p:sp>
      <p:sp>
        <p:nvSpPr>
          <p:cNvPr id="55" name="Text 53"/>
          <p:cNvSpPr txBox="1"/>
          <p:nvPr/>
        </p:nvSpPr>
        <p:spPr>
          <a:xfrm>
            <a:off x="10177272"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definite init</a:t>
            </a:r>
            <a:endParaRPr lang="en-US" sz="1800" dirty="0"/>
          </a:p>
        </p:txBody>
      </p:sp>
      <p:sp>
        <p:nvSpPr>
          <p:cNvPr id="58" name="Title 57">
            <a:extLst>
              <a:ext uri="{FF2B5EF4-FFF2-40B4-BE49-F238E27FC236}">
                <a16:creationId xmlns:a16="http://schemas.microsoft.com/office/drawing/2014/main" id="{20122FAE-58CE-1616-274C-83AFDAA3CDAF}"/>
              </a:ext>
            </a:extLst>
          </p:cNvPr>
          <p:cNvSpPr>
            <a:spLocks noGrp="1"/>
          </p:cNvSpPr>
          <p:nvPr>
            <p:ph type="title"/>
          </p:nvPr>
        </p:nvSpPr>
        <p:spPr/>
        <p:txBody>
          <a:bodyPr/>
          <a:lstStyle/>
          <a:p>
            <a:r>
              <a:rPr lang="en-US" dirty="0"/>
              <a:t>The C++ safety issues</a:t>
            </a:r>
          </a:p>
        </p:txBody>
      </p:sp>
      <p:sp>
        <p:nvSpPr>
          <p:cNvPr id="900" name="Callout"/>
          <p:cNvSpPr/>
          <p:nvPr/>
        </p:nvSpPr>
        <p:spPr>
          <a:xfrm>
            <a:off x="3154680" y="2081345"/>
            <a:ext cx="3200400" cy="798693"/>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3F3F3F"/>
                </a:solidFill>
                <a:latin typeface="Aptos"/>
              </a:rPr>
              <a:t>bounds checks are opt-in</a:t>
            </a:r>
          </a:p>
          <a:p>
            <a:pPr algn="ctr"/>
            <a:r>
              <a:rPr lang="en-US" sz="1500" b="1" dirty="0">
                <a:solidFill>
                  <a:srgbClr val="3F3F3F"/>
                </a:solidFill>
                <a:latin typeface="Aptos"/>
              </a:rPr>
              <a:t>at() or hardened STL</a:t>
            </a:r>
            <a:br>
              <a:rPr lang="en-US" sz="1500" b="1" dirty="0">
                <a:solidFill>
                  <a:srgbClr val="3F3F3F"/>
                </a:solidFill>
                <a:latin typeface="Aptos"/>
              </a:rPr>
            </a:br>
            <a:r>
              <a:rPr lang="en-US" sz="1500" b="1" dirty="0">
                <a:solidFill>
                  <a:srgbClr val="7A1C15"/>
                </a:solidFill>
              </a:rPr>
              <a:t>50% of CVEs</a:t>
            </a:r>
            <a:endParaRPr lang="en-US" sz="1500" b="1" dirty="0">
              <a:solidFill>
                <a:srgbClr val="3F3F3F"/>
              </a:solidFill>
              <a:latin typeface="Aptos"/>
            </a:endParaRPr>
          </a:p>
        </p:txBody>
      </p:sp>
      <p:sp>
        <p:nvSpPr>
          <p:cNvPr id="901" name="Callout"/>
          <p:cNvSpPr/>
          <p:nvPr/>
        </p:nvSpPr>
        <p:spPr>
          <a:xfrm>
            <a:off x="6662261" y="2072201"/>
            <a:ext cx="4634293" cy="1033271"/>
          </a:xfrm>
          <a:prstGeom prst="roundRect">
            <a:avLst>
              <a:gd name="adj" fmla="val 50000"/>
            </a:avLst>
          </a:prstGeom>
          <a:solidFill>
            <a:srgbClr val="FFFFFF"/>
          </a:solidFill>
          <a:ln w="3175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3600" b="1" dirty="0">
                <a:solidFill>
                  <a:srgbClr val="5C4712"/>
                </a:solidFill>
                <a:latin typeface="Aptos"/>
              </a:rPr>
              <a:t>everyone else traps</a:t>
            </a:r>
          </a:p>
        </p:txBody>
      </p:sp>
      <p:sp>
        <p:nvSpPr>
          <p:cNvPr id="902" name="Callout"/>
          <p:cNvSpPr/>
          <p:nvPr/>
        </p:nvSpPr>
        <p:spPr>
          <a:xfrm>
            <a:off x="3154680" y="3556003"/>
            <a:ext cx="3200400" cy="812486"/>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7A1C15"/>
                </a:solidFill>
                <a:latin typeface="Aptos"/>
              </a:rPr>
              <a:t>string_view, span, iterators dangle silently</a:t>
            </a:r>
          </a:p>
          <a:p>
            <a:pPr algn="ctr"/>
            <a:r>
              <a:rPr lang="en-US" sz="1500" b="1" dirty="0">
                <a:solidFill>
                  <a:srgbClr val="7A1C15"/>
                </a:solidFill>
                <a:latin typeface="Aptos"/>
              </a:rPr>
              <a:t>9% of CVEs, 6% of exploits</a:t>
            </a:r>
          </a:p>
        </p:txBody>
      </p:sp>
      <p:sp>
        <p:nvSpPr>
          <p:cNvPr id="903" name="Callout"/>
          <p:cNvSpPr/>
          <p:nvPr/>
        </p:nvSpPr>
        <p:spPr>
          <a:xfrm>
            <a:off x="5475541" y="4454213"/>
            <a:ext cx="2706180" cy="546412"/>
          </a:xfrm>
          <a:prstGeom prst="roundRect">
            <a:avLst>
              <a:gd name="adj" fmla="val 50000"/>
            </a:avLst>
          </a:prstGeom>
          <a:solidFill>
            <a:srgbClr val="FFFFFF"/>
          </a:solidFill>
          <a:ln w="31750">
            <a:solidFill>
              <a:srgbClr val="1F4D24"/>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2400" b="1" dirty="0">
                <a:solidFill>
                  <a:srgbClr val="1F4D24"/>
                </a:solidFill>
                <a:latin typeface="Aptos"/>
              </a:rPr>
              <a:t>borrow checker</a:t>
            </a:r>
          </a:p>
        </p:txBody>
      </p:sp>
      <p:sp>
        <p:nvSpPr>
          <p:cNvPr id="904" name="Callout"/>
          <p:cNvSpPr/>
          <p:nvPr/>
        </p:nvSpPr>
        <p:spPr>
          <a:xfrm>
            <a:off x="8433816" y="3890161"/>
            <a:ext cx="3209417" cy="626451"/>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2400" b="1" dirty="0">
                <a:solidFill>
                  <a:srgbClr val="1C3E63"/>
                </a:solidFill>
                <a:latin typeface="Aptos"/>
              </a:rPr>
              <a:t>GC and ARC</a:t>
            </a:r>
          </a:p>
        </p:txBody>
      </p:sp>
      <p:sp>
        <p:nvSpPr>
          <p:cNvPr id="905" name="Callout"/>
          <p:cNvSpPr/>
          <p:nvPr/>
        </p:nvSpPr>
        <p:spPr>
          <a:xfrm>
            <a:off x="3154680" y="5558352"/>
            <a:ext cx="3200400" cy="54864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7A1C15"/>
                </a:solidFill>
                <a:latin typeface="Aptos"/>
              </a:rPr>
              <a:t>null deref is UB, 6% of CVEs</a:t>
            </a:r>
          </a:p>
          <a:p>
            <a:pPr algn="ctr"/>
            <a:r>
              <a:rPr lang="en-US" sz="1500" b="1" dirty="0">
                <a:solidFill>
                  <a:srgbClr val="7A1C15"/>
                </a:solidFill>
                <a:latin typeface="Aptos"/>
              </a:rPr>
              <a:t>no optional in the type</a:t>
            </a:r>
          </a:p>
        </p:txBody>
      </p:sp>
      <p:sp>
        <p:nvSpPr>
          <p:cNvPr id="906" name="Callout"/>
          <p:cNvSpPr/>
          <p:nvPr/>
        </p:nvSpPr>
        <p:spPr>
          <a:xfrm>
            <a:off x="7600950" y="5500751"/>
            <a:ext cx="3765041" cy="546405"/>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2000" b="1" dirty="0">
                <a:solidFill>
                  <a:srgbClr val="1C3E63"/>
                </a:solidFill>
                <a:latin typeface="Aptos"/>
              </a:rPr>
              <a:t>Optionals, or a defined trap</a:t>
            </a:r>
          </a:p>
        </p:txBody>
      </p:sp>
      <p:sp>
        <p:nvSpPr>
          <p:cNvPr id="907" name="Callout"/>
          <p:cNvSpPr/>
          <p:nvPr/>
        </p:nvSpPr>
        <p:spPr>
          <a:xfrm>
            <a:off x="3154680" y="6137853"/>
            <a:ext cx="3200400" cy="548640"/>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5C4712"/>
                </a:solidFill>
                <a:latin typeface="Aptos"/>
              </a:rPr>
              <a:t>C++26 erroneous behaviour, reads trap</a:t>
            </a:r>
          </a:p>
        </p:txBody>
      </p:sp>
      <p:sp>
        <p:nvSpPr>
          <p:cNvPr id="56" name="TextBox 55">
            <a:extLst>
              <a:ext uri="{FF2B5EF4-FFF2-40B4-BE49-F238E27FC236}">
                <a16:creationId xmlns:a16="http://schemas.microsoft.com/office/drawing/2014/main" id="{A95B530D-F97D-B6E1-FFD2-09A675437C4D}"/>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1/6</a:t>
            </a:r>
            <a:endParaRPr lang="en-US" sz="2800" dirty="0">
              <a:solidFill>
                <a:schemeClr val="bg1">
                  <a:lumMod val="75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Initialization</a:t>
            </a:r>
            <a:endParaRPr lang="en-US" sz="2400" dirty="0"/>
          </a:p>
        </p:txBody>
      </p:sp>
      <p:sp>
        <p:nvSpPr>
          <p:cNvPr id="10" name="Text 8"/>
          <p:cNvSpPr txBox="1"/>
          <p:nvPr/>
        </p:nvSpPr>
        <p:spPr>
          <a:xfrm>
            <a:off x="3840480"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static init order</a:t>
            </a:r>
            <a:endParaRPr lang="en-US" sz="1800" dirty="0"/>
          </a:p>
        </p:txBody>
      </p:sp>
      <p:sp>
        <p:nvSpPr>
          <p:cNvPr id="11" name="Text 9"/>
          <p:cNvSpPr txBox="1"/>
          <p:nvPr/>
        </p:nvSpPr>
        <p:spPr>
          <a:xfrm>
            <a:off x="5952744"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constant statics</a:t>
            </a:r>
            <a:endParaRPr lang="en-US" sz="1800" dirty="0"/>
          </a:p>
        </p:txBody>
      </p:sp>
      <p:sp>
        <p:nvSpPr>
          <p:cNvPr id="12" name="Text 10"/>
          <p:cNvSpPr txBox="1"/>
          <p:nvPr/>
        </p:nvSpPr>
        <p:spPr>
          <a:xfrm>
            <a:off x="8065008"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dependency order</a:t>
            </a:r>
            <a:endParaRPr lang="en-US" sz="1800" dirty="0"/>
          </a:p>
        </p:txBody>
      </p:sp>
      <p:sp>
        <p:nvSpPr>
          <p:cNvPr id="13" name="Text 11"/>
          <p:cNvSpPr txBox="1"/>
          <p:nvPr/>
        </p:nvSpPr>
        <p:spPr>
          <a:xfrm>
            <a:off x="10177272"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lazy, once</a:t>
            </a:r>
            <a:endParaRPr lang="en-US" sz="1800" dirty="0"/>
          </a:p>
        </p:txBody>
      </p:sp>
      <p:sp>
        <p:nvSpPr>
          <p:cNvPr id="14" name="Shape 12"/>
          <p:cNvSpPr/>
          <p:nvPr/>
        </p:nvSpPr>
        <p:spPr>
          <a:xfrm>
            <a:off x="868680" y="2634996"/>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4414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Arithmetic</a:t>
            </a:r>
            <a:endParaRPr lang="en-US" sz="2400" dirty="0"/>
          </a:p>
        </p:txBody>
      </p:sp>
      <p:sp>
        <p:nvSpPr>
          <p:cNvPr id="16" name="Text 14"/>
          <p:cNvSpPr txBox="1"/>
          <p:nvPr/>
        </p:nvSpPr>
        <p:spPr>
          <a:xfrm>
            <a:off x="3840480"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signed overflow</a:t>
            </a:r>
            <a:endParaRPr lang="en-US" sz="1800" dirty="0"/>
          </a:p>
        </p:txBody>
      </p:sp>
      <p:sp>
        <p:nvSpPr>
          <p:cNvPr id="17" name="Text 15"/>
          <p:cNvSpPr txBox="1"/>
          <p:nvPr/>
        </p:nvSpPr>
        <p:spPr>
          <a:xfrm>
            <a:off x="5952744"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 release wraps</a:t>
            </a:r>
            <a:endParaRPr lang="en-US" sz="1800" dirty="0"/>
          </a:p>
        </p:txBody>
      </p:sp>
      <p:sp>
        <p:nvSpPr>
          <p:cNvPr id="18" name="Text 16"/>
          <p:cNvSpPr txBox="1"/>
          <p:nvPr/>
        </p:nvSpPr>
        <p:spPr>
          <a:xfrm>
            <a:off x="8065008"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wraps, defined</a:t>
            </a:r>
            <a:endParaRPr lang="en-US" sz="1800" dirty="0"/>
          </a:p>
        </p:txBody>
      </p:sp>
      <p:sp>
        <p:nvSpPr>
          <p:cNvPr id="19" name="Text 17"/>
          <p:cNvSpPr txBox="1"/>
          <p:nvPr/>
        </p:nvSpPr>
        <p:spPr>
          <a:xfrm>
            <a:off x="10177272"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traps; &amp;+ wraps</a:t>
            </a:r>
            <a:endParaRPr lang="en-US" sz="1800" dirty="0"/>
          </a:p>
        </p:txBody>
      </p:sp>
      <p:sp>
        <p:nvSpPr>
          <p:cNvPr id="20" name="Shape 18"/>
          <p:cNvSpPr/>
          <p:nvPr/>
        </p:nvSpPr>
        <p:spPr>
          <a:xfrm>
            <a:off x="868680" y="3176016"/>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18516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Data races</a:t>
            </a:r>
            <a:endParaRPr lang="en-US" sz="2400" dirty="0"/>
          </a:p>
        </p:txBody>
      </p:sp>
      <p:sp>
        <p:nvSpPr>
          <p:cNvPr id="22" name="Text 20"/>
          <p:cNvSpPr txBox="1"/>
          <p:nvPr/>
        </p:nvSpPr>
        <p:spPr>
          <a:xfrm>
            <a:off x="3840480"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unsynchronized access</a:t>
            </a:r>
            <a:endParaRPr lang="en-US" sz="1800" dirty="0"/>
          </a:p>
        </p:txBody>
      </p:sp>
      <p:sp>
        <p:nvSpPr>
          <p:cNvPr id="23" name="Text 21"/>
          <p:cNvSpPr txBox="1"/>
          <p:nvPr/>
        </p:nvSpPr>
        <p:spPr>
          <a:xfrm>
            <a:off x="5952744"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Send and Sync</a:t>
            </a:r>
            <a:endParaRPr lang="en-US" sz="1800" dirty="0"/>
          </a:p>
        </p:txBody>
      </p:sp>
      <p:sp>
        <p:nvSpPr>
          <p:cNvPr id="24" name="Text 22"/>
          <p:cNvSpPr txBox="1"/>
          <p:nvPr/>
        </p:nvSpPr>
        <p:spPr>
          <a:xfrm>
            <a:off x="8065008"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-race at test time</a:t>
            </a:r>
            <a:endParaRPr lang="en-US" sz="1800" dirty="0"/>
          </a:p>
        </p:txBody>
      </p:sp>
      <p:sp>
        <p:nvSpPr>
          <p:cNvPr id="25" name="Text 23"/>
          <p:cNvSpPr txBox="1"/>
          <p:nvPr/>
        </p:nvSpPr>
        <p:spPr>
          <a:xfrm>
            <a:off x="10177272"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actors, Sendable (6)</a:t>
            </a:r>
            <a:endParaRPr lang="en-US" sz="1800" dirty="0"/>
          </a:p>
        </p:txBody>
      </p:sp>
      <p:sp>
        <p:nvSpPr>
          <p:cNvPr id="26" name="Shape 24"/>
          <p:cNvSpPr/>
          <p:nvPr/>
        </p:nvSpPr>
        <p:spPr>
          <a:xfrm>
            <a:off x="868680" y="3717036"/>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72618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Allocation</a:t>
            </a:r>
            <a:endParaRPr lang="en-US" sz="2400" dirty="0"/>
          </a:p>
        </p:txBody>
      </p:sp>
      <p:sp>
        <p:nvSpPr>
          <p:cNvPr id="28" name="Text 26"/>
          <p:cNvSpPr txBox="1"/>
          <p:nvPr/>
        </p:nvSpPr>
        <p:spPr>
          <a:xfrm>
            <a:off x="3840480"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cycles leak</a:t>
            </a:r>
            <a:endParaRPr lang="en-US" sz="1800" dirty="0"/>
          </a:p>
        </p:txBody>
      </p:sp>
      <p:sp>
        <p:nvSpPr>
          <p:cNvPr id="29" name="Text 27"/>
          <p:cNvSpPr txBox="1"/>
          <p:nvPr/>
        </p:nvSpPr>
        <p:spPr>
          <a:xfrm>
            <a:off x="5952744"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Drop; cycles leak</a:t>
            </a:r>
            <a:endParaRPr lang="en-US" sz="1800" dirty="0"/>
          </a:p>
        </p:txBody>
      </p:sp>
      <p:sp>
        <p:nvSpPr>
          <p:cNvPr id="30" name="Text 28"/>
          <p:cNvSpPr txBox="1"/>
          <p:nvPr/>
        </p:nvSpPr>
        <p:spPr>
          <a:xfrm>
            <a:off x="8065008"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GC</a:t>
            </a:r>
            <a:endParaRPr lang="en-US" sz="1800" dirty="0"/>
          </a:p>
        </p:txBody>
      </p:sp>
      <p:sp>
        <p:nvSpPr>
          <p:cNvPr id="31" name="Text 29"/>
          <p:cNvSpPr txBox="1"/>
          <p:nvPr/>
        </p:nvSpPr>
        <p:spPr>
          <a:xfrm>
            <a:off x="10177272"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ARC; cycles leak</a:t>
            </a:r>
            <a:endParaRPr lang="en-US" sz="1800" dirty="0"/>
          </a:p>
        </p:txBody>
      </p:sp>
      <p:sp>
        <p:nvSpPr>
          <p:cNvPr id="32" name="Shape 30"/>
          <p:cNvSpPr/>
          <p:nvPr/>
        </p:nvSpPr>
        <p:spPr>
          <a:xfrm>
            <a:off x="868680" y="4258056"/>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26720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Allocation</a:t>
            </a:r>
            <a:endParaRPr lang="en-US" sz="2400" dirty="0"/>
          </a:p>
        </p:txBody>
      </p:sp>
      <p:sp>
        <p:nvSpPr>
          <p:cNvPr id="34" name="Text 32"/>
          <p:cNvSpPr txBox="1"/>
          <p:nvPr/>
        </p:nvSpPr>
        <p:spPr>
          <a:xfrm>
            <a:off x="3840480"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implicit owner copies</a:t>
            </a:r>
            <a:endParaRPr lang="en-US" sz="1800" dirty="0"/>
          </a:p>
        </p:txBody>
      </p:sp>
      <p:sp>
        <p:nvSpPr>
          <p:cNvPr id="35" name="Text 33"/>
          <p:cNvSpPr txBox="1"/>
          <p:nvPr/>
        </p:nvSpPr>
        <p:spPr>
          <a:xfrm>
            <a:off x="5952744"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Clone explicit</a:t>
            </a:r>
            <a:endParaRPr lang="en-US" sz="1800" dirty="0"/>
          </a:p>
        </p:txBody>
      </p:sp>
      <p:sp>
        <p:nvSpPr>
          <p:cNvPr id="36" name="Text 34"/>
          <p:cNvSpPr txBox="1"/>
          <p:nvPr/>
        </p:nvSpPr>
        <p:spPr>
          <a:xfrm>
            <a:off x="8065008"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copies share under GC</a:t>
            </a:r>
            <a:endParaRPr lang="en-US" sz="1800" dirty="0"/>
          </a:p>
        </p:txBody>
      </p:sp>
      <p:sp>
        <p:nvSpPr>
          <p:cNvPr id="37" name="Text 35"/>
          <p:cNvSpPr txBox="1"/>
          <p:nvPr/>
        </p:nvSpPr>
        <p:spPr>
          <a:xfrm>
            <a:off x="10177272"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copy on write</a:t>
            </a:r>
            <a:endParaRPr lang="en-US" sz="1800" dirty="0"/>
          </a:p>
        </p:txBody>
      </p:sp>
      <p:sp>
        <p:nvSpPr>
          <p:cNvPr id="38" name="Shape 36"/>
          <p:cNvSpPr/>
          <p:nvPr/>
        </p:nvSpPr>
        <p:spPr>
          <a:xfrm>
            <a:off x="868680" y="4799076"/>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4808220"/>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Non-memory resources</a:t>
            </a:r>
            <a:endParaRPr lang="en-US" sz="2400" dirty="0"/>
          </a:p>
        </p:txBody>
      </p:sp>
      <p:sp>
        <p:nvSpPr>
          <p:cNvPr id="40" name="Text 38"/>
          <p:cNvSpPr txBox="1"/>
          <p:nvPr/>
        </p:nvSpPr>
        <p:spPr>
          <a:xfrm>
            <a:off x="3840480"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jthread (20)</a:t>
            </a:r>
            <a:endParaRPr lang="en-US" sz="1800" dirty="0"/>
          </a:p>
        </p:txBody>
      </p:sp>
      <p:sp>
        <p:nvSpPr>
          <p:cNvPr id="41" name="Text 39"/>
          <p:cNvSpPr txBox="1"/>
          <p:nvPr/>
        </p:nvSpPr>
        <p:spPr>
          <a:xfrm>
            <a:off x="5952744"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scope joins</a:t>
            </a:r>
            <a:endParaRPr lang="en-US" sz="1800" dirty="0"/>
          </a:p>
        </p:txBody>
      </p:sp>
      <p:sp>
        <p:nvSpPr>
          <p:cNvPr id="42" name="Text 40"/>
          <p:cNvSpPr txBox="1"/>
          <p:nvPr/>
        </p:nvSpPr>
        <p:spPr>
          <a:xfrm>
            <a:off x="8065008"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defer, WaitGroup</a:t>
            </a:r>
            <a:endParaRPr lang="en-US" sz="1800" dirty="0"/>
          </a:p>
        </p:txBody>
      </p:sp>
      <p:sp>
        <p:nvSpPr>
          <p:cNvPr id="43" name="Text 41"/>
          <p:cNvSpPr txBox="1"/>
          <p:nvPr/>
        </p:nvSpPr>
        <p:spPr>
          <a:xfrm>
            <a:off x="10177272"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~Copyable; task groups</a:t>
            </a:r>
            <a:endParaRPr lang="en-US" sz="1800" dirty="0"/>
          </a:p>
        </p:txBody>
      </p:sp>
      <p:sp>
        <p:nvSpPr>
          <p:cNvPr id="44" name="Shape 42"/>
          <p:cNvSpPr/>
          <p:nvPr/>
        </p:nvSpPr>
        <p:spPr>
          <a:xfrm>
            <a:off x="868680" y="5494020"/>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503164"/>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Non-memory resources</a:t>
            </a:r>
            <a:endParaRPr lang="en-US" sz="2400" dirty="0"/>
          </a:p>
        </p:txBody>
      </p:sp>
      <p:sp>
        <p:nvSpPr>
          <p:cNvPr id="46" name="Text 44"/>
          <p:cNvSpPr txBox="1"/>
          <p:nvPr/>
        </p:nvSpPr>
        <p:spPr>
          <a:xfrm>
            <a:off x="3840480"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destructors</a:t>
            </a:r>
            <a:endParaRPr lang="en-US" sz="1800" dirty="0"/>
          </a:p>
        </p:txBody>
      </p:sp>
      <p:sp>
        <p:nvSpPr>
          <p:cNvPr id="47" name="Text 45"/>
          <p:cNvSpPr txBox="1"/>
          <p:nvPr/>
        </p:nvSpPr>
        <p:spPr>
          <a:xfrm>
            <a:off x="5952744"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Drop</a:t>
            </a:r>
            <a:endParaRPr lang="en-US" sz="1800" dirty="0"/>
          </a:p>
        </p:txBody>
      </p:sp>
      <p:sp>
        <p:nvSpPr>
          <p:cNvPr id="48" name="Text 46"/>
          <p:cNvSpPr txBox="1"/>
          <p:nvPr/>
        </p:nvSpPr>
        <p:spPr>
          <a:xfrm>
            <a:off x="8065008"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finalizers unreliable</a:t>
            </a:r>
            <a:endParaRPr lang="en-US" sz="1800" dirty="0"/>
          </a:p>
        </p:txBody>
      </p:sp>
      <p:sp>
        <p:nvSpPr>
          <p:cNvPr id="49" name="Text 47"/>
          <p:cNvSpPr txBox="1"/>
          <p:nvPr/>
        </p:nvSpPr>
        <p:spPr>
          <a:xfrm>
            <a:off x="10177272"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deinit</a:t>
            </a:r>
            <a:endParaRPr lang="en-US" sz="1800" dirty="0"/>
          </a:p>
        </p:txBody>
      </p:sp>
      <p:sp>
        <p:nvSpPr>
          <p:cNvPr id="50" name="Shape 48"/>
          <p:cNvSpPr/>
          <p:nvPr/>
        </p:nvSpPr>
        <p:spPr>
          <a:xfrm>
            <a:off x="868680" y="6188964"/>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98108"/>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Deserialization</a:t>
            </a:r>
            <a:endParaRPr lang="en-US" sz="2400" dirty="0"/>
          </a:p>
        </p:txBody>
      </p:sp>
      <p:sp>
        <p:nvSpPr>
          <p:cNvPr id="52" name="Text 50"/>
          <p:cNvSpPr txBox="1"/>
          <p:nvPr/>
        </p:nvSpPr>
        <p:spPr>
          <a:xfrm>
            <a:off x="3840480"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n/a</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standard facility</a:t>
            </a:r>
            <a:endParaRPr lang="en-US" sz="1800" dirty="0"/>
          </a:p>
        </p:txBody>
      </p:sp>
      <p:sp>
        <p:nvSpPr>
          <p:cNvPr id="53" name="Text 51"/>
          <p:cNvSpPr txBox="1"/>
          <p:nvPr/>
        </p:nvSpPr>
        <p:spPr>
          <a:xfrm>
            <a:off x="5952744"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serde</a:t>
            </a:r>
            <a:endParaRPr lang="en-US" sz="1800" dirty="0"/>
          </a:p>
        </p:txBody>
      </p:sp>
      <p:sp>
        <p:nvSpPr>
          <p:cNvPr id="54" name="Text 52"/>
          <p:cNvSpPr txBox="1"/>
          <p:nvPr/>
        </p:nvSpPr>
        <p:spPr>
          <a:xfrm>
            <a:off x="8065008"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encoding/json</a:t>
            </a:r>
            <a:endParaRPr lang="en-US" sz="1800" dirty="0"/>
          </a:p>
        </p:txBody>
      </p:sp>
      <p:sp>
        <p:nvSpPr>
          <p:cNvPr id="55" name="Text 53"/>
          <p:cNvSpPr txBox="1"/>
          <p:nvPr/>
        </p:nvSpPr>
        <p:spPr>
          <a:xfrm>
            <a:off x="10177272"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Codable</a:t>
            </a:r>
            <a:endParaRPr lang="en-US" sz="1800" dirty="0"/>
          </a:p>
        </p:txBody>
      </p:sp>
      <p:sp>
        <p:nvSpPr>
          <p:cNvPr id="58" name="Title 57">
            <a:extLst>
              <a:ext uri="{FF2B5EF4-FFF2-40B4-BE49-F238E27FC236}">
                <a16:creationId xmlns:a16="http://schemas.microsoft.com/office/drawing/2014/main" id="{B51EEBB2-4924-F987-19AF-6BE459C53096}"/>
              </a:ext>
            </a:extLst>
          </p:cNvPr>
          <p:cNvSpPr>
            <a:spLocks noGrp="1"/>
          </p:cNvSpPr>
          <p:nvPr>
            <p:ph type="title"/>
          </p:nvPr>
        </p:nvSpPr>
        <p:spPr/>
        <p:txBody>
          <a:bodyPr/>
          <a:lstStyle/>
          <a:p>
            <a:r>
              <a:rPr lang="en-US" dirty="0"/>
              <a:t>The C++ safety issues</a:t>
            </a:r>
          </a:p>
        </p:txBody>
      </p:sp>
      <p:sp>
        <p:nvSpPr>
          <p:cNvPr id="56" name="TextBox 55">
            <a:extLst>
              <a:ext uri="{FF2B5EF4-FFF2-40B4-BE49-F238E27FC236}">
                <a16:creationId xmlns:a16="http://schemas.microsoft.com/office/drawing/2014/main" id="{F7F31FB3-BA3D-A3BE-1103-C635C093BD56}"/>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2/6</a:t>
            </a:r>
            <a:endParaRPr lang="en-US" sz="2800" dirty="0">
              <a:solidFill>
                <a:schemeClr val="bg1">
                  <a:lumMod val="75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Initialization</a:t>
            </a:r>
            <a:endParaRPr lang="en-US" sz="2400" dirty="0"/>
          </a:p>
        </p:txBody>
      </p:sp>
      <p:sp>
        <p:nvSpPr>
          <p:cNvPr id="10" name="Text 8"/>
          <p:cNvSpPr txBox="1"/>
          <p:nvPr/>
        </p:nvSpPr>
        <p:spPr>
          <a:xfrm>
            <a:off x="3840480"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static init order</a:t>
            </a:r>
            <a:endParaRPr lang="en-US" sz="1800" dirty="0"/>
          </a:p>
        </p:txBody>
      </p:sp>
      <p:sp>
        <p:nvSpPr>
          <p:cNvPr id="11" name="Text 9"/>
          <p:cNvSpPr txBox="1"/>
          <p:nvPr/>
        </p:nvSpPr>
        <p:spPr>
          <a:xfrm>
            <a:off x="5952744"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constant statics</a:t>
            </a:r>
            <a:endParaRPr lang="en-US" sz="1800" dirty="0"/>
          </a:p>
        </p:txBody>
      </p:sp>
      <p:sp>
        <p:nvSpPr>
          <p:cNvPr id="12" name="Text 10"/>
          <p:cNvSpPr txBox="1"/>
          <p:nvPr/>
        </p:nvSpPr>
        <p:spPr>
          <a:xfrm>
            <a:off x="8065008"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dependency order</a:t>
            </a:r>
            <a:endParaRPr lang="en-US" sz="1800" dirty="0"/>
          </a:p>
        </p:txBody>
      </p:sp>
      <p:sp>
        <p:nvSpPr>
          <p:cNvPr id="13" name="Text 11"/>
          <p:cNvSpPr txBox="1"/>
          <p:nvPr/>
        </p:nvSpPr>
        <p:spPr>
          <a:xfrm>
            <a:off x="10177272" y="210312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lazy, once</a:t>
            </a:r>
            <a:endParaRPr lang="en-US" sz="1800" dirty="0"/>
          </a:p>
        </p:txBody>
      </p:sp>
      <p:sp>
        <p:nvSpPr>
          <p:cNvPr id="14" name="Shape 12"/>
          <p:cNvSpPr/>
          <p:nvPr/>
        </p:nvSpPr>
        <p:spPr>
          <a:xfrm>
            <a:off x="868680" y="2634996"/>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4414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Arithmetic</a:t>
            </a:r>
            <a:endParaRPr lang="en-US" sz="2400" dirty="0"/>
          </a:p>
        </p:txBody>
      </p:sp>
      <p:sp>
        <p:nvSpPr>
          <p:cNvPr id="16" name="Text 14"/>
          <p:cNvSpPr txBox="1"/>
          <p:nvPr/>
        </p:nvSpPr>
        <p:spPr>
          <a:xfrm>
            <a:off x="3840480"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signed overflow</a:t>
            </a:r>
            <a:endParaRPr lang="en-US" sz="1800" dirty="0"/>
          </a:p>
        </p:txBody>
      </p:sp>
      <p:sp>
        <p:nvSpPr>
          <p:cNvPr id="17" name="Text 15"/>
          <p:cNvSpPr txBox="1"/>
          <p:nvPr/>
        </p:nvSpPr>
        <p:spPr>
          <a:xfrm>
            <a:off x="5952744"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panic; release wraps</a:t>
            </a:r>
            <a:endParaRPr lang="en-US" sz="1800" dirty="0"/>
          </a:p>
        </p:txBody>
      </p:sp>
      <p:sp>
        <p:nvSpPr>
          <p:cNvPr id="18" name="Text 16"/>
          <p:cNvSpPr txBox="1"/>
          <p:nvPr/>
        </p:nvSpPr>
        <p:spPr>
          <a:xfrm>
            <a:off x="8065008"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wraps, defined</a:t>
            </a:r>
            <a:endParaRPr lang="en-US" sz="1800" dirty="0"/>
          </a:p>
        </p:txBody>
      </p:sp>
      <p:sp>
        <p:nvSpPr>
          <p:cNvPr id="19" name="Text 17"/>
          <p:cNvSpPr txBox="1"/>
          <p:nvPr/>
        </p:nvSpPr>
        <p:spPr>
          <a:xfrm>
            <a:off x="10177272" y="264414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traps; &amp;+ wraps</a:t>
            </a:r>
            <a:endParaRPr lang="en-US" sz="1800" dirty="0"/>
          </a:p>
        </p:txBody>
      </p:sp>
      <p:sp>
        <p:nvSpPr>
          <p:cNvPr id="20" name="Shape 18"/>
          <p:cNvSpPr/>
          <p:nvPr/>
        </p:nvSpPr>
        <p:spPr>
          <a:xfrm>
            <a:off x="868680" y="3176016"/>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18516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Data races</a:t>
            </a:r>
            <a:endParaRPr lang="en-US" sz="2400" dirty="0"/>
          </a:p>
        </p:txBody>
      </p:sp>
      <p:sp>
        <p:nvSpPr>
          <p:cNvPr id="22" name="Text 20"/>
          <p:cNvSpPr txBox="1"/>
          <p:nvPr/>
        </p:nvSpPr>
        <p:spPr>
          <a:xfrm>
            <a:off x="3840480"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unsynchronized access</a:t>
            </a:r>
            <a:endParaRPr lang="en-US" sz="1800" dirty="0"/>
          </a:p>
        </p:txBody>
      </p:sp>
      <p:sp>
        <p:nvSpPr>
          <p:cNvPr id="23" name="Text 21"/>
          <p:cNvSpPr txBox="1"/>
          <p:nvPr/>
        </p:nvSpPr>
        <p:spPr>
          <a:xfrm>
            <a:off x="5952744"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Send and Sync</a:t>
            </a:r>
            <a:endParaRPr lang="en-US" sz="1800" dirty="0"/>
          </a:p>
        </p:txBody>
      </p:sp>
      <p:sp>
        <p:nvSpPr>
          <p:cNvPr id="24" name="Text 22"/>
          <p:cNvSpPr txBox="1"/>
          <p:nvPr/>
        </p:nvSpPr>
        <p:spPr>
          <a:xfrm>
            <a:off x="8065008"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-race at test time</a:t>
            </a:r>
            <a:endParaRPr lang="en-US" sz="1800" dirty="0"/>
          </a:p>
        </p:txBody>
      </p:sp>
      <p:sp>
        <p:nvSpPr>
          <p:cNvPr id="25" name="Text 23"/>
          <p:cNvSpPr txBox="1"/>
          <p:nvPr/>
        </p:nvSpPr>
        <p:spPr>
          <a:xfrm>
            <a:off x="10177272" y="318516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actors, Sendable (6)</a:t>
            </a:r>
            <a:endParaRPr lang="en-US" sz="1800" dirty="0"/>
          </a:p>
        </p:txBody>
      </p:sp>
      <p:sp>
        <p:nvSpPr>
          <p:cNvPr id="26" name="Shape 24"/>
          <p:cNvSpPr/>
          <p:nvPr/>
        </p:nvSpPr>
        <p:spPr>
          <a:xfrm>
            <a:off x="868680" y="3717036"/>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72618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Allocation</a:t>
            </a:r>
            <a:endParaRPr lang="en-US" sz="2400" dirty="0"/>
          </a:p>
        </p:txBody>
      </p:sp>
      <p:sp>
        <p:nvSpPr>
          <p:cNvPr id="28" name="Text 26"/>
          <p:cNvSpPr txBox="1"/>
          <p:nvPr/>
        </p:nvSpPr>
        <p:spPr>
          <a:xfrm>
            <a:off x="3840480"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cycles leak</a:t>
            </a:r>
            <a:endParaRPr lang="en-US" sz="1800" dirty="0"/>
          </a:p>
        </p:txBody>
      </p:sp>
      <p:sp>
        <p:nvSpPr>
          <p:cNvPr id="29" name="Text 27"/>
          <p:cNvSpPr txBox="1"/>
          <p:nvPr/>
        </p:nvSpPr>
        <p:spPr>
          <a:xfrm>
            <a:off x="5952744"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Drop; cycles leak</a:t>
            </a:r>
            <a:endParaRPr lang="en-US" sz="1800" dirty="0"/>
          </a:p>
        </p:txBody>
      </p:sp>
      <p:sp>
        <p:nvSpPr>
          <p:cNvPr id="30" name="Text 28"/>
          <p:cNvSpPr txBox="1"/>
          <p:nvPr/>
        </p:nvSpPr>
        <p:spPr>
          <a:xfrm>
            <a:off x="8065008"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GC</a:t>
            </a:r>
            <a:endParaRPr lang="en-US" sz="1800" dirty="0"/>
          </a:p>
        </p:txBody>
      </p:sp>
      <p:sp>
        <p:nvSpPr>
          <p:cNvPr id="31" name="Text 29"/>
          <p:cNvSpPr txBox="1"/>
          <p:nvPr/>
        </p:nvSpPr>
        <p:spPr>
          <a:xfrm>
            <a:off x="10177272" y="372618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ARC; cycles leak</a:t>
            </a:r>
            <a:endParaRPr lang="en-US" sz="1800" dirty="0"/>
          </a:p>
        </p:txBody>
      </p:sp>
      <p:sp>
        <p:nvSpPr>
          <p:cNvPr id="32" name="Shape 30"/>
          <p:cNvSpPr/>
          <p:nvPr/>
        </p:nvSpPr>
        <p:spPr>
          <a:xfrm>
            <a:off x="868680" y="4258056"/>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267200"/>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Allocation</a:t>
            </a:r>
            <a:endParaRPr lang="en-US" sz="2400" dirty="0"/>
          </a:p>
        </p:txBody>
      </p:sp>
      <p:sp>
        <p:nvSpPr>
          <p:cNvPr id="34" name="Text 32"/>
          <p:cNvSpPr txBox="1"/>
          <p:nvPr/>
        </p:nvSpPr>
        <p:spPr>
          <a:xfrm>
            <a:off x="3840480"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implicit owner copies</a:t>
            </a:r>
            <a:endParaRPr lang="en-US" sz="1800" dirty="0"/>
          </a:p>
        </p:txBody>
      </p:sp>
      <p:sp>
        <p:nvSpPr>
          <p:cNvPr id="35" name="Text 33"/>
          <p:cNvSpPr txBox="1"/>
          <p:nvPr/>
        </p:nvSpPr>
        <p:spPr>
          <a:xfrm>
            <a:off x="5952744"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Clone explicit</a:t>
            </a:r>
            <a:endParaRPr lang="en-US" sz="1800" dirty="0"/>
          </a:p>
        </p:txBody>
      </p:sp>
      <p:sp>
        <p:nvSpPr>
          <p:cNvPr id="36" name="Text 34"/>
          <p:cNvSpPr txBox="1"/>
          <p:nvPr/>
        </p:nvSpPr>
        <p:spPr>
          <a:xfrm>
            <a:off x="8065008"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copies share under GC</a:t>
            </a:r>
            <a:endParaRPr lang="en-US" sz="1800" dirty="0"/>
          </a:p>
        </p:txBody>
      </p:sp>
      <p:sp>
        <p:nvSpPr>
          <p:cNvPr id="37" name="Text 35"/>
          <p:cNvSpPr txBox="1"/>
          <p:nvPr/>
        </p:nvSpPr>
        <p:spPr>
          <a:xfrm>
            <a:off x="10177272" y="4267200"/>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copy on write</a:t>
            </a:r>
            <a:endParaRPr lang="en-US" sz="1800" dirty="0"/>
          </a:p>
        </p:txBody>
      </p:sp>
      <p:sp>
        <p:nvSpPr>
          <p:cNvPr id="38" name="Shape 36"/>
          <p:cNvSpPr/>
          <p:nvPr/>
        </p:nvSpPr>
        <p:spPr>
          <a:xfrm>
            <a:off x="868680" y="4799076"/>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4808220"/>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Non-memory resources</a:t>
            </a:r>
            <a:endParaRPr lang="en-US" sz="2400" dirty="0"/>
          </a:p>
        </p:txBody>
      </p:sp>
      <p:sp>
        <p:nvSpPr>
          <p:cNvPr id="40" name="Text 38"/>
          <p:cNvSpPr txBox="1"/>
          <p:nvPr/>
        </p:nvSpPr>
        <p:spPr>
          <a:xfrm>
            <a:off x="3840480"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jthread (20)</a:t>
            </a:r>
            <a:endParaRPr lang="en-US" sz="1800" dirty="0"/>
          </a:p>
        </p:txBody>
      </p:sp>
      <p:sp>
        <p:nvSpPr>
          <p:cNvPr id="41" name="Text 39"/>
          <p:cNvSpPr txBox="1"/>
          <p:nvPr/>
        </p:nvSpPr>
        <p:spPr>
          <a:xfrm>
            <a:off x="5952744"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scope joins</a:t>
            </a:r>
            <a:endParaRPr lang="en-US" sz="1800" dirty="0"/>
          </a:p>
        </p:txBody>
      </p:sp>
      <p:sp>
        <p:nvSpPr>
          <p:cNvPr id="42" name="Text 40"/>
          <p:cNvSpPr txBox="1"/>
          <p:nvPr/>
        </p:nvSpPr>
        <p:spPr>
          <a:xfrm>
            <a:off x="8065008"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defer, WaitGroup</a:t>
            </a:r>
            <a:endParaRPr lang="en-US" sz="1800" dirty="0"/>
          </a:p>
        </p:txBody>
      </p:sp>
      <p:sp>
        <p:nvSpPr>
          <p:cNvPr id="43" name="Text 41"/>
          <p:cNvSpPr txBox="1"/>
          <p:nvPr/>
        </p:nvSpPr>
        <p:spPr>
          <a:xfrm>
            <a:off x="10177272" y="48082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~Copyable; task groups</a:t>
            </a:r>
            <a:endParaRPr lang="en-US" sz="1800" dirty="0"/>
          </a:p>
        </p:txBody>
      </p:sp>
      <p:sp>
        <p:nvSpPr>
          <p:cNvPr id="44" name="Shape 42"/>
          <p:cNvSpPr/>
          <p:nvPr/>
        </p:nvSpPr>
        <p:spPr>
          <a:xfrm>
            <a:off x="868680" y="5494020"/>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503164"/>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Non-memory resources</a:t>
            </a:r>
            <a:endParaRPr lang="en-US" sz="2400" dirty="0"/>
          </a:p>
        </p:txBody>
      </p:sp>
      <p:sp>
        <p:nvSpPr>
          <p:cNvPr id="46" name="Text 44"/>
          <p:cNvSpPr txBox="1"/>
          <p:nvPr/>
        </p:nvSpPr>
        <p:spPr>
          <a:xfrm>
            <a:off x="3840480"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destructors</a:t>
            </a:r>
            <a:endParaRPr lang="en-US" sz="1800" dirty="0"/>
          </a:p>
        </p:txBody>
      </p:sp>
      <p:sp>
        <p:nvSpPr>
          <p:cNvPr id="47" name="Text 45"/>
          <p:cNvSpPr txBox="1"/>
          <p:nvPr/>
        </p:nvSpPr>
        <p:spPr>
          <a:xfrm>
            <a:off x="5952744"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Drop</a:t>
            </a:r>
            <a:endParaRPr lang="en-US" sz="1800" dirty="0"/>
          </a:p>
        </p:txBody>
      </p:sp>
      <p:sp>
        <p:nvSpPr>
          <p:cNvPr id="48" name="Text 46"/>
          <p:cNvSpPr txBox="1"/>
          <p:nvPr/>
        </p:nvSpPr>
        <p:spPr>
          <a:xfrm>
            <a:off x="8065008"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finalizers unreliable</a:t>
            </a:r>
            <a:endParaRPr lang="en-US" sz="1800" dirty="0"/>
          </a:p>
        </p:txBody>
      </p:sp>
      <p:sp>
        <p:nvSpPr>
          <p:cNvPr id="49" name="Text 47"/>
          <p:cNvSpPr txBox="1"/>
          <p:nvPr/>
        </p:nvSpPr>
        <p:spPr>
          <a:xfrm>
            <a:off x="10177272" y="55031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deinit</a:t>
            </a:r>
            <a:endParaRPr lang="en-US" sz="1800" dirty="0"/>
          </a:p>
        </p:txBody>
      </p:sp>
      <p:sp>
        <p:nvSpPr>
          <p:cNvPr id="50" name="Shape 48"/>
          <p:cNvSpPr/>
          <p:nvPr/>
        </p:nvSpPr>
        <p:spPr>
          <a:xfrm>
            <a:off x="868680" y="6188964"/>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98108"/>
            <a:ext cx="2651760" cy="522732"/>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Deserialization</a:t>
            </a:r>
            <a:endParaRPr lang="en-US" sz="2400" dirty="0"/>
          </a:p>
        </p:txBody>
      </p:sp>
      <p:sp>
        <p:nvSpPr>
          <p:cNvPr id="52" name="Text 50"/>
          <p:cNvSpPr txBox="1"/>
          <p:nvPr/>
        </p:nvSpPr>
        <p:spPr>
          <a:xfrm>
            <a:off x="3840480"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n/a</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standard facility</a:t>
            </a:r>
            <a:endParaRPr lang="en-US" sz="1800" dirty="0"/>
          </a:p>
        </p:txBody>
      </p:sp>
      <p:sp>
        <p:nvSpPr>
          <p:cNvPr id="53" name="Text 51"/>
          <p:cNvSpPr txBox="1"/>
          <p:nvPr/>
        </p:nvSpPr>
        <p:spPr>
          <a:xfrm>
            <a:off x="5952744"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serde</a:t>
            </a:r>
            <a:endParaRPr lang="en-US" sz="1800" dirty="0"/>
          </a:p>
        </p:txBody>
      </p:sp>
      <p:sp>
        <p:nvSpPr>
          <p:cNvPr id="54" name="Text 52"/>
          <p:cNvSpPr txBox="1"/>
          <p:nvPr/>
        </p:nvSpPr>
        <p:spPr>
          <a:xfrm>
            <a:off x="8065008"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encoding/json</a:t>
            </a:r>
            <a:endParaRPr lang="en-US" sz="1800" dirty="0"/>
          </a:p>
        </p:txBody>
      </p:sp>
      <p:sp>
        <p:nvSpPr>
          <p:cNvPr id="55" name="Text 53"/>
          <p:cNvSpPr txBox="1"/>
          <p:nvPr/>
        </p:nvSpPr>
        <p:spPr>
          <a:xfrm>
            <a:off x="10177272" y="6198108"/>
            <a:ext cx="1828800" cy="522732"/>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Codable</a:t>
            </a:r>
            <a:endParaRPr lang="en-US" sz="1800" dirty="0"/>
          </a:p>
        </p:txBody>
      </p:sp>
      <p:sp>
        <p:nvSpPr>
          <p:cNvPr id="58" name="Title 57">
            <a:extLst>
              <a:ext uri="{FF2B5EF4-FFF2-40B4-BE49-F238E27FC236}">
                <a16:creationId xmlns:a16="http://schemas.microsoft.com/office/drawing/2014/main" id="{B51EEBB2-4924-F987-19AF-6BE459C53096}"/>
              </a:ext>
            </a:extLst>
          </p:cNvPr>
          <p:cNvSpPr>
            <a:spLocks noGrp="1"/>
          </p:cNvSpPr>
          <p:nvPr>
            <p:ph type="title"/>
          </p:nvPr>
        </p:nvSpPr>
        <p:spPr/>
        <p:txBody>
          <a:bodyPr/>
          <a:lstStyle/>
          <a:p>
            <a:r>
              <a:rPr lang="en-US" dirty="0"/>
              <a:t>The C++ safety issues</a:t>
            </a:r>
          </a:p>
        </p:txBody>
      </p:sp>
      <p:sp>
        <p:nvSpPr>
          <p:cNvPr id="905" name="Callout"/>
          <p:cNvSpPr/>
          <p:nvPr/>
        </p:nvSpPr>
        <p:spPr>
          <a:xfrm>
            <a:off x="3467100" y="3869436"/>
            <a:ext cx="5099050" cy="1248547"/>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2800" b="1" dirty="0">
                <a:solidFill>
                  <a:srgbClr val="1C3E63"/>
                </a:solidFill>
                <a:latin typeface="Aptos"/>
              </a:rPr>
              <a:t>RAII holds up everywhere</a:t>
            </a:r>
            <a:br>
              <a:rPr lang="en-US" sz="2800" b="1" dirty="0">
                <a:solidFill>
                  <a:srgbClr val="1C3E63"/>
                </a:solidFill>
                <a:latin typeface="Aptos"/>
              </a:rPr>
            </a:br>
            <a:r>
              <a:rPr lang="en-US" b="1" dirty="0">
                <a:solidFill>
                  <a:srgbClr val="1C3E63"/>
                </a:solidFill>
                <a:latin typeface="Aptos"/>
              </a:rPr>
              <a:t>Swift by refcount, Go by hand</a:t>
            </a:r>
          </a:p>
          <a:p>
            <a:pPr algn="ctr"/>
            <a:r>
              <a:rPr lang="en-US" b="1" dirty="0">
                <a:solidFill>
                  <a:srgbClr val="1C3E63"/>
                </a:solidFill>
              </a:rPr>
              <a:t>leaks are 2% of CVEs</a:t>
            </a:r>
            <a:endParaRPr lang="en-US" sz="2800" b="1" dirty="0">
              <a:solidFill>
                <a:srgbClr val="1C3E63"/>
              </a:solidFill>
              <a:latin typeface="Aptos"/>
            </a:endParaRPr>
          </a:p>
        </p:txBody>
      </p:sp>
      <p:sp>
        <p:nvSpPr>
          <p:cNvPr id="906" name="Callout"/>
          <p:cNvSpPr/>
          <p:nvPr/>
        </p:nvSpPr>
        <p:spPr>
          <a:xfrm>
            <a:off x="3166872" y="5292853"/>
            <a:ext cx="3200400" cy="548640"/>
          </a:xfrm>
          <a:prstGeom prst="roundRect">
            <a:avLst>
              <a:gd name="adj" fmla="val 50000"/>
            </a:avLst>
          </a:prstGeom>
          <a:solidFill>
            <a:srgbClr val="FFFFFF"/>
          </a:solidFill>
          <a:ln w="25400">
            <a:solidFill>
              <a:srgbClr val="1C3E63"/>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1C3E63"/>
                </a:solidFill>
                <a:latin typeface="Aptos"/>
              </a:rPr>
              <a:t>destructors are the model the others copied</a:t>
            </a:r>
          </a:p>
        </p:txBody>
      </p:sp>
      <p:sp>
        <p:nvSpPr>
          <p:cNvPr id="56" name="TextBox 55">
            <a:extLst>
              <a:ext uri="{FF2B5EF4-FFF2-40B4-BE49-F238E27FC236}">
                <a16:creationId xmlns:a16="http://schemas.microsoft.com/office/drawing/2014/main" id="{AA4D2946-F347-1312-2610-6BF9DB1217C6}"/>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2/6</a:t>
            </a:r>
            <a:endParaRPr lang="en-US" sz="2800" dirty="0">
              <a:solidFill>
                <a:schemeClr val="bg1">
                  <a:lumMod val="75000"/>
                </a:schemeClr>
              </a:solidFill>
            </a:endParaRPr>
          </a:p>
        </p:txBody>
      </p:sp>
      <p:sp>
        <p:nvSpPr>
          <p:cNvPr id="57" name="Callout">
            <a:extLst>
              <a:ext uri="{FF2B5EF4-FFF2-40B4-BE49-F238E27FC236}">
                <a16:creationId xmlns:a16="http://schemas.microsoft.com/office/drawing/2014/main" id="{7711825C-E8DA-D0D0-D10D-78250A0DAAE9}"/>
              </a:ext>
            </a:extLst>
          </p:cNvPr>
          <p:cNvSpPr/>
          <p:nvPr/>
        </p:nvSpPr>
        <p:spPr>
          <a:xfrm>
            <a:off x="2768600" y="2191903"/>
            <a:ext cx="3598672" cy="1234440"/>
          </a:xfrm>
          <a:prstGeom prst="roundRect">
            <a:avLst>
              <a:gd name="adj" fmla="val 50000"/>
            </a:avLst>
          </a:prstGeom>
          <a:solidFill>
            <a:srgbClr val="FFFFFF"/>
          </a:solidFill>
          <a:ln w="3175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a:solidFill>
                  <a:srgbClr val="7A1C15"/>
                </a:solidFill>
                <a:latin typeface="Aptos"/>
              </a:rPr>
              <a:t>init order, overflow and races, UB in C++, 7% of CVEs</a:t>
            </a:r>
          </a:p>
        </p:txBody>
      </p:sp>
      <p:sp>
        <p:nvSpPr>
          <p:cNvPr id="60" name="Callout">
            <a:extLst>
              <a:ext uri="{FF2B5EF4-FFF2-40B4-BE49-F238E27FC236}">
                <a16:creationId xmlns:a16="http://schemas.microsoft.com/office/drawing/2014/main" id="{39960054-F426-F14A-05D3-02A1737CD9E5}"/>
              </a:ext>
            </a:extLst>
          </p:cNvPr>
          <p:cNvSpPr/>
          <p:nvPr/>
        </p:nvSpPr>
        <p:spPr>
          <a:xfrm>
            <a:off x="7723505" y="3332597"/>
            <a:ext cx="2274062" cy="457200"/>
          </a:xfrm>
          <a:prstGeom prst="roundRect">
            <a:avLst>
              <a:gd name="adj" fmla="val 50000"/>
            </a:avLst>
          </a:prstGeom>
          <a:solidFill>
            <a:srgbClr val="FFFFFF"/>
          </a:solidFill>
          <a:ln w="3175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7A1C15"/>
                </a:solidFill>
                <a:latin typeface="Aptos"/>
              </a:rPr>
              <a:t>UB in Go too</a:t>
            </a:r>
          </a:p>
        </p:txBody>
      </p:sp>
      <p:sp>
        <p:nvSpPr>
          <p:cNvPr id="62" name="Callout">
            <a:extLst>
              <a:ext uri="{FF2B5EF4-FFF2-40B4-BE49-F238E27FC236}">
                <a16:creationId xmlns:a16="http://schemas.microsoft.com/office/drawing/2014/main" id="{86E979FC-4303-0A3D-25F7-2A020F2DE9A3}"/>
              </a:ext>
            </a:extLst>
          </p:cNvPr>
          <p:cNvSpPr/>
          <p:nvPr/>
        </p:nvSpPr>
        <p:spPr>
          <a:xfrm>
            <a:off x="7005828" y="2099526"/>
            <a:ext cx="4595622" cy="1026394"/>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800" b="1" dirty="0">
                <a:solidFill>
                  <a:srgbClr val="1C3E63"/>
                </a:solidFill>
                <a:latin typeface="Aptos"/>
              </a:rPr>
              <a:t>Defined</a:t>
            </a:r>
          </a:p>
          <a:p>
            <a:pPr algn="ctr"/>
            <a:r>
              <a:rPr lang="en-US" sz="2800" b="1" dirty="0">
                <a:solidFill>
                  <a:srgbClr val="1C3E63"/>
                </a:solidFill>
                <a:latin typeface="Aptos"/>
              </a:rPr>
              <a:t>by design or a trap</a:t>
            </a:r>
          </a:p>
        </p:txBody>
      </p:sp>
      <p:sp>
        <p:nvSpPr>
          <p:cNvPr id="896" name="Callout">
            <a:extLst>
              <a:ext uri="{FF2B5EF4-FFF2-40B4-BE49-F238E27FC236}">
                <a16:creationId xmlns:a16="http://schemas.microsoft.com/office/drawing/2014/main" id="{06A8DD83-A339-FCA0-FE25-4D02E46CF8D0}"/>
              </a:ext>
            </a:extLst>
          </p:cNvPr>
          <p:cNvSpPr/>
          <p:nvPr/>
        </p:nvSpPr>
        <p:spPr>
          <a:xfrm>
            <a:off x="3938016" y="6326125"/>
            <a:ext cx="6933692" cy="373311"/>
          </a:xfrm>
          <a:prstGeom prst="roundRect">
            <a:avLst>
              <a:gd name="adj" fmla="val 50000"/>
            </a:avLst>
          </a:prstGeom>
          <a:solidFill>
            <a:srgbClr val="FFFFFF"/>
          </a:solidFill>
          <a:ln w="19050">
            <a:solidFill>
              <a:srgbClr val="3F3F3F"/>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400" b="1" dirty="0">
                <a:solidFill>
                  <a:srgbClr val="3F3F3F"/>
                </a:solidFill>
                <a:latin typeface="Aptos"/>
              </a:rPr>
              <a:t>deserialization, 4.7% of exploits, every language opts in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Type</a:t>
            </a:r>
            <a:endParaRPr lang="en-US" sz="2400" dirty="0"/>
          </a:p>
        </p:txBody>
      </p:sp>
      <p:sp>
        <p:nvSpPr>
          <p:cNvPr id="10" name="Text 8"/>
          <p:cNvSpPr txBox="1"/>
          <p:nvPr/>
        </p:nvSpPr>
        <p:spPr>
          <a:xfrm>
            <a:off x="3840480"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dynamic_cast opt-in</a:t>
            </a:r>
            <a:endParaRPr lang="en-US" sz="1800" dirty="0"/>
          </a:p>
        </p:txBody>
      </p:sp>
      <p:sp>
        <p:nvSpPr>
          <p:cNvPr id="11" name="Text 9"/>
          <p:cNvSpPr txBox="1"/>
          <p:nvPr/>
        </p:nvSpPr>
        <p:spPr>
          <a:xfrm>
            <a:off x="5952744"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downcast → Option</a:t>
            </a:r>
            <a:endParaRPr lang="en-US" sz="1800" dirty="0"/>
          </a:p>
        </p:txBody>
      </p:sp>
      <p:sp>
        <p:nvSpPr>
          <p:cNvPr id="12" name="Text 10"/>
          <p:cNvSpPr txBox="1"/>
          <p:nvPr/>
        </p:nvSpPr>
        <p:spPr>
          <a:xfrm>
            <a:off x="8065008"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assertion panics</a:t>
            </a:r>
            <a:endParaRPr lang="en-US" sz="1800" dirty="0"/>
          </a:p>
        </p:txBody>
      </p:sp>
      <p:sp>
        <p:nvSpPr>
          <p:cNvPr id="13" name="Text 11"/>
          <p:cNvSpPr txBox="1"/>
          <p:nvPr/>
        </p:nvSpPr>
        <p:spPr>
          <a:xfrm>
            <a:off x="10177272"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as? nil, as! traps</a:t>
            </a:r>
            <a:endParaRPr lang="en-US" sz="1800" dirty="0"/>
          </a:p>
        </p:txBody>
      </p:sp>
      <p:sp>
        <p:nvSpPr>
          <p:cNvPr id="14" name="Shape 12"/>
          <p:cNvSpPr/>
          <p:nvPr/>
        </p:nvSpPr>
        <p:spPr>
          <a:xfrm>
            <a:off x="868680" y="2673477"/>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82621"/>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Type</a:t>
            </a:r>
            <a:endParaRPr lang="en-US" sz="2400" dirty="0"/>
          </a:p>
        </p:txBody>
      </p:sp>
      <p:sp>
        <p:nvSpPr>
          <p:cNvPr id="16" name="Text 14"/>
          <p:cNvSpPr txBox="1"/>
          <p:nvPr/>
        </p:nvSpPr>
        <p:spPr>
          <a:xfrm>
            <a:off x="3840480"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slicing; dtor UB</a:t>
            </a:r>
            <a:endParaRPr lang="en-US" sz="1800" dirty="0"/>
          </a:p>
        </p:txBody>
      </p:sp>
      <p:sp>
        <p:nvSpPr>
          <p:cNvPr id="17" name="Text 15"/>
          <p:cNvSpPr txBox="1"/>
          <p:nvPr/>
        </p:nvSpPr>
        <p:spPr>
          <a:xfrm>
            <a:off x="5952744"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state inheritance</a:t>
            </a:r>
            <a:endParaRPr lang="en-US" sz="1800" dirty="0"/>
          </a:p>
        </p:txBody>
      </p:sp>
      <p:sp>
        <p:nvSpPr>
          <p:cNvPr id="18" name="Text 16"/>
          <p:cNvSpPr txBox="1"/>
          <p:nvPr/>
        </p:nvSpPr>
        <p:spPr>
          <a:xfrm>
            <a:off x="8065008"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inheritance</a:t>
            </a:r>
            <a:endParaRPr lang="en-US" sz="1800" dirty="0"/>
          </a:p>
        </p:txBody>
      </p:sp>
      <p:sp>
        <p:nvSpPr>
          <p:cNvPr id="19" name="Text 17"/>
          <p:cNvSpPr txBox="1"/>
          <p:nvPr/>
        </p:nvSpPr>
        <p:spPr>
          <a:xfrm>
            <a:off x="10177272"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classes are refs</a:t>
            </a:r>
            <a:endParaRPr lang="en-US" sz="1800" dirty="0"/>
          </a:p>
        </p:txBody>
      </p:sp>
      <p:sp>
        <p:nvSpPr>
          <p:cNvPr id="20" name="Shape 18"/>
          <p:cNvSpPr/>
          <p:nvPr/>
        </p:nvSpPr>
        <p:spPr>
          <a:xfrm>
            <a:off x="868680" y="3252978"/>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262122"/>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Conversion</a:t>
            </a:r>
            <a:endParaRPr lang="en-US" sz="2400" dirty="0"/>
          </a:p>
        </p:txBody>
      </p:sp>
      <p:sp>
        <p:nvSpPr>
          <p:cNvPr id="22" name="Text 20"/>
          <p:cNvSpPr txBox="1"/>
          <p:nvPr/>
        </p:nvSpPr>
        <p:spPr>
          <a:xfrm>
            <a:off x="3840480"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braces reject narrow</a:t>
            </a:r>
            <a:endParaRPr lang="en-US" sz="1800" dirty="0"/>
          </a:p>
        </p:txBody>
      </p:sp>
      <p:sp>
        <p:nvSpPr>
          <p:cNvPr id="23" name="Text 21"/>
          <p:cNvSpPr txBox="1"/>
          <p:nvPr/>
        </p:nvSpPr>
        <p:spPr>
          <a:xfrm>
            <a:off x="5952744"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explicit only</a:t>
            </a:r>
            <a:endParaRPr lang="en-US" sz="1800" dirty="0"/>
          </a:p>
        </p:txBody>
      </p:sp>
      <p:sp>
        <p:nvSpPr>
          <p:cNvPr id="24" name="Text 22"/>
          <p:cNvSpPr txBox="1"/>
          <p:nvPr/>
        </p:nvSpPr>
        <p:spPr>
          <a:xfrm>
            <a:off x="8065008"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explicit only</a:t>
            </a:r>
            <a:endParaRPr lang="en-US" sz="1800" dirty="0"/>
          </a:p>
        </p:txBody>
      </p:sp>
      <p:sp>
        <p:nvSpPr>
          <p:cNvPr id="25" name="Text 23"/>
          <p:cNvSpPr txBox="1"/>
          <p:nvPr/>
        </p:nvSpPr>
        <p:spPr>
          <a:xfrm>
            <a:off x="10177272"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traps on narrowing</a:t>
            </a:r>
            <a:endParaRPr lang="en-US" sz="1800" dirty="0"/>
          </a:p>
        </p:txBody>
      </p:sp>
      <p:sp>
        <p:nvSpPr>
          <p:cNvPr id="26" name="Shape 24"/>
          <p:cNvSpPr/>
          <p:nvPr/>
        </p:nvSpPr>
        <p:spPr>
          <a:xfrm>
            <a:off x="868680" y="3832479"/>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841623"/>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Conversion</a:t>
            </a:r>
            <a:endParaRPr lang="en-US" sz="2400" dirty="0"/>
          </a:p>
        </p:txBody>
      </p:sp>
      <p:sp>
        <p:nvSpPr>
          <p:cNvPr id="28" name="Text 26"/>
          <p:cNvSpPr txBox="1"/>
          <p:nvPr/>
        </p:nvSpPr>
        <p:spPr>
          <a:xfrm>
            <a:off x="3840480"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ADL, overloads pick</a:t>
            </a:r>
            <a:endParaRPr lang="en-US" sz="1800" dirty="0"/>
          </a:p>
        </p:txBody>
      </p:sp>
      <p:sp>
        <p:nvSpPr>
          <p:cNvPr id="29" name="Text 27"/>
          <p:cNvSpPr txBox="1"/>
          <p:nvPr/>
        </p:nvSpPr>
        <p:spPr>
          <a:xfrm>
            <a:off x="5952744"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ADL, no overloads</a:t>
            </a:r>
            <a:endParaRPr lang="en-US" sz="1800" dirty="0"/>
          </a:p>
        </p:txBody>
      </p:sp>
      <p:sp>
        <p:nvSpPr>
          <p:cNvPr id="30" name="Text 28"/>
          <p:cNvSpPr txBox="1"/>
          <p:nvPr/>
        </p:nvSpPr>
        <p:spPr>
          <a:xfrm>
            <a:off x="8065008"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none</a:t>
            </a:r>
            <a:endParaRPr lang="en-US" sz="1800" dirty="0"/>
          </a:p>
        </p:txBody>
      </p:sp>
      <p:sp>
        <p:nvSpPr>
          <p:cNvPr id="31" name="Text 29"/>
          <p:cNvSpPr txBox="1"/>
          <p:nvPr/>
        </p:nvSpPr>
        <p:spPr>
          <a:xfrm>
            <a:off x="10177272"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static, fixed set</a:t>
            </a:r>
            <a:endParaRPr lang="en-US" sz="1800" dirty="0"/>
          </a:p>
        </p:txBody>
      </p:sp>
      <p:sp>
        <p:nvSpPr>
          <p:cNvPr id="32" name="Shape 30"/>
          <p:cNvSpPr/>
          <p:nvPr/>
        </p:nvSpPr>
        <p:spPr>
          <a:xfrm>
            <a:off x="868680" y="4411980"/>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421124"/>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Error handling</a:t>
            </a:r>
            <a:endParaRPr lang="en-US" sz="2400" dirty="0"/>
          </a:p>
        </p:txBody>
      </p:sp>
      <p:sp>
        <p:nvSpPr>
          <p:cNvPr id="34" name="Text 32"/>
          <p:cNvSpPr txBox="1"/>
          <p:nvPr/>
        </p:nvSpPr>
        <p:spPr>
          <a:xfrm>
            <a:off x="3840480"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nodiscard; contracts</a:t>
            </a:r>
            <a:endParaRPr lang="en-US" sz="1800" dirty="0"/>
          </a:p>
        </p:txBody>
      </p:sp>
      <p:sp>
        <p:nvSpPr>
          <p:cNvPr id="35" name="Text 33"/>
          <p:cNvSpPr txBox="1"/>
          <p:nvPr/>
        </p:nvSpPr>
        <p:spPr>
          <a:xfrm>
            <a:off x="5952744"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must_use warns</a:t>
            </a:r>
            <a:endParaRPr lang="en-US" sz="1800" dirty="0"/>
          </a:p>
        </p:txBody>
      </p:sp>
      <p:sp>
        <p:nvSpPr>
          <p:cNvPr id="36" name="Text 34"/>
          <p:cNvSpPr txBox="1"/>
          <p:nvPr/>
        </p:nvSpPr>
        <p:spPr>
          <a:xfrm>
            <a:off x="8065008"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errors ignorable</a:t>
            </a:r>
            <a:endParaRPr lang="en-US" sz="1800" dirty="0"/>
          </a:p>
        </p:txBody>
      </p:sp>
      <p:sp>
        <p:nvSpPr>
          <p:cNvPr id="37" name="Text 35"/>
          <p:cNvSpPr txBox="1"/>
          <p:nvPr/>
        </p:nvSpPr>
        <p:spPr>
          <a:xfrm>
            <a:off x="10177272"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try required</a:t>
            </a:r>
            <a:endParaRPr lang="en-US" sz="1800" dirty="0"/>
          </a:p>
        </p:txBody>
      </p:sp>
      <p:sp>
        <p:nvSpPr>
          <p:cNvPr id="38" name="Shape 36"/>
          <p:cNvSpPr/>
          <p:nvPr/>
        </p:nvSpPr>
        <p:spPr>
          <a:xfrm>
            <a:off x="868680" y="4991481"/>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000625"/>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Object model</a:t>
            </a:r>
            <a:endParaRPr lang="en-US" sz="2400" dirty="0"/>
          </a:p>
        </p:txBody>
      </p:sp>
      <p:sp>
        <p:nvSpPr>
          <p:cNvPr id="40" name="Text 38"/>
          <p:cNvSpPr txBox="1"/>
          <p:nvPr/>
        </p:nvSpPr>
        <p:spPr>
          <a:xfrm>
            <a:off x="3840480"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union punning</a:t>
            </a:r>
            <a:endParaRPr lang="en-US" sz="1800" dirty="0"/>
          </a:p>
        </p:txBody>
      </p:sp>
      <p:sp>
        <p:nvSpPr>
          <p:cNvPr id="41" name="Text 39"/>
          <p:cNvSpPr txBox="1"/>
          <p:nvPr/>
        </p:nvSpPr>
        <p:spPr>
          <a:xfrm>
            <a:off x="5952744"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enum; union unsafe</a:t>
            </a:r>
            <a:endParaRPr lang="en-US" sz="1800" dirty="0"/>
          </a:p>
        </p:txBody>
      </p:sp>
      <p:sp>
        <p:nvSpPr>
          <p:cNvPr id="42" name="Text 40"/>
          <p:cNvSpPr txBox="1"/>
          <p:nvPr/>
        </p:nvSpPr>
        <p:spPr>
          <a:xfrm>
            <a:off x="8065008"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unions</a:t>
            </a:r>
            <a:endParaRPr lang="en-US" sz="1800" dirty="0"/>
          </a:p>
        </p:txBody>
      </p:sp>
      <p:sp>
        <p:nvSpPr>
          <p:cNvPr id="43" name="Text 41"/>
          <p:cNvSpPr txBox="1"/>
          <p:nvPr/>
        </p:nvSpPr>
        <p:spPr>
          <a:xfrm>
            <a:off x="10177272"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enums</a:t>
            </a:r>
            <a:endParaRPr lang="en-US" sz="1800" dirty="0"/>
          </a:p>
        </p:txBody>
      </p:sp>
      <p:sp>
        <p:nvSpPr>
          <p:cNvPr id="44" name="Shape 42"/>
          <p:cNvSpPr/>
          <p:nvPr/>
        </p:nvSpPr>
        <p:spPr>
          <a:xfrm>
            <a:off x="868680" y="5570982"/>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580126"/>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Object model</a:t>
            </a:r>
            <a:endParaRPr lang="en-US" sz="2400" dirty="0"/>
          </a:p>
        </p:txBody>
      </p:sp>
      <p:sp>
        <p:nvSpPr>
          <p:cNvPr id="46" name="Text 44"/>
          <p:cNvSpPr txBox="1"/>
          <p:nvPr/>
        </p:nvSpPr>
        <p:spPr>
          <a:xfrm>
            <a:off x="3840480"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moved-from unspecified</a:t>
            </a:r>
            <a:endParaRPr lang="en-US" sz="1800" dirty="0"/>
          </a:p>
        </p:txBody>
      </p:sp>
      <p:sp>
        <p:nvSpPr>
          <p:cNvPr id="47" name="Text 45"/>
          <p:cNvSpPr txBox="1"/>
          <p:nvPr/>
        </p:nvSpPr>
        <p:spPr>
          <a:xfrm>
            <a:off x="5952744"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use after move</a:t>
            </a:r>
            <a:endParaRPr lang="en-US" sz="1800" dirty="0"/>
          </a:p>
        </p:txBody>
      </p:sp>
      <p:sp>
        <p:nvSpPr>
          <p:cNvPr id="48" name="Text 46"/>
          <p:cNvSpPr txBox="1"/>
          <p:nvPr/>
        </p:nvSpPr>
        <p:spPr>
          <a:xfrm>
            <a:off x="8065008"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moves</a:t>
            </a:r>
            <a:endParaRPr lang="en-US" sz="1800" dirty="0"/>
          </a:p>
        </p:txBody>
      </p:sp>
      <p:sp>
        <p:nvSpPr>
          <p:cNvPr id="49" name="Text 47"/>
          <p:cNvSpPr txBox="1"/>
          <p:nvPr/>
        </p:nvSpPr>
        <p:spPr>
          <a:xfrm>
            <a:off x="10177272"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consume (~Copyable)</a:t>
            </a:r>
            <a:endParaRPr lang="en-US" sz="1800" dirty="0"/>
          </a:p>
        </p:txBody>
      </p:sp>
      <p:sp>
        <p:nvSpPr>
          <p:cNvPr id="50" name="Shape 48"/>
          <p:cNvSpPr/>
          <p:nvPr/>
        </p:nvSpPr>
        <p:spPr>
          <a:xfrm>
            <a:off x="868680" y="6150483"/>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59627"/>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Strings</a:t>
            </a:r>
            <a:endParaRPr lang="en-US" sz="2400" dirty="0"/>
          </a:p>
        </p:txBody>
      </p:sp>
      <p:sp>
        <p:nvSpPr>
          <p:cNvPr id="52" name="Text 50"/>
          <p:cNvSpPr txBox="1"/>
          <p:nvPr/>
        </p:nvSpPr>
        <p:spPr>
          <a:xfrm>
            <a:off x="3840480"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encoding</a:t>
            </a:r>
            <a:endParaRPr lang="en-US" sz="1800" dirty="0"/>
          </a:p>
        </p:txBody>
      </p:sp>
      <p:sp>
        <p:nvSpPr>
          <p:cNvPr id="53" name="Text 51"/>
          <p:cNvSpPr txBox="1"/>
          <p:nvPr/>
        </p:nvSpPr>
        <p:spPr>
          <a:xfrm>
            <a:off x="5952744"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UTF-8 invariant</a:t>
            </a:r>
            <a:endParaRPr lang="en-US" sz="1800" dirty="0"/>
          </a:p>
        </p:txBody>
      </p:sp>
      <p:sp>
        <p:nvSpPr>
          <p:cNvPr id="54" name="Text 52"/>
          <p:cNvSpPr txBox="1"/>
          <p:nvPr/>
        </p:nvSpPr>
        <p:spPr>
          <a:xfrm>
            <a:off x="8065008"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bytes</a:t>
            </a:r>
            <a:endParaRPr lang="en-US" sz="1800" dirty="0"/>
          </a:p>
        </p:txBody>
      </p:sp>
      <p:sp>
        <p:nvSpPr>
          <p:cNvPr id="55" name="Text 53"/>
          <p:cNvSpPr txBox="1"/>
          <p:nvPr/>
        </p:nvSpPr>
        <p:spPr>
          <a:xfrm>
            <a:off x="10177272"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opaque indices</a:t>
            </a:r>
            <a:endParaRPr lang="en-US" sz="1800" dirty="0"/>
          </a:p>
        </p:txBody>
      </p:sp>
      <p:sp>
        <p:nvSpPr>
          <p:cNvPr id="58" name="Title 57">
            <a:extLst>
              <a:ext uri="{FF2B5EF4-FFF2-40B4-BE49-F238E27FC236}">
                <a16:creationId xmlns:a16="http://schemas.microsoft.com/office/drawing/2014/main" id="{3FCF151C-26C0-2692-FD84-BC43B836890B}"/>
              </a:ext>
            </a:extLst>
          </p:cNvPr>
          <p:cNvSpPr>
            <a:spLocks noGrp="1"/>
          </p:cNvSpPr>
          <p:nvPr>
            <p:ph type="title"/>
          </p:nvPr>
        </p:nvSpPr>
        <p:spPr/>
        <p:txBody>
          <a:bodyPr/>
          <a:lstStyle/>
          <a:p>
            <a:r>
              <a:rPr lang="en-US" dirty="0"/>
              <a:t>The C++ safety issues</a:t>
            </a:r>
          </a:p>
        </p:txBody>
      </p:sp>
      <p:sp>
        <p:nvSpPr>
          <p:cNvPr id="56" name="TextBox 55">
            <a:extLst>
              <a:ext uri="{FF2B5EF4-FFF2-40B4-BE49-F238E27FC236}">
                <a16:creationId xmlns:a16="http://schemas.microsoft.com/office/drawing/2014/main" id="{BD8AEE8B-F02B-CA20-D7C1-CCC9F5A4BA28}"/>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3/6</a:t>
            </a:r>
            <a:endParaRPr lang="en-US" sz="2800" dirty="0">
              <a:solidFill>
                <a:schemeClr val="bg1">
                  <a:lumMod val="75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Type</a:t>
            </a:r>
            <a:endParaRPr lang="en-US" sz="2400" dirty="0"/>
          </a:p>
        </p:txBody>
      </p:sp>
      <p:sp>
        <p:nvSpPr>
          <p:cNvPr id="10" name="Text 8"/>
          <p:cNvSpPr txBox="1"/>
          <p:nvPr/>
        </p:nvSpPr>
        <p:spPr>
          <a:xfrm>
            <a:off x="3840480"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dynamic_cast opt-in</a:t>
            </a:r>
            <a:endParaRPr lang="en-US" sz="1800" dirty="0"/>
          </a:p>
        </p:txBody>
      </p:sp>
      <p:sp>
        <p:nvSpPr>
          <p:cNvPr id="11" name="Text 9"/>
          <p:cNvSpPr txBox="1"/>
          <p:nvPr/>
        </p:nvSpPr>
        <p:spPr>
          <a:xfrm>
            <a:off x="5952744"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downcast → Option</a:t>
            </a:r>
            <a:endParaRPr lang="en-US" sz="1800" dirty="0"/>
          </a:p>
        </p:txBody>
      </p:sp>
      <p:sp>
        <p:nvSpPr>
          <p:cNvPr id="12" name="Text 10"/>
          <p:cNvSpPr txBox="1"/>
          <p:nvPr/>
        </p:nvSpPr>
        <p:spPr>
          <a:xfrm>
            <a:off x="8065008"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assertion panics</a:t>
            </a:r>
            <a:endParaRPr lang="en-US" sz="1800" dirty="0"/>
          </a:p>
        </p:txBody>
      </p:sp>
      <p:sp>
        <p:nvSpPr>
          <p:cNvPr id="13" name="Text 11"/>
          <p:cNvSpPr txBox="1"/>
          <p:nvPr/>
        </p:nvSpPr>
        <p:spPr>
          <a:xfrm>
            <a:off x="10177272" y="2103120"/>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as? nil, as! traps</a:t>
            </a:r>
            <a:endParaRPr lang="en-US" sz="1800" dirty="0"/>
          </a:p>
        </p:txBody>
      </p:sp>
      <p:sp>
        <p:nvSpPr>
          <p:cNvPr id="14" name="Shape 12"/>
          <p:cNvSpPr/>
          <p:nvPr/>
        </p:nvSpPr>
        <p:spPr>
          <a:xfrm>
            <a:off x="868680" y="2673477"/>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82621"/>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Type</a:t>
            </a:r>
            <a:endParaRPr lang="en-US" sz="2400" dirty="0"/>
          </a:p>
        </p:txBody>
      </p:sp>
      <p:sp>
        <p:nvSpPr>
          <p:cNvPr id="16" name="Text 14"/>
          <p:cNvSpPr txBox="1"/>
          <p:nvPr/>
        </p:nvSpPr>
        <p:spPr>
          <a:xfrm>
            <a:off x="3840480"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slicing; dtor UB</a:t>
            </a:r>
            <a:endParaRPr lang="en-US" sz="1800" dirty="0"/>
          </a:p>
        </p:txBody>
      </p:sp>
      <p:sp>
        <p:nvSpPr>
          <p:cNvPr id="17" name="Text 15"/>
          <p:cNvSpPr txBox="1"/>
          <p:nvPr/>
        </p:nvSpPr>
        <p:spPr>
          <a:xfrm>
            <a:off x="5952744"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state inheritance</a:t>
            </a:r>
            <a:endParaRPr lang="en-US" sz="1800" dirty="0"/>
          </a:p>
        </p:txBody>
      </p:sp>
      <p:sp>
        <p:nvSpPr>
          <p:cNvPr id="18" name="Text 16"/>
          <p:cNvSpPr txBox="1"/>
          <p:nvPr/>
        </p:nvSpPr>
        <p:spPr>
          <a:xfrm>
            <a:off x="8065008"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inheritance</a:t>
            </a:r>
            <a:endParaRPr lang="en-US" sz="1800" dirty="0"/>
          </a:p>
        </p:txBody>
      </p:sp>
      <p:sp>
        <p:nvSpPr>
          <p:cNvPr id="19" name="Text 17"/>
          <p:cNvSpPr txBox="1"/>
          <p:nvPr/>
        </p:nvSpPr>
        <p:spPr>
          <a:xfrm>
            <a:off x="10177272" y="2682621"/>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classes are refs</a:t>
            </a:r>
            <a:endParaRPr lang="en-US" sz="1800" dirty="0"/>
          </a:p>
        </p:txBody>
      </p:sp>
      <p:sp>
        <p:nvSpPr>
          <p:cNvPr id="20" name="Shape 18"/>
          <p:cNvSpPr/>
          <p:nvPr/>
        </p:nvSpPr>
        <p:spPr>
          <a:xfrm>
            <a:off x="868680" y="3252978"/>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262122"/>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Conversion</a:t>
            </a:r>
            <a:endParaRPr lang="en-US" sz="2400" dirty="0"/>
          </a:p>
        </p:txBody>
      </p:sp>
      <p:sp>
        <p:nvSpPr>
          <p:cNvPr id="22" name="Text 20"/>
          <p:cNvSpPr txBox="1"/>
          <p:nvPr/>
        </p:nvSpPr>
        <p:spPr>
          <a:xfrm>
            <a:off x="3840480"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braces reject narrow</a:t>
            </a:r>
            <a:endParaRPr lang="en-US" sz="1800" dirty="0"/>
          </a:p>
        </p:txBody>
      </p:sp>
      <p:sp>
        <p:nvSpPr>
          <p:cNvPr id="23" name="Text 21"/>
          <p:cNvSpPr txBox="1"/>
          <p:nvPr/>
        </p:nvSpPr>
        <p:spPr>
          <a:xfrm>
            <a:off x="5952744"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explicit only</a:t>
            </a:r>
            <a:endParaRPr lang="en-US" sz="1800" dirty="0"/>
          </a:p>
        </p:txBody>
      </p:sp>
      <p:sp>
        <p:nvSpPr>
          <p:cNvPr id="24" name="Text 22"/>
          <p:cNvSpPr txBox="1"/>
          <p:nvPr/>
        </p:nvSpPr>
        <p:spPr>
          <a:xfrm>
            <a:off x="8065008"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explicit only</a:t>
            </a:r>
            <a:endParaRPr lang="en-US" sz="1800" dirty="0"/>
          </a:p>
        </p:txBody>
      </p:sp>
      <p:sp>
        <p:nvSpPr>
          <p:cNvPr id="25" name="Text 23"/>
          <p:cNvSpPr txBox="1"/>
          <p:nvPr/>
        </p:nvSpPr>
        <p:spPr>
          <a:xfrm>
            <a:off x="10177272" y="3262122"/>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traps on narrowing</a:t>
            </a:r>
            <a:endParaRPr lang="en-US" sz="1800" dirty="0"/>
          </a:p>
        </p:txBody>
      </p:sp>
      <p:sp>
        <p:nvSpPr>
          <p:cNvPr id="26" name="Shape 24"/>
          <p:cNvSpPr/>
          <p:nvPr/>
        </p:nvSpPr>
        <p:spPr>
          <a:xfrm>
            <a:off x="868680" y="3832479"/>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841623"/>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Conversion</a:t>
            </a:r>
            <a:endParaRPr lang="en-US" sz="2400" dirty="0"/>
          </a:p>
        </p:txBody>
      </p:sp>
      <p:sp>
        <p:nvSpPr>
          <p:cNvPr id="28" name="Text 26"/>
          <p:cNvSpPr txBox="1"/>
          <p:nvPr/>
        </p:nvSpPr>
        <p:spPr>
          <a:xfrm>
            <a:off x="3840480"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ADL, overloads pick</a:t>
            </a:r>
            <a:endParaRPr lang="en-US" sz="1800" dirty="0"/>
          </a:p>
        </p:txBody>
      </p:sp>
      <p:sp>
        <p:nvSpPr>
          <p:cNvPr id="29" name="Text 27"/>
          <p:cNvSpPr txBox="1"/>
          <p:nvPr/>
        </p:nvSpPr>
        <p:spPr>
          <a:xfrm>
            <a:off x="5952744"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ADL, no overloads</a:t>
            </a:r>
            <a:endParaRPr lang="en-US" sz="1800" dirty="0"/>
          </a:p>
        </p:txBody>
      </p:sp>
      <p:sp>
        <p:nvSpPr>
          <p:cNvPr id="30" name="Text 28"/>
          <p:cNvSpPr txBox="1"/>
          <p:nvPr/>
        </p:nvSpPr>
        <p:spPr>
          <a:xfrm>
            <a:off x="8065008"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none</a:t>
            </a:r>
            <a:endParaRPr lang="en-US" sz="1800" dirty="0"/>
          </a:p>
        </p:txBody>
      </p:sp>
      <p:sp>
        <p:nvSpPr>
          <p:cNvPr id="31" name="Text 29"/>
          <p:cNvSpPr txBox="1"/>
          <p:nvPr/>
        </p:nvSpPr>
        <p:spPr>
          <a:xfrm>
            <a:off x="10177272" y="3841623"/>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static, fixed set</a:t>
            </a:r>
            <a:endParaRPr lang="en-US" sz="1800" dirty="0"/>
          </a:p>
        </p:txBody>
      </p:sp>
      <p:sp>
        <p:nvSpPr>
          <p:cNvPr id="32" name="Shape 30"/>
          <p:cNvSpPr/>
          <p:nvPr/>
        </p:nvSpPr>
        <p:spPr>
          <a:xfrm>
            <a:off x="868680" y="4411980"/>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421124"/>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Error handling</a:t>
            </a:r>
            <a:endParaRPr lang="en-US" sz="2400" dirty="0"/>
          </a:p>
        </p:txBody>
      </p:sp>
      <p:sp>
        <p:nvSpPr>
          <p:cNvPr id="34" name="Text 32"/>
          <p:cNvSpPr txBox="1"/>
          <p:nvPr/>
        </p:nvSpPr>
        <p:spPr>
          <a:xfrm>
            <a:off x="3840480"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nodiscard; contracts</a:t>
            </a:r>
            <a:endParaRPr lang="en-US" sz="1800" dirty="0"/>
          </a:p>
        </p:txBody>
      </p:sp>
      <p:sp>
        <p:nvSpPr>
          <p:cNvPr id="35" name="Text 33"/>
          <p:cNvSpPr txBox="1"/>
          <p:nvPr/>
        </p:nvSpPr>
        <p:spPr>
          <a:xfrm>
            <a:off x="5952744"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must_use warns</a:t>
            </a:r>
            <a:endParaRPr lang="en-US" sz="1800" dirty="0"/>
          </a:p>
        </p:txBody>
      </p:sp>
      <p:sp>
        <p:nvSpPr>
          <p:cNvPr id="36" name="Text 34"/>
          <p:cNvSpPr txBox="1"/>
          <p:nvPr/>
        </p:nvSpPr>
        <p:spPr>
          <a:xfrm>
            <a:off x="8065008"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errors ignorable</a:t>
            </a:r>
            <a:endParaRPr lang="en-US" sz="1800" dirty="0"/>
          </a:p>
        </p:txBody>
      </p:sp>
      <p:sp>
        <p:nvSpPr>
          <p:cNvPr id="37" name="Text 35"/>
          <p:cNvSpPr txBox="1"/>
          <p:nvPr/>
        </p:nvSpPr>
        <p:spPr>
          <a:xfrm>
            <a:off x="10177272" y="4421124"/>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try required</a:t>
            </a:r>
            <a:endParaRPr lang="en-US" sz="1800" dirty="0"/>
          </a:p>
        </p:txBody>
      </p:sp>
      <p:sp>
        <p:nvSpPr>
          <p:cNvPr id="38" name="Shape 36"/>
          <p:cNvSpPr/>
          <p:nvPr/>
        </p:nvSpPr>
        <p:spPr>
          <a:xfrm>
            <a:off x="868680" y="4991481"/>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000625"/>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Object model</a:t>
            </a:r>
            <a:endParaRPr lang="en-US" sz="2400" dirty="0"/>
          </a:p>
        </p:txBody>
      </p:sp>
      <p:sp>
        <p:nvSpPr>
          <p:cNvPr id="40" name="Text 38"/>
          <p:cNvSpPr txBox="1"/>
          <p:nvPr/>
        </p:nvSpPr>
        <p:spPr>
          <a:xfrm>
            <a:off x="3840480"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union punning</a:t>
            </a:r>
            <a:endParaRPr lang="en-US" sz="1800" dirty="0"/>
          </a:p>
        </p:txBody>
      </p:sp>
      <p:sp>
        <p:nvSpPr>
          <p:cNvPr id="41" name="Text 39"/>
          <p:cNvSpPr txBox="1"/>
          <p:nvPr/>
        </p:nvSpPr>
        <p:spPr>
          <a:xfrm>
            <a:off x="5952744"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enum; union unsafe</a:t>
            </a:r>
            <a:endParaRPr lang="en-US" sz="1800" dirty="0"/>
          </a:p>
        </p:txBody>
      </p:sp>
      <p:sp>
        <p:nvSpPr>
          <p:cNvPr id="42" name="Text 40"/>
          <p:cNvSpPr txBox="1"/>
          <p:nvPr/>
        </p:nvSpPr>
        <p:spPr>
          <a:xfrm>
            <a:off x="8065008"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unions</a:t>
            </a:r>
            <a:endParaRPr lang="en-US" sz="1800" dirty="0"/>
          </a:p>
        </p:txBody>
      </p:sp>
      <p:sp>
        <p:nvSpPr>
          <p:cNvPr id="43" name="Text 41"/>
          <p:cNvSpPr txBox="1"/>
          <p:nvPr/>
        </p:nvSpPr>
        <p:spPr>
          <a:xfrm>
            <a:off x="10177272" y="5000625"/>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enums</a:t>
            </a:r>
            <a:endParaRPr lang="en-US" sz="1800" dirty="0"/>
          </a:p>
        </p:txBody>
      </p:sp>
      <p:sp>
        <p:nvSpPr>
          <p:cNvPr id="44" name="Shape 42"/>
          <p:cNvSpPr/>
          <p:nvPr/>
        </p:nvSpPr>
        <p:spPr>
          <a:xfrm>
            <a:off x="868680" y="5570982"/>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580126"/>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Object model</a:t>
            </a:r>
            <a:endParaRPr lang="en-US" sz="2400" dirty="0"/>
          </a:p>
        </p:txBody>
      </p:sp>
      <p:sp>
        <p:nvSpPr>
          <p:cNvPr id="46" name="Text 44"/>
          <p:cNvSpPr txBox="1"/>
          <p:nvPr/>
        </p:nvSpPr>
        <p:spPr>
          <a:xfrm>
            <a:off x="3840480"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moved-from unspecified</a:t>
            </a:r>
            <a:endParaRPr lang="en-US" sz="1800" dirty="0"/>
          </a:p>
        </p:txBody>
      </p:sp>
      <p:sp>
        <p:nvSpPr>
          <p:cNvPr id="47" name="Text 45"/>
          <p:cNvSpPr txBox="1"/>
          <p:nvPr/>
        </p:nvSpPr>
        <p:spPr>
          <a:xfrm>
            <a:off x="5952744"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use after move</a:t>
            </a:r>
            <a:endParaRPr lang="en-US" sz="1800" dirty="0"/>
          </a:p>
        </p:txBody>
      </p:sp>
      <p:sp>
        <p:nvSpPr>
          <p:cNvPr id="48" name="Text 46"/>
          <p:cNvSpPr txBox="1"/>
          <p:nvPr/>
        </p:nvSpPr>
        <p:spPr>
          <a:xfrm>
            <a:off x="8065008"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moves</a:t>
            </a:r>
            <a:endParaRPr lang="en-US" sz="1800" dirty="0"/>
          </a:p>
        </p:txBody>
      </p:sp>
      <p:sp>
        <p:nvSpPr>
          <p:cNvPr id="49" name="Text 47"/>
          <p:cNvSpPr txBox="1"/>
          <p:nvPr/>
        </p:nvSpPr>
        <p:spPr>
          <a:xfrm>
            <a:off x="10177272" y="5580126"/>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consume (~Copyable)</a:t>
            </a:r>
            <a:endParaRPr lang="en-US" sz="1800" dirty="0"/>
          </a:p>
        </p:txBody>
      </p:sp>
      <p:sp>
        <p:nvSpPr>
          <p:cNvPr id="50" name="Shape 48"/>
          <p:cNvSpPr/>
          <p:nvPr/>
        </p:nvSpPr>
        <p:spPr>
          <a:xfrm>
            <a:off x="868680" y="6150483"/>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59627"/>
            <a:ext cx="2651760" cy="561213"/>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Strings</a:t>
            </a:r>
            <a:endParaRPr lang="en-US" sz="2400" dirty="0"/>
          </a:p>
        </p:txBody>
      </p:sp>
      <p:sp>
        <p:nvSpPr>
          <p:cNvPr id="52" name="Text 50"/>
          <p:cNvSpPr txBox="1"/>
          <p:nvPr/>
        </p:nvSpPr>
        <p:spPr>
          <a:xfrm>
            <a:off x="3840480"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encoding</a:t>
            </a:r>
            <a:endParaRPr lang="en-US" sz="1800" dirty="0"/>
          </a:p>
        </p:txBody>
      </p:sp>
      <p:sp>
        <p:nvSpPr>
          <p:cNvPr id="53" name="Text 51"/>
          <p:cNvSpPr txBox="1"/>
          <p:nvPr/>
        </p:nvSpPr>
        <p:spPr>
          <a:xfrm>
            <a:off x="5952744"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UTF-8 invariant</a:t>
            </a:r>
            <a:endParaRPr lang="en-US" sz="1800" dirty="0"/>
          </a:p>
        </p:txBody>
      </p:sp>
      <p:sp>
        <p:nvSpPr>
          <p:cNvPr id="54" name="Text 52"/>
          <p:cNvSpPr txBox="1"/>
          <p:nvPr/>
        </p:nvSpPr>
        <p:spPr>
          <a:xfrm>
            <a:off x="8065008"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bytes</a:t>
            </a:r>
            <a:endParaRPr lang="en-US" sz="1800" dirty="0"/>
          </a:p>
        </p:txBody>
      </p:sp>
      <p:sp>
        <p:nvSpPr>
          <p:cNvPr id="55" name="Text 53"/>
          <p:cNvSpPr txBox="1"/>
          <p:nvPr/>
        </p:nvSpPr>
        <p:spPr>
          <a:xfrm>
            <a:off x="10177272" y="6159627"/>
            <a:ext cx="1828800" cy="561213"/>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opaque indices</a:t>
            </a:r>
            <a:endParaRPr lang="en-US" sz="1800" dirty="0"/>
          </a:p>
        </p:txBody>
      </p:sp>
      <p:sp>
        <p:nvSpPr>
          <p:cNvPr id="58" name="Title 57">
            <a:extLst>
              <a:ext uri="{FF2B5EF4-FFF2-40B4-BE49-F238E27FC236}">
                <a16:creationId xmlns:a16="http://schemas.microsoft.com/office/drawing/2014/main" id="{3FCF151C-26C0-2692-FD84-BC43B836890B}"/>
              </a:ext>
            </a:extLst>
          </p:cNvPr>
          <p:cNvSpPr>
            <a:spLocks noGrp="1"/>
          </p:cNvSpPr>
          <p:nvPr>
            <p:ph type="title"/>
          </p:nvPr>
        </p:nvSpPr>
        <p:spPr/>
        <p:txBody>
          <a:bodyPr/>
          <a:lstStyle/>
          <a:p>
            <a:r>
              <a:rPr lang="en-US" dirty="0"/>
              <a:t>The C++ safety issues</a:t>
            </a:r>
            <a:endParaRPr lang="en-US" b="0" dirty="0">
              <a:solidFill>
                <a:srgbClr val="A6A6A6"/>
              </a:solidFill>
            </a:endParaRPr>
          </a:p>
        </p:txBody>
      </p:sp>
      <p:sp>
        <p:nvSpPr>
          <p:cNvPr id="900" name="Callout"/>
          <p:cNvSpPr/>
          <p:nvPr/>
        </p:nvSpPr>
        <p:spPr>
          <a:xfrm>
            <a:off x="2377440" y="2216276"/>
            <a:ext cx="3657600" cy="1000123"/>
          </a:xfrm>
          <a:prstGeom prst="roundRect">
            <a:avLst>
              <a:gd name="adj" fmla="val 50000"/>
            </a:avLst>
          </a:prstGeom>
          <a:solidFill>
            <a:srgbClr val="FFFFFF"/>
          </a:solidFill>
          <a:ln w="3175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4A6373"/>
                </a:solidFill>
                <a:latin typeface="Aptos"/>
              </a:rPr>
              <a:t>dynamic_cast is opt-in, </a:t>
            </a:r>
            <a:r>
              <a:rPr lang="en-US" sz="2000" b="1" dirty="0">
                <a:solidFill>
                  <a:srgbClr val="7A1C15"/>
                </a:solidFill>
                <a:latin typeface="Aptos"/>
              </a:rPr>
              <a:t>type confusion is 2.5% of exploits</a:t>
            </a:r>
          </a:p>
        </p:txBody>
      </p:sp>
      <p:sp>
        <p:nvSpPr>
          <p:cNvPr id="901" name="Callout"/>
          <p:cNvSpPr/>
          <p:nvPr/>
        </p:nvSpPr>
        <p:spPr>
          <a:xfrm>
            <a:off x="6156962" y="1974152"/>
            <a:ext cx="5782816" cy="1215485"/>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3200" b="1" dirty="0">
                <a:solidFill>
                  <a:srgbClr val="1C3E63"/>
                </a:solidFill>
                <a:latin typeface="Aptos"/>
              </a:rPr>
              <a:t>checked casts</a:t>
            </a:r>
          </a:p>
          <a:p>
            <a:pPr algn="ctr"/>
            <a:r>
              <a:rPr lang="en-US" sz="3200" b="1" dirty="0">
                <a:solidFill>
                  <a:srgbClr val="1C3E63"/>
                </a:solidFill>
                <a:latin typeface="Aptos"/>
              </a:rPr>
              <a:t>Option or a trap</a:t>
            </a:r>
          </a:p>
        </p:txBody>
      </p:sp>
      <p:sp>
        <p:nvSpPr>
          <p:cNvPr id="56" name="TextBox 55">
            <a:extLst>
              <a:ext uri="{FF2B5EF4-FFF2-40B4-BE49-F238E27FC236}">
                <a16:creationId xmlns:a16="http://schemas.microsoft.com/office/drawing/2014/main" id="{688417D0-5FDD-3549-935E-8657AA9D5CB2}"/>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3/6</a:t>
            </a:r>
            <a:endParaRPr lang="en-US" sz="2800" dirty="0">
              <a:solidFill>
                <a:schemeClr val="bg1">
                  <a:lumMod val="75000"/>
                </a:schemeClr>
              </a:solidFill>
            </a:endParaRPr>
          </a:p>
        </p:txBody>
      </p:sp>
      <p:sp>
        <p:nvSpPr>
          <p:cNvPr id="57" name="Callout">
            <a:extLst>
              <a:ext uri="{FF2B5EF4-FFF2-40B4-BE49-F238E27FC236}">
                <a16:creationId xmlns:a16="http://schemas.microsoft.com/office/drawing/2014/main" id="{C15FDF5D-7A23-EDEF-5304-78A45FD84D85}"/>
              </a:ext>
            </a:extLst>
          </p:cNvPr>
          <p:cNvSpPr/>
          <p:nvPr/>
        </p:nvSpPr>
        <p:spPr>
          <a:xfrm>
            <a:off x="6156962" y="3307175"/>
            <a:ext cx="5782816" cy="1086517"/>
          </a:xfrm>
          <a:prstGeom prst="roundRect">
            <a:avLst>
              <a:gd name="adj" fmla="val 50000"/>
            </a:avLst>
          </a:prstGeom>
          <a:solidFill>
            <a:srgbClr val="FFFFFF"/>
          </a:solidFill>
          <a:ln w="31750">
            <a:solidFill>
              <a:srgbClr val="1F4D24"/>
            </a:solidFill>
          </a:ln>
          <a:effectLst>
            <a:outerShdw blurRad="63500" dist="38100" dir="5400000" algn="ctr" rotWithShape="0">
              <a:srgbClr val="000000">
                <a:alpha val="28000"/>
              </a:srgbClr>
            </a:outerShdw>
          </a:effectLst>
        </p:spPr>
        <p:txBody>
          <a:bodyPr wrap="square" lIns="137160" tIns="0" rIns="13716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dirty="0">
                <a:solidFill>
                  <a:srgbClr val="1F4D24"/>
                </a:solidFill>
                <a:latin typeface="Aptos"/>
              </a:rPr>
              <a:t>narrowing is rejected or trapped, never silent</a:t>
            </a:r>
          </a:p>
        </p:txBody>
      </p:sp>
      <p:sp>
        <p:nvSpPr>
          <p:cNvPr id="59" name="Callout">
            <a:extLst>
              <a:ext uri="{FF2B5EF4-FFF2-40B4-BE49-F238E27FC236}">
                <a16:creationId xmlns:a16="http://schemas.microsoft.com/office/drawing/2014/main" id="{577F2E5B-C329-90A2-8586-64ABE1642B64}"/>
              </a:ext>
            </a:extLst>
          </p:cNvPr>
          <p:cNvSpPr/>
          <p:nvPr/>
        </p:nvSpPr>
        <p:spPr>
          <a:xfrm>
            <a:off x="2732534" y="3340672"/>
            <a:ext cx="3291840" cy="54864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solidFill>
                  <a:srgbClr val="7A1C15"/>
                </a:solidFill>
                <a:latin typeface="Aptos"/>
              </a:rPr>
              <a:t>implicit conversions</a:t>
            </a:r>
          </a:p>
          <a:p>
            <a:pPr algn="ctr"/>
            <a:r>
              <a:rPr lang="en-US" sz="1600" b="1" dirty="0">
                <a:solidFill>
                  <a:srgbClr val="5C4712"/>
                </a:solidFill>
              </a:rPr>
              <a:t>only {} init checks</a:t>
            </a:r>
            <a:endParaRPr lang="en-US" sz="1600" b="1" dirty="0">
              <a:solidFill>
                <a:srgbClr val="7A1C15"/>
              </a:solidFill>
              <a:latin typeface="Aptos"/>
            </a:endParaRPr>
          </a:p>
        </p:txBody>
      </p:sp>
      <p:sp>
        <p:nvSpPr>
          <p:cNvPr id="61" name="Callout">
            <a:extLst>
              <a:ext uri="{FF2B5EF4-FFF2-40B4-BE49-F238E27FC236}">
                <a16:creationId xmlns:a16="http://schemas.microsoft.com/office/drawing/2014/main" id="{5DAE2F70-DBBB-134F-1582-D272C19AE627}"/>
              </a:ext>
            </a:extLst>
          </p:cNvPr>
          <p:cNvSpPr/>
          <p:nvPr/>
        </p:nvSpPr>
        <p:spPr>
          <a:xfrm>
            <a:off x="3017520" y="5632132"/>
            <a:ext cx="3291840" cy="457200"/>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500" b="1" dirty="0">
                <a:solidFill>
                  <a:srgbClr val="3F3F3F"/>
                </a:solidFill>
                <a:latin typeface="Aptos"/>
              </a:rPr>
              <a:t>moved-from is valid but unspecified</a:t>
            </a:r>
          </a:p>
        </p:txBody>
      </p:sp>
      <p:sp>
        <p:nvSpPr>
          <p:cNvPr id="63" name="Callout">
            <a:extLst>
              <a:ext uri="{FF2B5EF4-FFF2-40B4-BE49-F238E27FC236}">
                <a16:creationId xmlns:a16="http://schemas.microsoft.com/office/drawing/2014/main" id="{C9891B04-CA4B-EEB9-0D78-30AA2F08CBE7}"/>
              </a:ext>
            </a:extLst>
          </p:cNvPr>
          <p:cNvSpPr/>
          <p:nvPr/>
        </p:nvSpPr>
        <p:spPr>
          <a:xfrm>
            <a:off x="6492240" y="5609272"/>
            <a:ext cx="5120640" cy="502920"/>
          </a:xfrm>
          <a:prstGeom prst="roundRect">
            <a:avLst>
              <a:gd name="adj" fmla="val 50000"/>
            </a:avLst>
          </a:prstGeom>
          <a:solidFill>
            <a:srgbClr val="FFFFFF"/>
          </a:solidFill>
          <a:ln w="31750">
            <a:solidFill>
              <a:srgbClr val="1F4D24"/>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1F4D24"/>
                </a:solidFill>
                <a:latin typeface="Aptos"/>
              </a:rPr>
              <a:t>use after move is a compile error</a:t>
            </a:r>
          </a:p>
        </p:txBody>
      </p:sp>
      <p:sp>
        <p:nvSpPr>
          <p:cNvPr id="896" name="Callout">
            <a:extLst>
              <a:ext uri="{FF2B5EF4-FFF2-40B4-BE49-F238E27FC236}">
                <a16:creationId xmlns:a16="http://schemas.microsoft.com/office/drawing/2014/main" id="{E32A5089-BDF3-9512-263B-6D5082D8DDEF}"/>
              </a:ext>
            </a:extLst>
          </p:cNvPr>
          <p:cNvSpPr/>
          <p:nvPr/>
        </p:nvSpPr>
        <p:spPr>
          <a:xfrm>
            <a:off x="3017520" y="6188775"/>
            <a:ext cx="3291840" cy="457262"/>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91440" tIns="0" rIns="9144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dirty="0">
                <a:solidFill>
                  <a:srgbClr val="3F3F3F"/>
                </a:solidFill>
                <a:latin typeface="Aptos"/>
              </a:rPr>
              <a:t>strings carry bytes, encoding is a convention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Variadic</a:t>
            </a:r>
            <a:endParaRPr lang="en-US" sz="2400" dirty="0"/>
          </a:p>
        </p:txBody>
      </p:sp>
      <p:sp>
        <p:nvSpPr>
          <p:cNvPr id="10" name="Text 8"/>
          <p:cNvSpPr txBox="1"/>
          <p:nvPr/>
        </p:nvSpPr>
        <p:spPr>
          <a:xfrm>
            <a:off x="3840480"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format (20); printf</a:t>
            </a:r>
            <a:endParaRPr lang="en-US" sz="1800" dirty="0"/>
          </a:p>
        </p:txBody>
      </p:sp>
      <p:sp>
        <p:nvSpPr>
          <p:cNvPr id="11" name="Text 9"/>
          <p:cNvSpPr txBox="1"/>
          <p:nvPr/>
        </p:nvSpPr>
        <p:spPr>
          <a:xfrm>
            <a:off x="5952744"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compile-time format</a:t>
            </a:r>
            <a:endParaRPr lang="en-US" sz="1800" dirty="0"/>
          </a:p>
        </p:txBody>
      </p:sp>
      <p:sp>
        <p:nvSpPr>
          <p:cNvPr id="12" name="Text 10"/>
          <p:cNvSpPr txBox="1"/>
          <p:nvPr/>
        </p:nvSpPr>
        <p:spPr>
          <a:xfrm>
            <a:off x="8065008"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vet</a:t>
            </a:r>
            <a:endParaRPr lang="en-US" sz="1800" dirty="0"/>
          </a:p>
        </p:txBody>
      </p:sp>
      <p:sp>
        <p:nvSpPr>
          <p:cNvPr id="13" name="Text 11"/>
          <p:cNvSpPr txBox="1"/>
          <p:nvPr/>
        </p:nvSpPr>
        <p:spPr>
          <a:xfrm>
            <a:off x="10177272"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typed interpolation</a:t>
            </a:r>
            <a:endParaRPr lang="en-US" sz="1800" dirty="0"/>
          </a:p>
        </p:txBody>
      </p:sp>
      <p:sp>
        <p:nvSpPr>
          <p:cNvPr id="14" name="Shape 12"/>
          <p:cNvSpPr/>
          <p:nvPr/>
        </p:nvSpPr>
        <p:spPr>
          <a:xfrm>
            <a:off x="868680" y="2656985"/>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66129"/>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Aliasing</a:t>
            </a:r>
            <a:endParaRPr lang="en-US" sz="2400" dirty="0"/>
          </a:p>
        </p:txBody>
      </p:sp>
      <p:sp>
        <p:nvSpPr>
          <p:cNvPr id="16" name="Text 14"/>
          <p:cNvSpPr txBox="1"/>
          <p:nvPr/>
        </p:nvSpPr>
        <p:spPr>
          <a:xfrm>
            <a:off x="3840480"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strict aliasing</a:t>
            </a:r>
            <a:endParaRPr lang="en-US" sz="1800" dirty="0"/>
          </a:p>
        </p:txBody>
      </p:sp>
      <p:sp>
        <p:nvSpPr>
          <p:cNvPr id="17" name="Text 15"/>
          <p:cNvSpPr txBox="1"/>
          <p:nvPr/>
        </p:nvSpPr>
        <p:spPr>
          <a:xfrm>
            <a:off x="5952744"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&amp;mut is unique</a:t>
            </a:r>
            <a:endParaRPr lang="en-US" sz="1800" dirty="0"/>
          </a:p>
        </p:txBody>
      </p:sp>
      <p:sp>
        <p:nvSpPr>
          <p:cNvPr id="18" name="Text 16"/>
          <p:cNvSpPr txBox="1"/>
          <p:nvPr/>
        </p:nvSpPr>
        <p:spPr>
          <a:xfrm>
            <a:off x="8065008"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unsafe.Pointer rules</a:t>
            </a:r>
            <a:endParaRPr lang="en-US" sz="1800" dirty="0"/>
          </a:p>
        </p:txBody>
      </p:sp>
      <p:sp>
        <p:nvSpPr>
          <p:cNvPr id="19" name="Text 17"/>
          <p:cNvSpPr txBox="1"/>
          <p:nvPr/>
        </p:nvSpPr>
        <p:spPr>
          <a:xfrm>
            <a:off x="10177272"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unsafeBitCast named</a:t>
            </a:r>
            <a:endParaRPr lang="en-US" sz="1800" dirty="0"/>
          </a:p>
        </p:txBody>
      </p:sp>
      <p:sp>
        <p:nvSpPr>
          <p:cNvPr id="20" name="Shape 18"/>
          <p:cNvSpPr/>
          <p:nvPr/>
        </p:nvSpPr>
        <p:spPr>
          <a:xfrm>
            <a:off x="868680" y="3219994"/>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229138"/>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Alignment</a:t>
            </a:r>
            <a:endParaRPr lang="en-US" sz="2400" dirty="0"/>
          </a:p>
        </p:txBody>
      </p:sp>
      <p:sp>
        <p:nvSpPr>
          <p:cNvPr id="22" name="Text 20"/>
          <p:cNvSpPr txBox="1"/>
          <p:nvPr/>
        </p:nvSpPr>
        <p:spPr>
          <a:xfrm>
            <a:off x="3840480" y="3229138"/>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misaligned read UB</a:t>
            </a:r>
            <a:endParaRPr lang="en-US" sz="1800" dirty="0"/>
          </a:p>
        </p:txBody>
      </p:sp>
      <p:sp>
        <p:nvSpPr>
          <p:cNvPr id="23" name="Text 21"/>
          <p:cNvSpPr txBox="1"/>
          <p:nvPr/>
        </p:nvSpPr>
        <p:spPr>
          <a:xfrm>
            <a:off x="5952744" y="3229138"/>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refs aligned by type</a:t>
            </a:r>
            <a:endParaRPr lang="en-US" sz="1800" dirty="0"/>
          </a:p>
        </p:txBody>
      </p:sp>
      <p:sp>
        <p:nvSpPr>
          <p:cNvPr id="24" name="Text 22"/>
          <p:cNvSpPr txBox="1"/>
          <p:nvPr/>
        </p:nvSpPr>
        <p:spPr>
          <a:xfrm>
            <a:off x="8065008" y="3229138"/>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allocator aligns</a:t>
            </a:r>
            <a:endParaRPr lang="en-US" sz="1800" dirty="0"/>
          </a:p>
        </p:txBody>
      </p:sp>
      <p:sp>
        <p:nvSpPr>
          <p:cNvPr id="25" name="Text 23"/>
          <p:cNvSpPr txBox="1"/>
          <p:nvPr/>
        </p:nvSpPr>
        <p:spPr>
          <a:xfrm>
            <a:off x="10177272" y="3229138"/>
            <a:ext cx="1828800" cy="544721"/>
          </a:xfrm>
          <a:prstGeom prst="rect">
            <a:avLst/>
          </a:prstGeom>
          <a:noFill/>
          <a:ln/>
        </p:spPr>
        <p:txBody>
          <a:bodyPr wrap="square" lIns="0" tIns="0" rIns="0" bIns="0" rtlCol="0" anchor="ctr"/>
          <a:lstStyle/>
          <a:p>
            <a:pPr marL="0" indent="0">
              <a:lnSpc>
                <a:spcPct val="95000"/>
              </a:lnSpc>
              <a:buNone/>
            </a:pPr>
            <a:r>
              <a:rPr lang="en-US" b="1" dirty="0">
                <a:solidFill>
                  <a:srgbClr val="B8860B"/>
                </a:solidFill>
                <a:latin typeface="Aptos" pitchFamily="34" charset="0"/>
              </a:rPr>
              <a:t>Runtime trap</a:t>
            </a:r>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load traps</a:t>
            </a:r>
            <a:endParaRPr lang="en-US" sz="1800" dirty="0"/>
          </a:p>
        </p:txBody>
      </p:sp>
      <p:sp>
        <p:nvSpPr>
          <p:cNvPr id="26" name="Shape 24"/>
          <p:cNvSpPr/>
          <p:nvPr/>
        </p:nvSpPr>
        <p:spPr>
          <a:xfrm>
            <a:off x="868680" y="3783003"/>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792147"/>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Const</a:t>
            </a:r>
            <a:endParaRPr lang="en-US" sz="2400" dirty="0"/>
          </a:p>
        </p:txBody>
      </p:sp>
      <p:sp>
        <p:nvSpPr>
          <p:cNvPr id="28" name="Text 26"/>
          <p:cNvSpPr txBox="1"/>
          <p:nvPr/>
        </p:nvSpPr>
        <p:spPr>
          <a:xfrm>
            <a:off x="3840480"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 const_cast</a:t>
            </a:r>
            <a:endParaRPr lang="en-US" sz="1800" dirty="0"/>
          </a:p>
        </p:txBody>
      </p:sp>
      <p:sp>
        <p:nvSpPr>
          <p:cNvPr id="29" name="Text 27"/>
          <p:cNvSpPr txBox="1"/>
          <p:nvPr/>
        </p:nvSpPr>
        <p:spPr>
          <a:xfrm>
            <a:off x="5952744"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immutable by default</a:t>
            </a:r>
            <a:endParaRPr lang="en-US" sz="1800" dirty="0"/>
          </a:p>
        </p:txBody>
      </p:sp>
      <p:sp>
        <p:nvSpPr>
          <p:cNvPr id="30" name="Text 28"/>
          <p:cNvSpPr txBox="1"/>
          <p:nvPr/>
        </p:nvSpPr>
        <p:spPr>
          <a:xfrm>
            <a:off x="8065008"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immutability</a:t>
            </a:r>
            <a:endParaRPr lang="en-US" sz="1800" dirty="0"/>
          </a:p>
        </p:txBody>
      </p:sp>
      <p:sp>
        <p:nvSpPr>
          <p:cNvPr id="31" name="Text 29"/>
          <p:cNvSpPr txBox="1"/>
          <p:nvPr/>
        </p:nvSpPr>
        <p:spPr>
          <a:xfrm>
            <a:off x="10177272"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let; exclusivity</a:t>
            </a:r>
            <a:endParaRPr lang="en-US" sz="1800" dirty="0"/>
          </a:p>
        </p:txBody>
      </p:sp>
      <p:sp>
        <p:nvSpPr>
          <p:cNvPr id="32" name="Shape 30"/>
          <p:cNvSpPr/>
          <p:nvPr/>
        </p:nvSpPr>
        <p:spPr>
          <a:xfrm>
            <a:off x="868680" y="4346013"/>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355157"/>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Enum</a:t>
            </a:r>
            <a:endParaRPr lang="en-US" sz="2400" dirty="0"/>
          </a:p>
        </p:txBody>
      </p:sp>
      <p:sp>
        <p:nvSpPr>
          <p:cNvPr id="34" name="Text 32"/>
          <p:cNvSpPr txBox="1"/>
          <p:nvPr/>
        </p:nvSpPr>
        <p:spPr>
          <a:xfrm>
            <a:off x="3840480"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any value valid</a:t>
            </a:r>
            <a:endParaRPr lang="en-US" sz="1800" dirty="0"/>
          </a:p>
        </p:txBody>
      </p:sp>
      <p:sp>
        <p:nvSpPr>
          <p:cNvPr id="35" name="Text 33"/>
          <p:cNvSpPr txBox="1"/>
          <p:nvPr/>
        </p:nvSpPr>
        <p:spPr>
          <a:xfrm>
            <a:off x="5952744"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closed, exhaustive</a:t>
            </a:r>
            <a:endParaRPr lang="en-US" sz="1800" dirty="0"/>
          </a:p>
        </p:txBody>
      </p:sp>
      <p:sp>
        <p:nvSpPr>
          <p:cNvPr id="36" name="Text 34"/>
          <p:cNvSpPr txBox="1"/>
          <p:nvPr/>
        </p:nvSpPr>
        <p:spPr>
          <a:xfrm>
            <a:off x="8065008"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typed constants</a:t>
            </a:r>
            <a:endParaRPr lang="en-US" sz="1800" dirty="0"/>
          </a:p>
        </p:txBody>
      </p:sp>
      <p:sp>
        <p:nvSpPr>
          <p:cNvPr id="37" name="Text 35"/>
          <p:cNvSpPr txBox="1"/>
          <p:nvPr/>
        </p:nvSpPr>
        <p:spPr>
          <a:xfrm>
            <a:off x="10177272"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exhaustive switch</a:t>
            </a:r>
            <a:endParaRPr lang="en-US" sz="1800" dirty="0"/>
          </a:p>
        </p:txBody>
      </p:sp>
      <p:sp>
        <p:nvSpPr>
          <p:cNvPr id="38" name="Shape 36"/>
          <p:cNvSpPr/>
          <p:nvPr/>
        </p:nvSpPr>
        <p:spPr>
          <a:xfrm>
            <a:off x="868680" y="4909022"/>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4918166"/>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Exception safety</a:t>
            </a:r>
            <a:endParaRPr lang="en-US" sz="2400" dirty="0"/>
          </a:p>
        </p:txBody>
      </p:sp>
      <p:sp>
        <p:nvSpPr>
          <p:cNvPr id="40" name="Text 38"/>
          <p:cNvSpPr txBox="1"/>
          <p:nvPr/>
        </p:nvSpPr>
        <p:spPr>
          <a:xfrm>
            <a:off x="3840480"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dtor throws</a:t>
            </a:r>
            <a:endParaRPr lang="en-US" sz="1800" dirty="0"/>
          </a:p>
        </p:txBody>
      </p:sp>
      <p:sp>
        <p:nvSpPr>
          <p:cNvPr id="41" name="Text 39"/>
          <p:cNvSpPr txBox="1"/>
          <p:nvPr/>
        </p:nvSpPr>
        <p:spPr>
          <a:xfrm>
            <a:off x="5952744"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Drop on unwind</a:t>
            </a:r>
            <a:endParaRPr lang="en-US" sz="1800" dirty="0"/>
          </a:p>
        </p:txBody>
      </p:sp>
      <p:sp>
        <p:nvSpPr>
          <p:cNvPr id="42" name="Text 40"/>
          <p:cNvSpPr txBox="1"/>
          <p:nvPr/>
        </p:nvSpPr>
        <p:spPr>
          <a:xfrm>
            <a:off x="8065008"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defer</a:t>
            </a:r>
            <a:endParaRPr lang="en-US" sz="1800" dirty="0"/>
          </a:p>
        </p:txBody>
      </p:sp>
      <p:sp>
        <p:nvSpPr>
          <p:cNvPr id="43" name="Text 41"/>
          <p:cNvSpPr txBox="1"/>
          <p:nvPr/>
        </p:nvSpPr>
        <p:spPr>
          <a:xfrm>
            <a:off x="10177272"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defer</a:t>
            </a:r>
            <a:endParaRPr lang="en-US" sz="1800" dirty="0"/>
          </a:p>
        </p:txBody>
      </p:sp>
      <p:sp>
        <p:nvSpPr>
          <p:cNvPr id="44" name="Shape 42"/>
          <p:cNvSpPr/>
          <p:nvPr/>
        </p:nvSpPr>
        <p:spPr>
          <a:xfrm>
            <a:off x="868680" y="5472031"/>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481175"/>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Signal/Reentrancy</a:t>
            </a:r>
            <a:endParaRPr lang="en-US" sz="2400" dirty="0"/>
          </a:p>
        </p:txBody>
      </p:sp>
      <p:sp>
        <p:nvSpPr>
          <p:cNvPr id="46" name="Text 44"/>
          <p:cNvSpPr txBox="1"/>
          <p:nvPr/>
        </p:nvSpPr>
        <p:spPr>
          <a:xfrm>
            <a:off x="3840480"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convention</a:t>
            </a:r>
            <a:endParaRPr lang="en-US" sz="1800" dirty="0"/>
          </a:p>
        </p:txBody>
      </p:sp>
      <p:sp>
        <p:nvSpPr>
          <p:cNvPr id="47" name="Text 45"/>
          <p:cNvSpPr txBox="1"/>
          <p:nvPr/>
        </p:nvSpPr>
        <p:spPr>
          <a:xfrm>
            <a:off x="5952744"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convention</a:t>
            </a:r>
            <a:endParaRPr lang="en-US" sz="1800" dirty="0"/>
          </a:p>
        </p:txBody>
      </p:sp>
      <p:sp>
        <p:nvSpPr>
          <p:cNvPr id="48" name="Text 46"/>
          <p:cNvSpPr txBox="1"/>
          <p:nvPr/>
        </p:nvSpPr>
        <p:spPr>
          <a:xfrm>
            <a:off x="8065008"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channels</a:t>
            </a:r>
            <a:endParaRPr lang="en-US" sz="1800" dirty="0"/>
          </a:p>
        </p:txBody>
      </p:sp>
      <p:sp>
        <p:nvSpPr>
          <p:cNvPr id="49" name="Text 47"/>
          <p:cNvSpPr txBox="1"/>
          <p:nvPr/>
        </p:nvSpPr>
        <p:spPr>
          <a:xfrm>
            <a:off x="10177272"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dispatch sources</a:t>
            </a:r>
            <a:endParaRPr lang="en-US" sz="1800" dirty="0"/>
          </a:p>
        </p:txBody>
      </p:sp>
      <p:sp>
        <p:nvSpPr>
          <p:cNvPr id="50" name="Shape 48"/>
          <p:cNvSpPr/>
          <p:nvPr/>
        </p:nvSpPr>
        <p:spPr>
          <a:xfrm>
            <a:off x="868680" y="6166975"/>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76119"/>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Forward progress</a:t>
            </a:r>
            <a:endParaRPr lang="en-US" sz="2400" dirty="0"/>
          </a:p>
        </p:txBody>
      </p:sp>
      <p:sp>
        <p:nvSpPr>
          <p:cNvPr id="52" name="Text 50"/>
          <p:cNvSpPr txBox="1"/>
          <p:nvPr/>
        </p:nvSpPr>
        <p:spPr>
          <a:xfrm>
            <a:off x="3840480" y="6176119"/>
            <a:ext cx="1828800" cy="544721"/>
          </a:xfrm>
          <a:prstGeom prst="rect">
            <a:avLst/>
          </a:prstGeom>
          <a:noFill/>
          <a:ln/>
        </p:spPr>
        <p:txBody>
          <a:bodyPr wrap="square" lIns="0" tIns="0" rIns="0" bIns="0" rtlCol="0" anchor="ctr"/>
          <a:lstStyle/>
          <a:p>
            <a:pPr>
              <a:lnSpc>
                <a:spcPct val="95000"/>
              </a:lnSpc>
            </a:pPr>
            <a:r>
              <a:rPr lang="en-US" b="1" dirty="0">
                <a:solidFill>
                  <a:srgbClr val="B8860B"/>
                </a:solidFill>
                <a:latin typeface="Aptos" pitchFamily="34" charset="0"/>
              </a:rPr>
              <a:t>By design</a:t>
            </a:r>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trivial loops (26)</a:t>
            </a:r>
            <a:endParaRPr lang="en-US" sz="1800" dirty="0"/>
          </a:p>
        </p:txBody>
      </p:sp>
      <p:sp>
        <p:nvSpPr>
          <p:cNvPr id="53" name="Text 51"/>
          <p:cNvSpPr txBox="1"/>
          <p:nvPr/>
        </p:nvSpPr>
        <p:spPr>
          <a:xfrm>
            <a:off x="5952744" y="617611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loops defined</a:t>
            </a:r>
            <a:endParaRPr lang="en-US" sz="1800" dirty="0"/>
          </a:p>
        </p:txBody>
      </p:sp>
      <p:sp>
        <p:nvSpPr>
          <p:cNvPr id="54" name="Text 52"/>
          <p:cNvSpPr txBox="1"/>
          <p:nvPr/>
        </p:nvSpPr>
        <p:spPr>
          <a:xfrm>
            <a:off x="8065008" y="617611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loops defined</a:t>
            </a:r>
            <a:endParaRPr lang="en-US" sz="1800" dirty="0"/>
          </a:p>
        </p:txBody>
      </p:sp>
      <p:sp>
        <p:nvSpPr>
          <p:cNvPr id="55" name="Text 53"/>
          <p:cNvSpPr txBox="1"/>
          <p:nvPr/>
        </p:nvSpPr>
        <p:spPr>
          <a:xfrm>
            <a:off x="10177272" y="617611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loops defined</a:t>
            </a:r>
            <a:endParaRPr lang="en-US" sz="1800" dirty="0"/>
          </a:p>
        </p:txBody>
      </p:sp>
      <p:sp>
        <p:nvSpPr>
          <p:cNvPr id="58" name="Title 57">
            <a:extLst>
              <a:ext uri="{FF2B5EF4-FFF2-40B4-BE49-F238E27FC236}">
                <a16:creationId xmlns:a16="http://schemas.microsoft.com/office/drawing/2014/main" id="{83B5C38B-3206-C15E-19C9-4872DE001FE9}"/>
              </a:ext>
            </a:extLst>
          </p:cNvPr>
          <p:cNvSpPr>
            <a:spLocks noGrp="1"/>
          </p:cNvSpPr>
          <p:nvPr>
            <p:ph type="title"/>
          </p:nvPr>
        </p:nvSpPr>
        <p:spPr/>
        <p:txBody>
          <a:bodyPr/>
          <a:lstStyle/>
          <a:p>
            <a:r>
              <a:rPr lang="en-US" dirty="0"/>
              <a:t>The C++ safety issues</a:t>
            </a:r>
          </a:p>
        </p:txBody>
      </p:sp>
      <p:sp>
        <p:nvSpPr>
          <p:cNvPr id="56" name="TextBox 55">
            <a:extLst>
              <a:ext uri="{FF2B5EF4-FFF2-40B4-BE49-F238E27FC236}">
                <a16:creationId xmlns:a16="http://schemas.microsoft.com/office/drawing/2014/main" id="{58E58B35-8125-B32D-906F-37B960C48A82}"/>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4/6</a:t>
            </a:r>
            <a:endParaRPr lang="en-US" sz="2800" dirty="0">
              <a:solidFill>
                <a:schemeClr val="bg1">
                  <a:lumMod val="75000"/>
                </a:schemeClr>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Variadic</a:t>
            </a:r>
            <a:endParaRPr lang="en-US" sz="2400" dirty="0"/>
          </a:p>
        </p:txBody>
      </p:sp>
      <p:sp>
        <p:nvSpPr>
          <p:cNvPr id="10" name="Text 8"/>
          <p:cNvSpPr txBox="1"/>
          <p:nvPr/>
        </p:nvSpPr>
        <p:spPr>
          <a:xfrm>
            <a:off x="3840480"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format (20); printf</a:t>
            </a:r>
            <a:endParaRPr lang="en-US" sz="1800" dirty="0"/>
          </a:p>
        </p:txBody>
      </p:sp>
      <p:sp>
        <p:nvSpPr>
          <p:cNvPr id="11" name="Text 9"/>
          <p:cNvSpPr txBox="1"/>
          <p:nvPr/>
        </p:nvSpPr>
        <p:spPr>
          <a:xfrm>
            <a:off x="5952744"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compile-time format</a:t>
            </a:r>
            <a:endParaRPr lang="en-US" sz="1800" dirty="0"/>
          </a:p>
        </p:txBody>
      </p:sp>
      <p:sp>
        <p:nvSpPr>
          <p:cNvPr id="12" name="Text 10"/>
          <p:cNvSpPr txBox="1"/>
          <p:nvPr/>
        </p:nvSpPr>
        <p:spPr>
          <a:xfrm>
            <a:off x="8065008"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vet</a:t>
            </a:r>
            <a:endParaRPr lang="en-US" sz="1800" dirty="0"/>
          </a:p>
        </p:txBody>
      </p:sp>
      <p:sp>
        <p:nvSpPr>
          <p:cNvPr id="13" name="Text 11"/>
          <p:cNvSpPr txBox="1"/>
          <p:nvPr/>
        </p:nvSpPr>
        <p:spPr>
          <a:xfrm>
            <a:off x="10177272" y="2103120"/>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typed interpolation</a:t>
            </a:r>
            <a:endParaRPr lang="en-US" sz="1800" dirty="0"/>
          </a:p>
        </p:txBody>
      </p:sp>
      <p:sp>
        <p:nvSpPr>
          <p:cNvPr id="14" name="Shape 12"/>
          <p:cNvSpPr/>
          <p:nvPr/>
        </p:nvSpPr>
        <p:spPr>
          <a:xfrm>
            <a:off x="868680" y="2656985"/>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666129"/>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Aliasing</a:t>
            </a:r>
            <a:endParaRPr lang="en-US" sz="2400" dirty="0"/>
          </a:p>
        </p:txBody>
      </p:sp>
      <p:sp>
        <p:nvSpPr>
          <p:cNvPr id="16" name="Text 14"/>
          <p:cNvSpPr txBox="1"/>
          <p:nvPr/>
        </p:nvSpPr>
        <p:spPr>
          <a:xfrm>
            <a:off x="3840480"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strict aliasing</a:t>
            </a:r>
            <a:endParaRPr lang="en-US" sz="1800" dirty="0"/>
          </a:p>
        </p:txBody>
      </p:sp>
      <p:sp>
        <p:nvSpPr>
          <p:cNvPr id="17" name="Text 15"/>
          <p:cNvSpPr txBox="1"/>
          <p:nvPr/>
        </p:nvSpPr>
        <p:spPr>
          <a:xfrm>
            <a:off x="5952744"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&amp;mut is unique</a:t>
            </a:r>
            <a:endParaRPr lang="en-US" sz="1800" dirty="0"/>
          </a:p>
        </p:txBody>
      </p:sp>
      <p:sp>
        <p:nvSpPr>
          <p:cNvPr id="18" name="Text 16"/>
          <p:cNvSpPr txBox="1"/>
          <p:nvPr/>
        </p:nvSpPr>
        <p:spPr>
          <a:xfrm>
            <a:off x="8065008"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unsafe.Pointer rules</a:t>
            </a:r>
            <a:endParaRPr lang="en-US" sz="1800" dirty="0"/>
          </a:p>
        </p:txBody>
      </p:sp>
      <p:sp>
        <p:nvSpPr>
          <p:cNvPr id="19" name="Text 17"/>
          <p:cNvSpPr txBox="1"/>
          <p:nvPr/>
        </p:nvSpPr>
        <p:spPr>
          <a:xfrm>
            <a:off x="10177272" y="266612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unsafeBitCast named</a:t>
            </a:r>
            <a:endParaRPr lang="en-US" sz="1800" dirty="0"/>
          </a:p>
        </p:txBody>
      </p:sp>
      <p:sp>
        <p:nvSpPr>
          <p:cNvPr id="20" name="Shape 18"/>
          <p:cNvSpPr/>
          <p:nvPr/>
        </p:nvSpPr>
        <p:spPr>
          <a:xfrm>
            <a:off x="868680" y="3219994"/>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229138"/>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Alignment</a:t>
            </a:r>
            <a:endParaRPr lang="en-US" sz="2400" dirty="0"/>
          </a:p>
        </p:txBody>
      </p:sp>
      <p:sp>
        <p:nvSpPr>
          <p:cNvPr id="22" name="Text 20"/>
          <p:cNvSpPr txBox="1"/>
          <p:nvPr/>
        </p:nvSpPr>
        <p:spPr>
          <a:xfrm>
            <a:off x="3840480" y="3229138"/>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misaligned read UB</a:t>
            </a:r>
            <a:endParaRPr lang="en-US" sz="1800" dirty="0"/>
          </a:p>
        </p:txBody>
      </p:sp>
      <p:sp>
        <p:nvSpPr>
          <p:cNvPr id="23" name="Text 21"/>
          <p:cNvSpPr txBox="1"/>
          <p:nvPr/>
        </p:nvSpPr>
        <p:spPr>
          <a:xfrm>
            <a:off x="5952744" y="3229138"/>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refs aligned by type</a:t>
            </a:r>
            <a:endParaRPr lang="en-US" sz="1800" dirty="0"/>
          </a:p>
        </p:txBody>
      </p:sp>
      <p:sp>
        <p:nvSpPr>
          <p:cNvPr id="24" name="Text 22"/>
          <p:cNvSpPr txBox="1"/>
          <p:nvPr/>
        </p:nvSpPr>
        <p:spPr>
          <a:xfrm>
            <a:off x="8065008" y="3229138"/>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allocator aligns</a:t>
            </a:r>
            <a:endParaRPr lang="en-US" sz="1800" dirty="0"/>
          </a:p>
        </p:txBody>
      </p:sp>
      <p:sp>
        <p:nvSpPr>
          <p:cNvPr id="25" name="Text 23"/>
          <p:cNvSpPr txBox="1"/>
          <p:nvPr/>
        </p:nvSpPr>
        <p:spPr>
          <a:xfrm>
            <a:off x="10177272" y="3229138"/>
            <a:ext cx="1828800" cy="544721"/>
          </a:xfrm>
          <a:prstGeom prst="rect">
            <a:avLst/>
          </a:prstGeom>
          <a:noFill/>
          <a:ln/>
        </p:spPr>
        <p:txBody>
          <a:bodyPr wrap="square" lIns="0" tIns="0" rIns="0" bIns="0" rtlCol="0" anchor="ctr"/>
          <a:lstStyle/>
          <a:p>
            <a:pPr marL="0" indent="0">
              <a:lnSpc>
                <a:spcPct val="95000"/>
              </a:lnSpc>
              <a:buNone/>
            </a:pPr>
            <a:r>
              <a:rPr lang="en-US" b="1" dirty="0">
                <a:solidFill>
                  <a:srgbClr val="B8860B"/>
                </a:solidFill>
                <a:latin typeface="Aptos" pitchFamily="34" charset="0"/>
              </a:rPr>
              <a:t>Runtime trap</a:t>
            </a:r>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load traps</a:t>
            </a:r>
            <a:endParaRPr lang="en-US" sz="1800" dirty="0"/>
          </a:p>
        </p:txBody>
      </p:sp>
      <p:sp>
        <p:nvSpPr>
          <p:cNvPr id="26" name="Shape 24"/>
          <p:cNvSpPr/>
          <p:nvPr/>
        </p:nvSpPr>
        <p:spPr>
          <a:xfrm>
            <a:off x="868680" y="3783003"/>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3792147"/>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Const</a:t>
            </a:r>
            <a:endParaRPr lang="en-US" sz="2400" dirty="0"/>
          </a:p>
        </p:txBody>
      </p:sp>
      <p:sp>
        <p:nvSpPr>
          <p:cNvPr id="28" name="Text 26"/>
          <p:cNvSpPr txBox="1"/>
          <p:nvPr/>
        </p:nvSpPr>
        <p:spPr>
          <a:xfrm>
            <a:off x="3840480"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 const_cast</a:t>
            </a:r>
            <a:endParaRPr lang="en-US" sz="1800" dirty="0"/>
          </a:p>
        </p:txBody>
      </p:sp>
      <p:sp>
        <p:nvSpPr>
          <p:cNvPr id="29" name="Text 27"/>
          <p:cNvSpPr txBox="1"/>
          <p:nvPr/>
        </p:nvSpPr>
        <p:spPr>
          <a:xfrm>
            <a:off x="5952744"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immutable by default</a:t>
            </a:r>
            <a:endParaRPr lang="en-US" sz="1800" dirty="0"/>
          </a:p>
        </p:txBody>
      </p:sp>
      <p:sp>
        <p:nvSpPr>
          <p:cNvPr id="30" name="Text 28"/>
          <p:cNvSpPr txBox="1"/>
          <p:nvPr/>
        </p:nvSpPr>
        <p:spPr>
          <a:xfrm>
            <a:off x="8065008"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immutability</a:t>
            </a:r>
            <a:endParaRPr lang="en-US" sz="1800" dirty="0"/>
          </a:p>
        </p:txBody>
      </p:sp>
      <p:sp>
        <p:nvSpPr>
          <p:cNvPr id="31" name="Text 29"/>
          <p:cNvSpPr txBox="1"/>
          <p:nvPr/>
        </p:nvSpPr>
        <p:spPr>
          <a:xfrm>
            <a:off x="10177272" y="379214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let; exclusivity</a:t>
            </a:r>
            <a:endParaRPr lang="en-US" sz="1800" dirty="0"/>
          </a:p>
        </p:txBody>
      </p:sp>
      <p:sp>
        <p:nvSpPr>
          <p:cNvPr id="32" name="Shape 30"/>
          <p:cNvSpPr/>
          <p:nvPr/>
        </p:nvSpPr>
        <p:spPr>
          <a:xfrm>
            <a:off x="868680" y="4346013"/>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355157"/>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Enum</a:t>
            </a:r>
            <a:endParaRPr lang="en-US" sz="2400" dirty="0"/>
          </a:p>
        </p:txBody>
      </p:sp>
      <p:sp>
        <p:nvSpPr>
          <p:cNvPr id="34" name="Text 32"/>
          <p:cNvSpPr txBox="1"/>
          <p:nvPr/>
        </p:nvSpPr>
        <p:spPr>
          <a:xfrm>
            <a:off x="3840480"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any value valid</a:t>
            </a:r>
            <a:endParaRPr lang="en-US" sz="1800" dirty="0"/>
          </a:p>
        </p:txBody>
      </p:sp>
      <p:sp>
        <p:nvSpPr>
          <p:cNvPr id="35" name="Text 33"/>
          <p:cNvSpPr txBox="1"/>
          <p:nvPr/>
        </p:nvSpPr>
        <p:spPr>
          <a:xfrm>
            <a:off x="5952744"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closed, exhaustive</a:t>
            </a:r>
            <a:endParaRPr lang="en-US" sz="1800" dirty="0"/>
          </a:p>
        </p:txBody>
      </p:sp>
      <p:sp>
        <p:nvSpPr>
          <p:cNvPr id="36" name="Text 34"/>
          <p:cNvSpPr txBox="1"/>
          <p:nvPr/>
        </p:nvSpPr>
        <p:spPr>
          <a:xfrm>
            <a:off x="8065008"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typed constants</a:t>
            </a:r>
            <a:endParaRPr lang="en-US" sz="1800" dirty="0"/>
          </a:p>
        </p:txBody>
      </p:sp>
      <p:sp>
        <p:nvSpPr>
          <p:cNvPr id="37" name="Text 35"/>
          <p:cNvSpPr txBox="1"/>
          <p:nvPr/>
        </p:nvSpPr>
        <p:spPr>
          <a:xfrm>
            <a:off x="10177272" y="4355157"/>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exhaustive switch</a:t>
            </a:r>
            <a:endParaRPr lang="en-US" sz="1800" dirty="0"/>
          </a:p>
        </p:txBody>
      </p:sp>
      <p:sp>
        <p:nvSpPr>
          <p:cNvPr id="38" name="Shape 36"/>
          <p:cNvSpPr/>
          <p:nvPr/>
        </p:nvSpPr>
        <p:spPr>
          <a:xfrm>
            <a:off x="868680" y="4909022"/>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4918166"/>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Exception safety</a:t>
            </a:r>
            <a:endParaRPr lang="en-US" sz="2400" dirty="0"/>
          </a:p>
        </p:txBody>
      </p:sp>
      <p:sp>
        <p:nvSpPr>
          <p:cNvPr id="40" name="Text 38"/>
          <p:cNvSpPr txBox="1"/>
          <p:nvPr/>
        </p:nvSpPr>
        <p:spPr>
          <a:xfrm>
            <a:off x="3840480"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RAII; dtor throws</a:t>
            </a:r>
            <a:endParaRPr lang="en-US" sz="1800" dirty="0"/>
          </a:p>
        </p:txBody>
      </p:sp>
      <p:sp>
        <p:nvSpPr>
          <p:cNvPr id="41" name="Text 39"/>
          <p:cNvSpPr txBox="1"/>
          <p:nvPr/>
        </p:nvSpPr>
        <p:spPr>
          <a:xfrm>
            <a:off x="5952744"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Drop on unwind</a:t>
            </a:r>
            <a:endParaRPr lang="en-US" sz="1800" dirty="0"/>
          </a:p>
        </p:txBody>
      </p:sp>
      <p:sp>
        <p:nvSpPr>
          <p:cNvPr id="42" name="Text 40"/>
          <p:cNvSpPr txBox="1"/>
          <p:nvPr/>
        </p:nvSpPr>
        <p:spPr>
          <a:xfrm>
            <a:off x="8065008"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defer</a:t>
            </a:r>
            <a:endParaRPr lang="en-US" sz="1800" dirty="0"/>
          </a:p>
        </p:txBody>
      </p:sp>
      <p:sp>
        <p:nvSpPr>
          <p:cNvPr id="43" name="Text 41"/>
          <p:cNvSpPr txBox="1"/>
          <p:nvPr/>
        </p:nvSpPr>
        <p:spPr>
          <a:xfrm>
            <a:off x="10177272" y="4918166"/>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defer</a:t>
            </a:r>
            <a:endParaRPr lang="en-US" sz="1800" dirty="0"/>
          </a:p>
        </p:txBody>
      </p:sp>
      <p:sp>
        <p:nvSpPr>
          <p:cNvPr id="44" name="Shape 42"/>
          <p:cNvSpPr/>
          <p:nvPr/>
        </p:nvSpPr>
        <p:spPr>
          <a:xfrm>
            <a:off x="868680" y="5472031"/>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481175"/>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Signal/Reentrancy</a:t>
            </a:r>
            <a:endParaRPr lang="en-US" sz="2400" dirty="0"/>
          </a:p>
        </p:txBody>
      </p:sp>
      <p:sp>
        <p:nvSpPr>
          <p:cNvPr id="46" name="Text 44"/>
          <p:cNvSpPr txBox="1"/>
          <p:nvPr/>
        </p:nvSpPr>
        <p:spPr>
          <a:xfrm>
            <a:off x="3840480"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convention</a:t>
            </a:r>
            <a:endParaRPr lang="en-US" sz="1800" dirty="0"/>
          </a:p>
        </p:txBody>
      </p:sp>
      <p:sp>
        <p:nvSpPr>
          <p:cNvPr id="47" name="Text 45"/>
          <p:cNvSpPr txBox="1"/>
          <p:nvPr/>
        </p:nvSpPr>
        <p:spPr>
          <a:xfrm>
            <a:off x="5952744"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convention</a:t>
            </a:r>
            <a:endParaRPr lang="en-US" sz="1800" dirty="0"/>
          </a:p>
        </p:txBody>
      </p:sp>
      <p:sp>
        <p:nvSpPr>
          <p:cNvPr id="48" name="Text 46"/>
          <p:cNvSpPr txBox="1"/>
          <p:nvPr/>
        </p:nvSpPr>
        <p:spPr>
          <a:xfrm>
            <a:off x="8065008"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channels</a:t>
            </a:r>
            <a:endParaRPr lang="en-US" sz="1800" dirty="0"/>
          </a:p>
        </p:txBody>
      </p:sp>
      <p:sp>
        <p:nvSpPr>
          <p:cNvPr id="49" name="Text 47"/>
          <p:cNvSpPr txBox="1"/>
          <p:nvPr/>
        </p:nvSpPr>
        <p:spPr>
          <a:xfrm>
            <a:off x="10177272" y="5481175"/>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dispatch sources</a:t>
            </a:r>
            <a:endParaRPr lang="en-US" sz="1800" dirty="0"/>
          </a:p>
        </p:txBody>
      </p:sp>
      <p:sp>
        <p:nvSpPr>
          <p:cNvPr id="50" name="Shape 48"/>
          <p:cNvSpPr/>
          <p:nvPr/>
        </p:nvSpPr>
        <p:spPr>
          <a:xfrm>
            <a:off x="868680" y="6166975"/>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176119"/>
            <a:ext cx="2651760" cy="544721"/>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Forward progress</a:t>
            </a:r>
            <a:endParaRPr lang="en-US" sz="2400" dirty="0"/>
          </a:p>
        </p:txBody>
      </p:sp>
      <p:sp>
        <p:nvSpPr>
          <p:cNvPr id="52" name="Text 50"/>
          <p:cNvSpPr txBox="1"/>
          <p:nvPr/>
        </p:nvSpPr>
        <p:spPr>
          <a:xfrm>
            <a:off x="3840480" y="6176119"/>
            <a:ext cx="1828800" cy="544721"/>
          </a:xfrm>
          <a:prstGeom prst="rect">
            <a:avLst/>
          </a:prstGeom>
          <a:noFill/>
          <a:ln/>
        </p:spPr>
        <p:txBody>
          <a:bodyPr wrap="square" lIns="0" tIns="0" rIns="0" bIns="0" rtlCol="0" anchor="ctr"/>
          <a:lstStyle/>
          <a:p>
            <a:pPr>
              <a:lnSpc>
                <a:spcPct val="95000"/>
              </a:lnSpc>
            </a:pPr>
            <a:r>
              <a:rPr lang="en-US" b="1" dirty="0">
                <a:solidFill>
                  <a:srgbClr val="B8860B"/>
                </a:solidFill>
                <a:latin typeface="Aptos" pitchFamily="34" charset="0"/>
              </a:rPr>
              <a:t>By design</a:t>
            </a:r>
          </a:p>
          <a:p>
            <a:pPr marL="0" indent="0">
              <a:lnSpc>
                <a:spcPct val="95000"/>
              </a:lnSpc>
              <a:buNone/>
            </a:pPr>
            <a:r>
              <a:rPr lang="en-US" sz="1300" dirty="0">
                <a:solidFill>
                  <a:srgbClr val="6B6B6B"/>
                </a:solidFill>
                <a:latin typeface="Aptos" pitchFamily="34" charset="0"/>
                <a:ea typeface="Aptos" pitchFamily="34" charset="-122"/>
                <a:cs typeface="Aptos" pitchFamily="34" charset="-120"/>
              </a:rPr>
              <a:t>trivial loops (26)</a:t>
            </a:r>
            <a:endParaRPr lang="en-US" sz="1800" dirty="0"/>
          </a:p>
        </p:txBody>
      </p:sp>
      <p:sp>
        <p:nvSpPr>
          <p:cNvPr id="53" name="Text 51"/>
          <p:cNvSpPr txBox="1"/>
          <p:nvPr/>
        </p:nvSpPr>
        <p:spPr>
          <a:xfrm>
            <a:off x="5952744" y="617611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loops defined</a:t>
            </a:r>
            <a:endParaRPr lang="en-US" sz="1800" dirty="0"/>
          </a:p>
        </p:txBody>
      </p:sp>
      <p:sp>
        <p:nvSpPr>
          <p:cNvPr id="54" name="Text 52"/>
          <p:cNvSpPr txBox="1"/>
          <p:nvPr/>
        </p:nvSpPr>
        <p:spPr>
          <a:xfrm>
            <a:off x="8065008" y="617611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loops defined</a:t>
            </a:r>
            <a:endParaRPr lang="en-US" sz="1800" dirty="0"/>
          </a:p>
        </p:txBody>
      </p:sp>
      <p:sp>
        <p:nvSpPr>
          <p:cNvPr id="55" name="Text 53"/>
          <p:cNvSpPr txBox="1"/>
          <p:nvPr/>
        </p:nvSpPr>
        <p:spPr>
          <a:xfrm>
            <a:off x="10177272" y="6176119"/>
            <a:ext cx="1828800" cy="544721"/>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loops defined</a:t>
            </a:r>
            <a:endParaRPr lang="en-US" sz="1800" dirty="0"/>
          </a:p>
        </p:txBody>
      </p:sp>
      <p:sp>
        <p:nvSpPr>
          <p:cNvPr id="58" name="Title 57">
            <a:extLst>
              <a:ext uri="{FF2B5EF4-FFF2-40B4-BE49-F238E27FC236}">
                <a16:creationId xmlns:a16="http://schemas.microsoft.com/office/drawing/2014/main" id="{83B5C38B-3206-C15E-19C9-4872DE001FE9}"/>
              </a:ext>
            </a:extLst>
          </p:cNvPr>
          <p:cNvSpPr>
            <a:spLocks noGrp="1"/>
          </p:cNvSpPr>
          <p:nvPr>
            <p:ph type="title"/>
          </p:nvPr>
        </p:nvSpPr>
        <p:spPr/>
        <p:txBody>
          <a:bodyPr/>
          <a:lstStyle/>
          <a:p>
            <a:r>
              <a:rPr lang="en-US" dirty="0"/>
              <a:t>The C++ safety issues</a:t>
            </a:r>
            <a:endParaRPr lang="en-US" dirty="0">
              <a:solidFill>
                <a:srgbClr val="A6A6A6"/>
              </a:solidFill>
            </a:endParaRPr>
          </a:p>
        </p:txBody>
      </p:sp>
      <p:sp>
        <p:nvSpPr>
          <p:cNvPr id="900" name="Callout"/>
          <p:cNvSpPr/>
          <p:nvPr/>
        </p:nvSpPr>
        <p:spPr>
          <a:xfrm>
            <a:off x="3712464" y="1453896"/>
            <a:ext cx="8266176" cy="365460"/>
          </a:xfrm>
          <a:prstGeom prst="roundRect">
            <a:avLst>
              <a:gd name="adj" fmla="val 50000"/>
            </a:avLst>
          </a:prstGeom>
          <a:solidFill>
            <a:srgbClr val="FFFFFF"/>
          </a:solidFill>
          <a:ln w="19050">
            <a:solidFill>
              <a:srgbClr val="3F3F3F"/>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b="1" dirty="0">
                <a:solidFill>
                  <a:srgbClr val="3F3F3F"/>
                </a:solidFill>
                <a:latin typeface="Aptos"/>
              </a:rPr>
              <a:t>none of these reach 1% of CVEs, not measured</a:t>
            </a:r>
          </a:p>
        </p:txBody>
      </p:sp>
      <p:sp>
        <p:nvSpPr>
          <p:cNvPr id="950" name="Callout"/>
          <p:cNvSpPr/>
          <p:nvPr/>
        </p:nvSpPr>
        <p:spPr>
          <a:xfrm>
            <a:off x="2994660" y="2000394"/>
            <a:ext cx="3291840" cy="6858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600" b="1" dirty="0">
                <a:solidFill>
                  <a:srgbClr val="4A6373"/>
                </a:solidFill>
                <a:latin typeface="Aptos"/>
              </a:rPr>
              <a:t>std::format is opt-in (C++20)</a:t>
            </a:r>
          </a:p>
          <a:p>
            <a:pPr algn="ctr"/>
            <a:r>
              <a:rPr lang="en-US" sz="1600" b="1" dirty="0" err="1">
                <a:solidFill>
                  <a:srgbClr val="7A1C15"/>
                </a:solidFill>
                <a:latin typeface="Aptos"/>
              </a:rPr>
              <a:t>printf</a:t>
            </a:r>
            <a:r>
              <a:rPr lang="en-US" sz="1600" b="1" dirty="0">
                <a:solidFill>
                  <a:srgbClr val="7A1C15"/>
                </a:solidFill>
                <a:latin typeface="Aptos"/>
              </a:rPr>
              <a:t> is still there</a:t>
            </a:r>
          </a:p>
        </p:txBody>
      </p:sp>
      <p:sp>
        <p:nvSpPr>
          <p:cNvPr id="951" name="Callout"/>
          <p:cNvSpPr/>
          <p:nvPr/>
        </p:nvSpPr>
        <p:spPr>
          <a:xfrm>
            <a:off x="6327648" y="1938881"/>
            <a:ext cx="5303520" cy="757293"/>
          </a:xfrm>
          <a:prstGeom prst="roundRect">
            <a:avLst>
              <a:gd name="adj" fmla="val 50000"/>
            </a:avLst>
          </a:prstGeom>
          <a:solidFill>
            <a:srgbClr val="FFFFFF"/>
          </a:solidFill>
          <a:ln w="31750">
            <a:solidFill>
              <a:srgbClr val="1F4D24"/>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1F4D24"/>
                </a:solidFill>
                <a:latin typeface="Aptos"/>
              </a:rPr>
              <a:t>checked at compile time, go vet in Go</a:t>
            </a:r>
          </a:p>
        </p:txBody>
      </p:sp>
      <p:sp>
        <p:nvSpPr>
          <p:cNvPr id="952" name="Callout"/>
          <p:cNvSpPr/>
          <p:nvPr/>
        </p:nvSpPr>
        <p:spPr>
          <a:xfrm>
            <a:off x="3236976" y="3966228"/>
            <a:ext cx="3566160" cy="457200"/>
          </a:xfrm>
          <a:prstGeom prst="roundRect">
            <a:avLst>
              <a:gd name="adj" fmla="val 50000"/>
            </a:avLst>
          </a:prstGeom>
          <a:solidFill>
            <a:srgbClr val="FFFFFF"/>
          </a:solidFill>
          <a:ln w="25400">
            <a:solidFill>
              <a:srgbClr val="1A1A1A"/>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600" b="1" dirty="0">
                <a:solidFill>
                  <a:srgbClr val="1A1A1A"/>
                </a:solidFill>
                <a:latin typeface="Aptos"/>
              </a:rPr>
              <a:t>const_cast writes through const</a:t>
            </a:r>
          </a:p>
        </p:txBody>
      </p:sp>
      <p:sp>
        <p:nvSpPr>
          <p:cNvPr id="953" name="Callout"/>
          <p:cNvSpPr/>
          <p:nvPr/>
        </p:nvSpPr>
        <p:spPr>
          <a:xfrm>
            <a:off x="3413762" y="6219879"/>
            <a:ext cx="3108960" cy="457200"/>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600" b="1" dirty="0">
                <a:solidFill>
                  <a:srgbClr val="5C4712"/>
                </a:solidFill>
                <a:latin typeface="Aptos"/>
              </a:rPr>
              <a:t>only trivial loops, C++26</a:t>
            </a:r>
          </a:p>
        </p:txBody>
      </p:sp>
      <p:sp>
        <p:nvSpPr>
          <p:cNvPr id="954" name="Callout"/>
          <p:cNvSpPr/>
          <p:nvPr/>
        </p:nvSpPr>
        <p:spPr>
          <a:xfrm>
            <a:off x="6870700" y="6102352"/>
            <a:ext cx="5107940" cy="620448"/>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400" b="1" dirty="0">
                <a:solidFill>
                  <a:srgbClr val="1C3E63"/>
                </a:solidFill>
                <a:latin typeface="Aptos"/>
              </a:rPr>
              <a:t>all loops defined</a:t>
            </a:r>
          </a:p>
        </p:txBody>
      </p:sp>
      <p:sp>
        <p:nvSpPr>
          <p:cNvPr id="56" name="TextBox 55">
            <a:extLst>
              <a:ext uri="{FF2B5EF4-FFF2-40B4-BE49-F238E27FC236}">
                <a16:creationId xmlns:a16="http://schemas.microsoft.com/office/drawing/2014/main" id="{2111B312-7F13-A7C0-CA2A-E7DFE3857268}"/>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4/6</a:t>
            </a:r>
            <a:endParaRPr lang="en-US" sz="2800" dirty="0">
              <a:solidFill>
                <a:schemeClr val="bg1">
                  <a:lumMod val="75000"/>
                </a:schemeClr>
              </a:solidFill>
            </a:endParaRPr>
          </a:p>
        </p:txBody>
      </p:sp>
      <p:sp>
        <p:nvSpPr>
          <p:cNvPr id="59" name="Callout">
            <a:extLst>
              <a:ext uri="{FF2B5EF4-FFF2-40B4-BE49-F238E27FC236}">
                <a16:creationId xmlns:a16="http://schemas.microsoft.com/office/drawing/2014/main" id="{065CCBED-27DD-2340-BFC7-FE29F4B17EDC}"/>
              </a:ext>
            </a:extLst>
          </p:cNvPr>
          <p:cNvSpPr/>
          <p:nvPr/>
        </p:nvSpPr>
        <p:spPr>
          <a:xfrm>
            <a:off x="6972300" y="2831374"/>
            <a:ext cx="5207508" cy="777240"/>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1C3E63"/>
                </a:solidFill>
                <a:latin typeface="Aptos"/>
              </a:rPr>
              <a:t>punning is named unsafe</a:t>
            </a:r>
          </a:p>
          <a:p>
            <a:pPr algn="ctr"/>
            <a:r>
              <a:rPr lang="en-US" sz="2000" b="1" dirty="0">
                <a:solidFill>
                  <a:srgbClr val="1C3E63"/>
                </a:solidFill>
                <a:latin typeface="Aptos"/>
              </a:rPr>
              <a:t>alignment is guaranteed or traps</a:t>
            </a:r>
          </a:p>
        </p:txBody>
      </p:sp>
      <p:sp>
        <p:nvSpPr>
          <p:cNvPr id="61" name="Callout">
            <a:extLst>
              <a:ext uri="{FF2B5EF4-FFF2-40B4-BE49-F238E27FC236}">
                <a16:creationId xmlns:a16="http://schemas.microsoft.com/office/drawing/2014/main" id="{60CB1D95-F849-DE41-07A6-0E258089DEEA}"/>
              </a:ext>
            </a:extLst>
          </p:cNvPr>
          <p:cNvSpPr/>
          <p:nvPr/>
        </p:nvSpPr>
        <p:spPr>
          <a:xfrm>
            <a:off x="3124202" y="2732371"/>
            <a:ext cx="3474720" cy="6858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500" b="1" dirty="0">
                <a:solidFill>
                  <a:srgbClr val="7A1C15"/>
                </a:solidFill>
                <a:latin typeface="Aptos"/>
              </a:rPr>
              <a:t>pointer punning is UB</a:t>
            </a:r>
          </a:p>
          <a:p>
            <a:pPr algn="ctr"/>
            <a:r>
              <a:rPr lang="en-US" sz="1500" b="1" dirty="0">
                <a:solidFill>
                  <a:srgbClr val="7A1C15"/>
                </a:solidFill>
                <a:latin typeface="Aptos"/>
              </a:rPr>
              <a:t> </a:t>
            </a:r>
            <a:r>
              <a:rPr lang="en-US" sz="1500" b="1" dirty="0">
                <a:solidFill>
                  <a:srgbClr val="4A6373"/>
                </a:solidFill>
                <a:latin typeface="Aptos"/>
              </a:rPr>
              <a:t>std::bit_cast is defined</a:t>
            </a:r>
          </a:p>
        </p:txBody>
      </p:sp>
      <p:sp>
        <p:nvSpPr>
          <p:cNvPr id="63" name="Callout">
            <a:extLst>
              <a:ext uri="{FF2B5EF4-FFF2-40B4-BE49-F238E27FC236}">
                <a16:creationId xmlns:a16="http://schemas.microsoft.com/office/drawing/2014/main" id="{6C1E460E-2FA8-745F-3281-04B05F056F57}"/>
              </a:ext>
            </a:extLst>
          </p:cNvPr>
          <p:cNvSpPr/>
          <p:nvPr/>
        </p:nvSpPr>
        <p:spPr>
          <a:xfrm>
            <a:off x="3398522" y="3455399"/>
            <a:ext cx="2926080" cy="4572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500" b="1" dirty="0">
                <a:solidFill>
                  <a:srgbClr val="7A1C15"/>
                </a:solidFill>
                <a:latin typeface="Aptos"/>
              </a:rPr>
              <a:t>misaligned reads are UB</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Control-flow integrity</a:t>
            </a:r>
            <a:endParaRPr lang="en-US" sz="2400" dirty="0"/>
          </a:p>
        </p:txBody>
      </p:sp>
      <p:sp>
        <p:nvSpPr>
          <p:cNvPr id="10" name="Text 8"/>
          <p:cNvSpPr txBox="1"/>
          <p:nvPr/>
        </p:nvSpPr>
        <p:spPr>
          <a:xfrm>
            <a:off x="3840480"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longjmp skips dtors</a:t>
            </a:r>
            <a:endParaRPr lang="en-US" sz="1800" dirty="0"/>
          </a:p>
        </p:txBody>
      </p:sp>
      <p:sp>
        <p:nvSpPr>
          <p:cNvPr id="11" name="Text 9"/>
          <p:cNvSpPr txBox="1"/>
          <p:nvPr/>
        </p:nvSpPr>
        <p:spPr>
          <a:xfrm>
            <a:off x="5952744"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goto, no longjmp</a:t>
            </a:r>
            <a:endParaRPr lang="en-US" sz="1800" dirty="0"/>
          </a:p>
        </p:txBody>
      </p:sp>
      <p:sp>
        <p:nvSpPr>
          <p:cNvPr id="12" name="Text 10"/>
          <p:cNvSpPr txBox="1"/>
          <p:nvPr/>
        </p:nvSpPr>
        <p:spPr>
          <a:xfrm>
            <a:off x="8065008"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longjmp</a:t>
            </a:r>
            <a:endParaRPr lang="en-US" sz="1800" dirty="0"/>
          </a:p>
        </p:txBody>
      </p:sp>
      <p:sp>
        <p:nvSpPr>
          <p:cNvPr id="13" name="Text 11"/>
          <p:cNvSpPr txBox="1"/>
          <p:nvPr/>
        </p:nvSpPr>
        <p:spPr>
          <a:xfrm>
            <a:off x="10177272"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goto</a:t>
            </a:r>
            <a:endParaRPr lang="en-US" sz="1800" dirty="0"/>
          </a:p>
        </p:txBody>
      </p:sp>
      <p:sp>
        <p:nvSpPr>
          <p:cNvPr id="14" name="Shape 12"/>
          <p:cNvSpPr/>
          <p:nvPr/>
        </p:nvSpPr>
        <p:spPr>
          <a:xfrm>
            <a:off x="868680" y="2788920"/>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798064"/>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Control-flow integrity</a:t>
            </a:r>
            <a:endParaRPr lang="en-US" sz="2400" dirty="0"/>
          </a:p>
        </p:txBody>
      </p:sp>
      <p:sp>
        <p:nvSpPr>
          <p:cNvPr id="16" name="Text 14"/>
          <p:cNvSpPr txBox="1"/>
          <p:nvPr/>
        </p:nvSpPr>
        <p:spPr>
          <a:xfrm>
            <a:off x="3840480"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if (a = b); no break</a:t>
            </a:r>
            <a:endParaRPr lang="en-US" sz="1800" dirty="0"/>
          </a:p>
        </p:txBody>
      </p:sp>
      <p:sp>
        <p:nvSpPr>
          <p:cNvPr id="17" name="Text 15"/>
          <p:cNvSpPr txBox="1"/>
          <p:nvPr/>
        </p:nvSpPr>
        <p:spPr>
          <a:xfrm>
            <a:off x="5952744"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 is not bool</a:t>
            </a:r>
            <a:endParaRPr lang="en-US" sz="1800" dirty="0"/>
          </a:p>
        </p:txBody>
      </p:sp>
      <p:sp>
        <p:nvSpPr>
          <p:cNvPr id="18" name="Text 16"/>
          <p:cNvSpPr txBox="1"/>
          <p:nvPr/>
        </p:nvSpPr>
        <p:spPr>
          <a:xfrm>
            <a:off x="8065008"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syntax error</a:t>
            </a:r>
            <a:endParaRPr lang="en-US" sz="1800" dirty="0"/>
          </a:p>
        </p:txBody>
      </p:sp>
      <p:sp>
        <p:nvSpPr>
          <p:cNvPr id="19" name="Text 17"/>
          <p:cNvSpPr txBox="1"/>
          <p:nvPr/>
        </p:nvSpPr>
        <p:spPr>
          <a:xfrm>
            <a:off x="10177272"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error</a:t>
            </a:r>
            <a:endParaRPr lang="en-US" sz="1800" dirty="0"/>
          </a:p>
        </p:txBody>
      </p:sp>
      <p:sp>
        <p:nvSpPr>
          <p:cNvPr id="20" name="Shape 18"/>
          <p:cNvSpPr/>
          <p:nvPr/>
        </p:nvSpPr>
        <p:spPr>
          <a:xfrm>
            <a:off x="868680" y="3483864"/>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493008"/>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Evaluation order</a:t>
            </a:r>
            <a:endParaRPr lang="en-US" sz="2400" dirty="0"/>
          </a:p>
        </p:txBody>
      </p:sp>
      <p:sp>
        <p:nvSpPr>
          <p:cNvPr id="22" name="Text 20"/>
          <p:cNvSpPr txBox="1"/>
          <p:nvPr/>
        </p:nvSpPr>
        <p:spPr>
          <a:xfrm>
            <a:off x="3840480"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args unsequenced</a:t>
            </a:r>
            <a:endParaRPr lang="en-US" sz="1800" dirty="0"/>
          </a:p>
        </p:txBody>
      </p:sp>
      <p:sp>
        <p:nvSpPr>
          <p:cNvPr id="23" name="Text 21"/>
          <p:cNvSpPr txBox="1"/>
          <p:nvPr/>
        </p:nvSpPr>
        <p:spPr>
          <a:xfrm>
            <a:off x="5952744"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left to right</a:t>
            </a:r>
            <a:endParaRPr lang="en-US" sz="1800" dirty="0"/>
          </a:p>
        </p:txBody>
      </p:sp>
      <p:sp>
        <p:nvSpPr>
          <p:cNvPr id="24" name="Text 22"/>
          <p:cNvSpPr txBox="1"/>
          <p:nvPr/>
        </p:nvSpPr>
        <p:spPr>
          <a:xfrm>
            <a:off x="8065008"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left to right, one gap</a:t>
            </a:r>
            <a:endParaRPr lang="en-US" sz="1800" dirty="0"/>
          </a:p>
        </p:txBody>
      </p:sp>
      <p:sp>
        <p:nvSpPr>
          <p:cNvPr id="25" name="Text 23"/>
          <p:cNvSpPr txBox="1"/>
          <p:nvPr/>
        </p:nvSpPr>
        <p:spPr>
          <a:xfrm>
            <a:off x="10177272"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left to right</a:t>
            </a:r>
            <a:endParaRPr lang="en-US" sz="1800" dirty="0"/>
          </a:p>
        </p:txBody>
      </p:sp>
      <p:sp>
        <p:nvSpPr>
          <p:cNvPr id="26" name="Shape 24"/>
          <p:cNvSpPr/>
          <p:nvPr/>
        </p:nvSpPr>
        <p:spPr>
          <a:xfrm>
            <a:off x="868680" y="3994099"/>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4003243"/>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Atomicity/Ordering</a:t>
            </a:r>
            <a:endParaRPr lang="en-US" sz="2400" dirty="0"/>
          </a:p>
        </p:txBody>
      </p:sp>
      <p:sp>
        <p:nvSpPr>
          <p:cNvPr id="28" name="Text 26"/>
          <p:cNvSpPr txBox="1"/>
          <p:nvPr/>
        </p:nvSpPr>
        <p:spPr>
          <a:xfrm>
            <a:off x="3840480"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orderings unchecked</a:t>
            </a:r>
            <a:endParaRPr lang="en-US" sz="1800" dirty="0"/>
          </a:p>
        </p:txBody>
      </p:sp>
      <p:sp>
        <p:nvSpPr>
          <p:cNvPr id="29" name="Text 27"/>
          <p:cNvSpPr txBox="1"/>
          <p:nvPr/>
        </p:nvSpPr>
        <p:spPr>
          <a:xfrm>
            <a:off x="5952744"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ordering required</a:t>
            </a:r>
            <a:endParaRPr lang="en-US" sz="1800" dirty="0"/>
          </a:p>
        </p:txBody>
      </p:sp>
      <p:sp>
        <p:nvSpPr>
          <p:cNvPr id="30" name="Text 28"/>
          <p:cNvSpPr txBox="1"/>
          <p:nvPr/>
        </p:nvSpPr>
        <p:spPr>
          <a:xfrm>
            <a:off x="8065008"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seq-cst only</a:t>
            </a:r>
            <a:endParaRPr lang="en-US" sz="1800" dirty="0"/>
          </a:p>
        </p:txBody>
      </p:sp>
      <p:sp>
        <p:nvSpPr>
          <p:cNvPr id="31" name="Text 29"/>
          <p:cNvSpPr txBox="1"/>
          <p:nvPr/>
        </p:nvSpPr>
        <p:spPr>
          <a:xfrm>
            <a:off x="10177272"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Atomic; actors</a:t>
            </a:r>
            <a:endParaRPr lang="en-US" sz="1800" dirty="0"/>
          </a:p>
        </p:txBody>
      </p:sp>
      <p:sp>
        <p:nvSpPr>
          <p:cNvPr id="32" name="Shape 30"/>
          <p:cNvSpPr/>
          <p:nvPr/>
        </p:nvSpPr>
        <p:spPr>
          <a:xfrm>
            <a:off x="868680" y="4689043"/>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698187"/>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Liveness</a:t>
            </a:r>
            <a:endParaRPr lang="en-US" sz="2400" dirty="0"/>
          </a:p>
        </p:txBody>
      </p:sp>
      <p:sp>
        <p:nvSpPr>
          <p:cNvPr id="34" name="Text 32"/>
          <p:cNvSpPr txBox="1"/>
          <p:nvPr/>
        </p:nvSpPr>
        <p:spPr>
          <a:xfrm>
            <a:off x="3840480"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deadlocks unseen</a:t>
            </a:r>
            <a:endParaRPr lang="en-US" sz="1800" dirty="0"/>
          </a:p>
        </p:txBody>
      </p:sp>
      <p:sp>
        <p:nvSpPr>
          <p:cNvPr id="35" name="Text 33"/>
          <p:cNvSpPr txBox="1"/>
          <p:nvPr/>
        </p:nvSpPr>
        <p:spPr>
          <a:xfrm>
            <a:off x="5952744"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deadlocks unseen</a:t>
            </a:r>
            <a:endParaRPr lang="en-US" sz="1800" dirty="0"/>
          </a:p>
        </p:txBody>
      </p:sp>
      <p:sp>
        <p:nvSpPr>
          <p:cNvPr id="36" name="Text 34"/>
          <p:cNvSpPr txBox="1"/>
          <p:nvPr/>
        </p:nvSpPr>
        <p:spPr>
          <a:xfrm>
            <a:off x="8065008"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global deadlock only</a:t>
            </a:r>
            <a:endParaRPr lang="en-US" sz="1800" dirty="0"/>
          </a:p>
        </p:txBody>
      </p:sp>
      <p:sp>
        <p:nvSpPr>
          <p:cNvPr id="37" name="Text 35"/>
          <p:cNvSpPr txBox="1"/>
          <p:nvPr/>
        </p:nvSpPr>
        <p:spPr>
          <a:xfrm>
            <a:off x="10177272"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deadlocks unseen</a:t>
            </a:r>
            <a:endParaRPr lang="en-US" sz="1800" dirty="0"/>
          </a:p>
        </p:txBody>
      </p:sp>
      <p:sp>
        <p:nvSpPr>
          <p:cNvPr id="38" name="Shape 36"/>
          <p:cNvSpPr/>
          <p:nvPr/>
        </p:nvSpPr>
        <p:spPr>
          <a:xfrm>
            <a:off x="868680" y="5199278"/>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208422"/>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Stack</a:t>
            </a:r>
            <a:endParaRPr lang="en-US" sz="2400" dirty="0"/>
          </a:p>
        </p:txBody>
      </p:sp>
      <p:sp>
        <p:nvSpPr>
          <p:cNvPr id="40" name="Text 38"/>
          <p:cNvSpPr txBox="1"/>
          <p:nvPr/>
        </p:nvSpPr>
        <p:spPr>
          <a:xfrm>
            <a:off x="3840480"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overflow unchecked</a:t>
            </a:r>
            <a:endParaRPr lang="en-US" sz="1800" dirty="0"/>
          </a:p>
        </p:txBody>
      </p:sp>
      <p:sp>
        <p:nvSpPr>
          <p:cNvPr id="41" name="Text 39"/>
          <p:cNvSpPr txBox="1"/>
          <p:nvPr/>
        </p:nvSpPr>
        <p:spPr>
          <a:xfrm>
            <a:off x="5952744"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abort</a:t>
            </a:r>
            <a:endParaRPr lang="en-US" sz="1800" dirty="0"/>
          </a:p>
        </p:txBody>
      </p:sp>
      <p:sp>
        <p:nvSpPr>
          <p:cNvPr id="42" name="Text 40"/>
          <p:cNvSpPr txBox="1"/>
          <p:nvPr/>
        </p:nvSpPr>
        <p:spPr>
          <a:xfrm>
            <a:off x="8065008"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growable stacks</a:t>
            </a:r>
            <a:endParaRPr lang="en-US" sz="1800" dirty="0"/>
          </a:p>
        </p:txBody>
      </p:sp>
      <p:sp>
        <p:nvSpPr>
          <p:cNvPr id="43" name="Text 41"/>
          <p:cNvSpPr txBox="1"/>
          <p:nvPr/>
        </p:nvSpPr>
        <p:spPr>
          <a:xfrm>
            <a:off x="10177272"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crash</a:t>
            </a:r>
            <a:endParaRPr lang="en-US" sz="1800" dirty="0"/>
          </a:p>
        </p:txBody>
      </p:sp>
      <p:sp>
        <p:nvSpPr>
          <p:cNvPr id="44" name="Shape 42"/>
          <p:cNvSpPr/>
          <p:nvPr/>
        </p:nvSpPr>
        <p:spPr>
          <a:xfrm>
            <a:off x="868680" y="5709514"/>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718658"/>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ODR/IFNDR</a:t>
            </a:r>
            <a:endParaRPr lang="en-US" sz="2400" dirty="0"/>
          </a:p>
        </p:txBody>
      </p:sp>
      <p:sp>
        <p:nvSpPr>
          <p:cNvPr id="46" name="Text 44"/>
          <p:cNvSpPr txBox="1"/>
          <p:nvPr/>
        </p:nvSpPr>
        <p:spPr>
          <a:xfrm>
            <a:off x="3840480"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silent</a:t>
            </a:r>
            <a:endParaRPr lang="en-US" sz="1800" dirty="0"/>
          </a:p>
        </p:txBody>
      </p:sp>
      <p:sp>
        <p:nvSpPr>
          <p:cNvPr id="47" name="Text 45"/>
          <p:cNvSpPr txBox="1"/>
          <p:nvPr/>
        </p:nvSpPr>
        <p:spPr>
          <a:xfrm>
            <a:off x="5952744"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crates</a:t>
            </a:r>
            <a:endParaRPr lang="en-US" sz="1800" dirty="0"/>
          </a:p>
        </p:txBody>
      </p:sp>
      <p:sp>
        <p:nvSpPr>
          <p:cNvPr id="48" name="Text 46"/>
          <p:cNvSpPr txBox="1"/>
          <p:nvPr/>
        </p:nvSpPr>
        <p:spPr>
          <a:xfrm>
            <a:off x="8065008"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packages</a:t>
            </a:r>
            <a:endParaRPr lang="en-US" sz="1800" dirty="0"/>
          </a:p>
        </p:txBody>
      </p:sp>
      <p:sp>
        <p:nvSpPr>
          <p:cNvPr id="49" name="Text 47"/>
          <p:cNvSpPr txBox="1"/>
          <p:nvPr/>
        </p:nvSpPr>
        <p:spPr>
          <a:xfrm>
            <a:off x="10177272"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modules</a:t>
            </a:r>
            <a:endParaRPr lang="en-US" sz="1800" dirty="0"/>
          </a:p>
        </p:txBody>
      </p:sp>
      <p:sp>
        <p:nvSpPr>
          <p:cNvPr id="50" name="Shape 48"/>
          <p:cNvSpPr/>
          <p:nvPr/>
        </p:nvSpPr>
        <p:spPr>
          <a:xfrm>
            <a:off x="868680" y="6219749"/>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228893"/>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ABI</a:t>
            </a:r>
            <a:endParaRPr lang="en-US" sz="2400" dirty="0"/>
          </a:p>
        </p:txBody>
      </p:sp>
      <p:sp>
        <p:nvSpPr>
          <p:cNvPr id="52" name="Text 50"/>
          <p:cNvSpPr txBox="1"/>
          <p:nvPr/>
        </p:nvSpPr>
        <p:spPr>
          <a:xfrm>
            <a:off x="3840480"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standard ABI</a:t>
            </a:r>
            <a:endParaRPr lang="en-US" sz="1800" dirty="0"/>
          </a:p>
        </p:txBody>
      </p:sp>
      <p:sp>
        <p:nvSpPr>
          <p:cNvPr id="53" name="Text 51"/>
          <p:cNvSpPr txBox="1"/>
          <p:nvPr/>
        </p:nvSpPr>
        <p:spPr>
          <a:xfrm>
            <a:off x="5952744"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repr(C)</a:t>
            </a:r>
            <a:endParaRPr lang="en-US" sz="1800" dirty="0"/>
          </a:p>
        </p:txBody>
      </p:sp>
      <p:sp>
        <p:nvSpPr>
          <p:cNvPr id="54" name="Text 52"/>
          <p:cNvSpPr txBox="1"/>
          <p:nvPr/>
        </p:nvSpPr>
        <p:spPr>
          <a:xfrm>
            <a:off x="8065008"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one toolchain</a:t>
            </a:r>
            <a:endParaRPr lang="en-US" sz="1800" dirty="0"/>
          </a:p>
        </p:txBody>
      </p:sp>
      <p:sp>
        <p:nvSpPr>
          <p:cNvPr id="55" name="Text 53"/>
          <p:cNvSpPr txBox="1"/>
          <p:nvPr/>
        </p:nvSpPr>
        <p:spPr>
          <a:xfrm>
            <a:off x="10177272"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stable ABI (Apple)</a:t>
            </a:r>
            <a:endParaRPr lang="en-US" sz="1800" dirty="0"/>
          </a:p>
        </p:txBody>
      </p:sp>
      <p:sp>
        <p:nvSpPr>
          <p:cNvPr id="58" name="Title 57">
            <a:extLst>
              <a:ext uri="{FF2B5EF4-FFF2-40B4-BE49-F238E27FC236}">
                <a16:creationId xmlns:a16="http://schemas.microsoft.com/office/drawing/2014/main" id="{FCC5EAC3-0AA2-510F-4642-F3533EC1C79C}"/>
              </a:ext>
            </a:extLst>
          </p:cNvPr>
          <p:cNvSpPr>
            <a:spLocks noGrp="1"/>
          </p:cNvSpPr>
          <p:nvPr>
            <p:ph type="title"/>
          </p:nvPr>
        </p:nvSpPr>
        <p:spPr/>
        <p:txBody>
          <a:bodyPr/>
          <a:lstStyle/>
          <a:p>
            <a:r>
              <a:rPr lang="en-US" dirty="0"/>
              <a:t>The C++ safety issues</a:t>
            </a:r>
          </a:p>
        </p:txBody>
      </p:sp>
      <p:sp>
        <p:nvSpPr>
          <p:cNvPr id="56" name="TextBox 55">
            <a:extLst>
              <a:ext uri="{FF2B5EF4-FFF2-40B4-BE49-F238E27FC236}">
                <a16:creationId xmlns:a16="http://schemas.microsoft.com/office/drawing/2014/main" id="{D560FD99-3D22-60F1-06EF-69E80B683B6E}"/>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5/6</a:t>
            </a:r>
            <a:endParaRPr lang="en-US" sz="2800" dirty="0">
              <a:solidFill>
                <a:schemeClr val="bg1">
                  <a:lumMod val="75000"/>
                </a:schemeClr>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5303520"/>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Control-flow integrity</a:t>
            </a:r>
            <a:endParaRPr lang="en-US" sz="2400" dirty="0"/>
          </a:p>
        </p:txBody>
      </p:sp>
      <p:sp>
        <p:nvSpPr>
          <p:cNvPr id="10" name="Text 8"/>
          <p:cNvSpPr txBox="1"/>
          <p:nvPr/>
        </p:nvSpPr>
        <p:spPr>
          <a:xfrm>
            <a:off x="3840480"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longjmp skips dtors</a:t>
            </a:r>
            <a:endParaRPr lang="en-US" sz="1800" dirty="0"/>
          </a:p>
        </p:txBody>
      </p:sp>
      <p:sp>
        <p:nvSpPr>
          <p:cNvPr id="11" name="Text 9"/>
          <p:cNvSpPr txBox="1"/>
          <p:nvPr/>
        </p:nvSpPr>
        <p:spPr>
          <a:xfrm>
            <a:off x="5952744"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goto, no longjmp</a:t>
            </a:r>
            <a:endParaRPr lang="en-US" sz="1800" dirty="0"/>
          </a:p>
        </p:txBody>
      </p:sp>
      <p:sp>
        <p:nvSpPr>
          <p:cNvPr id="12" name="Text 10"/>
          <p:cNvSpPr txBox="1"/>
          <p:nvPr/>
        </p:nvSpPr>
        <p:spPr>
          <a:xfrm>
            <a:off x="8065008"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longjmp</a:t>
            </a:r>
            <a:endParaRPr lang="en-US" sz="1800" dirty="0"/>
          </a:p>
        </p:txBody>
      </p:sp>
      <p:sp>
        <p:nvSpPr>
          <p:cNvPr id="13" name="Text 11"/>
          <p:cNvSpPr txBox="1"/>
          <p:nvPr/>
        </p:nvSpPr>
        <p:spPr>
          <a:xfrm>
            <a:off x="10177272"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goto</a:t>
            </a:r>
            <a:endParaRPr lang="en-US" sz="1800" dirty="0"/>
          </a:p>
        </p:txBody>
      </p:sp>
      <p:sp>
        <p:nvSpPr>
          <p:cNvPr id="14" name="Shape 12"/>
          <p:cNvSpPr/>
          <p:nvPr/>
        </p:nvSpPr>
        <p:spPr>
          <a:xfrm>
            <a:off x="868680" y="2788920"/>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798064"/>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Control-flow integrity</a:t>
            </a:r>
            <a:endParaRPr lang="en-US" sz="2400" dirty="0"/>
          </a:p>
        </p:txBody>
      </p:sp>
      <p:sp>
        <p:nvSpPr>
          <p:cNvPr id="16" name="Text 14"/>
          <p:cNvSpPr txBox="1"/>
          <p:nvPr/>
        </p:nvSpPr>
        <p:spPr>
          <a:xfrm>
            <a:off x="3840480"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if (a = b); no break</a:t>
            </a:r>
            <a:endParaRPr lang="en-US" sz="1800" dirty="0"/>
          </a:p>
        </p:txBody>
      </p:sp>
      <p:sp>
        <p:nvSpPr>
          <p:cNvPr id="17" name="Text 15"/>
          <p:cNvSpPr txBox="1"/>
          <p:nvPr/>
        </p:nvSpPr>
        <p:spPr>
          <a:xfrm>
            <a:off x="5952744"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 is not bool</a:t>
            </a:r>
            <a:endParaRPr lang="en-US" sz="1800" dirty="0"/>
          </a:p>
        </p:txBody>
      </p:sp>
      <p:sp>
        <p:nvSpPr>
          <p:cNvPr id="18" name="Text 16"/>
          <p:cNvSpPr txBox="1"/>
          <p:nvPr/>
        </p:nvSpPr>
        <p:spPr>
          <a:xfrm>
            <a:off x="8065008"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syntax error</a:t>
            </a:r>
            <a:endParaRPr lang="en-US" sz="1800" dirty="0"/>
          </a:p>
        </p:txBody>
      </p:sp>
      <p:sp>
        <p:nvSpPr>
          <p:cNvPr id="19" name="Text 17"/>
          <p:cNvSpPr txBox="1"/>
          <p:nvPr/>
        </p:nvSpPr>
        <p:spPr>
          <a:xfrm>
            <a:off x="10177272"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error</a:t>
            </a:r>
            <a:endParaRPr lang="en-US" sz="1800" dirty="0"/>
          </a:p>
        </p:txBody>
      </p:sp>
      <p:sp>
        <p:nvSpPr>
          <p:cNvPr id="20" name="Shape 18"/>
          <p:cNvSpPr/>
          <p:nvPr/>
        </p:nvSpPr>
        <p:spPr>
          <a:xfrm>
            <a:off x="868680" y="3483864"/>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493008"/>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Evaluation order</a:t>
            </a:r>
            <a:endParaRPr lang="en-US" sz="2400" dirty="0"/>
          </a:p>
        </p:txBody>
      </p:sp>
      <p:sp>
        <p:nvSpPr>
          <p:cNvPr id="22" name="Text 20"/>
          <p:cNvSpPr txBox="1"/>
          <p:nvPr/>
        </p:nvSpPr>
        <p:spPr>
          <a:xfrm>
            <a:off x="3840480"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args unsequenced</a:t>
            </a:r>
            <a:endParaRPr lang="en-US" sz="1800" dirty="0"/>
          </a:p>
        </p:txBody>
      </p:sp>
      <p:sp>
        <p:nvSpPr>
          <p:cNvPr id="23" name="Text 21"/>
          <p:cNvSpPr txBox="1"/>
          <p:nvPr/>
        </p:nvSpPr>
        <p:spPr>
          <a:xfrm>
            <a:off x="5952744"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left to right</a:t>
            </a:r>
            <a:endParaRPr lang="en-US" sz="1800" dirty="0"/>
          </a:p>
        </p:txBody>
      </p:sp>
      <p:sp>
        <p:nvSpPr>
          <p:cNvPr id="24" name="Text 22"/>
          <p:cNvSpPr txBox="1"/>
          <p:nvPr/>
        </p:nvSpPr>
        <p:spPr>
          <a:xfrm>
            <a:off x="8065008"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left to right, one gap</a:t>
            </a:r>
            <a:endParaRPr lang="en-US" sz="1800" dirty="0"/>
          </a:p>
        </p:txBody>
      </p:sp>
      <p:sp>
        <p:nvSpPr>
          <p:cNvPr id="25" name="Text 23"/>
          <p:cNvSpPr txBox="1"/>
          <p:nvPr/>
        </p:nvSpPr>
        <p:spPr>
          <a:xfrm>
            <a:off x="10177272" y="349300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left to right</a:t>
            </a:r>
            <a:endParaRPr lang="en-US" sz="1800" dirty="0"/>
          </a:p>
        </p:txBody>
      </p:sp>
      <p:sp>
        <p:nvSpPr>
          <p:cNvPr id="26" name="Shape 24"/>
          <p:cNvSpPr/>
          <p:nvPr/>
        </p:nvSpPr>
        <p:spPr>
          <a:xfrm>
            <a:off x="868680" y="3994099"/>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4003243"/>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Atomicity/Ordering</a:t>
            </a:r>
            <a:endParaRPr lang="en-US" sz="2400" dirty="0"/>
          </a:p>
        </p:txBody>
      </p:sp>
      <p:sp>
        <p:nvSpPr>
          <p:cNvPr id="28" name="Text 26"/>
          <p:cNvSpPr txBox="1"/>
          <p:nvPr/>
        </p:nvSpPr>
        <p:spPr>
          <a:xfrm>
            <a:off x="3840480"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orderings unchecked</a:t>
            </a:r>
            <a:endParaRPr lang="en-US" sz="1800" dirty="0"/>
          </a:p>
        </p:txBody>
      </p:sp>
      <p:sp>
        <p:nvSpPr>
          <p:cNvPr id="29" name="Text 27"/>
          <p:cNvSpPr txBox="1"/>
          <p:nvPr/>
        </p:nvSpPr>
        <p:spPr>
          <a:xfrm>
            <a:off x="5952744"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ordering required</a:t>
            </a:r>
            <a:endParaRPr lang="en-US" sz="1800" dirty="0"/>
          </a:p>
        </p:txBody>
      </p:sp>
      <p:sp>
        <p:nvSpPr>
          <p:cNvPr id="30" name="Text 28"/>
          <p:cNvSpPr txBox="1"/>
          <p:nvPr/>
        </p:nvSpPr>
        <p:spPr>
          <a:xfrm>
            <a:off x="8065008"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seq-cst only</a:t>
            </a:r>
            <a:endParaRPr lang="en-US" sz="1800" dirty="0"/>
          </a:p>
        </p:txBody>
      </p:sp>
      <p:sp>
        <p:nvSpPr>
          <p:cNvPr id="31" name="Text 29"/>
          <p:cNvSpPr txBox="1"/>
          <p:nvPr/>
        </p:nvSpPr>
        <p:spPr>
          <a:xfrm>
            <a:off x="10177272" y="4003243"/>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Atomic; actors</a:t>
            </a:r>
            <a:endParaRPr lang="en-US" sz="1800" dirty="0"/>
          </a:p>
        </p:txBody>
      </p:sp>
      <p:sp>
        <p:nvSpPr>
          <p:cNvPr id="32" name="Shape 30"/>
          <p:cNvSpPr/>
          <p:nvPr/>
        </p:nvSpPr>
        <p:spPr>
          <a:xfrm>
            <a:off x="868680" y="4689043"/>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698187"/>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Liveness</a:t>
            </a:r>
            <a:endParaRPr lang="en-US" sz="2400" dirty="0"/>
          </a:p>
        </p:txBody>
      </p:sp>
      <p:sp>
        <p:nvSpPr>
          <p:cNvPr id="34" name="Text 32"/>
          <p:cNvSpPr txBox="1"/>
          <p:nvPr/>
        </p:nvSpPr>
        <p:spPr>
          <a:xfrm>
            <a:off x="3840480"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deadlocks unseen</a:t>
            </a:r>
            <a:endParaRPr lang="en-US" sz="1800" dirty="0"/>
          </a:p>
        </p:txBody>
      </p:sp>
      <p:sp>
        <p:nvSpPr>
          <p:cNvPr id="35" name="Text 33"/>
          <p:cNvSpPr txBox="1"/>
          <p:nvPr/>
        </p:nvSpPr>
        <p:spPr>
          <a:xfrm>
            <a:off x="5952744"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deadlocks unseen</a:t>
            </a:r>
            <a:endParaRPr lang="en-US" sz="1800" dirty="0"/>
          </a:p>
        </p:txBody>
      </p:sp>
      <p:sp>
        <p:nvSpPr>
          <p:cNvPr id="36" name="Text 34"/>
          <p:cNvSpPr txBox="1"/>
          <p:nvPr/>
        </p:nvSpPr>
        <p:spPr>
          <a:xfrm>
            <a:off x="8065008"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global deadlock only</a:t>
            </a:r>
            <a:endParaRPr lang="en-US" sz="1800" dirty="0"/>
          </a:p>
        </p:txBody>
      </p:sp>
      <p:sp>
        <p:nvSpPr>
          <p:cNvPr id="37" name="Text 35"/>
          <p:cNvSpPr txBox="1"/>
          <p:nvPr/>
        </p:nvSpPr>
        <p:spPr>
          <a:xfrm>
            <a:off x="10177272" y="4698187"/>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deadlocks unseen</a:t>
            </a:r>
            <a:endParaRPr lang="en-US" sz="1800" dirty="0"/>
          </a:p>
        </p:txBody>
      </p:sp>
      <p:sp>
        <p:nvSpPr>
          <p:cNvPr id="38" name="Shape 36"/>
          <p:cNvSpPr/>
          <p:nvPr/>
        </p:nvSpPr>
        <p:spPr>
          <a:xfrm>
            <a:off x="868680" y="5199278"/>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208422"/>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Stack</a:t>
            </a:r>
            <a:endParaRPr lang="en-US" sz="2400" dirty="0"/>
          </a:p>
        </p:txBody>
      </p:sp>
      <p:sp>
        <p:nvSpPr>
          <p:cNvPr id="40" name="Text 38"/>
          <p:cNvSpPr txBox="1"/>
          <p:nvPr/>
        </p:nvSpPr>
        <p:spPr>
          <a:xfrm>
            <a:off x="3840480"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overflow unchecked</a:t>
            </a:r>
            <a:endParaRPr lang="en-US" sz="1800" dirty="0"/>
          </a:p>
        </p:txBody>
      </p:sp>
      <p:sp>
        <p:nvSpPr>
          <p:cNvPr id="41" name="Text 39"/>
          <p:cNvSpPr txBox="1"/>
          <p:nvPr/>
        </p:nvSpPr>
        <p:spPr>
          <a:xfrm>
            <a:off x="5952744"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abort</a:t>
            </a:r>
            <a:endParaRPr lang="en-US" sz="1800" dirty="0"/>
          </a:p>
        </p:txBody>
      </p:sp>
      <p:sp>
        <p:nvSpPr>
          <p:cNvPr id="42" name="Text 40"/>
          <p:cNvSpPr txBox="1"/>
          <p:nvPr/>
        </p:nvSpPr>
        <p:spPr>
          <a:xfrm>
            <a:off x="8065008"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growable stacks</a:t>
            </a:r>
            <a:endParaRPr lang="en-US" sz="1800" dirty="0"/>
          </a:p>
        </p:txBody>
      </p:sp>
      <p:sp>
        <p:nvSpPr>
          <p:cNvPr id="43" name="Text 41"/>
          <p:cNvSpPr txBox="1"/>
          <p:nvPr/>
        </p:nvSpPr>
        <p:spPr>
          <a:xfrm>
            <a:off x="10177272" y="5208422"/>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B8860B"/>
                </a:solidFill>
                <a:latin typeface="Aptos" pitchFamily="34" charset="0"/>
                <a:ea typeface="Aptos" pitchFamily="34" charset="-122"/>
                <a:cs typeface="Aptos" pitchFamily="34" charset="-120"/>
              </a:rPr>
              <a:t>Runtime trap</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crash</a:t>
            </a:r>
            <a:endParaRPr lang="en-US" sz="1800" dirty="0"/>
          </a:p>
        </p:txBody>
      </p:sp>
      <p:sp>
        <p:nvSpPr>
          <p:cNvPr id="44" name="Shape 42"/>
          <p:cNvSpPr/>
          <p:nvPr/>
        </p:nvSpPr>
        <p:spPr>
          <a:xfrm>
            <a:off x="868680" y="5709514"/>
            <a:ext cx="11109960" cy="0"/>
          </a:xfrm>
          <a:prstGeom prst="line">
            <a:avLst/>
          </a:prstGeom>
          <a:noFill/>
          <a:ln w="9525">
            <a:solidFill>
              <a:srgbClr val="D9D6D2"/>
            </a:solidFill>
            <a:prstDash val="solid"/>
          </a:ln>
        </p:spPr>
        <p:txBody>
          <a:bodyPr/>
          <a:lstStyle/>
          <a:p>
            <a:endParaRPr lang="en-US"/>
          </a:p>
        </p:txBody>
      </p:sp>
      <p:sp>
        <p:nvSpPr>
          <p:cNvPr id="45" name="Text 43"/>
          <p:cNvSpPr txBox="1"/>
          <p:nvPr/>
        </p:nvSpPr>
        <p:spPr>
          <a:xfrm>
            <a:off x="868680" y="5718658"/>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ODR/IFNDR</a:t>
            </a:r>
            <a:endParaRPr lang="en-US" sz="2400" dirty="0"/>
          </a:p>
        </p:txBody>
      </p:sp>
      <p:sp>
        <p:nvSpPr>
          <p:cNvPr id="46" name="Text 44"/>
          <p:cNvSpPr txBox="1"/>
          <p:nvPr/>
        </p:nvSpPr>
        <p:spPr>
          <a:xfrm>
            <a:off x="3840480"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silent</a:t>
            </a:r>
            <a:endParaRPr lang="en-US" sz="1800" dirty="0"/>
          </a:p>
        </p:txBody>
      </p:sp>
      <p:sp>
        <p:nvSpPr>
          <p:cNvPr id="47" name="Text 45"/>
          <p:cNvSpPr txBox="1"/>
          <p:nvPr/>
        </p:nvSpPr>
        <p:spPr>
          <a:xfrm>
            <a:off x="5952744"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crates</a:t>
            </a:r>
            <a:endParaRPr lang="en-US" sz="1800" dirty="0"/>
          </a:p>
        </p:txBody>
      </p:sp>
      <p:sp>
        <p:nvSpPr>
          <p:cNvPr id="48" name="Text 46"/>
          <p:cNvSpPr txBox="1"/>
          <p:nvPr/>
        </p:nvSpPr>
        <p:spPr>
          <a:xfrm>
            <a:off x="8065008"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packages</a:t>
            </a:r>
            <a:endParaRPr lang="en-US" sz="1800" dirty="0"/>
          </a:p>
        </p:txBody>
      </p:sp>
      <p:sp>
        <p:nvSpPr>
          <p:cNvPr id="49" name="Text 47"/>
          <p:cNvSpPr txBox="1"/>
          <p:nvPr/>
        </p:nvSpPr>
        <p:spPr>
          <a:xfrm>
            <a:off x="10177272" y="5718658"/>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modules</a:t>
            </a:r>
            <a:endParaRPr lang="en-US" sz="1800" dirty="0"/>
          </a:p>
        </p:txBody>
      </p:sp>
      <p:sp>
        <p:nvSpPr>
          <p:cNvPr id="50" name="Shape 48"/>
          <p:cNvSpPr/>
          <p:nvPr/>
        </p:nvSpPr>
        <p:spPr>
          <a:xfrm>
            <a:off x="868680" y="6219749"/>
            <a:ext cx="11109960" cy="0"/>
          </a:xfrm>
          <a:prstGeom prst="line">
            <a:avLst/>
          </a:prstGeom>
          <a:noFill/>
          <a:ln w="9525">
            <a:solidFill>
              <a:srgbClr val="D9D6D2"/>
            </a:solidFill>
            <a:prstDash val="solid"/>
          </a:ln>
        </p:spPr>
        <p:txBody>
          <a:bodyPr/>
          <a:lstStyle/>
          <a:p>
            <a:endParaRPr lang="en-US"/>
          </a:p>
        </p:txBody>
      </p:sp>
      <p:sp>
        <p:nvSpPr>
          <p:cNvPr id="51" name="Text 49"/>
          <p:cNvSpPr txBox="1"/>
          <p:nvPr/>
        </p:nvSpPr>
        <p:spPr>
          <a:xfrm>
            <a:off x="868680" y="6228893"/>
            <a:ext cx="2651760" cy="491947"/>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ABI</a:t>
            </a:r>
            <a:endParaRPr lang="en-US" sz="2400" dirty="0"/>
          </a:p>
        </p:txBody>
      </p:sp>
      <p:sp>
        <p:nvSpPr>
          <p:cNvPr id="52" name="Text 50"/>
          <p:cNvSpPr txBox="1"/>
          <p:nvPr/>
        </p:nvSpPr>
        <p:spPr>
          <a:xfrm>
            <a:off x="3840480"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standard ABI</a:t>
            </a:r>
            <a:endParaRPr lang="en-US" sz="1800" dirty="0"/>
          </a:p>
        </p:txBody>
      </p:sp>
      <p:sp>
        <p:nvSpPr>
          <p:cNvPr id="53" name="Text 51"/>
          <p:cNvSpPr txBox="1"/>
          <p:nvPr/>
        </p:nvSpPr>
        <p:spPr>
          <a:xfrm>
            <a:off x="5952744"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repr(C)</a:t>
            </a:r>
            <a:endParaRPr lang="en-US" sz="1800" dirty="0"/>
          </a:p>
        </p:txBody>
      </p:sp>
      <p:sp>
        <p:nvSpPr>
          <p:cNvPr id="54" name="Text 52"/>
          <p:cNvSpPr txBox="1"/>
          <p:nvPr/>
        </p:nvSpPr>
        <p:spPr>
          <a:xfrm>
            <a:off x="8065008"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one toolchain</a:t>
            </a:r>
            <a:endParaRPr lang="en-US" sz="1800" dirty="0"/>
          </a:p>
        </p:txBody>
      </p:sp>
      <p:sp>
        <p:nvSpPr>
          <p:cNvPr id="55" name="Text 53"/>
          <p:cNvSpPr txBox="1"/>
          <p:nvPr/>
        </p:nvSpPr>
        <p:spPr>
          <a:xfrm>
            <a:off x="10177272" y="6228893"/>
            <a:ext cx="1828800" cy="491947"/>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stable ABI (Apple)</a:t>
            </a:r>
            <a:endParaRPr lang="en-US" sz="1800" dirty="0"/>
          </a:p>
        </p:txBody>
      </p:sp>
      <p:sp>
        <p:nvSpPr>
          <p:cNvPr id="58" name="Title 57">
            <a:extLst>
              <a:ext uri="{FF2B5EF4-FFF2-40B4-BE49-F238E27FC236}">
                <a16:creationId xmlns:a16="http://schemas.microsoft.com/office/drawing/2014/main" id="{FCC5EAC3-0AA2-510F-4642-F3533EC1C79C}"/>
              </a:ext>
            </a:extLst>
          </p:cNvPr>
          <p:cNvSpPr>
            <a:spLocks noGrp="1"/>
          </p:cNvSpPr>
          <p:nvPr>
            <p:ph type="title"/>
          </p:nvPr>
        </p:nvSpPr>
        <p:spPr/>
        <p:txBody>
          <a:bodyPr/>
          <a:lstStyle/>
          <a:p>
            <a:r>
              <a:rPr lang="en-US" dirty="0"/>
              <a:t>The C++ safety issues</a:t>
            </a:r>
            <a:endParaRPr lang="en-US" dirty="0">
              <a:solidFill>
                <a:srgbClr val="A6A6A6"/>
              </a:solidFill>
            </a:endParaRPr>
          </a:p>
        </p:txBody>
      </p:sp>
      <p:sp>
        <p:nvSpPr>
          <p:cNvPr id="902" name="Callout"/>
          <p:cNvSpPr/>
          <p:nvPr/>
        </p:nvSpPr>
        <p:spPr>
          <a:xfrm>
            <a:off x="3520440" y="3374136"/>
            <a:ext cx="2404872" cy="593445"/>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600" b="1" dirty="0">
                <a:solidFill>
                  <a:srgbClr val="7A1C15"/>
                </a:solidFill>
                <a:latin typeface="Aptos"/>
              </a:rPr>
              <a:t>arguments are unsequenced</a:t>
            </a:r>
          </a:p>
        </p:txBody>
      </p:sp>
      <p:sp>
        <p:nvSpPr>
          <p:cNvPr id="903" name="Callout"/>
          <p:cNvSpPr/>
          <p:nvPr/>
        </p:nvSpPr>
        <p:spPr>
          <a:xfrm>
            <a:off x="6096000" y="3336646"/>
            <a:ext cx="5791200" cy="676656"/>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400" b="1" dirty="0">
                <a:solidFill>
                  <a:srgbClr val="1C3E63"/>
                </a:solidFill>
                <a:latin typeface="Aptos"/>
              </a:rPr>
              <a:t>left to right</a:t>
            </a:r>
          </a:p>
        </p:txBody>
      </p:sp>
      <p:sp>
        <p:nvSpPr>
          <p:cNvPr id="905" name="Callout"/>
          <p:cNvSpPr/>
          <p:nvPr/>
        </p:nvSpPr>
        <p:spPr>
          <a:xfrm>
            <a:off x="2799334" y="5232043"/>
            <a:ext cx="3566160" cy="4572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600" b="1" dirty="0">
                <a:solidFill>
                  <a:srgbClr val="7A1C15"/>
                </a:solidFill>
                <a:latin typeface="Aptos"/>
              </a:rPr>
              <a:t>stack overflow is unchecked UB</a:t>
            </a:r>
          </a:p>
        </p:txBody>
      </p:sp>
      <p:sp>
        <p:nvSpPr>
          <p:cNvPr id="906" name="Callout"/>
          <p:cNvSpPr/>
          <p:nvPr/>
        </p:nvSpPr>
        <p:spPr>
          <a:xfrm>
            <a:off x="6504434" y="5186323"/>
            <a:ext cx="5382766" cy="548640"/>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1C3E63"/>
                </a:solidFill>
                <a:latin typeface="Aptos"/>
              </a:rPr>
              <a:t>growable stacks or trap</a:t>
            </a:r>
          </a:p>
        </p:txBody>
      </p:sp>
      <p:sp>
        <p:nvSpPr>
          <p:cNvPr id="907" name="Callout"/>
          <p:cNvSpPr/>
          <p:nvPr/>
        </p:nvSpPr>
        <p:spPr>
          <a:xfrm>
            <a:off x="2799334" y="5745175"/>
            <a:ext cx="3561588" cy="45720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600" b="1" dirty="0">
                <a:solidFill>
                  <a:srgbClr val="7A1C15"/>
                </a:solidFill>
                <a:latin typeface="Aptos"/>
              </a:rPr>
              <a:t>ODR violations are silent</a:t>
            </a:r>
          </a:p>
        </p:txBody>
      </p:sp>
      <p:sp>
        <p:nvSpPr>
          <p:cNvPr id="970" name="Callout"/>
          <p:cNvSpPr/>
          <p:nvPr/>
        </p:nvSpPr>
        <p:spPr>
          <a:xfrm>
            <a:off x="2794762" y="6284290"/>
            <a:ext cx="3566160" cy="457200"/>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600" b="1" dirty="0">
                <a:solidFill>
                  <a:srgbClr val="3F3F3F"/>
                </a:solidFill>
                <a:latin typeface="Aptos"/>
              </a:rPr>
              <a:t>no standard ABI</a:t>
            </a:r>
          </a:p>
        </p:txBody>
      </p:sp>
      <p:sp>
        <p:nvSpPr>
          <p:cNvPr id="971" name="Callout"/>
          <p:cNvSpPr/>
          <p:nvPr/>
        </p:nvSpPr>
        <p:spPr>
          <a:xfrm>
            <a:off x="6595874" y="6146064"/>
            <a:ext cx="5382766" cy="608736"/>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1C3E63"/>
                </a:solidFill>
                <a:latin typeface="Aptos"/>
              </a:rPr>
              <a:t>one toolchain, or a stable ABI</a:t>
            </a:r>
          </a:p>
        </p:txBody>
      </p:sp>
      <p:sp>
        <p:nvSpPr>
          <p:cNvPr id="980" name="Callout"/>
          <p:cNvSpPr/>
          <p:nvPr/>
        </p:nvSpPr>
        <p:spPr>
          <a:xfrm>
            <a:off x="3543300" y="4112971"/>
            <a:ext cx="2199132" cy="457200"/>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1500" b="1" dirty="0">
                <a:solidFill>
                  <a:srgbClr val="3F3F3F"/>
                </a:solidFill>
                <a:latin typeface="Aptos"/>
              </a:rPr>
              <a:t>weaker orders are unchecked</a:t>
            </a:r>
          </a:p>
        </p:txBody>
      </p:sp>
      <p:sp>
        <p:nvSpPr>
          <p:cNvPr id="981" name="Callout"/>
          <p:cNvSpPr/>
          <p:nvPr/>
        </p:nvSpPr>
        <p:spPr>
          <a:xfrm>
            <a:off x="6096000" y="4067251"/>
            <a:ext cx="5791200" cy="548640"/>
          </a:xfrm>
          <a:prstGeom prst="roundRect">
            <a:avLst>
              <a:gd name="adj" fmla="val 50000"/>
            </a:avLst>
          </a:prstGeom>
          <a:solidFill>
            <a:srgbClr val="FFFFFF"/>
          </a:solidFill>
          <a:ln w="31750">
            <a:solidFill>
              <a:srgbClr val="1F4D24"/>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1F4D24"/>
                </a:solidFill>
                <a:latin typeface="Aptos"/>
              </a:rPr>
              <a:t>ordering required, or seq-cst only</a:t>
            </a:r>
          </a:p>
        </p:txBody>
      </p:sp>
      <p:sp>
        <p:nvSpPr>
          <p:cNvPr id="56" name="TextBox 55">
            <a:extLst>
              <a:ext uri="{FF2B5EF4-FFF2-40B4-BE49-F238E27FC236}">
                <a16:creationId xmlns:a16="http://schemas.microsoft.com/office/drawing/2014/main" id="{9824C425-974B-C625-7205-B0D5C02E5E24}"/>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5/6</a:t>
            </a:r>
            <a:endParaRPr lang="en-US" sz="2800" dirty="0">
              <a:solidFill>
                <a:schemeClr val="bg1">
                  <a:lumMod val="75000"/>
                </a:schemeClr>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4507992"/>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4507992"/>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Toolchain/</a:t>
            </a:r>
            <a:endParaRPr lang="en-US" sz="2400" dirty="0"/>
          </a:p>
          <a:p>
            <a:pPr marL="0" indent="0">
              <a:buNone/>
            </a:pPr>
            <a:r>
              <a:rPr lang="en-US" sz="2400" b="1" dirty="0">
                <a:solidFill>
                  <a:srgbClr val="111111"/>
                </a:solidFill>
                <a:latin typeface="Aptos" pitchFamily="34" charset="0"/>
                <a:ea typeface="Aptos" pitchFamily="34" charset="-122"/>
                <a:cs typeface="Aptos" pitchFamily="34" charset="-120"/>
              </a:rPr>
              <a:t>Optimizer</a:t>
            </a:r>
            <a:endParaRPr lang="en-US" sz="2400" dirty="0"/>
          </a:p>
        </p:txBody>
      </p:sp>
      <p:sp>
        <p:nvSpPr>
          <p:cNvPr id="10" name="Text 8"/>
          <p:cNvSpPr txBox="1"/>
          <p:nvPr/>
        </p:nvSpPr>
        <p:spPr>
          <a:xfrm>
            <a:off x="3840480"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assume; UB-driven</a:t>
            </a:r>
            <a:endParaRPr lang="en-US" sz="1800" dirty="0"/>
          </a:p>
        </p:txBody>
      </p:sp>
      <p:sp>
        <p:nvSpPr>
          <p:cNvPr id="11" name="Text 9"/>
          <p:cNvSpPr txBox="1"/>
          <p:nvPr/>
        </p:nvSpPr>
        <p:spPr>
          <a:xfrm>
            <a:off x="5952744"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hints are unsafe</a:t>
            </a:r>
            <a:endParaRPr lang="en-US" sz="1800" dirty="0"/>
          </a:p>
        </p:txBody>
      </p:sp>
      <p:sp>
        <p:nvSpPr>
          <p:cNvPr id="12" name="Text 10"/>
          <p:cNvSpPr txBox="1"/>
          <p:nvPr/>
        </p:nvSpPr>
        <p:spPr>
          <a:xfrm>
            <a:off x="8065008"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macros, no assume</a:t>
            </a:r>
            <a:endParaRPr lang="en-US" sz="1800" dirty="0"/>
          </a:p>
        </p:txBody>
      </p:sp>
      <p:sp>
        <p:nvSpPr>
          <p:cNvPr id="13" name="Text 11"/>
          <p:cNvSpPr txBox="1"/>
          <p:nvPr/>
        </p:nvSpPr>
        <p:spPr>
          <a:xfrm>
            <a:off x="10177272"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-Ounchecked</a:t>
            </a:r>
            <a:endParaRPr lang="en-US" sz="1800" dirty="0"/>
          </a:p>
        </p:txBody>
      </p:sp>
      <p:sp>
        <p:nvSpPr>
          <p:cNvPr id="14" name="Shape 12"/>
          <p:cNvSpPr/>
          <p:nvPr/>
        </p:nvSpPr>
        <p:spPr>
          <a:xfrm>
            <a:off x="868680" y="2788920"/>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798064"/>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Toolchain/</a:t>
            </a:r>
            <a:endParaRPr lang="en-US" sz="2400" dirty="0"/>
          </a:p>
          <a:p>
            <a:pPr marL="0" indent="0">
              <a:buNone/>
            </a:pPr>
            <a:r>
              <a:rPr lang="en-US" sz="2400" b="1" dirty="0">
                <a:solidFill>
                  <a:srgbClr val="111111"/>
                </a:solidFill>
                <a:latin typeface="Aptos" pitchFamily="34" charset="0"/>
                <a:ea typeface="Aptos" pitchFamily="34" charset="-122"/>
                <a:cs typeface="Aptos" pitchFamily="34" charset="-120"/>
              </a:rPr>
              <a:t>Optimizer</a:t>
            </a:r>
            <a:endParaRPr lang="en-US" sz="2400" dirty="0"/>
          </a:p>
        </p:txBody>
      </p:sp>
      <p:sp>
        <p:nvSpPr>
          <p:cNvPr id="16" name="Text 14"/>
          <p:cNvSpPr txBox="1"/>
          <p:nvPr/>
        </p:nvSpPr>
        <p:spPr>
          <a:xfrm>
            <a:off x="3840480"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macros, unhygienic</a:t>
            </a:r>
            <a:endParaRPr lang="en-US" sz="1800" dirty="0"/>
          </a:p>
        </p:txBody>
      </p:sp>
      <p:sp>
        <p:nvSpPr>
          <p:cNvPr id="17" name="Text 15"/>
          <p:cNvSpPr txBox="1"/>
          <p:nvPr/>
        </p:nvSpPr>
        <p:spPr>
          <a:xfrm>
            <a:off x="5952744"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hygienic</a:t>
            </a:r>
            <a:endParaRPr lang="en-US" sz="1800" dirty="0"/>
          </a:p>
        </p:txBody>
      </p:sp>
      <p:sp>
        <p:nvSpPr>
          <p:cNvPr id="18" name="Text 16"/>
          <p:cNvSpPr txBox="1"/>
          <p:nvPr/>
        </p:nvSpPr>
        <p:spPr>
          <a:xfrm>
            <a:off x="8065008"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none</a:t>
            </a:r>
            <a:endParaRPr lang="en-US" sz="1800" dirty="0"/>
          </a:p>
        </p:txBody>
      </p:sp>
      <p:sp>
        <p:nvSpPr>
          <p:cNvPr id="19" name="Text 17"/>
          <p:cNvSpPr txBox="1"/>
          <p:nvPr/>
        </p:nvSpPr>
        <p:spPr>
          <a:xfrm>
            <a:off x="10177272"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hygienic</a:t>
            </a:r>
            <a:endParaRPr lang="en-US" sz="1800" dirty="0"/>
          </a:p>
        </p:txBody>
      </p:sp>
      <p:sp>
        <p:nvSpPr>
          <p:cNvPr id="20" name="Shape 18"/>
          <p:cNvSpPr/>
          <p:nvPr/>
        </p:nvSpPr>
        <p:spPr>
          <a:xfrm>
            <a:off x="868680" y="3483864"/>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493008"/>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Toolchain/</a:t>
            </a:r>
            <a:endParaRPr lang="en-US" sz="2400" dirty="0"/>
          </a:p>
          <a:p>
            <a:pPr marL="0" indent="0">
              <a:buNone/>
            </a:pPr>
            <a:r>
              <a:rPr lang="en-US" sz="2400" b="1" dirty="0">
                <a:solidFill>
                  <a:srgbClr val="111111"/>
                </a:solidFill>
                <a:latin typeface="Aptos" pitchFamily="34" charset="0"/>
                <a:ea typeface="Aptos" pitchFamily="34" charset="-122"/>
                <a:cs typeface="Aptos" pitchFamily="34" charset="-120"/>
              </a:rPr>
              <a:t>Optimizer</a:t>
            </a:r>
            <a:endParaRPr lang="en-US" sz="2400" dirty="0"/>
          </a:p>
        </p:txBody>
      </p:sp>
      <p:sp>
        <p:nvSpPr>
          <p:cNvPr id="22" name="Text 20"/>
          <p:cNvSpPr txBox="1"/>
          <p:nvPr/>
        </p:nvSpPr>
        <p:spPr>
          <a:xfrm>
            <a:off x="3840480"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constexpr rejects UB</a:t>
            </a:r>
            <a:endParaRPr lang="en-US" sz="1800" dirty="0"/>
          </a:p>
        </p:txBody>
      </p:sp>
      <p:sp>
        <p:nvSpPr>
          <p:cNvPr id="23" name="Text 21"/>
          <p:cNvSpPr txBox="1"/>
          <p:nvPr/>
        </p:nvSpPr>
        <p:spPr>
          <a:xfrm>
            <a:off x="5952744"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 fn, same</a:t>
            </a:r>
            <a:endParaRPr lang="en-US" sz="1800" dirty="0"/>
          </a:p>
        </p:txBody>
      </p:sp>
      <p:sp>
        <p:nvSpPr>
          <p:cNvPr id="24" name="Text 22"/>
          <p:cNvSpPr txBox="1"/>
          <p:nvPr/>
        </p:nvSpPr>
        <p:spPr>
          <a:xfrm>
            <a:off x="8065008"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limited</a:t>
            </a:r>
            <a:endParaRPr lang="en-US" sz="1800" dirty="0"/>
          </a:p>
        </p:txBody>
      </p:sp>
      <p:sp>
        <p:nvSpPr>
          <p:cNvPr id="25" name="Text 23"/>
          <p:cNvSpPr txBox="1"/>
          <p:nvPr/>
        </p:nvSpPr>
        <p:spPr>
          <a:xfrm>
            <a:off x="10177272"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limited</a:t>
            </a:r>
            <a:endParaRPr lang="en-US" sz="1800" dirty="0"/>
          </a:p>
        </p:txBody>
      </p:sp>
      <p:sp>
        <p:nvSpPr>
          <p:cNvPr id="26" name="Shape 24"/>
          <p:cNvSpPr/>
          <p:nvPr/>
        </p:nvSpPr>
        <p:spPr>
          <a:xfrm>
            <a:off x="868680" y="4178808"/>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4187952"/>
            <a:ext cx="2651760" cy="566928"/>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Floating point</a:t>
            </a:r>
            <a:endParaRPr lang="en-US" sz="2400" dirty="0"/>
          </a:p>
        </p:txBody>
      </p:sp>
      <p:sp>
        <p:nvSpPr>
          <p:cNvPr id="28" name="Text 26"/>
          <p:cNvSpPr txBox="1"/>
          <p:nvPr/>
        </p:nvSpPr>
        <p:spPr>
          <a:xfrm>
            <a:off x="3840480"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IEEE; NaN flows</a:t>
            </a:r>
            <a:endParaRPr lang="en-US" sz="1800" dirty="0"/>
          </a:p>
        </p:txBody>
      </p:sp>
      <p:sp>
        <p:nvSpPr>
          <p:cNvPr id="29" name="Text 27"/>
          <p:cNvSpPr txBox="1"/>
          <p:nvPr/>
        </p:nvSpPr>
        <p:spPr>
          <a:xfrm>
            <a:off x="5952744"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f64 is not Ord</a:t>
            </a:r>
            <a:endParaRPr lang="en-US" sz="1800" dirty="0"/>
          </a:p>
        </p:txBody>
      </p:sp>
      <p:sp>
        <p:nvSpPr>
          <p:cNvPr id="30" name="Text 28"/>
          <p:cNvSpPr txBox="1"/>
          <p:nvPr/>
        </p:nvSpPr>
        <p:spPr>
          <a:xfrm>
            <a:off x="8065008"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IEEE</a:t>
            </a:r>
            <a:endParaRPr lang="en-US" sz="1800" dirty="0"/>
          </a:p>
        </p:txBody>
      </p:sp>
      <p:sp>
        <p:nvSpPr>
          <p:cNvPr id="31" name="Text 29"/>
          <p:cNvSpPr txBox="1"/>
          <p:nvPr/>
        </p:nvSpPr>
        <p:spPr>
          <a:xfrm>
            <a:off x="10177272"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IEEE</a:t>
            </a:r>
            <a:endParaRPr lang="en-US" sz="1800" dirty="0"/>
          </a:p>
        </p:txBody>
      </p:sp>
      <p:sp>
        <p:nvSpPr>
          <p:cNvPr id="32" name="Shape 30"/>
          <p:cNvSpPr/>
          <p:nvPr/>
        </p:nvSpPr>
        <p:spPr>
          <a:xfrm>
            <a:off x="868680" y="4764024"/>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773168"/>
            <a:ext cx="2651760" cy="566928"/>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Comparison</a:t>
            </a:r>
            <a:endParaRPr lang="en-US" sz="2400" dirty="0"/>
          </a:p>
        </p:txBody>
      </p:sp>
      <p:sp>
        <p:nvSpPr>
          <p:cNvPr id="34" name="Text 32"/>
          <p:cNvSpPr txBox="1"/>
          <p:nvPr/>
        </p:nvSpPr>
        <p:spPr>
          <a:xfrm>
            <a:off x="3840480"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bad comparator, UB</a:t>
            </a:r>
            <a:endParaRPr lang="en-US" sz="1800" dirty="0"/>
          </a:p>
        </p:txBody>
      </p:sp>
      <p:sp>
        <p:nvSpPr>
          <p:cNvPr id="35" name="Text 33"/>
          <p:cNvSpPr txBox="1"/>
          <p:nvPr/>
        </p:nvSpPr>
        <p:spPr>
          <a:xfrm>
            <a:off x="5952744"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derive; sort checks</a:t>
            </a:r>
            <a:endParaRPr lang="en-US" sz="1800" dirty="0"/>
          </a:p>
        </p:txBody>
      </p:sp>
      <p:sp>
        <p:nvSpPr>
          <p:cNvPr id="36" name="Text 34"/>
          <p:cNvSpPr txBox="1"/>
          <p:nvPr/>
        </p:nvSpPr>
        <p:spPr>
          <a:xfrm>
            <a:off x="8065008"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unchecked</a:t>
            </a:r>
            <a:endParaRPr lang="en-US" sz="1800" dirty="0"/>
          </a:p>
        </p:txBody>
      </p:sp>
      <p:sp>
        <p:nvSpPr>
          <p:cNvPr id="37" name="Text 35"/>
          <p:cNvSpPr txBox="1"/>
          <p:nvPr/>
        </p:nvSpPr>
        <p:spPr>
          <a:xfrm>
            <a:off x="10177272"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synthesized</a:t>
            </a:r>
            <a:endParaRPr lang="en-US" sz="1800" dirty="0"/>
          </a:p>
        </p:txBody>
      </p:sp>
      <p:sp>
        <p:nvSpPr>
          <p:cNvPr id="38" name="Shape 36"/>
          <p:cNvSpPr/>
          <p:nvPr/>
        </p:nvSpPr>
        <p:spPr>
          <a:xfrm>
            <a:off x="868680" y="5349240"/>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358384"/>
            <a:ext cx="2651760" cy="566928"/>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Units</a:t>
            </a:r>
            <a:endParaRPr lang="en-US" sz="2400" dirty="0"/>
          </a:p>
        </p:txBody>
      </p:sp>
      <p:sp>
        <p:nvSpPr>
          <p:cNvPr id="40" name="Text 38"/>
          <p:cNvSpPr txBox="1"/>
          <p:nvPr/>
        </p:nvSpPr>
        <p:spPr>
          <a:xfrm>
            <a:off x="3840480"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chrono typed</a:t>
            </a:r>
            <a:endParaRPr lang="en-US" sz="1800" dirty="0"/>
          </a:p>
        </p:txBody>
      </p:sp>
      <p:sp>
        <p:nvSpPr>
          <p:cNvPr id="41" name="Text 39"/>
          <p:cNvSpPr txBox="1"/>
          <p:nvPr/>
        </p:nvSpPr>
        <p:spPr>
          <a:xfrm>
            <a:off x="5952744"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libraries</a:t>
            </a:r>
            <a:endParaRPr lang="en-US" sz="1800" dirty="0"/>
          </a:p>
        </p:txBody>
      </p:sp>
      <p:sp>
        <p:nvSpPr>
          <p:cNvPr id="42" name="Text 40"/>
          <p:cNvSpPr txBox="1"/>
          <p:nvPr/>
        </p:nvSpPr>
        <p:spPr>
          <a:xfrm>
            <a:off x="8065008"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int64 ns wraps</a:t>
            </a:r>
            <a:endParaRPr lang="en-US" sz="1800" dirty="0"/>
          </a:p>
        </p:txBody>
      </p:sp>
      <p:sp>
        <p:nvSpPr>
          <p:cNvPr id="43" name="Text 41"/>
          <p:cNvSpPr txBox="1"/>
          <p:nvPr/>
        </p:nvSpPr>
        <p:spPr>
          <a:xfrm>
            <a:off x="10177272"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Duration 128-bit</a:t>
            </a:r>
            <a:endParaRPr lang="en-US" sz="1800" dirty="0"/>
          </a:p>
        </p:txBody>
      </p:sp>
      <p:sp>
        <p:nvSpPr>
          <p:cNvPr id="46" name="Title 45">
            <a:extLst>
              <a:ext uri="{FF2B5EF4-FFF2-40B4-BE49-F238E27FC236}">
                <a16:creationId xmlns:a16="http://schemas.microsoft.com/office/drawing/2014/main" id="{092E4B54-639E-A919-9947-BC0D410642A0}"/>
              </a:ext>
            </a:extLst>
          </p:cNvPr>
          <p:cNvSpPr>
            <a:spLocks noGrp="1"/>
          </p:cNvSpPr>
          <p:nvPr>
            <p:ph type="title"/>
          </p:nvPr>
        </p:nvSpPr>
        <p:spPr/>
        <p:txBody>
          <a:bodyPr/>
          <a:lstStyle/>
          <a:p>
            <a:r>
              <a:rPr lang="en-US" dirty="0"/>
              <a:t>The C++ safety issues</a:t>
            </a:r>
          </a:p>
        </p:txBody>
      </p:sp>
      <p:sp>
        <p:nvSpPr>
          <p:cNvPr id="44" name="TextBox 43">
            <a:extLst>
              <a:ext uri="{FF2B5EF4-FFF2-40B4-BE49-F238E27FC236}">
                <a16:creationId xmlns:a16="http://schemas.microsoft.com/office/drawing/2014/main" id="{47700A2D-91E7-FC44-BD43-CF962D646A9A}"/>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6/6</a:t>
            </a:r>
            <a:endParaRPr lang="en-US" sz="2800" dirty="0">
              <a:solidFill>
                <a:schemeClr val="bg1">
                  <a:lumMod val="75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584448" y="1463040"/>
            <a:ext cx="2103120" cy="4507992"/>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4" name="Shape 2"/>
          <p:cNvSpPr/>
          <p:nvPr/>
        </p:nvSpPr>
        <p:spPr>
          <a:xfrm>
            <a:off x="7808976" y="1463040"/>
            <a:ext cx="2103120" cy="4507992"/>
          </a:xfrm>
          <a:prstGeom prst="roundRect">
            <a:avLst>
              <a:gd name="adj" fmla="val 4348"/>
            </a:avLst>
          </a:prstGeom>
          <a:solidFill>
            <a:srgbClr val="F1EEEA"/>
          </a:solidFill>
          <a:ln w="12700">
            <a:solidFill>
              <a:srgbClr val="F1EEEA"/>
            </a:solidFill>
            <a:prstDash val="solid"/>
          </a:ln>
        </p:spPr>
        <p:txBody>
          <a:bodyPr/>
          <a:lstStyle/>
          <a:p>
            <a:endParaRPr lang="en-US"/>
          </a:p>
        </p:txBody>
      </p:sp>
      <p:sp>
        <p:nvSpPr>
          <p:cNvPr id="5" name="Text 3"/>
          <p:cNvSpPr txBox="1"/>
          <p:nvPr/>
        </p:nvSpPr>
        <p:spPr>
          <a:xfrm>
            <a:off x="3840480"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a:t>
            </a:r>
            <a:endParaRPr lang="en-US" sz="2400" dirty="0"/>
          </a:p>
        </p:txBody>
      </p:sp>
      <p:sp>
        <p:nvSpPr>
          <p:cNvPr id="6" name="Text 4"/>
          <p:cNvSpPr txBox="1"/>
          <p:nvPr/>
        </p:nvSpPr>
        <p:spPr>
          <a:xfrm>
            <a:off x="5952744"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Rust</a:t>
            </a:r>
            <a:endParaRPr lang="en-US" sz="2400" dirty="0"/>
          </a:p>
        </p:txBody>
      </p:sp>
      <p:sp>
        <p:nvSpPr>
          <p:cNvPr id="7" name="Text 5"/>
          <p:cNvSpPr txBox="1"/>
          <p:nvPr/>
        </p:nvSpPr>
        <p:spPr>
          <a:xfrm>
            <a:off x="8065008"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Go</a:t>
            </a:r>
            <a:endParaRPr lang="en-US" sz="2400" dirty="0"/>
          </a:p>
        </p:txBody>
      </p:sp>
      <p:sp>
        <p:nvSpPr>
          <p:cNvPr id="8" name="Text 6"/>
          <p:cNvSpPr txBox="1"/>
          <p:nvPr/>
        </p:nvSpPr>
        <p:spPr>
          <a:xfrm>
            <a:off x="10177272" y="1554480"/>
            <a:ext cx="1828800" cy="411480"/>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Swift</a:t>
            </a:r>
            <a:endParaRPr lang="en-US" sz="2400" dirty="0"/>
          </a:p>
        </p:txBody>
      </p:sp>
      <p:sp>
        <p:nvSpPr>
          <p:cNvPr id="9" name="Text 7"/>
          <p:cNvSpPr txBox="1"/>
          <p:nvPr/>
        </p:nvSpPr>
        <p:spPr>
          <a:xfrm>
            <a:off x="868680" y="2103120"/>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Toolchain/</a:t>
            </a:r>
            <a:endParaRPr lang="en-US" sz="2400" dirty="0"/>
          </a:p>
          <a:p>
            <a:pPr marL="0" indent="0">
              <a:buNone/>
            </a:pPr>
            <a:r>
              <a:rPr lang="en-US" sz="2400" b="1" dirty="0">
                <a:solidFill>
                  <a:srgbClr val="111111"/>
                </a:solidFill>
                <a:latin typeface="Aptos" pitchFamily="34" charset="0"/>
                <a:ea typeface="Aptos" pitchFamily="34" charset="-122"/>
                <a:cs typeface="Aptos" pitchFamily="34" charset="-120"/>
              </a:rPr>
              <a:t>Optimizer</a:t>
            </a:r>
            <a:endParaRPr lang="en-US" sz="2400" dirty="0"/>
          </a:p>
        </p:txBody>
      </p:sp>
      <p:sp>
        <p:nvSpPr>
          <p:cNvPr id="10" name="Text 8"/>
          <p:cNvSpPr txBox="1"/>
          <p:nvPr/>
        </p:nvSpPr>
        <p:spPr>
          <a:xfrm>
            <a:off x="3840480"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assume; UB-driven</a:t>
            </a:r>
            <a:endParaRPr lang="en-US" sz="1800" dirty="0"/>
          </a:p>
        </p:txBody>
      </p:sp>
      <p:sp>
        <p:nvSpPr>
          <p:cNvPr id="11" name="Text 9"/>
          <p:cNvSpPr txBox="1"/>
          <p:nvPr/>
        </p:nvSpPr>
        <p:spPr>
          <a:xfrm>
            <a:off x="5952744"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hints are unsafe</a:t>
            </a:r>
            <a:endParaRPr lang="en-US" sz="1800" dirty="0"/>
          </a:p>
        </p:txBody>
      </p:sp>
      <p:sp>
        <p:nvSpPr>
          <p:cNvPr id="12" name="Text 10"/>
          <p:cNvSpPr txBox="1"/>
          <p:nvPr/>
        </p:nvSpPr>
        <p:spPr>
          <a:xfrm>
            <a:off x="8065008"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 macros, no assume</a:t>
            </a:r>
            <a:endParaRPr lang="en-US" sz="1800" dirty="0"/>
          </a:p>
        </p:txBody>
      </p:sp>
      <p:sp>
        <p:nvSpPr>
          <p:cNvPr id="13" name="Text 11"/>
          <p:cNvSpPr txBox="1"/>
          <p:nvPr/>
        </p:nvSpPr>
        <p:spPr>
          <a:xfrm>
            <a:off x="10177272" y="2103120"/>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-Ounchecked</a:t>
            </a:r>
            <a:endParaRPr lang="en-US" sz="1800" dirty="0"/>
          </a:p>
        </p:txBody>
      </p:sp>
      <p:sp>
        <p:nvSpPr>
          <p:cNvPr id="14" name="Shape 12"/>
          <p:cNvSpPr/>
          <p:nvPr/>
        </p:nvSpPr>
        <p:spPr>
          <a:xfrm>
            <a:off x="868680" y="2788920"/>
            <a:ext cx="11109960" cy="0"/>
          </a:xfrm>
          <a:prstGeom prst="line">
            <a:avLst/>
          </a:prstGeom>
          <a:noFill/>
          <a:ln w="9525">
            <a:solidFill>
              <a:srgbClr val="D9D6D2"/>
            </a:solidFill>
            <a:prstDash val="solid"/>
          </a:ln>
        </p:spPr>
        <p:txBody>
          <a:bodyPr/>
          <a:lstStyle/>
          <a:p>
            <a:endParaRPr lang="en-US"/>
          </a:p>
        </p:txBody>
      </p:sp>
      <p:sp>
        <p:nvSpPr>
          <p:cNvPr id="15" name="Text 13"/>
          <p:cNvSpPr txBox="1"/>
          <p:nvPr/>
        </p:nvSpPr>
        <p:spPr>
          <a:xfrm>
            <a:off x="868680" y="2798064"/>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Toolchain/</a:t>
            </a:r>
            <a:endParaRPr lang="en-US" sz="2400" dirty="0"/>
          </a:p>
          <a:p>
            <a:pPr marL="0" indent="0">
              <a:buNone/>
            </a:pPr>
            <a:r>
              <a:rPr lang="en-US" sz="2400" b="1" dirty="0">
                <a:solidFill>
                  <a:srgbClr val="111111"/>
                </a:solidFill>
                <a:latin typeface="Aptos" pitchFamily="34" charset="0"/>
                <a:ea typeface="Aptos" pitchFamily="34" charset="-122"/>
                <a:cs typeface="Aptos" pitchFamily="34" charset="-120"/>
              </a:rPr>
              <a:t>Optimizer</a:t>
            </a:r>
            <a:endParaRPr lang="en-US" sz="2400" dirty="0"/>
          </a:p>
        </p:txBody>
      </p:sp>
      <p:sp>
        <p:nvSpPr>
          <p:cNvPr id="16" name="Text 14"/>
          <p:cNvSpPr txBox="1"/>
          <p:nvPr/>
        </p:nvSpPr>
        <p:spPr>
          <a:xfrm>
            <a:off x="3840480"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macros, unhygienic</a:t>
            </a:r>
            <a:endParaRPr lang="en-US" sz="1800" dirty="0"/>
          </a:p>
        </p:txBody>
      </p:sp>
      <p:sp>
        <p:nvSpPr>
          <p:cNvPr id="17" name="Text 15"/>
          <p:cNvSpPr txBox="1"/>
          <p:nvPr/>
        </p:nvSpPr>
        <p:spPr>
          <a:xfrm>
            <a:off x="5952744"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hygienic</a:t>
            </a:r>
            <a:endParaRPr lang="en-US" sz="1800" dirty="0"/>
          </a:p>
        </p:txBody>
      </p:sp>
      <p:sp>
        <p:nvSpPr>
          <p:cNvPr id="18" name="Text 16"/>
          <p:cNvSpPr txBox="1"/>
          <p:nvPr/>
        </p:nvSpPr>
        <p:spPr>
          <a:xfrm>
            <a:off x="8065008"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none</a:t>
            </a:r>
            <a:endParaRPr lang="en-US" sz="1800" dirty="0"/>
          </a:p>
        </p:txBody>
      </p:sp>
      <p:sp>
        <p:nvSpPr>
          <p:cNvPr id="19" name="Text 17"/>
          <p:cNvSpPr txBox="1"/>
          <p:nvPr/>
        </p:nvSpPr>
        <p:spPr>
          <a:xfrm>
            <a:off x="10177272" y="2798064"/>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1E4E8C"/>
                </a:solidFill>
                <a:latin typeface="Aptos" pitchFamily="34" charset="0"/>
                <a:ea typeface="Aptos" pitchFamily="34" charset="-122"/>
                <a:cs typeface="Aptos" pitchFamily="34" charset="-120"/>
              </a:rPr>
              <a:t>By design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hygienic</a:t>
            </a:r>
            <a:endParaRPr lang="en-US" sz="1800" dirty="0"/>
          </a:p>
        </p:txBody>
      </p:sp>
      <p:sp>
        <p:nvSpPr>
          <p:cNvPr id="20" name="Shape 18"/>
          <p:cNvSpPr/>
          <p:nvPr/>
        </p:nvSpPr>
        <p:spPr>
          <a:xfrm>
            <a:off x="868680" y="3483864"/>
            <a:ext cx="11109960" cy="0"/>
          </a:xfrm>
          <a:prstGeom prst="line">
            <a:avLst/>
          </a:prstGeom>
          <a:noFill/>
          <a:ln w="9525">
            <a:solidFill>
              <a:srgbClr val="D9D6D2"/>
            </a:solidFill>
            <a:prstDash val="solid"/>
          </a:ln>
        </p:spPr>
        <p:txBody>
          <a:bodyPr/>
          <a:lstStyle/>
          <a:p>
            <a:endParaRPr lang="en-US"/>
          </a:p>
        </p:txBody>
      </p:sp>
      <p:sp>
        <p:nvSpPr>
          <p:cNvPr id="21" name="Text 19"/>
          <p:cNvSpPr txBox="1"/>
          <p:nvPr/>
        </p:nvSpPr>
        <p:spPr>
          <a:xfrm>
            <a:off x="868680" y="3493008"/>
            <a:ext cx="2651760" cy="676656"/>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Toolchain/</a:t>
            </a:r>
            <a:endParaRPr lang="en-US" sz="2400" dirty="0"/>
          </a:p>
          <a:p>
            <a:pPr marL="0" indent="0">
              <a:buNone/>
            </a:pPr>
            <a:r>
              <a:rPr lang="en-US" sz="2400" b="1" dirty="0">
                <a:solidFill>
                  <a:srgbClr val="111111"/>
                </a:solidFill>
                <a:latin typeface="Aptos" pitchFamily="34" charset="0"/>
                <a:ea typeface="Aptos" pitchFamily="34" charset="-122"/>
                <a:cs typeface="Aptos" pitchFamily="34" charset="-120"/>
              </a:rPr>
              <a:t>Optimizer</a:t>
            </a:r>
            <a:endParaRPr lang="en-US" sz="2400" dirty="0"/>
          </a:p>
        </p:txBody>
      </p:sp>
      <p:sp>
        <p:nvSpPr>
          <p:cNvPr id="22" name="Text 20"/>
          <p:cNvSpPr txBox="1"/>
          <p:nvPr/>
        </p:nvSpPr>
        <p:spPr>
          <a:xfrm>
            <a:off x="3840480"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constexpr rejects UB</a:t>
            </a:r>
            <a:endParaRPr lang="en-US" sz="1800" dirty="0"/>
          </a:p>
        </p:txBody>
      </p:sp>
      <p:sp>
        <p:nvSpPr>
          <p:cNvPr id="23" name="Text 21"/>
          <p:cNvSpPr txBox="1"/>
          <p:nvPr/>
        </p:nvSpPr>
        <p:spPr>
          <a:xfrm>
            <a:off x="5952744"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2F6B3A"/>
                </a:solidFill>
                <a:latin typeface="Aptos" pitchFamily="34" charset="0"/>
                <a:ea typeface="Aptos" pitchFamily="34" charset="-122"/>
                <a:cs typeface="Aptos" pitchFamily="34" charset="-120"/>
              </a:rPr>
              <a:t>Compile error</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const fn, same</a:t>
            </a:r>
            <a:endParaRPr lang="en-US" sz="1800" dirty="0"/>
          </a:p>
        </p:txBody>
      </p:sp>
      <p:sp>
        <p:nvSpPr>
          <p:cNvPr id="24" name="Text 22"/>
          <p:cNvSpPr txBox="1"/>
          <p:nvPr/>
        </p:nvSpPr>
        <p:spPr>
          <a:xfrm>
            <a:off x="8065008"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limited</a:t>
            </a:r>
            <a:endParaRPr lang="en-US" sz="1800" dirty="0"/>
          </a:p>
        </p:txBody>
      </p:sp>
      <p:sp>
        <p:nvSpPr>
          <p:cNvPr id="25" name="Text 23"/>
          <p:cNvSpPr txBox="1"/>
          <p:nvPr/>
        </p:nvSpPr>
        <p:spPr>
          <a:xfrm>
            <a:off x="10177272" y="3493008"/>
            <a:ext cx="1828800" cy="676656"/>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limited</a:t>
            </a:r>
            <a:endParaRPr lang="en-US" sz="1800" dirty="0"/>
          </a:p>
        </p:txBody>
      </p:sp>
      <p:sp>
        <p:nvSpPr>
          <p:cNvPr id="26" name="Shape 24"/>
          <p:cNvSpPr/>
          <p:nvPr/>
        </p:nvSpPr>
        <p:spPr>
          <a:xfrm>
            <a:off x="868680" y="4178808"/>
            <a:ext cx="11109960" cy="0"/>
          </a:xfrm>
          <a:prstGeom prst="line">
            <a:avLst/>
          </a:prstGeom>
          <a:noFill/>
          <a:ln w="9525">
            <a:solidFill>
              <a:srgbClr val="D9D6D2"/>
            </a:solidFill>
            <a:prstDash val="solid"/>
          </a:ln>
        </p:spPr>
        <p:txBody>
          <a:bodyPr/>
          <a:lstStyle/>
          <a:p>
            <a:endParaRPr lang="en-US"/>
          </a:p>
        </p:txBody>
      </p:sp>
      <p:sp>
        <p:nvSpPr>
          <p:cNvPr id="27" name="Text 25"/>
          <p:cNvSpPr txBox="1"/>
          <p:nvPr/>
        </p:nvSpPr>
        <p:spPr>
          <a:xfrm>
            <a:off x="868680" y="4187952"/>
            <a:ext cx="2651760" cy="566928"/>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Floating point</a:t>
            </a:r>
            <a:endParaRPr lang="en-US" sz="2400" dirty="0"/>
          </a:p>
        </p:txBody>
      </p:sp>
      <p:sp>
        <p:nvSpPr>
          <p:cNvPr id="28" name="Text 26"/>
          <p:cNvSpPr txBox="1"/>
          <p:nvPr/>
        </p:nvSpPr>
        <p:spPr>
          <a:xfrm>
            <a:off x="3840480"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IEEE; NaN flows</a:t>
            </a:r>
            <a:endParaRPr lang="en-US" sz="1800" dirty="0"/>
          </a:p>
        </p:txBody>
      </p:sp>
      <p:sp>
        <p:nvSpPr>
          <p:cNvPr id="29" name="Text 27"/>
          <p:cNvSpPr txBox="1"/>
          <p:nvPr/>
        </p:nvSpPr>
        <p:spPr>
          <a:xfrm>
            <a:off x="5952744"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f64 is not Ord</a:t>
            </a:r>
            <a:endParaRPr lang="en-US" sz="1800" dirty="0"/>
          </a:p>
        </p:txBody>
      </p:sp>
      <p:sp>
        <p:nvSpPr>
          <p:cNvPr id="30" name="Text 28"/>
          <p:cNvSpPr txBox="1"/>
          <p:nvPr/>
        </p:nvSpPr>
        <p:spPr>
          <a:xfrm>
            <a:off x="8065008"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IEEE</a:t>
            </a:r>
            <a:endParaRPr lang="en-US" sz="1800" dirty="0"/>
          </a:p>
        </p:txBody>
      </p:sp>
      <p:sp>
        <p:nvSpPr>
          <p:cNvPr id="31" name="Text 29"/>
          <p:cNvSpPr txBox="1"/>
          <p:nvPr/>
        </p:nvSpPr>
        <p:spPr>
          <a:xfrm>
            <a:off x="10177272" y="4187952"/>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IEEE</a:t>
            </a:r>
            <a:endParaRPr lang="en-US" sz="1800" dirty="0"/>
          </a:p>
        </p:txBody>
      </p:sp>
      <p:sp>
        <p:nvSpPr>
          <p:cNvPr id="32" name="Shape 30"/>
          <p:cNvSpPr/>
          <p:nvPr/>
        </p:nvSpPr>
        <p:spPr>
          <a:xfrm>
            <a:off x="868680" y="4764024"/>
            <a:ext cx="11109960" cy="0"/>
          </a:xfrm>
          <a:prstGeom prst="line">
            <a:avLst/>
          </a:prstGeom>
          <a:noFill/>
          <a:ln w="9525">
            <a:solidFill>
              <a:srgbClr val="D9D6D2"/>
            </a:solidFill>
            <a:prstDash val="solid"/>
          </a:ln>
        </p:spPr>
        <p:txBody>
          <a:bodyPr/>
          <a:lstStyle/>
          <a:p>
            <a:endParaRPr lang="en-US"/>
          </a:p>
        </p:txBody>
      </p:sp>
      <p:sp>
        <p:nvSpPr>
          <p:cNvPr id="33" name="Text 31"/>
          <p:cNvSpPr txBox="1"/>
          <p:nvPr/>
        </p:nvSpPr>
        <p:spPr>
          <a:xfrm>
            <a:off x="868680" y="4773168"/>
            <a:ext cx="2651760" cy="566928"/>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Comparison</a:t>
            </a:r>
            <a:endParaRPr lang="en-US" sz="2400" dirty="0"/>
          </a:p>
        </p:txBody>
      </p:sp>
      <p:sp>
        <p:nvSpPr>
          <p:cNvPr id="34" name="Text 32"/>
          <p:cNvSpPr txBox="1"/>
          <p:nvPr/>
        </p:nvSpPr>
        <p:spPr>
          <a:xfrm>
            <a:off x="3840480"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C0392B"/>
                </a:solidFill>
                <a:latin typeface="Aptos" pitchFamily="34" charset="0"/>
                <a:ea typeface="Aptos" pitchFamily="34" charset="-122"/>
                <a:cs typeface="Aptos" pitchFamily="34" charset="-120"/>
              </a:rPr>
              <a:t>Undefined</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bad comparator, UB</a:t>
            </a:r>
            <a:endParaRPr lang="en-US" sz="1800" dirty="0"/>
          </a:p>
        </p:txBody>
      </p:sp>
      <p:sp>
        <p:nvSpPr>
          <p:cNvPr id="35" name="Text 33"/>
          <p:cNvSpPr txBox="1"/>
          <p:nvPr/>
        </p:nvSpPr>
        <p:spPr>
          <a:xfrm>
            <a:off x="5952744"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derive; sort checks</a:t>
            </a:r>
            <a:endParaRPr lang="en-US" sz="1800" dirty="0"/>
          </a:p>
        </p:txBody>
      </p:sp>
      <p:sp>
        <p:nvSpPr>
          <p:cNvPr id="36" name="Text 34"/>
          <p:cNvSpPr txBox="1"/>
          <p:nvPr/>
        </p:nvSpPr>
        <p:spPr>
          <a:xfrm>
            <a:off x="8065008"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unchecked</a:t>
            </a:r>
            <a:endParaRPr lang="en-US" sz="1800" dirty="0"/>
          </a:p>
        </p:txBody>
      </p:sp>
      <p:sp>
        <p:nvSpPr>
          <p:cNvPr id="37" name="Text 35"/>
          <p:cNvSpPr txBox="1"/>
          <p:nvPr/>
        </p:nvSpPr>
        <p:spPr>
          <a:xfrm>
            <a:off x="10177272" y="4773168"/>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6B6B6B"/>
                </a:solidFill>
                <a:latin typeface="Aptos" pitchFamily="34" charset="0"/>
                <a:ea typeface="Aptos" pitchFamily="34" charset="-122"/>
                <a:cs typeface="Aptos" pitchFamily="34" charset="-120"/>
              </a:rPr>
              <a:t>Partial</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synthesized</a:t>
            </a:r>
            <a:endParaRPr lang="en-US" sz="1800" dirty="0"/>
          </a:p>
        </p:txBody>
      </p:sp>
      <p:sp>
        <p:nvSpPr>
          <p:cNvPr id="38" name="Shape 36"/>
          <p:cNvSpPr/>
          <p:nvPr/>
        </p:nvSpPr>
        <p:spPr>
          <a:xfrm>
            <a:off x="868680" y="5349240"/>
            <a:ext cx="11109960" cy="0"/>
          </a:xfrm>
          <a:prstGeom prst="line">
            <a:avLst/>
          </a:prstGeom>
          <a:noFill/>
          <a:ln w="9525">
            <a:solidFill>
              <a:srgbClr val="D9D6D2"/>
            </a:solidFill>
            <a:prstDash val="solid"/>
          </a:ln>
        </p:spPr>
        <p:txBody>
          <a:bodyPr/>
          <a:lstStyle/>
          <a:p>
            <a:endParaRPr lang="en-US"/>
          </a:p>
        </p:txBody>
      </p:sp>
      <p:sp>
        <p:nvSpPr>
          <p:cNvPr id="39" name="Text 37"/>
          <p:cNvSpPr txBox="1"/>
          <p:nvPr/>
        </p:nvSpPr>
        <p:spPr>
          <a:xfrm>
            <a:off x="868680" y="5358384"/>
            <a:ext cx="2651760" cy="566928"/>
          </a:xfrm>
          <a:prstGeom prst="rect">
            <a:avLst/>
          </a:prstGeom>
          <a:noFill/>
          <a:ln/>
        </p:spPr>
        <p:txBody>
          <a:bodyPr wrap="square" lIns="0" tIns="0" rIns="0" bIns="0" rtlCol="0" anchor="ctr"/>
          <a:lstStyle/>
          <a:p>
            <a:pPr marL="0" indent="0">
              <a:buNone/>
            </a:pPr>
            <a:r>
              <a:rPr lang="en-US" sz="2400" b="1" dirty="0">
                <a:solidFill>
                  <a:srgbClr val="111111"/>
                </a:solidFill>
                <a:latin typeface="Aptos" pitchFamily="34" charset="0"/>
                <a:ea typeface="Aptos" pitchFamily="34" charset="-122"/>
                <a:cs typeface="Aptos" pitchFamily="34" charset="-120"/>
              </a:rPr>
              <a:t>Units</a:t>
            </a:r>
            <a:endParaRPr lang="en-US" sz="2400" dirty="0"/>
          </a:p>
        </p:txBody>
      </p:sp>
      <p:sp>
        <p:nvSpPr>
          <p:cNvPr id="40" name="Text 38"/>
          <p:cNvSpPr txBox="1"/>
          <p:nvPr/>
        </p:nvSpPr>
        <p:spPr>
          <a:xfrm>
            <a:off x="3840480"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chrono typed</a:t>
            </a:r>
            <a:endParaRPr lang="en-US" sz="1800" dirty="0"/>
          </a:p>
        </p:txBody>
      </p:sp>
      <p:sp>
        <p:nvSpPr>
          <p:cNvPr id="41" name="Text 39"/>
          <p:cNvSpPr txBox="1"/>
          <p:nvPr/>
        </p:nvSpPr>
        <p:spPr>
          <a:xfrm>
            <a:off x="5952744"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libraries</a:t>
            </a:r>
            <a:endParaRPr lang="en-US" sz="1800" dirty="0"/>
          </a:p>
        </p:txBody>
      </p:sp>
      <p:sp>
        <p:nvSpPr>
          <p:cNvPr id="42" name="Text 40"/>
          <p:cNvSpPr txBox="1"/>
          <p:nvPr/>
        </p:nvSpPr>
        <p:spPr>
          <a:xfrm>
            <a:off x="8065008"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8A8A8A"/>
                </a:solidFill>
                <a:latin typeface="Aptos" pitchFamily="34" charset="0"/>
                <a:ea typeface="Aptos" pitchFamily="34" charset="-122"/>
                <a:cs typeface="Aptos" pitchFamily="34" charset="-120"/>
              </a:rPr>
              <a:t>None</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int64 ns wraps</a:t>
            </a:r>
            <a:endParaRPr lang="en-US" sz="1800" dirty="0"/>
          </a:p>
        </p:txBody>
      </p:sp>
      <p:sp>
        <p:nvSpPr>
          <p:cNvPr id="43" name="Text 41"/>
          <p:cNvSpPr txBox="1"/>
          <p:nvPr/>
        </p:nvSpPr>
        <p:spPr>
          <a:xfrm>
            <a:off x="10177272" y="5358384"/>
            <a:ext cx="1828800" cy="566928"/>
          </a:xfrm>
          <a:prstGeom prst="rect">
            <a:avLst/>
          </a:prstGeom>
          <a:noFill/>
          <a:ln/>
        </p:spPr>
        <p:txBody>
          <a:bodyPr wrap="square" lIns="0" tIns="0" rIns="0" bIns="0" rtlCol="0" anchor="ctr"/>
          <a:lstStyle/>
          <a:p>
            <a:pPr marL="0" indent="0">
              <a:lnSpc>
                <a:spcPct val="95000"/>
              </a:lnSpc>
              <a:buNone/>
            </a:pPr>
            <a:r>
              <a:rPr lang="en-US" sz="1800" b="1" dirty="0">
                <a:solidFill>
                  <a:srgbClr val="5F7A8A"/>
                </a:solidFill>
                <a:latin typeface="Aptos" pitchFamily="34" charset="0"/>
                <a:ea typeface="Aptos" pitchFamily="34" charset="-122"/>
                <a:cs typeface="Aptos" pitchFamily="34" charset="-120"/>
              </a:rPr>
              <a:t>Opt-in</a:t>
            </a:r>
            <a:endParaRPr lang="en-US" sz="1800" dirty="0"/>
          </a:p>
          <a:p>
            <a:pPr marL="0" indent="0">
              <a:lnSpc>
                <a:spcPct val="95000"/>
              </a:lnSpc>
              <a:buNone/>
            </a:pPr>
            <a:r>
              <a:rPr lang="en-US" sz="1300" dirty="0">
                <a:solidFill>
                  <a:srgbClr val="6B6B6B"/>
                </a:solidFill>
                <a:latin typeface="Aptos" pitchFamily="34" charset="0"/>
                <a:ea typeface="Aptos" pitchFamily="34" charset="-122"/>
                <a:cs typeface="Aptos" pitchFamily="34" charset="-120"/>
              </a:rPr>
              <a:t>Duration 128-bit</a:t>
            </a:r>
            <a:endParaRPr lang="en-US" sz="1800" dirty="0"/>
          </a:p>
        </p:txBody>
      </p:sp>
      <p:sp>
        <p:nvSpPr>
          <p:cNvPr id="46" name="Title 45">
            <a:extLst>
              <a:ext uri="{FF2B5EF4-FFF2-40B4-BE49-F238E27FC236}">
                <a16:creationId xmlns:a16="http://schemas.microsoft.com/office/drawing/2014/main" id="{092E4B54-639E-A919-9947-BC0D410642A0}"/>
              </a:ext>
            </a:extLst>
          </p:cNvPr>
          <p:cNvSpPr>
            <a:spLocks noGrp="1"/>
          </p:cNvSpPr>
          <p:nvPr>
            <p:ph type="title"/>
          </p:nvPr>
        </p:nvSpPr>
        <p:spPr/>
        <p:txBody>
          <a:bodyPr/>
          <a:lstStyle/>
          <a:p>
            <a:r>
              <a:rPr lang="en-US" dirty="0"/>
              <a:t>The C++ safety issues</a:t>
            </a:r>
          </a:p>
        </p:txBody>
      </p:sp>
      <p:sp>
        <p:nvSpPr>
          <p:cNvPr id="900" name="Callout"/>
          <p:cNvSpPr/>
          <p:nvPr/>
        </p:nvSpPr>
        <p:spPr>
          <a:xfrm>
            <a:off x="3154680" y="2133295"/>
            <a:ext cx="3200400" cy="54864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7A1C15"/>
                </a:solidFill>
                <a:latin typeface="Aptos"/>
              </a:rPr>
              <a:t>assume and UB drive the optimizer</a:t>
            </a:r>
          </a:p>
        </p:txBody>
      </p:sp>
      <p:sp>
        <p:nvSpPr>
          <p:cNvPr id="901" name="Callout"/>
          <p:cNvSpPr/>
          <p:nvPr/>
        </p:nvSpPr>
        <p:spPr>
          <a:xfrm>
            <a:off x="3154680" y="2825496"/>
            <a:ext cx="3200400" cy="548640"/>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3F3F3F"/>
                </a:solidFill>
                <a:latin typeface="Aptos"/>
              </a:rPr>
              <a:t>macros are unhygienic text substitution</a:t>
            </a:r>
          </a:p>
        </p:txBody>
      </p:sp>
      <p:sp>
        <p:nvSpPr>
          <p:cNvPr id="902" name="Callout"/>
          <p:cNvSpPr/>
          <p:nvPr/>
        </p:nvSpPr>
        <p:spPr>
          <a:xfrm>
            <a:off x="7333488" y="2883103"/>
            <a:ext cx="3291840" cy="438912"/>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2000" b="1" dirty="0">
                <a:solidFill>
                  <a:srgbClr val="1C3E63"/>
                </a:solidFill>
                <a:latin typeface="Aptos"/>
              </a:rPr>
              <a:t>hygienic or none</a:t>
            </a:r>
          </a:p>
        </p:txBody>
      </p:sp>
      <p:sp>
        <p:nvSpPr>
          <p:cNvPr id="903" name="Callout"/>
          <p:cNvSpPr/>
          <p:nvPr/>
        </p:nvSpPr>
        <p:spPr>
          <a:xfrm>
            <a:off x="3154680" y="3523182"/>
            <a:ext cx="3442970" cy="711399"/>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2400" b="1" dirty="0">
                <a:solidFill>
                  <a:srgbClr val="1F4D24"/>
                </a:solidFill>
                <a:latin typeface="Aptos"/>
              </a:rPr>
              <a:t>constexpr rejects UB</a:t>
            </a:r>
          </a:p>
        </p:txBody>
      </p:sp>
      <p:sp>
        <p:nvSpPr>
          <p:cNvPr id="905" name="Callout"/>
          <p:cNvSpPr/>
          <p:nvPr/>
        </p:nvSpPr>
        <p:spPr>
          <a:xfrm>
            <a:off x="3154680" y="4753966"/>
            <a:ext cx="3200400" cy="548640"/>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7A1C15"/>
                </a:solidFill>
                <a:latin typeface="Aptos"/>
              </a:rPr>
              <a:t>a bad comparator makes std::sort UB</a:t>
            </a:r>
          </a:p>
        </p:txBody>
      </p:sp>
      <p:sp>
        <p:nvSpPr>
          <p:cNvPr id="44" name="TextBox 43">
            <a:extLst>
              <a:ext uri="{FF2B5EF4-FFF2-40B4-BE49-F238E27FC236}">
                <a16:creationId xmlns:a16="http://schemas.microsoft.com/office/drawing/2014/main" id="{3CDC042A-4A3A-85F1-FD1B-C5AC4DFF8193}"/>
              </a:ext>
            </a:extLst>
          </p:cNvPr>
          <p:cNvSpPr txBox="1"/>
          <p:nvPr/>
        </p:nvSpPr>
        <p:spPr>
          <a:xfrm>
            <a:off x="637819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6/6</a:t>
            </a:r>
            <a:endParaRPr lang="en-US" sz="2800" dirty="0">
              <a:solidFill>
                <a:schemeClr val="bg1">
                  <a:lumMod val="75000"/>
                </a:scheme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12101-9E15-8E00-2E04-FA19E775F2A0}"/>
              </a:ext>
            </a:extLst>
          </p:cNvPr>
          <p:cNvSpPr>
            <a:spLocks noGrp="1"/>
          </p:cNvSpPr>
          <p:nvPr>
            <p:ph type="title"/>
          </p:nvPr>
        </p:nvSpPr>
        <p:spPr/>
        <p:txBody>
          <a:bodyPr/>
          <a:lstStyle/>
          <a:p>
            <a:r>
              <a:rPr lang="en-US" dirty="0"/>
              <a:t>What is actually really hard</a:t>
            </a:r>
          </a:p>
        </p:txBody>
      </p:sp>
      <p:sp>
        <p:nvSpPr>
          <p:cNvPr id="3" name="Text Placeholder 2">
            <a:extLst>
              <a:ext uri="{FF2B5EF4-FFF2-40B4-BE49-F238E27FC236}">
                <a16:creationId xmlns:a16="http://schemas.microsoft.com/office/drawing/2014/main" id="{86DF4500-A1F7-9ED6-2AD6-6B24683F20E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75673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36408"/>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Lifetime and data races</a:t>
            </a:r>
            <a:endParaRPr lang="en-US" sz="4400" dirty="0"/>
          </a:p>
        </p:txBody>
      </p:sp>
      <p:sp>
        <p:nvSpPr>
          <p:cNvPr id="57" name="Bounds"/>
          <p:cNvSpPr/>
          <p:nvPr/>
        </p:nvSpPr>
        <p:spPr>
          <a:xfrm>
            <a:off x="4785741" y="1706880"/>
            <a:ext cx="89115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Bounds</a:t>
            </a:r>
          </a:p>
        </p:txBody>
      </p:sp>
      <p:sp>
        <p:nvSpPr>
          <p:cNvPr id="58" name="Initialization"/>
          <p:cNvSpPr/>
          <p:nvPr/>
        </p:nvSpPr>
        <p:spPr>
          <a:xfrm>
            <a:off x="5776341" y="1711681"/>
            <a:ext cx="163410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Initialization</a:t>
            </a:r>
          </a:p>
        </p:txBody>
      </p:sp>
      <p:sp>
        <p:nvSpPr>
          <p:cNvPr id="59" name="Lifetime"/>
          <p:cNvSpPr/>
          <p:nvPr/>
        </p:nvSpPr>
        <p:spPr>
          <a:xfrm>
            <a:off x="7513701" y="1711681"/>
            <a:ext cx="1074039" cy="365760"/>
          </a:xfrm>
          <a:prstGeom prst="roundRect">
            <a:avLst>
              <a:gd name="adj" fmla="val 50000"/>
            </a:avLst>
          </a:prstGeom>
          <a:solidFill>
            <a:srgbClr val="C0392B"/>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Lifetime</a:t>
            </a:r>
          </a:p>
        </p:txBody>
      </p:sp>
      <p:sp>
        <p:nvSpPr>
          <p:cNvPr id="60" name="Null"/>
          <p:cNvSpPr/>
          <p:nvPr/>
        </p:nvSpPr>
        <p:spPr>
          <a:xfrm>
            <a:off x="8687181" y="1711681"/>
            <a:ext cx="70446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Null</a:t>
            </a:r>
          </a:p>
        </p:txBody>
      </p:sp>
      <p:sp>
        <p:nvSpPr>
          <p:cNvPr id="61" name="Alignment"/>
          <p:cNvSpPr/>
          <p:nvPr/>
        </p:nvSpPr>
        <p:spPr>
          <a:xfrm>
            <a:off x="9491091" y="1711300"/>
            <a:ext cx="116928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Alignment</a:t>
            </a:r>
          </a:p>
        </p:txBody>
      </p:sp>
      <p:sp>
        <p:nvSpPr>
          <p:cNvPr id="62" name="Aliasing"/>
          <p:cNvSpPr/>
          <p:nvPr/>
        </p:nvSpPr>
        <p:spPr>
          <a:xfrm>
            <a:off x="10759821" y="1711681"/>
            <a:ext cx="107403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Aliasing</a:t>
            </a:r>
          </a:p>
        </p:txBody>
      </p:sp>
      <p:sp>
        <p:nvSpPr>
          <p:cNvPr id="63" name="Type"/>
          <p:cNvSpPr/>
          <p:nvPr/>
        </p:nvSpPr>
        <p:spPr>
          <a:xfrm>
            <a:off x="4785741" y="2278380"/>
            <a:ext cx="70446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Type</a:t>
            </a:r>
          </a:p>
        </p:txBody>
      </p:sp>
      <p:sp>
        <p:nvSpPr>
          <p:cNvPr id="64" name="Arithmetic"/>
          <p:cNvSpPr/>
          <p:nvPr/>
        </p:nvSpPr>
        <p:spPr>
          <a:xfrm>
            <a:off x="5589651" y="2278380"/>
            <a:ext cx="126072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Arithmetic</a:t>
            </a:r>
          </a:p>
        </p:txBody>
      </p:sp>
      <p:sp>
        <p:nvSpPr>
          <p:cNvPr id="65" name="Conversion"/>
          <p:cNvSpPr/>
          <p:nvPr/>
        </p:nvSpPr>
        <p:spPr>
          <a:xfrm>
            <a:off x="6953631" y="2278380"/>
            <a:ext cx="126072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Conversion</a:t>
            </a:r>
          </a:p>
        </p:txBody>
      </p:sp>
      <p:sp>
        <p:nvSpPr>
          <p:cNvPr id="66" name="Const"/>
          <p:cNvSpPr/>
          <p:nvPr/>
        </p:nvSpPr>
        <p:spPr>
          <a:xfrm>
            <a:off x="8313801" y="2278380"/>
            <a:ext cx="79590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Const</a:t>
            </a:r>
          </a:p>
        </p:txBody>
      </p:sp>
      <p:sp>
        <p:nvSpPr>
          <p:cNvPr id="67" name="Enum"/>
          <p:cNvSpPr/>
          <p:nvPr/>
        </p:nvSpPr>
        <p:spPr>
          <a:xfrm>
            <a:off x="9212961" y="2278380"/>
            <a:ext cx="70065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Enum</a:t>
            </a:r>
          </a:p>
        </p:txBody>
      </p:sp>
      <p:sp>
        <p:nvSpPr>
          <p:cNvPr id="68" name="Floating point"/>
          <p:cNvSpPr/>
          <p:nvPr/>
        </p:nvSpPr>
        <p:spPr>
          <a:xfrm>
            <a:off x="10013061" y="2278380"/>
            <a:ext cx="163410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Floating point</a:t>
            </a:r>
          </a:p>
        </p:txBody>
      </p:sp>
      <p:sp>
        <p:nvSpPr>
          <p:cNvPr id="69" name="Comparison"/>
          <p:cNvSpPr/>
          <p:nvPr/>
        </p:nvSpPr>
        <p:spPr>
          <a:xfrm>
            <a:off x="4781931" y="2796540"/>
            <a:ext cx="126834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Comparison</a:t>
            </a:r>
          </a:p>
        </p:txBody>
      </p:sp>
      <p:sp>
        <p:nvSpPr>
          <p:cNvPr id="70" name="Object Model"/>
          <p:cNvSpPr/>
          <p:nvPr/>
        </p:nvSpPr>
        <p:spPr>
          <a:xfrm>
            <a:off x="6138291" y="2788920"/>
            <a:ext cx="142836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Object Model</a:t>
            </a:r>
          </a:p>
        </p:txBody>
      </p:sp>
      <p:sp>
        <p:nvSpPr>
          <p:cNvPr id="71" name="Exception safety"/>
          <p:cNvSpPr/>
          <p:nvPr/>
        </p:nvSpPr>
        <p:spPr>
          <a:xfrm>
            <a:off x="4785741" y="3360420"/>
            <a:ext cx="182079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Exception safety</a:t>
            </a:r>
          </a:p>
        </p:txBody>
      </p:sp>
      <p:sp>
        <p:nvSpPr>
          <p:cNvPr id="72" name="Error handling"/>
          <p:cNvSpPr/>
          <p:nvPr/>
        </p:nvSpPr>
        <p:spPr>
          <a:xfrm>
            <a:off x="6709791" y="3360420"/>
            <a:ext cx="163410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Error handling</a:t>
            </a:r>
          </a:p>
        </p:txBody>
      </p:sp>
      <p:sp>
        <p:nvSpPr>
          <p:cNvPr id="73" name="Signal/Reentrancy"/>
          <p:cNvSpPr/>
          <p:nvPr/>
        </p:nvSpPr>
        <p:spPr>
          <a:xfrm>
            <a:off x="8443341" y="3360420"/>
            <a:ext cx="191604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Signal/Reentrancy</a:t>
            </a:r>
          </a:p>
        </p:txBody>
      </p:sp>
      <p:sp>
        <p:nvSpPr>
          <p:cNvPr id="74" name="Forward progress"/>
          <p:cNvSpPr/>
          <p:nvPr/>
        </p:nvSpPr>
        <p:spPr>
          <a:xfrm>
            <a:off x="4785741" y="3817620"/>
            <a:ext cx="182079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Forward progress</a:t>
            </a:r>
          </a:p>
        </p:txBody>
      </p:sp>
      <p:sp>
        <p:nvSpPr>
          <p:cNvPr id="75" name="Control-flow integrity"/>
          <p:cNvSpPr/>
          <p:nvPr/>
        </p:nvSpPr>
        <p:spPr>
          <a:xfrm>
            <a:off x="6709791" y="3817620"/>
            <a:ext cx="238086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Control-flow integrity</a:t>
            </a:r>
          </a:p>
        </p:txBody>
      </p:sp>
      <p:sp>
        <p:nvSpPr>
          <p:cNvPr id="76" name="Evaluation order"/>
          <p:cNvSpPr/>
          <p:nvPr/>
        </p:nvSpPr>
        <p:spPr>
          <a:xfrm>
            <a:off x="9190101" y="3830041"/>
            <a:ext cx="182079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Evaluation order</a:t>
            </a:r>
          </a:p>
        </p:txBody>
      </p:sp>
      <p:sp>
        <p:nvSpPr>
          <p:cNvPr id="77" name="Data races"/>
          <p:cNvSpPr/>
          <p:nvPr/>
        </p:nvSpPr>
        <p:spPr>
          <a:xfrm>
            <a:off x="4785741" y="4404360"/>
            <a:ext cx="1264539" cy="365760"/>
          </a:xfrm>
          <a:prstGeom prst="roundRect">
            <a:avLst>
              <a:gd name="adj" fmla="val 50000"/>
            </a:avLst>
          </a:prstGeom>
          <a:solidFill>
            <a:srgbClr val="C0392B"/>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Data races</a:t>
            </a:r>
          </a:p>
        </p:txBody>
      </p:sp>
      <p:sp>
        <p:nvSpPr>
          <p:cNvPr id="78" name="Atomicity/Ordering"/>
          <p:cNvSpPr/>
          <p:nvPr/>
        </p:nvSpPr>
        <p:spPr>
          <a:xfrm>
            <a:off x="6149721" y="4404360"/>
            <a:ext cx="200748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Atomicity/Ordering</a:t>
            </a:r>
          </a:p>
        </p:txBody>
      </p:sp>
      <p:sp>
        <p:nvSpPr>
          <p:cNvPr id="79" name="Liveness"/>
          <p:cNvSpPr/>
          <p:nvPr/>
        </p:nvSpPr>
        <p:spPr>
          <a:xfrm>
            <a:off x="8256651" y="4404360"/>
            <a:ext cx="107784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Liveness</a:t>
            </a:r>
          </a:p>
        </p:txBody>
      </p:sp>
      <p:sp>
        <p:nvSpPr>
          <p:cNvPr id="80" name="Allocation"/>
          <p:cNvSpPr/>
          <p:nvPr/>
        </p:nvSpPr>
        <p:spPr>
          <a:xfrm>
            <a:off x="4785741" y="5003521"/>
            <a:ext cx="126453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Allocation</a:t>
            </a:r>
          </a:p>
        </p:txBody>
      </p:sp>
      <p:sp>
        <p:nvSpPr>
          <p:cNvPr id="81" name="Stack"/>
          <p:cNvSpPr/>
          <p:nvPr/>
        </p:nvSpPr>
        <p:spPr>
          <a:xfrm>
            <a:off x="6149721" y="5003521"/>
            <a:ext cx="79590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Stack</a:t>
            </a:r>
          </a:p>
        </p:txBody>
      </p:sp>
      <p:sp>
        <p:nvSpPr>
          <p:cNvPr id="82" name="Non-Memory resources"/>
          <p:cNvSpPr/>
          <p:nvPr/>
        </p:nvSpPr>
        <p:spPr>
          <a:xfrm>
            <a:off x="7045071" y="5003140"/>
            <a:ext cx="219417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Non-Memory resources</a:t>
            </a:r>
          </a:p>
        </p:txBody>
      </p:sp>
      <p:sp>
        <p:nvSpPr>
          <p:cNvPr id="83" name="ODR/IFNDR"/>
          <p:cNvSpPr/>
          <p:nvPr/>
        </p:nvSpPr>
        <p:spPr>
          <a:xfrm>
            <a:off x="4789551" y="5605120"/>
            <a:ext cx="116547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ODR/IFNDR</a:t>
            </a:r>
          </a:p>
        </p:txBody>
      </p:sp>
      <p:sp>
        <p:nvSpPr>
          <p:cNvPr id="84" name="ABI"/>
          <p:cNvSpPr/>
          <p:nvPr/>
        </p:nvSpPr>
        <p:spPr>
          <a:xfrm>
            <a:off x="6058281" y="5605501"/>
            <a:ext cx="60921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ABI</a:t>
            </a:r>
          </a:p>
        </p:txBody>
      </p:sp>
      <p:sp>
        <p:nvSpPr>
          <p:cNvPr id="85" name="Toolchain/Optimizer"/>
          <p:cNvSpPr/>
          <p:nvPr/>
        </p:nvSpPr>
        <p:spPr>
          <a:xfrm>
            <a:off x="6766941" y="5608320"/>
            <a:ext cx="201129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Toolchain/Optimizer</a:t>
            </a:r>
          </a:p>
        </p:txBody>
      </p:sp>
      <p:sp>
        <p:nvSpPr>
          <p:cNvPr id="86" name="Strings"/>
          <p:cNvSpPr/>
          <p:nvPr/>
        </p:nvSpPr>
        <p:spPr>
          <a:xfrm>
            <a:off x="4785741" y="6210300"/>
            <a:ext cx="98259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Strings</a:t>
            </a:r>
          </a:p>
        </p:txBody>
      </p:sp>
      <p:sp>
        <p:nvSpPr>
          <p:cNvPr id="87" name="Variadic"/>
          <p:cNvSpPr/>
          <p:nvPr/>
        </p:nvSpPr>
        <p:spPr>
          <a:xfrm>
            <a:off x="5871591" y="6210300"/>
            <a:ext cx="107403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Variadic</a:t>
            </a:r>
          </a:p>
        </p:txBody>
      </p:sp>
      <p:sp>
        <p:nvSpPr>
          <p:cNvPr id="88" name="Units"/>
          <p:cNvSpPr/>
          <p:nvPr/>
        </p:nvSpPr>
        <p:spPr>
          <a:xfrm>
            <a:off x="7045071" y="6210300"/>
            <a:ext cx="116928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Units</a:t>
            </a:r>
          </a:p>
        </p:txBody>
      </p:sp>
      <p:sp>
        <p:nvSpPr>
          <p:cNvPr id="89" name="Deserialization"/>
          <p:cNvSpPr/>
          <p:nvPr/>
        </p:nvSpPr>
        <p:spPr>
          <a:xfrm>
            <a:off x="8313801" y="6207481"/>
            <a:ext cx="1999869" cy="365760"/>
          </a:xfrm>
          <a:prstGeom prst="roundRect">
            <a:avLst>
              <a:gd name="adj" fmla="val 50000"/>
            </a:avLst>
          </a:prstGeom>
          <a:solidFill>
            <a:srgbClr val="D9D9D9">
              <a:alpha val="25000"/>
            </a:srgbClr>
          </a:solidFill>
          <a:ln>
            <a:noFill/>
          </a:ln>
        </p:spPr>
        <p:txBody>
          <a:bodyPr wrap="none" lIns="0" tIns="0" rIns="0" bIns="7620" rtlCol="0" anchor="ctr">
            <a:noAutofit/>
          </a:bodyPr>
          <a:lstStyle/>
          <a:p>
            <a:pPr marL="0" indent="0" algn="ctr">
              <a:buNone/>
            </a:pPr>
            <a:r>
              <a:rPr lang="en-US" sz="1400" b="1" dirty="0">
                <a:solidFill>
                  <a:srgbClr val="1A1A1A">
                    <a:alpha val="25000"/>
                  </a:srgbClr>
                </a:solidFill>
                <a:latin typeface="Aptos"/>
                <a:ea typeface="Aptos"/>
                <a:cs typeface="Aptos"/>
              </a:rPr>
              <a:t>Deserialization</a:t>
            </a:r>
          </a:p>
        </p:txBody>
      </p:sp>
      <p:cxnSp>
        <p:nvCxnSpPr>
          <p:cNvPr id="90" name="Rule 1"/>
          <p:cNvCxnSpPr/>
          <p:nvPr/>
        </p:nvCxnSpPr>
        <p:spPr>
          <a:xfrm>
            <a:off x="937260" y="2167890"/>
            <a:ext cx="10934700" cy="0"/>
          </a:xfrm>
          <a:prstGeom prst="line">
            <a:avLst/>
          </a:prstGeom>
          <a:ln w="6350">
            <a:solidFill>
              <a:srgbClr val="D8D2CA"/>
            </a:solidFill>
          </a:ln>
        </p:spPr>
      </p:cxnSp>
      <p:cxnSp>
        <p:nvCxnSpPr>
          <p:cNvPr id="91" name="Rule 2"/>
          <p:cNvCxnSpPr/>
          <p:nvPr/>
        </p:nvCxnSpPr>
        <p:spPr>
          <a:xfrm>
            <a:off x="937260" y="3257550"/>
            <a:ext cx="10934700" cy="0"/>
          </a:xfrm>
          <a:prstGeom prst="line">
            <a:avLst/>
          </a:prstGeom>
          <a:ln w="6350">
            <a:solidFill>
              <a:srgbClr val="D8D2CA"/>
            </a:solidFill>
          </a:ln>
        </p:spPr>
      </p:cxnSp>
      <p:cxnSp>
        <p:nvCxnSpPr>
          <p:cNvPr id="92" name="Rule 3"/>
          <p:cNvCxnSpPr/>
          <p:nvPr/>
        </p:nvCxnSpPr>
        <p:spPr>
          <a:xfrm>
            <a:off x="937260" y="4278630"/>
            <a:ext cx="10934700" cy="0"/>
          </a:xfrm>
          <a:prstGeom prst="line">
            <a:avLst/>
          </a:prstGeom>
          <a:ln w="6350">
            <a:solidFill>
              <a:srgbClr val="D8D2CA"/>
            </a:solidFill>
          </a:ln>
        </p:spPr>
      </p:cxnSp>
      <p:cxnSp>
        <p:nvCxnSpPr>
          <p:cNvPr id="93" name="Rule 4"/>
          <p:cNvCxnSpPr/>
          <p:nvPr/>
        </p:nvCxnSpPr>
        <p:spPr>
          <a:xfrm>
            <a:off x="937260" y="4886325"/>
            <a:ext cx="10934700" cy="0"/>
          </a:xfrm>
          <a:prstGeom prst="line">
            <a:avLst/>
          </a:prstGeom>
          <a:ln w="11430">
            <a:solidFill>
              <a:srgbClr val="D8D2CA"/>
            </a:solidFill>
          </a:ln>
        </p:spPr>
      </p:cxnSp>
      <p:cxnSp>
        <p:nvCxnSpPr>
          <p:cNvPr id="94" name="Rule 5"/>
          <p:cNvCxnSpPr/>
          <p:nvPr/>
        </p:nvCxnSpPr>
        <p:spPr>
          <a:xfrm>
            <a:off x="937260" y="5488305"/>
            <a:ext cx="10934700" cy="0"/>
          </a:xfrm>
          <a:prstGeom prst="line">
            <a:avLst/>
          </a:prstGeom>
          <a:ln w="11430">
            <a:solidFill>
              <a:srgbClr val="D8D2CA"/>
            </a:solidFill>
          </a:ln>
        </p:spPr>
      </p:cxnSp>
      <p:cxnSp>
        <p:nvCxnSpPr>
          <p:cNvPr id="95" name="Rule 6"/>
          <p:cNvCxnSpPr/>
          <p:nvPr/>
        </p:nvCxnSpPr>
        <p:spPr>
          <a:xfrm>
            <a:off x="937260" y="6092190"/>
            <a:ext cx="10934700" cy="0"/>
          </a:xfrm>
          <a:prstGeom prst="line">
            <a:avLst/>
          </a:prstGeom>
          <a:ln w="6350">
            <a:solidFill>
              <a:srgbClr val="D8D2CA"/>
            </a:solidFill>
          </a:ln>
        </p:spPr>
      </p:cxnSp>
      <p:sp>
        <p:nvSpPr>
          <p:cNvPr id="96" name="Memory safety"/>
          <p:cNvSpPr txBox="1"/>
          <p:nvPr/>
        </p:nvSpPr>
        <p:spPr>
          <a:xfrm>
            <a:off x="937412" y="1621155"/>
            <a:ext cx="4206240" cy="548640"/>
          </a:xfrm>
          <a:prstGeom prst="rect">
            <a:avLst/>
          </a:prstGeom>
          <a:noFill/>
          <a:ln>
            <a:noFill/>
          </a:ln>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Memory safety</a:t>
            </a:r>
          </a:p>
        </p:txBody>
      </p:sp>
      <p:sp>
        <p:nvSpPr>
          <p:cNvPr id="97" name="Type and value safety"/>
          <p:cNvSpPr txBox="1"/>
          <p:nvPr/>
        </p:nvSpPr>
        <p:spPr>
          <a:xfrm>
            <a:off x="937412" y="2186711"/>
            <a:ext cx="4206240" cy="548640"/>
          </a:xfrm>
          <a:prstGeom prst="rect">
            <a:avLst/>
          </a:prstGeom>
          <a:noFill/>
          <a:ln>
            <a:noFill/>
          </a:ln>
        </p:spPr>
        <p:txBody>
          <a:bodyPr wrap="none" lIns="0" tIns="0" rIns="0" bIns="0" rtlCol="0" anchor="ctr">
            <a:noAutofit/>
          </a:bodyPr>
          <a:lstStyle/>
          <a:p>
            <a:pPr marL="0" indent="0" algn="l">
              <a:buNone/>
            </a:pPr>
            <a:r>
              <a:rPr lang="en-US" sz="2400" b="1" dirty="0">
                <a:solidFill>
                  <a:srgbClr val="1A1A1A">
                    <a:alpha val="25000"/>
                  </a:srgbClr>
                </a:solidFill>
                <a:latin typeface="Aptos"/>
                <a:ea typeface="Aptos"/>
                <a:cs typeface="Aptos"/>
              </a:rPr>
              <a:t>Type and value safety</a:t>
            </a:r>
          </a:p>
        </p:txBody>
      </p:sp>
      <p:sp>
        <p:nvSpPr>
          <p:cNvPr id="98" name="Control flow and error"/>
          <p:cNvSpPr txBox="1"/>
          <p:nvPr/>
        </p:nvSpPr>
        <p:spPr>
          <a:xfrm>
            <a:off x="937412" y="3247492"/>
            <a:ext cx="4206240" cy="1005840"/>
          </a:xfrm>
          <a:prstGeom prst="rect">
            <a:avLst/>
          </a:prstGeom>
          <a:noFill/>
          <a:ln>
            <a:noFill/>
          </a:ln>
        </p:spPr>
        <p:txBody>
          <a:bodyPr wrap="none" lIns="0" tIns="0" rIns="0" bIns="0" rtlCol="0" anchor="ctr">
            <a:noAutofit/>
          </a:bodyPr>
          <a:lstStyle/>
          <a:p>
            <a:pPr marL="0" indent="0" algn="l">
              <a:buNone/>
            </a:pPr>
            <a:r>
              <a:rPr lang="en-US" sz="2400" b="1" dirty="0">
                <a:solidFill>
                  <a:srgbClr val="1A1A1A">
                    <a:alpha val="25000"/>
                  </a:srgbClr>
                </a:solidFill>
                <a:latin typeface="Aptos"/>
                <a:ea typeface="Aptos"/>
                <a:cs typeface="Aptos"/>
              </a:rPr>
              <a:t>Control flow and error</a:t>
            </a:r>
          </a:p>
          <a:p>
            <a:pPr marL="0" indent="0" algn="l">
              <a:buNone/>
            </a:pPr>
            <a:r>
              <a:rPr lang="en-US" sz="2400" b="1" dirty="0">
                <a:solidFill>
                  <a:srgbClr val="1A1A1A">
                    <a:alpha val="25000"/>
                  </a:srgbClr>
                </a:solidFill>
                <a:latin typeface="Aptos"/>
                <a:ea typeface="Aptos"/>
                <a:cs typeface="Aptos"/>
              </a:rPr>
              <a:t>safety</a:t>
            </a:r>
          </a:p>
        </p:txBody>
      </p:sp>
      <p:sp>
        <p:nvSpPr>
          <p:cNvPr id="99" name="Concurrency safety"/>
          <p:cNvSpPr txBox="1"/>
          <p:nvPr/>
        </p:nvSpPr>
        <p:spPr>
          <a:xfrm>
            <a:off x="937412" y="4308043"/>
            <a:ext cx="4206240" cy="548640"/>
          </a:xfrm>
          <a:prstGeom prst="rect">
            <a:avLst/>
          </a:prstGeom>
          <a:noFill/>
          <a:ln>
            <a:noFill/>
          </a:ln>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Concurrency safety</a:t>
            </a:r>
          </a:p>
        </p:txBody>
      </p:sp>
      <p:sp>
        <p:nvSpPr>
          <p:cNvPr id="100" name="Resource safety"/>
          <p:cNvSpPr txBox="1"/>
          <p:nvPr/>
        </p:nvSpPr>
        <p:spPr>
          <a:xfrm>
            <a:off x="937412" y="4911547"/>
            <a:ext cx="4206240" cy="548640"/>
          </a:xfrm>
          <a:prstGeom prst="rect">
            <a:avLst/>
          </a:prstGeom>
          <a:noFill/>
          <a:ln>
            <a:noFill/>
          </a:ln>
        </p:spPr>
        <p:txBody>
          <a:bodyPr wrap="none" lIns="0" tIns="0" rIns="0" bIns="0" rtlCol="0" anchor="ctr">
            <a:noAutofit/>
          </a:bodyPr>
          <a:lstStyle/>
          <a:p>
            <a:pPr marL="0" indent="0" algn="l">
              <a:buNone/>
            </a:pPr>
            <a:r>
              <a:rPr lang="en-US" sz="2400" b="1" dirty="0">
                <a:solidFill>
                  <a:srgbClr val="1A1A1A">
                    <a:alpha val="25000"/>
                  </a:srgbClr>
                </a:solidFill>
                <a:latin typeface="Aptos"/>
                <a:ea typeface="Aptos"/>
                <a:cs typeface="Aptos"/>
              </a:rPr>
              <a:t>Resource safety</a:t>
            </a:r>
          </a:p>
        </p:txBody>
      </p:sp>
      <p:sp>
        <p:nvSpPr>
          <p:cNvPr id="101" name="Structural and build safety"/>
          <p:cNvSpPr txBox="1"/>
          <p:nvPr/>
        </p:nvSpPr>
        <p:spPr>
          <a:xfrm>
            <a:off x="937412" y="5514899"/>
            <a:ext cx="4206240" cy="548640"/>
          </a:xfrm>
          <a:prstGeom prst="rect">
            <a:avLst/>
          </a:prstGeom>
          <a:noFill/>
          <a:ln>
            <a:noFill/>
          </a:ln>
        </p:spPr>
        <p:txBody>
          <a:bodyPr wrap="none" lIns="0" tIns="0" rIns="0" bIns="0" rtlCol="0" anchor="ctr">
            <a:noAutofit/>
          </a:bodyPr>
          <a:lstStyle/>
          <a:p>
            <a:pPr marL="0" indent="0" algn="l">
              <a:buNone/>
            </a:pPr>
            <a:r>
              <a:rPr lang="en-US" sz="2400" b="1" dirty="0">
                <a:solidFill>
                  <a:srgbClr val="1A1A1A">
                    <a:alpha val="25000"/>
                  </a:srgbClr>
                </a:solidFill>
                <a:latin typeface="Aptos"/>
                <a:ea typeface="Aptos"/>
                <a:cs typeface="Aptos"/>
              </a:rPr>
              <a:t>Structural and build safety</a:t>
            </a:r>
          </a:p>
        </p:txBody>
      </p:sp>
      <p:sp>
        <p:nvSpPr>
          <p:cNvPr id="102" name="Interface and data safety"/>
          <p:cNvSpPr txBox="1"/>
          <p:nvPr/>
        </p:nvSpPr>
        <p:spPr>
          <a:xfrm>
            <a:off x="937412" y="6118555"/>
            <a:ext cx="4206240" cy="548640"/>
          </a:xfrm>
          <a:prstGeom prst="rect">
            <a:avLst/>
          </a:prstGeom>
          <a:noFill/>
          <a:ln>
            <a:noFill/>
          </a:ln>
        </p:spPr>
        <p:txBody>
          <a:bodyPr wrap="none" lIns="0" tIns="0" rIns="0" bIns="0" rtlCol="0" anchor="ctr">
            <a:noAutofit/>
          </a:bodyPr>
          <a:lstStyle/>
          <a:p>
            <a:pPr marL="0" indent="0" algn="l">
              <a:buNone/>
            </a:pPr>
            <a:r>
              <a:rPr lang="en-US" sz="2400" b="1" dirty="0">
                <a:solidFill>
                  <a:srgbClr val="1A1A1A">
                    <a:alpha val="25000"/>
                  </a:srgbClr>
                </a:solidFill>
                <a:latin typeface="Aptos"/>
                <a:ea typeface="Aptos"/>
                <a:cs typeface="Aptos"/>
              </a:rPr>
              <a:t>Interface and data safety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36408"/>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A dangling reference</a:t>
            </a:r>
            <a:endParaRPr lang="en-US" sz="4400" dirty="0"/>
          </a:p>
        </p:txBody>
      </p:sp>
      <p:sp>
        <p:nvSpPr>
          <p:cNvPr id="103" name="Subline"/>
          <p:cNvSpPr txBox="1"/>
          <p:nvPr/>
        </p:nvSpPr>
        <p:spPr>
          <a:xfrm>
            <a:off x="932688" y="1444752"/>
            <a:ext cx="10387584" cy="329184"/>
          </a:xfrm>
          <a:prstGeom prst="rect">
            <a:avLst/>
          </a:prstGeom>
          <a:noFill/>
          <a:ln>
            <a:noFill/>
          </a:ln>
        </p:spPr>
        <p:txBody>
          <a:bodyPr wrap="none" lIns="0" tIns="0" rIns="0" bIns="0" rtlCol="0" anchor="t">
            <a:noAutofit/>
          </a:bodyPr>
          <a:lstStyle/>
          <a:p>
            <a:pPr marL="0" indent="0" algn="l">
              <a:buNone/>
            </a:pPr>
            <a:r>
              <a:rPr lang="en-US" sz="1600" b="0" dirty="0">
                <a:solidFill>
                  <a:srgbClr val="595959"/>
                </a:solidFill>
                <a:latin typeface="Aptos"/>
                <a:ea typeface="Aptos"/>
                <a:cs typeface="Aptos"/>
              </a:rPr>
              <a:t>Lifetime. A reference into a vector, used after push_back. GCC and Clang give no warning.</a:t>
            </a:r>
          </a:p>
        </p:txBody>
      </p:sp>
      <p:sp>
        <p:nvSpPr>
          <p:cNvPr id="104" name="C++"/>
          <p:cNvSpPr/>
          <p:nvPr/>
        </p:nvSpPr>
        <p:spPr>
          <a:xfrm>
            <a:off x="932688" y="1865376"/>
            <a:ext cx="685800"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C++</a:t>
            </a:r>
          </a:p>
        </p:txBody>
      </p:sp>
      <p:sp>
        <p:nvSpPr>
          <p:cNvPr id="105" name="C++ panel"/>
          <p:cNvSpPr/>
          <p:nvPr/>
        </p:nvSpPr>
        <p:spPr>
          <a:xfrm>
            <a:off x="932688"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06" name="C++ code"/>
          <p:cNvSpPr txBox="1"/>
          <p:nvPr/>
        </p:nvSpPr>
        <p:spPr>
          <a:xfrm>
            <a:off x="1188720" y="2943149"/>
            <a:ext cx="4562856" cy="1409883"/>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compiles with no warning</a:t>
            </a:r>
            <a:endParaRPr lang="en-US" sz="1400" dirty="0">
              <a:latin typeface="Courier New"/>
              <a:cs typeface="Courier New"/>
            </a:endParaRPr>
          </a:p>
          <a:p>
            <a:pPr>
              <a:lnSpc>
                <a:spcPct val="100000"/>
              </a:lnSpc>
            </a:pPr>
            <a:r>
              <a:rPr lang="en-US" sz="1400" b="0" dirty="0">
                <a:solidFill>
                  <a:srgbClr val="82AAFF"/>
                </a:solidFill>
                <a:latin typeface="Courier New"/>
                <a:ea typeface="Courier New"/>
                <a:cs typeface="Courier New"/>
              </a:rPr>
              <a:t>std::vector</a:t>
            </a:r>
            <a:r>
              <a:rPr lang="en-US" sz="1400" b="0" dirty="0">
                <a:solidFill>
                  <a:srgbClr val="E6E9EF"/>
                </a:solidFill>
                <a:latin typeface="Courier New"/>
                <a:ea typeface="Courier New"/>
                <a:cs typeface="Courier New"/>
              </a:rPr>
              <a:t>&lt;</a:t>
            </a:r>
            <a:r>
              <a:rPr lang="en-US" sz="1400" b="0" dirty="0">
                <a:solidFill>
                  <a:srgbClr val="C792EA"/>
                </a:solidFill>
                <a:latin typeface="Courier New"/>
                <a:ea typeface="Courier New"/>
                <a:cs typeface="Courier New"/>
              </a:rPr>
              <a:t>int</a:t>
            </a:r>
            <a:r>
              <a:rPr lang="en-US" sz="1400" b="0" dirty="0">
                <a:solidFill>
                  <a:srgbClr val="E6E9EF"/>
                </a:solidFill>
                <a:latin typeface="Courier New"/>
                <a:ea typeface="Courier New"/>
                <a:cs typeface="Courier New"/>
              </a:rPr>
              <a:t>&gt; v{</a:t>
            </a:r>
            <a:r>
              <a:rPr lang="en-US" sz="1400" b="0" dirty="0">
                <a:solidFill>
                  <a:srgbClr val="F78C6C"/>
                </a:solidFill>
                <a:latin typeface="Courier New"/>
                <a:ea typeface="Courier New"/>
                <a:cs typeface="Courier New"/>
              </a:rPr>
              <a:t>1</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2</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3</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int</a:t>
            </a:r>
            <a:r>
              <a:rPr lang="en-US" sz="1400" b="0" dirty="0">
                <a:solidFill>
                  <a:srgbClr val="E6E9EF"/>
                </a:solidFill>
                <a:latin typeface="Courier New"/>
                <a:ea typeface="Courier New"/>
                <a:cs typeface="Courier New"/>
              </a:rPr>
              <a:t>&amp; first = v[</a:t>
            </a:r>
            <a:r>
              <a:rPr lang="en-US" sz="1400" b="0" dirty="0">
                <a:solidFill>
                  <a:srgbClr val="F78C6C"/>
                </a:solidFill>
                <a:latin typeface="Courier New"/>
                <a:ea typeface="Courier New"/>
                <a:cs typeface="Courier New"/>
              </a:rPr>
              <a:t>0</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v.</a:t>
            </a:r>
            <a:r>
              <a:rPr lang="en-US" sz="1400" b="0" dirty="0">
                <a:solidFill>
                  <a:srgbClr val="FFD98C"/>
                </a:solidFill>
                <a:latin typeface="Courier New"/>
                <a:ea typeface="Courier New"/>
                <a:cs typeface="Courier New"/>
              </a:rPr>
              <a:t>push_back</a:t>
            </a:r>
            <a:r>
              <a:rPr lang="en-US" sz="1400" b="0" dirty="0">
                <a:solidFill>
                  <a:srgbClr val="E6E9EF"/>
                </a:solidFill>
                <a:latin typeface="Courier New"/>
                <a:ea typeface="Courier New"/>
                <a:cs typeface="Courier New"/>
              </a:rPr>
              <a:t>(</a:t>
            </a:r>
            <a:r>
              <a:rPr lang="en-US" sz="1400" b="0" dirty="0">
                <a:solidFill>
                  <a:srgbClr val="F78C6C"/>
                </a:solidFill>
                <a:latin typeface="Courier New"/>
                <a:ea typeface="Courier New"/>
                <a:cs typeface="Courier New"/>
              </a:rPr>
              <a:t>4</a:t>
            </a:r>
            <a:r>
              <a:rPr lang="en-US" sz="1400" b="0" dirty="0">
                <a:solidFill>
                  <a:srgbClr val="E6E9EF"/>
                </a:solidFill>
                <a:latin typeface="Courier New"/>
                <a:ea typeface="Courier New"/>
                <a:cs typeface="Courier New"/>
              </a:rPr>
              <a:t>);       </a:t>
            </a:r>
            <a:r>
              <a:rPr lang="en-US" sz="1400" b="0" dirty="0">
                <a:solidFill>
                  <a:srgbClr val="8A94A6"/>
                </a:solidFill>
                <a:latin typeface="Courier New"/>
                <a:ea typeface="Courier New"/>
                <a:cs typeface="Courier New"/>
              </a:rPr>
              <a:t>// may reallocate</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std::cout &lt;&lt; first;   </a:t>
            </a:r>
            <a:r>
              <a:rPr lang="en-US" sz="1400" b="0" dirty="0">
                <a:solidFill>
                  <a:srgbClr val="F07178"/>
                </a:solidFill>
                <a:latin typeface="Courier New"/>
                <a:ea typeface="Courier New"/>
                <a:cs typeface="Courier New"/>
              </a:rPr>
              <a:t>// use after free</a:t>
            </a:r>
            <a:endParaRPr lang="en-US" sz="1400" dirty="0">
              <a:latin typeface="Courier New"/>
              <a:cs typeface="Courier New"/>
            </a:endParaRPr>
          </a:p>
        </p:txBody>
      </p:sp>
      <p:sp>
        <p:nvSpPr>
          <p:cNvPr id="107" name="Rust"/>
          <p:cNvSpPr/>
          <p:nvPr/>
        </p:nvSpPr>
        <p:spPr>
          <a:xfrm>
            <a:off x="6245352" y="1865376"/>
            <a:ext cx="749808"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Rust</a:t>
            </a:r>
          </a:p>
        </p:txBody>
      </p:sp>
      <p:sp>
        <p:nvSpPr>
          <p:cNvPr id="108" name="Rust panel"/>
          <p:cNvSpPr/>
          <p:nvPr/>
        </p:nvSpPr>
        <p:spPr>
          <a:xfrm>
            <a:off x="6245352"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09" name="Rust code"/>
          <p:cNvSpPr txBox="1"/>
          <p:nvPr/>
        </p:nvSpPr>
        <p:spPr>
          <a:xfrm>
            <a:off x="6501384" y="2943149"/>
            <a:ext cx="4562856" cy="2014118"/>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does not compile</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let</a:t>
            </a:r>
            <a:r>
              <a:rPr lang="en-US" sz="1400" b="0" dirty="0">
                <a:solidFill>
                  <a:srgbClr val="E6E9EF"/>
                </a:solidFill>
                <a:latin typeface="Courier New"/>
                <a:ea typeface="Courier New"/>
                <a:cs typeface="Courier New"/>
              </a:rPr>
              <a:t> </a:t>
            </a:r>
            <a:r>
              <a:rPr lang="en-US" sz="1400" b="0" dirty="0">
                <a:solidFill>
                  <a:srgbClr val="C792EA"/>
                </a:solidFill>
                <a:latin typeface="Courier New"/>
                <a:ea typeface="Courier New"/>
                <a:cs typeface="Courier New"/>
              </a:rPr>
              <a:t>mut</a:t>
            </a:r>
            <a:r>
              <a:rPr lang="en-US" sz="1400" b="0" dirty="0">
                <a:solidFill>
                  <a:srgbClr val="E6E9EF"/>
                </a:solidFill>
                <a:latin typeface="Courier New"/>
                <a:ea typeface="Courier New"/>
                <a:cs typeface="Courier New"/>
              </a:rPr>
              <a:t> v = </a:t>
            </a:r>
            <a:r>
              <a:rPr lang="en-US" sz="1400" b="0" dirty="0">
                <a:solidFill>
                  <a:srgbClr val="FFD98C"/>
                </a:solidFill>
                <a:latin typeface="Courier New"/>
                <a:ea typeface="Courier New"/>
                <a:cs typeface="Courier New"/>
              </a:rPr>
              <a:t>vec!</a:t>
            </a:r>
            <a:r>
              <a:rPr lang="en-US" sz="1400" b="0" dirty="0">
                <a:solidFill>
                  <a:srgbClr val="E6E9EF"/>
                </a:solidFill>
                <a:latin typeface="Courier New"/>
                <a:ea typeface="Courier New"/>
                <a:cs typeface="Courier New"/>
              </a:rPr>
              <a:t>[</a:t>
            </a:r>
            <a:r>
              <a:rPr lang="en-US" sz="1400" b="0" dirty="0">
                <a:solidFill>
                  <a:srgbClr val="F78C6C"/>
                </a:solidFill>
                <a:latin typeface="Courier New"/>
                <a:ea typeface="Courier New"/>
                <a:cs typeface="Courier New"/>
              </a:rPr>
              <a:t>1</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2</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3</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let</a:t>
            </a:r>
            <a:r>
              <a:rPr lang="en-US" sz="1400" b="0" dirty="0">
                <a:solidFill>
                  <a:srgbClr val="E6E9EF"/>
                </a:solidFill>
                <a:latin typeface="Courier New"/>
                <a:ea typeface="Courier New"/>
                <a:cs typeface="Courier New"/>
              </a:rPr>
              <a:t> first = &amp;v[</a:t>
            </a:r>
            <a:r>
              <a:rPr lang="en-US" sz="1400" b="0" dirty="0">
                <a:solidFill>
                  <a:srgbClr val="F78C6C"/>
                </a:solidFill>
                <a:latin typeface="Courier New"/>
                <a:ea typeface="Courier New"/>
                <a:cs typeface="Courier New"/>
              </a:rPr>
              <a:t>0</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v.</a:t>
            </a:r>
            <a:r>
              <a:rPr lang="en-US" sz="1400" b="0" dirty="0">
                <a:solidFill>
                  <a:srgbClr val="FFD98C"/>
                </a:solidFill>
                <a:latin typeface="Courier New"/>
                <a:ea typeface="Courier New"/>
                <a:cs typeface="Courier New"/>
              </a:rPr>
              <a:t>push</a:t>
            </a:r>
            <a:r>
              <a:rPr lang="en-US" sz="1400" b="0" dirty="0">
                <a:solidFill>
                  <a:srgbClr val="E6E9EF"/>
                </a:solidFill>
                <a:latin typeface="Courier New"/>
                <a:ea typeface="Courier New"/>
                <a:cs typeface="Courier New"/>
              </a:rPr>
              <a:t>(</a:t>
            </a:r>
            <a:r>
              <a:rPr lang="en-US" sz="1400" b="0" dirty="0">
                <a:solidFill>
                  <a:srgbClr val="F78C6C"/>
                </a:solidFill>
                <a:latin typeface="Courier New"/>
                <a:ea typeface="Courier New"/>
                <a:cs typeface="Courier New"/>
              </a:rPr>
              <a:t>4</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F07178"/>
                </a:solidFill>
                <a:latin typeface="Courier New"/>
                <a:ea typeface="Courier New"/>
                <a:cs typeface="Courier New"/>
              </a:rPr>
              <a:t>// error[E0502]: cannot borrow `v` as</a:t>
            </a:r>
            <a:endParaRPr lang="en-US" sz="1400" dirty="0">
              <a:latin typeface="Courier New"/>
              <a:cs typeface="Courier New"/>
            </a:endParaRPr>
          </a:p>
          <a:p>
            <a:pPr>
              <a:lnSpc>
                <a:spcPct val="100000"/>
              </a:lnSpc>
            </a:pPr>
            <a:r>
              <a:rPr lang="en-US" sz="1400" b="0" dirty="0">
                <a:solidFill>
                  <a:srgbClr val="F07178"/>
                </a:solidFill>
                <a:latin typeface="Courier New"/>
                <a:ea typeface="Courier New"/>
                <a:cs typeface="Courier New"/>
              </a:rPr>
              <a:t>// mutable because it is also borrowed</a:t>
            </a:r>
            <a:endParaRPr lang="en-US" sz="1400" dirty="0">
              <a:latin typeface="Courier New"/>
              <a:cs typeface="Courier New"/>
            </a:endParaRPr>
          </a:p>
          <a:p>
            <a:pPr>
              <a:lnSpc>
                <a:spcPct val="100000"/>
              </a:lnSpc>
            </a:pPr>
            <a:r>
              <a:rPr lang="en-US" sz="1400" b="0" dirty="0">
                <a:solidFill>
                  <a:srgbClr val="F07178"/>
                </a:solidFill>
                <a:latin typeface="Courier New"/>
                <a:ea typeface="Courier New"/>
                <a:cs typeface="Courier New"/>
              </a:rPr>
              <a:t>// as immutable</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FFD98C"/>
                </a:solidFill>
                <a:latin typeface="Courier New"/>
                <a:ea typeface="Courier New"/>
                <a:cs typeface="Courier New"/>
              </a:rPr>
              <a:t>println!</a:t>
            </a:r>
            <a:r>
              <a:rPr lang="en-US" sz="1400" b="0" dirty="0">
                <a:solidFill>
                  <a:srgbClr val="E6E9EF"/>
                </a:solidFill>
                <a:latin typeface="Courier New"/>
                <a:ea typeface="Courier New"/>
                <a:cs typeface="Courier New"/>
              </a:rPr>
              <a:t>(</a:t>
            </a:r>
            <a:r>
              <a:rPr lang="en-US" sz="1400" b="0" dirty="0">
                <a:solidFill>
                  <a:srgbClr val="C3E88D"/>
                </a:solidFill>
                <a:latin typeface="Courier New"/>
                <a:ea typeface="Courier New"/>
                <a:cs typeface="Courier New"/>
              </a:rPr>
              <a:t>"{first}"</a:t>
            </a:r>
            <a:r>
              <a:rPr lang="en-US" sz="1400" b="0" dirty="0">
                <a:solidFill>
                  <a:srgbClr val="E6E9EF"/>
                </a:solidFill>
                <a:latin typeface="Courier New"/>
                <a:ea typeface="Courier New"/>
                <a:cs typeface="Courier New"/>
              </a:rPr>
              <a:t>);</a:t>
            </a:r>
            <a:endParaRPr lang="en-US" sz="1400" dirty="0">
              <a:latin typeface="Courier New"/>
              <a:cs typeface="Courier New"/>
            </a:endParaRPr>
          </a:p>
        </p:txBody>
      </p:sp>
      <p:sp>
        <p:nvSpPr>
          <p:cNvPr id="110" name="Closing line"/>
          <p:cNvSpPr txBox="1"/>
          <p:nvPr/>
        </p:nvSpPr>
        <p:spPr>
          <a:xfrm>
            <a:off x="932688" y="5943600"/>
            <a:ext cx="10387584" cy="411480"/>
          </a:xfrm>
          <a:prstGeom prst="rect">
            <a:avLst/>
          </a:prstGeom>
          <a:noFill/>
          <a:ln>
            <a:noFill/>
          </a:ln>
        </p:spPr>
        <p:txBody>
          <a:bodyPr wrap="none" lIns="0" tIns="0" rIns="0" bIns="0" rtlCol="0" anchor="t">
            <a:noAutofit/>
          </a:bodyPr>
          <a:lstStyle/>
          <a:p>
            <a:pPr marL="0" indent="0" algn="l">
              <a:buNone/>
            </a:pPr>
            <a:r>
              <a:rPr lang="en-US" sz="1800" b="1" dirty="0">
                <a:solidFill>
                  <a:srgbClr val="1A1A1A"/>
                </a:solidFill>
                <a:latin typeface="Aptos"/>
                <a:ea typeface="Aptos"/>
                <a:cs typeface="Aptos"/>
              </a:rPr>
              <a:t>C++ finds this at run time, if a test gets there. Rust refuses to compile it.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36408"/>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A view that outlives its owner</a:t>
            </a:r>
            <a:endParaRPr lang="en-US" sz="4400" dirty="0"/>
          </a:p>
        </p:txBody>
      </p:sp>
      <p:sp>
        <p:nvSpPr>
          <p:cNvPr id="111" name="Subline"/>
          <p:cNvSpPr txBox="1"/>
          <p:nvPr/>
        </p:nvSpPr>
        <p:spPr>
          <a:xfrm>
            <a:off x="932688" y="1444752"/>
            <a:ext cx="10387584" cy="329184"/>
          </a:xfrm>
          <a:prstGeom prst="rect">
            <a:avLst/>
          </a:prstGeom>
          <a:noFill/>
          <a:ln>
            <a:noFill/>
          </a:ln>
        </p:spPr>
        <p:txBody>
          <a:bodyPr wrap="none" lIns="0" tIns="0" rIns="0" bIns="0" rtlCol="0" anchor="t">
            <a:noAutofit/>
          </a:bodyPr>
          <a:lstStyle/>
          <a:p>
            <a:pPr marL="0" indent="0" algn="l">
              <a:buNone/>
            </a:pPr>
            <a:r>
              <a:rPr lang="en-US" sz="1600" b="0" dirty="0">
                <a:solidFill>
                  <a:srgbClr val="595959"/>
                </a:solidFill>
                <a:latin typeface="Aptos"/>
                <a:ea typeface="Aptos"/>
                <a:cs typeface="Aptos"/>
              </a:rPr>
              <a:t>Lifetime. A string_view into a temporary string. Nothing in the signature says so.</a:t>
            </a:r>
          </a:p>
        </p:txBody>
      </p:sp>
      <p:sp>
        <p:nvSpPr>
          <p:cNvPr id="112" name="C++"/>
          <p:cNvSpPr/>
          <p:nvPr/>
        </p:nvSpPr>
        <p:spPr>
          <a:xfrm>
            <a:off x="932688" y="1865376"/>
            <a:ext cx="685800"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C++</a:t>
            </a:r>
          </a:p>
        </p:txBody>
      </p:sp>
      <p:sp>
        <p:nvSpPr>
          <p:cNvPr id="113" name="C++ panel"/>
          <p:cNvSpPr/>
          <p:nvPr/>
        </p:nvSpPr>
        <p:spPr>
          <a:xfrm>
            <a:off x="932688"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14" name="C++ code"/>
          <p:cNvSpPr txBox="1"/>
          <p:nvPr/>
        </p:nvSpPr>
        <p:spPr>
          <a:xfrm>
            <a:off x="1188720" y="3043855"/>
            <a:ext cx="4562856" cy="1409883"/>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compiles with no warning</a:t>
            </a:r>
            <a:endParaRPr lang="en-US" sz="1400" dirty="0">
              <a:latin typeface="Courier New"/>
              <a:cs typeface="Courier New"/>
            </a:endParaRPr>
          </a:p>
          <a:p>
            <a:pPr>
              <a:lnSpc>
                <a:spcPct val="100000"/>
              </a:lnSpc>
            </a:pPr>
            <a:r>
              <a:rPr lang="en-US" sz="1400" b="0" dirty="0">
                <a:solidFill>
                  <a:srgbClr val="82AAFF"/>
                </a:solidFill>
                <a:latin typeface="Courier New"/>
                <a:ea typeface="Courier New"/>
                <a:cs typeface="Courier New"/>
              </a:rPr>
              <a:t>std::string_view</a:t>
            </a:r>
            <a:r>
              <a:rPr lang="en-US" sz="1400" b="0" dirty="0">
                <a:solidFill>
                  <a:srgbClr val="E6E9EF"/>
                </a:solidFill>
                <a:latin typeface="Courier New"/>
                <a:ea typeface="Courier New"/>
                <a:cs typeface="Courier New"/>
              </a:rPr>
              <a:t> </a:t>
            </a:r>
            <a:r>
              <a:rPr lang="en-US" sz="1400" b="0" dirty="0">
                <a:solidFill>
                  <a:srgbClr val="FFD98C"/>
                </a:solidFill>
                <a:latin typeface="Courier New"/>
                <a:ea typeface="Courier New"/>
                <a:cs typeface="Courier New"/>
              </a:rPr>
              <a:t>trim</a:t>
            </a:r>
            <a:r>
              <a:rPr lang="en-US" sz="1400" b="0" dirty="0">
                <a:solidFill>
                  <a:srgbClr val="E6E9EF"/>
                </a:solidFill>
                <a:latin typeface="Courier New"/>
                <a:ea typeface="Courier New"/>
                <a:cs typeface="Courier New"/>
              </a:rPr>
              <a:t>(</a:t>
            </a:r>
            <a:r>
              <a:rPr lang="en-US" sz="1400" b="0" dirty="0">
                <a:solidFill>
                  <a:srgbClr val="C792EA"/>
                </a:solidFill>
                <a:latin typeface="Courier New"/>
                <a:ea typeface="Courier New"/>
                <a:cs typeface="Courier New"/>
              </a:rPr>
              <a:t>const</a:t>
            </a:r>
            <a:r>
              <a:rPr lang="en-US" sz="1400" b="0" dirty="0">
                <a:solidFill>
                  <a:srgbClr val="E6E9EF"/>
                </a:solidFill>
                <a:latin typeface="Courier New"/>
                <a:ea typeface="Courier New"/>
                <a:cs typeface="Courier New"/>
              </a:rPr>
              <a:t> </a:t>
            </a:r>
            <a:r>
              <a:rPr lang="en-US" sz="1400" b="0" dirty="0">
                <a:solidFill>
                  <a:srgbClr val="82AAFF"/>
                </a:solidFill>
                <a:latin typeface="Courier New"/>
                <a:ea typeface="Courier New"/>
                <a:cs typeface="Courier New"/>
              </a:rPr>
              <a:t>std::string</a:t>
            </a:r>
            <a:r>
              <a:rPr lang="en-US" sz="1400" b="0" dirty="0">
                <a:solidFill>
                  <a:srgbClr val="E6E9EF"/>
                </a:solidFill>
                <a:latin typeface="Courier New"/>
                <a:ea typeface="Courier New"/>
                <a:cs typeface="Courier New"/>
              </a:rPr>
              <a:t>&amp;);</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82AAFF"/>
                </a:solidFill>
                <a:latin typeface="Courier New"/>
                <a:ea typeface="Courier New"/>
                <a:cs typeface="Courier New"/>
              </a:rPr>
              <a:t>std::string_view</a:t>
            </a:r>
            <a:r>
              <a:rPr lang="en-US" sz="1400" b="0" dirty="0">
                <a:solidFill>
                  <a:srgbClr val="E6E9EF"/>
                </a:solidFill>
                <a:latin typeface="Courier New"/>
                <a:ea typeface="Courier New"/>
                <a:cs typeface="Courier New"/>
              </a:rPr>
              <a:t> name = </a:t>
            </a:r>
            <a:r>
              <a:rPr lang="en-US" sz="1400" b="0" dirty="0">
                <a:solidFill>
                  <a:srgbClr val="FFD98C"/>
                </a:solidFill>
                <a:latin typeface="Courier New"/>
                <a:ea typeface="Courier New"/>
                <a:cs typeface="Courier New"/>
              </a:rPr>
              <a:t>trim</a:t>
            </a:r>
            <a:r>
              <a:rPr lang="en-US" sz="1400" b="0" dirty="0">
                <a:solidFill>
                  <a:srgbClr val="E6E9EF"/>
                </a:solidFill>
                <a:latin typeface="Courier New"/>
                <a:ea typeface="Courier New"/>
                <a:cs typeface="Courier New"/>
              </a:rPr>
              <a:t>(</a:t>
            </a:r>
            <a:r>
              <a:rPr lang="en-US" sz="1400" b="0" dirty="0">
                <a:solidFill>
                  <a:srgbClr val="FFD98C"/>
                </a:solidFill>
                <a:latin typeface="Courier New"/>
                <a:ea typeface="Courier New"/>
                <a:cs typeface="Courier New"/>
              </a:rPr>
              <a:t>read_line</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8A94A6"/>
                </a:solidFill>
                <a:latin typeface="Courier New"/>
                <a:ea typeface="Courier New"/>
                <a:cs typeface="Courier New"/>
              </a:rPr>
              <a:t>// the temporary string is destroyed here</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std::cout &lt;&lt; name;    </a:t>
            </a:r>
            <a:r>
              <a:rPr lang="en-US" sz="1400" b="0" dirty="0">
                <a:solidFill>
                  <a:srgbClr val="F07178"/>
                </a:solidFill>
                <a:latin typeface="Courier New"/>
                <a:ea typeface="Courier New"/>
                <a:cs typeface="Courier New"/>
              </a:rPr>
              <a:t>// use after free</a:t>
            </a:r>
            <a:endParaRPr lang="en-US" sz="1400" dirty="0">
              <a:latin typeface="Courier New"/>
              <a:cs typeface="Courier New"/>
            </a:endParaRPr>
          </a:p>
        </p:txBody>
      </p:sp>
      <p:sp>
        <p:nvSpPr>
          <p:cNvPr id="115" name="Rust"/>
          <p:cNvSpPr/>
          <p:nvPr/>
        </p:nvSpPr>
        <p:spPr>
          <a:xfrm>
            <a:off x="6245352" y="1865376"/>
            <a:ext cx="749808"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Rust</a:t>
            </a:r>
          </a:p>
        </p:txBody>
      </p:sp>
      <p:sp>
        <p:nvSpPr>
          <p:cNvPr id="116" name="Rust panel"/>
          <p:cNvSpPr/>
          <p:nvPr/>
        </p:nvSpPr>
        <p:spPr>
          <a:xfrm>
            <a:off x="6245352"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17" name="Rust code"/>
          <p:cNvSpPr txBox="1"/>
          <p:nvPr/>
        </p:nvSpPr>
        <p:spPr>
          <a:xfrm>
            <a:off x="6501384" y="3043855"/>
            <a:ext cx="4562856" cy="1812707"/>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does not compile</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fn</a:t>
            </a:r>
            <a:r>
              <a:rPr lang="en-US" sz="1400" b="0" dirty="0">
                <a:solidFill>
                  <a:srgbClr val="E6E9EF"/>
                </a:solidFill>
                <a:latin typeface="Courier New"/>
                <a:ea typeface="Courier New"/>
                <a:cs typeface="Courier New"/>
              </a:rPr>
              <a:t> </a:t>
            </a:r>
            <a:r>
              <a:rPr lang="en-US" sz="1400" b="0" dirty="0">
                <a:solidFill>
                  <a:srgbClr val="FFD98C"/>
                </a:solidFill>
                <a:latin typeface="Courier New"/>
                <a:ea typeface="Courier New"/>
                <a:cs typeface="Courier New"/>
              </a:rPr>
              <a:t>trim</a:t>
            </a:r>
            <a:r>
              <a:rPr lang="en-US" sz="1400" b="0" dirty="0">
                <a:solidFill>
                  <a:srgbClr val="E6E9EF"/>
                </a:solidFill>
                <a:latin typeface="Courier New"/>
                <a:ea typeface="Courier New"/>
                <a:cs typeface="Courier New"/>
              </a:rPr>
              <a:t>(s: &amp;</a:t>
            </a:r>
            <a:r>
              <a:rPr lang="en-US" sz="1400" b="0" dirty="0">
                <a:solidFill>
                  <a:srgbClr val="82AAFF"/>
                </a:solidFill>
                <a:latin typeface="Courier New"/>
                <a:ea typeface="Courier New"/>
                <a:cs typeface="Courier New"/>
              </a:rPr>
              <a:t>str</a:t>
            </a:r>
            <a:r>
              <a:rPr lang="en-US" sz="1400" b="0" dirty="0">
                <a:solidFill>
                  <a:srgbClr val="E6E9EF"/>
                </a:solidFill>
                <a:latin typeface="Courier New"/>
                <a:ea typeface="Courier New"/>
                <a:cs typeface="Courier New"/>
              </a:rPr>
              <a:t>) -&gt; &amp;</a:t>
            </a:r>
            <a:r>
              <a:rPr lang="en-US" sz="1400" b="0" dirty="0">
                <a:solidFill>
                  <a:srgbClr val="82AAFF"/>
                </a:solidFill>
                <a:latin typeface="Courier New"/>
                <a:ea typeface="Courier New"/>
                <a:cs typeface="Courier New"/>
              </a:rPr>
              <a:t>str</a:t>
            </a:r>
            <a:r>
              <a:rPr lang="en-US" sz="1400" b="0" dirty="0">
                <a:solidFill>
                  <a:srgbClr val="E6E9EF"/>
                </a:solidFill>
                <a:latin typeface="Courier New"/>
                <a:ea typeface="Courier New"/>
                <a:cs typeface="Courier New"/>
              </a:rPr>
              <a:t> { ... }</a:t>
            </a:r>
            <a:endParaRPr lang="en-US" sz="1400" dirty="0">
              <a:latin typeface="Courier New"/>
              <a:cs typeface="Courier New"/>
            </a:endParaRPr>
          </a:p>
          <a:p>
            <a:pPr>
              <a:lnSpc>
                <a:spcPct val="100000"/>
              </a:lnSpc>
            </a:pPr>
            <a:r>
              <a:rPr lang="en-US" sz="1400" b="0" dirty="0">
                <a:solidFill>
                  <a:srgbClr val="8A94A6"/>
                </a:solidFill>
                <a:latin typeface="Courier New"/>
                <a:ea typeface="Courier New"/>
                <a:cs typeface="Courier New"/>
              </a:rPr>
              <a:t>// the result cannot outlive s</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let</a:t>
            </a:r>
            <a:r>
              <a:rPr lang="en-US" sz="1400" b="0" dirty="0">
                <a:solidFill>
                  <a:srgbClr val="E6E9EF"/>
                </a:solidFill>
                <a:latin typeface="Courier New"/>
                <a:ea typeface="Courier New"/>
                <a:cs typeface="Courier New"/>
              </a:rPr>
              <a:t> name = </a:t>
            </a:r>
            <a:r>
              <a:rPr lang="en-US" sz="1400" b="0" dirty="0">
                <a:solidFill>
                  <a:srgbClr val="FFD98C"/>
                </a:solidFill>
                <a:latin typeface="Courier New"/>
                <a:ea typeface="Courier New"/>
                <a:cs typeface="Courier New"/>
              </a:rPr>
              <a:t>trim</a:t>
            </a:r>
            <a:r>
              <a:rPr lang="en-US" sz="1400" b="0" dirty="0">
                <a:solidFill>
                  <a:srgbClr val="E6E9EF"/>
                </a:solidFill>
                <a:latin typeface="Courier New"/>
                <a:ea typeface="Courier New"/>
                <a:cs typeface="Courier New"/>
              </a:rPr>
              <a:t>(&amp;</a:t>
            </a:r>
            <a:r>
              <a:rPr lang="en-US" sz="1400" b="0" dirty="0">
                <a:solidFill>
                  <a:srgbClr val="FFD98C"/>
                </a:solidFill>
                <a:latin typeface="Courier New"/>
                <a:ea typeface="Courier New"/>
                <a:cs typeface="Courier New"/>
              </a:rPr>
              <a:t>read_line</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F07178"/>
                </a:solidFill>
                <a:latin typeface="Courier New"/>
                <a:ea typeface="Courier New"/>
                <a:cs typeface="Courier New"/>
              </a:rPr>
              <a:t>// error[E0716]: temporary value dropped</a:t>
            </a:r>
            <a:endParaRPr lang="en-US" sz="1400" dirty="0">
              <a:latin typeface="Courier New"/>
              <a:cs typeface="Courier New"/>
            </a:endParaRPr>
          </a:p>
          <a:p>
            <a:pPr>
              <a:lnSpc>
                <a:spcPct val="100000"/>
              </a:lnSpc>
            </a:pPr>
            <a:r>
              <a:rPr lang="en-US" sz="1400" b="0" dirty="0">
                <a:solidFill>
                  <a:srgbClr val="F07178"/>
                </a:solidFill>
                <a:latin typeface="Courier New"/>
                <a:ea typeface="Courier New"/>
                <a:cs typeface="Courier New"/>
              </a:rPr>
              <a:t>// while borrowed</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FFD98C"/>
                </a:solidFill>
                <a:latin typeface="Courier New"/>
                <a:ea typeface="Courier New"/>
                <a:cs typeface="Courier New"/>
              </a:rPr>
              <a:t>println!</a:t>
            </a:r>
            <a:r>
              <a:rPr lang="en-US" sz="1400" b="0" dirty="0">
                <a:solidFill>
                  <a:srgbClr val="E6E9EF"/>
                </a:solidFill>
                <a:latin typeface="Courier New"/>
                <a:ea typeface="Courier New"/>
                <a:cs typeface="Courier New"/>
              </a:rPr>
              <a:t>(</a:t>
            </a:r>
            <a:r>
              <a:rPr lang="en-US" sz="1400" b="0" dirty="0">
                <a:solidFill>
                  <a:srgbClr val="C3E88D"/>
                </a:solidFill>
                <a:latin typeface="Courier New"/>
                <a:ea typeface="Courier New"/>
                <a:cs typeface="Courier New"/>
              </a:rPr>
              <a:t>"{name}"</a:t>
            </a:r>
            <a:r>
              <a:rPr lang="en-US" sz="1400" b="0" dirty="0">
                <a:solidFill>
                  <a:srgbClr val="E6E9EF"/>
                </a:solidFill>
                <a:latin typeface="Courier New"/>
                <a:ea typeface="Courier New"/>
                <a:cs typeface="Courier New"/>
              </a:rPr>
              <a:t>);</a:t>
            </a:r>
            <a:endParaRPr lang="en-US" sz="1400" dirty="0">
              <a:latin typeface="Courier New"/>
              <a:cs typeface="Courier New"/>
            </a:endParaRPr>
          </a:p>
        </p:txBody>
      </p:sp>
      <p:sp>
        <p:nvSpPr>
          <p:cNvPr id="118" name="Closing line"/>
          <p:cNvSpPr txBox="1"/>
          <p:nvPr/>
        </p:nvSpPr>
        <p:spPr>
          <a:xfrm>
            <a:off x="932688" y="5943600"/>
            <a:ext cx="10387584" cy="411480"/>
          </a:xfrm>
          <a:prstGeom prst="rect">
            <a:avLst/>
          </a:prstGeom>
          <a:noFill/>
          <a:ln>
            <a:noFill/>
          </a:ln>
        </p:spPr>
        <p:txBody>
          <a:bodyPr wrap="none" lIns="0" tIns="0" rIns="0" bIns="0" rtlCol="0" anchor="t">
            <a:noAutofit/>
          </a:bodyPr>
          <a:lstStyle/>
          <a:p>
            <a:pPr marL="0" indent="0" algn="l">
              <a:buNone/>
            </a:pPr>
            <a:r>
              <a:rPr lang="en-US" sz="1800" b="1" dirty="0">
                <a:solidFill>
                  <a:srgbClr val="1A1A1A"/>
                </a:solidFill>
                <a:latin typeface="Aptos"/>
                <a:ea typeface="Aptos"/>
                <a:cs typeface="Aptos"/>
              </a:rPr>
              <a:t>In C++ the signature does not say how long the result lives. In Rust it does.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36408"/>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A released unique_ptr</a:t>
            </a:r>
            <a:endParaRPr lang="en-US" sz="4400" dirty="0"/>
          </a:p>
        </p:txBody>
      </p:sp>
      <p:sp>
        <p:nvSpPr>
          <p:cNvPr id="119" name="Subline"/>
          <p:cNvSpPr txBox="1"/>
          <p:nvPr/>
        </p:nvSpPr>
        <p:spPr>
          <a:xfrm>
            <a:off x="932688" y="1444752"/>
            <a:ext cx="10387584" cy="329184"/>
          </a:xfrm>
          <a:prstGeom prst="rect">
            <a:avLst/>
          </a:prstGeom>
          <a:noFill/>
          <a:ln>
            <a:noFill/>
          </a:ln>
        </p:spPr>
        <p:txBody>
          <a:bodyPr wrap="none" lIns="0" tIns="0" rIns="0" bIns="0" rtlCol="0" anchor="t">
            <a:noAutofit/>
          </a:bodyPr>
          <a:lstStyle/>
          <a:p>
            <a:pPr marL="0" indent="0" algn="l">
              <a:buNone/>
            </a:pPr>
            <a:r>
              <a:rPr lang="en-US" sz="1600" b="0" dirty="0">
                <a:solidFill>
                  <a:srgbClr val="595959"/>
                </a:solidFill>
                <a:latin typeface="Aptos"/>
                <a:ea typeface="Aptos"/>
                <a:cs typeface="Aptos"/>
              </a:rPr>
              <a:t>Lifetime. release turns the unique_ptr back into a raw pointer, and nothing tracks who frees it.</a:t>
            </a:r>
          </a:p>
        </p:txBody>
      </p:sp>
      <p:sp>
        <p:nvSpPr>
          <p:cNvPr id="120" name="C++"/>
          <p:cNvSpPr/>
          <p:nvPr/>
        </p:nvSpPr>
        <p:spPr>
          <a:xfrm>
            <a:off x="932688" y="1865376"/>
            <a:ext cx="685800"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C++</a:t>
            </a:r>
          </a:p>
        </p:txBody>
      </p:sp>
      <p:sp>
        <p:nvSpPr>
          <p:cNvPr id="121" name="C++ panel"/>
          <p:cNvSpPr/>
          <p:nvPr/>
        </p:nvSpPr>
        <p:spPr>
          <a:xfrm>
            <a:off x="932688"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22" name="C++ code"/>
          <p:cNvSpPr txBox="1"/>
          <p:nvPr/>
        </p:nvSpPr>
        <p:spPr>
          <a:xfrm>
            <a:off x="1188720" y="3043855"/>
            <a:ext cx="4562856" cy="1812707"/>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compiles with no warning</a:t>
            </a:r>
            <a:endParaRPr lang="en-US" sz="1400" dirty="0">
              <a:latin typeface="Courier New"/>
              <a:cs typeface="Courier New"/>
            </a:endParaRPr>
          </a:p>
          <a:p>
            <a:pPr>
              <a:lnSpc>
                <a:spcPct val="100000"/>
              </a:lnSpc>
            </a:pPr>
            <a:r>
              <a:rPr lang="en-US" sz="1400" b="0" dirty="0">
                <a:solidFill>
                  <a:srgbClr val="8A94A6"/>
                </a:solidFill>
                <a:latin typeface="Courier New"/>
                <a:ea typeface="Courier New"/>
                <a:cs typeface="Courier New"/>
              </a:rPr>
              <a:t>// consume takes ownership and deletes</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void</a:t>
            </a:r>
            <a:r>
              <a:rPr lang="en-US" sz="1400" b="0" dirty="0">
                <a:solidFill>
                  <a:srgbClr val="E6E9EF"/>
                </a:solidFill>
                <a:latin typeface="Courier New"/>
                <a:ea typeface="Courier New"/>
                <a:cs typeface="Courier New"/>
              </a:rPr>
              <a:t> </a:t>
            </a:r>
            <a:r>
              <a:rPr lang="en-US" sz="1400" b="0" dirty="0">
                <a:solidFill>
                  <a:srgbClr val="FFD98C"/>
                </a:solidFill>
                <a:latin typeface="Courier New"/>
                <a:ea typeface="Courier New"/>
                <a:cs typeface="Courier New"/>
              </a:rPr>
              <a:t>consume</a:t>
            </a:r>
            <a:r>
              <a:rPr lang="en-US" sz="1400" b="0" dirty="0">
                <a:solidFill>
                  <a:srgbClr val="E6E9EF"/>
                </a:solidFill>
                <a:latin typeface="Courier New"/>
                <a:ea typeface="Courier New"/>
                <a:cs typeface="Courier New"/>
              </a:rPr>
              <a:t>(</a:t>
            </a:r>
            <a:r>
              <a:rPr lang="en-US" sz="1400" b="0" dirty="0">
                <a:solidFill>
                  <a:srgbClr val="82AAFF"/>
                </a:solidFill>
                <a:latin typeface="Courier New"/>
                <a:ea typeface="Courier New"/>
                <a:cs typeface="Courier New"/>
              </a:rPr>
              <a:t>Node</a:t>
            </a:r>
            <a:r>
              <a:rPr lang="en-US" sz="1400" b="0" dirty="0">
                <a:solidFill>
                  <a:srgbClr val="E6E9EF"/>
                </a:solidFill>
                <a:latin typeface="Courier New"/>
                <a:ea typeface="Courier New"/>
                <a:cs typeface="Courier New"/>
              </a:rPr>
              <a:t>* n);</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auto</a:t>
            </a:r>
            <a:r>
              <a:rPr lang="en-US" sz="1400" b="0" dirty="0">
                <a:solidFill>
                  <a:srgbClr val="E6E9EF"/>
                </a:solidFill>
                <a:latin typeface="Courier New"/>
                <a:ea typeface="Courier New"/>
                <a:cs typeface="Courier New"/>
              </a:rPr>
              <a:t> node = </a:t>
            </a:r>
            <a:r>
              <a:rPr lang="en-US" sz="1400" b="0" dirty="0">
                <a:solidFill>
                  <a:srgbClr val="FFD98C"/>
                </a:solidFill>
                <a:latin typeface="Courier New"/>
                <a:ea typeface="Courier New"/>
                <a:cs typeface="Courier New"/>
              </a:rPr>
              <a:t>std::make_unique</a:t>
            </a:r>
            <a:r>
              <a:rPr lang="en-US" sz="1400" b="0" dirty="0">
                <a:solidFill>
                  <a:srgbClr val="E6E9EF"/>
                </a:solidFill>
                <a:latin typeface="Courier New"/>
                <a:ea typeface="Courier New"/>
                <a:cs typeface="Courier New"/>
              </a:rPr>
              <a:t>&lt;</a:t>
            </a:r>
            <a:r>
              <a:rPr lang="en-US" sz="1400" b="0" dirty="0">
                <a:solidFill>
                  <a:srgbClr val="82AAFF"/>
                </a:solidFill>
                <a:latin typeface="Courier New"/>
                <a:ea typeface="Courier New"/>
                <a:cs typeface="Courier New"/>
              </a:rPr>
              <a:t>Node</a:t>
            </a:r>
            <a:r>
              <a:rPr lang="en-US" sz="1400" b="0" dirty="0">
                <a:solidFill>
                  <a:srgbClr val="E6E9EF"/>
                </a:solidFill>
                <a:latin typeface="Courier New"/>
                <a:ea typeface="Courier New"/>
                <a:cs typeface="Courier New"/>
              </a:rPr>
              <a:t>&gt;();</a:t>
            </a:r>
            <a:endParaRPr lang="en-US" sz="1400" dirty="0">
              <a:latin typeface="Courier New"/>
              <a:cs typeface="Courier New"/>
            </a:endParaRPr>
          </a:p>
          <a:p>
            <a:pPr>
              <a:lnSpc>
                <a:spcPct val="100000"/>
              </a:lnSpc>
            </a:pPr>
            <a:r>
              <a:rPr lang="en-US" sz="1400" b="0" dirty="0">
                <a:solidFill>
                  <a:srgbClr val="82AAFF"/>
                </a:solidFill>
                <a:latin typeface="Courier New"/>
                <a:ea typeface="Courier New"/>
                <a:cs typeface="Courier New"/>
              </a:rPr>
              <a:t>Node</a:t>
            </a:r>
            <a:r>
              <a:rPr lang="en-US" sz="1400" b="0" dirty="0">
                <a:solidFill>
                  <a:srgbClr val="E6E9EF"/>
                </a:solidFill>
                <a:latin typeface="Courier New"/>
                <a:ea typeface="Courier New"/>
                <a:cs typeface="Courier New"/>
              </a:rPr>
              <a:t>* raw = node.</a:t>
            </a:r>
            <a:r>
              <a:rPr lang="en-US" sz="1400" b="0" dirty="0">
                <a:solidFill>
                  <a:srgbClr val="FFD98C"/>
                </a:solidFill>
                <a:latin typeface="Courier New"/>
                <a:ea typeface="Courier New"/>
                <a:cs typeface="Courier New"/>
              </a:rPr>
              <a:t>release</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FFD98C"/>
                </a:solidFill>
                <a:latin typeface="Courier New"/>
                <a:ea typeface="Courier New"/>
                <a:cs typeface="Courier New"/>
              </a:rPr>
              <a:t>consume</a:t>
            </a:r>
            <a:r>
              <a:rPr lang="en-US" sz="1400" b="0" dirty="0">
                <a:solidFill>
                  <a:srgbClr val="E6E9EF"/>
                </a:solidFill>
                <a:latin typeface="Courier New"/>
                <a:ea typeface="Courier New"/>
                <a:cs typeface="Courier New"/>
              </a:rPr>
              <a:t>(raw);</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std::cout &lt;&lt; raw-&gt;value; </a:t>
            </a:r>
            <a:r>
              <a:rPr lang="en-US" sz="1400" b="0" dirty="0">
                <a:solidFill>
                  <a:srgbClr val="F07178"/>
                </a:solidFill>
                <a:latin typeface="Courier New"/>
                <a:ea typeface="Courier New"/>
                <a:cs typeface="Courier New"/>
              </a:rPr>
              <a:t>// use after free</a:t>
            </a:r>
            <a:endParaRPr lang="en-US" sz="1400" dirty="0">
              <a:latin typeface="Courier New"/>
              <a:cs typeface="Courier New"/>
            </a:endParaRPr>
          </a:p>
        </p:txBody>
      </p:sp>
      <p:sp>
        <p:nvSpPr>
          <p:cNvPr id="123" name="Rust"/>
          <p:cNvSpPr/>
          <p:nvPr/>
        </p:nvSpPr>
        <p:spPr>
          <a:xfrm>
            <a:off x="6245352" y="1865376"/>
            <a:ext cx="749808"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Rust</a:t>
            </a:r>
          </a:p>
        </p:txBody>
      </p:sp>
      <p:sp>
        <p:nvSpPr>
          <p:cNvPr id="124" name="Rust panel"/>
          <p:cNvSpPr/>
          <p:nvPr/>
        </p:nvSpPr>
        <p:spPr>
          <a:xfrm>
            <a:off x="6245352"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25" name="Rust code"/>
          <p:cNvSpPr txBox="1"/>
          <p:nvPr/>
        </p:nvSpPr>
        <p:spPr>
          <a:xfrm>
            <a:off x="6501384" y="3043855"/>
            <a:ext cx="4562856" cy="1812707"/>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does not compile</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fn</a:t>
            </a:r>
            <a:r>
              <a:rPr lang="en-US" sz="1400" b="0" dirty="0">
                <a:solidFill>
                  <a:srgbClr val="E6E9EF"/>
                </a:solidFill>
                <a:latin typeface="Courier New"/>
                <a:ea typeface="Courier New"/>
                <a:cs typeface="Courier New"/>
              </a:rPr>
              <a:t> </a:t>
            </a:r>
            <a:r>
              <a:rPr lang="en-US" sz="1400" b="0" dirty="0">
                <a:solidFill>
                  <a:srgbClr val="FFD98C"/>
                </a:solidFill>
                <a:latin typeface="Courier New"/>
                <a:ea typeface="Courier New"/>
                <a:cs typeface="Courier New"/>
              </a:rPr>
              <a:t>consume</a:t>
            </a:r>
            <a:r>
              <a:rPr lang="en-US" sz="1400" b="0" dirty="0">
                <a:solidFill>
                  <a:srgbClr val="E6E9EF"/>
                </a:solidFill>
                <a:latin typeface="Courier New"/>
                <a:ea typeface="Courier New"/>
                <a:cs typeface="Courier New"/>
              </a:rPr>
              <a:t>(node: </a:t>
            </a:r>
            <a:r>
              <a:rPr lang="en-US" sz="1400" b="0" dirty="0">
                <a:solidFill>
                  <a:srgbClr val="82AAFF"/>
                </a:solidFill>
                <a:latin typeface="Courier New"/>
                <a:ea typeface="Courier New"/>
                <a:cs typeface="Courier New"/>
              </a:rPr>
              <a:t>Box</a:t>
            </a:r>
            <a:r>
              <a:rPr lang="en-US" sz="1400" b="0" dirty="0">
                <a:solidFill>
                  <a:srgbClr val="E6E9EF"/>
                </a:solidFill>
                <a:latin typeface="Courier New"/>
                <a:ea typeface="Courier New"/>
                <a:cs typeface="Courier New"/>
              </a:rPr>
              <a:t>&lt;</a:t>
            </a:r>
            <a:r>
              <a:rPr lang="en-US" sz="1400" b="0" dirty="0">
                <a:solidFill>
                  <a:srgbClr val="82AAFF"/>
                </a:solidFill>
                <a:latin typeface="Courier New"/>
                <a:ea typeface="Courier New"/>
                <a:cs typeface="Courier New"/>
              </a:rPr>
              <a:t>Node</a:t>
            </a:r>
            <a:r>
              <a:rPr lang="en-US" sz="1400" b="0" dirty="0">
                <a:solidFill>
                  <a:srgbClr val="E6E9EF"/>
                </a:solidFill>
                <a:latin typeface="Courier New"/>
                <a:ea typeface="Courier New"/>
                <a:cs typeface="Courier New"/>
              </a:rPr>
              <a:t>&gt;) { ... }</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let</a:t>
            </a:r>
            <a:r>
              <a:rPr lang="en-US" sz="1400" b="0" dirty="0">
                <a:solidFill>
                  <a:srgbClr val="E6E9EF"/>
                </a:solidFill>
                <a:latin typeface="Courier New"/>
                <a:ea typeface="Courier New"/>
                <a:cs typeface="Courier New"/>
              </a:rPr>
              <a:t> node = </a:t>
            </a:r>
            <a:r>
              <a:rPr lang="en-US" sz="1400" b="0" dirty="0">
                <a:solidFill>
                  <a:srgbClr val="FFD98C"/>
                </a:solidFill>
                <a:latin typeface="Courier New"/>
                <a:ea typeface="Courier New"/>
                <a:cs typeface="Courier New"/>
              </a:rPr>
              <a:t>Box::new</a:t>
            </a:r>
            <a:r>
              <a:rPr lang="en-US" sz="1400" b="0" dirty="0">
                <a:solidFill>
                  <a:srgbClr val="E6E9EF"/>
                </a:solidFill>
                <a:latin typeface="Courier New"/>
                <a:ea typeface="Courier New"/>
                <a:cs typeface="Courier New"/>
              </a:rPr>
              <a:t>(</a:t>
            </a:r>
            <a:r>
              <a:rPr lang="en-US" sz="1400" b="0" dirty="0">
                <a:solidFill>
                  <a:srgbClr val="82AAFF"/>
                </a:solidFill>
                <a:latin typeface="Courier New"/>
                <a:ea typeface="Courier New"/>
                <a:cs typeface="Courier New"/>
              </a:rPr>
              <a:t>Node</a:t>
            </a:r>
            <a:r>
              <a:rPr lang="en-US" sz="1400" b="0" dirty="0">
                <a:solidFill>
                  <a:srgbClr val="E6E9EF"/>
                </a:solidFill>
                <a:latin typeface="Courier New"/>
                <a:ea typeface="Courier New"/>
                <a:cs typeface="Courier New"/>
              </a:rPr>
              <a:t> { value: </a:t>
            </a:r>
            <a:r>
              <a:rPr lang="en-US" sz="1400" b="0" dirty="0">
                <a:solidFill>
                  <a:srgbClr val="F78C6C"/>
                </a:solidFill>
                <a:latin typeface="Courier New"/>
                <a:ea typeface="Courier New"/>
                <a:cs typeface="Courier New"/>
              </a:rPr>
              <a:t>42</a:t>
            </a:r>
            <a:r>
              <a:rPr lang="en-US" sz="1400" b="0" dirty="0">
                <a:solidFill>
                  <a:srgbClr val="E6E9EF"/>
                </a:solidFill>
                <a:latin typeface="Courier New"/>
                <a:ea typeface="Courier New"/>
                <a:cs typeface="Courier New"/>
              </a:rPr>
              <a:t> });</a:t>
            </a:r>
            <a:endParaRPr lang="en-US" sz="1400" dirty="0">
              <a:latin typeface="Courier New"/>
              <a:cs typeface="Courier New"/>
            </a:endParaRPr>
          </a:p>
          <a:p>
            <a:pPr>
              <a:lnSpc>
                <a:spcPct val="100000"/>
              </a:lnSpc>
            </a:pPr>
            <a:r>
              <a:rPr lang="en-US" sz="1400" b="0" dirty="0">
                <a:solidFill>
                  <a:srgbClr val="FFD98C"/>
                </a:solidFill>
                <a:latin typeface="Courier New"/>
                <a:ea typeface="Courier New"/>
                <a:cs typeface="Courier New"/>
              </a:rPr>
              <a:t>consume</a:t>
            </a:r>
            <a:r>
              <a:rPr lang="en-US" sz="1400" b="0" dirty="0">
                <a:solidFill>
                  <a:srgbClr val="E6E9EF"/>
                </a:solidFill>
                <a:latin typeface="Courier New"/>
                <a:ea typeface="Courier New"/>
                <a:cs typeface="Courier New"/>
              </a:rPr>
              <a:t>(node);      </a:t>
            </a:r>
            <a:r>
              <a:rPr lang="en-US" sz="1400" b="0" dirty="0">
                <a:solidFill>
                  <a:srgbClr val="8A94A6"/>
                </a:solidFill>
                <a:latin typeface="Courier New"/>
                <a:ea typeface="Courier New"/>
                <a:cs typeface="Courier New"/>
              </a:rPr>
              <a:t>// ownership moves</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FFD98C"/>
                </a:solidFill>
                <a:latin typeface="Courier New"/>
                <a:ea typeface="Courier New"/>
                <a:cs typeface="Courier New"/>
              </a:rPr>
              <a:t>println!</a:t>
            </a:r>
            <a:r>
              <a:rPr lang="en-US" sz="1400" b="0" dirty="0">
                <a:solidFill>
                  <a:srgbClr val="E6E9EF"/>
                </a:solidFill>
                <a:latin typeface="Courier New"/>
                <a:ea typeface="Courier New"/>
                <a:cs typeface="Courier New"/>
              </a:rPr>
              <a:t>(</a:t>
            </a:r>
            <a:r>
              <a:rPr lang="en-US" sz="1400" b="0" dirty="0">
                <a:solidFill>
                  <a:srgbClr val="C3E88D"/>
                </a:solidFill>
                <a:latin typeface="Courier New"/>
                <a:ea typeface="Courier New"/>
                <a:cs typeface="Courier New"/>
              </a:rPr>
              <a:t>"{}"</a:t>
            </a:r>
            <a:r>
              <a:rPr lang="en-US" sz="1400" b="0" dirty="0">
                <a:solidFill>
                  <a:srgbClr val="E6E9EF"/>
                </a:solidFill>
                <a:latin typeface="Courier New"/>
                <a:ea typeface="Courier New"/>
                <a:cs typeface="Courier New"/>
              </a:rPr>
              <a:t>, node.value);</a:t>
            </a:r>
            <a:endParaRPr lang="en-US" sz="1400" dirty="0">
              <a:latin typeface="Courier New"/>
              <a:cs typeface="Courier New"/>
            </a:endParaRPr>
          </a:p>
          <a:p>
            <a:pPr>
              <a:lnSpc>
                <a:spcPct val="100000"/>
              </a:lnSpc>
            </a:pPr>
            <a:r>
              <a:rPr lang="en-US" sz="1400" b="0" dirty="0">
                <a:solidFill>
                  <a:srgbClr val="F07178"/>
                </a:solidFill>
                <a:latin typeface="Courier New"/>
                <a:ea typeface="Courier New"/>
                <a:cs typeface="Courier New"/>
              </a:rPr>
              <a:t>// error[E0382]: borrow of moved value:</a:t>
            </a:r>
            <a:endParaRPr lang="en-US" sz="1400" dirty="0">
              <a:latin typeface="Courier New"/>
              <a:cs typeface="Courier New"/>
            </a:endParaRPr>
          </a:p>
          <a:p>
            <a:pPr>
              <a:lnSpc>
                <a:spcPct val="100000"/>
              </a:lnSpc>
            </a:pPr>
            <a:r>
              <a:rPr lang="en-US" sz="1400" b="0" dirty="0">
                <a:solidFill>
                  <a:srgbClr val="F07178"/>
                </a:solidFill>
                <a:latin typeface="Courier New"/>
                <a:ea typeface="Courier New"/>
                <a:cs typeface="Courier New"/>
              </a:rPr>
              <a:t>// `node`</a:t>
            </a:r>
            <a:endParaRPr lang="en-US" sz="1400" dirty="0">
              <a:latin typeface="Courier New"/>
              <a:cs typeface="Courier New"/>
            </a:endParaRPr>
          </a:p>
        </p:txBody>
      </p:sp>
      <p:sp>
        <p:nvSpPr>
          <p:cNvPr id="126" name="Closing line"/>
          <p:cNvSpPr txBox="1"/>
          <p:nvPr/>
        </p:nvSpPr>
        <p:spPr>
          <a:xfrm>
            <a:off x="932688" y="5943600"/>
            <a:ext cx="10387584" cy="411480"/>
          </a:xfrm>
          <a:prstGeom prst="rect">
            <a:avLst/>
          </a:prstGeom>
          <a:noFill/>
          <a:ln>
            <a:noFill/>
          </a:ln>
        </p:spPr>
        <p:txBody>
          <a:bodyPr wrap="none" lIns="0" tIns="0" rIns="0" bIns="0" rtlCol="0" anchor="t">
            <a:noAutofit/>
          </a:bodyPr>
          <a:lstStyle/>
          <a:p>
            <a:pPr marL="0" indent="0" algn="l">
              <a:buNone/>
            </a:pPr>
            <a:r>
              <a:rPr lang="en-US" sz="1800" b="1" dirty="0">
                <a:solidFill>
                  <a:srgbClr val="1A1A1A"/>
                </a:solidFill>
                <a:latin typeface="Aptos"/>
                <a:ea typeface="Aptos"/>
                <a:cs typeface="Aptos"/>
              </a:rPr>
              <a:t>In C++ one call gives up ownership. In safe Rust a moved value cannot be used again.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36408"/>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An invalidated iterator</a:t>
            </a:r>
            <a:endParaRPr lang="en-US" sz="4400" dirty="0"/>
          </a:p>
        </p:txBody>
      </p:sp>
      <p:sp>
        <p:nvSpPr>
          <p:cNvPr id="127" name="Subline"/>
          <p:cNvSpPr txBox="1"/>
          <p:nvPr/>
        </p:nvSpPr>
        <p:spPr>
          <a:xfrm>
            <a:off x="932688" y="1444752"/>
            <a:ext cx="10387584" cy="329184"/>
          </a:xfrm>
          <a:prstGeom prst="rect">
            <a:avLst/>
          </a:prstGeom>
          <a:noFill/>
          <a:ln>
            <a:noFill/>
          </a:ln>
        </p:spPr>
        <p:txBody>
          <a:bodyPr wrap="none" lIns="0" tIns="0" rIns="0" bIns="0" rtlCol="0" anchor="t">
            <a:noAutofit/>
          </a:bodyPr>
          <a:lstStyle/>
          <a:p>
            <a:pPr marL="0" indent="0" algn="l">
              <a:buNone/>
            </a:pPr>
            <a:r>
              <a:rPr lang="en-US" sz="1600" b="0" dirty="0">
                <a:solidFill>
                  <a:srgbClr val="595959"/>
                </a:solidFill>
                <a:latin typeface="Aptos"/>
                <a:ea typeface="Aptos"/>
                <a:cs typeface="Aptos"/>
              </a:rPr>
              <a:t>Lifetime. erase invalidates the iterator the loop is still using. GCC and Clang give no warning.</a:t>
            </a:r>
          </a:p>
        </p:txBody>
      </p:sp>
      <p:sp>
        <p:nvSpPr>
          <p:cNvPr id="128" name="C++"/>
          <p:cNvSpPr/>
          <p:nvPr/>
        </p:nvSpPr>
        <p:spPr>
          <a:xfrm>
            <a:off x="932688" y="1865376"/>
            <a:ext cx="685800"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C++</a:t>
            </a:r>
          </a:p>
        </p:txBody>
      </p:sp>
      <p:sp>
        <p:nvSpPr>
          <p:cNvPr id="129" name="C++ panel"/>
          <p:cNvSpPr/>
          <p:nvPr/>
        </p:nvSpPr>
        <p:spPr>
          <a:xfrm>
            <a:off x="932688"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30" name="C++ code"/>
          <p:cNvSpPr txBox="1"/>
          <p:nvPr/>
        </p:nvSpPr>
        <p:spPr>
          <a:xfrm>
            <a:off x="1188720" y="2641031"/>
            <a:ext cx="4562856" cy="1409883"/>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compiles with no warning</a:t>
            </a:r>
            <a:endParaRPr lang="en-US" sz="1400" dirty="0">
              <a:latin typeface="Courier New"/>
              <a:cs typeface="Courier New"/>
            </a:endParaRPr>
          </a:p>
          <a:p>
            <a:pPr>
              <a:lnSpc>
                <a:spcPct val="100000"/>
              </a:lnSpc>
            </a:pPr>
            <a:r>
              <a:rPr lang="en-US" sz="1400" b="0" dirty="0">
                <a:solidFill>
                  <a:srgbClr val="82AAFF"/>
                </a:solidFill>
                <a:latin typeface="Courier New"/>
                <a:ea typeface="Courier New"/>
                <a:cs typeface="Courier New"/>
              </a:rPr>
              <a:t>std::vector</a:t>
            </a:r>
            <a:r>
              <a:rPr lang="en-US" sz="1400" b="0" dirty="0">
                <a:solidFill>
                  <a:srgbClr val="E6E9EF"/>
                </a:solidFill>
                <a:latin typeface="Courier New"/>
                <a:ea typeface="Courier New"/>
                <a:cs typeface="Courier New"/>
              </a:rPr>
              <a:t>&lt;</a:t>
            </a:r>
            <a:r>
              <a:rPr lang="en-US" sz="1400" b="0" dirty="0">
                <a:solidFill>
                  <a:srgbClr val="C792EA"/>
                </a:solidFill>
                <a:latin typeface="Courier New"/>
                <a:ea typeface="Courier New"/>
                <a:cs typeface="Courier New"/>
              </a:rPr>
              <a:t>int</a:t>
            </a:r>
            <a:r>
              <a:rPr lang="en-US" sz="1400" b="0" dirty="0">
                <a:solidFill>
                  <a:srgbClr val="E6E9EF"/>
                </a:solidFill>
                <a:latin typeface="Courier New"/>
                <a:ea typeface="Courier New"/>
                <a:cs typeface="Courier New"/>
              </a:rPr>
              <a:t>&gt; v{</a:t>
            </a:r>
            <a:r>
              <a:rPr lang="en-US" sz="1400" b="0" dirty="0">
                <a:solidFill>
                  <a:srgbClr val="F78C6C"/>
                </a:solidFill>
                <a:latin typeface="Courier New"/>
                <a:ea typeface="Courier New"/>
                <a:cs typeface="Courier New"/>
              </a:rPr>
              <a:t>3</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1</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4</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5</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for</a:t>
            </a:r>
            <a:r>
              <a:rPr lang="en-US" sz="1400" b="0" dirty="0">
                <a:solidFill>
                  <a:srgbClr val="E6E9EF"/>
                </a:solidFill>
                <a:latin typeface="Courier New"/>
                <a:ea typeface="Courier New"/>
                <a:cs typeface="Courier New"/>
              </a:rPr>
              <a:t> (</a:t>
            </a:r>
            <a:r>
              <a:rPr lang="en-US" sz="1400" b="0" dirty="0">
                <a:solidFill>
                  <a:srgbClr val="C792EA"/>
                </a:solidFill>
                <a:latin typeface="Courier New"/>
                <a:ea typeface="Courier New"/>
                <a:cs typeface="Courier New"/>
              </a:rPr>
              <a:t>auto</a:t>
            </a:r>
            <a:r>
              <a:rPr lang="en-US" sz="1400" b="0" dirty="0">
                <a:solidFill>
                  <a:srgbClr val="E6E9EF"/>
                </a:solidFill>
                <a:latin typeface="Courier New"/>
                <a:ea typeface="Courier New"/>
                <a:cs typeface="Courier New"/>
              </a:rPr>
              <a:t> it = v.</a:t>
            </a:r>
            <a:r>
              <a:rPr lang="en-US" sz="1400" b="0" dirty="0">
                <a:solidFill>
                  <a:srgbClr val="FFD98C"/>
                </a:solidFill>
                <a:latin typeface="Courier New"/>
                <a:ea typeface="Courier New"/>
                <a:cs typeface="Courier New"/>
              </a:rPr>
              <a:t>begin</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it != v.</a:t>
            </a:r>
            <a:r>
              <a:rPr lang="en-US" sz="1400" b="0" dirty="0">
                <a:solidFill>
                  <a:srgbClr val="FFD98C"/>
                </a:solidFill>
                <a:latin typeface="Courier New"/>
                <a:ea typeface="Courier New"/>
                <a:cs typeface="Courier New"/>
              </a:rPr>
              <a:t>end</a:t>
            </a:r>
            <a:r>
              <a:rPr lang="en-US" sz="1400" b="0" dirty="0">
                <a:solidFill>
                  <a:srgbClr val="E6E9EF"/>
                </a:solidFill>
                <a:latin typeface="Courier New"/>
                <a:ea typeface="Courier New"/>
                <a:cs typeface="Courier New"/>
              </a:rPr>
              <a:t>(); ++it)</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C792EA"/>
                </a:solidFill>
                <a:latin typeface="Courier New"/>
                <a:ea typeface="Courier New"/>
                <a:cs typeface="Courier New"/>
              </a:rPr>
              <a:t>if</a:t>
            </a:r>
            <a:r>
              <a:rPr lang="en-US" sz="1400" b="0" dirty="0">
                <a:solidFill>
                  <a:srgbClr val="E6E9EF"/>
                </a:solidFill>
                <a:latin typeface="Courier New"/>
                <a:ea typeface="Courier New"/>
                <a:cs typeface="Courier New"/>
              </a:rPr>
              <a:t> (*it &lt; </a:t>
            </a:r>
            <a:r>
              <a:rPr lang="en-US" sz="1400" b="0" dirty="0">
                <a:solidFill>
                  <a:srgbClr val="F78C6C"/>
                </a:solidFill>
                <a:latin typeface="Courier New"/>
                <a:ea typeface="Courier New"/>
                <a:cs typeface="Courier New"/>
              </a:rPr>
              <a:t>0</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v.</a:t>
            </a:r>
            <a:r>
              <a:rPr lang="en-US" sz="1400" b="0" dirty="0">
                <a:solidFill>
                  <a:srgbClr val="FFD98C"/>
                </a:solidFill>
                <a:latin typeface="Courier New"/>
                <a:ea typeface="Courier New"/>
                <a:cs typeface="Courier New"/>
              </a:rPr>
              <a:t>erase</a:t>
            </a:r>
            <a:r>
              <a:rPr lang="en-US" sz="1400" b="0" dirty="0">
                <a:solidFill>
                  <a:srgbClr val="E6E9EF"/>
                </a:solidFill>
                <a:latin typeface="Courier New"/>
                <a:ea typeface="Courier New"/>
                <a:cs typeface="Courier New"/>
              </a:rPr>
              <a:t>(it);  </a:t>
            </a:r>
            <a:r>
              <a:rPr lang="en-US" sz="1400" b="0" dirty="0">
                <a:solidFill>
                  <a:srgbClr val="F07178"/>
                </a:solidFill>
                <a:latin typeface="Courier New"/>
                <a:ea typeface="Courier New"/>
                <a:cs typeface="Courier New"/>
              </a:rPr>
              <a:t>// it is invalid</a:t>
            </a:r>
            <a:endParaRPr lang="en-US" sz="1400" dirty="0">
              <a:latin typeface="Courier New"/>
              <a:cs typeface="Courier New"/>
            </a:endParaRPr>
          </a:p>
        </p:txBody>
      </p:sp>
      <p:sp>
        <p:nvSpPr>
          <p:cNvPr id="131" name="Rust"/>
          <p:cNvSpPr/>
          <p:nvPr/>
        </p:nvSpPr>
        <p:spPr>
          <a:xfrm>
            <a:off x="6245352" y="1865376"/>
            <a:ext cx="749808"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Rust</a:t>
            </a:r>
          </a:p>
        </p:txBody>
      </p:sp>
      <p:sp>
        <p:nvSpPr>
          <p:cNvPr id="132" name="Rust panel"/>
          <p:cNvSpPr/>
          <p:nvPr/>
        </p:nvSpPr>
        <p:spPr>
          <a:xfrm>
            <a:off x="6245352"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33" name="Rust code"/>
          <p:cNvSpPr txBox="1"/>
          <p:nvPr/>
        </p:nvSpPr>
        <p:spPr>
          <a:xfrm>
            <a:off x="6501384" y="2641031"/>
            <a:ext cx="4562856" cy="2618354"/>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does not compile</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let</a:t>
            </a:r>
            <a:r>
              <a:rPr lang="en-US" sz="1400" b="0" dirty="0">
                <a:solidFill>
                  <a:srgbClr val="E6E9EF"/>
                </a:solidFill>
                <a:latin typeface="Courier New"/>
                <a:ea typeface="Courier New"/>
                <a:cs typeface="Courier New"/>
              </a:rPr>
              <a:t> </a:t>
            </a:r>
            <a:r>
              <a:rPr lang="en-US" sz="1400" b="0" dirty="0">
                <a:solidFill>
                  <a:srgbClr val="C792EA"/>
                </a:solidFill>
                <a:latin typeface="Courier New"/>
                <a:ea typeface="Courier New"/>
                <a:cs typeface="Courier New"/>
              </a:rPr>
              <a:t>mut</a:t>
            </a:r>
            <a:r>
              <a:rPr lang="en-US" sz="1400" b="0" dirty="0">
                <a:solidFill>
                  <a:srgbClr val="E6E9EF"/>
                </a:solidFill>
                <a:latin typeface="Courier New"/>
                <a:ea typeface="Courier New"/>
                <a:cs typeface="Courier New"/>
              </a:rPr>
              <a:t> v = </a:t>
            </a:r>
            <a:r>
              <a:rPr lang="en-US" sz="1400" b="0" dirty="0">
                <a:solidFill>
                  <a:srgbClr val="FFD98C"/>
                </a:solidFill>
                <a:latin typeface="Courier New"/>
                <a:ea typeface="Courier New"/>
                <a:cs typeface="Courier New"/>
              </a:rPr>
              <a:t>vec!</a:t>
            </a:r>
            <a:r>
              <a:rPr lang="en-US" sz="1400" b="0" dirty="0">
                <a:solidFill>
                  <a:srgbClr val="E6E9EF"/>
                </a:solidFill>
                <a:latin typeface="Courier New"/>
                <a:ea typeface="Courier New"/>
                <a:cs typeface="Courier New"/>
              </a:rPr>
              <a:t>[</a:t>
            </a:r>
            <a:r>
              <a:rPr lang="en-US" sz="1400" b="0" dirty="0">
                <a:solidFill>
                  <a:srgbClr val="F78C6C"/>
                </a:solidFill>
                <a:latin typeface="Courier New"/>
                <a:ea typeface="Courier New"/>
                <a:cs typeface="Courier New"/>
              </a:rPr>
              <a:t>3</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1</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4</a:t>
            </a:r>
            <a:r>
              <a:rPr lang="en-US" sz="1400" b="0" dirty="0">
                <a:solidFill>
                  <a:srgbClr val="E6E9EF"/>
                </a:solidFill>
                <a:latin typeface="Courier New"/>
                <a:ea typeface="Courier New"/>
                <a:cs typeface="Courier New"/>
              </a:rPr>
              <a:t>, -</a:t>
            </a:r>
            <a:r>
              <a:rPr lang="en-US" sz="1400" b="0" dirty="0">
                <a:solidFill>
                  <a:srgbClr val="F78C6C"/>
                </a:solidFill>
                <a:latin typeface="Courier New"/>
                <a:ea typeface="Courier New"/>
                <a:cs typeface="Courier New"/>
              </a:rPr>
              <a:t>5</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for</a:t>
            </a:r>
            <a:r>
              <a:rPr lang="en-US" sz="1400" b="0" dirty="0">
                <a:solidFill>
                  <a:srgbClr val="E6E9EF"/>
                </a:solidFill>
                <a:latin typeface="Courier New"/>
                <a:ea typeface="Courier New"/>
                <a:cs typeface="Courier New"/>
              </a:rPr>
              <a:t> (i, x) </a:t>
            </a:r>
            <a:r>
              <a:rPr lang="en-US" sz="1400" b="0" dirty="0">
                <a:solidFill>
                  <a:srgbClr val="C792EA"/>
                </a:solidFill>
                <a:latin typeface="Courier New"/>
                <a:ea typeface="Courier New"/>
                <a:cs typeface="Courier New"/>
              </a:rPr>
              <a:t>in</a:t>
            </a:r>
            <a:r>
              <a:rPr lang="en-US" sz="1400" b="0" dirty="0">
                <a:solidFill>
                  <a:srgbClr val="E6E9EF"/>
                </a:solidFill>
                <a:latin typeface="Courier New"/>
                <a:ea typeface="Courier New"/>
                <a:cs typeface="Courier New"/>
              </a:rPr>
              <a:t> v.</a:t>
            </a:r>
            <a:r>
              <a:rPr lang="en-US" sz="1400" b="0" dirty="0">
                <a:solidFill>
                  <a:srgbClr val="FFD98C"/>
                </a:solidFill>
                <a:latin typeface="Courier New"/>
                <a:ea typeface="Courier New"/>
                <a:cs typeface="Courier New"/>
              </a:rPr>
              <a:t>iter</a:t>
            </a:r>
            <a:r>
              <a:rPr lang="en-US" sz="1400" b="0" dirty="0">
                <a:solidFill>
                  <a:srgbClr val="E6E9EF"/>
                </a:solidFill>
                <a:latin typeface="Courier New"/>
                <a:ea typeface="Courier New"/>
                <a:cs typeface="Courier New"/>
              </a:rPr>
              <a:t>().</a:t>
            </a:r>
            <a:r>
              <a:rPr lang="en-US" sz="1400" b="0" dirty="0">
                <a:solidFill>
                  <a:srgbClr val="FFD98C"/>
                </a:solidFill>
                <a:latin typeface="Courier New"/>
                <a:ea typeface="Courier New"/>
                <a:cs typeface="Courier New"/>
              </a:rPr>
              <a:t>enumerate</a:t>
            </a:r>
            <a:r>
              <a:rPr lang="en-US" sz="1400" b="0" dirty="0">
                <a:solidFill>
                  <a:srgbClr val="E6E9EF"/>
                </a:solidFill>
                <a:latin typeface="Courier New"/>
                <a:ea typeface="Courier New"/>
                <a:cs typeface="Courier New"/>
              </a:rPr>
              <a:t>() {</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C792EA"/>
                </a:solidFill>
                <a:latin typeface="Courier New"/>
                <a:ea typeface="Courier New"/>
                <a:cs typeface="Courier New"/>
              </a:rPr>
              <a:t>if</a:t>
            </a:r>
            <a:r>
              <a:rPr lang="en-US" sz="1400" b="0" dirty="0">
                <a:solidFill>
                  <a:srgbClr val="E6E9EF"/>
                </a:solidFill>
                <a:latin typeface="Courier New"/>
                <a:ea typeface="Courier New"/>
                <a:cs typeface="Courier New"/>
              </a:rPr>
              <a:t> *x &lt; </a:t>
            </a:r>
            <a:r>
              <a:rPr lang="en-US" sz="1400" b="0" dirty="0">
                <a:solidFill>
                  <a:srgbClr val="F78C6C"/>
                </a:solidFill>
                <a:latin typeface="Courier New"/>
                <a:ea typeface="Courier New"/>
                <a:cs typeface="Courier New"/>
              </a:rPr>
              <a:t>0</a:t>
            </a:r>
            <a:r>
              <a:rPr lang="en-US" sz="1400" b="0" dirty="0">
                <a:solidFill>
                  <a:srgbClr val="E6E9EF"/>
                </a:solidFill>
                <a:latin typeface="Courier New"/>
                <a:ea typeface="Courier New"/>
                <a:cs typeface="Courier New"/>
              </a:rPr>
              <a:t> {</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v.</a:t>
            </a:r>
            <a:r>
              <a:rPr lang="en-US" sz="1400" b="0" dirty="0">
                <a:solidFill>
                  <a:srgbClr val="FFD98C"/>
                </a:solidFill>
                <a:latin typeface="Courier New"/>
                <a:ea typeface="Courier New"/>
                <a:cs typeface="Courier New"/>
              </a:rPr>
              <a:t>remove</a:t>
            </a:r>
            <a:r>
              <a:rPr lang="en-US" sz="1400" b="0" dirty="0">
                <a:solidFill>
                  <a:srgbClr val="E6E9EF"/>
                </a:solidFill>
                <a:latin typeface="Courier New"/>
                <a:ea typeface="Courier New"/>
                <a:cs typeface="Courier New"/>
              </a:rPr>
              <a:t>(i);</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F07178"/>
                </a:solidFill>
                <a:latin typeface="Courier New"/>
                <a:ea typeface="Courier New"/>
                <a:cs typeface="Courier New"/>
              </a:rPr>
              <a:t>// error[E0502]: cannot borrow `v`</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F07178"/>
                </a:solidFill>
                <a:latin typeface="Courier New"/>
                <a:ea typeface="Courier New"/>
                <a:cs typeface="Courier New"/>
              </a:rPr>
              <a:t>// as mutable because it is also</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F07178"/>
                </a:solidFill>
                <a:latin typeface="Courier New"/>
                <a:ea typeface="Courier New"/>
                <a:cs typeface="Courier New"/>
              </a:rPr>
              <a:t>// borrowed as immutable</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v.</a:t>
            </a:r>
            <a:r>
              <a:rPr lang="en-US" sz="1400" b="0" dirty="0">
                <a:solidFill>
                  <a:srgbClr val="FFD98C"/>
                </a:solidFill>
                <a:latin typeface="Courier New"/>
                <a:ea typeface="Courier New"/>
                <a:cs typeface="Courier New"/>
              </a:rPr>
              <a:t>retain</a:t>
            </a:r>
            <a:r>
              <a:rPr lang="en-US" sz="1400" b="0" dirty="0">
                <a:solidFill>
                  <a:srgbClr val="E6E9EF"/>
                </a:solidFill>
                <a:latin typeface="Courier New"/>
                <a:ea typeface="Courier New"/>
                <a:cs typeface="Courier New"/>
              </a:rPr>
              <a:t>(|x| *x &gt;= </a:t>
            </a:r>
            <a:r>
              <a:rPr lang="en-US" sz="1400" b="0" dirty="0">
                <a:solidFill>
                  <a:srgbClr val="F78C6C"/>
                </a:solidFill>
                <a:latin typeface="Courier New"/>
                <a:ea typeface="Courier New"/>
                <a:cs typeface="Courier New"/>
              </a:rPr>
              <a:t>0</a:t>
            </a:r>
            <a:r>
              <a:rPr lang="en-US" sz="1400" b="0" dirty="0">
                <a:solidFill>
                  <a:srgbClr val="E6E9EF"/>
                </a:solidFill>
                <a:latin typeface="Courier New"/>
                <a:ea typeface="Courier New"/>
                <a:cs typeface="Courier New"/>
              </a:rPr>
              <a:t>);  </a:t>
            </a:r>
            <a:r>
              <a:rPr lang="en-US" sz="1400" b="0" dirty="0">
                <a:solidFill>
                  <a:srgbClr val="7EE2A8"/>
                </a:solidFill>
                <a:latin typeface="Courier New"/>
                <a:ea typeface="Courier New"/>
                <a:cs typeface="Courier New"/>
              </a:rPr>
              <a:t>// ok</a:t>
            </a:r>
            <a:endParaRPr lang="en-US" sz="1400" dirty="0">
              <a:latin typeface="Courier New"/>
              <a:cs typeface="Courier New"/>
            </a:endParaRPr>
          </a:p>
        </p:txBody>
      </p:sp>
      <p:sp>
        <p:nvSpPr>
          <p:cNvPr id="134" name="Closing line"/>
          <p:cNvSpPr txBox="1"/>
          <p:nvPr/>
        </p:nvSpPr>
        <p:spPr>
          <a:xfrm>
            <a:off x="932688" y="5943600"/>
            <a:ext cx="10387584" cy="411480"/>
          </a:xfrm>
          <a:prstGeom prst="rect">
            <a:avLst/>
          </a:prstGeom>
          <a:noFill/>
          <a:ln>
            <a:noFill/>
          </a:ln>
        </p:spPr>
        <p:txBody>
          <a:bodyPr wrap="none" lIns="0" tIns="0" rIns="0" bIns="0" rtlCol="0" anchor="t">
            <a:noAutofit/>
          </a:bodyPr>
          <a:lstStyle/>
          <a:p>
            <a:pPr marL="0" indent="0" algn="l">
              <a:buNone/>
            </a:pPr>
            <a:r>
              <a:rPr lang="en-US" sz="1800" b="1" dirty="0">
                <a:solidFill>
                  <a:srgbClr val="1A1A1A"/>
                </a:solidFill>
                <a:latin typeface="Aptos"/>
                <a:ea typeface="Aptos"/>
                <a:cs typeface="Aptos"/>
              </a:rPr>
              <a:t>In Rust nothing can change the vector while the loop is borrowing it.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36408"/>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A data race</a:t>
            </a:r>
            <a:endParaRPr lang="en-US" sz="4400" dirty="0"/>
          </a:p>
        </p:txBody>
      </p:sp>
      <p:sp>
        <p:nvSpPr>
          <p:cNvPr id="135" name="Subline"/>
          <p:cNvSpPr txBox="1"/>
          <p:nvPr/>
        </p:nvSpPr>
        <p:spPr>
          <a:xfrm>
            <a:off x="932688" y="1444752"/>
            <a:ext cx="10387584" cy="329184"/>
          </a:xfrm>
          <a:prstGeom prst="rect">
            <a:avLst/>
          </a:prstGeom>
          <a:noFill/>
          <a:ln>
            <a:noFill/>
          </a:ln>
        </p:spPr>
        <p:txBody>
          <a:bodyPr wrap="none" lIns="0" tIns="0" rIns="0" bIns="0" rtlCol="0" anchor="t">
            <a:noAutofit/>
          </a:bodyPr>
          <a:lstStyle/>
          <a:p>
            <a:pPr marL="0" indent="0" algn="l">
              <a:buNone/>
            </a:pPr>
            <a:r>
              <a:rPr lang="en-US" sz="1600" b="0" dirty="0">
                <a:solidFill>
                  <a:srgbClr val="595959"/>
                </a:solidFill>
                <a:latin typeface="Aptos"/>
                <a:ea typeface="Aptos"/>
                <a:cs typeface="Aptos"/>
              </a:rPr>
              <a:t>Data races. Two threads increment one int. ThreadSanitizer finds it only if a test runs both.</a:t>
            </a:r>
          </a:p>
        </p:txBody>
      </p:sp>
      <p:sp>
        <p:nvSpPr>
          <p:cNvPr id="136" name="C++"/>
          <p:cNvSpPr/>
          <p:nvPr/>
        </p:nvSpPr>
        <p:spPr>
          <a:xfrm>
            <a:off x="932688" y="1865376"/>
            <a:ext cx="685800"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C++</a:t>
            </a:r>
          </a:p>
        </p:txBody>
      </p:sp>
      <p:sp>
        <p:nvSpPr>
          <p:cNvPr id="137" name="C++ panel"/>
          <p:cNvSpPr/>
          <p:nvPr/>
        </p:nvSpPr>
        <p:spPr>
          <a:xfrm>
            <a:off x="932688"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38" name="C++ code"/>
          <p:cNvSpPr txBox="1"/>
          <p:nvPr/>
        </p:nvSpPr>
        <p:spPr>
          <a:xfrm>
            <a:off x="1188720" y="2943149"/>
            <a:ext cx="4562856" cy="1611295"/>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compiles with no warning</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int</a:t>
            </a:r>
            <a:r>
              <a:rPr lang="en-US" sz="1400" b="0" dirty="0">
                <a:solidFill>
                  <a:srgbClr val="E6E9EF"/>
                </a:solidFill>
                <a:latin typeface="Courier New"/>
                <a:ea typeface="Courier New"/>
                <a:cs typeface="Courier New"/>
              </a:rPr>
              <a:t> hits = </a:t>
            </a:r>
            <a:r>
              <a:rPr lang="en-US" sz="1400" b="0" dirty="0">
                <a:solidFill>
                  <a:srgbClr val="F78C6C"/>
                </a:solidFill>
                <a:latin typeface="Courier New"/>
                <a:ea typeface="Courier New"/>
                <a:cs typeface="Courier New"/>
              </a:rPr>
              <a:t>0</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82AAFF"/>
                </a:solidFill>
                <a:latin typeface="Courier New"/>
                <a:ea typeface="Courier New"/>
                <a:cs typeface="Courier New"/>
              </a:rPr>
              <a:t>std::jthread</a:t>
            </a:r>
            <a:r>
              <a:rPr lang="en-US" sz="1400" b="0" dirty="0">
                <a:solidFill>
                  <a:srgbClr val="E6E9EF"/>
                </a:solidFill>
                <a:latin typeface="Courier New"/>
                <a:ea typeface="Courier New"/>
                <a:cs typeface="Courier New"/>
              </a:rPr>
              <a:t> a([&amp;] { ++hits; });</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82AAFF"/>
                </a:solidFill>
                <a:latin typeface="Courier New"/>
                <a:ea typeface="Courier New"/>
                <a:cs typeface="Courier New"/>
              </a:rPr>
              <a:t>std::jthread</a:t>
            </a:r>
            <a:r>
              <a:rPr lang="en-US" sz="1400" b="0" dirty="0">
                <a:solidFill>
                  <a:srgbClr val="E6E9EF"/>
                </a:solidFill>
                <a:latin typeface="Courier New"/>
                <a:ea typeface="Courier New"/>
                <a:cs typeface="Courier New"/>
              </a:rPr>
              <a:t> b([&amp;] { ++hits; });</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8A94A6"/>
                </a:solidFill>
                <a:latin typeface="Courier New"/>
                <a:ea typeface="Courier New"/>
                <a:cs typeface="Courier New"/>
              </a:rPr>
              <a:t>// threads joined</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std::cout &lt;&lt; hits;   </a:t>
            </a:r>
            <a:r>
              <a:rPr lang="en-US" sz="1400" b="0" dirty="0">
                <a:solidFill>
                  <a:srgbClr val="F07178"/>
                </a:solidFill>
                <a:latin typeface="Courier New"/>
                <a:ea typeface="Courier New"/>
                <a:cs typeface="Courier New"/>
              </a:rPr>
              <a:t>// data race</a:t>
            </a:r>
            <a:endParaRPr lang="en-US" sz="1400" dirty="0">
              <a:latin typeface="Courier New"/>
              <a:cs typeface="Courier New"/>
            </a:endParaRPr>
          </a:p>
        </p:txBody>
      </p:sp>
      <p:sp>
        <p:nvSpPr>
          <p:cNvPr id="139" name="Rust"/>
          <p:cNvSpPr/>
          <p:nvPr/>
        </p:nvSpPr>
        <p:spPr>
          <a:xfrm>
            <a:off x="6245352" y="1865376"/>
            <a:ext cx="749808" cy="365760"/>
          </a:xfrm>
          <a:prstGeom prst="roundRect">
            <a:avLst>
              <a:gd name="adj" fmla="val 50000"/>
            </a:avLst>
          </a:prstGeom>
          <a:solidFill>
            <a:srgbClr val="D9D9D9"/>
          </a:solidFill>
          <a:ln>
            <a:noFill/>
          </a:ln>
        </p:spPr>
        <p:txBody>
          <a:bodyPr wrap="none" lIns="0" tIns="0" rIns="0" bIns="7620" rtlCol="0" anchor="ctr">
            <a:noAutofit/>
          </a:bodyPr>
          <a:lstStyle/>
          <a:p>
            <a:pPr marL="0" indent="0" algn="ctr">
              <a:buNone/>
            </a:pPr>
            <a:r>
              <a:rPr lang="en-US" sz="1400" b="1" dirty="0">
                <a:solidFill>
                  <a:srgbClr val="1A1A1A"/>
                </a:solidFill>
                <a:latin typeface="Aptos"/>
                <a:ea typeface="Aptos"/>
                <a:cs typeface="Aptos"/>
              </a:rPr>
              <a:t>Rust</a:t>
            </a:r>
          </a:p>
        </p:txBody>
      </p:sp>
      <p:sp>
        <p:nvSpPr>
          <p:cNvPr id="140" name="Rust panel"/>
          <p:cNvSpPr/>
          <p:nvPr/>
        </p:nvSpPr>
        <p:spPr>
          <a:xfrm>
            <a:off x="6245352" y="2350008"/>
            <a:ext cx="5074920" cy="3200400"/>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41" name="Rust code"/>
          <p:cNvSpPr txBox="1"/>
          <p:nvPr/>
        </p:nvSpPr>
        <p:spPr>
          <a:xfrm>
            <a:off x="6501384" y="2943149"/>
            <a:ext cx="4562856" cy="2014118"/>
          </a:xfrm>
          <a:prstGeom prst="rect">
            <a:avLst/>
          </a:prstGeom>
          <a:noFill/>
        </p:spPr>
        <p:txBody>
          <a:bodyPr wrap="none" lIns="0" tIns="0" rIns="0" bIns="0" rtlCol="0" anchor="t">
            <a:noAutofit/>
          </a:bodyPr>
          <a:lstStyle/>
          <a:p>
            <a:pPr>
              <a:lnSpc>
                <a:spcPct val="100000"/>
              </a:lnSpc>
            </a:pPr>
            <a:r>
              <a:rPr lang="en-US" sz="1400" b="0" dirty="0">
                <a:solidFill>
                  <a:srgbClr val="8A94A6"/>
                </a:solidFill>
                <a:latin typeface="Courier New"/>
                <a:ea typeface="Courier New"/>
                <a:cs typeface="Courier New"/>
              </a:rPr>
              <a:t>// does not compile</a:t>
            </a:r>
            <a:endParaRPr lang="en-US" sz="1400" dirty="0">
              <a:latin typeface="Courier New"/>
              <a:cs typeface="Courier New"/>
            </a:endParaRPr>
          </a:p>
          <a:p>
            <a:pPr>
              <a:lnSpc>
                <a:spcPct val="100000"/>
              </a:lnSpc>
            </a:pPr>
            <a:r>
              <a:rPr lang="en-US" sz="1400" b="0" dirty="0">
                <a:solidFill>
                  <a:srgbClr val="C792EA"/>
                </a:solidFill>
                <a:latin typeface="Courier New"/>
                <a:ea typeface="Courier New"/>
                <a:cs typeface="Courier New"/>
              </a:rPr>
              <a:t>let</a:t>
            </a:r>
            <a:r>
              <a:rPr lang="en-US" sz="1400" b="0" dirty="0">
                <a:solidFill>
                  <a:srgbClr val="E6E9EF"/>
                </a:solidFill>
                <a:latin typeface="Courier New"/>
                <a:ea typeface="Courier New"/>
                <a:cs typeface="Courier New"/>
              </a:rPr>
              <a:t> </a:t>
            </a:r>
            <a:r>
              <a:rPr lang="en-US" sz="1400" b="0" dirty="0">
                <a:solidFill>
                  <a:srgbClr val="C792EA"/>
                </a:solidFill>
                <a:latin typeface="Courier New"/>
                <a:ea typeface="Courier New"/>
                <a:cs typeface="Courier New"/>
              </a:rPr>
              <a:t>mut</a:t>
            </a:r>
            <a:r>
              <a:rPr lang="en-US" sz="1400" b="0" dirty="0">
                <a:solidFill>
                  <a:srgbClr val="E6E9EF"/>
                </a:solidFill>
                <a:latin typeface="Courier New"/>
                <a:ea typeface="Courier New"/>
                <a:cs typeface="Courier New"/>
              </a:rPr>
              <a:t> hits = </a:t>
            </a:r>
            <a:r>
              <a:rPr lang="en-US" sz="1400" b="0" dirty="0">
                <a:solidFill>
                  <a:srgbClr val="F78C6C"/>
                </a:solidFill>
                <a:latin typeface="Courier New"/>
                <a:ea typeface="Courier New"/>
                <a:cs typeface="Courier New"/>
              </a:rPr>
              <a:t>0</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FFD98C"/>
                </a:solidFill>
                <a:latin typeface="Courier New"/>
                <a:ea typeface="Courier New"/>
                <a:cs typeface="Courier New"/>
              </a:rPr>
              <a:t>std::thread::scope</a:t>
            </a:r>
            <a:r>
              <a:rPr lang="en-US" sz="1400" b="0" dirty="0">
                <a:solidFill>
                  <a:srgbClr val="E6E9EF"/>
                </a:solidFill>
                <a:latin typeface="Courier New"/>
                <a:ea typeface="Courier New"/>
                <a:cs typeface="Courier New"/>
              </a:rPr>
              <a:t>(|s| {</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s.</a:t>
            </a:r>
            <a:r>
              <a:rPr lang="en-US" sz="1400" b="0" dirty="0">
                <a:solidFill>
                  <a:srgbClr val="FFD98C"/>
                </a:solidFill>
                <a:latin typeface="Courier New"/>
                <a:ea typeface="Courier New"/>
                <a:cs typeface="Courier New"/>
              </a:rPr>
              <a:t>spawn</a:t>
            </a:r>
            <a:r>
              <a:rPr lang="en-US" sz="1400" b="0" dirty="0">
                <a:solidFill>
                  <a:srgbClr val="E6E9EF"/>
                </a:solidFill>
                <a:latin typeface="Courier New"/>
                <a:ea typeface="Courier New"/>
                <a:cs typeface="Courier New"/>
              </a:rPr>
              <a:t>(|| hits += </a:t>
            </a:r>
            <a:r>
              <a:rPr lang="en-US" sz="1400" b="0" dirty="0">
                <a:solidFill>
                  <a:srgbClr val="F78C6C"/>
                </a:solidFill>
                <a:latin typeface="Courier New"/>
                <a:ea typeface="Courier New"/>
                <a:cs typeface="Courier New"/>
              </a:rPr>
              <a:t>1</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s.</a:t>
            </a:r>
            <a:r>
              <a:rPr lang="en-US" sz="1400" b="0" dirty="0">
                <a:solidFill>
                  <a:srgbClr val="FFD98C"/>
                </a:solidFill>
                <a:latin typeface="Courier New"/>
                <a:ea typeface="Courier New"/>
                <a:cs typeface="Courier New"/>
              </a:rPr>
              <a:t>spawn</a:t>
            </a:r>
            <a:r>
              <a:rPr lang="en-US" sz="1400" b="0" dirty="0">
                <a:solidFill>
                  <a:srgbClr val="E6E9EF"/>
                </a:solidFill>
                <a:latin typeface="Courier New"/>
                <a:ea typeface="Courier New"/>
                <a:cs typeface="Courier New"/>
              </a:rPr>
              <a:t>(|| hits += </a:t>
            </a:r>
            <a:r>
              <a:rPr lang="en-US" sz="1400" b="0" dirty="0">
                <a:solidFill>
                  <a:srgbClr val="F78C6C"/>
                </a:solidFill>
                <a:latin typeface="Courier New"/>
                <a:ea typeface="Courier New"/>
                <a:cs typeface="Courier New"/>
              </a:rPr>
              <a:t>1</a:t>
            </a: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F07178"/>
                </a:solidFill>
                <a:latin typeface="Courier New"/>
                <a:ea typeface="Courier New"/>
                <a:cs typeface="Courier New"/>
              </a:rPr>
              <a:t>// error[E0499]: cannot borrow `hits`</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    </a:t>
            </a:r>
            <a:r>
              <a:rPr lang="en-US" sz="1400" b="0" dirty="0">
                <a:solidFill>
                  <a:srgbClr val="F07178"/>
                </a:solidFill>
                <a:latin typeface="Courier New"/>
                <a:ea typeface="Courier New"/>
                <a:cs typeface="Courier New"/>
              </a:rPr>
              <a:t>// as mutable more than once at a time</a:t>
            </a:r>
            <a:endParaRPr lang="en-US" sz="1400" dirty="0">
              <a:latin typeface="Courier New"/>
              <a:cs typeface="Courier New"/>
            </a:endParaRPr>
          </a:p>
          <a:p>
            <a:pPr>
              <a:lnSpc>
                <a:spcPct val="100000"/>
              </a:lnSpc>
            </a:pPr>
            <a:r>
              <a:rPr lang="en-US" sz="1400" b="0" dirty="0">
                <a:solidFill>
                  <a:srgbClr val="E6E9EF"/>
                </a:solidFill>
                <a:latin typeface="Courier New"/>
                <a:ea typeface="Courier New"/>
                <a:cs typeface="Courier New"/>
              </a:rPr>
              <a:t>});</a:t>
            </a:r>
            <a:endParaRPr lang="en-US" sz="1400" dirty="0">
              <a:latin typeface="Courier New"/>
              <a:cs typeface="Courier New"/>
            </a:endParaRPr>
          </a:p>
          <a:p>
            <a:pPr>
              <a:lnSpc>
                <a:spcPct val="100000"/>
              </a:lnSpc>
            </a:pPr>
            <a:endParaRPr lang="en-US" sz="1400" dirty="0">
              <a:latin typeface="Courier New"/>
              <a:cs typeface="Courier New"/>
            </a:endParaRPr>
          </a:p>
          <a:p>
            <a:pPr>
              <a:lnSpc>
                <a:spcPct val="100000"/>
              </a:lnSpc>
            </a:pPr>
            <a:r>
              <a:rPr lang="en-US" sz="1400" b="0" dirty="0">
                <a:solidFill>
                  <a:srgbClr val="FFD98C"/>
                </a:solidFill>
                <a:latin typeface="Courier New"/>
                <a:ea typeface="Courier New"/>
                <a:cs typeface="Courier New"/>
              </a:rPr>
              <a:t>println!</a:t>
            </a:r>
            <a:r>
              <a:rPr lang="en-US" sz="1400" b="0" dirty="0">
                <a:solidFill>
                  <a:srgbClr val="E6E9EF"/>
                </a:solidFill>
                <a:latin typeface="Courier New"/>
                <a:ea typeface="Courier New"/>
                <a:cs typeface="Courier New"/>
              </a:rPr>
              <a:t>(</a:t>
            </a:r>
            <a:r>
              <a:rPr lang="en-US" sz="1400" b="0" dirty="0">
                <a:solidFill>
                  <a:srgbClr val="C3E88D"/>
                </a:solidFill>
                <a:latin typeface="Courier New"/>
                <a:ea typeface="Courier New"/>
                <a:cs typeface="Courier New"/>
              </a:rPr>
              <a:t>"{hits}"</a:t>
            </a:r>
            <a:r>
              <a:rPr lang="en-US" sz="1400" b="0" dirty="0">
                <a:solidFill>
                  <a:srgbClr val="E6E9EF"/>
                </a:solidFill>
                <a:latin typeface="Courier New"/>
                <a:ea typeface="Courier New"/>
                <a:cs typeface="Courier New"/>
              </a:rPr>
              <a:t>);</a:t>
            </a:r>
            <a:endParaRPr lang="en-US" sz="1400" dirty="0">
              <a:latin typeface="Courier New"/>
              <a:cs typeface="Courier New"/>
            </a:endParaRPr>
          </a:p>
        </p:txBody>
      </p:sp>
      <p:sp>
        <p:nvSpPr>
          <p:cNvPr id="142" name="Closing line"/>
          <p:cNvSpPr txBox="1"/>
          <p:nvPr/>
        </p:nvSpPr>
        <p:spPr>
          <a:xfrm>
            <a:off x="932688" y="5943600"/>
            <a:ext cx="10387584" cy="411480"/>
          </a:xfrm>
          <a:prstGeom prst="rect">
            <a:avLst/>
          </a:prstGeom>
          <a:noFill/>
          <a:ln>
            <a:noFill/>
          </a:ln>
        </p:spPr>
        <p:txBody>
          <a:bodyPr wrap="none" lIns="0" tIns="0" rIns="0" bIns="0" rtlCol="0" anchor="t">
            <a:noAutofit/>
          </a:bodyPr>
          <a:lstStyle/>
          <a:p>
            <a:pPr marL="0" indent="0" algn="l">
              <a:buNone/>
            </a:pPr>
            <a:r>
              <a:rPr lang="en-US" sz="1800" b="1" dirty="0">
                <a:solidFill>
                  <a:srgbClr val="1A1A1A"/>
                </a:solidFill>
                <a:latin typeface="Aptos"/>
                <a:ea typeface="Aptos"/>
                <a:cs typeface="Aptos"/>
              </a:rPr>
              <a:t>In safe Rust two threads cannot both hold a mutable reference to the same data.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795E7-9BE2-B65B-582D-3E1982F5526C}"/>
              </a:ext>
            </a:extLst>
          </p:cNvPr>
          <p:cNvSpPr>
            <a:spLocks noGrp="1"/>
          </p:cNvSpPr>
          <p:nvPr>
            <p:ph type="title"/>
          </p:nvPr>
        </p:nvSpPr>
        <p:spPr/>
        <p:txBody>
          <a:bodyPr/>
          <a:lstStyle/>
          <a:p>
            <a:r>
              <a:rPr lang="en-US" dirty="0"/>
              <a:t>Solution space</a:t>
            </a:r>
          </a:p>
        </p:txBody>
      </p:sp>
      <p:sp>
        <p:nvSpPr>
          <p:cNvPr id="3" name="Text Placeholder 2">
            <a:extLst>
              <a:ext uri="{FF2B5EF4-FFF2-40B4-BE49-F238E27FC236}">
                <a16:creationId xmlns:a16="http://schemas.microsoft.com/office/drawing/2014/main" id="{281673CF-11D2-D267-FD52-408CCFA414DF}"/>
              </a:ext>
            </a:extLst>
          </p:cNvPr>
          <p:cNvSpPr>
            <a:spLocks noGrp="1"/>
          </p:cNvSpPr>
          <p:nvPr>
            <p:ph type="body" idx="1"/>
          </p:nvPr>
        </p:nvSpPr>
        <p:spPr/>
        <p:txBody>
          <a:bodyPr/>
          <a:lstStyle/>
          <a:p>
            <a:endParaRPr lang="en-US"/>
          </a:p>
        </p:txBody>
      </p:sp>
      <p:sp>
        <p:nvSpPr>
          <p:cNvPr id="11" name="TextBox 10">
            <a:extLst>
              <a:ext uri="{FF2B5EF4-FFF2-40B4-BE49-F238E27FC236}">
                <a16:creationId xmlns:a16="http://schemas.microsoft.com/office/drawing/2014/main" id="{2C4A56E0-0FDF-9F1A-BC98-CEC99A77E014}"/>
              </a:ext>
            </a:extLst>
          </p:cNvPr>
          <p:cNvSpPr txBox="1"/>
          <p:nvPr/>
        </p:nvSpPr>
        <p:spPr>
          <a:xfrm>
            <a:off x="831850" y="2906078"/>
            <a:ext cx="1752600" cy="707886"/>
          </a:xfrm>
          <a:prstGeom prst="rect">
            <a:avLst/>
          </a:prstGeom>
          <a:noFill/>
        </p:spPr>
        <p:txBody>
          <a:bodyPr wrap="square" rtlCol="0">
            <a:spAutoFit/>
          </a:bodyPr>
          <a:lstStyle/>
          <a:p>
            <a:r>
              <a:rPr lang="en-US" sz="4000" dirty="0">
                <a:solidFill>
                  <a:schemeClr val="bg1">
                    <a:lumMod val="65000"/>
                  </a:schemeClr>
                </a:solidFill>
              </a:rPr>
              <a:t>Part III</a:t>
            </a:r>
          </a:p>
        </p:txBody>
      </p:sp>
    </p:spTree>
    <p:extLst>
      <p:ext uri="{BB962C8B-B14F-4D97-AF65-F5344CB8AC3E}">
        <p14:creationId xmlns:p14="http://schemas.microsoft.com/office/powerpoint/2010/main" val="3055404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9D46B-18E5-1102-55CE-38991B9B09B2}"/>
              </a:ext>
            </a:extLst>
          </p:cNvPr>
          <p:cNvSpPr>
            <a:spLocks noGrp="1"/>
          </p:cNvSpPr>
          <p:nvPr>
            <p:ph type="title"/>
          </p:nvPr>
        </p:nvSpPr>
        <p:spPr/>
        <p:txBody>
          <a:bodyPr/>
          <a:lstStyle/>
          <a:p>
            <a:r>
              <a:rPr lang="en-US" dirty="0"/>
              <a:t>Solution space</a:t>
            </a:r>
          </a:p>
        </p:txBody>
      </p:sp>
      <p:sp>
        <p:nvSpPr>
          <p:cNvPr id="10" name="Box 10"/>
          <p:cNvSpPr/>
          <p:nvPr/>
        </p:nvSpPr>
        <p:spPr>
          <a:xfrm>
            <a:off x="838200" y="1600000"/>
            <a:ext cx="5157800" cy="1080000"/>
          </a:xfrm>
          <a:prstGeom prst="roundRect">
            <a:avLst>
              <a:gd name="adj" fmla="val 6000"/>
            </a:avLst>
          </a:prstGeom>
          <a:noFill/>
          <a:ln w="12700">
            <a:solidFill>
              <a:srgbClr val="C9C4C1"/>
            </a:solidFill>
          </a:ln>
        </p:spPr>
        <p:txBody>
          <a:bodyPr/>
          <a:lstStyle/>
          <a:p>
            <a:endParaRPr lang="en-US"/>
          </a:p>
        </p:txBody>
      </p:sp>
      <p:sp>
        <p:nvSpPr>
          <p:cNvPr id="11" name="Text 11"/>
          <p:cNvSpPr txBox="1"/>
          <p:nvPr/>
        </p:nvSpPr>
        <p:spPr>
          <a:xfrm>
            <a:off x="1088200" y="16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1</a:t>
            </a:r>
          </a:p>
        </p:txBody>
      </p:sp>
      <p:sp>
        <p:nvSpPr>
          <p:cNvPr id="12" name="Text 12"/>
          <p:cNvSpPr txBox="1"/>
          <p:nvPr/>
        </p:nvSpPr>
        <p:spPr>
          <a:xfrm>
            <a:off x="1638200" y="1600000"/>
            <a:ext cx="4157800" cy="1080000"/>
          </a:xfrm>
          <a:prstGeom prst="rect">
            <a:avLst/>
          </a:prstGeom>
          <a:noFill/>
        </p:spPr>
        <p:txBody>
          <a:bodyPr wrap="square" lIns="0" tIns="0" rIns="0" bIns="0" rtlCol="0" anchor="ctr"/>
          <a:lstStyle/>
          <a:p>
            <a:pPr>
              <a:spcBef>
                <a:spcPts val="0"/>
              </a:spcBef>
            </a:pPr>
            <a:r>
              <a:rPr lang="en-US" b="1" dirty="0">
                <a:solidFill>
                  <a:srgbClr val="1A1A1A"/>
                </a:solidFill>
              </a:rPr>
              <a:t>Use</a:t>
            </a:r>
            <a:r>
              <a:rPr lang="en-US" sz="1800" b="1" dirty="0">
                <a:solidFill>
                  <a:srgbClr val="1A1A1A"/>
                </a:solidFill>
              </a:rPr>
              <a:t> a memory safe language</a:t>
            </a:r>
          </a:p>
          <a:p>
            <a:pPr>
              <a:spcBef>
                <a:spcPts val="300"/>
              </a:spcBef>
            </a:pPr>
            <a:r>
              <a:rPr lang="en-US" sz="1300" b="0" dirty="0">
                <a:solidFill>
                  <a:srgbClr val="595959"/>
                </a:solidFill>
              </a:rPr>
              <a:t>Rust, Swift, Go, C#, Java, Carbon, Cpp2</a:t>
            </a:r>
          </a:p>
        </p:txBody>
      </p:sp>
      <p:sp>
        <p:nvSpPr>
          <p:cNvPr id="13" name="Box 13"/>
          <p:cNvSpPr/>
          <p:nvPr/>
        </p:nvSpPr>
        <p:spPr>
          <a:xfrm>
            <a:off x="838200" y="2800000"/>
            <a:ext cx="5157800" cy="1080000"/>
          </a:xfrm>
          <a:prstGeom prst="roundRect">
            <a:avLst>
              <a:gd name="adj" fmla="val 6000"/>
            </a:avLst>
          </a:prstGeom>
          <a:noFill/>
          <a:ln w="12700">
            <a:solidFill>
              <a:srgbClr val="C9C4C1"/>
            </a:solidFill>
          </a:ln>
        </p:spPr>
        <p:txBody>
          <a:bodyPr/>
          <a:lstStyle/>
          <a:p>
            <a:endParaRPr lang="en-US"/>
          </a:p>
        </p:txBody>
      </p:sp>
      <p:sp>
        <p:nvSpPr>
          <p:cNvPr id="14" name="Text 14"/>
          <p:cNvSpPr txBox="1"/>
          <p:nvPr/>
        </p:nvSpPr>
        <p:spPr>
          <a:xfrm>
            <a:off x="1088200" y="28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2</a:t>
            </a:r>
          </a:p>
        </p:txBody>
      </p:sp>
      <p:sp>
        <p:nvSpPr>
          <p:cNvPr id="15" name="Text 15"/>
          <p:cNvSpPr txBox="1"/>
          <p:nvPr/>
        </p:nvSpPr>
        <p:spPr>
          <a:xfrm>
            <a:off x="1638200" y="2800000"/>
            <a:ext cx="4157800" cy="1080000"/>
          </a:xfrm>
          <a:prstGeom prst="rect">
            <a:avLst/>
          </a:prstGeom>
          <a:noFill/>
        </p:spPr>
        <p:txBody>
          <a:bodyPr wrap="square" lIns="0" tIns="0" rIns="0" bIns="0" rtlCol="0" anchor="ctr"/>
          <a:lstStyle/>
          <a:p>
            <a:pPr>
              <a:spcBef>
                <a:spcPts val="0"/>
              </a:spcBef>
            </a:pPr>
            <a:r>
              <a:rPr lang="en-US" sz="1800" b="1" dirty="0">
                <a:solidFill>
                  <a:srgbClr val="1A1A1A"/>
                </a:solidFill>
              </a:rPr>
              <a:t>Harden the implementation</a:t>
            </a:r>
          </a:p>
          <a:p>
            <a:pPr>
              <a:spcBef>
                <a:spcPts val="300"/>
              </a:spcBef>
            </a:pPr>
            <a:r>
              <a:rPr lang="en-US" sz="1300" b="0" dirty="0">
                <a:solidFill>
                  <a:srgbClr val="595959"/>
                </a:solidFill>
              </a:rPr>
              <a:t>STL, zero-init, allocators, CFI, MTE, Fill-C</a:t>
            </a:r>
          </a:p>
        </p:txBody>
      </p:sp>
      <p:sp>
        <p:nvSpPr>
          <p:cNvPr id="16" name="Box 16"/>
          <p:cNvSpPr/>
          <p:nvPr/>
        </p:nvSpPr>
        <p:spPr>
          <a:xfrm>
            <a:off x="6196000" y="1600000"/>
            <a:ext cx="5157800" cy="1080000"/>
          </a:xfrm>
          <a:prstGeom prst="roundRect">
            <a:avLst>
              <a:gd name="adj" fmla="val 6000"/>
            </a:avLst>
          </a:prstGeom>
          <a:noFill/>
          <a:ln w="12700">
            <a:solidFill>
              <a:srgbClr val="C9C4C1"/>
            </a:solidFill>
          </a:ln>
        </p:spPr>
        <p:txBody>
          <a:bodyPr/>
          <a:lstStyle/>
          <a:p>
            <a:endParaRPr lang="en-US"/>
          </a:p>
        </p:txBody>
      </p:sp>
      <p:sp>
        <p:nvSpPr>
          <p:cNvPr id="17" name="Text 17"/>
          <p:cNvSpPr txBox="1"/>
          <p:nvPr/>
        </p:nvSpPr>
        <p:spPr>
          <a:xfrm>
            <a:off x="6446000" y="16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5</a:t>
            </a:r>
          </a:p>
        </p:txBody>
      </p:sp>
      <p:sp>
        <p:nvSpPr>
          <p:cNvPr id="18" name="Text 18"/>
          <p:cNvSpPr txBox="1"/>
          <p:nvPr/>
        </p:nvSpPr>
        <p:spPr>
          <a:xfrm>
            <a:off x="6996000" y="1600000"/>
            <a:ext cx="4157800" cy="1080000"/>
          </a:xfrm>
          <a:prstGeom prst="rect">
            <a:avLst/>
          </a:prstGeom>
          <a:noFill/>
        </p:spPr>
        <p:txBody>
          <a:bodyPr wrap="square" lIns="0" tIns="0" rIns="0" bIns="0" rtlCol="0" anchor="ctr"/>
          <a:lstStyle/>
          <a:p>
            <a:pPr>
              <a:spcBef>
                <a:spcPts val="0"/>
              </a:spcBef>
            </a:pPr>
            <a:r>
              <a:rPr lang="en-US" sz="1800" b="1" dirty="0">
                <a:solidFill>
                  <a:srgbClr val="1A1A1A"/>
                </a:solidFill>
              </a:rPr>
              <a:t>Change the language</a:t>
            </a:r>
          </a:p>
          <a:p>
            <a:pPr>
              <a:spcBef>
                <a:spcPts val="300"/>
              </a:spcBef>
            </a:pPr>
            <a:r>
              <a:rPr lang="en-US" sz="1300" b="0" dirty="0">
                <a:solidFill>
                  <a:srgbClr val="595959"/>
                </a:solidFill>
              </a:rPr>
              <a:t>Profiles, Contracts, Safe C++, others</a:t>
            </a:r>
          </a:p>
        </p:txBody>
      </p:sp>
      <p:sp>
        <p:nvSpPr>
          <p:cNvPr id="19" name="Box 19"/>
          <p:cNvSpPr/>
          <p:nvPr/>
        </p:nvSpPr>
        <p:spPr>
          <a:xfrm>
            <a:off x="838200" y="4000000"/>
            <a:ext cx="5157800" cy="1080000"/>
          </a:xfrm>
          <a:prstGeom prst="roundRect">
            <a:avLst>
              <a:gd name="adj" fmla="val 6000"/>
            </a:avLst>
          </a:prstGeom>
          <a:noFill/>
          <a:ln w="12700">
            <a:solidFill>
              <a:srgbClr val="C9C4C1"/>
            </a:solidFill>
          </a:ln>
        </p:spPr>
        <p:txBody>
          <a:bodyPr/>
          <a:lstStyle/>
          <a:p>
            <a:endParaRPr lang="en-US"/>
          </a:p>
        </p:txBody>
      </p:sp>
      <p:sp>
        <p:nvSpPr>
          <p:cNvPr id="20" name="Text 20"/>
          <p:cNvSpPr txBox="1"/>
          <p:nvPr/>
        </p:nvSpPr>
        <p:spPr>
          <a:xfrm>
            <a:off x="1088200" y="40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3</a:t>
            </a:r>
          </a:p>
        </p:txBody>
      </p:sp>
      <p:sp>
        <p:nvSpPr>
          <p:cNvPr id="21" name="Text 21"/>
          <p:cNvSpPr txBox="1"/>
          <p:nvPr/>
        </p:nvSpPr>
        <p:spPr>
          <a:xfrm>
            <a:off x="1638200" y="4000000"/>
            <a:ext cx="4157800" cy="1080000"/>
          </a:xfrm>
          <a:prstGeom prst="rect">
            <a:avLst/>
          </a:prstGeom>
          <a:noFill/>
        </p:spPr>
        <p:txBody>
          <a:bodyPr wrap="square" lIns="0" tIns="0" rIns="0" bIns="0" rtlCol="0" anchor="ctr"/>
          <a:lstStyle/>
          <a:p>
            <a:pPr>
              <a:spcBef>
                <a:spcPts val="0"/>
              </a:spcBef>
            </a:pPr>
            <a:r>
              <a:rPr lang="en-US" sz="1800" b="1" dirty="0">
                <a:solidFill>
                  <a:srgbClr val="1A1A1A"/>
                </a:solidFill>
              </a:rPr>
              <a:t>Detection at test time</a:t>
            </a:r>
          </a:p>
          <a:p>
            <a:pPr>
              <a:spcBef>
                <a:spcPts val="300"/>
              </a:spcBef>
            </a:pPr>
            <a:r>
              <a:rPr lang="en-US" sz="1300" b="0" dirty="0">
                <a:solidFill>
                  <a:srgbClr val="595959"/>
                </a:solidFill>
              </a:rPr>
              <a:t>/W4 /WX, -Wall, ASan, static analysis, Valgrind, fuzzing</a:t>
            </a:r>
          </a:p>
        </p:txBody>
      </p:sp>
      <p:sp>
        <p:nvSpPr>
          <p:cNvPr id="22" name="Box 22"/>
          <p:cNvSpPr/>
          <p:nvPr/>
        </p:nvSpPr>
        <p:spPr>
          <a:xfrm>
            <a:off x="838200" y="5200000"/>
            <a:ext cx="5157800" cy="1080000"/>
          </a:xfrm>
          <a:prstGeom prst="roundRect">
            <a:avLst>
              <a:gd name="adj" fmla="val 6000"/>
            </a:avLst>
          </a:prstGeom>
          <a:noFill/>
          <a:ln w="12700">
            <a:solidFill>
              <a:srgbClr val="C9C4C1"/>
            </a:solidFill>
          </a:ln>
        </p:spPr>
        <p:txBody>
          <a:bodyPr/>
          <a:lstStyle/>
          <a:p>
            <a:endParaRPr lang="en-US"/>
          </a:p>
        </p:txBody>
      </p:sp>
      <p:sp>
        <p:nvSpPr>
          <p:cNvPr id="23" name="Text 23"/>
          <p:cNvSpPr txBox="1"/>
          <p:nvPr/>
        </p:nvSpPr>
        <p:spPr>
          <a:xfrm>
            <a:off x="1088200" y="52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4</a:t>
            </a:r>
          </a:p>
        </p:txBody>
      </p:sp>
      <p:sp>
        <p:nvSpPr>
          <p:cNvPr id="24" name="Text 24"/>
          <p:cNvSpPr txBox="1"/>
          <p:nvPr/>
        </p:nvSpPr>
        <p:spPr>
          <a:xfrm>
            <a:off x="1638200" y="5200000"/>
            <a:ext cx="4157800" cy="1080000"/>
          </a:xfrm>
          <a:prstGeom prst="rect">
            <a:avLst/>
          </a:prstGeom>
          <a:noFill/>
        </p:spPr>
        <p:txBody>
          <a:bodyPr wrap="square" lIns="0" tIns="0" rIns="0" bIns="0" rtlCol="0" anchor="ctr"/>
          <a:lstStyle/>
          <a:p>
            <a:pPr>
              <a:spcBef>
                <a:spcPts val="0"/>
              </a:spcBef>
            </a:pPr>
            <a:r>
              <a:rPr lang="en-US" sz="1800" b="1" dirty="0">
                <a:solidFill>
                  <a:srgbClr val="1A1A1A"/>
                </a:solidFill>
              </a:rPr>
              <a:t>Write C++ differently</a:t>
            </a:r>
          </a:p>
          <a:p>
            <a:pPr>
              <a:spcBef>
                <a:spcPts val="300"/>
              </a:spcBef>
            </a:pPr>
            <a:r>
              <a:rPr lang="en-US" sz="1300" b="0" dirty="0">
                <a:solidFill>
                  <a:srgbClr val="595959"/>
                </a:solidFill>
              </a:rPr>
              <a:t>Modern C++ over C in C++, RAII, span, GSL, SafeInt</a:t>
            </a:r>
          </a:p>
        </p:txBody>
      </p:sp>
      <p:sp>
        <p:nvSpPr>
          <p:cNvPr id="25" name="Box 25"/>
          <p:cNvSpPr/>
          <p:nvPr/>
        </p:nvSpPr>
        <p:spPr>
          <a:xfrm>
            <a:off x="6196000" y="2800000"/>
            <a:ext cx="5157800" cy="1080000"/>
          </a:xfrm>
          <a:prstGeom prst="roundRect">
            <a:avLst>
              <a:gd name="adj" fmla="val 6000"/>
            </a:avLst>
          </a:prstGeom>
          <a:noFill/>
          <a:ln w="12700">
            <a:solidFill>
              <a:srgbClr val="C9C4C1"/>
            </a:solidFill>
          </a:ln>
        </p:spPr>
        <p:txBody>
          <a:bodyPr/>
          <a:lstStyle/>
          <a:p>
            <a:endParaRPr lang="en-US"/>
          </a:p>
        </p:txBody>
      </p:sp>
      <p:sp>
        <p:nvSpPr>
          <p:cNvPr id="26" name="Text 26"/>
          <p:cNvSpPr txBox="1"/>
          <p:nvPr/>
        </p:nvSpPr>
        <p:spPr>
          <a:xfrm>
            <a:off x="6446000" y="28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6</a:t>
            </a:r>
          </a:p>
        </p:txBody>
      </p:sp>
      <p:sp>
        <p:nvSpPr>
          <p:cNvPr id="27" name="Text 27"/>
          <p:cNvSpPr txBox="1"/>
          <p:nvPr/>
        </p:nvSpPr>
        <p:spPr>
          <a:xfrm>
            <a:off x="6996000" y="2800001"/>
            <a:ext cx="4157800" cy="1080000"/>
          </a:xfrm>
          <a:prstGeom prst="rect">
            <a:avLst/>
          </a:prstGeom>
          <a:noFill/>
        </p:spPr>
        <p:txBody>
          <a:bodyPr wrap="square" lIns="0" tIns="0" rIns="0" bIns="0" rtlCol="0" anchor="ctr"/>
          <a:lstStyle/>
          <a:p>
            <a:pPr>
              <a:spcBef>
                <a:spcPts val="0"/>
              </a:spcBef>
            </a:pPr>
            <a:r>
              <a:rPr lang="en-US" sz="1800" b="1" dirty="0">
                <a:solidFill>
                  <a:srgbClr val="1A1A1A"/>
                </a:solidFill>
              </a:rPr>
              <a:t>Process and people</a:t>
            </a:r>
          </a:p>
          <a:p>
            <a:pPr>
              <a:spcBef>
                <a:spcPts val="300"/>
              </a:spcBef>
            </a:pPr>
            <a:r>
              <a:rPr lang="en-US" sz="1300" b="0" dirty="0">
                <a:solidFill>
                  <a:srgbClr val="595959"/>
                </a:solidFill>
              </a:rPr>
              <a:t>MISRA, AUTOSAR, CERT, Core Guidelines, Tool and Process adoption</a:t>
            </a:r>
          </a:p>
        </p:txBody>
      </p:sp>
      <p:sp>
        <p:nvSpPr>
          <p:cNvPr id="28" name="Box 28"/>
          <p:cNvSpPr/>
          <p:nvPr/>
        </p:nvSpPr>
        <p:spPr>
          <a:xfrm>
            <a:off x="6196000" y="4000000"/>
            <a:ext cx="5157800" cy="1080000"/>
          </a:xfrm>
          <a:prstGeom prst="roundRect">
            <a:avLst>
              <a:gd name="adj" fmla="val 6000"/>
            </a:avLst>
          </a:prstGeom>
          <a:noFill/>
          <a:ln w="12700">
            <a:solidFill>
              <a:srgbClr val="C9C4C1"/>
            </a:solidFill>
          </a:ln>
        </p:spPr>
        <p:txBody>
          <a:bodyPr/>
          <a:lstStyle/>
          <a:p>
            <a:endParaRPr lang="en-US"/>
          </a:p>
        </p:txBody>
      </p:sp>
      <p:sp>
        <p:nvSpPr>
          <p:cNvPr id="29" name="Text 29"/>
          <p:cNvSpPr txBox="1"/>
          <p:nvPr/>
        </p:nvSpPr>
        <p:spPr>
          <a:xfrm>
            <a:off x="6446000" y="40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7</a:t>
            </a:r>
          </a:p>
        </p:txBody>
      </p:sp>
      <p:sp>
        <p:nvSpPr>
          <p:cNvPr id="30" name="Text 30"/>
          <p:cNvSpPr txBox="1"/>
          <p:nvPr/>
        </p:nvSpPr>
        <p:spPr>
          <a:xfrm>
            <a:off x="6996000" y="4000000"/>
            <a:ext cx="4157800" cy="1080000"/>
          </a:xfrm>
          <a:prstGeom prst="rect">
            <a:avLst/>
          </a:prstGeom>
          <a:noFill/>
        </p:spPr>
        <p:txBody>
          <a:bodyPr wrap="square" lIns="0" tIns="0" rIns="0" bIns="0" rtlCol="0" anchor="ctr"/>
          <a:lstStyle/>
          <a:p>
            <a:pPr>
              <a:spcBef>
                <a:spcPts val="0"/>
              </a:spcBef>
            </a:pPr>
            <a:r>
              <a:rPr lang="en-US" sz="1800" b="1" dirty="0">
                <a:solidFill>
                  <a:srgbClr val="1A1A1A"/>
                </a:solidFill>
              </a:rPr>
              <a:t>Contain and patch</a:t>
            </a:r>
          </a:p>
          <a:p>
            <a:pPr>
              <a:spcBef>
                <a:spcPts val="300"/>
              </a:spcBef>
            </a:pPr>
            <a:r>
              <a:rPr lang="en-US" sz="1300" b="0" dirty="0">
                <a:solidFill>
                  <a:srgbClr val="595959"/>
                </a:solidFill>
              </a:rPr>
              <a:t>Sandboxing, process isolation, RLBox, microVMs, least privilege, auto-update, telemetry, bounties</a:t>
            </a:r>
          </a:p>
        </p:txBody>
      </p:sp>
      <p:sp>
        <p:nvSpPr>
          <p:cNvPr id="6" name="Box 19">
            <a:extLst>
              <a:ext uri="{FF2B5EF4-FFF2-40B4-BE49-F238E27FC236}">
                <a16:creationId xmlns:a16="http://schemas.microsoft.com/office/drawing/2014/main" id="{B1BDC8B9-9F96-BB1D-F0AA-F22F2AE0B484}"/>
              </a:ext>
            </a:extLst>
          </p:cNvPr>
          <p:cNvSpPr/>
          <p:nvPr/>
        </p:nvSpPr>
        <p:spPr>
          <a:xfrm>
            <a:off x="6196000" y="5200000"/>
            <a:ext cx="5157800" cy="1080000"/>
          </a:xfrm>
          <a:prstGeom prst="roundRect">
            <a:avLst>
              <a:gd name="adj" fmla="val 6000"/>
            </a:avLst>
          </a:prstGeom>
          <a:noFill/>
          <a:ln w="12700">
            <a:solidFill>
              <a:srgbClr val="C9C4C1"/>
            </a:solidFill>
          </a:ln>
        </p:spPr>
        <p:txBody>
          <a:bodyPr/>
          <a:lstStyle/>
          <a:p>
            <a:endParaRPr lang="en-US"/>
          </a:p>
        </p:txBody>
      </p:sp>
      <p:sp>
        <p:nvSpPr>
          <p:cNvPr id="8" name="Text 20">
            <a:extLst>
              <a:ext uri="{FF2B5EF4-FFF2-40B4-BE49-F238E27FC236}">
                <a16:creationId xmlns:a16="http://schemas.microsoft.com/office/drawing/2014/main" id="{6E2D1A0A-26C9-4B47-D32C-E4A24E99127C}"/>
              </a:ext>
            </a:extLst>
          </p:cNvPr>
          <p:cNvSpPr txBox="1"/>
          <p:nvPr/>
        </p:nvSpPr>
        <p:spPr>
          <a:xfrm>
            <a:off x="6446000" y="5200000"/>
            <a:ext cx="550000" cy="1080000"/>
          </a:xfrm>
          <a:prstGeom prst="rect">
            <a:avLst/>
          </a:prstGeom>
          <a:noFill/>
        </p:spPr>
        <p:txBody>
          <a:bodyPr wrap="square" lIns="0" tIns="0" rIns="0" bIns="0" rtlCol="0" anchor="ctr"/>
          <a:lstStyle/>
          <a:p>
            <a:pPr>
              <a:spcBef>
                <a:spcPts val="0"/>
              </a:spcBef>
            </a:pPr>
            <a:r>
              <a:rPr lang="en-US" sz="2400" b="1" dirty="0">
                <a:solidFill>
                  <a:srgbClr val="156082"/>
                </a:solidFill>
              </a:rPr>
              <a:t>8</a:t>
            </a:r>
          </a:p>
        </p:txBody>
      </p:sp>
      <p:sp>
        <p:nvSpPr>
          <p:cNvPr id="31" name="Text 21">
            <a:extLst>
              <a:ext uri="{FF2B5EF4-FFF2-40B4-BE49-F238E27FC236}">
                <a16:creationId xmlns:a16="http://schemas.microsoft.com/office/drawing/2014/main" id="{8F08F5F8-E086-509E-4342-53443C0D3EBE}"/>
              </a:ext>
            </a:extLst>
          </p:cNvPr>
          <p:cNvSpPr txBox="1"/>
          <p:nvPr/>
        </p:nvSpPr>
        <p:spPr>
          <a:xfrm>
            <a:off x="6996000" y="5200000"/>
            <a:ext cx="4157800" cy="1080000"/>
          </a:xfrm>
          <a:prstGeom prst="rect">
            <a:avLst/>
          </a:prstGeom>
          <a:noFill/>
        </p:spPr>
        <p:txBody>
          <a:bodyPr wrap="square" lIns="0" tIns="0" rIns="0" bIns="0" rtlCol="0" anchor="ctr"/>
          <a:lstStyle/>
          <a:p>
            <a:pPr>
              <a:spcBef>
                <a:spcPts val="0"/>
              </a:spcBef>
            </a:pPr>
            <a:r>
              <a:rPr lang="en-US" sz="1800" b="1" dirty="0">
                <a:solidFill>
                  <a:srgbClr val="1A1A1A"/>
                </a:solidFill>
              </a:rPr>
              <a:t>Prove it correct</a:t>
            </a:r>
          </a:p>
          <a:p>
            <a:pPr>
              <a:spcBef>
                <a:spcPts val="300"/>
              </a:spcBef>
            </a:pPr>
            <a:r>
              <a:rPr lang="en-US" sz="1300" b="0" dirty="0">
                <a:solidFill>
                  <a:srgbClr val="595959"/>
                </a:solidFill>
              </a:rPr>
              <a:t>Frama-C, Astrée, CBMC, </a:t>
            </a:r>
            <a:r>
              <a:rPr lang="en-US" sz="1300" b="0" dirty="0" err="1">
                <a:solidFill>
                  <a:srgbClr val="595959"/>
                </a:solidFill>
              </a:rPr>
              <a:t>TrustInSoft</a:t>
            </a:r>
            <a:r>
              <a:rPr lang="en-US" sz="1300" b="0" dirty="0">
                <a:solidFill>
                  <a:srgbClr val="595959"/>
                </a:solidFill>
              </a:rPr>
              <a:t>, Contracts, SPARK, seL4</a:t>
            </a:r>
          </a:p>
        </p:txBody>
      </p:sp>
    </p:spTree>
    <p:extLst>
      <p:ext uri="{BB962C8B-B14F-4D97-AF65-F5344CB8AC3E}">
        <p14:creationId xmlns:p14="http://schemas.microsoft.com/office/powerpoint/2010/main" val="24188288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space</a:t>
            </a:r>
          </a:p>
        </p:txBody>
      </p:sp>
      <p:sp>
        <p:nvSpPr>
          <p:cNvPr id="10" name="Card 1"/>
          <p:cNvSpPr/>
          <p:nvPr/>
        </p:nvSpPr>
        <p:spPr>
          <a:xfrm>
            <a:off x="838200" y="1600200"/>
            <a:ext cx="5157800" cy="1078230"/>
          </a:xfrm>
          <a:prstGeom prst="roundRect">
            <a:avLst>
              <a:gd name="adj" fmla="val 6000"/>
            </a:avLst>
          </a:prstGeom>
          <a:noFill/>
          <a:ln w="9525">
            <a:solidFill>
              <a:srgbClr val="C9C4C1"/>
            </a:solidFill>
          </a:ln>
        </p:spPr>
        <p:txBody>
          <a:bodyPr rtlCol="0" anchor="ctr"/>
          <a:lstStyle/>
          <a:p>
            <a:endParaRPr lang="en-US" dirty="0"/>
          </a:p>
        </p:txBody>
      </p:sp>
      <p:sp>
        <p:nvSpPr>
          <p:cNvPr id="11" name="Number 1"/>
          <p:cNvSpPr txBox="1"/>
          <p:nvPr/>
        </p:nvSpPr>
        <p:spPr>
          <a:xfrm>
            <a:off x="1082040" y="160020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solidFill>
                <a:latin typeface="Aptos"/>
                <a:ea typeface="Aptos"/>
                <a:cs typeface="Aptos"/>
              </a:rPr>
              <a:t>1</a:t>
            </a:r>
          </a:p>
        </p:txBody>
      </p:sp>
      <p:sp>
        <p:nvSpPr>
          <p:cNvPr id="12" name="Text 1"/>
          <p:cNvSpPr txBox="1"/>
          <p:nvPr/>
        </p:nvSpPr>
        <p:spPr>
          <a:xfrm>
            <a:off x="1633728" y="160020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solidFill>
                <a:latin typeface="Aptos"/>
                <a:ea typeface="Aptos"/>
                <a:cs typeface="Aptos"/>
              </a:rPr>
              <a:t>Use a memory safe language</a:t>
            </a:r>
          </a:p>
          <a:p>
            <a:pPr marL="0" indent="0">
              <a:spcBef>
                <a:spcPts val="300"/>
              </a:spcBef>
              <a:buNone/>
            </a:pPr>
            <a:r>
              <a:rPr lang="en-US" sz="1300" dirty="0">
                <a:solidFill>
                  <a:srgbClr val="595959"/>
                </a:solidFill>
                <a:latin typeface="Aptos"/>
                <a:ea typeface="Aptos"/>
                <a:cs typeface="Aptos"/>
              </a:rPr>
              <a:t>Rust, Swift, Go, C#, Java, Carbon, Cpp2</a:t>
            </a:r>
          </a:p>
        </p:txBody>
      </p:sp>
      <p:sp>
        <p:nvSpPr>
          <p:cNvPr id="13" name="Card 2"/>
          <p:cNvSpPr/>
          <p:nvPr/>
        </p:nvSpPr>
        <p:spPr>
          <a:xfrm>
            <a:off x="838200" y="2800350"/>
            <a:ext cx="5157800" cy="1078230"/>
          </a:xfrm>
          <a:prstGeom prst="roundRect">
            <a:avLst>
              <a:gd name="adj" fmla="val 6000"/>
            </a:avLst>
          </a:prstGeom>
          <a:noFill/>
          <a:ln w="9525">
            <a:solidFill>
              <a:srgbClr val="C9C4C1"/>
            </a:solidFill>
          </a:ln>
        </p:spPr>
        <p:txBody>
          <a:bodyPr rtlCol="0" anchor="ctr"/>
          <a:lstStyle/>
          <a:p>
            <a:endParaRPr lang="en-US" dirty="0"/>
          </a:p>
        </p:txBody>
      </p:sp>
      <p:sp>
        <p:nvSpPr>
          <p:cNvPr id="14" name="Number 2"/>
          <p:cNvSpPr txBox="1"/>
          <p:nvPr/>
        </p:nvSpPr>
        <p:spPr>
          <a:xfrm>
            <a:off x="1082040" y="280035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solidFill>
                <a:latin typeface="Aptos"/>
                <a:ea typeface="Aptos"/>
                <a:cs typeface="Aptos"/>
              </a:rPr>
              <a:t>2</a:t>
            </a:r>
          </a:p>
        </p:txBody>
      </p:sp>
      <p:sp>
        <p:nvSpPr>
          <p:cNvPr id="15" name="Text 2"/>
          <p:cNvSpPr txBox="1"/>
          <p:nvPr/>
        </p:nvSpPr>
        <p:spPr>
          <a:xfrm>
            <a:off x="1633728" y="280035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solidFill>
                <a:latin typeface="Aptos"/>
                <a:ea typeface="Aptos"/>
                <a:cs typeface="Aptos"/>
              </a:rPr>
              <a:t>Harden the implementation</a:t>
            </a:r>
          </a:p>
          <a:p>
            <a:pPr marL="0" indent="0">
              <a:spcBef>
                <a:spcPts val="300"/>
              </a:spcBef>
              <a:buNone/>
            </a:pPr>
            <a:r>
              <a:rPr lang="en-US" sz="1300" dirty="0">
                <a:solidFill>
                  <a:srgbClr val="595959"/>
                </a:solidFill>
                <a:latin typeface="Aptos"/>
                <a:ea typeface="Aptos"/>
                <a:cs typeface="Aptos"/>
              </a:rPr>
              <a:t>STL, zero-init, allocators, CFI, MTE, Fill-C</a:t>
            </a:r>
          </a:p>
        </p:txBody>
      </p:sp>
      <p:sp>
        <p:nvSpPr>
          <p:cNvPr id="16" name="Card 3"/>
          <p:cNvSpPr/>
          <p:nvPr/>
        </p:nvSpPr>
        <p:spPr>
          <a:xfrm>
            <a:off x="838200" y="4000500"/>
            <a:ext cx="5157800" cy="1078230"/>
          </a:xfrm>
          <a:prstGeom prst="roundRect">
            <a:avLst>
              <a:gd name="adj" fmla="val 6000"/>
            </a:avLst>
          </a:prstGeom>
          <a:noFill/>
          <a:ln w="9525">
            <a:solidFill>
              <a:srgbClr val="C9C4C1"/>
            </a:solidFill>
          </a:ln>
        </p:spPr>
        <p:txBody>
          <a:bodyPr rtlCol="0" anchor="ctr"/>
          <a:lstStyle/>
          <a:p>
            <a:endParaRPr lang="en-US" dirty="0"/>
          </a:p>
        </p:txBody>
      </p:sp>
      <p:sp>
        <p:nvSpPr>
          <p:cNvPr id="17" name="Number 3"/>
          <p:cNvSpPr txBox="1"/>
          <p:nvPr/>
        </p:nvSpPr>
        <p:spPr>
          <a:xfrm>
            <a:off x="1082040" y="400050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solidFill>
                <a:latin typeface="Aptos"/>
                <a:ea typeface="Aptos"/>
                <a:cs typeface="Aptos"/>
              </a:rPr>
              <a:t>3</a:t>
            </a:r>
          </a:p>
        </p:txBody>
      </p:sp>
      <p:sp>
        <p:nvSpPr>
          <p:cNvPr id="18" name="Text 3"/>
          <p:cNvSpPr txBox="1"/>
          <p:nvPr/>
        </p:nvSpPr>
        <p:spPr>
          <a:xfrm>
            <a:off x="1633728" y="400050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solidFill>
                <a:latin typeface="Aptos"/>
                <a:ea typeface="Aptos"/>
                <a:cs typeface="Aptos"/>
              </a:rPr>
              <a:t>Detection at test time</a:t>
            </a:r>
          </a:p>
          <a:p>
            <a:pPr marL="0" indent="0">
              <a:spcBef>
                <a:spcPts val="300"/>
              </a:spcBef>
              <a:buNone/>
            </a:pPr>
            <a:r>
              <a:rPr lang="en-US" sz="1300" dirty="0">
                <a:solidFill>
                  <a:srgbClr val="595959"/>
                </a:solidFill>
                <a:latin typeface="Aptos"/>
                <a:ea typeface="Aptos"/>
                <a:cs typeface="Aptos"/>
              </a:rPr>
              <a:t>/W4 /WX, -Wall, ASan, static analysis, Valgrind, fuzzing</a:t>
            </a:r>
          </a:p>
        </p:txBody>
      </p:sp>
      <p:sp>
        <p:nvSpPr>
          <p:cNvPr id="19" name="Card 4"/>
          <p:cNvSpPr/>
          <p:nvPr/>
        </p:nvSpPr>
        <p:spPr>
          <a:xfrm>
            <a:off x="838200" y="5200650"/>
            <a:ext cx="5157800" cy="1078230"/>
          </a:xfrm>
          <a:prstGeom prst="roundRect">
            <a:avLst>
              <a:gd name="adj" fmla="val 6000"/>
            </a:avLst>
          </a:prstGeom>
          <a:noFill/>
          <a:ln w="9525">
            <a:solidFill>
              <a:srgbClr val="C9C4C1">
                <a:alpha val="25000"/>
              </a:srgbClr>
            </a:solidFill>
          </a:ln>
        </p:spPr>
        <p:txBody>
          <a:bodyPr rtlCol="0" anchor="ctr"/>
          <a:lstStyle/>
          <a:p>
            <a:endParaRPr lang="en-US" dirty="0"/>
          </a:p>
        </p:txBody>
      </p:sp>
      <p:sp>
        <p:nvSpPr>
          <p:cNvPr id="20" name="Number 4"/>
          <p:cNvSpPr txBox="1"/>
          <p:nvPr/>
        </p:nvSpPr>
        <p:spPr>
          <a:xfrm>
            <a:off x="1082040" y="520065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alpha val="25000"/>
                  </a:srgbClr>
                </a:solidFill>
                <a:latin typeface="Aptos"/>
                <a:ea typeface="Aptos"/>
                <a:cs typeface="Aptos"/>
              </a:rPr>
              <a:t>4</a:t>
            </a:r>
          </a:p>
        </p:txBody>
      </p:sp>
      <p:sp>
        <p:nvSpPr>
          <p:cNvPr id="21" name="Text 4"/>
          <p:cNvSpPr txBox="1"/>
          <p:nvPr/>
        </p:nvSpPr>
        <p:spPr>
          <a:xfrm>
            <a:off x="1633728" y="520065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alpha val="25000"/>
                  </a:srgbClr>
                </a:solidFill>
                <a:latin typeface="Aptos"/>
                <a:ea typeface="Aptos"/>
                <a:cs typeface="Aptos"/>
              </a:rPr>
              <a:t>Write C++ differently</a:t>
            </a:r>
          </a:p>
          <a:p>
            <a:pPr marL="0" indent="0">
              <a:spcBef>
                <a:spcPts val="300"/>
              </a:spcBef>
              <a:buNone/>
            </a:pPr>
            <a:r>
              <a:rPr lang="en-US" sz="1300" dirty="0">
                <a:solidFill>
                  <a:srgbClr val="595959">
                    <a:alpha val="25000"/>
                  </a:srgbClr>
                </a:solidFill>
                <a:latin typeface="Aptos"/>
                <a:ea typeface="Aptos"/>
                <a:cs typeface="Aptos"/>
              </a:rPr>
              <a:t>Modern C++ over C in C++, RAII, span, GSL, SafeInt</a:t>
            </a:r>
          </a:p>
        </p:txBody>
      </p:sp>
      <p:sp>
        <p:nvSpPr>
          <p:cNvPr id="22" name="Card 5"/>
          <p:cNvSpPr/>
          <p:nvPr/>
        </p:nvSpPr>
        <p:spPr>
          <a:xfrm>
            <a:off x="6196000" y="1600200"/>
            <a:ext cx="5157800" cy="1078230"/>
          </a:xfrm>
          <a:prstGeom prst="roundRect">
            <a:avLst>
              <a:gd name="adj" fmla="val 6000"/>
            </a:avLst>
          </a:prstGeom>
          <a:noFill/>
          <a:ln w="9525">
            <a:solidFill>
              <a:srgbClr val="C9C4C1"/>
            </a:solidFill>
          </a:ln>
        </p:spPr>
        <p:txBody>
          <a:bodyPr rtlCol="0" anchor="ctr"/>
          <a:lstStyle/>
          <a:p>
            <a:endParaRPr lang="en-US" dirty="0"/>
          </a:p>
        </p:txBody>
      </p:sp>
      <p:sp>
        <p:nvSpPr>
          <p:cNvPr id="23" name="Number 5"/>
          <p:cNvSpPr txBox="1"/>
          <p:nvPr/>
        </p:nvSpPr>
        <p:spPr>
          <a:xfrm>
            <a:off x="6439840" y="160020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solidFill>
                <a:latin typeface="Aptos"/>
                <a:ea typeface="Aptos"/>
                <a:cs typeface="Aptos"/>
              </a:rPr>
              <a:t>5</a:t>
            </a:r>
          </a:p>
        </p:txBody>
      </p:sp>
      <p:sp>
        <p:nvSpPr>
          <p:cNvPr id="24" name="Text 5"/>
          <p:cNvSpPr txBox="1"/>
          <p:nvPr/>
        </p:nvSpPr>
        <p:spPr>
          <a:xfrm>
            <a:off x="6991528" y="160020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solidFill>
                <a:latin typeface="Aptos"/>
                <a:ea typeface="Aptos"/>
                <a:cs typeface="Aptos"/>
              </a:rPr>
              <a:t>Change the language</a:t>
            </a:r>
          </a:p>
          <a:p>
            <a:pPr marL="0" indent="0">
              <a:spcBef>
                <a:spcPts val="300"/>
              </a:spcBef>
              <a:buNone/>
            </a:pPr>
            <a:r>
              <a:rPr lang="en-US" sz="1300" dirty="0">
                <a:solidFill>
                  <a:srgbClr val="595959"/>
                </a:solidFill>
                <a:latin typeface="Aptos"/>
                <a:ea typeface="Aptos"/>
                <a:cs typeface="Aptos"/>
              </a:rPr>
              <a:t>Profiles, Contracts, Safe C++, others</a:t>
            </a:r>
          </a:p>
        </p:txBody>
      </p:sp>
      <p:sp>
        <p:nvSpPr>
          <p:cNvPr id="25" name="Card 6"/>
          <p:cNvSpPr/>
          <p:nvPr/>
        </p:nvSpPr>
        <p:spPr>
          <a:xfrm>
            <a:off x="6196000" y="2800350"/>
            <a:ext cx="5157800" cy="1078230"/>
          </a:xfrm>
          <a:prstGeom prst="roundRect">
            <a:avLst>
              <a:gd name="adj" fmla="val 6000"/>
            </a:avLst>
          </a:prstGeom>
          <a:noFill/>
          <a:ln w="9525">
            <a:solidFill>
              <a:srgbClr val="C9C4C1"/>
            </a:solidFill>
          </a:ln>
        </p:spPr>
        <p:txBody>
          <a:bodyPr rtlCol="0" anchor="ctr"/>
          <a:lstStyle/>
          <a:p>
            <a:endParaRPr lang="en-US" dirty="0"/>
          </a:p>
        </p:txBody>
      </p:sp>
      <p:sp>
        <p:nvSpPr>
          <p:cNvPr id="26" name="Number 6"/>
          <p:cNvSpPr txBox="1"/>
          <p:nvPr/>
        </p:nvSpPr>
        <p:spPr>
          <a:xfrm>
            <a:off x="6439840" y="280035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solidFill>
                <a:latin typeface="Aptos"/>
                <a:ea typeface="Aptos"/>
                <a:cs typeface="Aptos"/>
              </a:rPr>
              <a:t>6</a:t>
            </a:r>
          </a:p>
        </p:txBody>
      </p:sp>
      <p:sp>
        <p:nvSpPr>
          <p:cNvPr id="27" name="Text 6"/>
          <p:cNvSpPr txBox="1"/>
          <p:nvPr/>
        </p:nvSpPr>
        <p:spPr>
          <a:xfrm>
            <a:off x="6991528" y="280035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solidFill>
                <a:latin typeface="Aptos"/>
                <a:ea typeface="Aptos"/>
                <a:cs typeface="Aptos"/>
              </a:rPr>
              <a:t>Process and people</a:t>
            </a:r>
          </a:p>
          <a:p>
            <a:pPr marL="0" indent="0">
              <a:spcBef>
                <a:spcPts val="300"/>
              </a:spcBef>
              <a:buNone/>
            </a:pPr>
            <a:r>
              <a:rPr lang="en-US" sz="1300" dirty="0">
                <a:solidFill>
                  <a:srgbClr val="595959"/>
                </a:solidFill>
                <a:latin typeface="Aptos"/>
                <a:ea typeface="Aptos"/>
                <a:cs typeface="Aptos"/>
              </a:rPr>
              <a:t>MISRA, AUTOSAR, CERT, Core Guidelines, Tool and Process adoption</a:t>
            </a:r>
          </a:p>
        </p:txBody>
      </p:sp>
      <p:sp>
        <p:nvSpPr>
          <p:cNvPr id="28" name="Card 7"/>
          <p:cNvSpPr/>
          <p:nvPr/>
        </p:nvSpPr>
        <p:spPr>
          <a:xfrm>
            <a:off x="6196000" y="4000500"/>
            <a:ext cx="5157800" cy="1078230"/>
          </a:xfrm>
          <a:prstGeom prst="roundRect">
            <a:avLst>
              <a:gd name="adj" fmla="val 6000"/>
            </a:avLst>
          </a:prstGeom>
          <a:noFill/>
          <a:ln w="9525">
            <a:solidFill>
              <a:srgbClr val="C9C4C1">
                <a:alpha val="25000"/>
              </a:srgbClr>
            </a:solidFill>
          </a:ln>
        </p:spPr>
        <p:txBody>
          <a:bodyPr rtlCol="0" anchor="ctr"/>
          <a:lstStyle/>
          <a:p>
            <a:endParaRPr lang="en-US" dirty="0"/>
          </a:p>
        </p:txBody>
      </p:sp>
      <p:sp>
        <p:nvSpPr>
          <p:cNvPr id="29" name="Number 7"/>
          <p:cNvSpPr txBox="1"/>
          <p:nvPr/>
        </p:nvSpPr>
        <p:spPr>
          <a:xfrm>
            <a:off x="6439840" y="400050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alpha val="25000"/>
                  </a:srgbClr>
                </a:solidFill>
                <a:latin typeface="Aptos"/>
                <a:ea typeface="Aptos"/>
                <a:cs typeface="Aptos"/>
              </a:rPr>
              <a:t>7</a:t>
            </a:r>
          </a:p>
        </p:txBody>
      </p:sp>
      <p:sp>
        <p:nvSpPr>
          <p:cNvPr id="30" name="Text 7"/>
          <p:cNvSpPr txBox="1"/>
          <p:nvPr/>
        </p:nvSpPr>
        <p:spPr>
          <a:xfrm>
            <a:off x="6991528" y="400050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alpha val="25000"/>
                  </a:srgbClr>
                </a:solidFill>
                <a:latin typeface="Aptos"/>
                <a:ea typeface="Aptos"/>
                <a:cs typeface="Aptos"/>
              </a:rPr>
              <a:t>Contain and patch</a:t>
            </a:r>
          </a:p>
          <a:p>
            <a:pPr marL="0" indent="0">
              <a:spcBef>
                <a:spcPts val="300"/>
              </a:spcBef>
              <a:buNone/>
            </a:pPr>
            <a:r>
              <a:rPr lang="en-US" sz="1300" dirty="0">
                <a:solidFill>
                  <a:srgbClr val="595959">
                    <a:alpha val="25000"/>
                  </a:srgbClr>
                </a:solidFill>
                <a:latin typeface="Aptos"/>
                <a:ea typeface="Aptos"/>
                <a:cs typeface="Aptos"/>
              </a:rPr>
              <a:t>Sandboxing, process isolation, RLBox, microVMs, least privilege, auto-update, telemetry, bounties</a:t>
            </a:r>
          </a:p>
        </p:txBody>
      </p:sp>
      <p:sp>
        <p:nvSpPr>
          <p:cNvPr id="31" name="Card 8"/>
          <p:cNvSpPr/>
          <p:nvPr/>
        </p:nvSpPr>
        <p:spPr>
          <a:xfrm>
            <a:off x="6196000" y="5200650"/>
            <a:ext cx="5157800" cy="1078230"/>
          </a:xfrm>
          <a:prstGeom prst="roundRect">
            <a:avLst>
              <a:gd name="adj" fmla="val 6000"/>
            </a:avLst>
          </a:prstGeom>
          <a:noFill/>
          <a:ln w="9525">
            <a:solidFill>
              <a:srgbClr val="C9C4C1">
                <a:alpha val="25000"/>
              </a:srgbClr>
            </a:solidFill>
          </a:ln>
        </p:spPr>
        <p:txBody>
          <a:bodyPr rtlCol="0" anchor="ctr"/>
          <a:lstStyle/>
          <a:p>
            <a:endParaRPr lang="en-US" dirty="0"/>
          </a:p>
        </p:txBody>
      </p:sp>
      <p:sp>
        <p:nvSpPr>
          <p:cNvPr id="32" name="Number 8"/>
          <p:cNvSpPr txBox="1"/>
          <p:nvPr/>
        </p:nvSpPr>
        <p:spPr>
          <a:xfrm>
            <a:off x="6439840" y="5200650"/>
            <a:ext cx="560000" cy="1078230"/>
          </a:xfrm>
          <a:prstGeom prst="rect">
            <a:avLst/>
          </a:prstGeom>
          <a:noFill/>
        </p:spPr>
        <p:txBody>
          <a:bodyPr wrap="square" lIns="0" tIns="0" rIns="0" bIns="0" rtlCol="0" anchor="ctr">
            <a:noAutofit/>
          </a:bodyPr>
          <a:lstStyle/>
          <a:p>
            <a:pPr marL="0" indent="0">
              <a:buNone/>
            </a:pPr>
            <a:r>
              <a:rPr lang="en-US" sz="2400" b="1" dirty="0">
                <a:solidFill>
                  <a:srgbClr val="156082">
                    <a:alpha val="25000"/>
                  </a:srgbClr>
                </a:solidFill>
                <a:latin typeface="Aptos"/>
                <a:ea typeface="Aptos"/>
                <a:cs typeface="Aptos"/>
              </a:rPr>
              <a:t>8</a:t>
            </a:r>
          </a:p>
        </p:txBody>
      </p:sp>
      <p:sp>
        <p:nvSpPr>
          <p:cNvPr id="33" name="Text 8"/>
          <p:cNvSpPr txBox="1"/>
          <p:nvPr/>
        </p:nvSpPr>
        <p:spPr>
          <a:xfrm>
            <a:off x="6991528" y="5200650"/>
            <a:ext cx="4059936" cy="1078230"/>
          </a:xfrm>
          <a:prstGeom prst="rect">
            <a:avLst/>
          </a:prstGeom>
          <a:noFill/>
        </p:spPr>
        <p:txBody>
          <a:bodyPr wrap="square" lIns="0" tIns="0" rIns="0" bIns="0" rtlCol="0" anchor="ctr">
            <a:noAutofit/>
          </a:bodyPr>
          <a:lstStyle/>
          <a:p>
            <a:pPr marL="0" indent="0">
              <a:buNone/>
            </a:pPr>
            <a:r>
              <a:rPr lang="en-US" sz="1800" b="1" dirty="0">
                <a:solidFill>
                  <a:srgbClr val="1A1A1A">
                    <a:alpha val="25000"/>
                  </a:srgbClr>
                </a:solidFill>
                <a:latin typeface="Aptos"/>
                <a:ea typeface="Aptos"/>
                <a:cs typeface="Aptos"/>
              </a:rPr>
              <a:t>Prove it correct</a:t>
            </a:r>
          </a:p>
          <a:p>
            <a:pPr marL="0" indent="0">
              <a:spcBef>
                <a:spcPts val="300"/>
              </a:spcBef>
              <a:buNone/>
            </a:pPr>
            <a:r>
              <a:rPr lang="en-US" sz="1300" dirty="0">
                <a:solidFill>
                  <a:srgbClr val="595959">
                    <a:alpha val="25000"/>
                  </a:srgbClr>
                </a:solidFill>
                <a:latin typeface="Aptos"/>
                <a:ea typeface="Aptos"/>
                <a:cs typeface="Aptos"/>
              </a:rPr>
              <a:t>Frama-C, Astrée, CBMC, TrustInSoft, Contracts, SPARK, seL4</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9D46B-18E5-1102-55CE-38991B9B09B2}"/>
              </a:ext>
            </a:extLst>
          </p:cNvPr>
          <p:cNvSpPr>
            <a:spLocks noGrp="1"/>
          </p:cNvSpPr>
          <p:nvPr>
            <p:ph type="title"/>
          </p:nvPr>
        </p:nvSpPr>
        <p:spPr/>
        <p:txBody>
          <a:bodyPr/>
          <a:lstStyle/>
          <a:p>
            <a:r>
              <a:rPr lang="en-US" dirty="0"/>
              <a:t>Use a memory safe language</a:t>
            </a:r>
          </a:p>
        </p:txBody>
      </p:sp>
      <p:sp>
        <p:nvSpPr>
          <p:cNvPr id="10" name="Text 10"/>
          <p:cNvSpPr txBox="1"/>
          <p:nvPr/>
        </p:nvSpPr>
        <p:spPr>
          <a:xfrm>
            <a:off x="967740" y="1690688"/>
            <a:ext cx="5007800" cy="450000"/>
          </a:xfrm>
          <a:prstGeom prst="rect">
            <a:avLst/>
          </a:prstGeom>
          <a:noFill/>
        </p:spPr>
        <p:txBody>
          <a:bodyPr wrap="square" lIns="0" tIns="0" rIns="0" bIns="0" rtlCol="0" anchor="b"/>
          <a:lstStyle/>
          <a:p>
            <a:pPr algn="l">
              <a:spcBef>
                <a:spcPts val="0"/>
              </a:spcBef>
            </a:pPr>
            <a:r>
              <a:rPr lang="en-US" sz="2400" b="1" dirty="0">
                <a:solidFill>
                  <a:srgbClr val="1A1A1A"/>
                </a:solidFill>
                <a:latin typeface="Aptos" panose="020B0004020202020204" pitchFamily="34" charset="0"/>
              </a:rPr>
              <a:t>Leave</a:t>
            </a:r>
          </a:p>
        </p:txBody>
      </p:sp>
      <p:sp>
        <p:nvSpPr>
          <p:cNvPr id="11" name="Rect 11"/>
          <p:cNvSpPr/>
          <p:nvPr/>
        </p:nvSpPr>
        <p:spPr>
          <a:xfrm>
            <a:off x="967740" y="2190688"/>
            <a:ext cx="5007800" cy="12700"/>
          </a:xfrm>
          <a:prstGeom prst="roundRect">
            <a:avLst>
              <a:gd name="adj" fmla="val 0"/>
            </a:avLst>
          </a:prstGeom>
          <a:solidFill>
            <a:srgbClr val="C9C4C1"/>
          </a:solidFill>
          <a:ln>
            <a:noFill/>
          </a:ln>
        </p:spPr>
        <p:txBody>
          <a:bodyPr/>
          <a:lstStyle/>
          <a:p>
            <a:endParaRPr lang="en-US"/>
          </a:p>
        </p:txBody>
      </p:sp>
      <p:sp>
        <p:nvSpPr>
          <p:cNvPr id="12" name="Text 12"/>
          <p:cNvSpPr txBox="1"/>
          <p:nvPr/>
        </p:nvSpPr>
        <p:spPr>
          <a:xfrm>
            <a:off x="967740" y="2370688"/>
            <a:ext cx="5007800" cy="3800000"/>
          </a:xfrm>
          <a:prstGeom prst="rect">
            <a:avLst/>
          </a:prstGeom>
          <a:noFill/>
        </p:spPr>
        <p:txBody>
          <a:bodyPr wrap="square" lIns="0" tIns="0" rIns="0" bIns="0" rtlCol="0" anchor="t"/>
          <a:lstStyle/>
          <a:p>
            <a:pPr marL="285750" indent="-285750" algn="l">
              <a:spcBef>
                <a:spcPts val="1000"/>
              </a:spcBef>
              <a:buClr>
                <a:srgbClr val="156082"/>
              </a:buClr>
              <a:buFont typeface="Arial"/>
              <a:buChar char="•"/>
            </a:pPr>
            <a:r>
              <a:rPr lang="en-US" sz="2000" b="0" dirty="0">
                <a:solidFill>
                  <a:srgbClr val="1A1A1A"/>
                </a:solidFill>
                <a:latin typeface="Aptos" panose="020B0004020202020204" pitchFamily="34" charset="0"/>
              </a:rPr>
              <a:t>Rust, Swift and Go are safe by design</a:t>
            </a:r>
          </a:p>
          <a:p>
            <a:pPr marL="285750" indent="-285750" algn="l">
              <a:spcBef>
                <a:spcPts val="1000"/>
              </a:spcBef>
              <a:buClr>
                <a:srgbClr val="156082"/>
              </a:buClr>
              <a:buFont typeface="Arial"/>
              <a:buChar char="•"/>
            </a:pPr>
            <a:r>
              <a:rPr lang="en-US" sz="2000" b="0" dirty="0">
                <a:solidFill>
                  <a:srgbClr val="1A1A1A"/>
                </a:solidFill>
                <a:latin typeface="Aptos" panose="020B0004020202020204" pitchFamily="34" charset="0"/>
              </a:rPr>
              <a:t>5M Rust developers and climbing, TIOBE top 10</a:t>
            </a:r>
          </a:p>
          <a:p>
            <a:pPr marL="285750" indent="-285750" algn="l">
              <a:spcBef>
                <a:spcPts val="1000"/>
              </a:spcBef>
              <a:buClr>
                <a:srgbClr val="156082"/>
              </a:buClr>
              <a:buFont typeface="Arial"/>
              <a:buChar char="•"/>
            </a:pPr>
            <a:r>
              <a:rPr lang="en-US" sz="2000" b="0" dirty="0">
                <a:solidFill>
                  <a:srgbClr val="1A1A1A"/>
                </a:solidFill>
                <a:latin typeface="Aptos" panose="020B0004020202020204" pitchFamily="34" charset="0"/>
              </a:rPr>
              <a:t>Write new code safe, leave old code alone</a:t>
            </a:r>
          </a:p>
          <a:p>
            <a:pPr marL="285750" indent="-285750" algn="l">
              <a:spcBef>
                <a:spcPts val="1000"/>
              </a:spcBef>
              <a:buClr>
                <a:srgbClr val="156082"/>
              </a:buClr>
              <a:buFont typeface="Arial"/>
              <a:buChar char="•"/>
            </a:pPr>
            <a:r>
              <a:rPr lang="en-US" sz="2000" b="0" dirty="0">
                <a:solidFill>
                  <a:srgbClr val="1A1A1A"/>
                </a:solidFill>
                <a:latin typeface="Aptos" panose="020B0004020202020204" pitchFamily="34" charset="0"/>
              </a:rPr>
              <a:t>Rewrite old code to memory safe languages</a:t>
            </a:r>
          </a:p>
        </p:txBody>
      </p:sp>
      <p:sp>
        <p:nvSpPr>
          <p:cNvPr id="13" name="Text 13"/>
          <p:cNvSpPr txBox="1"/>
          <p:nvPr/>
        </p:nvSpPr>
        <p:spPr>
          <a:xfrm>
            <a:off x="6475540" y="1690688"/>
            <a:ext cx="5007800" cy="450000"/>
          </a:xfrm>
          <a:prstGeom prst="rect">
            <a:avLst/>
          </a:prstGeom>
          <a:noFill/>
        </p:spPr>
        <p:txBody>
          <a:bodyPr wrap="square" lIns="0" tIns="0" rIns="0" bIns="0" rtlCol="0" anchor="b"/>
          <a:lstStyle/>
          <a:p>
            <a:pPr algn="l">
              <a:spcBef>
                <a:spcPts val="0"/>
              </a:spcBef>
            </a:pPr>
            <a:r>
              <a:rPr lang="en-US" sz="2400" b="1" dirty="0">
                <a:solidFill>
                  <a:srgbClr val="1A1A1A"/>
                </a:solidFill>
                <a:latin typeface="Aptos" panose="020B0004020202020204" pitchFamily="34" charset="0"/>
              </a:rPr>
              <a:t>Stay</a:t>
            </a:r>
          </a:p>
        </p:txBody>
      </p:sp>
      <p:sp>
        <p:nvSpPr>
          <p:cNvPr id="14" name="Rect 14"/>
          <p:cNvSpPr/>
          <p:nvPr/>
        </p:nvSpPr>
        <p:spPr>
          <a:xfrm>
            <a:off x="6475540" y="2190688"/>
            <a:ext cx="5007800" cy="12700"/>
          </a:xfrm>
          <a:prstGeom prst="roundRect">
            <a:avLst>
              <a:gd name="adj" fmla="val 0"/>
            </a:avLst>
          </a:prstGeom>
          <a:solidFill>
            <a:srgbClr val="C9C4C1"/>
          </a:solidFill>
          <a:ln>
            <a:noFill/>
          </a:ln>
        </p:spPr>
        <p:txBody>
          <a:bodyPr/>
          <a:lstStyle/>
          <a:p>
            <a:endParaRPr lang="en-US"/>
          </a:p>
        </p:txBody>
      </p:sp>
      <p:sp>
        <p:nvSpPr>
          <p:cNvPr id="15" name="Text 15"/>
          <p:cNvSpPr txBox="1"/>
          <p:nvPr/>
        </p:nvSpPr>
        <p:spPr>
          <a:xfrm>
            <a:off x="6475540" y="2370688"/>
            <a:ext cx="5007800" cy="3800000"/>
          </a:xfrm>
          <a:prstGeom prst="rect">
            <a:avLst/>
          </a:prstGeom>
          <a:noFill/>
        </p:spPr>
        <p:txBody>
          <a:bodyPr wrap="square" lIns="0" tIns="0" rIns="0" bIns="0" rtlCol="0" anchor="t"/>
          <a:lstStyle/>
          <a:p>
            <a:pPr marL="285750" indent="-285750" algn="l">
              <a:spcBef>
                <a:spcPts val="1000"/>
              </a:spcBef>
              <a:buClr>
                <a:srgbClr val="156082"/>
              </a:buClr>
              <a:buFont typeface="Arial"/>
              <a:buChar char="•"/>
            </a:pPr>
            <a:r>
              <a:rPr lang="en-US" sz="2000" b="0" dirty="0">
                <a:latin typeface="Aptos" panose="020B0004020202020204" pitchFamily="34" charset="0"/>
              </a:rPr>
              <a:t>Nobody can rewrite tens of billions of lines</a:t>
            </a:r>
          </a:p>
          <a:p>
            <a:pPr marL="285750" indent="-285750" algn="l">
              <a:spcBef>
                <a:spcPts val="1000"/>
              </a:spcBef>
              <a:buClr>
                <a:srgbClr val="156082"/>
              </a:buClr>
              <a:buFont typeface="Arial"/>
              <a:buChar char="•"/>
            </a:pPr>
            <a:r>
              <a:rPr lang="en-US" sz="2000" b="0" dirty="0">
                <a:latin typeface="Aptos" panose="020B0004020202020204" pitchFamily="34" charset="0"/>
              </a:rPr>
              <a:t>Memory safety is one problem out of a dozen</a:t>
            </a:r>
          </a:p>
          <a:p>
            <a:pPr marL="285750" indent="-285750" algn="l">
              <a:spcBef>
                <a:spcPts val="1000"/>
              </a:spcBef>
              <a:buClr>
                <a:srgbClr val="156082"/>
              </a:buClr>
              <a:buFont typeface="Arial"/>
              <a:buChar char="•"/>
            </a:pPr>
            <a:r>
              <a:rPr lang="en-US" sz="2000" b="0" dirty="0">
                <a:latin typeface="Aptos" panose="020B0004020202020204" pitchFamily="34" charset="0"/>
              </a:rPr>
              <a:t>Today's bugs stay right where they are</a:t>
            </a:r>
          </a:p>
          <a:p>
            <a:pPr marL="285750" indent="-285750" algn="l">
              <a:spcBef>
                <a:spcPts val="1000"/>
              </a:spcBef>
              <a:buClr>
                <a:srgbClr val="156082"/>
              </a:buClr>
              <a:buFont typeface="Arial"/>
              <a:buChar char="•"/>
            </a:pPr>
            <a:r>
              <a:rPr lang="en-US" sz="2000" b="0" dirty="0">
                <a:latin typeface="Aptos" panose="020B0004020202020204" pitchFamily="34" charset="0"/>
              </a:rPr>
              <a:t>C++ gained more developers last year than Rust ever had</a:t>
            </a:r>
          </a:p>
        </p:txBody>
      </p:sp>
    </p:spTree>
    <p:extLst>
      <p:ext uri="{BB962C8B-B14F-4D97-AF65-F5344CB8AC3E}">
        <p14:creationId xmlns:p14="http://schemas.microsoft.com/office/powerpoint/2010/main" val="12140037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6357F-D894-D81C-1E3A-6AFD392A7E33}"/>
              </a:ext>
            </a:extLst>
          </p:cNvPr>
          <p:cNvSpPr>
            <a:spLocks noGrp="1"/>
          </p:cNvSpPr>
          <p:nvPr>
            <p:ph type="title"/>
          </p:nvPr>
        </p:nvSpPr>
        <p:spPr/>
        <p:txBody>
          <a:bodyPr/>
          <a:lstStyle/>
          <a:p>
            <a:r>
              <a:rPr lang="en-US" dirty="0"/>
              <a:t>Tooling</a:t>
            </a:r>
          </a:p>
        </p:txBody>
      </p:sp>
      <p:sp>
        <p:nvSpPr>
          <p:cNvPr id="3" name="Text Placeholder 2">
            <a:extLst>
              <a:ext uri="{FF2B5EF4-FFF2-40B4-BE49-F238E27FC236}">
                <a16:creationId xmlns:a16="http://schemas.microsoft.com/office/drawing/2014/main" id="{ECFF3563-D76F-9ACE-2AA3-21031C4E8FF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07957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0"/>
          <p:cNvSpPr txBox="1"/>
          <p:nvPr/>
        </p:nvSpPr>
        <p:spPr>
          <a:xfrm>
            <a:off x="3977640" y="1828800"/>
            <a:ext cx="1844802" cy="320040"/>
          </a:xfrm>
          <a:prstGeom prst="rect">
            <a:avLst/>
          </a:prstGeom>
          <a:noFill/>
          <a:ln/>
        </p:spPr>
        <p:txBody>
          <a:bodyPr wrap="square" lIns="0" tIns="0" rIns="0" bIns="0" rtlCol="0" anchor="ctr"/>
          <a:lstStyle/>
          <a:p>
            <a:pPr marL="0" indent="0" algn="ctr">
              <a:buNone/>
            </a:pPr>
            <a:r>
              <a:rPr lang="en-US" sz="2400" b="1" dirty="0">
                <a:solidFill>
                  <a:srgbClr val="156082"/>
                </a:solidFill>
                <a:latin typeface="Aptos" pitchFamily="34" charset="0"/>
                <a:ea typeface="Aptos" pitchFamily="34" charset="-122"/>
                <a:cs typeface="Aptos" pitchFamily="34" charset="-120"/>
              </a:rPr>
              <a:t>Code</a:t>
            </a:r>
            <a:endParaRPr lang="en-US" sz="2400" dirty="0"/>
          </a:p>
        </p:txBody>
      </p:sp>
      <p:sp>
        <p:nvSpPr>
          <p:cNvPr id="101" name="Shape 1"/>
          <p:cNvSpPr/>
          <p:nvPr/>
        </p:nvSpPr>
        <p:spPr>
          <a:xfrm>
            <a:off x="5822442" y="1755648"/>
            <a:ext cx="1844802" cy="4526280"/>
          </a:xfrm>
          <a:prstGeom prst="rect">
            <a:avLst/>
          </a:prstGeom>
          <a:solidFill>
            <a:srgbClr val="EEEBE9"/>
          </a:solidFill>
          <a:ln w="12700">
            <a:solidFill>
              <a:srgbClr val="EEEBE9"/>
            </a:solidFill>
            <a:prstDash val="solid"/>
          </a:ln>
        </p:spPr>
        <p:txBody>
          <a:bodyPr/>
          <a:lstStyle/>
          <a:p>
            <a:endParaRPr lang="en-US"/>
          </a:p>
        </p:txBody>
      </p:sp>
      <p:sp>
        <p:nvSpPr>
          <p:cNvPr id="102" name="Text 2"/>
          <p:cNvSpPr txBox="1"/>
          <p:nvPr/>
        </p:nvSpPr>
        <p:spPr>
          <a:xfrm>
            <a:off x="5822442" y="1828800"/>
            <a:ext cx="1844802" cy="320040"/>
          </a:xfrm>
          <a:prstGeom prst="rect">
            <a:avLst/>
          </a:prstGeom>
          <a:noFill/>
          <a:ln/>
        </p:spPr>
        <p:txBody>
          <a:bodyPr wrap="square" lIns="0" tIns="0" rIns="0" bIns="0" rtlCol="0" anchor="ctr"/>
          <a:lstStyle/>
          <a:p>
            <a:pPr marL="0" indent="0" algn="ctr">
              <a:buNone/>
            </a:pPr>
            <a:r>
              <a:rPr lang="en-US" sz="2400" b="1" dirty="0">
                <a:solidFill>
                  <a:srgbClr val="156082"/>
                </a:solidFill>
                <a:latin typeface="Aptos" pitchFamily="34" charset="0"/>
                <a:ea typeface="Aptos" pitchFamily="34" charset="-122"/>
                <a:cs typeface="Aptos" pitchFamily="34" charset="-120"/>
              </a:rPr>
              <a:t>Compile</a:t>
            </a:r>
            <a:endParaRPr lang="en-US" sz="2400" dirty="0"/>
          </a:p>
        </p:txBody>
      </p:sp>
      <p:sp>
        <p:nvSpPr>
          <p:cNvPr id="103" name="Text 3"/>
          <p:cNvSpPr txBox="1"/>
          <p:nvPr/>
        </p:nvSpPr>
        <p:spPr>
          <a:xfrm>
            <a:off x="7667244" y="1828800"/>
            <a:ext cx="1844802" cy="320040"/>
          </a:xfrm>
          <a:prstGeom prst="rect">
            <a:avLst/>
          </a:prstGeom>
          <a:noFill/>
          <a:ln/>
        </p:spPr>
        <p:txBody>
          <a:bodyPr wrap="square" lIns="0" tIns="0" rIns="0" bIns="0" rtlCol="0" anchor="ctr"/>
          <a:lstStyle/>
          <a:p>
            <a:pPr marL="0" indent="0" algn="ctr">
              <a:buNone/>
            </a:pPr>
            <a:r>
              <a:rPr lang="en-US" sz="2400" b="1" dirty="0">
                <a:solidFill>
                  <a:srgbClr val="156082"/>
                </a:solidFill>
                <a:latin typeface="Aptos" pitchFamily="34" charset="0"/>
                <a:ea typeface="Aptos" pitchFamily="34" charset="-122"/>
                <a:cs typeface="Aptos" pitchFamily="34" charset="-120"/>
              </a:rPr>
              <a:t>Test</a:t>
            </a:r>
            <a:endParaRPr lang="en-US" sz="2400" dirty="0"/>
          </a:p>
        </p:txBody>
      </p:sp>
      <p:sp>
        <p:nvSpPr>
          <p:cNvPr id="104" name="Shape 4"/>
          <p:cNvSpPr/>
          <p:nvPr/>
        </p:nvSpPr>
        <p:spPr>
          <a:xfrm>
            <a:off x="9512046" y="1755648"/>
            <a:ext cx="1844802" cy="4526280"/>
          </a:xfrm>
          <a:prstGeom prst="rect">
            <a:avLst/>
          </a:prstGeom>
          <a:solidFill>
            <a:srgbClr val="EEEBE9"/>
          </a:solidFill>
          <a:ln w="12700">
            <a:solidFill>
              <a:srgbClr val="EEEBE9"/>
            </a:solidFill>
            <a:prstDash val="solid"/>
          </a:ln>
        </p:spPr>
        <p:txBody>
          <a:bodyPr/>
          <a:lstStyle/>
          <a:p>
            <a:endParaRPr lang="en-US"/>
          </a:p>
        </p:txBody>
      </p:sp>
      <p:sp>
        <p:nvSpPr>
          <p:cNvPr id="105" name="Text 5"/>
          <p:cNvSpPr txBox="1"/>
          <p:nvPr/>
        </p:nvSpPr>
        <p:spPr>
          <a:xfrm>
            <a:off x="9512046" y="1828800"/>
            <a:ext cx="1844802" cy="320040"/>
          </a:xfrm>
          <a:prstGeom prst="rect">
            <a:avLst/>
          </a:prstGeom>
          <a:noFill/>
          <a:ln/>
        </p:spPr>
        <p:txBody>
          <a:bodyPr wrap="square" lIns="0" tIns="0" rIns="0" bIns="0" rtlCol="0" anchor="ctr"/>
          <a:lstStyle/>
          <a:p>
            <a:pPr marL="0" indent="0" algn="ctr">
              <a:buNone/>
            </a:pPr>
            <a:r>
              <a:rPr lang="en-US" sz="2400" b="1" dirty="0">
                <a:solidFill>
                  <a:srgbClr val="156082"/>
                </a:solidFill>
                <a:latin typeface="Aptos" pitchFamily="34" charset="0"/>
                <a:ea typeface="Aptos" pitchFamily="34" charset="-122"/>
                <a:cs typeface="Aptos" pitchFamily="34" charset="-120"/>
              </a:rPr>
              <a:t>Run</a:t>
            </a:r>
            <a:endParaRPr lang="en-US" sz="2400" dirty="0"/>
          </a:p>
        </p:txBody>
      </p:sp>
      <p:sp>
        <p:nvSpPr>
          <p:cNvPr id="106" name="Text 6"/>
          <p:cNvSpPr txBox="1"/>
          <p:nvPr/>
        </p:nvSpPr>
        <p:spPr>
          <a:xfrm>
            <a:off x="841248" y="2414016"/>
            <a:ext cx="2953512" cy="411480"/>
          </a:xfrm>
          <a:prstGeom prst="rect">
            <a:avLst/>
          </a:prstGeom>
          <a:noFill/>
          <a:ln/>
        </p:spPr>
        <p:txBody>
          <a:bodyPr wrap="square" lIns="0" tIns="0" rIns="0" bIns="0" rtlCol="0" anchor="ctr"/>
          <a:lstStyle/>
          <a:p>
            <a:pPr marL="0" indent="0">
              <a:buNone/>
            </a:pPr>
            <a:r>
              <a:rPr lang="en-US" sz="2400" b="1" dirty="0">
                <a:solidFill>
                  <a:srgbClr val="1A1A1A"/>
                </a:solidFill>
                <a:latin typeface="Aptos" pitchFamily="34" charset="0"/>
                <a:ea typeface="Aptos" pitchFamily="34" charset="-122"/>
                <a:cs typeface="Aptos" pitchFamily="34" charset="-120"/>
              </a:rPr>
              <a:t>Annotations</a:t>
            </a:r>
            <a:endParaRPr lang="en-US" sz="2400" dirty="0"/>
          </a:p>
        </p:txBody>
      </p:sp>
      <p:sp>
        <p:nvSpPr>
          <p:cNvPr id="107" name="Text 7"/>
          <p:cNvSpPr txBox="1"/>
          <p:nvPr/>
        </p:nvSpPr>
        <p:spPr>
          <a:xfrm>
            <a:off x="841248" y="2781300"/>
            <a:ext cx="2862072" cy="457200"/>
          </a:xfrm>
          <a:prstGeom prst="rect">
            <a:avLst/>
          </a:prstGeom>
          <a:noFill/>
          <a:ln/>
        </p:spPr>
        <p:txBody>
          <a:bodyPr wrap="square" lIns="0" tIns="0" rIns="0" bIns="0" rtlCol="0" anchor="ctr"/>
          <a:lstStyle/>
          <a:p>
            <a:pPr marL="0" indent="0">
              <a:lnSpc>
                <a:spcPct val="100000"/>
              </a:lnSpc>
              <a:buNone/>
            </a:pPr>
            <a:r>
              <a:rPr lang="en-US" sz="1300" dirty="0">
                <a:solidFill>
                  <a:srgbClr val="595959"/>
                </a:solidFill>
                <a:latin typeface="Aptos" pitchFamily="34" charset="0"/>
                <a:ea typeface="Aptos" pitchFamily="34" charset="-122"/>
                <a:cs typeface="Aptos" pitchFamily="34" charset="-120"/>
              </a:rPr>
              <a:t>Attributes, pragmas, SAL, GSL, SafeInt</a:t>
            </a:r>
            <a:endParaRPr lang="en-US" sz="1300" dirty="0"/>
          </a:p>
        </p:txBody>
      </p:sp>
      <p:sp>
        <p:nvSpPr>
          <p:cNvPr id="108" name="Shape 8"/>
          <p:cNvSpPr/>
          <p:nvPr/>
        </p:nvSpPr>
        <p:spPr>
          <a:xfrm>
            <a:off x="4160520" y="2688336"/>
            <a:ext cx="3323844" cy="201168"/>
          </a:xfrm>
          <a:prstGeom prst="roundRect">
            <a:avLst>
              <a:gd name="adj" fmla="val 50000"/>
            </a:avLst>
          </a:prstGeom>
          <a:solidFill>
            <a:srgbClr val="D9A63A"/>
          </a:solidFill>
          <a:ln w="12700">
            <a:solidFill>
              <a:srgbClr val="D9A63A"/>
            </a:solidFill>
            <a:prstDash val="solid"/>
          </a:ln>
        </p:spPr>
        <p:txBody>
          <a:bodyPr/>
          <a:lstStyle/>
          <a:p>
            <a:endParaRPr lang="en-US"/>
          </a:p>
        </p:txBody>
      </p:sp>
      <p:sp>
        <p:nvSpPr>
          <p:cNvPr id="109" name="Shape 9"/>
          <p:cNvSpPr/>
          <p:nvPr/>
        </p:nvSpPr>
        <p:spPr>
          <a:xfrm>
            <a:off x="6685407" y="2729484"/>
            <a:ext cx="118872" cy="118872"/>
          </a:xfrm>
          <a:prstGeom prst="ellipse">
            <a:avLst/>
          </a:prstGeom>
          <a:solidFill>
            <a:srgbClr val="FFFAFA"/>
          </a:solidFill>
          <a:ln w="12700">
            <a:solidFill>
              <a:srgbClr val="FFFAFA"/>
            </a:solidFill>
            <a:prstDash val="solid"/>
          </a:ln>
        </p:spPr>
        <p:txBody>
          <a:bodyPr/>
          <a:lstStyle/>
          <a:p>
            <a:endParaRPr lang="en-US"/>
          </a:p>
        </p:txBody>
      </p:sp>
      <p:sp>
        <p:nvSpPr>
          <p:cNvPr id="110" name="Shape 10"/>
          <p:cNvSpPr/>
          <p:nvPr/>
        </p:nvSpPr>
        <p:spPr>
          <a:xfrm>
            <a:off x="841248" y="3287268"/>
            <a:ext cx="10515600" cy="9144"/>
          </a:xfrm>
          <a:prstGeom prst="rect">
            <a:avLst/>
          </a:prstGeom>
          <a:solidFill>
            <a:srgbClr val="C9C4C1"/>
          </a:solidFill>
          <a:ln w="12700">
            <a:solidFill>
              <a:srgbClr val="C9C4C1"/>
            </a:solidFill>
            <a:prstDash val="solid"/>
          </a:ln>
        </p:spPr>
        <p:txBody>
          <a:bodyPr/>
          <a:lstStyle/>
          <a:p>
            <a:endParaRPr lang="en-US"/>
          </a:p>
        </p:txBody>
      </p:sp>
      <p:sp>
        <p:nvSpPr>
          <p:cNvPr id="111" name="Text 11"/>
          <p:cNvSpPr txBox="1"/>
          <p:nvPr/>
        </p:nvSpPr>
        <p:spPr>
          <a:xfrm>
            <a:off x="841248" y="3419856"/>
            <a:ext cx="2953512" cy="411480"/>
          </a:xfrm>
          <a:prstGeom prst="rect">
            <a:avLst/>
          </a:prstGeom>
          <a:noFill/>
          <a:ln/>
        </p:spPr>
        <p:txBody>
          <a:bodyPr wrap="square" lIns="0" tIns="0" rIns="0" bIns="0" rtlCol="0" anchor="ctr"/>
          <a:lstStyle/>
          <a:p>
            <a:pPr marL="0" indent="0">
              <a:buNone/>
            </a:pPr>
            <a:r>
              <a:rPr lang="en-US" sz="2400" b="1" dirty="0">
                <a:solidFill>
                  <a:srgbClr val="1A1A1A"/>
                </a:solidFill>
                <a:latin typeface="Aptos" pitchFamily="34" charset="0"/>
                <a:ea typeface="Aptos" pitchFamily="34" charset="-122"/>
                <a:cs typeface="Aptos" pitchFamily="34" charset="-120"/>
              </a:rPr>
              <a:t>Static analysis</a:t>
            </a:r>
            <a:endParaRPr lang="en-US" sz="2400" dirty="0"/>
          </a:p>
        </p:txBody>
      </p:sp>
      <p:sp>
        <p:nvSpPr>
          <p:cNvPr id="112" name="Text 12"/>
          <p:cNvSpPr txBox="1"/>
          <p:nvPr/>
        </p:nvSpPr>
        <p:spPr>
          <a:xfrm>
            <a:off x="841248" y="3840480"/>
            <a:ext cx="2862072" cy="457200"/>
          </a:xfrm>
          <a:prstGeom prst="rect">
            <a:avLst/>
          </a:prstGeom>
          <a:noFill/>
          <a:ln/>
        </p:spPr>
        <p:txBody>
          <a:bodyPr wrap="square" lIns="0" tIns="0" rIns="0" bIns="0" rtlCol="0" anchor="ctr"/>
          <a:lstStyle/>
          <a:p>
            <a:pPr marL="0" indent="0">
              <a:lnSpc>
                <a:spcPct val="100000"/>
              </a:lnSpc>
              <a:buNone/>
            </a:pPr>
            <a:r>
              <a:rPr lang="en-US" sz="1300" dirty="0">
                <a:solidFill>
                  <a:srgbClr val="595959"/>
                </a:solidFill>
                <a:latin typeface="Aptos" pitchFamily="34" charset="0"/>
                <a:ea typeface="Aptos" pitchFamily="34" charset="-122"/>
                <a:cs typeface="Aptos" pitchFamily="34" charset="-120"/>
              </a:rPr>
              <a:t>Warnings, analyzers, rule checkers, plugins</a:t>
            </a:r>
            <a:endParaRPr lang="en-US" sz="1300" dirty="0"/>
          </a:p>
        </p:txBody>
      </p:sp>
      <p:sp>
        <p:nvSpPr>
          <p:cNvPr id="113" name="Shape 13"/>
          <p:cNvSpPr/>
          <p:nvPr/>
        </p:nvSpPr>
        <p:spPr>
          <a:xfrm>
            <a:off x="6005322" y="3694176"/>
            <a:ext cx="1479042" cy="201168"/>
          </a:xfrm>
          <a:prstGeom prst="roundRect">
            <a:avLst>
              <a:gd name="adj" fmla="val 50000"/>
            </a:avLst>
          </a:prstGeom>
          <a:solidFill>
            <a:srgbClr val="D9A63A"/>
          </a:solidFill>
          <a:ln w="12700">
            <a:solidFill>
              <a:srgbClr val="D9A63A"/>
            </a:solidFill>
            <a:prstDash val="solid"/>
          </a:ln>
        </p:spPr>
        <p:txBody>
          <a:bodyPr/>
          <a:lstStyle/>
          <a:p>
            <a:endParaRPr lang="en-US"/>
          </a:p>
        </p:txBody>
      </p:sp>
      <p:sp>
        <p:nvSpPr>
          <p:cNvPr id="114" name="Shape 14"/>
          <p:cNvSpPr/>
          <p:nvPr/>
        </p:nvSpPr>
        <p:spPr>
          <a:xfrm>
            <a:off x="841248" y="4293108"/>
            <a:ext cx="10515600" cy="9144"/>
          </a:xfrm>
          <a:prstGeom prst="rect">
            <a:avLst/>
          </a:prstGeom>
          <a:solidFill>
            <a:srgbClr val="C9C4C1"/>
          </a:solidFill>
          <a:ln w="12700">
            <a:solidFill>
              <a:srgbClr val="C9C4C1"/>
            </a:solidFill>
            <a:prstDash val="solid"/>
          </a:ln>
        </p:spPr>
        <p:txBody>
          <a:bodyPr/>
          <a:lstStyle/>
          <a:p>
            <a:endParaRPr lang="en-US"/>
          </a:p>
        </p:txBody>
      </p:sp>
      <p:sp>
        <p:nvSpPr>
          <p:cNvPr id="115" name="Text 15"/>
          <p:cNvSpPr txBox="1"/>
          <p:nvPr/>
        </p:nvSpPr>
        <p:spPr>
          <a:xfrm>
            <a:off x="841248" y="4425696"/>
            <a:ext cx="2953512" cy="411480"/>
          </a:xfrm>
          <a:prstGeom prst="rect">
            <a:avLst/>
          </a:prstGeom>
          <a:noFill/>
          <a:ln/>
        </p:spPr>
        <p:txBody>
          <a:bodyPr wrap="square" lIns="0" tIns="0" rIns="0" bIns="0" rtlCol="0" anchor="ctr"/>
          <a:lstStyle/>
          <a:p>
            <a:pPr marL="0" indent="0">
              <a:buNone/>
            </a:pPr>
            <a:r>
              <a:rPr lang="en-US" sz="2400" b="1" dirty="0">
                <a:solidFill>
                  <a:srgbClr val="1A1A1A"/>
                </a:solidFill>
                <a:latin typeface="Aptos" pitchFamily="34" charset="0"/>
                <a:ea typeface="Aptos" pitchFamily="34" charset="-122"/>
                <a:cs typeface="Aptos" pitchFamily="34" charset="-120"/>
              </a:rPr>
              <a:t>Dynamic analysis</a:t>
            </a:r>
            <a:endParaRPr lang="en-US" sz="2400" dirty="0"/>
          </a:p>
        </p:txBody>
      </p:sp>
      <p:sp>
        <p:nvSpPr>
          <p:cNvPr id="116" name="Text 16"/>
          <p:cNvSpPr txBox="1"/>
          <p:nvPr/>
        </p:nvSpPr>
        <p:spPr>
          <a:xfrm>
            <a:off x="841248" y="4846320"/>
            <a:ext cx="2953512" cy="457200"/>
          </a:xfrm>
          <a:prstGeom prst="rect">
            <a:avLst/>
          </a:prstGeom>
          <a:noFill/>
          <a:ln/>
        </p:spPr>
        <p:txBody>
          <a:bodyPr wrap="square" lIns="0" tIns="0" rIns="0" bIns="0" rtlCol="0" anchor="ctr"/>
          <a:lstStyle/>
          <a:p>
            <a:pPr marL="0" indent="0">
              <a:lnSpc>
                <a:spcPct val="100000"/>
              </a:lnSpc>
              <a:buNone/>
            </a:pPr>
            <a:r>
              <a:rPr lang="en-US" sz="1300" dirty="0">
                <a:solidFill>
                  <a:srgbClr val="595959"/>
                </a:solidFill>
                <a:latin typeface="Aptos" pitchFamily="34" charset="0"/>
                <a:ea typeface="Aptos" pitchFamily="34" charset="-122"/>
                <a:cs typeface="Aptos" pitchFamily="34" charset="-120"/>
              </a:rPr>
              <a:t>Sanitizers (ASAN, </a:t>
            </a:r>
            <a:r>
              <a:rPr lang="en-US" sz="1300" dirty="0" err="1">
                <a:solidFill>
                  <a:srgbClr val="595959"/>
                </a:solidFill>
                <a:latin typeface="Aptos" pitchFamily="34" charset="0"/>
                <a:ea typeface="Aptos" pitchFamily="34" charset="-122"/>
                <a:cs typeface="Aptos" pitchFamily="34" charset="-120"/>
              </a:rPr>
              <a:t>UBSan</a:t>
            </a:r>
            <a:r>
              <a:rPr lang="en-US" sz="1300" dirty="0">
                <a:solidFill>
                  <a:srgbClr val="595959"/>
                </a:solidFill>
                <a:latin typeface="Aptos" pitchFamily="34" charset="0"/>
                <a:ea typeface="Aptos" pitchFamily="34" charset="-122"/>
                <a:cs typeface="Aptos" pitchFamily="34" charset="-120"/>
              </a:rPr>
              <a:t> others), fuzzing, Valgrind, instrumentation</a:t>
            </a:r>
            <a:endParaRPr lang="en-US" sz="1300" dirty="0"/>
          </a:p>
        </p:txBody>
      </p:sp>
      <p:sp>
        <p:nvSpPr>
          <p:cNvPr id="117" name="Shape 17"/>
          <p:cNvSpPr/>
          <p:nvPr/>
        </p:nvSpPr>
        <p:spPr>
          <a:xfrm>
            <a:off x="6005322" y="4700016"/>
            <a:ext cx="3323844" cy="201168"/>
          </a:xfrm>
          <a:prstGeom prst="roundRect">
            <a:avLst>
              <a:gd name="adj" fmla="val 50000"/>
            </a:avLst>
          </a:prstGeom>
          <a:solidFill>
            <a:srgbClr val="D9A63A"/>
          </a:solidFill>
          <a:ln w="12700">
            <a:solidFill>
              <a:srgbClr val="D9A63A"/>
            </a:solidFill>
            <a:prstDash val="solid"/>
          </a:ln>
        </p:spPr>
        <p:txBody>
          <a:bodyPr/>
          <a:lstStyle/>
          <a:p>
            <a:endParaRPr lang="en-US"/>
          </a:p>
        </p:txBody>
      </p:sp>
      <p:sp>
        <p:nvSpPr>
          <p:cNvPr id="118" name="Shape 18"/>
          <p:cNvSpPr/>
          <p:nvPr/>
        </p:nvSpPr>
        <p:spPr>
          <a:xfrm>
            <a:off x="8530209" y="4741164"/>
            <a:ext cx="118872" cy="118872"/>
          </a:xfrm>
          <a:prstGeom prst="ellipse">
            <a:avLst/>
          </a:prstGeom>
          <a:solidFill>
            <a:srgbClr val="FFFAFA"/>
          </a:solidFill>
          <a:ln w="12700">
            <a:solidFill>
              <a:srgbClr val="FFFAFA"/>
            </a:solidFill>
            <a:prstDash val="solid"/>
          </a:ln>
        </p:spPr>
        <p:txBody>
          <a:bodyPr/>
          <a:lstStyle/>
          <a:p>
            <a:endParaRPr lang="en-US"/>
          </a:p>
        </p:txBody>
      </p:sp>
      <p:sp>
        <p:nvSpPr>
          <p:cNvPr id="119" name="Shape 19"/>
          <p:cNvSpPr/>
          <p:nvPr/>
        </p:nvSpPr>
        <p:spPr>
          <a:xfrm>
            <a:off x="841248" y="5298948"/>
            <a:ext cx="10515600" cy="9144"/>
          </a:xfrm>
          <a:prstGeom prst="rect">
            <a:avLst/>
          </a:prstGeom>
          <a:solidFill>
            <a:srgbClr val="C9C4C1"/>
          </a:solidFill>
          <a:ln w="12700">
            <a:solidFill>
              <a:srgbClr val="C9C4C1"/>
            </a:solidFill>
            <a:prstDash val="solid"/>
          </a:ln>
        </p:spPr>
        <p:txBody>
          <a:bodyPr/>
          <a:lstStyle/>
          <a:p>
            <a:endParaRPr lang="en-US"/>
          </a:p>
        </p:txBody>
      </p:sp>
      <p:sp>
        <p:nvSpPr>
          <p:cNvPr id="120" name="Text 20"/>
          <p:cNvSpPr txBox="1"/>
          <p:nvPr/>
        </p:nvSpPr>
        <p:spPr>
          <a:xfrm>
            <a:off x="841248" y="5431536"/>
            <a:ext cx="2953512" cy="411480"/>
          </a:xfrm>
          <a:prstGeom prst="rect">
            <a:avLst/>
          </a:prstGeom>
          <a:noFill/>
          <a:ln/>
        </p:spPr>
        <p:txBody>
          <a:bodyPr wrap="square" lIns="0" tIns="0" rIns="0" bIns="0" rtlCol="0" anchor="ctr"/>
          <a:lstStyle/>
          <a:p>
            <a:pPr marL="0" indent="0">
              <a:buNone/>
            </a:pPr>
            <a:r>
              <a:rPr lang="en-US" sz="2400" b="1" dirty="0">
                <a:solidFill>
                  <a:srgbClr val="1A1A1A"/>
                </a:solidFill>
                <a:latin typeface="Aptos" pitchFamily="34" charset="0"/>
                <a:ea typeface="Aptos" pitchFamily="34" charset="-122"/>
                <a:cs typeface="Aptos" pitchFamily="34" charset="-120"/>
              </a:rPr>
              <a:t>Hardening</a:t>
            </a:r>
            <a:endParaRPr lang="en-US" sz="2400" dirty="0"/>
          </a:p>
        </p:txBody>
      </p:sp>
      <p:sp>
        <p:nvSpPr>
          <p:cNvPr id="121" name="Text 21"/>
          <p:cNvSpPr txBox="1"/>
          <p:nvPr/>
        </p:nvSpPr>
        <p:spPr>
          <a:xfrm>
            <a:off x="841248" y="5852160"/>
            <a:ext cx="2862072" cy="457200"/>
          </a:xfrm>
          <a:prstGeom prst="rect">
            <a:avLst/>
          </a:prstGeom>
          <a:noFill/>
          <a:ln/>
        </p:spPr>
        <p:txBody>
          <a:bodyPr wrap="square" lIns="0" tIns="0" rIns="0" bIns="0" rtlCol="0" anchor="ctr"/>
          <a:lstStyle/>
          <a:p>
            <a:pPr marL="0" indent="0">
              <a:lnSpc>
                <a:spcPct val="100000"/>
              </a:lnSpc>
              <a:buNone/>
            </a:pPr>
            <a:r>
              <a:rPr lang="en-US" sz="1300" dirty="0">
                <a:solidFill>
                  <a:srgbClr val="595959"/>
                </a:solidFill>
                <a:latin typeface="Aptos" pitchFamily="34" charset="0"/>
                <a:ea typeface="Aptos" pitchFamily="34" charset="-122"/>
                <a:cs typeface="Aptos" pitchFamily="34" charset="-120"/>
              </a:rPr>
              <a:t>Runtime checks, auto-init, canaries, CFI, cast guards</a:t>
            </a:r>
            <a:endParaRPr lang="en-US" sz="1300" dirty="0"/>
          </a:p>
        </p:txBody>
      </p:sp>
      <p:sp>
        <p:nvSpPr>
          <p:cNvPr id="122" name="Shape 22"/>
          <p:cNvSpPr/>
          <p:nvPr/>
        </p:nvSpPr>
        <p:spPr>
          <a:xfrm>
            <a:off x="6005322" y="5705856"/>
            <a:ext cx="5168646" cy="201168"/>
          </a:xfrm>
          <a:prstGeom prst="roundRect">
            <a:avLst>
              <a:gd name="adj" fmla="val 50000"/>
            </a:avLst>
          </a:prstGeom>
          <a:solidFill>
            <a:srgbClr val="D9A63A"/>
          </a:solidFill>
          <a:ln w="12700">
            <a:solidFill>
              <a:srgbClr val="D9A63A"/>
            </a:solidFill>
            <a:prstDash val="solid"/>
          </a:ln>
        </p:spPr>
        <p:txBody>
          <a:bodyPr/>
          <a:lstStyle/>
          <a:p>
            <a:endParaRPr lang="en-US"/>
          </a:p>
        </p:txBody>
      </p:sp>
      <p:sp>
        <p:nvSpPr>
          <p:cNvPr id="123" name="Shape 23"/>
          <p:cNvSpPr/>
          <p:nvPr/>
        </p:nvSpPr>
        <p:spPr>
          <a:xfrm>
            <a:off x="10375011" y="5747004"/>
            <a:ext cx="118872" cy="118872"/>
          </a:xfrm>
          <a:prstGeom prst="ellipse">
            <a:avLst/>
          </a:prstGeom>
          <a:solidFill>
            <a:srgbClr val="FFFAFA"/>
          </a:solidFill>
          <a:ln w="12700">
            <a:solidFill>
              <a:srgbClr val="FFFAFA"/>
            </a:solidFill>
            <a:prstDash val="solid"/>
          </a:ln>
        </p:spPr>
        <p:txBody>
          <a:bodyPr/>
          <a:lstStyle/>
          <a:p>
            <a:endParaRPr lang="en-US"/>
          </a:p>
        </p:txBody>
      </p:sp>
      <p:sp>
        <p:nvSpPr>
          <p:cNvPr id="5" name="Title 4">
            <a:extLst>
              <a:ext uri="{FF2B5EF4-FFF2-40B4-BE49-F238E27FC236}">
                <a16:creationId xmlns:a16="http://schemas.microsoft.com/office/drawing/2014/main" id="{07127927-25D7-E4B0-ADFA-830CD5178ED2}"/>
              </a:ext>
            </a:extLst>
          </p:cNvPr>
          <p:cNvSpPr>
            <a:spLocks noGrp="1"/>
          </p:cNvSpPr>
          <p:nvPr>
            <p:ph type="title"/>
          </p:nvPr>
        </p:nvSpPr>
        <p:spPr/>
        <p:txBody>
          <a:bodyPr/>
          <a:lstStyle/>
          <a:p>
            <a:r>
              <a:rPr lang="en-US" dirty="0"/>
              <a:t>The tooling space</a:t>
            </a:r>
          </a:p>
        </p:txBody>
      </p:sp>
    </p:spTree>
    <p:extLst>
      <p:ext uri="{BB962C8B-B14F-4D97-AF65-F5344CB8AC3E}">
        <p14:creationId xmlns:p14="http://schemas.microsoft.com/office/powerpoint/2010/main" val="1149893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6BEE5-B172-1F34-E79F-89DA4ED81A49}"/>
              </a:ext>
            </a:extLst>
          </p:cNvPr>
          <p:cNvSpPr>
            <a:spLocks noGrp="1"/>
          </p:cNvSpPr>
          <p:nvPr>
            <p:ph type="title"/>
          </p:nvPr>
        </p:nvSpPr>
        <p:spPr/>
        <p:txBody>
          <a:bodyPr/>
          <a:lstStyle/>
          <a:p>
            <a:r>
              <a:rPr lang="en-US" dirty="0"/>
              <a:t>Hardening the implementation</a:t>
            </a:r>
          </a:p>
        </p:txBody>
      </p:sp>
      <p:sp>
        <p:nvSpPr>
          <p:cNvPr id="3" name="Text Placeholder 2">
            <a:extLst>
              <a:ext uri="{FF2B5EF4-FFF2-40B4-BE49-F238E27FC236}">
                <a16:creationId xmlns:a16="http://schemas.microsoft.com/office/drawing/2014/main" id="{DCAD41EE-0C5E-09F7-EABF-E26FDD072B1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602355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14400" y="1524000"/>
            <a:ext cx="10363200" cy="731520"/>
          </a:xfrm>
          <a:prstGeom prst="rect">
            <a:avLst/>
          </a:prstGeom>
          <a:noFill/>
          <a:ln/>
        </p:spPr>
        <p:txBody>
          <a:bodyPr wrap="square" lIns="0" tIns="0" rIns="0" bIns="0" rtlCol="0" anchor="t"/>
          <a:lstStyle/>
          <a:p>
            <a:r>
              <a:rPr lang="en-US" sz="1867" dirty="0">
                <a:solidFill>
                  <a:srgbClr val="5A5A5A"/>
                </a:solidFill>
                <a:ea typeface="Arial" pitchFamily="34" charset="-122"/>
                <a:cs typeface="Arial" pitchFamily="34" charset="-120"/>
              </a:rPr>
              <a:t>Checks that the compiler, the library, the OS and the hardware add to a shipping binary, so that a bug which does happen is caught before it can be exploited.</a:t>
            </a:r>
            <a:endParaRPr lang="en-US" sz="1867" dirty="0"/>
          </a:p>
        </p:txBody>
      </p:sp>
      <p:sp>
        <p:nvSpPr>
          <p:cNvPr id="4" name="Text 2"/>
          <p:cNvSpPr txBox="1"/>
          <p:nvPr/>
        </p:nvSpPr>
        <p:spPr>
          <a:xfrm>
            <a:off x="853440" y="2474976"/>
            <a:ext cx="1219200" cy="853440"/>
          </a:xfrm>
          <a:prstGeom prst="rect">
            <a:avLst/>
          </a:prstGeom>
          <a:noFill/>
          <a:ln/>
        </p:spPr>
        <p:txBody>
          <a:bodyPr wrap="square" lIns="0" tIns="0" rIns="0" bIns="0" rtlCol="0" anchor="t"/>
          <a:lstStyle/>
          <a:p>
            <a:r>
              <a:rPr lang="en-US" sz="5333" b="1" dirty="0">
                <a:solidFill>
                  <a:srgbClr val="1E5F7E"/>
                </a:solidFill>
                <a:latin typeface="Arial" pitchFamily="34" charset="0"/>
                <a:ea typeface="Arial" pitchFamily="34" charset="-122"/>
                <a:cs typeface="Arial" pitchFamily="34" charset="-120"/>
              </a:rPr>
              <a:t>01</a:t>
            </a:r>
            <a:endParaRPr lang="en-US" sz="5333" dirty="0"/>
          </a:p>
        </p:txBody>
      </p:sp>
      <p:sp>
        <p:nvSpPr>
          <p:cNvPr id="5" name="Text 3"/>
          <p:cNvSpPr txBox="1"/>
          <p:nvPr/>
        </p:nvSpPr>
        <p:spPr>
          <a:xfrm>
            <a:off x="2255520" y="2499360"/>
            <a:ext cx="9144000" cy="463296"/>
          </a:xfrm>
          <a:prstGeom prst="rect">
            <a:avLst/>
          </a:prstGeom>
          <a:noFill/>
          <a:ln/>
        </p:spPr>
        <p:txBody>
          <a:bodyPr wrap="square" lIns="0" tIns="0" rIns="0" bIns="0" rtlCol="0" anchor="t"/>
          <a:lstStyle/>
          <a:p>
            <a:r>
              <a:rPr lang="en-US" sz="2533" b="1" dirty="0">
                <a:solidFill>
                  <a:srgbClr val="1A1A1A"/>
                </a:solidFill>
                <a:latin typeface="Arial" pitchFamily="34" charset="0"/>
                <a:ea typeface="Arial" pitchFamily="34" charset="-122"/>
                <a:cs typeface="Arial" pitchFamily="34" charset="-120"/>
              </a:rPr>
              <a:t>It lives in the implementation, not the source</a:t>
            </a:r>
            <a:endParaRPr lang="en-US" sz="2533" dirty="0"/>
          </a:p>
        </p:txBody>
      </p:sp>
      <p:sp>
        <p:nvSpPr>
          <p:cNvPr id="6" name="Text 4"/>
          <p:cNvSpPr txBox="1"/>
          <p:nvPr/>
        </p:nvSpPr>
        <p:spPr>
          <a:xfrm>
            <a:off x="2255520" y="2987040"/>
            <a:ext cx="9022080" cy="670560"/>
          </a:xfrm>
          <a:prstGeom prst="rect">
            <a:avLst/>
          </a:prstGeom>
          <a:noFill/>
          <a:ln/>
        </p:spPr>
        <p:txBody>
          <a:bodyPr wrap="square" lIns="0" tIns="0" rIns="0" bIns="0" rtlCol="0" anchor="t"/>
          <a:lstStyle/>
          <a:p>
            <a:r>
              <a:rPr lang="en-US" sz="1600" dirty="0">
                <a:solidFill>
                  <a:srgbClr val="5A5A5A"/>
                </a:solidFill>
                <a:ea typeface="Arial" pitchFamily="34" charset="-122"/>
                <a:cs typeface="Arial" pitchFamily="34" charset="-120"/>
              </a:rPr>
              <a:t>The same C++ is rebuilt with different flags, a hardened library, a different allocator or a newer CPU. No source changes, no changes to the standard.</a:t>
            </a:r>
            <a:endParaRPr lang="en-US" sz="1600" dirty="0"/>
          </a:p>
        </p:txBody>
      </p:sp>
      <p:sp>
        <p:nvSpPr>
          <p:cNvPr id="7" name="Shape 5"/>
          <p:cNvSpPr/>
          <p:nvPr/>
        </p:nvSpPr>
        <p:spPr>
          <a:xfrm>
            <a:off x="853440" y="3742944"/>
            <a:ext cx="10485120" cy="0"/>
          </a:xfrm>
          <a:prstGeom prst="line">
            <a:avLst/>
          </a:prstGeom>
          <a:noFill/>
          <a:ln w="9525">
            <a:solidFill>
              <a:srgbClr val="DADADA"/>
            </a:solidFill>
            <a:prstDash val="solid"/>
          </a:ln>
        </p:spPr>
        <p:txBody>
          <a:bodyPr/>
          <a:lstStyle/>
          <a:p>
            <a:endParaRPr lang="en-US" sz="2400"/>
          </a:p>
        </p:txBody>
      </p:sp>
      <p:sp>
        <p:nvSpPr>
          <p:cNvPr id="8" name="Text 6"/>
          <p:cNvSpPr txBox="1"/>
          <p:nvPr/>
        </p:nvSpPr>
        <p:spPr>
          <a:xfrm>
            <a:off x="853440" y="3840480"/>
            <a:ext cx="1219200" cy="853440"/>
          </a:xfrm>
          <a:prstGeom prst="rect">
            <a:avLst/>
          </a:prstGeom>
          <a:noFill/>
          <a:ln/>
        </p:spPr>
        <p:txBody>
          <a:bodyPr wrap="square" lIns="0" tIns="0" rIns="0" bIns="0" rtlCol="0" anchor="t"/>
          <a:lstStyle/>
          <a:p>
            <a:r>
              <a:rPr lang="en-US" sz="5333" b="1" dirty="0">
                <a:solidFill>
                  <a:srgbClr val="1E5F7E"/>
                </a:solidFill>
                <a:latin typeface="Arial" pitchFamily="34" charset="0"/>
                <a:ea typeface="Arial" pitchFamily="34" charset="-122"/>
                <a:cs typeface="Arial" pitchFamily="34" charset="-120"/>
              </a:rPr>
              <a:t>02</a:t>
            </a:r>
            <a:endParaRPr lang="en-US" sz="5333" dirty="0"/>
          </a:p>
        </p:txBody>
      </p:sp>
      <p:sp>
        <p:nvSpPr>
          <p:cNvPr id="9" name="Text 7"/>
          <p:cNvSpPr txBox="1"/>
          <p:nvPr/>
        </p:nvSpPr>
        <p:spPr>
          <a:xfrm>
            <a:off x="2255520" y="3864864"/>
            <a:ext cx="9144000" cy="463296"/>
          </a:xfrm>
          <a:prstGeom prst="rect">
            <a:avLst/>
          </a:prstGeom>
          <a:noFill/>
          <a:ln/>
        </p:spPr>
        <p:txBody>
          <a:bodyPr wrap="square" lIns="0" tIns="0" rIns="0" bIns="0" rtlCol="0" anchor="t"/>
          <a:lstStyle/>
          <a:p>
            <a:r>
              <a:rPr lang="en-US" sz="2533" b="1" dirty="0">
                <a:solidFill>
                  <a:srgbClr val="1A1A1A"/>
                </a:solidFill>
                <a:latin typeface="Arial" pitchFamily="34" charset="0"/>
                <a:ea typeface="Arial" pitchFamily="34" charset="-122"/>
                <a:cs typeface="Arial" pitchFamily="34" charset="-120"/>
              </a:rPr>
              <a:t>It stays on in production</a:t>
            </a:r>
            <a:endParaRPr lang="en-US" sz="2533" dirty="0"/>
          </a:p>
        </p:txBody>
      </p:sp>
      <p:sp>
        <p:nvSpPr>
          <p:cNvPr id="10" name="Text 8"/>
          <p:cNvSpPr txBox="1"/>
          <p:nvPr/>
        </p:nvSpPr>
        <p:spPr>
          <a:xfrm>
            <a:off x="2255520" y="4352544"/>
            <a:ext cx="9022080" cy="670560"/>
          </a:xfrm>
          <a:prstGeom prst="rect">
            <a:avLst/>
          </a:prstGeom>
          <a:noFill/>
          <a:ln/>
        </p:spPr>
        <p:txBody>
          <a:bodyPr wrap="square" lIns="0" tIns="0" rIns="0" bIns="0" rtlCol="0" anchor="t"/>
          <a:lstStyle/>
          <a:p>
            <a:r>
              <a:rPr lang="en-US" sz="1600" dirty="0">
                <a:solidFill>
                  <a:srgbClr val="5A5A5A"/>
                </a:solidFill>
                <a:ea typeface="Arial" pitchFamily="34" charset="-122"/>
                <a:cs typeface="Arial" pitchFamily="34" charset="-120"/>
              </a:rPr>
              <a:t>A sanitizer runs in the test lab and reports. Hardening runs in production, terminates the program when a check fails, and may have a performance overhead.</a:t>
            </a:r>
            <a:endParaRPr lang="en-US" sz="1600" dirty="0"/>
          </a:p>
        </p:txBody>
      </p:sp>
      <p:sp>
        <p:nvSpPr>
          <p:cNvPr id="11" name="Shape 9"/>
          <p:cNvSpPr/>
          <p:nvPr/>
        </p:nvSpPr>
        <p:spPr>
          <a:xfrm>
            <a:off x="853440" y="5108448"/>
            <a:ext cx="10485120" cy="0"/>
          </a:xfrm>
          <a:prstGeom prst="line">
            <a:avLst/>
          </a:prstGeom>
          <a:noFill/>
          <a:ln w="9525">
            <a:solidFill>
              <a:srgbClr val="DADADA"/>
            </a:solidFill>
            <a:prstDash val="solid"/>
          </a:ln>
        </p:spPr>
        <p:txBody>
          <a:bodyPr/>
          <a:lstStyle/>
          <a:p>
            <a:endParaRPr lang="en-US" sz="2400"/>
          </a:p>
        </p:txBody>
      </p:sp>
      <p:sp>
        <p:nvSpPr>
          <p:cNvPr id="12" name="Text 10"/>
          <p:cNvSpPr txBox="1"/>
          <p:nvPr/>
        </p:nvSpPr>
        <p:spPr>
          <a:xfrm>
            <a:off x="853440" y="5205984"/>
            <a:ext cx="1219200" cy="853440"/>
          </a:xfrm>
          <a:prstGeom prst="rect">
            <a:avLst/>
          </a:prstGeom>
          <a:noFill/>
          <a:ln/>
        </p:spPr>
        <p:txBody>
          <a:bodyPr wrap="square" lIns="0" tIns="0" rIns="0" bIns="0" rtlCol="0" anchor="t"/>
          <a:lstStyle/>
          <a:p>
            <a:r>
              <a:rPr lang="en-US" sz="5333" b="1" dirty="0">
                <a:solidFill>
                  <a:srgbClr val="1E5F7E"/>
                </a:solidFill>
                <a:latin typeface="Arial" pitchFamily="34" charset="0"/>
                <a:ea typeface="Arial" pitchFamily="34" charset="-122"/>
                <a:cs typeface="Arial" pitchFamily="34" charset="-120"/>
              </a:rPr>
              <a:t>03</a:t>
            </a:r>
            <a:endParaRPr lang="en-US" sz="5333" dirty="0"/>
          </a:p>
        </p:txBody>
      </p:sp>
      <p:sp>
        <p:nvSpPr>
          <p:cNvPr id="13" name="Text 11"/>
          <p:cNvSpPr txBox="1"/>
          <p:nvPr/>
        </p:nvSpPr>
        <p:spPr>
          <a:xfrm>
            <a:off x="2255520" y="5230368"/>
            <a:ext cx="9144000" cy="463296"/>
          </a:xfrm>
          <a:prstGeom prst="rect">
            <a:avLst/>
          </a:prstGeom>
          <a:noFill/>
          <a:ln/>
        </p:spPr>
        <p:txBody>
          <a:bodyPr wrap="square" lIns="0" tIns="0" rIns="0" bIns="0" rtlCol="0" anchor="t"/>
          <a:lstStyle/>
          <a:p>
            <a:r>
              <a:rPr lang="en-US" sz="2533" b="1" dirty="0">
                <a:solidFill>
                  <a:srgbClr val="1A1A1A"/>
                </a:solidFill>
                <a:latin typeface="Arial" pitchFamily="34" charset="0"/>
                <a:ea typeface="Arial" pitchFamily="34" charset="-122"/>
                <a:cs typeface="Arial" pitchFamily="34" charset="-120"/>
              </a:rPr>
              <a:t>It is chosen by the vendor, not the developer</a:t>
            </a:r>
            <a:endParaRPr lang="en-US" sz="2533" dirty="0"/>
          </a:p>
        </p:txBody>
      </p:sp>
      <p:sp>
        <p:nvSpPr>
          <p:cNvPr id="14" name="Text 12"/>
          <p:cNvSpPr txBox="1"/>
          <p:nvPr/>
        </p:nvSpPr>
        <p:spPr>
          <a:xfrm>
            <a:off x="2255520" y="5718048"/>
            <a:ext cx="9022080" cy="670560"/>
          </a:xfrm>
          <a:prstGeom prst="rect">
            <a:avLst/>
          </a:prstGeom>
          <a:noFill/>
          <a:ln/>
        </p:spPr>
        <p:txBody>
          <a:bodyPr wrap="square" lIns="0" tIns="0" rIns="0" bIns="0" rtlCol="0" anchor="t"/>
          <a:lstStyle/>
          <a:p>
            <a:r>
              <a:rPr lang="en-US" sz="1600" dirty="0">
                <a:solidFill>
                  <a:srgbClr val="5A5A5A"/>
                </a:solidFill>
                <a:ea typeface="Arial" pitchFamily="34" charset="-122"/>
                <a:cs typeface="Arial" pitchFamily="34" charset="-120"/>
              </a:rPr>
              <a:t>Microsoft, Apple, Google and the Linux distributions decide what is on by default. Most developers never touch these switches, and many do not know which ones are on.</a:t>
            </a:r>
            <a:endParaRPr lang="en-US" sz="1600" dirty="0"/>
          </a:p>
        </p:txBody>
      </p:sp>
      <p:sp>
        <p:nvSpPr>
          <p:cNvPr id="19" name="Title 18">
            <a:extLst>
              <a:ext uri="{FF2B5EF4-FFF2-40B4-BE49-F238E27FC236}">
                <a16:creationId xmlns:a16="http://schemas.microsoft.com/office/drawing/2014/main" id="{CDB5CB68-A7FF-0F29-C105-ACE396255F75}"/>
              </a:ext>
            </a:extLst>
          </p:cNvPr>
          <p:cNvSpPr>
            <a:spLocks noGrp="1"/>
          </p:cNvSpPr>
          <p:nvPr>
            <p:ph type="title"/>
          </p:nvPr>
        </p:nvSpPr>
        <p:spPr/>
        <p:txBody>
          <a:bodyPr/>
          <a:lstStyle/>
          <a:p>
            <a:r>
              <a:rPr lang="en-US" dirty="0">
                <a:solidFill>
                  <a:srgbClr val="1A1A1A"/>
                </a:solidFill>
                <a:latin typeface="Arial" pitchFamily="34" charset="0"/>
                <a:ea typeface="Arial" pitchFamily="34" charset="-122"/>
                <a:cs typeface="Arial" pitchFamily="34" charset="-120"/>
              </a:rPr>
              <a:t>What is hardening</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32688"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Area</a:t>
            </a:r>
            <a:endParaRPr lang="en-US" sz="2400" dirty="0"/>
          </a:p>
        </p:txBody>
      </p:sp>
      <p:sp>
        <p:nvSpPr>
          <p:cNvPr id="4" name="Text 2"/>
          <p:cNvSpPr txBox="1"/>
          <p:nvPr/>
        </p:nvSpPr>
        <p:spPr>
          <a:xfrm>
            <a:off x="2916936"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Technique</a:t>
            </a:r>
            <a:endParaRPr lang="en-US" sz="2400" dirty="0"/>
          </a:p>
        </p:txBody>
      </p:sp>
      <p:sp>
        <p:nvSpPr>
          <p:cNvPr id="5" name="Text 3"/>
          <p:cNvSpPr txBox="1"/>
          <p:nvPr/>
        </p:nvSpPr>
        <p:spPr>
          <a:xfrm>
            <a:off x="5349240"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How</a:t>
            </a:r>
            <a:endParaRPr lang="en-US" sz="2400" dirty="0"/>
          </a:p>
        </p:txBody>
      </p:sp>
      <p:sp>
        <p:nvSpPr>
          <p:cNvPr id="6" name="Text 4"/>
          <p:cNvSpPr txBox="1"/>
          <p:nvPr/>
        </p:nvSpPr>
        <p:spPr>
          <a:xfrm>
            <a:off x="9966960"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Availability</a:t>
            </a:r>
            <a:endParaRPr lang="en-US" sz="2400" dirty="0"/>
          </a:p>
        </p:txBody>
      </p:sp>
      <p:sp>
        <p:nvSpPr>
          <p:cNvPr id="7" name="Shape 5"/>
          <p:cNvSpPr/>
          <p:nvPr/>
        </p:nvSpPr>
        <p:spPr>
          <a:xfrm>
            <a:off x="932688" y="1956816"/>
            <a:ext cx="10515600" cy="0"/>
          </a:xfrm>
          <a:prstGeom prst="line">
            <a:avLst/>
          </a:prstGeom>
          <a:noFill/>
          <a:ln w="12700">
            <a:solidFill>
              <a:srgbClr val="B8B8B8"/>
            </a:solidFill>
            <a:prstDash val="solid"/>
          </a:ln>
        </p:spPr>
        <p:txBody>
          <a:bodyPr/>
          <a:lstStyle/>
          <a:p>
            <a:endParaRPr lang="en-US" sz="2000"/>
          </a:p>
        </p:txBody>
      </p:sp>
      <p:sp>
        <p:nvSpPr>
          <p:cNvPr id="8" name="Text 6"/>
          <p:cNvSpPr txBox="1"/>
          <p:nvPr/>
        </p:nvSpPr>
        <p:spPr>
          <a:xfrm>
            <a:off x="932688" y="2048256"/>
            <a:ext cx="192024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Initialization</a:t>
            </a:r>
            <a:endParaRPr lang="en-US" sz="2000" dirty="0"/>
          </a:p>
        </p:txBody>
      </p:sp>
      <p:sp>
        <p:nvSpPr>
          <p:cNvPr id="9" name="Text 7"/>
          <p:cNvSpPr txBox="1"/>
          <p:nvPr/>
        </p:nvSpPr>
        <p:spPr>
          <a:xfrm>
            <a:off x="2916936" y="2048256"/>
            <a:ext cx="237744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Zero-init</a:t>
            </a:r>
            <a:endParaRPr lang="en-US" sz="2000" dirty="0"/>
          </a:p>
        </p:txBody>
      </p:sp>
      <p:sp>
        <p:nvSpPr>
          <p:cNvPr id="10" name="Shape 8"/>
          <p:cNvSpPr/>
          <p:nvPr/>
        </p:nvSpPr>
        <p:spPr>
          <a:xfrm>
            <a:off x="5349240" y="2103120"/>
            <a:ext cx="312176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1" name="Text 9"/>
          <p:cNvSpPr txBox="1"/>
          <p:nvPr/>
        </p:nvSpPr>
        <p:spPr>
          <a:xfrm>
            <a:off x="5349240" y="2103120"/>
            <a:ext cx="281940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-ftrivial-auto-var-init=zero</a:t>
            </a:r>
            <a:endParaRPr lang="en-US" sz="1867" dirty="0"/>
          </a:p>
        </p:txBody>
      </p:sp>
      <p:sp>
        <p:nvSpPr>
          <p:cNvPr id="12" name="Shape 10"/>
          <p:cNvSpPr/>
          <p:nvPr/>
        </p:nvSpPr>
        <p:spPr>
          <a:xfrm>
            <a:off x="8562442" y="2103120"/>
            <a:ext cx="63459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3" name="Text 11"/>
          <p:cNvSpPr txBox="1"/>
          <p:nvPr/>
        </p:nvSpPr>
        <p:spPr>
          <a:xfrm>
            <a:off x="8562442" y="2103120"/>
            <a:ext cx="63459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/sdl</a:t>
            </a:r>
            <a:endParaRPr lang="en-US" sz="1867" dirty="0"/>
          </a:p>
        </p:txBody>
      </p:sp>
      <p:sp>
        <p:nvSpPr>
          <p:cNvPr id="14" name="Shape 12"/>
          <p:cNvSpPr/>
          <p:nvPr/>
        </p:nvSpPr>
        <p:spPr>
          <a:xfrm>
            <a:off x="5349240" y="2487168"/>
            <a:ext cx="154990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5" name="Text 13"/>
          <p:cNvSpPr txBox="1"/>
          <p:nvPr/>
        </p:nvSpPr>
        <p:spPr>
          <a:xfrm>
            <a:off x="5349240" y="2487168"/>
            <a:ext cx="154990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C++26 P2795</a:t>
            </a:r>
            <a:endParaRPr lang="en-US" sz="1867" dirty="0"/>
          </a:p>
        </p:txBody>
      </p:sp>
      <p:sp>
        <p:nvSpPr>
          <p:cNvPr id="16" name="Shape 14"/>
          <p:cNvSpPr/>
          <p:nvPr/>
        </p:nvSpPr>
        <p:spPr>
          <a:xfrm>
            <a:off x="9966960" y="2359152"/>
            <a:ext cx="201168" cy="201168"/>
          </a:xfrm>
          <a:prstGeom prst="ellipse">
            <a:avLst/>
          </a:prstGeom>
          <a:solidFill>
            <a:srgbClr val="3FA34D"/>
          </a:solidFill>
          <a:ln w="12700">
            <a:solidFill>
              <a:srgbClr val="3FA34D"/>
            </a:solidFill>
            <a:prstDash val="solid"/>
          </a:ln>
        </p:spPr>
        <p:txBody>
          <a:bodyPr/>
          <a:lstStyle/>
          <a:p>
            <a:endParaRPr lang="en-US"/>
          </a:p>
        </p:txBody>
      </p:sp>
      <p:sp>
        <p:nvSpPr>
          <p:cNvPr id="17" name="Shape 15"/>
          <p:cNvSpPr/>
          <p:nvPr/>
        </p:nvSpPr>
        <p:spPr>
          <a:xfrm>
            <a:off x="932688" y="2862072"/>
            <a:ext cx="10515600" cy="0"/>
          </a:xfrm>
          <a:prstGeom prst="line">
            <a:avLst/>
          </a:prstGeom>
          <a:noFill/>
          <a:ln w="9525">
            <a:solidFill>
              <a:srgbClr val="D9D9D9"/>
            </a:solidFill>
            <a:prstDash val="solid"/>
          </a:ln>
        </p:spPr>
        <p:txBody>
          <a:bodyPr/>
          <a:lstStyle/>
          <a:p>
            <a:endParaRPr lang="en-US"/>
          </a:p>
        </p:txBody>
      </p:sp>
      <p:sp>
        <p:nvSpPr>
          <p:cNvPr id="18" name="Text 16"/>
          <p:cNvSpPr txBox="1"/>
          <p:nvPr/>
        </p:nvSpPr>
        <p:spPr>
          <a:xfrm>
            <a:off x="932688" y="2871216"/>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19" name="Text 17"/>
          <p:cNvSpPr txBox="1"/>
          <p:nvPr/>
        </p:nvSpPr>
        <p:spPr>
          <a:xfrm>
            <a:off x="2916936" y="2871216"/>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Hardened STL</a:t>
            </a:r>
            <a:endParaRPr lang="en-US" sz="2000" dirty="0"/>
          </a:p>
        </p:txBody>
      </p:sp>
      <p:sp>
        <p:nvSpPr>
          <p:cNvPr id="20" name="Shape 18"/>
          <p:cNvSpPr/>
          <p:nvPr/>
        </p:nvSpPr>
        <p:spPr>
          <a:xfrm>
            <a:off x="5349240" y="2926080"/>
            <a:ext cx="940003"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1" name="Text 19"/>
          <p:cNvSpPr txBox="1"/>
          <p:nvPr/>
        </p:nvSpPr>
        <p:spPr>
          <a:xfrm>
            <a:off x="5349240" y="2926080"/>
            <a:ext cx="940003"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libc++</a:t>
            </a:r>
            <a:endParaRPr lang="en-US" sz="1867" dirty="0"/>
          </a:p>
        </p:txBody>
      </p:sp>
      <p:sp>
        <p:nvSpPr>
          <p:cNvPr id="22" name="Shape 20"/>
          <p:cNvSpPr/>
          <p:nvPr/>
        </p:nvSpPr>
        <p:spPr>
          <a:xfrm>
            <a:off x="6380683" y="2926080"/>
            <a:ext cx="124449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3" name="Text 21"/>
          <p:cNvSpPr txBox="1"/>
          <p:nvPr/>
        </p:nvSpPr>
        <p:spPr>
          <a:xfrm>
            <a:off x="6380683" y="2926080"/>
            <a:ext cx="124449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libstdc++</a:t>
            </a:r>
            <a:endParaRPr lang="en-US" sz="1867" dirty="0"/>
          </a:p>
        </p:txBody>
      </p:sp>
      <p:sp>
        <p:nvSpPr>
          <p:cNvPr id="24" name="Shape 22"/>
          <p:cNvSpPr/>
          <p:nvPr/>
        </p:nvSpPr>
        <p:spPr>
          <a:xfrm>
            <a:off x="7716622" y="2926080"/>
            <a:ext cx="139903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5" name="Text 23"/>
          <p:cNvSpPr txBox="1"/>
          <p:nvPr/>
        </p:nvSpPr>
        <p:spPr>
          <a:xfrm>
            <a:off x="7716622" y="2926080"/>
            <a:ext cx="139903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MSVC STL</a:t>
            </a:r>
            <a:endParaRPr lang="en-US" sz="1867" dirty="0"/>
          </a:p>
        </p:txBody>
      </p:sp>
      <p:sp>
        <p:nvSpPr>
          <p:cNvPr id="26" name="Shape 24"/>
          <p:cNvSpPr/>
          <p:nvPr/>
        </p:nvSpPr>
        <p:spPr>
          <a:xfrm>
            <a:off x="9966960" y="2990088"/>
            <a:ext cx="201168" cy="201168"/>
          </a:xfrm>
          <a:prstGeom prst="ellipse">
            <a:avLst/>
          </a:prstGeom>
          <a:solidFill>
            <a:srgbClr val="3FA34D"/>
          </a:solidFill>
          <a:ln w="12700">
            <a:solidFill>
              <a:srgbClr val="3FA34D"/>
            </a:solidFill>
            <a:prstDash val="solid"/>
          </a:ln>
        </p:spPr>
        <p:txBody>
          <a:bodyPr/>
          <a:lstStyle/>
          <a:p>
            <a:endParaRPr lang="en-US"/>
          </a:p>
        </p:txBody>
      </p:sp>
      <p:sp>
        <p:nvSpPr>
          <p:cNvPr id="27" name="Shape 25"/>
          <p:cNvSpPr/>
          <p:nvPr/>
        </p:nvSpPr>
        <p:spPr>
          <a:xfrm>
            <a:off x="10251948" y="2990088"/>
            <a:ext cx="201168" cy="201168"/>
          </a:xfrm>
          <a:prstGeom prst="ellipse">
            <a:avLst/>
          </a:prstGeom>
          <a:solidFill>
            <a:srgbClr val="D9A62B"/>
          </a:solidFill>
          <a:ln w="12700">
            <a:solidFill>
              <a:srgbClr val="D9A62B"/>
            </a:solidFill>
            <a:prstDash val="solid"/>
          </a:ln>
        </p:spPr>
        <p:txBody>
          <a:bodyPr/>
          <a:lstStyle/>
          <a:p>
            <a:endParaRPr lang="en-US"/>
          </a:p>
        </p:txBody>
      </p:sp>
      <p:sp>
        <p:nvSpPr>
          <p:cNvPr id="28" name="Text 26"/>
          <p:cNvSpPr txBox="1"/>
          <p:nvPr/>
        </p:nvSpPr>
        <p:spPr>
          <a:xfrm>
            <a:off x="10530840" y="288036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29" name="Shape 27"/>
          <p:cNvSpPr/>
          <p:nvPr/>
        </p:nvSpPr>
        <p:spPr>
          <a:xfrm>
            <a:off x="932688" y="3300984"/>
            <a:ext cx="10515600" cy="0"/>
          </a:xfrm>
          <a:prstGeom prst="line">
            <a:avLst/>
          </a:prstGeom>
          <a:noFill/>
          <a:ln w="9525">
            <a:solidFill>
              <a:srgbClr val="D9D9D9"/>
            </a:solidFill>
            <a:prstDash val="solid"/>
          </a:ln>
        </p:spPr>
        <p:txBody>
          <a:bodyPr/>
          <a:lstStyle/>
          <a:p>
            <a:endParaRPr lang="en-US"/>
          </a:p>
        </p:txBody>
      </p:sp>
      <p:sp>
        <p:nvSpPr>
          <p:cNvPr id="30" name="Text 28"/>
          <p:cNvSpPr txBox="1"/>
          <p:nvPr/>
        </p:nvSpPr>
        <p:spPr>
          <a:xfrm>
            <a:off x="932688" y="3310128"/>
            <a:ext cx="192024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31" name="Text 29"/>
          <p:cNvSpPr txBox="1"/>
          <p:nvPr/>
        </p:nvSpPr>
        <p:spPr>
          <a:xfrm>
            <a:off x="2916936" y="3310128"/>
            <a:ext cx="237744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libc</a:t>
            </a:r>
            <a:endParaRPr lang="en-US" sz="2000" dirty="0"/>
          </a:p>
        </p:txBody>
      </p:sp>
      <p:sp>
        <p:nvSpPr>
          <p:cNvPr id="32" name="Shape 30"/>
          <p:cNvSpPr/>
          <p:nvPr/>
        </p:nvSpPr>
        <p:spPr>
          <a:xfrm>
            <a:off x="5349240" y="3364992"/>
            <a:ext cx="2773375"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3" name="Text 31"/>
          <p:cNvSpPr txBox="1"/>
          <p:nvPr/>
        </p:nvSpPr>
        <p:spPr>
          <a:xfrm>
            <a:off x="5349240" y="3364992"/>
            <a:ext cx="2512771"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_FORTIFY_SOURCE=3</a:t>
            </a:r>
            <a:endParaRPr lang="en-US" sz="1867" dirty="0"/>
          </a:p>
        </p:txBody>
      </p:sp>
      <p:sp>
        <p:nvSpPr>
          <p:cNvPr id="34" name="Shape 32"/>
          <p:cNvSpPr/>
          <p:nvPr/>
        </p:nvSpPr>
        <p:spPr>
          <a:xfrm>
            <a:off x="5349240" y="3749040"/>
            <a:ext cx="2512771"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5" name="Text 33"/>
          <p:cNvSpPr txBox="1"/>
          <p:nvPr/>
        </p:nvSpPr>
        <p:spPr>
          <a:xfrm>
            <a:off x="5349240" y="3749040"/>
            <a:ext cx="2512771"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-fstrict-flex-arrays=3</a:t>
            </a:r>
            <a:endParaRPr lang="en-US" sz="1867" dirty="0"/>
          </a:p>
        </p:txBody>
      </p:sp>
      <p:sp>
        <p:nvSpPr>
          <p:cNvPr id="36" name="Shape 34"/>
          <p:cNvSpPr/>
          <p:nvPr/>
        </p:nvSpPr>
        <p:spPr>
          <a:xfrm>
            <a:off x="9966960" y="3621024"/>
            <a:ext cx="201168" cy="201168"/>
          </a:xfrm>
          <a:prstGeom prst="ellipse">
            <a:avLst/>
          </a:prstGeom>
          <a:solidFill>
            <a:srgbClr val="3FA34D"/>
          </a:solidFill>
          <a:ln w="12700">
            <a:solidFill>
              <a:srgbClr val="3FA34D"/>
            </a:solidFill>
            <a:prstDash val="solid"/>
          </a:ln>
        </p:spPr>
        <p:txBody>
          <a:bodyPr/>
          <a:lstStyle/>
          <a:p>
            <a:endParaRPr lang="en-US"/>
          </a:p>
        </p:txBody>
      </p:sp>
      <p:sp>
        <p:nvSpPr>
          <p:cNvPr id="37" name="Shape 35"/>
          <p:cNvSpPr/>
          <p:nvPr/>
        </p:nvSpPr>
        <p:spPr>
          <a:xfrm>
            <a:off x="10251948" y="3621024"/>
            <a:ext cx="201168" cy="201168"/>
          </a:xfrm>
          <a:prstGeom prst="ellipse">
            <a:avLst/>
          </a:prstGeom>
          <a:solidFill>
            <a:srgbClr val="C93B34"/>
          </a:solidFill>
          <a:ln w="12700">
            <a:solidFill>
              <a:srgbClr val="C93B34"/>
            </a:solidFill>
            <a:prstDash val="solid"/>
          </a:ln>
        </p:spPr>
        <p:txBody>
          <a:bodyPr/>
          <a:lstStyle/>
          <a:p>
            <a:endParaRPr lang="en-US"/>
          </a:p>
        </p:txBody>
      </p:sp>
      <p:sp>
        <p:nvSpPr>
          <p:cNvPr id="38" name="Text 36"/>
          <p:cNvSpPr txBox="1"/>
          <p:nvPr/>
        </p:nvSpPr>
        <p:spPr>
          <a:xfrm>
            <a:off x="10530840" y="350215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Windows</a:t>
            </a:r>
            <a:endParaRPr lang="en-US" sz="2000" dirty="0"/>
          </a:p>
        </p:txBody>
      </p:sp>
      <p:sp>
        <p:nvSpPr>
          <p:cNvPr id="39" name="Shape 37"/>
          <p:cNvSpPr/>
          <p:nvPr/>
        </p:nvSpPr>
        <p:spPr>
          <a:xfrm>
            <a:off x="932688" y="4123944"/>
            <a:ext cx="10515600" cy="0"/>
          </a:xfrm>
          <a:prstGeom prst="line">
            <a:avLst/>
          </a:prstGeom>
          <a:noFill/>
          <a:ln w="9525">
            <a:solidFill>
              <a:srgbClr val="D9D9D9"/>
            </a:solidFill>
            <a:prstDash val="solid"/>
          </a:ln>
        </p:spPr>
        <p:txBody>
          <a:bodyPr/>
          <a:lstStyle/>
          <a:p>
            <a:endParaRPr lang="en-US"/>
          </a:p>
        </p:txBody>
      </p:sp>
      <p:sp>
        <p:nvSpPr>
          <p:cNvPr id="40" name="Text 38"/>
          <p:cNvSpPr txBox="1"/>
          <p:nvPr/>
        </p:nvSpPr>
        <p:spPr>
          <a:xfrm>
            <a:off x="932688" y="4133088"/>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41" name="Text 39"/>
          <p:cNvSpPr txBox="1"/>
          <p:nvPr/>
        </p:nvSpPr>
        <p:spPr>
          <a:xfrm>
            <a:off x="2916936" y="4133088"/>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Traps</a:t>
            </a:r>
            <a:endParaRPr lang="en-US" sz="2000" dirty="0"/>
          </a:p>
        </p:txBody>
      </p:sp>
      <p:sp>
        <p:nvSpPr>
          <p:cNvPr id="42" name="Shape 40"/>
          <p:cNvSpPr/>
          <p:nvPr/>
        </p:nvSpPr>
        <p:spPr>
          <a:xfrm>
            <a:off x="5349240" y="4187952"/>
            <a:ext cx="362925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3" name="Text 41"/>
          <p:cNvSpPr txBox="1"/>
          <p:nvPr/>
        </p:nvSpPr>
        <p:spPr>
          <a:xfrm>
            <a:off x="5349240" y="4187952"/>
            <a:ext cx="362925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-fsanitize=bounds -fsanitize-trap</a:t>
            </a:r>
            <a:endParaRPr lang="en-US" sz="1867" dirty="0"/>
          </a:p>
        </p:txBody>
      </p:sp>
      <p:sp>
        <p:nvSpPr>
          <p:cNvPr id="44" name="Shape 42"/>
          <p:cNvSpPr/>
          <p:nvPr/>
        </p:nvSpPr>
        <p:spPr>
          <a:xfrm>
            <a:off x="9966960" y="4251960"/>
            <a:ext cx="201168" cy="201168"/>
          </a:xfrm>
          <a:prstGeom prst="ellipse">
            <a:avLst/>
          </a:prstGeom>
          <a:solidFill>
            <a:srgbClr val="D9A62B"/>
          </a:solidFill>
          <a:ln w="12700">
            <a:solidFill>
              <a:srgbClr val="D9A62B"/>
            </a:solidFill>
            <a:prstDash val="solid"/>
          </a:ln>
        </p:spPr>
        <p:txBody>
          <a:bodyPr/>
          <a:lstStyle/>
          <a:p>
            <a:endParaRPr lang="en-US"/>
          </a:p>
        </p:txBody>
      </p:sp>
      <p:sp>
        <p:nvSpPr>
          <p:cNvPr id="45" name="Shape 43"/>
          <p:cNvSpPr/>
          <p:nvPr/>
        </p:nvSpPr>
        <p:spPr>
          <a:xfrm>
            <a:off x="10244328" y="4251960"/>
            <a:ext cx="201168" cy="201168"/>
          </a:xfrm>
          <a:prstGeom prst="ellipse">
            <a:avLst/>
          </a:prstGeom>
          <a:solidFill>
            <a:srgbClr val="3FA34D"/>
          </a:solidFill>
          <a:ln w="12700">
            <a:solidFill>
              <a:srgbClr val="3FA34D"/>
            </a:solidFill>
            <a:prstDash val="solid"/>
          </a:ln>
        </p:spPr>
        <p:txBody>
          <a:bodyPr/>
          <a:lstStyle/>
          <a:p>
            <a:endParaRPr lang="en-US"/>
          </a:p>
        </p:txBody>
      </p:sp>
      <p:sp>
        <p:nvSpPr>
          <p:cNvPr id="46" name="Text 44"/>
          <p:cNvSpPr txBox="1"/>
          <p:nvPr/>
        </p:nvSpPr>
        <p:spPr>
          <a:xfrm>
            <a:off x="10523220" y="413308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Android</a:t>
            </a:r>
            <a:endParaRPr lang="en-US" sz="2000" dirty="0"/>
          </a:p>
        </p:txBody>
      </p:sp>
      <p:sp>
        <p:nvSpPr>
          <p:cNvPr id="47" name="Shape 45"/>
          <p:cNvSpPr/>
          <p:nvPr/>
        </p:nvSpPr>
        <p:spPr>
          <a:xfrm>
            <a:off x="932688" y="4562856"/>
            <a:ext cx="10515600" cy="0"/>
          </a:xfrm>
          <a:prstGeom prst="line">
            <a:avLst/>
          </a:prstGeom>
          <a:noFill/>
          <a:ln w="9525">
            <a:solidFill>
              <a:srgbClr val="D9D9D9"/>
            </a:solidFill>
            <a:prstDash val="solid"/>
          </a:ln>
        </p:spPr>
        <p:txBody>
          <a:bodyPr/>
          <a:lstStyle/>
          <a:p>
            <a:endParaRPr lang="en-US"/>
          </a:p>
        </p:txBody>
      </p:sp>
      <p:sp>
        <p:nvSpPr>
          <p:cNvPr id="48" name="Text 46"/>
          <p:cNvSpPr txBox="1"/>
          <p:nvPr/>
        </p:nvSpPr>
        <p:spPr>
          <a:xfrm>
            <a:off x="932688" y="4572000"/>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49" name="Text 47"/>
          <p:cNvSpPr txBox="1"/>
          <p:nvPr/>
        </p:nvSpPr>
        <p:spPr>
          <a:xfrm>
            <a:off x="2916936" y="4572000"/>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Bounds-safe C</a:t>
            </a:r>
            <a:endParaRPr lang="en-US" sz="2000" dirty="0"/>
          </a:p>
        </p:txBody>
      </p:sp>
      <p:sp>
        <p:nvSpPr>
          <p:cNvPr id="50" name="Shape 48"/>
          <p:cNvSpPr/>
          <p:nvPr/>
        </p:nvSpPr>
        <p:spPr>
          <a:xfrm>
            <a:off x="5349240" y="4626864"/>
            <a:ext cx="3070555"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1" name="Text 49"/>
          <p:cNvSpPr txBox="1"/>
          <p:nvPr/>
        </p:nvSpPr>
        <p:spPr>
          <a:xfrm>
            <a:off x="5349240" y="4626864"/>
            <a:ext cx="3070555"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-fexperimental-bounds-safety</a:t>
            </a:r>
            <a:endParaRPr lang="en-US" sz="1867" dirty="0"/>
          </a:p>
        </p:txBody>
      </p:sp>
      <p:sp>
        <p:nvSpPr>
          <p:cNvPr id="52" name="Shape 50"/>
          <p:cNvSpPr/>
          <p:nvPr/>
        </p:nvSpPr>
        <p:spPr>
          <a:xfrm>
            <a:off x="9966960" y="4690872"/>
            <a:ext cx="201168" cy="201168"/>
          </a:xfrm>
          <a:prstGeom prst="ellipse">
            <a:avLst/>
          </a:prstGeom>
          <a:solidFill>
            <a:srgbClr val="D9A62B"/>
          </a:solidFill>
          <a:ln w="12700">
            <a:solidFill>
              <a:srgbClr val="D9A62B"/>
            </a:solidFill>
            <a:prstDash val="solid"/>
          </a:ln>
        </p:spPr>
        <p:txBody>
          <a:bodyPr/>
          <a:lstStyle/>
          <a:p>
            <a:endParaRPr lang="en-US"/>
          </a:p>
        </p:txBody>
      </p:sp>
      <p:sp>
        <p:nvSpPr>
          <p:cNvPr id="53" name="Text 51"/>
          <p:cNvSpPr txBox="1"/>
          <p:nvPr/>
        </p:nvSpPr>
        <p:spPr>
          <a:xfrm>
            <a:off x="10245852" y="456742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Apple</a:t>
            </a:r>
            <a:endParaRPr lang="en-US" sz="2000" dirty="0"/>
          </a:p>
        </p:txBody>
      </p:sp>
      <p:sp>
        <p:nvSpPr>
          <p:cNvPr id="54" name="Shape 52"/>
          <p:cNvSpPr/>
          <p:nvPr/>
        </p:nvSpPr>
        <p:spPr>
          <a:xfrm>
            <a:off x="932688" y="5001768"/>
            <a:ext cx="10515600" cy="0"/>
          </a:xfrm>
          <a:prstGeom prst="line">
            <a:avLst/>
          </a:prstGeom>
          <a:noFill/>
          <a:ln w="9525">
            <a:solidFill>
              <a:srgbClr val="D9D9D9"/>
            </a:solidFill>
            <a:prstDash val="solid"/>
          </a:ln>
        </p:spPr>
        <p:txBody>
          <a:bodyPr/>
          <a:lstStyle/>
          <a:p>
            <a:endParaRPr lang="en-US"/>
          </a:p>
        </p:txBody>
      </p:sp>
      <p:sp>
        <p:nvSpPr>
          <p:cNvPr id="55" name="Text 53"/>
          <p:cNvSpPr txBox="1"/>
          <p:nvPr/>
        </p:nvSpPr>
        <p:spPr>
          <a:xfrm>
            <a:off x="932688" y="5010912"/>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56" name="Text 54"/>
          <p:cNvSpPr txBox="1"/>
          <p:nvPr/>
        </p:nvSpPr>
        <p:spPr>
          <a:xfrm>
            <a:off x="2916936" y="5010912"/>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Stack canaries</a:t>
            </a:r>
            <a:endParaRPr lang="en-US" sz="2000" dirty="0"/>
          </a:p>
        </p:txBody>
      </p:sp>
      <p:sp>
        <p:nvSpPr>
          <p:cNvPr id="57" name="Shape 55"/>
          <p:cNvSpPr/>
          <p:nvPr/>
        </p:nvSpPr>
        <p:spPr>
          <a:xfrm>
            <a:off x="5349240" y="5065776"/>
            <a:ext cx="63550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8" name="Text 56"/>
          <p:cNvSpPr txBox="1"/>
          <p:nvPr/>
        </p:nvSpPr>
        <p:spPr>
          <a:xfrm>
            <a:off x="5349240" y="5065776"/>
            <a:ext cx="63550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/GS</a:t>
            </a:r>
            <a:endParaRPr lang="en-US" sz="1867" dirty="0"/>
          </a:p>
        </p:txBody>
      </p:sp>
      <p:sp>
        <p:nvSpPr>
          <p:cNvPr id="59" name="Shape 57"/>
          <p:cNvSpPr/>
          <p:nvPr/>
        </p:nvSpPr>
        <p:spPr>
          <a:xfrm>
            <a:off x="6076188" y="5065776"/>
            <a:ext cx="266456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0" name="Text 58"/>
          <p:cNvSpPr txBox="1"/>
          <p:nvPr/>
        </p:nvSpPr>
        <p:spPr>
          <a:xfrm>
            <a:off x="6076188" y="5065776"/>
            <a:ext cx="266456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-fstack-protector-strong</a:t>
            </a:r>
            <a:endParaRPr lang="en-US" sz="1867" dirty="0"/>
          </a:p>
        </p:txBody>
      </p:sp>
      <p:sp>
        <p:nvSpPr>
          <p:cNvPr id="61" name="Shape 59"/>
          <p:cNvSpPr/>
          <p:nvPr/>
        </p:nvSpPr>
        <p:spPr>
          <a:xfrm>
            <a:off x="9966960" y="5129784"/>
            <a:ext cx="201168" cy="201168"/>
          </a:xfrm>
          <a:prstGeom prst="ellipse">
            <a:avLst/>
          </a:prstGeom>
          <a:solidFill>
            <a:srgbClr val="3FA34D"/>
          </a:solidFill>
          <a:ln w="12700">
            <a:solidFill>
              <a:srgbClr val="3FA34D"/>
            </a:solidFill>
            <a:prstDash val="solid"/>
          </a:ln>
        </p:spPr>
        <p:txBody>
          <a:bodyPr/>
          <a:lstStyle/>
          <a:p>
            <a:endParaRPr lang="en-US"/>
          </a:p>
        </p:txBody>
      </p:sp>
      <p:sp>
        <p:nvSpPr>
          <p:cNvPr id="62" name="Shape 60"/>
          <p:cNvSpPr/>
          <p:nvPr/>
        </p:nvSpPr>
        <p:spPr>
          <a:xfrm>
            <a:off x="932688" y="5440680"/>
            <a:ext cx="10515600" cy="0"/>
          </a:xfrm>
          <a:prstGeom prst="line">
            <a:avLst/>
          </a:prstGeom>
          <a:noFill/>
          <a:ln w="9525">
            <a:solidFill>
              <a:srgbClr val="D9D9D9"/>
            </a:solidFill>
            <a:prstDash val="solid"/>
          </a:ln>
        </p:spPr>
        <p:txBody>
          <a:bodyPr/>
          <a:lstStyle/>
          <a:p>
            <a:endParaRPr lang="en-US"/>
          </a:p>
        </p:txBody>
      </p:sp>
      <p:sp>
        <p:nvSpPr>
          <p:cNvPr id="63" name="Text 61"/>
          <p:cNvSpPr txBox="1"/>
          <p:nvPr/>
        </p:nvSpPr>
        <p:spPr>
          <a:xfrm>
            <a:off x="932688" y="5449824"/>
            <a:ext cx="192024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Lifetime</a:t>
            </a:r>
            <a:endParaRPr lang="en-US" sz="2000" dirty="0"/>
          </a:p>
        </p:txBody>
      </p:sp>
      <p:sp>
        <p:nvSpPr>
          <p:cNvPr id="64" name="Text 62"/>
          <p:cNvSpPr txBox="1"/>
          <p:nvPr/>
        </p:nvSpPr>
        <p:spPr>
          <a:xfrm>
            <a:off x="2916936" y="5449824"/>
            <a:ext cx="237744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Quarantine</a:t>
            </a:r>
            <a:endParaRPr lang="en-US" sz="2000" dirty="0"/>
          </a:p>
        </p:txBody>
      </p:sp>
      <p:sp>
        <p:nvSpPr>
          <p:cNvPr id="65" name="Shape 63"/>
          <p:cNvSpPr/>
          <p:nvPr/>
        </p:nvSpPr>
        <p:spPr>
          <a:xfrm>
            <a:off x="5349240" y="5504688"/>
            <a:ext cx="1345997"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6" name="Text 64"/>
          <p:cNvSpPr txBox="1"/>
          <p:nvPr/>
        </p:nvSpPr>
        <p:spPr>
          <a:xfrm>
            <a:off x="5349240" y="5504688"/>
            <a:ext cx="1345997"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MiraclePtr</a:t>
            </a:r>
            <a:endParaRPr lang="en-US" sz="1867" dirty="0"/>
          </a:p>
        </p:txBody>
      </p:sp>
      <p:sp>
        <p:nvSpPr>
          <p:cNvPr id="67" name="Shape 65"/>
          <p:cNvSpPr/>
          <p:nvPr/>
        </p:nvSpPr>
        <p:spPr>
          <a:xfrm>
            <a:off x="5349240" y="5888736"/>
            <a:ext cx="307238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8" name="Text 66"/>
          <p:cNvSpPr txBox="1"/>
          <p:nvPr/>
        </p:nvSpPr>
        <p:spPr>
          <a:xfrm>
            <a:off x="5349240" y="5888736"/>
            <a:ext cx="307238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MSVC destructor tombstones</a:t>
            </a:r>
            <a:endParaRPr lang="en-US" sz="1867" dirty="0"/>
          </a:p>
        </p:txBody>
      </p:sp>
      <p:sp>
        <p:nvSpPr>
          <p:cNvPr id="69" name="Shape 67"/>
          <p:cNvSpPr/>
          <p:nvPr/>
        </p:nvSpPr>
        <p:spPr>
          <a:xfrm>
            <a:off x="9966960" y="5760720"/>
            <a:ext cx="201168" cy="201168"/>
          </a:xfrm>
          <a:prstGeom prst="ellipse">
            <a:avLst/>
          </a:prstGeom>
          <a:solidFill>
            <a:srgbClr val="D9A62B"/>
          </a:solidFill>
          <a:ln w="12700">
            <a:solidFill>
              <a:srgbClr val="D9A62B"/>
            </a:solidFill>
            <a:prstDash val="solid"/>
          </a:ln>
        </p:spPr>
        <p:txBody>
          <a:bodyPr/>
          <a:lstStyle/>
          <a:p>
            <a:endParaRPr lang="en-US"/>
          </a:p>
        </p:txBody>
      </p:sp>
      <p:sp>
        <p:nvSpPr>
          <p:cNvPr id="70" name="Shape 68"/>
          <p:cNvSpPr/>
          <p:nvPr/>
        </p:nvSpPr>
        <p:spPr>
          <a:xfrm>
            <a:off x="932688" y="6263640"/>
            <a:ext cx="10515600" cy="0"/>
          </a:xfrm>
          <a:prstGeom prst="line">
            <a:avLst/>
          </a:prstGeom>
          <a:noFill/>
          <a:ln w="9525">
            <a:solidFill>
              <a:srgbClr val="D9D9D9"/>
            </a:solidFill>
            <a:prstDash val="solid"/>
          </a:ln>
        </p:spPr>
        <p:txBody>
          <a:bodyPr/>
          <a:lstStyle/>
          <a:p>
            <a:endParaRPr lang="en-US"/>
          </a:p>
        </p:txBody>
      </p:sp>
      <p:sp>
        <p:nvSpPr>
          <p:cNvPr id="71" name="Text 69"/>
          <p:cNvSpPr txBox="1"/>
          <p:nvPr/>
        </p:nvSpPr>
        <p:spPr>
          <a:xfrm>
            <a:off x="932688" y="6272784"/>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Lifetime</a:t>
            </a:r>
            <a:endParaRPr lang="en-US" sz="2000" dirty="0"/>
          </a:p>
        </p:txBody>
      </p:sp>
      <p:sp>
        <p:nvSpPr>
          <p:cNvPr id="72" name="Text 70"/>
          <p:cNvSpPr txBox="1"/>
          <p:nvPr/>
        </p:nvSpPr>
        <p:spPr>
          <a:xfrm>
            <a:off x="2916936" y="6272784"/>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Hardened allocators</a:t>
            </a:r>
            <a:endParaRPr lang="en-US" sz="2000" dirty="0"/>
          </a:p>
        </p:txBody>
      </p:sp>
      <p:sp>
        <p:nvSpPr>
          <p:cNvPr id="73" name="Shape 71"/>
          <p:cNvSpPr/>
          <p:nvPr/>
        </p:nvSpPr>
        <p:spPr>
          <a:xfrm>
            <a:off x="5349240" y="6327648"/>
            <a:ext cx="78729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4" name="Text 72"/>
          <p:cNvSpPr txBox="1"/>
          <p:nvPr/>
        </p:nvSpPr>
        <p:spPr>
          <a:xfrm>
            <a:off x="5349240" y="6327648"/>
            <a:ext cx="78729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Scudo</a:t>
            </a:r>
            <a:endParaRPr lang="en-US" sz="1867" dirty="0"/>
          </a:p>
        </p:txBody>
      </p:sp>
      <p:sp>
        <p:nvSpPr>
          <p:cNvPr id="75" name="Shape 73"/>
          <p:cNvSpPr/>
          <p:nvPr/>
        </p:nvSpPr>
        <p:spPr>
          <a:xfrm>
            <a:off x="6227978" y="6327648"/>
            <a:ext cx="175199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6" name="Text 74"/>
          <p:cNvSpPr txBox="1"/>
          <p:nvPr/>
        </p:nvSpPr>
        <p:spPr>
          <a:xfrm>
            <a:off x="6227978" y="6327648"/>
            <a:ext cx="175199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PartitionAlloc</a:t>
            </a:r>
            <a:endParaRPr lang="en-US" sz="1867" dirty="0"/>
          </a:p>
        </p:txBody>
      </p:sp>
      <p:sp>
        <p:nvSpPr>
          <p:cNvPr id="77" name="Shape 75"/>
          <p:cNvSpPr/>
          <p:nvPr/>
        </p:nvSpPr>
        <p:spPr>
          <a:xfrm>
            <a:off x="8071409" y="6327648"/>
            <a:ext cx="154899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8" name="Text 76"/>
          <p:cNvSpPr txBox="1"/>
          <p:nvPr/>
        </p:nvSpPr>
        <p:spPr>
          <a:xfrm>
            <a:off x="8071409" y="6327648"/>
            <a:ext cx="154899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Segment Heap</a:t>
            </a:r>
            <a:endParaRPr lang="en-US" sz="1867" dirty="0"/>
          </a:p>
        </p:txBody>
      </p:sp>
      <p:sp>
        <p:nvSpPr>
          <p:cNvPr id="79" name="Shape 77"/>
          <p:cNvSpPr/>
          <p:nvPr/>
        </p:nvSpPr>
        <p:spPr>
          <a:xfrm>
            <a:off x="9966960" y="6391656"/>
            <a:ext cx="201168" cy="201168"/>
          </a:xfrm>
          <a:prstGeom prst="ellipse">
            <a:avLst/>
          </a:prstGeom>
          <a:solidFill>
            <a:srgbClr val="3FA34D"/>
          </a:solidFill>
          <a:ln w="12700">
            <a:solidFill>
              <a:srgbClr val="3FA34D"/>
            </a:solidFill>
            <a:prstDash val="solid"/>
          </a:ln>
        </p:spPr>
        <p:txBody>
          <a:bodyPr/>
          <a:lstStyle/>
          <a:p>
            <a:endParaRPr lang="en-US"/>
          </a:p>
        </p:txBody>
      </p:sp>
      <p:sp>
        <p:nvSpPr>
          <p:cNvPr id="80" name="Shape 78"/>
          <p:cNvSpPr/>
          <p:nvPr/>
        </p:nvSpPr>
        <p:spPr>
          <a:xfrm>
            <a:off x="10251948" y="6391656"/>
            <a:ext cx="201168" cy="201168"/>
          </a:xfrm>
          <a:prstGeom prst="ellipse">
            <a:avLst/>
          </a:prstGeom>
          <a:solidFill>
            <a:srgbClr val="D9A62B"/>
          </a:solidFill>
          <a:ln w="12700">
            <a:solidFill>
              <a:srgbClr val="D9A62B"/>
            </a:solidFill>
            <a:prstDash val="solid"/>
          </a:ln>
        </p:spPr>
        <p:txBody>
          <a:bodyPr/>
          <a:lstStyle/>
          <a:p>
            <a:endParaRPr lang="en-US"/>
          </a:p>
        </p:txBody>
      </p:sp>
      <p:sp>
        <p:nvSpPr>
          <p:cNvPr id="81" name="Text 79"/>
          <p:cNvSpPr txBox="1"/>
          <p:nvPr/>
        </p:nvSpPr>
        <p:spPr>
          <a:xfrm>
            <a:off x="10530840" y="627888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Windows</a:t>
            </a:r>
            <a:endParaRPr lang="en-US" sz="2000" dirty="0"/>
          </a:p>
        </p:txBody>
      </p:sp>
      <p:sp>
        <p:nvSpPr>
          <p:cNvPr id="82" name="Title 81">
            <a:extLst>
              <a:ext uri="{FF2B5EF4-FFF2-40B4-BE49-F238E27FC236}">
                <a16:creationId xmlns:a16="http://schemas.microsoft.com/office/drawing/2014/main" id="{858B1F17-6DE2-458C-EA0F-A1F978193215}"/>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Hardening</a:t>
            </a:r>
            <a:endParaRPr lang="en-US" dirty="0"/>
          </a:p>
        </p:txBody>
      </p:sp>
      <p:sp>
        <p:nvSpPr>
          <p:cNvPr id="83" name="TextBox 82">
            <a:extLst>
              <a:ext uri="{FF2B5EF4-FFF2-40B4-BE49-F238E27FC236}">
                <a16:creationId xmlns:a16="http://schemas.microsoft.com/office/drawing/2014/main" id="{B8E0AB8A-1550-1575-D066-7F812397F70D}"/>
              </a:ext>
            </a:extLst>
          </p:cNvPr>
          <p:cNvSpPr txBox="1"/>
          <p:nvPr/>
        </p:nvSpPr>
        <p:spPr>
          <a:xfrm>
            <a:off x="388645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1/3</a:t>
            </a:r>
            <a:endParaRPr lang="en-US" sz="2800" dirty="0">
              <a:solidFill>
                <a:schemeClr val="bg1">
                  <a:lumMod val="75000"/>
                </a:schemeClr>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32688"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Area</a:t>
            </a:r>
            <a:endParaRPr lang="en-US" sz="2400" dirty="0"/>
          </a:p>
        </p:txBody>
      </p:sp>
      <p:sp>
        <p:nvSpPr>
          <p:cNvPr id="4" name="Text 2"/>
          <p:cNvSpPr txBox="1"/>
          <p:nvPr/>
        </p:nvSpPr>
        <p:spPr>
          <a:xfrm>
            <a:off x="2916936"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Technique</a:t>
            </a:r>
            <a:endParaRPr lang="en-US" sz="2400" dirty="0"/>
          </a:p>
        </p:txBody>
      </p:sp>
      <p:sp>
        <p:nvSpPr>
          <p:cNvPr id="5" name="Text 3"/>
          <p:cNvSpPr txBox="1"/>
          <p:nvPr/>
        </p:nvSpPr>
        <p:spPr>
          <a:xfrm>
            <a:off x="5349240"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How</a:t>
            </a:r>
            <a:endParaRPr lang="en-US" sz="2400" dirty="0"/>
          </a:p>
        </p:txBody>
      </p:sp>
      <p:sp>
        <p:nvSpPr>
          <p:cNvPr id="6" name="Text 4"/>
          <p:cNvSpPr txBox="1"/>
          <p:nvPr/>
        </p:nvSpPr>
        <p:spPr>
          <a:xfrm>
            <a:off x="9966960" y="1581912"/>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Availability</a:t>
            </a:r>
            <a:endParaRPr lang="en-US" sz="2400" dirty="0"/>
          </a:p>
        </p:txBody>
      </p:sp>
      <p:sp>
        <p:nvSpPr>
          <p:cNvPr id="7" name="Shape 5"/>
          <p:cNvSpPr/>
          <p:nvPr/>
        </p:nvSpPr>
        <p:spPr>
          <a:xfrm>
            <a:off x="932688" y="1956816"/>
            <a:ext cx="10515600" cy="0"/>
          </a:xfrm>
          <a:prstGeom prst="line">
            <a:avLst/>
          </a:prstGeom>
          <a:noFill/>
          <a:ln w="12700">
            <a:solidFill>
              <a:srgbClr val="B8B8B8"/>
            </a:solidFill>
            <a:prstDash val="solid"/>
          </a:ln>
        </p:spPr>
        <p:txBody>
          <a:bodyPr/>
          <a:lstStyle/>
          <a:p>
            <a:endParaRPr lang="en-US" sz="2000"/>
          </a:p>
        </p:txBody>
      </p:sp>
      <p:sp>
        <p:nvSpPr>
          <p:cNvPr id="8" name="Text 6"/>
          <p:cNvSpPr txBox="1"/>
          <p:nvPr/>
        </p:nvSpPr>
        <p:spPr>
          <a:xfrm>
            <a:off x="932688" y="2048256"/>
            <a:ext cx="192024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Initialization</a:t>
            </a:r>
            <a:endParaRPr lang="en-US" sz="2000" dirty="0"/>
          </a:p>
        </p:txBody>
      </p:sp>
      <p:sp>
        <p:nvSpPr>
          <p:cNvPr id="9" name="Text 7"/>
          <p:cNvSpPr txBox="1"/>
          <p:nvPr/>
        </p:nvSpPr>
        <p:spPr>
          <a:xfrm>
            <a:off x="2916936" y="2048256"/>
            <a:ext cx="237744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Zero-init</a:t>
            </a:r>
            <a:endParaRPr lang="en-US" sz="2000" dirty="0"/>
          </a:p>
        </p:txBody>
      </p:sp>
      <p:sp>
        <p:nvSpPr>
          <p:cNvPr id="10" name="Shape 8"/>
          <p:cNvSpPr/>
          <p:nvPr/>
        </p:nvSpPr>
        <p:spPr>
          <a:xfrm>
            <a:off x="5349240" y="2103120"/>
            <a:ext cx="312176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1" name="Text 9"/>
          <p:cNvSpPr txBox="1"/>
          <p:nvPr/>
        </p:nvSpPr>
        <p:spPr>
          <a:xfrm>
            <a:off x="5349240" y="2103120"/>
            <a:ext cx="281940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-ftrivial-auto-var-init=zero</a:t>
            </a:r>
            <a:endParaRPr lang="en-US" sz="1867" dirty="0"/>
          </a:p>
        </p:txBody>
      </p:sp>
      <p:sp>
        <p:nvSpPr>
          <p:cNvPr id="12" name="Shape 10"/>
          <p:cNvSpPr/>
          <p:nvPr/>
        </p:nvSpPr>
        <p:spPr>
          <a:xfrm>
            <a:off x="8562442" y="2103120"/>
            <a:ext cx="63459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3" name="Text 11"/>
          <p:cNvSpPr txBox="1"/>
          <p:nvPr/>
        </p:nvSpPr>
        <p:spPr>
          <a:xfrm>
            <a:off x="8562442" y="2103120"/>
            <a:ext cx="63459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/sdl</a:t>
            </a:r>
            <a:endParaRPr lang="en-US" sz="1867" dirty="0"/>
          </a:p>
        </p:txBody>
      </p:sp>
      <p:sp>
        <p:nvSpPr>
          <p:cNvPr id="14" name="Shape 12"/>
          <p:cNvSpPr/>
          <p:nvPr/>
        </p:nvSpPr>
        <p:spPr>
          <a:xfrm>
            <a:off x="5349240" y="2487168"/>
            <a:ext cx="154990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5" name="Text 13"/>
          <p:cNvSpPr txBox="1"/>
          <p:nvPr/>
        </p:nvSpPr>
        <p:spPr>
          <a:xfrm>
            <a:off x="5349240" y="2487168"/>
            <a:ext cx="154990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C++26 P2795</a:t>
            </a:r>
            <a:endParaRPr lang="en-US" sz="1867" dirty="0"/>
          </a:p>
        </p:txBody>
      </p:sp>
      <p:sp>
        <p:nvSpPr>
          <p:cNvPr id="16" name="Shape 14"/>
          <p:cNvSpPr/>
          <p:nvPr/>
        </p:nvSpPr>
        <p:spPr>
          <a:xfrm>
            <a:off x="9966960" y="2359152"/>
            <a:ext cx="201168" cy="201168"/>
          </a:xfrm>
          <a:prstGeom prst="ellipse">
            <a:avLst/>
          </a:prstGeom>
          <a:solidFill>
            <a:srgbClr val="3FA34D"/>
          </a:solidFill>
          <a:ln w="12700">
            <a:solidFill>
              <a:srgbClr val="3FA34D"/>
            </a:solidFill>
            <a:prstDash val="solid"/>
          </a:ln>
        </p:spPr>
        <p:txBody>
          <a:bodyPr/>
          <a:lstStyle/>
          <a:p>
            <a:endParaRPr lang="en-US"/>
          </a:p>
        </p:txBody>
      </p:sp>
      <p:sp>
        <p:nvSpPr>
          <p:cNvPr id="17" name="Shape 15"/>
          <p:cNvSpPr/>
          <p:nvPr/>
        </p:nvSpPr>
        <p:spPr>
          <a:xfrm>
            <a:off x="932688" y="2862072"/>
            <a:ext cx="10515600" cy="0"/>
          </a:xfrm>
          <a:prstGeom prst="line">
            <a:avLst/>
          </a:prstGeom>
          <a:noFill/>
          <a:ln w="9525">
            <a:solidFill>
              <a:srgbClr val="D9D9D9"/>
            </a:solidFill>
            <a:prstDash val="solid"/>
          </a:ln>
        </p:spPr>
        <p:txBody>
          <a:bodyPr/>
          <a:lstStyle/>
          <a:p>
            <a:endParaRPr lang="en-US"/>
          </a:p>
        </p:txBody>
      </p:sp>
      <p:sp>
        <p:nvSpPr>
          <p:cNvPr id="18" name="Text 16"/>
          <p:cNvSpPr txBox="1"/>
          <p:nvPr/>
        </p:nvSpPr>
        <p:spPr>
          <a:xfrm>
            <a:off x="932688" y="2871216"/>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19" name="Text 17"/>
          <p:cNvSpPr txBox="1"/>
          <p:nvPr/>
        </p:nvSpPr>
        <p:spPr>
          <a:xfrm>
            <a:off x="2916936" y="2871216"/>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Hardened STL</a:t>
            </a:r>
            <a:endParaRPr lang="en-US" sz="2000" dirty="0"/>
          </a:p>
        </p:txBody>
      </p:sp>
      <p:sp>
        <p:nvSpPr>
          <p:cNvPr id="20" name="Shape 18"/>
          <p:cNvSpPr/>
          <p:nvPr/>
        </p:nvSpPr>
        <p:spPr>
          <a:xfrm>
            <a:off x="5349240" y="2926080"/>
            <a:ext cx="940003"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1" name="Text 19"/>
          <p:cNvSpPr txBox="1"/>
          <p:nvPr/>
        </p:nvSpPr>
        <p:spPr>
          <a:xfrm>
            <a:off x="5349240" y="2926080"/>
            <a:ext cx="940003"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libc++</a:t>
            </a:r>
            <a:endParaRPr lang="en-US" sz="1867" dirty="0"/>
          </a:p>
        </p:txBody>
      </p:sp>
      <p:sp>
        <p:nvSpPr>
          <p:cNvPr id="22" name="Shape 20"/>
          <p:cNvSpPr/>
          <p:nvPr/>
        </p:nvSpPr>
        <p:spPr>
          <a:xfrm>
            <a:off x="6380683" y="2926080"/>
            <a:ext cx="124449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3" name="Text 21"/>
          <p:cNvSpPr txBox="1"/>
          <p:nvPr/>
        </p:nvSpPr>
        <p:spPr>
          <a:xfrm>
            <a:off x="6380683" y="2926080"/>
            <a:ext cx="124449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libstdc++</a:t>
            </a:r>
            <a:endParaRPr lang="en-US" sz="1867" dirty="0"/>
          </a:p>
        </p:txBody>
      </p:sp>
      <p:sp>
        <p:nvSpPr>
          <p:cNvPr id="24" name="Shape 22"/>
          <p:cNvSpPr/>
          <p:nvPr/>
        </p:nvSpPr>
        <p:spPr>
          <a:xfrm>
            <a:off x="7716622" y="2926080"/>
            <a:ext cx="139903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5" name="Text 23"/>
          <p:cNvSpPr txBox="1"/>
          <p:nvPr/>
        </p:nvSpPr>
        <p:spPr>
          <a:xfrm>
            <a:off x="7716622" y="2926080"/>
            <a:ext cx="139903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MSVC STL</a:t>
            </a:r>
            <a:endParaRPr lang="en-US" sz="1867" dirty="0"/>
          </a:p>
        </p:txBody>
      </p:sp>
      <p:sp>
        <p:nvSpPr>
          <p:cNvPr id="26" name="Shape 24"/>
          <p:cNvSpPr/>
          <p:nvPr/>
        </p:nvSpPr>
        <p:spPr>
          <a:xfrm>
            <a:off x="9966960" y="2990088"/>
            <a:ext cx="201168" cy="201168"/>
          </a:xfrm>
          <a:prstGeom prst="ellipse">
            <a:avLst/>
          </a:prstGeom>
          <a:solidFill>
            <a:srgbClr val="3FA34D"/>
          </a:solidFill>
          <a:ln w="12700">
            <a:solidFill>
              <a:srgbClr val="3FA34D"/>
            </a:solidFill>
            <a:prstDash val="solid"/>
          </a:ln>
        </p:spPr>
        <p:txBody>
          <a:bodyPr/>
          <a:lstStyle/>
          <a:p>
            <a:endParaRPr lang="en-US"/>
          </a:p>
        </p:txBody>
      </p:sp>
      <p:sp>
        <p:nvSpPr>
          <p:cNvPr id="27" name="Shape 25"/>
          <p:cNvSpPr/>
          <p:nvPr/>
        </p:nvSpPr>
        <p:spPr>
          <a:xfrm>
            <a:off x="10251948" y="2990088"/>
            <a:ext cx="201168" cy="201168"/>
          </a:xfrm>
          <a:prstGeom prst="ellipse">
            <a:avLst/>
          </a:prstGeom>
          <a:solidFill>
            <a:srgbClr val="D9A62B"/>
          </a:solidFill>
          <a:ln w="12700">
            <a:solidFill>
              <a:srgbClr val="D9A62B"/>
            </a:solidFill>
            <a:prstDash val="solid"/>
          </a:ln>
        </p:spPr>
        <p:txBody>
          <a:bodyPr/>
          <a:lstStyle/>
          <a:p>
            <a:endParaRPr lang="en-US"/>
          </a:p>
        </p:txBody>
      </p:sp>
      <p:sp>
        <p:nvSpPr>
          <p:cNvPr id="28" name="Text 26"/>
          <p:cNvSpPr txBox="1"/>
          <p:nvPr/>
        </p:nvSpPr>
        <p:spPr>
          <a:xfrm>
            <a:off x="10530840" y="288036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29" name="Shape 27"/>
          <p:cNvSpPr/>
          <p:nvPr/>
        </p:nvSpPr>
        <p:spPr>
          <a:xfrm>
            <a:off x="932688" y="3300984"/>
            <a:ext cx="10515600" cy="0"/>
          </a:xfrm>
          <a:prstGeom prst="line">
            <a:avLst/>
          </a:prstGeom>
          <a:noFill/>
          <a:ln w="9525">
            <a:solidFill>
              <a:srgbClr val="D9D9D9"/>
            </a:solidFill>
            <a:prstDash val="solid"/>
          </a:ln>
        </p:spPr>
        <p:txBody>
          <a:bodyPr/>
          <a:lstStyle/>
          <a:p>
            <a:endParaRPr lang="en-US"/>
          </a:p>
        </p:txBody>
      </p:sp>
      <p:sp>
        <p:nvSpPr>
          <p:cNvPr id="30" name="Text 28"/>
          <p:cNvSpPr txBox="1"/>
          <p:nvPr/>
        </p:nvSpPr>
        <p:spPr>
          <a:xfrm>
            <a:off x="932688" y="3310128"/>
            <a:ext cx="192024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31" name="Text 29"/>
          <p:cNvSpPr txBox="1"/>
          <p:nvPr/>
        </p:nvSpPr>
        <p:spPr>
          <a:xfrm>
            <a:off x="2916936" y="3310128"/>
            <a:ext cx="237744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libc</a:t>
            </a:r>
            <a:endParaRPr lang="en-US" sz="2000" dirty="0"/>
          </a:p>
        </p:txBody>
      </p:sp>
      <p:sp>
        <p:nvSpPr>
          <p:cNvPr id="32" name="Shape 30"/>
          <p:cNvSpPr/>
          <p:nvPr/>
        </p:nvSpPr>
        <p:spPr>
          <a:xfrm>
            <a:off x="5349240" y="3364992"/>
            <a:ext cx="2773375"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3" name="Text 31"/>
          <p:cNvSpPr txBox="1"/>
          <p:nvPr/>
        </p:nvSpPr>
        <p:spPr>
          <a:xfrm>
            <a:off x="5349240" y="3364992"/>
            <a:ext cx="2512771"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_FORTIFY_SOURCE=3</a:t>
            </a:r>
            <a:endParaRPr lang="en-US" sz="1867" dirty="0"/>
          </a:p>
        </p:txBody>
      </p:sp>
      <p:sp>
        <p:nvSpPr>
          <p:cNvPr id="34" name="Shape 32"/>
          <p:cNvSpPr/>
          <p:nvPr/>
        </p:nvSpPr>
        <p:spPr>
          <a:xfrm>
            <a:off x="5349240" y="3749040"/>
            <a:ext cx="2512771"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5" name="Text 33"/>
          <p:cNvSpPr txBox="1"/>
          <p:nvPr/>
        </p:nvSpPr>
        <p:spPr>
          <a:xfrm>
            <a:off x="5349240" y="3749040"/>
            <a:ext cx="2512771"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-fstrict-flex-arrays=3</a:t>
            </a:r>
            <a:endParaRPr lang="en-US" sz="1867" dirty="0"/>
          </a:p>
        </p:txBody>
      </p:sp>
      <p:sp>
        <p:nvSpPr>
          <p:cNvPr id="36" name="Shape 34"/>
          <p:cNvSpPr/>
          <p:nvPr/>
        </p:nvSpPr>
        <p:spPr>
          <a:xfrm>
            <a:off x="9966960" y="3621024"/>
            <a:ext cx="201168" cy="201168"/>
          </a:xfrm>
          <a:prstGeom prst="ellipse">
            <a:avLst/>
          </a:prstGeom>
          <a:solidFill>
            <a:srgbClr val="3FA34D"/>
          </a:solidFill>
          <a:ln w="12700">
            <a:solidFill>
              <a:srgbClr val="3FA34D"/>
            </a:solidFill>
            <a:prstDash val="solid"/>
          </a:ln>
        </p:spPr>
        <p:txBody>
          <a:bodyPr/>
          <a:lstStyle/>
          <a:p>
            <a:endParaRPr lang="en-US"/>
          </a:p>
        </p:txBody>
      </p:sp>
      <p:sp>
        <p:nvSpPr>
          <p:cNvPr id="37" name="Shape 35"/>
          <p:cNvSpPr/>
          <p:nvPr/>
        </p:nvSpPr>
        <p:spPr>
          <a:xfrm>
            <a:off x="10251948" y="3621024"/>
            <a:ext cx="201168" cy="201168"/>
          </a:xfrm>
          <a:prstGeom prst="ellipse">
            <a:avLst/>
          </a:prstGeom>
          <a:solidFill>
            <a:srgbClr val="C93B34"/>
          </a:solidFill>
          <a:ln w="12700">
            <a:solidFill>
              <a:srgbClr val="C93B34"/>
            </a:solidFill>
            <a:prstDash val="solid"/>
          </a:ln>
        </p:spPr>
        <p:txBody>
          <a:bodyPr/>
          <a:lstStyle/>
          <a:p>
            <a:endParaRPr lang="en-US"/>
          </a:p>
        </p:txBody>
      </p:sp>
      <p:sp>
        <p:nvSpPr>
          <p:cNvPr id="38" name="Text 36"/>
          <p:cNvSpPr txBox="1"/>
          <p:nvPr/>
        </p:nvSpPr>
        <p:spPr>
          <a:xfrm>
            <a:off x="10530840" y="350215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Windows</a:t>
            </a:r>
            <a:endParaRPr lang="en-US" sz="2000" dirty="0"/>
          </a:p>
        </p:txBody>
      </p:sp>
      <p:sp>
        <p:nvSpPr>
          <p:cNvPr id="39" name="Shape 37"/>
          <p:cNvSpPr/>
          <p:nvPr/>
        </p:nvSpPr>
        <p:spPr>
          <a:xfrm>
            <a:off x="932688" y="4123944"/>
            <a:ext cx="10515600" cy="0"/>
          </a:xfrm>
          <a:prstGeom prst="line">
            <a:avLst/>
          </a:prstGeom>
          <a:noFill/>
          <a:ln w="9525">
            <a:solidFill>
              <a:srgbClr val="D9D9D9"/>
            </a:solidFill>
            <a:prstDash val="solid"/>
          </a:ln>
        </p:spPr>
        <p:txBody>
          <a:bodyPr/>
          <a:lstStyle/>
          <a:p>
            <a:endParaRPr lang="en-US"/>
          </a:p>
        </p:txBody>
      </p:sp>
      <p:sp>
        <p:nvSpPr>
          <p:cNvPr id="40" name="Text 38"/>
          <p:cNvSpPr txBox="1"/>
          <p:nvPr/>
        </p:nvSpPr>
        <p:spPr>
          <a:xfrm>
            <a:off x="932688" y="4133088"/>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41" name="Text 39"/>
          <p:cNvSpPr txBox="1"/>
          <p:nvPr/>
        </p:nvSpPr>
        <p:spPr>
          <a:xfrm>
            <a:off x="2916936" y="4133088"/>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Traps</a:t>
            </a:r>
            <a:endParaRPr lang="en-US" sz="2000" dirty="0"/>
          </a:p>
        </p:txBody>
      </p:sp>
      <p:sp>
        <p:nvSpPr>
          <p:cNvPr id="42" name="Shape 40"/>
          <p:cNvSpPr/>
          <p:nvPr/>
        </p:nvSpPr>
        <p:spPr>
          <a:xfrm>
            <a:off x="5349240" y="4187952"/>
            <a:ext cx="362925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3" name="Text 41"/>
          <p:cNvSpPr txBox="1"/>
          <p:nvPr/>
        </p:nvSpPr>
        <p:spPr>
          <a:xfrm>
            <a:off x="5349240" y="4187952"/>
            <a:ext cx="362925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-fsanitize=bounds -fsanitize-trap</a:t>
            </a:r>
            <a:endParaRPr lang="en-US" sz="1867" dirty="0"/>
          </a:p>
        </p:txBody>
      </p:sp>
      <p:sp>
        <p:nvSpPr>
          <p:cNvPr id="44" name="Shape 42"/>
          <p:cNvSpPr/>
          <p:nvPr/>
        </p:nvSpPr>
        <p:spPr>
          <a:xfrm>
            <a:off x="9966960" y="4251960"/>
            <a:ext cx="201168" cy="201168"/>
          </a:xfrm>
          <a:prstGeom prst="ellipse">
            <a:avLst/>
          </a:prstGeom>
          <a:solidFill>
            <a:srgbClr val="D9A62B"/>
          </a:solidFill>
          <a:ln w="12700">
            <a:solidFill>
              <a:srgbClr val="D9A62B"/>
            </a:solidFill>
            <a:prstDash val="solid"/>
          </a:ln>
        </p:spPr>
        <p:txBody>
          <a:bodyPr/>
          <a:lstStyle/>
          <a:p>
            <a:endParaRPr lang="en-US"/>
          </a:p>
        </p:txBody>
      </p:sp>
      <p:sp>
        <p:nvSpPr>
          <p:cNvPr id="45" name="Shape 43"/>
          <p:cNvSpPr/>
          <p:nvPr/>
        </p:nvSpPr>
        <p:spPr>
          <a:xfrm>
            <a:off x="10244328" y="4251960"/>
            <a:ext cx="201168" cy="201168"/>
          </a:xfrm>
          <a:prstGeom prst="ellipse">
            <a:avLst/>
          </a:prstGeom>
          <a:solidFill>
            <a:srgbClr val="3FA34D"/>
          </a:solidFill>
          <a:ln w="12700">
            <a:solidFill>
              <a:srgbClr val="3FA34D"/>
            </a:solidFill>
            <a:prstDash val="solid"/>
          </a:ln>
        </p:spPr>
        <p:txBody>
          <a:bodyPr/>
          <a:lstStyle/>
          <a:p>
            <a:endParaRPr lang="en-US"/>
          </a:p>
        </p:txBody>
      </p:sp>
      <p:sp>
        <p:nvSpPr>
          <p:cNvPr id="46" name="Text 44"/>
          <p:cNvSpPr txBox="1"/>
          <p:nvPr/>
        </p:nvSpPr>
        <p:spPr>
          <a:xfrm>
            <a:off x="10523220" y="413308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Android</a:t>
            </a:r>
            <a:endParaRPr lang="en-US" sz="2000" dirty="0"/>
          </a:p>
        </p:txBody>
      </p:sp>
      <p:sp>
        <p:nvSpPr>
          <p:cNvPr id="47" name="Shape 45"/>
          <p:cNvSpPr/>
          <p:nvPr/>
        </p:nvSpPr>
        <p:spPr>
          <a:xfrm>
            <a:off x="932688" y="4562856"/>
            <a:ext cx="10515600" cy="0"/>
          </a:xfrm>
          <a:prstGeom prst="line">
            <a:avLst/>
          </a:prstGeom>
          <a:noFill/>
          <a:ln w="9525">
            <a:solidFill>
              <a:srgbClr val="D9D9D9"/>
            </a:solidFill>
            <a:prstDash val="solid"/>
          </a:ln>
        </p:spPr>
        <p:txBody>
          <a:bodyPr/>
          <a:lstStyle/>
          <a:p>
            <a:endParaRPr lang="en-US"/>
          </a:p>
        </p:txBody>
      </p:sp>
      <p:sp>
        <p:nvSpPr>
          <p:cNvPr id="48" name="Text 46"/>
          <p:cNvSpPr txBox="1"/>
          <p:nvPr/>
        </p:nvSpPr>
        <p:spPr>
          <a:xfrm>
            <a:off x="932688" y="4572000"/>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49" name="Text 47"/>
          <p:cNvSpPr txBox="1"/>
          <p:nvPr/>
        </p:nvSpPr>
        <p:spPr>
          <a:xfrm>
            <a:off x="2916936" y="4572000"/>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Bounds-safe C</a:t>
            </a:r>
            <a:endParaRPr lang="en-US" sz="2000" dirty="0"/>
          </a:p>
        </p:txBody>
      </p:sp>
      <p:sp>
        <p:nvSpPr>
          <p:cNvPr id="50" name="Shape 48"/>
          <p:cNvSpPr/>
          <p:nvPr/>
        </p:nvSpPr>
        <p:spPr>
          <a:xfrm>
            <a:off x="5349240" y="4626864"/>
            <a:ext cx="3070555"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1" name="Text 49"/>
          <p:cNvSpPr txBox="1"/>
          <p:nvPr/>
        </p:nvSpPr>
        <p:spPr>
          <a:xfrm>
            <a:off x="5349240" y="4626864"/>
            <a:ext cx="3070555"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-fexperimental-bounds-safety</a:t>
            </a:r>
            <a:endParaRPr lang="en-US" sz="1867" dirty="0"/>
          </a:p>
        </p:txBody>
      </p:sp>
      <p:sp>
        <p:nvSpPr>
          <p:cNvPr id="52" name="Shape 50"/>
          <p:cNvSpPr/>
          <p:nvPr/>
        </p:nvSpPr>
        <p:spPr>
          <a:xfrm>
            <a:off x="9966960" y="4690872"/>
            <a:ext cx="201168" cy="201168"/>
          </a:xfrm>
          <a:prstGeom prst="ellipse">
            <a:avLst/>
          </a:prstGeom>
          <a:solidFill>
            <a:srgbClr val="D9A62B"/>
          </a:solidFill>
          <a:ln w="12700">
            <a:solidFill>
              <a:srgbClr val="D9A62B"/>
            </a:solidFill>
            <a:prstDash val="solid"/>
          </a:ln>
        </p:spPr>
        <p:txBody>
          <a:bodyPr/>
          <a:lstStyle/>
          <a:p>
            <a:endParaRPr lang="en-US"/>
          </a:p>
        </p:txBody>
      </p:sp>
      <p:sp>
        <p:nvSpPr>
          <p:cNvPr id="53" name="Text 51"/>
          <p:cNvSpPr txBox="1"/>
          <p:nvPr/>
        </p:nvSpPr>
        <p:spPr>
          <a:xfrm>
            <a:off x="10245852" y="456742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Apple</a:t>
            </a:r>
            <a:endParaRPr lang="en-US" sz="2000" dirty="0"/>
          </a:p>
        </p:txBody>
      </p:sp>
      <p:sp>
        <p:nvSpPr>
          <p:cNvPr id="54" name="Shape 52"/>
          <p:cNvSpPr/>
          <p:nvPr/>
        </p:nvSpPr>
        <p:spPr>
          <a:xfrm>
            <a:off x="932688" y="5001768"/>
            <a:ext cx="10515600" cy="0"/>
          </a:xfrm>
          <a:prstGeom prst="line">
            <a:avLst/>
          </a:prstGeom>
          <a:noFill/>
          <a:ln w="9525">
            <a:solidFill>
              <a:srgbClr val="D9D9D9"/>
            </a:solidFill>
            <a:prstDash val="solid"/>
          </a:ln>
        </p:spPr>
        <p:txBody>
          <a:bodyPr/>
          <a:lstStyle/>
          <a:p>
            <a:endParaRPr lang="en-US"/>
          </a:p>
        </p:txBody>
      </p:sp>
      <p:sp>
        <p:nvSpPr>
          <p:cNvPr id="55" name="Text 53"/>
          <p:cNvSpPr txBox="1"/>
          <p:nvPr/>
        </p:nvSpPr>
        <p:spPr>
          <a:xfrm>
            <a:off x="932688" y="5010912"/>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Bounds</a:t>
            </a:r>
            <a:endParaRPr lang="en-US" sz="2000" dirty="0"/>
          </a:p>
        </p:txBody>
      </p:sp>
      <p:sp>
        <p:nvSpPr>
          <p:cNvPr id="56" name="Text 54"/>
          <p:cNvSpPr txBox="1"/>
          <p:nvPr/>
        </p:nvSpPr>
        <p:spPr>
          <a:xfrm>
            <a:off x="2916936" y="5010912"/>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Stack canaries</a:t>
            </a:r>
            <a:endParaRPr lang="en-US" sz="2000" dirty="0"/>
          </a:p>
        </p:txBody>
      </p:sp>
      <p:sp>
        <p:nvSpPr>
          <p:cNvPr id="57" name="Shape 55"/>
          <p:cNvSpPr/>
          <p:nvPr/>
        </p:nvSpPr>
        <p:spPr>
          <a:xfrm>
            <a:off x="5349240" y="5065776"/>
            <a:ext cx="63550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8" name="Text 56"/>
          <p:cNvSpPr txBox="1"/>
          <p:nvPr/>
        </p:nvSpPr>
        <p:spPr>
          <a:xfrm>
            <a:off x="5349240" y="5065776"/>
            <a:ext cx="63550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/GS</a:t>
            </a:r>
            <a:endParaRPr lang="en-US" sz="1867" dirty="0"/>
          </a:p>
        </p:txBody>
      </p:sp>
      <p:sp>
        <p:nvSpPr>
          <p:cNvPr id="59" name="Shape 57"/>
          <p:cNvSpPr/>
          <p:nvPr/>
        </p:nvSpPr>
        <p:spPr>
          <a:xfrm>
            <a:off x="6076188" y="5065776"/>
            <a:ext cx="266456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0" name="Text 58"/>
          <p:cNvSpPr txBox="1"/>
          <p:nvPr/>
        </p:nvSpPr>
        <p:spPr>
          <a:xfrm>
            <a:off x="6076188" y="5065776"/>
            <a:ext cx="266456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-fstack-protector-strong</a:t>
            </a:r>
            <a:endParaRPr lang="en-US" sz="1867" dirty="0"/>
          </a:p>
        </p:txBody>
      </p:sp>
      <p:sp>
        <p:nvSpPr>
          <p:cNvPr id="61" name="Shape 59"/>
          <p:cNvSpPr/>
          <p:nvPr/>
        </p:nvSpPr>
        <p:spPr>
          <a:xfrm>
            <a:off x="9966960" y="5129784"/>
            <a:ext cx="201168" cy="201168"/>
          </a:xfrm>
          <a:prstGeom prst="ellipse">
            <a:avLst/>
          </a:prstGeom>
          <a:solidFill>
            <a:srgbClr val="3FA34D"/>
          </a:solidFill>
          <a:ln w="12700">
            <a:solidFill>
              <a:srgbClr val="3FA34D"/>
            </a:solidFill>
            <a:prstDash val="solid"/>
          </a:ln>
        </p:spPr>
        <p:txBody>
          <a:bodyPr/>
          <a:lstStyle/>
          <a:p>
            <a:endParaRPr lang="en-US"/>
          </a:p>
        </p:txBody>
      </p:sp>
      <p:sp>
        <p:nvSpPr>
          <p:cNvPr id="62" name="Shape 60"/>
          <p:cNvSpPr/>
          <p:nvPr/>
        </p:nvSpPr>
        <p:spPr>
          <a:xfrm>
            <a:off x="932688" y="5440680"/>
            <a:ext cx="10515600" cy="0"/>
          </a:xfrm>
          <a:prstGeom prst="line">
            <a:avLst/>
          </a:prstGeom>
          <a:noFill/>
          <a:ln w="9525">
            <a:solidFill>
              <a:srgbClr val="D9D9D9"/>
            </a:solidFill>
            <a:prstDash val="solid"/>
          </a:ln>
        </p:spPr>
        <p:txBody>
          <a:bodyPr/>
          <a:lstStyle/>
          <a:p>
            <a:endParaRPr lang="en-US"/>
          </a:p>
        </p:txBody>
      </p:sp>
      <p:sp>
        <p:nvSpPr>
          <p:cNvPr id="63" name="Text 61"/>
          <p:cNvSpPr txBox="1"/>
          <p:nvPr/>
        </p:nvSpPr>
        <p:spPr>
          <a:xfrm>
            <a:off x="932688" y="5449824"/>
            <a:ext cx="192024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Lifetime</a:t>
            </a:r>
            <a:endParaRPr lang="en-US" sz="2000" dirty="0"/>
          </a:p>
        </p:txBody>
      </p:sp>
      <p:sp>
        <p:nvSpPr>
          <p:cNvPr id="64" name="Text 62"/>
          <p:cNvSpPr txBox="1"/>
          <p:nvPr/>
        </p:nvSpPr>
        <p:spPr>
          <a:xfrm>
            <a:off x="2916936" y="5449824"/>
            <a:ext cx="237744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Quarantine</a:t>
            </a:r>
            <a:endParaRPr lang="en-US" sz="2000" dirty="0"/>
          </a:p>
        </p:txBody>
      </p:sp>
      <p:sp>
        <p:nvSpPr>
          <p:cNvPr id="65" name="Shape 63"/>
          <p:cNvSpPr/>
          <p:nvPr/>
        </p:nvSpPr>
        <p:spPr>
          <a:xfrm>
            <a:off x="5349240" y="5504688"/>
            <a:ext cx="1345997"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6" name="Text 64"/>
          <p:cNvSpPr txBox="1"/>
          <p:nvPr/>
        </p:nvSpPr>
        <p:spPr>
          <a:xfrm>
            <a:off x="5349240" y="5504688"/>
            <a:ext cx="1345997"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MiraclePtr</a:t>
            </a:r>
            <a:endParaRPr lang="en-US" sz="1867" dirty="0"/>
          </a:p>
        </p:txBody>
      </p:sp>
      <p:sp>
        <p:nvSpPr>
          <p:cNvPr id="67" name="Shape 65"/>
          <p:cNvSpPr/>
          <p:nvPr/>
        </p:nvSpPr>
        <p:spPr>
          <a:xfrm>
            <a:off x="5349240" y="5888736"/>
            <a:ext cx="307238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8" name="Text 66"/>
          <p:cNvSpPr txBox="1"/>
          <p:nvPr/>
        </p:nvSpPr>
        <p:spPr>
          <a:xfrm>
            <a:off x="5349240" y="5888736"/>
            <a:ext cx="307238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MSVC destructor tombstones</a:t>
            </a:r>
            <a:endParaRPr lang="en-US" sz="1867" dirty="0"/>
          </a:p>
        </p:txBody>
      </p:sp>
      <p:sp>
        <p:nvSpPr>
          <p:cNvPr id="69" name="Shape 67"/>
          <p:cNvSpPr/>
          <p:nvPr/>
        </p:nvSpPr>
        <p:spPr>
          <a:xfrm>
            <a:off x="9966960" y="5760720"/>
            <a:ext cx="201168" cy="201168"/>
          </a:xfrm>
          <a:prstGeom prst="ellipse">
            <a:avLst/>
          </a:prstGeom>
          <a:solidFill>
            <a:srgbClr val="D9A62B"/>
          </a:solidFill>
          <a:ln w="12700">
            <a:solidFill>
              <a:srgbClr val="D9A62B"/>
            </a:solidFill>
            <a:prstDash val="solid"/>
          </a:ln>
        </p:spPr>
        <p:txBody>
          <a:bodyPr/>
          <a:lstStyle/>
          <a:p>
            <a:endParaRPr lang="en-US"/>
          </a:p>
        </p:txBody>
      </p:sp>
      <p:sp>
        <p:nvSpPr>
          <p:cNvPr id="70" name="Shape 68"/>
          <p:cNvSpPr/>
          <p:nvPr/>
        </p:nvSpPr>
        <p:spPr>
          <a:xfrm>
            <a:off x="932688" y="6263640"/>
            <a:ext cx="10515600" cy="0"/>
          </a:xfrm>
          <a:prstGeom prst="line">
            <a:avLst/>
          </a:prstGeom>
          <a:noFill/>
          <a:ln w="9525">
            <a:solidFill>
              <a:srgbClr val="D9D9D9"/>
            </a:solidFill>
            <a:prstDash val="solid"/>
          </a:ln>
        </p:spPr>
        <p:txBody>
          <a:bodyPr/>
          <a:lstStyle/>
          <a:p>
            <a:endParaRPr lang="en-US"/>
          </a:p>
        </p:txBody>
      </p:sp>
      <p:sp>
        <p:nvSpPr>
          <p:cNvPr id="71" name="Text 69"/>
          <p:cNvSpPr txBox="1"/>
          <p:nvPr/>
        </p:nvSpPr>
        <p:spPr>
          <a:xfrm>
            <a:off x="932688" y="6272784"/>
            <a:ext cx="192024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Lifetime</a:t>
            </a:r>
            <a:endParaRPr lang="en-US" sz="2000" dirty="0"/>
          </a:p>
        </p:txBody>
      </p:sp>
      <p:sp>
        <p:nvSpPr>
          <p:cNvPr id="72" name="Text 70"/>
          <p:cNvSpPr txBox="1"/>
          <p:nvPr/>
        </p:nvSpPr>
        <p:spPr>
          <a:xfrm>
            <a:off x="2916936" y="6272784"/>
            <a:ext cx="237744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Hardened allocators</a:t>
            </a:r>
            <a:endParaRPr lang="en-US" sz="2000" dirty="0"/>
          </a:p>
        </p:txBody>
      </p:sp>
      <p:sp>
        <p:nvSpPr>
          <p:cNvPr id="73" name="Shape 71"/>
          <p:cNvSpPr/>
          <p:nvPr/>
        </p:nvSpPr>
        <p:spPr>
          <a:xfrm>
            <a:off x="5349240" y="6327648"/>
            <a:ext cx="78729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4" name="Text 72"/>
          <p:cNvSpPr txBox="1"/>
          <p:nvPr/>
        </p:nvSpPr>
        <p:spPr>
          <a:xfrm>
            <a:off x="5349240" y="6327648"/>
            <a:ext cx="78729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Scudo</a:t>
            </a:r>
            <a:endParaRPr lang="en-US" sz="1867" dirty="0"/>
          </a:p>
        </p:txBody>
      </p:sp>
      <p:sp>
        <p:nvSpPr>
          <p:cNvPr id="75" name="Shape 73"/>
          <p:cNvSpPr/>
          <p:nvPr/>
        </p:nvSpPr>
        <p:spPr>
          <a:xfrm>
            <a:off x="6227978" y="6327648"/>
            <a:ext cx="175199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6" name="Text 74"/>
          <p:cNvSpPr txBox="1"/>
          <p:nvPr/>
        </p:nvSpPr>
        <p:spPr>
          <a:xfrm>
            <a:off x="6227978" y="6327648"/>
            <a:ext cx="175199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PartitionAlloc</a:t>
            </a:r>
            <a:endParaRPr lang="en-US" sz="1867" dirty="0"/>
          </a:p>
        </p:txBody>
      </p:sp>
      <p:sp>
        <p:nvSpPr>
          <p:cNvPr id="77" name="Shape 75"/>
          <p:cNvSpPr/>
          <p:nvPr/>
        </p:nvSpPr>
        <p:spPr>
          <a:xfrm>
            <a:off x="8071409" y="6327648"/>
            <a:ext cx="154899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8" name="Text 76"/>
          <p:cNvSpPr txBox="1"/>
          <p:nvPr/>
        </p:nvSpPr>
        <p:spPr>
          <a:xfrm>
            <a:off x="8071409" y="6327648"/>
            <a:ext cx="154899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Segment Heap</a:t>
            </a:r>
            <a:endParaRPr lang="en-US" sz="1867" dirty="0"/>
          </a:p>
        </p:txBody>
      </p:sp>
      <p:sp>
        <p:nvSpPr>
          <p:cNvPr id="79" name="Shape 77"/>
          <p:cNvSpPr/>
          <p:nvPr/>
        </p:nvSpPr>
        <p:spPr>
          <a:xfrm>
            <a:off x="9966960" y="6391656"/>
            <a:ext cx="201168" cy="201168"/>
          </a:xfrm>
          <a:prstGeom prst="ellipse">
            <a:avLst/>
          </a:prstGeom>
          <a:solidFill>
            <a:srgbClr val="3FA34D"/>
          </a:solidFill>
          <a:ln w="12700">
            <a:solidFill>
              <a:srgbClr val="3FA34D"/>
            </a:solidFill>
            <a:prstDash val="solid"/>
          </a:ln>
        </p:spPr>
        <p:txBody>
          <a:bodyPr/>
          <a:lstStyle/>
          <a:p>
            <a:endParaRPr lang="en-US"/>
          </a:p>
        </p:txBody>
      </p:sp>
      <p:sp>
        <p:nvSpPr>
          <p:cNvPr id="80" name="Shape 78"/>
          <p:cNvSpPr/>
          <p:nvPr/>
        </p:nvSpPr>
        <p:spPr>
          <a:xfrm>
            <a:off x="10251948" y="6391656"/>
            <a:ext cx="201168" cy="201168"/>
          </a:xfrm>
          <a:prstGeom prst="ellipse">
            <a:avLst/>
          </a:prstGeom>
          <a:solidFill>
            <a:srgbClr val="D9A62B"/>
          </a:solidFill>
          <a:ln w="12700">
            <a:solidFill>
              <a:srgbClr val="D9A62B"/>
            </a:solidFill>
            <a:prstDash val="solid"/>
          </a:ln>
        </p:spPr>
        <p:txBody>
          <a:bodyPr/>
          <a:lstStyle/>
          <a:p>
            <a:endParaRPr lang="en-US"/>
          </a:p>
        </p:txBody>
      </p:sp>
      <p:sp>
        <p:nvSpPr>
          <p:cNvPr id="81" name="Text 79"/>
          <p:cNvSpPr txBox="1"/>
          <p:nvPr/>
        </p:nvSpPr>
        <p:spPr>
          <a:xfrm>
            <a:off x="10530840" y="627888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Windows</a:t>
            </a:r>
            <a:endParaRPr lang="en-US" sz="2000" dirty="0"/>
          </a:p>
        </p:txBody>
      </p:sp>
      <p:sp>
        <p:nvSpPr>
          <p:cNvPr id="82" name="Title 81">
            <a:extLst>
              <a:ext uri="{FF2B5EF4-FFF2-40B4-BE49-F238E27FC236}">
                <a16:creationId xmlns:a16="http://schemas.microsoft.com/office/drawing/2014/main" id="{858B1F17-6DE2-458C-EA0F-A1F978193215}"/>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Hardening</a:t>
            </a:r>
            <a:endParaRPr lang="en-US" dirty="0"/>
          </a:p>
        </p:txBody>
      </p:sp>
      <p:sp>
        <p:nvSpPr>
          <p:cNvPr id="896" name="Callout">
            <a:extLst>
              <a:ext uri="{FF2B5EF4-FFF2-40B4-BE49-F238E27FC236}">
                <a16:creationId xmlns:a16="http://schemas.microsoft.com/office/drawing/2014/main" id="{CD1213B0-3EEC-CD50-FA09-78E2A70DF97F}"/>
              </a:ext>
            </a:extLst>
          </p:cNvPr>
          <p:cNvSpPr/>
          <p:nvPr/>
        </p:nvSpPr>
        <p:spPr>
          <a:xfrm>
            <a:off x="5285690" y="2516007"/>
            <a:ext cx="4470501" cy="798693"/>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3F3F3F"/>
                </a:solidFill>
                <a:latin typeface="Aptos"/>
              </a:rPr>
              <a:t>bounds checks are opt-in</a:t>
            </a:r>
          </a:p>
          <a:p>
            <a:pPr algn="ctr"/>
            <a:r>
              <a:rPr lang="en-US" sz="1500" b="1" dirty="0">
                <a:solidFill>
                  <a:srgbClr val="3F3F3F"/>
                </a:solidFill>
                <a:latin typeface="Aptos"/>
              </a:rPr>
              <a:t>at() or hardened STL</a:t>
            </a:r>
            <a:br>
              <a:rPr lang="en-US" sz="1500" b="1" dirty="0">
                <a:solidFill>
                  <a:srgbClr val="3F3F3F"/>
                </a:solidFill>
                <a:latin typeface="Aptos"/>
              </a:rPr>
            </a:br>
            <a:r>
              <a:rPr lang="en-US" sz="1500" b="1" dirty="0">
                <a:solidFill>
                  <a:srgbClr val="7A1C15"/>
                </a:solidFill>
              </a:rPr>
              <a:t>50% of CVEs</a:t>
            </a:r>
            <a:endParaRPr lang="en-US" sz="1500" b="1" dirty="0">
              <a:solidFill>
                <a:srgbClr val="3F3F3F"/>
              </a:solidFill>
              <a:latin typeface="Aptos"/>
            </a:endParaRPr>
          </a:p>
        </p:txBody>
      </p:sp>
      <p:sp>
        <p:nvSpPr>
          <p:cNvPr id="898" name="Callout">
            <a:extLst>
              <a:ext uri="{FF2B5EF4-FFF2-40B4-BE49-F238E27FC236}">
                <a16:creationId xmlns:a16="http://schemas.microsoft.com/office/drawing/2014/main" id="{A3C5ACD0-CB19-3196-01DA-00FDD6EB7942}"/>
              </a:ext>
            </a:extLst>
          </p:cNvPr>
          <p:cNvSpPr/>
          <p:nvPr/>
        </p:nvSpPr>
        <p:spPr>
          <a:xfrm>
            <a:off x="5349240" y="2066544"/>
            <a:ext cx="3840480" cy="402336"/>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7A1C15"/>
                </a:solidFill>
                <a:latin typeface="Aptos"/>
              </a:rPr>
              <a:t>1% of CVEs</a:t>
            </a:r>
            <a:r>
              <a:rPr lang="en-US" sz="1500" b="1" dirty="0">
                <a:solidFill>
                  <a:srgbClr val="5C4712"/>
                </a:solidFill>
                <a:latin typeface="Aptos"/>
              </a:rPr>
              <a:t>, opt-in until C++26</a:t>
            </a:r>
          </a:p>
        </p:txBody>
      </p:sp>
      <p:sp>
        <p:nvSpPr>
          <p:cNvPr id="905" name="Callout">
            <a:extLst>
              <a:ext uri="{FF2B5EF4-FFF2-40B4-BE49-F238E27FC236}">
                <a16:creationId xmlns:a16="http://schemas.microsoft.com/office/drawing/2014/main" id="{93A02050-186C-7EAB-6A27-556DDD463467}"/>
              </a:ext>
            </a:extLst>
          </p:cNvPr>
          <p:cNvSpPr/>
          <p:nvPr/>
        </p:nvSpPr>
        <p:spPr>
          <a:xfrm>
            <a:off x="5349240" y="3361944"/>
            <a:ext cx="4297680" cy="1188720"/>
          </a:xfrm>
          <a:prstGeom prst="roundRect">
            <a:avLst>
              <a:gd name="adj" fmla="val 50000"/>
            </a:avLst>
          </a:prstGeom>
          <a:solidFill>
            <a:srgbClr val="FFFFFF"/>
          </a:solidFill>
          <a:ln w="3175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2200" b="1" dirty="0">
                <a:solidFill>
                  <a:srgbClr val="5C4712"/>
                </a:solidFill>
                <a:latin typeface="Aptos"/>
              </a:rPr>
              <a:t>out-of-bounds, </a:t>
            </a:r>
            <a:r>
              <a:rPr lang="en-US" sz="2200" b="1" dirty="0">
                <a:solidFill>
                  <a:srgbClr val="7A1C15"/>
                </a:solidFill>
                <a:latin typeface="Aptos"/>
              </a:rPr>
              <a:t>50% of CVEs</a:t>
            </a:r>
          </a:p>
          <a:p>
            <a:pPr algn="ctr"/>
            <a:r>
              <a:rPr lang="en-US" sz="2200" b="1" dirty="0">
                <a:solidFill>
                  <a:srgbClr val="5C4712"/>
                </a:solidFill>
                <a:latin typeface="Aptos"/>
              </a:rPr>
              <a:t>containers and arrays trap</a:t>
            </a:r>
          </a:p>
          <a:p>
            <a:pPr algn="ctr"/>
            <a:r>
              <a:rPr lang="en-US" sz="2200" b="1" dirty="0">
                <a:solidFill>
                  <a:srgbClr val="5C4712"/>
                </a:solidFill>
                <a:latin typeface="Aptos"/>
              </a:rPr>
              <a:t>raw pointers still UB</a:t>
            </a:r>
          </a:p>
        </p:txBody>
      </p:sp>
      <p:sp>
        <p:nvSpPr>
          <p:cNvPr id="907" name="TextBox 906">
            <a:extLst>
              <a:ext uri="{FF2B5EF4-FFF2-40B4-BE49-F238E27FC236}">
                <a16:creationId xmlns:a16="http://schemas.microsoft.com/office/drawing/2014/main" id="{42C32CDA-80D3-581A-F46F-D74B0F392004}"/>
              </a:ext>
            </a:extLst>
          </p:cNvPr>
          <p:cNvSpPr txBox="1"/>
          <p:nvPr/>
        </p:nvSpPr>
        <p:spPr>
          <a:xfrm>
            <a:off x="388645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1/3</a:t>
            </a:r>
            <a:endParaRPr lang="en-US" sz="2800" dirty="0">
              <a:solidFill>
                <a:schemeClr val="bg1">
                  <a:lumMod val="75000"/>
                </a:schemeClr>
              </a:solidFill>
            </a:endParaRPr>
          </a:p>
        </p:txBody>
      </p:sp>
      <p:sp>
        <p:nvSpPr>
          <p:cNvPr id="909" name="Callout">
            <a:extLst>
              <a:ext uri="{FF2B5EF4-FFF2-40B4-BE49-F238E27FC236}">
                <a16:creationId xmlns:a16="http://schemas.microsoft.com/office/drawing/2014/main" id="{F0BA7E64-2F9E-DCF2-4983-4819B4B463EB}"/>
              </a:ext>
            </a:extLst>
          </p:cNvPr>
          <p:cNvSpPr/>
          <p:nvPr/>
        </p:nvSpPr>
        <p:spPr>
          <a:xfrm>
            <a:off x="8595360" y="4590288"/>
            <a:ext cx="1051560" cy="402336"/>
          </a:xfrm>
          <a:prstGeom prst="roundRect">
            <a:avLst>
              <a:gd name="adj" fmla="val 50000"/>
            </a:avLst>
          </a:prstGeom>
          <a:solidFill>
            <a:srgbClr val="FFFFFF"/>
          </a:solidFill>
          <a:ln w="25400">
            <a:solidFill>
              <a:srgbClr val="3F3F3F"/>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3F3F3F"/>
                </a:solidFill>
                <a:latin typeface="Aptos"/>
              </a:rPr>
              <a:t>C only</a:t>
            </a:r>
          </a:p>
        </p:txBody>
      </p:sp>
      <p:sp>
        <p:nvSpPr>
          <p:cNvPr id="911" name="Callout">
            <a:extLst>
              <a:ext uri="{FF2B5EF4-FFF2-40B4-BE49-F238E27FC236}">
                <a16:creationId xmlns:a16="http://schemas.microsoft.com/office/drawing/2014/main" id="{029302BA-12F0-9968-24C8-9FFC2E2A19F1}"/>
              </a:ext>
            </a:extLst>
          </p:cNvPr>
          <p:cNvSpPr/>
          <p:nvPr/>
        </p:nvSpPr>
        <p:spPr>
          <a:xfrm>
            <a:off x="5349240" y="5029200"/>
            <a:ext cx="4297680" cy="402336"/>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500" b="1" dirty="0">
                <a:solidFill>
                  <a:srgbClr val="5C4712"/>
                </a:solidFill>
                <a:latin typeface="Aptos"/>
              </a:rPr>
              <a:t>return address guarded, but the access is not</a:t>
            </a:r>
          </a:p>
        </p:txBody>
      </p:sp>
      <p:sp>
        <p:nvSpPr>
          <p:cNvPr id="913" name="Callout">
            <a:extLst>
              <a:ext uri="{FF2B5EF4-FFF2-40B4-BE49-F238E27FC236}">
                <a16:creationId xmlns:a16="http://schemas.microsoft.com/office/drawing/2014/main" id="{B5DEE503-535E-52E3-D0E2-9B183A1B9675}"/>
              </a:ext>
            </a:extLst>
          </p:cNvPr>
          <p:cNvSpPr/>
          <p:nvPr/>
        </p:nvSpPr>
        <p:spPr>
          <a:xfrm>
            <a:off x="5349240" y="5879592"/>
            <a:ext cx="4297680" cy="822960"/>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600" b="1" dirty="0">
                <a:solidFill>
                  <a:srgbClr val="5C4712"/>
                </a:solidFill>
                <a:latin typeface="Aptos"/>
              </a:rPr>
              <a:t>use-after-free, </a:t>
            </a:r>
            <a:r>
              <a:rPr lang="en-US" sz="1600" b="1" dirty="0">
                <a:solidFill>
                  <a:srgbClr val="7A1C15"/>
                </a:solidFill>
                <a:latin typeface="Aptos"/>
              </a:rPr>
              <a:t>9% of CVEs</a:t>
            </a:r>
          </a:p>
          <a:p>
            <a:pPr algn="ctr"/>
            <a:r>
              <a:rPr lang="en-US" sz="1600" b="1" dirty="0">
                <a:solidFill>
                  <a:srgbClr val="5C4712"/>
                </a:solidFill>
                <a:latin typeface="Aptos"/>
              </a:rPr>
              <a:t>double free and corruption abort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32688"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Area</a:t>
            </a:r>
            <a:endParaRPr lang="en-US" sz="2400" dirty="0"/>
          </a:p>
        </p:txBody>
      </p:sp>
      <p:sp>
        <p:nvSpPr>
          <p:cNvPr id="4" name="Text 2"/>
          <p:cNvSpPr txBox="1"/>
          <p:nvPr/>
        </p:nvSpPr>
        <p:spPr>
          <a:xfrm>
            <a:off x="2887980"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Technique</a:t>
            </a:r>
            <a:endParaRPr lang="en-US" sz="2400" dirty="0"/>
          </a:p>
        </p:txBody>
      </p:sp>
      <p:sp>
        <p:nvSpPr>
          <p:cNvPr id="5" name="Text 3"/>
          <p:cNvSpPr txBox="1"/>
          <p:nvPr/>
        </p:nvSpPr>
        <p:spPr>
          <a:xfrm>
            <a:off x="5440680"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How</a:t>
            </a:r>
            <a:endParaRPr lang="en-US" sz="2400" dirty="0"/>
          </a:p>
        </p:txBody>
      </p:sp>
      <p:sp>
        <p:nvSpPr>
          <p:cNvPr id="6" name="Text 4"/>
          <p:cNvSpPr txBox="1"/>
          <p:nvPr/>
        </p:nvSpPr>
        <p:spPr>
          <a:xfrm>
            <a:off x="9784080"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Availability</a:t>
            </a:r>
            <a:endParaRPr lang="en-US" sz="2400" dirty="0"/>
          </a:p>
        </p:txBody>
      </p:sp>
      <p:sp>
        <p:nvSpPr>
          <p:cNvPr id="7" name="Shape 5"/>
          <p:cNvSpPr/>
          <p:nvPr/>
        </p:nvSpPr>
        <p:spPr>
          <a:xfrm>
            <a:off x="932688" y="1901952"/>
            <a:ext cx="10515600" cy="0"/>
          </a:xfrm>
          <a:prstGeom prst="line">
            <a:avLst/>
          </a:prstGeom>
          <a:noFill/>
          <a:ln w="12700">
            <a:solidFill>
              <a:srgbClr val="B8B8B8"/>
            </a:solidFill>
            <a:prstDash val="solid"/>
          </a:ln>
        </p:spPr>
        <p:txBody>
          <a:bodyPr/>
          <a:lstStyle/>
          <a:p>
            <a:endParaRPr lang="en-US" sz="2000"/>
          </a:p>
        </p:txBody>
      </p:sp>
      <p:sp>
        <p:nvSpPr>
          <p:cNvPr id="8" name="Text 6"/>
          <p:cNvSpPr txBox="1"/>
          <p:nvPr/>
        </p:nvSpPr>
        <p:spPr>
          <a:xfrm>
            <a:off x="932688" y="1993392"/>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Lifetime</a:t>
            </a:r>
            <a:endParaRPr lang="en-US" sz="2000" dirty="0"/>
          </a:p>
        </p:txBody>
      </p:sp>
      <p:sp>
        <p:nvSpPr>
          <p:cNvPr id="9" name="Text 7"/>
          <p:cNvSpPr txBox="1"/>
          <p:nvPr/>
        </p:nvSpPr>
        <p:spPr>
          <a:xfrm>
            <a:off x="2887980" y="1993392"/>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Hardware tagging</a:t>
            </a:r>
            <a:endParaRPr lang="en-US" sz="2000" dirty="0"/>
          </a:p>
        </p:txBody>
      </p:sp>
      <p:sp>
        <p:nvSpPr>
          <p:cNvPr id="10" name="Shape 8"/>
          <p:cNvSpPr/>
          <p:nvPr/>
        </p:nvSpPr>
        <p:spPr>
          <a:xfrm>
            <a:off x="5440680" y="2048256"/>
            <a:ext cx="121158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1" name="Text 9"/>
          <p:cNvSpPr txBox="1"/>
          <p:nvPr/>
        </p:nvSpPr>
        <p:spPr>
          <a:xfrm>
            <a:off x="5440680" y="2048256"/>
            <a:ext cx="121158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Arm MTE</a:t>
            </a:r>
            <a:endParaRPr lang="en-US" sz="1867" dirty="0"/>
          </a:p>
        </p:txBody>
      </p:sp>
      <p:sp>
        <p:nvSpPr>
          <p:cNvPr id="12" name="Shape 10"/>
          <p:cNvSpPr/>
          <p:nvPr/>
        </p:nvSpPr>
        <p:spPr>
          <a:xfrm>
            <a:off x="6743700" y="2048256"/>
            <a:ext cx="142646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3" name="Text 11"/>
          <p:cNvSpPr txBox="1"/>
          <p:nvPr/>
        </p:nvSpPr>
        <p:spPr>
          <a:xfrm>
            <a:off x="6743700" y="2048256"/>
            <a:ext cx="142646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Apple MIE</a:t>
            </a:r>
            <a:endParaRPr lang="en-US" sz="1867" dirty="0"/>
          </a:p>
        </p:txBody>
      </p:sp>
      <p:sp>
        <p:nvSpPr>
          <p:cNvPr id="14" name="Shape 12"/>
          <p:cNvSpPr/>
          <p:nvPr/>
        </p:nvSpPr>
        <p:spPr>
          <a:xfrm>
            <a:off x="8261604" y="2048256"/>
            <a:ext cx="10104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5" name="Text 13"/>
          <p:cNvSpPr txBox="1"/>
          <p:nvPr/>
        </p:nvSpPr>
        <p:spPr>
          <a:xfrm>
            <a:off x="8261604" y="2048256"/>
            <a:ext cx="10104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CHERI</a:t>
            </a:r>
            <a:endParaRPr lang="en-US" sz="1867" dirty="0"/>
          </a:p>
        </p:txBody>
      </p:sp>
      <p:sp>
        <p:nvSpPr>
          <p:cNvPr id="16" name="Shape 14"/>
          <p:cNvSpPr/>
          <p:nvPr/>
        </p:nvSpPr>
        <p:spPr>
          <a:xfrm>
            <a:off x="9784080" y="2112264"/>
            <a:ext cx="201168" cy="201168"/>
          </a:xfrm>
          <a:prstGeom prst="ellipse">
            <a:avLst/>
          </a:prstGeom>
          <a:solidFill>
            <a:srgbClr val="C93B34"/>
          </a:solidFill>
          <a:ln w="12700">
            <a:solidFill>
              <a:srgbClr val="C93B34"/>
            </a:solidFill>
            <a:prstDash val="solid"/>
          </a:ln>
        </p:spPr>
        <p:txBody>
          <a:bodyPr/>
          <a:lstStyle/>
          <a:p>
            <a:endParaRPr lang="en-US"/>
          </a:p>
        </p:txBody>
      </p:sp>
      <p:sp>
        <p:nvSpPr>
          <p:cNvPr id="17" name="Shape 15"/>
          <p:cNvSpPr/>
          <p:nvPr/>
        </p:nvSpPr>
        <p:spPr>
          <a:xfrm>
            <a:off x="10067544" y="2112264"/>
            <a:ext cx="201168" cy="201168"/>
          </a:xfrm>
          <a:prstGeom prst="ellipse">
            <a:avLst/>
          </a:prstGeom>
          <a:solidFill>
            <a:srgbClr val="3FA34D"/>
          </a:solidFill>
          <a:ln w="12700">
            <a:solidFill>
              <a:srgbClr val="3FA34D"/>
            </a:solidFill>
            <a:prstDash val="solid"/>
          </a:ln>
        </p:spPr>
        <p:txBody>
          <a:bodyPr/>
          <a:lstStyle/>
          <a:p>
            <a:endParaRPr lang="en-US"/>
          </a:p>
        </p:txBody>
      </p:sp>
      <p:sp>
        <p:nvSpPr>
          <p:cNvPr id="18" name="Text 16"/>
          <p:cNvSpPr txBox="1"/>
          <p:nvPr/>
        </p:nvSpPr>
        <p:spPr>
          <a:xfrm>
            <a:off x="10305288" y="199339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iPhone</a:t>
            </a:r>
            <a:endParaRPr lang="en-US" sz="2000" dirty="0"/>
          </a:p>
        </p:txBody>
      </p:sp>
      <p:sp>
        <p:nvSpPr>
          <p:cNvPr id="19" name="Shape 17"/>
          <p:cNvSpPr/>
          <p:nvPr/>
        </p:nvSpPr>
        <p:spPr>
          <a:xfrm>
            <a:off x="932688" y="2423160"/>
            <a:ext cx="10515600" cy="0"/>
          </a:xfrm>
          <a:prstGeom prst="line">
            <a:avLst/>
          </a:prstGeom>
          <a:noFill/>
          <a:ln w="9525">
            <a:solidFill>
              <a:srgbClr val="D9D9D9"/>
            </a:solidFill>
            <a:prstDash val="solid"/>
          </a:ln>
        </p:spPr>
        <p:txBody>
          <a:bodyPr/>
          <a:lstStyle/>
          <a:p>
            <a:endParaRPr lang="en-US"/>
          </a:p>
        </p:txBody>
      </p:sp>
      <p:sp>
        <p:nvSpPr>
          <p:cNvPr id="20" name="Text 18"/>
          <p:cNvSpPr txBox="1"/>
          <p:nvPr/>
        </p:nvSpPr>
        <p:spPr>
          <a:xfrm>
            <a:off x="932688" y="2432304"/>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Null</a:t>
            </a:r>
            <a:endParaRPr lang="en-US" sz="2000" dirty="0"/>
          </a:p>
        </p:txBody>
      </p:sp>
      <p:sp>
        <p:nvSpPr>
          <p:cNvPr id="21" name="Text 19"/>
          <p:cNvSpPr txBox="1"/>
          <p:nvPr/>
        </p:nvSpPr>
        <p:spPr>
          <a:xfrm>
            <a:off x="2887980" y="2432304"/>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Zero page</a:t>
            </a:r>
            <a:endParaRPr lang="en-US" sz="2000" dirty="0"/>
          </a:p>
        </p:txBody>
      </p:sp>
      <p:sp>
        <p:nvSpPr>
          <p:cNvPr id="22" name="Shape 20"/>
          <p:cNvSpPr/>
          <p:nvPr/>
        </p:nvSpPr>
        <p:spPr>
          <a:xfrm>
            <a:off x="5440680" y="2487168"/>
            <a:ext cx="216712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3" name="Text 21"/>
          <p:cNvSpPr txBox="1"/>
          <p:nvPr/>
        </p:nvSpPr>
        <p:spPr>
          <a:xfrm>
            <a:off x="5440680" y="2487168"/>
            <a:ext cx="216712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unmapped page 0</a:t>
            </a:r>
            <a:endParaRPr lang="en-US" sz="1867" dirty="0"/>
          </a:p>
        </p:txBody>
      </p:sp>
      <p:sp>
        <p:nvSpPr>
          <p:cNvPr id="24" name="Shape 22"/>
          <p:cNvSpPr/>
          <p:nvPr/>
        </p:nvSpPr>
        <p:spPr>
          <a:xfrm>
            <a:off x="9784080" y="2551176"/>
            <a:ext cx="201168" cy="201168"/>
          </a:xfrm>
          <a:prstGeom prst="ellipse">
            <a:avLst/>
          </a:prstGeom>
          <a:solidFill>
            <a:srgbClr val="3FA34D"/>
          </a:solidFill>
          <a:ln w="12700">
            <a:solidFill>
              <a:srgbClr val="3FA34D"/>
            </a:solidFill>
            <a:prstDash val="solid"/>
          </a:ln>
        </p:spPr>
        <p:txBody>
          <a:bodyPr/>
          <a:lstStyle/>
          <a:p>
            <a:endParaRPr lang="en-US"/>
          </a:p>
        </p:txBody>
      </p:sp>
      <p:sp>
        <p:nvSpPr>
          <p:cNvPr id="25" name="Shape 23"/>
          <p:cNvSpPr/>
          <p:nvPr/>
        </p:nvSpPr>
        <p:spPr>
          <a:xfrm>
            <a:off x="932688" y="2862072"/>
            <a:ext cx="10515600" cy="0"/>
          </a:xfrm>
          <a:prstGeom prst="line">
            <a:avLst/>
          </a:prstGeom>
          <a:noFill/>
          <a:ln w="9525">
            <a:solidFill>
              <a:srgbClr val="D9D9D9"/>
            </a:solidFill>
            <a:prstDash val="solid"/>
          </a:ln>
        </p:spPr>
        <p:txBody>
          <a:bodyPr/>
          <a:lstStyle/>
          <a:p>
            <a:endParaRPr lang="en-US"/>
          </a:p>
        </p:txBody>
      </p:sp>
      <p:sp>
        <p:nvSpPr>
          <p:cNvPr id="26" name="Text 24"/>
          <p:cNvSpPr txBox="1"/>
          <p:nvPr/>
        </p:nvSpPr>
        <p:spPr>
          <a:xfrm>
            <a:off x="932688" y="2871216"/>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Alignment</a:t>
            </a:r>
            <a:endParaRPr lang="en-US" sz="2000" dirty="0"/>
          </a:p>
        </p:txBody>
      </p:sp>
      <p:sp>
        <p:nvSpPr>
          <p:cNvPr id="27" name="Text 25"/>
          <p:cNvSpPr txBox="1"/>
          <p:nvPr/>
        </p:nvSpPr>
        <p:spPr>
          <a:xfrm>
            <a:off x="2887980" y="2871216"/>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Alignment trap</a:t>
            </a:r>
            <a:endParaRPr lang="en-US" sz="2000" dirty="0"/>
          </a:p>
        </p:txBody>
      </p:sp>
      <p:sp>
        <p:nvSpPr>
          <p:cNvPr id="28" name="Shape 26"/>
          <p:cNvSpPr/>
          <p:nvPr/>
        </p:nvSpPr>
        <p:spPr>
          <a:xfrm>
            <a:off x="5440680" y="2926080"/>
            <a:ext cx="23820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9" name="Text 27"/>
          <p:cNvSpPr txBox="1"/>
          <p:nvPr/>
        </p:nvSpPr>
        <p:spPr>
          <a:xfrm>
            <a:off x="5440680" y="2926080"/>
            <a:ext cx="23820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-fsanitize=alignment</a:t>
            </a:r>
            <a:endParaRPr lang="en-US" sz="1867" dirty="0"/>
          </a:p>
        </p:txBody>
      </p:sp>
      <p:sp>
        <p:nvSpPr>
          <p:cNvPr id="30" name="Shape 28"/>
          <p:cNvSpPr/>
          <p:nvPr/>
        </p:nvSpPr>
        <p:spPr>
          <a:xfrm>
            <a:off x="7914132" y="2926080"/>
            <a:ext cx="17327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1" name="Text 29"/>
          <p:cNvSpPr txBox="1"/>
          <p:nvPr/>
        </p:nvSpPr>
        <p:spPr>
          <a:xfrm>
            <a:off x="7914132" y="2926080"/>
            <a:ext cx="17327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-fsanitize-trap</a:t>
            </a:r>
            <a:endParaRPr lang="en-US" sz="1867" dirty="0"/>
          </a:p>
        </p:txBody>
      </p:sp>
      <p:sp>
        <p:nvSpPr>
          <p:cNvPr id="32" name="Shape 30"/>
          <p:cNvSpPr/>
          <p:nvPr/>
        </p:nvSpPr>
        <p:spPr>
          <a:xfrm>
            <a:off x="9784080" y="2990088"/>
            <a:ext cx="201168" cy="201168"/>
          </a:xfrm>
          <a:prstGeom prst="ellipse">
            <a:avLst/>
          </a:prstGeom>
          <a:solidFill>
            <a:srgbClr val="D9A62B"/>
          </a:solidFill>
          <a:ln w="12700">
            <a:solidFill>
              <a:srgbClr val="D9A62B"/>
            </a:solidFill>
            <a:prstDash val="solid"/>
          </a:ln>
        </p:spPr>
        <p:txBody>
          <a:bodyPr/>
          <a:lstStyle/>
          <a:p>
            <a:endParaRPr lang="en-US"/>
          </a:p>
        </p:txBody>
      </p:sp>
      <p:sp>
        <p:nvSpPr>
          <p:cNvPr id="33" name="Shape 31"/>
          <p:cNvSpPr/>
          <p:nvPr/>
        </p:nvSpPr>
        <p:spPr>
          <a:xfrm>
            <a:off x="10067544" y="2990088"/>
            <a:ext cx="201168" cy="201168"/>
          </a:xfrm>
          <a:prstGeom prst="ellipse">
            <a:avLst/>
          </a:prstGeom>
          <a:solidFill>
            <a:srgbClr val="C93B34"/>
          </a:solidFill>
          <a:ln w="12700">
            <a:solidFill>
              <a:srgbClr val="C93B34"/>
            </a:solidFill>
            <a:prstDash val="solid"/>
          </a:ln>
        </p:spPr>
        <p:txBody>
          <a:bodyPr/>
          <a:lstStyle/>
          <a:p>
            <a:endParaRPr lang="en-US"/>
          </a:p>
        </p:txBody>
      </p:sp>
      <p:sp>
        <p:nvSpPr>
          <p:cNvPr id="34" name="Text 32"/>
          <p:cNvSpPr txBox="1"/>
          <p:nvPr/>
        </p:nvSpPr>
        <p:spPr>
          <a:xfrm>
            <a:off x="10305288" y="2871216"/>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35" name="Shape 33"/>
          <p:cNvSpPr/>
          <p:nvPr/>
        </p:nvSpPr>
        <p:spPr>
          <a:xfrm>
            <a:off x="932688" y="3300984"/>
            <a:ext cx="10515600" cy="0"/>
          </a:xfrm>
          <a:prstGeom prst="line">
            <a:avLst/>
          </a:prstGeom>
          <a:noFill/>
          <a:ln w="9525">
            <a:solidFill>
              <a:srgbClr val="D9D9D9"/>
            </a:solidFill>
            <a:prstDash val="solid"/>
          </a:ln>
        </p:spPr>
        <p:txBody>
          <a:bodyPr/>
          <a:lstStyle/>
          <a:p>
            <a:endParaRPr lang="en-US"/>
          </a:p>
        </p:txBody>
      </p:sp>
      <p:sp>
        <p:nvSpPr>
          <p:cNvPr id="36" name="Text 34"/>
          <p:cNvSpPr txBox="1"/>
          <p:nvPr/>
        </p:nvSpPr>
        <p:spPr>
          <a:xfrm>
            <a:off x="932688" y="3310128"/>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Aliasing</a:t>
            </a:r>
            <a:endParaRPr lang="en-US" sz="2000" dirty="0"/>
          </a:p>
        </p:txBody>
      </p:sp>
      <p:sp>
        <p:nvSpPr>
          <p:cNvPr id="37" name="Text 35"/>
          <p:cNvSpPr txBox="1"/>
          <p:nvPr/>
        </p:nvSpPr>
        <p:spPr>
          <a:xfrm>
            <a:off x="2887980" y="3310128"/>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Defined aliasing</a:t>
            </a:r>
            <a:endParaRPr lang="en-US" sz="2000" dirty="0"/>
          </a:p>
        </p:txBody>
      </p:sp>
      <p:sp>
        <p:nvSpPr>
          <p:cNvPr id="38" name="Shape 36"/>
          <p:cNvSpPr/>
          <p:nvPr/>
        </p:nvSpPr>
        <p:spPr>
          <a:xfrm>
            <a:off x="5440680" y="3364992"/>
            <a:ext cx="220370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9" name="Text 37"/>
          <p:cNvSpPr txBox="1"/>
          <p:nvPr/>
        </p:nvSpPr>
        <p:spPr>
          <a:xfrm>
            <a:off x="5440680" y="3364992"/>
            <a:ext cx="220370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-fno-strict-aliasing</a:t>
            </a:r>
            <a:endParaRPr lang="en-US" sz="1867" dirty="0"/>
          </a:p>
        </p:txBody>
      </p:sp>
      <p:sp>
        <p:nvSpPr>
          <p:cNvPr id="40" name="Shape 38"/>
          <p:cNvSpPr/>
          <p:nvPr/>
        </p:nvSpPr>
        <p:spPr>
          <a:xfrm>
            <a:off x="9784080" y="3429000"/>
            <a:ext cx="201168" cy="201168"/>
          </a:xfrm>
          <a:prstGeom prst="ellipse">
            <a:avLst/>
          </a:prstGeom>
          <a:solidFill>
            <a:srgbClr val="D9A62B"/>
          </a:solidFill>
          <a:ln w="12700">
            <a:solidFill>
              <a:srgbClr val="D9A62B"/>
            </a:solidFill>
            <a:prstDash val="solid"/>
          </a:ln>
        </p:spPr>
        <p:txBody>
          <a:bodyPr/>
          <a:lstStyle/>
          <a:p>
            <a:endParaRPr lang="en-US"/>
          </a:p>
        </p:txBody>
      </p:sp>
      <p:sp>
        <p:nvSpPr>
          <p:cNvPr id="41" name="Shape 39"/>
          <p:cNvSpPr/>
          <p:nvPr/>
        </p:nvSpPr>
        <p:spPr>
          <a:xfrm>
            <a:off x="10067544" y="3429000"/>
            <a:ext cx="201168" cy="201168"/>
          </a:xfrm>
          <a:prstGeom prst="ellipse">
            <a:avLst/>
          </a:prstGeom>
          <a:solidFill>
            <a:srgbClr val="3FA34D"/>
          </a:solidFill>
          <a:ln w="12700">
            <a:solidFill>
              <a:srgbClr val="3FA34D"/>
            </a:solidFill>
            <a:prstDash val="solid"/>
          </a:ln>
        </p:spPr>
        <p:txBody>
          <a:bodyPr/>
          <a:lstStyle/>
          <a:p>
            <a:endParaRPr lang="en-US"/>
          </a:p>
        </p:txBody>
      </p:sp>
      <p:sp>
        <p:nvSpPr>
          <p:cNvPr id="42" name="Text 40"/>
          <p:cNvSpPr txBox="1"/>
          <p:nvPr/>
        </p:nvSpPr>
        <p:spPr>
          <a:xfrm>
            <a:off x="10305288" y="331012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43" name="Shape 41"/>
          <p:cNvSpPr/>
          <p:nvPr/>
        </p:nvSpPr>
        <p:spPr>
          <a:xfrm>
            <a:off x="932688" y="3739896"/>
            <a:ext cx="10515600" cy="0"/>
          </a:xfrm>
          <a:prstGeom prst="line">
            <a:avLst/>
          </a:prstGeom>
          <a:noFill/>
          <a:ln w="9525">
            <a:solidFill>
              <a:srgbClr val="D9D9D9"/>
            </a:solidFill>
            <a:prstDash val="solid"/>
          </a:ln>
        </p:spPr>
        <p:txBody>
          <a:bodyPr/>
          <a:lstStyle/>
          <a:p>
            <a:endParaRPr lang="en-US"/>
          </a:p>
        </p:txBody>
      </p:sp>
      <p:sp>
        <p:nvSpPr>
          <p:cNvPr id="44" name="Text 42"/>
          <p:cNvSpPr txBox="1"/>
          <p:nvPr/>
        </p:nvSpPr>
        <p:spPr>
          <a:xfrm>
            <a:off x="932688" y="3749040"/>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Type and value</a:t>
            </a:r>
            <a:endParaRPr lang="en-US" sz="2000" dirty="0"/>
          </a:p>
        </p:txBody>
      </p:sp>
      <p:sp>
        <p:nvSpPr>
          <p:cNvPr id="45" name="Text 43"/>
          <p:cNvSpPr txBox="1"/>
          <p:nvPr/>
        </p:nvSpPr>
        <p:spPr>
          <a:xfrm>
            <a:off x="2887980" y="3749040"/>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Integer and float traps</a:t>
            </a:r>
            <a:endParaRPr lang="en-US" sz="2000" dirty="0"/>
          </a:p>
        </p:txBody>
      </p:sp>
      <p:sp>
        <p:nvSpPr>
          <p:cNvPr id="46" name="Shape 44"/>
          <p:cNvSpPr/>
          <p:nvPr/>
        </p:nvSpPr>
        <p:spPr>
          <a:xfrm>
            <a:off x="5440680" y="3995928"/>
            <a:ext cx="20665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7" name="Text 45"/>
          <p:cNvSpPr txBox="1"/>
          <p:nvPr/>
        </p:nvSpPr>
        <p:spPr>
          <a:xfrm>
            <a:off x="5440680" y="3995928"/>
            <a:ext cx="20665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-fsanitize=integer</a:t>
            </a:r>
            <a:endParaRPr lang="en-US" sz="1867" dirty="0"/>
          </a:p>
        </p:txBody>
      </p:sp>
      <p:sp>
        <p:nvSpPr>
          <p:cNvPr id="48" name="Shape 46"/>
          <p:cNvSpPr/>
          <p:nvPr/>
        </p:nvSpPr>
        <p:spPr>
          <a:xfrm>
            <a:off x="7598664" y="3995928"/>
            <a:ext cx="17327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9" name="Text 47"/>
          <p:cNvSpPr txBox="1"/>
          <p:nvPr/>
        </p:nvSpPr>
        <p:spPr>
          <a:xfrm>
            <a:off x="7598664" y="3995928"/>
            <a:ext cx="17327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-fsanitize-trap</a:t>
            </a:r>
            <a:endParaRPr lang="en-US" sz="1867" dirty="0"/>
          </a:p>
        </p:txBody>
      </p:sp>
      <p:sp>
        <p:nvSpPr>
          <p:cNvPr id="50" name="Shape 48"/>
          <p:cNvSpPr/>
          <p:nvPr/>
        </p:nvSpPr>
        <p:spPr>
          <a:xfrm>
            <a:off x="9784080" y="3867912"/>
            <a:ext cx="201168" cy="201168"/>
          </a:xfrm>
          <a:prstGeom prst="ellipse">
            <a:avLst/>
          </a:prstGeom>
          <a:solidFill>
            <a:srgbClr val="D9A62B"/>
          </a:solidFill>
          <a:ln w="12700">
            <a:solidFill>
              <a:srgbClr val="D9A62B"/>
            </a:solidFill>
            <a:prstDash val="solid"/>
          </a:ln>
        </p:spPr>
        <p:txBody>
          <a:bodyPr/>
          <a:lstStyle/>
          <a:p>
            <a:endParaRPr lang="en-US"/>
          </a:p>
        </p:txBody>
      </p:sp>
      <p:sp>
        <p:nvSpPr>
          <p:cNvPr id="51" name="Shape 49"/>
          <p:cNvSpPr/>
          <p:nvPr/>
        </p:nvSpPr>
        <p:spPr>
          <a:xfrm>
            <a:off x="10067544" y="3867912"/>
            <a:ext cx="201168" cy="201168"/>
          </a:xfrm>
          <a:prstGeom prst="ellipse">
            <a:avLst/>
          </a:prstGeom>
          <a:solidFill>
            <a:srgbClr val="3FA34D"/>
          </a:solidFill>
          <a:ln w="12700">
            <a:solidFill>
              <a:srgbClr val="3FA34D"/>
            </a:solidFill>
            <a:prstDash val="solid"/>
          </a:ln>
        </p:spPr>
        <p:txBody>
          <a:bodyPr/>
          <a:lstStyle/>
          <a:p>
            <a:endParaRPr lang="en-US"/>
          </a:p>
        </p:txBody>
      </p:sp>
      <p:sp>
        <p:nvSpPr>
          <p:cNvPr id="52" name="Text 50"/>
          <p:cNvSpPr txBox="1"/>
          <p:nvPr/>
        </p:nvSpPr>
        <p:spPr>
          <a:xfrm>
            <a:off x="10305288" y="3776472"/>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Android</a:t>
            </a:r>
            <a:endParaRPr lang="en-US" sz="2000" dirty="0"/>
          </a:p>
        </p:txBody>
      </p:sp>
      <p:sp>
        <p:nvSpPr>
          <p:cNvPr id="53" name="Shape 51"/>
          <p:cNvSpPr/>
          <p:nvPr/>
        </p:nvSpPr>
        <p:spPr>
          <a:xfrm>
            <a:off x="9784080" y="4251960"/>
            <a:ext cx="201168" cy="201168"/>
          </a:xfrm>
          <a:prstGeom prst="ellipse">
            <a:avLst/>
          </a:prstGeom>
          <a:solidFill>
            <a:srgbClr val="C93B34"/>
          </a:solidFill>
          <a:ln w="12700">
            <a:solidFill>
              <a:srgbClr val="C93B34"/>
            </a:solidFill>
            <a:prstDash val="solid"/>
          </a:ln>
        </p:spPr>
        <p:txBody>
          <a:bodyPr/>
          <a:lstStyle/>
          <a:p>
            <a:endParaRPr lang="en-US"/>
          </a:p>
        </p:txBody>
      </p:sp>
      <p:sp>
        <p:nvSpPr>
          <p:cNvPr id="54" name="Text 52"/>
          <p:cNvSpPr txBox="1"/>
          <p:nvPr/>
        </p:nvSpPr>
        <p:spPr>
          <a:xfrm>
            <a:off x="10021824" y="4160520"/>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55" name="Shape 53"/>
          <p:cNvSpPr/>
          <p:nvPr/>
        </p:nvSpPr>
        <p:spPr>
          <a:xfrm>
            <a:off x="932688" y="4562856"/>
            <a:ext cx="10515600" cy="0"/>
          </a:xfrm>
          <a:prstGeom prst="line">
            <a:avLst/>
          </a:prstGeom>
          <a:noFill/>
          <a:ln w="9525">
            <a:solidFill>
              <a:srgbClr val="D9D9D9"/>
            </a:solidFill>
            <a:prstDash val="solid"/>
          </a:ln>
        </p:spPr>
        <p:txBody>
          <a:bodyPr/>
          <a:lstStyle/>
          <a:p>
            <a:endParaRPr lang="en-US"/>
          </a:p>
        </p:txBody>
      </p:sp>
      <p:sp>
        <p:nvSpPr>
          <p:cNvPr id="56" name="Text 54"/>
          <p:cNvSpPr txBox="1"/>
          <p:nvPr/>
        </p:nvSpPr>
        <p:spPr>
          <a:xfrm>
            <a:off x="932688" y="4572000"/>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Type and value</a:t>
            </a:r>
            <a:endParaRPr lang="en-US" sz="2000" dirty="0"/>
          </a:p>
        </p:txBody>
      </p:sp>
      <p:sp>
        <p:nvSpPr>
          <p:cNvPr id="57" name="Text 55"/>
          <p:cNvSpPr txBox="1"/>
          <p:nvPr/>
        </p:nvSpPr>
        <p:spPr>
          <a:xfrm>
            <a:off x="2887980" y="4572000"/>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Wrapping arithmetic</a:t>
            </a:r>
            <a:endParaRPr lang="en-US" sz="2000" dirty="0"/>
          </a:p>
        </p:txBody>
      </p:sp>
      <p:sp>
        <p:nvSpPr>
          <p:cNvPr id="58" name="Shape 56"/>
          <p:cNvSpPr/>
          <p:nvPr/>
        </p:nvSpPr>
        <p:spPr>
          <a:xfrm>
            <a:off x="5440680" y="4626864"/>
            <a:ext cx="104241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9" name="Text 57"/>
          <p:cNvSpPr txBox="1"/>
          <p:nvPr/>
        </p:nvSpPr>
        <p:spPr>
          <a:xfrm>
            <a:off x="5440680" y="4626864"/>
            <a:ext cx="104241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-fwrapv</a:t>
            </a:r>
            <a:endParaRPr lang="en-US" sz="1867" dirty="0"/>
          </a:p>
        </p:txBody>
      </p:sp>
      <p:sp>
        <p:nvSpPr>
          <p:cNvPr id="60" name="Shape 58"/>
          <p:cNvSpPr/>
          <p:nvPr/>
        </p:nvSpPr>
        <p:spPr>
          <a:xfrm>
            <a:off x="9784080" y="4690872"/>
            <a:ext cx="201168" cy="201168"/>
          </a:xfrm>
          <a:prstGeom prst="ellipse">
            <a:avLst/>
          </a:prstGeom>
          <a:solidFill>
            <a:srgbClr val="D9A62B"/>
          </a:solidFill>
          <a:ln w="12700">
            <a:solidFill>
              <a:srgbClr val="D9A62B"/>
            </a:solidFill>
            <a:prstDash val="solid"/>
          </a:ln>
        </p:spPr>
        <p:txBody>
          <a:bodyPr/>
          <a:lstStyle/>
          <a:p>
            <a:endParaRPr lang="en-US"/>
          </a:p>
        </p:txBody>
      </p:sp>
      <p:sp>
        <p:nvSpPr>
          <p:cNvPr id="61" name="Shape 59"/>
          <p:cNvSpPr/>
          <p:nvPr/>
        </p:nvSpPr>
        <p:spPr>
          <a:xfrm>
            <a:off x="10067544" y="4690872"/>
            <a:ext cx="201168" cy="201168"/>
          </a:xfrm>
          <a:prstGeom prst="ellipse">
            <a:avLst/>
          </a:prstGeom>
          <a:solidFill>
            <a:srgbClr val="C93B34"/>
          </a:solidFill>
          <a:ln w="12700">
            <a:solidFill>
              <a:srgbClr val="C93B34"/>
            </a:solidFill>
            <a:prstDash val="solid"/>
          </a:ln>
        </p:spPr>
        <p:txBody>
          <a:bodyPr/>
          <a:lstStyle/>
          <a:p>
            <a:endParaRPr lang="en-US"/>
          </a:p>
        </p:txBody>
      </p:sp>
      <p:sp>
        <p:nvSpPr>
          <p:cNvPr id="62" name="Text 60"/>
          <p:cNvSpPr txBox="1"/>
          <p:nvPr/>
        </p:nvSpPr>
        <p:spPr>
          <a:xfrm>
            <a:off x="10305288" y="457200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63" name="Shape 61"/>
          <p:cNvSpPr/>
          <p:nvPr/>
        </p:nvSpPr>
        <p:spPr>
          <a:xfrm>
            <a:off x="932688" y="5001768"/>
            <a:ext cx="10515600" cy="0"/>
          </a:xfrm>
          <a:prstGeom prst="line">
            <a:avLst/>
          </a:prstGeom>
          <a:noFill/>
          <a:ln w="9525">
            <a:solidFill>
              <a:srgbClr val="D9D9D9"/>
            </a:solidFill>
            <a:prstDash val="solid"/>
          </a:ln>
        </p:spPr>
        <p:txBody>
          <a:bodyPr/>
          <a:lstStyle/>
          <a:p>
            <a:endParaRPr lang="en-US"/>
          </a:p>
        </p:txBody>
      </p:sp>
      <p:sp>
        <p:nvSpPr>
          <p:cNvPr id="64" name="Text 62"/>
          <p:cNvSpPr txBox="1"/>
          <p:nvPr/>
        </p:nvSpPr>
        <p:spPr>
          <a:xfrm>
            <a:off x="932688" y="5010912"/>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Type and value</a:t>
            </a:r>
            <a:endParaRPr lang="en-US" sz="2000" dirty="0"/>
          </a:p>
        </p:txBody>
      </p:sp>
      <p:sp>
        <p:nvSpPr>
          <p:cNvPr id="65" name="Text 63"/>
          <p:cNvSpPr txBox="1"/>
          <p:nvPr/>
        </p:nvSpPr>
        <p:spPr>
          <a:xfrm>
            <a:off x="2887980" y="5010912"/>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Type confusion</a:t>
            </a:r>
            <a:endParaRPr lang="en-US" sz="2000" dirty="0"/>
          </a:p>
        </p:txBody>
      </p:sp>
      <p:sp>
        <p:nvSpPr>
          <p:cNvPr id="66" name="Shape 64"/>
          <p:cNvSpPr/>
          <p:nvPr/>
        </p:nvSpPr>
        <p:spPr>
          <a:xfrm>
            <a:off x="5440680" y="5257800"/>
            <a:ext cx="368503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7" name="Text 65"/>
          <p:cNvSpPr txBox="1"/>
          <p:nvPr/>
        </p:nvSpPr>
        <p:spPr>
          <a:xfrm>
            <a:off x="5440680" y="5257800"/>
            <a:ext cx="368503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-fsanitize=cfi-vcall,cfi-cast-strict</a:t>
            </a:r>
            <a:endParaRPr lang="en-US" sz="1867" dirty="0"/>
          </a:p>
        </p:txBody>
      </p:sp>
      <p:sp>
        <p:nvSpPr>
          <p:cNvPr id="68" name="Shape 66"/>
          <p:cNvSpPr/>
          <p:nvPr/>
        </p:nvSpPr>
        <p:spPr>
          <a:xfrm>
            <a:off x="9784080" y="5129784"/>
            <a:ext cx="201168" cy="201168"/>
          </a:xfrm>
          <a:prstGeom prst="ellipse">
            <a:avLst/>
          </a:prstGeom>
          <a:solidFill>
            <a:srgbClr val="D9A62B"/>
          </a:solidFill>
          <a:ln w="12700">
            <a:solidFill>
              <a:srgbClr val="D9A62B"/>
            </a:solidFill>
            <a:prstDash val="solid"/>
          </a:ln>
        </p:spPr>
        <p:txBody>
          <a:bodyPr/>
          <a:lstStyle/>
          <a:p>
            <a:endParaRPr lang="en-US"/>
          </a:p>
        </p:txBody>
      </p:sp>
      <p:sp>
        <p:nvSpPr>
          <p:cNvPr id="69" name="Shape 67"/>
          <p:cNvSpPr/>
          <p:nvPr/>
        </p:nvSpPr>
        <p:spPr>
          <a:xfrm>
            <a:off x="10067544" y="5129784"/>
            <a:ext cx="201168" cy="201168"/>
          </a:xfrm>
          <a:prstGeom prst="ellipse">
            <a:avLst/>
          </a:prstGeom>
          <a:solidFill>
            <a:srgbClr val="3FA34D"/>
          </a:solidFill>
          <a:ln w="12700">
            <a:solidFill>
              <a:srgbClr val="3FA34D"/>
            </a:solidFill>
            <a:prstDash val="solid"/>
          </a:ln>
        </p:spPr>
        <p:txBody>
          <a:bodyPr/>
          <a:lstStyle/>
          <a:p>
            <a:endParaRPr lang="en-US"/>
          </a:p>
        </p:txBody>
      </p:sp>
      <p:sp>
        <p:nvSpPr>
          <p:cNvPr id="70" name="Text 68"/>
          <p:cNvSpPr txBox="1"/>
          <p:nvPr/>
        </p:nvSpPr>
        <p:spPr>
          <a:xfrm>
            <a:off x="10305288" y="5038344"/>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Android</a:t>
            </a:r>
            <a:endParaRPr lang="en-US" sz="2000" dirty="0"/>
          </a:p>
        </p:txBody>
      </p:sp>
      <p:sp>
        <p:nvSpPr>
          <p:cNvPr id="71" name="Shape 69"/>
          <p:cNvSpPr/>
          <p:nvPr/>
        </p:nvSpPr>
        <p:spPr>
          <a:xfrm>
            <a:off x="9784080" y="5513832"/>
            <a:ext cx="201168" cy="201168"/>
          </a:xfrm>
          <a:prstGeom prst="ellipse">
            <a:avLst/>
          </a:prstGeom>
          <a:solidFill>
            <a:srgbClr val="C93B34"/>
          </a:solidFill>
          <a:ln w="12700">
            <a:solidFill>
              <a:srgbClr val="C93B34"/>
            </a:solidFill>
            <a:prstDash val="solid"/>
          </a:ln>
        </p:spPr>
        <p:txBody>
          <a:bodyPr/>
          <a:lstStyle/>
          <a:p>
            <a:endParaRPr lang="en-US"/>
          </a:p>
        </p:txBody>
      </p:sp>
      <p:sp>
        <p:nvSpPr>
          <p:cNvPr id="72" name="Text 70"/>
          <p:cNvSpPr txBox="1"/>
          <p:nvPr/>
        </p:nvSpPr>
        <p:spPr>
          <a:xfrm>
            <a:off x="10021824" y="5422392"/>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73" name="Shape 71"/>
          <p:cNvSpPr/>
          <p:nvPr/>
        </p:nvSpPr>
        <p:spPr>
          <a:xfrm>
            <a:off x="932688" y="5824728"/>
            <a:ext cx="10515600" cy="0"/>
          </a:xfrm>
          <a:prstGeom prst="line">
            <a:avLst/>
          </a:prstGeom>
          <a:noFill/>
          <a:ln w="9525">
            <a:solidFill>
              <a:srgbClr val="D9D9D9"/>
            </a:solidFill>
            <a:prstDash val="solid"/>
          </a:ln>
        </p:spPr>
        <p:txBody>
          <a:bodyPr/>
          <a:lstStyle/>
          <a:p>
            <a:endParaRPr lang="en-US"/>
          </a:p>
        </p:txBody>
      </p:sp>
      <p:sp>
        <p:nvSpPr>
          <p:cNvPr id="74" name="Text 72"/>
          <p:cNvSpPr txBox="1"/>
          <p:nvPr/>
        </p:nvSpPr>
        <p:spPr>
          <a:xfrm>
            <a:off x="932688" y="5833872"/>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75" name="Text 73"/>
          <p:cNvSpPr txBox="1"/>
          <p:nvPr/>
        </p:nvSpPr>
        <p:spPr>
          <a:xfrm>
            <a:off x="2887980" y="5833872"/>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Forward edge</a:t>
            </a:r>
            <a:endParaRPr lang="en-US" sz="2000" dirty="0"/>
          </a:p>
        </p:txBody>
      </p:sp>
      <p:sp>
        <p:nvSpPr>
          <p:cNvPr id="76" name="Shape 74"/>
          <p:cNvSpPr/>
          <p:nvPr/>
        </p:nvSpPr>
        <p:spPr>
          <a:xfrm>
            <a:off x="5440680" y="5888736"/>
            <a:ext cx="119329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7" name="Text 75"/>
          <p:cNvSpPr txBox="1"/>
          <p:nvPr/>
        </p:nvSpPr>
        <p:spPr>
          <a:xfrm>
            <a:off x="5440680" y="5888736"/>
            <a:ext cx="119329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/guard:cf</a:t>
            </a:r>
            <a:endParaRPr lang="en-US" sz="1867" dirty="0"/>
          </a:p>
        </p:txBody>
      </p:sp>
      <p:sp>
        <p:nvSpPr>
          <p:cNvPr id="78" name="Shape 76"/>
          <p:cNvSpPr/>
          <p:nvPr/>
        </p:nvSpPr>
        <p:spPr>
          <a:xfrm>
            <a:off x="6725412" y="5888736"/>
            <a:ext cx="17327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9" name="Text 77"/>
          <p:cNvSpPr txBox="1"/>
          <p:nvPr/>
        </p:nvSpPr>
        <p:spPr>
          <a:xfrm>
            <a:off x="6725412" y="5888736"/>
            <a:ext cx="17327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-fcf-protection</a:t>
            </a:r>
            <a:endParaRPr lang="en-US" sz="1867" dirty="0"/>
          </a:p>
        </p:txBody>
      </p:sp>
      <p:sp>
        <p:nvSpPr>
          <p:cNvPr id="80" name="Shape 78"/>
          <p:cNvSpPr/>
          <p:nvPr/>
        </p:nvSpPr>
        <p:spPr>
          <a:xfrm>
            <a:off x="9784080" y="5952744"/>
            <a:ext cx="201168" cy="201168"/>
          </a:xfrm>
          <a:prstGeom prst="ellipse">
            <a:avLst/>
          </a:prstGeom>
          <a:solidFill>
            <a:srgbClr val="3FA34D"/>
          </a:solidFill>
          <a:ln w="12700">
            <a:solidFill>
              <a:srgbClr val="3FA34D"/>
            </a:solidFill>
            <a:prstDash val="solid"/>
          </a:ln>
        </p:spPr>
        <p:txBody>
          <a:bodyPr/>
          <a:lstStyle/>
          <a:p>
            <a:endParaRPr lang="en-US"/>
          </a:p>
        </p:txBody>
      </p:sp>
      <p:sp>
        <p:nvSpPr>
          <p:cNvPr id="81" name="Shape 79"/>
          <p:cNvSpPr/>
          <p:nvPr/>
        </p:nvSpPr>
        <p:spPr>
          <a:xfrm>
            <a:off x="10067544" y="5952744"/>
            <a:ext cx="201168" cy="201168"/>
          </a:xfrm>
          <a:prstGeom prst="ellipse">
            <a:avLst/>
          </a:prstGeom>
          <a:solidFill>
            <a:srgbClr val="D9A62B"/>
          </a:solidFill>
          <a:ln w="12700">
            <a:solidFill>
              <a:srgbClr val="D9A62B"/>
            </a:solidFill>
            <a:prstDash val="solid"/>
          </a:ln>
        </p:spPr>
        <p:txBody>
          <a:bodyPr/>
          <a:lstStyle/>
          <a:p>
            <a:endParaRPr lang="en-US"/>
          </a:p>
        </p:txBody>
      </p:sp>
      <p:sp>
        <p:nvSpPr>
          <p:cNvPr id="82" name="Text 80"/>
          <p:cNvSpPr txBox="1"/>
          <p:nvPr/>
        </p:nvSpPr>
        <p:spPr>
          <a:xfrm>
            <a:off x="10305288" y="583387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84" name="Title 83">
            <a:extLst>
              <a:ext uri="{FF2B5EF4-FFF2-40B4-BE49-F238E27FC236}">
                <a16:creationId xmlns:a16="http://schemas.microsoft.com/office/drawing/2014/main" id="{2CEAB8E1-91B7-6F9D-76CD-D6AB1FFF8515}"/>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Hardening</a:t>
            </a:r>
            <a:endParaRPr lang="en-US" dirty="0"/>
          </a:p>
        </p:txBody>
      </p:sp>
      <p:sp>
        <p:nvSpPr>
          <p:cNvPr id="83" name="TextBox 82">
            <a:extLst>
              <a:ext uri="{FF2B5EF4-FFF2-40B4-BE49-F238E27FC236}">
                <a16:creationId xmlns:a16="http://schemas.microsoft.com/office/drawing/2014/main" id="{18393E6F-C080-909A-B8D4-4206369B4D5E}"/>
              </a:ext>
            </a:extLst>
          </p:cNvPr>
          <p:cNvSpPr txBox="1"/>
          <p:nvPr/>
        </p:nvSpPr>
        <p:spPr>
          <a:xfrm>
            <a:off x="388645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2/3</a:t>
            </a:r>
            <a:endParaRPr lang="en-US" sz="2800" dirty="0">
              <a:solidFill>
                <a:schemeClr val="bg1">
                  <a:lumMod val="75000"/>
                </a:schemeClr>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10246-78FC-C042-8331-8AE5AD04F5F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0C6F05D-BE8F-F399-5B9A-13EAEF1B796E}"/>
              </a:ext>
            </a:extLst>
          </p:cNvPr>
          <p:cNvSpPr txBox="1"/>
          <p:nvPr/>
        </p:nvSpPr>
        <p:spPr>
          <a:xfrm>
            <a:off x="932688"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Area</a:t>
            </a:r>
            <a:endParaRPr lang="en-US" sz="2400" dirty="0"/>
          </a:p>
        </p:txBody>
      </p:sp>
      <p:sp>
        <p:nvSpPr>
          <p:cNvPr id="4" name="Text 2">
            <a:extLst>
              <a:ext uri="{FF2B5EF4-FFF2-40B4-BE49-F238E27FC236}">
                <a16:creationId xmlns:a16="http://schemas.microsoft.com/office/drawing/2014/main" id="{20F4CC31-57B6-46E8-3E41-07595FD054DD}"/>
              </a:ext>
            </a:extLst>
          </p:cNvPr>
          <p:cNvSpPr txBox="1"/>
          <p:nvPr/>
        </p:nvSpPr>
        <p:spPr>
          <a:xfrm>
            <a:off x="2887980"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Technique</a:t>
            </a:r>
            <a:endParaRPr lang="en-US" sz="2400" dirty="0"/>
          </a:p>
        </p:txBody>
      </p:sp>
      <p:sp>
        <p:nvSpPr>
          <p:cNvPr id="5" name="Text 3">
            <a:extLst>
              <a:ext uri="{FF2B5EF4-FFF2-40B4-BE49-F238E27FC236}">
                <a16:creationId xmlns:a16="http://schemas.microsoft.com/office/drawing/2014/main" id="{657CE0A0-D60F-30EC-0480-BF9F51374DA2}"/>
              </a:ext>
            </a:extLst>
          </p:cNvPr>
          <p:cNvSpPr txBox="1"/>
          <p:nvPr/>
        </p:nvSpPr>
        <p:spPr>
          <a:xfrm>
            <a:off x="5440680"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How</a:t>
            </a:r>
            <a:endParaRPr lang="en-US" sz="2400" dirty="0"/>
          </a:p>
        </p:txBody>
      </p:sp>
      <p:sp>
        <p:nvSpPr>
          <p:cNvPr id="6" name="Text 4">
            <a:extLst>
              <a:ext uri="{FF2B5EF4-FFF2-40B4-BE49-F238E27FC236}">
                <a16:creationId xmlns:a16="http://schemas.microsoft.com/office/drawing/2014/main" id="{51A07F82-2731-A7D5-C0BD-2C638C2BE181}"/>
              </a:ext>
            </a:extLst>
          </p:cNvPr>
          <p:cNvSpPr txBox="1"/>
          <p:nvPr/>
        </p:nvSpPr>
        <p:spPr>
          <a:xfrm>
            <a:off x="9784080" y="1527048"/>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Availability</a:t>
            </a:r>
            <a:endParaRPr lang="en-US" sz="2400" dirty="0"/>
          </a:p>
        </p:txBody>
      </p:sp>
      <p:sp>
        <p:nvSpPr>
          <p:cNvPr id="7" name="Shape 5">
            <a:extLst>
              <a:ext uri="{FF2B5EF4-FFF2-40B4-BE49-F238E27FC236}">
                <a16:creationId xmlns:a16="http://schemas.microsoft.com/office/drawing/2014/main" id="{72FEAA23-F371-2B82-D1CE-C7492152CF56}"/>
              </a:ext>
            </a:extLst>
          </p:cNvPr>
          <p:cNvSpPr/>
          <p:nvPr/>
        </p:nvSpPr>
        <p:spPr>
          <a:xfrm>
            <a:off x="932688" y="1901952"/>
            <a:ext cx="10515600" cy="0"/>
          </a:xfrm>
          <a:prstGeom prst="line">
            <a:avLst/>
          </a:prstGeom>
          <a:noFill/>
          <a:ln w="12700">
            <a:solidFill>
              <a:srgbClr val="B8B8B8"/>
            </a:solidFill>
            <a:prstDash val="solid"/>
          </a:ln>
        </p:spPr>
        <p:txBody>
          <a:bodyPr/>
          <a:lstStyle/>
          <a:p>
            <a:endParaRPr lang="en-US" sz="2000"/>
          </a:p>
        </p:txBody>
      </p:sp>
      <p:sp>
        <p:nvSpPr>
          <p:cNvPr id="8" name="Text 6">
            <a:extLst>
              <a:ext uri="{FF2B5EF4-FFF2-40B4-BE49-F238E27FC236}">
                <a16:creationId xmlns:a16="http://schemas.microsoft.com/office/drawing/2014/main" id="{4F37F634-2150-7F71-309F-EFB2323D6668}"/>
              </a:ext>
            </a:extLst>
          </p:cNvPr>
          <p:cNvSpPr txBox="1"/>
          <p:nvPr/>
        </p:nvSpPr>
        <p:spPr>
          <a:xfrm>
            <a:off x="932688" y="1993392"/>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Lifetime</a:t>
            </a:r>
            <a:endParaRPr lang="en-US" sz="2000" dirty="0"/>
          </a:p>
        </p:txBody>
      </p:sp>
      <p:sp>
        <p:nvSpPr>
          <p:cNvPr id="9" name="Text 7">
            <a:extLst>
              <a:ext uri="{FF2B5EF4-FFF2-40B4-BE49-F238E27FC236}">
                <a16:creationId xmlns:a16="http://schemas.microsoft.com/office/drawing/2014/main" id="{487DDF37-8FC0-C608-67A0-911016FC8D28}"/>
              </a:ext>
            </a:extLst>
          </p:cNvPr>
          <p:cNvSpPr txBox="1"/>
          <p:nvPr/>
        </p:nvSpPr>
        <p:spPr>
          <a:xfrm>
            <a:off x="2887980" y="1993392"/>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Hardware tagging</a:t>
            </a:r>
            <a:endParaRPr lang="en-US" sz="2000" dirty="0"/>
          </a:p>
        </p:txBody>
      </p:sp>
      <p:sp>
        <p:nvSpPr>
          <p:cNvPr id="10" name="Shape 8">
            <a:extLst>
              <a:ext uri="{FF2B5EF4-FFF2-40B4-BE49-F238E27FC236}">
                <a16:creationId xmlns:a16="http://schemas.microsoft.com/office/drawing/2014/main" id="{37C1A9A0-BA91-4A0A-E9E8-DCB3C66E4C8C}"/>
              </a:ext>
            </a:extLst>
          </p:cNvPr>
          <p:cNvSpPr/>
          <p:nvPr/>
        </p:nvSpPr>
        <p:spPr>
          <a:xfrm>
            <a:off x="5440680" y="2048256"/>
            <a:ext cx="121158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1" name="Text 9">
            <a:extLst>
              <a:ext uri="{FF2B5EF4-FFF2-40B4-BE49-F238E27FC236}">
                <a16:creationId xmlns:a16="http://schemas.microsoft.com/office/drawing/2014/main" id="{3548BA30-6C40-D045-7C8D-528CF28882E4}"/>
              </a:ext>
            </a:extLst>
          </p:cNvPr>
          <p:cNvSpPr txBox="1"/>
          <p:nvPr/>
        </p:nvSpPr>
        <p:spPr>
          <a:xfrm>
            <a:off x="5440680" y="2048256"/>
            <a:ext cx="121158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Arm MTE</a:t>
            </a:r>
            <a:endParaRPr lang="en-US" sz="1867" dirty="0"/>
          </a:p>
        </p:txBody>
      </p:sp>
      <p:sp>
        <p:nvSpPr>
          <p:cNvPr id="12" name="Shape 10">
            <a:extLst>
              <a:ext uri="{FF2B5EF4-FFF2-40B4-BE49-F238E27FC236}">
                <a16:creationId xmlns:a16="http://schemas.microsoft.com/office/drawing/2014/main" id="{55D4978A-40B9-2713-54F0-E95CCFDDC52C}"/>
              </a:ext>
            </a:extLst>
          </p:cNvPr>
          <p:cNvSpPr/>
          <p:nvPr/>
        </p:nvSpPr>
        <p:spPr>
          <a:xfrm>
            <a:off x="6743700" y="2048256"/>
            <a:ext cx="142646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3" name="Text 11">
            <a:extLst>
              <a:ext uri="{FF2B5EF4-FFF2-40B4-BE49-F238E27FC236}">
                <a16:creationId xmlns:a16="http://schemas.microsoft.com/office/drawing/2014/main" id="{85407C14-3156-5131-FC2E-EEAAE370286A}"/>
              </a:ext>
            </a:extLst>
          </p:cNvPr>
          <p:cNvSpPr txBox="1"/>
          <p:nvPr/>
        </p:nvSpPr>
        <p:spPr>
          <a:xfrm>
            <a:off x="6743700" y="2048256"/>
            <a:ext cx="142646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Apple MIE</a:t>
            </a:r>
            <a:endParaRPr lang="en-US" sz="1867" dirty="0"/>
          </a:p>
        </p:txBody>
      </p:sp>
      <p:sp>
        <p:nvSpPr>
          <p:cNvPr id="14" name="Shape 12">
            <a:extLst>
              <a:ext uri="{FF2B5EF4-FFF2-40B4-BE49-F238E27FC236}">
                <a16:creationId xmlns:a16="http://schemas.microsoft.com/office/drawing/2014/main" id="{AC31C8DC-C708-CF46-5089-2E3788859B33}"/>
              </a:ext>
            </a:extLst>
          </p:cNvPr>
          <p:cNvSpPr/>
          <p:nvPr/>
        </p:nvSpPr>
        <p:spPr>
          <a:xfrm>
            <a:off x="8261604" y="2048256"/>
            <a:ext cx="10104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5" name="Text 13">
            <a:extLst>
              <a:ext uri="{FF2B5EF4-FFF2-40B4-BE49-F238E27FC236}">
                <a16:creationId xmlns:a16="http://schemas.microsoft.com/office/drawing/2014/main" id="{82EC856D-5D89-B93D-370A-3B41686B5B39}"/>
              </a:ext>
            </a:extLst>
          </p:cNvPr>
          <p:cNvSpPr txBox="1"/>
          <p:nvPr/>
        </p:nvSpPr>
        <p:spPr>
          <a:xfrm>
            <a:off x="8261604" y="2048256"/>
            <a:ext cx="10104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CHERI</a:t>
            </a:r>
            <a:endParaRPr lang="en-US" sz="1867" dirty="0"/>
          </a:p>
        </p:txBody>
      </p:sp>
      <p:sp>
        <p:nvSpPr>
          <p:cNvPr id="16" name="Shape 14">
            <a:extLst>
              <a:ext uri="{FF2B5EF4-FFF2-40B4-BE49-F238E27FC236}">
                <a16:creationId xmlns:a16="http://schemas.microsoft.com/office/drawing/2014/main" id="{7C44C83B-F16E-118F-700D-1881247FCD1D}"/>
              </a:ext>
            </a:extLst>
          </p:cNvPr>
          <p:cNvSpPr/>
          <p:nvPr/>
        </p:nvSpPr>
        <p:spPr>
          <a:xfrm>
            <a:off x="9784080" y="2112264"/>
            <a:ext cx="201168" cy="201168"/>
          </a:xfrm>
          <a:prstGeom prst="ellipse">
            <a:avLst/>
          </a:prstGeom>
          <a:solidFill>
            <a:srgbClr val="C93B34"/>
          </a:solidFill>
          <a:ln w="12700">
            <a:solidFill>
              <a:srgbClr val="C93B34"/>
            </a:solidFill>
            <a:prstDash val="solid"/>
          </a:ln>
        </p:spPr>
        <p:txBody>
          <a:bodyPr/>
          <a:lstStyle/>
          <a:p>
            <a:endParaRPr lang="en-US"/>
          </a:p>
        </p:txBody>
      </p:sp>
      <p:sp>
        <p:nvSpPr>
          <p:cNvPr id="17" name="Shape 15">
            <a:extLst>
              <a:ext uri="{FF2B5EF4-FFF2-40B4-BE49-F238E27FC236}">
                <a16:creationId xmlns:a16="http://schemas.microsoft.com/office/drawing/2014/main" id="{A15DE218-6D7A-10B7-1111-CDF32221000A}"/>
              </a:ext>
            </a:extLst>
          </p:cNvPr>
          <p:cNvSpPr/>
          <p:nvPr/>
        </p:nvSpPr>
        <p:spPr>
          <a:xfrm>
            <a:off x="10067544" y="2112264"/>
            <a:ext cx="201168" cy="201168"/>
          </a:xfrm>
          <a:prstGeom prst="ellipse">
            <a:avLst/>
          </a:prstGeom>
          <a:solidFill>
            <a:srgbClr val="3FA34D"/>
          </a:solidFill>
          <a:ln w="12700">
            <a:solidFill>
              <a:srgbClr val="3FA34D"/>
            </a:solidFill>
            <a:prstDash val="solid"/>
          </a:ln>
        </p:spPr>
        <p:txBody>
          <a:bodyPr/>
          <a:lstStyle/>
          <a:p>
            <a:endParaRPr lang="en-US"/>
          </a:p>
        </p:txBody>
      </p:sp>
      <p:sp>
        <p:nvSpPr>
          <p:cNvPr id="18" name="Text 16">
            <a:extLst>
              <a:ext uri="{FF2B5EF4-FFF2-40B4-BE49-F238E27FC236}">
                <a16:creationId xmlns:a16="http://schemas.microsoft.com/office/drawing/2014/main" id="{168C711A-AEFB-E410-3D23-B3C579AC75A8}"/>
              </a:ext>
            </a:extLst>
          </p:cNvPr>
          <p:cNvSpPr txBox="1"/>
          <p:nvPr/>
        </p:nvSpPr>
        <p:spPr>
          <a:xfrm>
            <a:off x="10305288" y="199339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iPhone</a:t>
            </a:r>
            <a:endParaRPr lang="en-US" sz="2000" dirty="0"/>
          </a:p>
        </p:txBody>
      </p:sp>
      <p:sp>
        <p:nvSpPr>
          <p:cNvPr id="19" name="Shape 17">
            <a:extLst>
              <a:ext uri="{FF2B5EF4-FFF2-40B4-BE49-F238E27FC236}">
                <a16:creationId xmlns:a16="http://schemas.microsoft.com/office/drawing/2014/main" id="{635EAB8E-186C-1AB4-216C-AB2469BC5245}"/>
              </a:ext>
            </a:extLst>
          </p:cNvPr>
          <p:cNvSpPr/>
          <p:nvPr/>
        </p:nvSpPr>
        <p:spPr>
          <a:xfrm>
            <a:off x="932688" y="2423160"/>
            <a:ext cx="10515600" cy="0"/>
          </a:xfrm>
          <a:prstGeom prst="line">
            <a:avLst/>
          </a:prstGeom>
          <a:noFill/>
          <a:ln w="9525">
            <a:solidFill>
              <a:srgbClr val="D9D9D9"/>
            </a:solidFill>
            <a:prstDash val="solid"/>
          </a:ln>
        </p:spPr>
        <p:txBody>
          <a:bodyPr/>
          <a:lstStyle/>
          <a:p>
            <a:endParaRPr lang="en-US"/>
          </a:p>
        </p:txBody>
      </p:sp>
      <p:sp>
        <p:nvSpPr>
          <p:cNvPr id="20" name="Text 18">
            <a:extLst>
              <a:ext uri="{FF2B5EF4-FFF2-40B4-BE49-F238E27FC236}">
                <a16:creationId xmlns:a16="http://schemas.microsoft.com/office/drawing/2014/main" id="{B3BA236A-6722-621D-D9F5-1BECCC1F3BB9}"/>
              </a:ext>
            </a:extLst>
          </p:cNvPr>
          <p:cNvSpPr txBox="1"/>
          <p:nvPr/>
        </p:nvSpPr>
        <p:spPr>
          <a:xfrm>
            <a:off x="932688" y="2432304"/>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Null</a:t>
            </a:r>
            <a:endParaRPr lang="en-US" sz="2000" dirty="0"/>
          </a:p>
        </p:txBody>
      </p:sp>
      <p:sp>
        <p:nvSpPr>
          <p:cNvPr id="21" name="Text 19">
            <a:extLst>
              <a:ext uri="{FF2B5EF4-FFF2-40B4-BE49-F238E27FC236}">
                <a16:creationId xmlns:a16="http://schemas.microsoft.com/office/drawing/2014/main" id="{C2996587-44D7-FDAA-CBAA-273112102E4B}"/>
              </a:ext>
            </a:extLst>
          </p:cNvPr>
          <p:cNvSpPr txBox="1"/>
          <p:nvPr/>
        </p:nvSpPr>
        <p:spPr>
          <a:xfrm>
            <a:off x="2887980" y="2432304"/>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Zero page</a:t>
            </a:r>
            <a:endParaRPr lang="en-US" sz="2000" dirty="0"/>
          </a:p>
        </p:txBody>
      </p:sp>
      <p:sp>
        <p:nvSpPr>
          <p:cNvPr id="22" name="Shape 20">
            <a:extLst>
              <a:ext uri="{FF2B5EF4-FFF2-40B4-BE49-F238E27FC236}">
                <a16:creationId xmlns:a16="http://schemas.microsoft.com/office/drawing/2014/main" id="{664EC7AD-1AC9-B75E-0C92-A329ABA38FE5}"/>
              </a:ext>
            </a:extLst>
          </p:cNvPr>
          <p:cNvSpPr/>
          <p:nvPr/>
        </p:nvSpPr>
        <p:spPr>
          <a:xfrm>
            <a:off x="5440680" y="2487168"/>
            <a:ext cx="216712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3" name="Text 21">
            <a:extLst>
              <a:ext uri="{FF2B5EF4-FFF2-40B4-BE49-F238E27FC236}">
                <a16:creationId xmlns:a16="http://schemas.microsoft.com/office/drawing/2014/main" id="{AB4856C1-2D32-D636-D9F3-2BD06D3AE895}"/>
              </a:ext>
            </a:extLst>
          </p:cNvPr>
          <p:cNvSpPr txBox="1"/>
          <p:nvPr/>
        </p:nvSpPr>
        <p:spPr>
          <a:xfrm>
            <a:off x="5440680" y="2487168"/>
            <a:ext cx="216712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unmapped page 0</a:t>
            </a:r>
            <a:endParaRPr lang="en-US" sz="1867" dirty="0"/>
          </a:p>
        </p:txBody>
      </p:sp>
      <p:sp>
        <p:nvSpPr>
          <p:cNvPr id="24" name="Shape 22">
            <a:extLst>
              <a:ext uri="{FF2B5EF4-FFF2-40B4-BE49-F238E27FC236}">
                <a16:creationId xmlns:a16="http://schemas.microsoft.com/office/drawing/2014/main" id="{3422A56B-686D-1F6D-B72D-3A75A1B7173D}"/>
              </a:ext>
            </a:extLst>
          </p:cNvPr>
          <p:cNvSpPr/>
          <p:nvPr/>
        </p:nvSpPr>
        <p:spPr>
          <a:xfrm>
            <a:off x="9784080" y="2551176"/>
            <a:ext cx="201168" cy="201168"/>
          </a:xfrm>
          <a:prstGeom prst="ellipse">
            <a:avLst/>
          </a:prstGeom>
          <a:solidFill>
            <a:srgbClr val="3FA34D"/>
          </a:solidFill>
          <a:ln w="12700">
            <a:solidFill>
              <a:srgbClr val="3FA34D"/>
            </a:solidFill>
            <a:prstDash val="solid"/>
          </a:ln>
        </p:spPr>
        <p:txBody>
          <a:bodyPr/>
          <a:lstStyle/>
          <a:p>
            <a:endParaRPr lang="en-US"/>
          </a:p>
        </p:txBody>
      </p:sp>
      <p:sp>
        <p:nvSpPr>
          <p:cNvPr id="25" name="Shape 23">
            <a:extLst>
              <a:ext uri="{FF2B5EF4-FFF2-40B4-BE49-F238E27FC236}">
                <a16:creationId xmlns:a16="http://schemas.microsoft.com/office/drawing/2014/main" id="{5D95A812-DDD9-1B79-9476-242FDAE81545}"/>
              </a:ext>
            </a:extLst>
          </p:cNvPr>
          <p:cNvSpPr/>
          <p:nvPr/>
        </p:nvSpPr>
        <p:spPr>
          <a:xfrm>
            <a:off x="932688" y="2862072"/>
            <a:ext cx="10515600" cy="0"/>
          </a:xfrm>
          <a:prstGeom prst="line">
            <a:avLst/>
          </a:prstGeom>
          <a:noFill/>
          <a:ln w="9525">
            <a:solidFill>
              <a:srgbClr val="D9D9D9"/>
            </a:solidFill>
            <a:prstDash val="solid"/>
          </a:ln>
        </p:spPr>
        <p:txBody>
          <a:bodyPr/>
          <a:lstStyle/>
          <a:p>
            <a:endParaRPr lang="en-US"/>
          </a:p>
        </p:txBody>
      </p:sp>
      <p:sp>
        <p:nvSpPr>
          <p:cNvPr id="26" name="Text 24">
            <a:extLst>
              <a:ext uri="{FF2B5EF4-FFF2-40B4-BE49-F238E27FC236}">
                <a16:creationId xmlns:a16="http://schemas.microsoft.com/office/drawing/2014/main" id="{536E51CE-ADCC-35C0-43B2-C89D6B5F48ED}"/>
              </a:ext>
            </a:extLst>
          </p:cNvPr>
          <p:cNvSpPr txBox="1"/>
          <p:nvPr/>
        </p:nvSpPr>
        <p:spPr>
          <a:xfrm>
            <a:off x="932688" y="2871216"/>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Alignment</a:t>
            </a:r>
            <a:endParaRPr lang="en-US" sz="2000" dirty="0"/>
          </a:p>
        </p:txBody>
      </p:sp>
      <p:sp>
        <p:nvSpPr>
          <p:cNvPr id="27" name="Text 25">
            <a:extLst>
              <a:ext uri="{FF2B5EF4-FFF2-40B4-BE49-F238E27FC236}">
                <a16:creationId xmlns:a16="http://schemas.microsoft.com/office/drawing/2014/main" id="{6F2DBECE-C78E-E486-A5E6-EF1F8CB32661}"/>
              </a:ext>
            </a:extLst>
          </p:cNvPr>
          <p:cNvSpPr txBox="1"/>
          <p:nvPr/>
        </p:nvSpPr>
        <p:spPr>
          <a:xfrm>
            <a:off x="2887980" y="2871216"/>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Alignment trap</a:t>
            </a:r>
            <a:endParaRPr lang="en-US" sz="2000" dirty="0"/>
          </a:p>
        </p:txBody>
      </p:sp>
      <p:sp>
        <p:nvSpPr>
          <p:cNvPr id="28" name="Shape 26">
            <a:extLst>
              <a:ext uri="{FF2B5EF4-FFF2-40B4-BE49-F238E27FC236}">
                <a16:creationId xmlns:a16="http://schemas.microsoft.com/office/drawing/2014/main" id="{7F4884EA-A392-6089-A65F-B65F54F3AD86}"/>
              </a:ext>
            </a:extLst>
          </p:cNvPr>
          <p:cNvSpPr/>
          <p:nvPr/>
        </p:nvSpPr>
        <p:spPr>
          <a:xfrm>
            <a:off x="5440680" y="2926080"/>
            <a:ext cx="23820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9" name="Text 27">
            <a:extLst>
              <a:ext uri="{FF2B5EF4-FFF2-40B4-BE49-F238E27FC236}">
                <a16:creationId xmlns:a16="http://schemas.microsoft.com/office/drawing/2014/main" id="{20CD92A1-38FC-254F-3177-06BC8116A0CA}"/>
              </a:ext>
            </a:extLst>
          </p:cNvPr>
          <p:cNvSpPr txBox="1"/>
          <p:nvPr/>
        </p:nvSpPr>
        <p:spPr>
          <a:xfrm>
            <a:off x="5440680" y="2926080"/>
            <a:ext cx="23820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-fsanitize=alignment</a:t>
            </a:r>
            <a:endParaRPr lang="en-US" sz="1867" dirty="0"/>
          </a:p>
        </p:txBody>
      </p:sp>
      <p:sp>
        <p:nvSpPr>
          <p:cNvPr id="30" name="Shape 28">
            <a:extLst>
              <a:ext uri="{FF2B5EF4-FFF2-40B4-BE49-F238E27FC236}">
                <a16:creationId xmlns:a16="http://schemas.microsoft.com/office/drawing/2014/main" id="{6F53A312-EDF4-9E3D-0CB1-7106DE0FE109}"/>
              </a:ext>
            </a:extLst>
          </p:cNvPr>
          <p:cNvSpPr/>
          <p:nvPr/>
        </p:nvSpPr>
        <p:spPr>
          <a:xfrm>
            <a:off x="7914132" y="2926080"/>
            <a:ext cx="17327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1" name="Text 29">
            <a:extLst>
              <a:ext uri="{FF2B5EF4-FFF2-40B4-BE49-F238E27FC236}">
                <a16:creationId xmlns:a16="http://schemas.microsoft.com/office/drawing/2014/main" id="{4A36C1BA-6C5E-6653-61AE-F8B84230AB92}"/>
              </a:ext>
            </a:extLst>
          </p:cNvPr>
          <p:cNvSpPr txBox="1"/>
          <p:nvPr/>
        </p:nvSpPr>
        <p:spPr>
          <a:xfrm>
            <a:off x="7914132" y="2926080"/>
            <a:ext cx="17327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-fsanitize-trap</a:t>
            </a:r>
            <a:endParaRPr lang="en-US" sz="1867" dirty="0"/>
          </a:p>
        </p:txBody>
      </p:sp>
      <p:sp>
        <p:nvSpPr>
          <p:cNvPr id="32" name="Shape 30">
            <a:extLst>
              <a:ext uri="{FF2B5EF4-FFF2-40B4-BE49-F238E27FC236}">
                <a16:creationId xmlns:a16="http://schemas.microsoft.com/office/drawing/2014/main" id="{294447AF-A182-9D71-069D-C25956C9558F}"/>
              </a:ext>
            </a:extLst>
          </p:cNvPr>
          <p:cNvSpPr/>
          <p:nvPr/>
        </p:nvSpPr>
        <p:spPr>
          <a:xfrm>
            <a:off x="9784080" y="2990088"/>
            <a:ext cx="201168" cy="201168"/>
          </a:xfrm>
          <a:prstGeom prst="ellipse">
            <a:avLst/>
          </a:prstGeom>
          <a:solidFill>
            <a:srgbClr val="D9A62B"/>
          </a:solidFill>
          <a:ln w="12700">
            <a:solidFill>
              <a:srgbClr val="D9A62B"/>
            </a:solidFill>
            <a:prstDash val="solid"/>
          </a:ln>
        </p:spPr>
        <p:txBody>
          <a:bodyPr/>
          <a:lstStyle/>
          <a:p>
            <a:endParaRPr lang="en-US"/>
          </a:p>
        </p:txBody>
      </p:sp>
      <p:sp>
        <p:nvSpPr>
          <p:cNvPr id="33" name="Shape 31">
            <a:extLst>
              <a:ext uri="{FF2B5EF4-FFF2-40B4-BE49-F238E27FC236}">
                <a16:creationId xmlns:a16="http://schemas.microsoft.com/office/drawing/2014/main" id="{F57A6184-42DD-AA04-B425-97FB6895C847}"/>
              </a:ext>
            </a:extLst>
          </p:cNvPr>
          <p:cNvSpPr/>
          <p:nvPr/>
        </p:nvSpPr>
        <p:spPr>
          <a:xfrm>
            <a:off x="10067544" y="2990088"/>
            <a:ext cx="201168" cy="201168"/>
          </a:xfrm>
          <a:prstGeom prst="ellipse">
            <a:avLst/>
          </a:prstGeom>
          <a:solidFill>
            <a:srgbClr val="C93B34"/>
          </a:solidFill>
          <a:ln w="12700">
            <a:solidFill>
              <a:srgbClr val="C93B34"/>
            </a:solidFill>
            <a:prstDash val="solid"/>
          </a:ln>
        </p:spPr>
        <p:txBody>
          <a:bodyPr/>
          <a:lstStyle/>
          <a:p>
            <a:endParaRPr lang="en-US"/>
          </a:p>
        </p:txBody>
      </p:sp>
      <p:sp>
        <p:nvSpPr>
          <p:cNvPr id="34" name="Text 32">
            <a:extLst>
              <a:ext uri="{FF2B5EF4-FFF2-40B4-BE49-F238E27FC236}">
                <a16:creationId xmlns:a16="http://schemas.microsoft.com/office/drawing/2014/main" id="{F8B59948-B37E-AD5A-162A-E6052986DAE7}"/>
              </a:ext>
            </a:extLst>
          </p:cNvPr>
          <p:cNvSpPr txBox="1"/>
          <p:nvPr/>
        </p:nvSpPr>
        <p:spPr>
          <a:xfrm>
            <a:off x="10305288" y="2871216"/>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35" name="Shape 33">
            <a:extLst>
              <a:ext uri="{FF2B5EF4-FFF2-40B4-BE49-F238E27FC236}">
                <a16:creationId xmlns:a16="http://schemas.microsoft.com/office/drawing/2014/main" id="{990FC5B9-523F-047C-A3CE-07E7BA2AABA6}"/>
              </a:ext>
            </a:extLst>
          </p:cNvPr>
          <p:cNvSpPr/>
          <p:nvPr/>
        </p:nvSpPr>
        <p:spPr>
          <a:xfrm>
            <a:off x="932688" y="3300984"/>
            <a:ext cx="10515600" cy="0"/>
          </a:xfrm>
          <a:prstGeom prst="line">
            <a:avLst/>
          </a:prstGeom>
          <a:noFill/>
          <a:ln w="9525">
            <a:solidFill>
              <a:srgbClr val="D9D9D9"/>
            </a:solidFill>
            <a:prstDash val="solid"/>
          </a:ln>
        </p:spPr>
        <p:txBody>
          <a:bodyPr/>
          <a:lstStyle/>
          <a:p>
            <a:endParaRPr lang="en-US"/>
          </a:p>
        </p:txBody>
      </p:sp>
      <p:sp>
        <p:nvSpPr>
          <p:cNvPr id="36" name="Text 34">
            <a:extLst>
              <a:ext uri="{FF2B5EF4-FFF2-40B4-BE49-F238E27FC236}">
                <a16:creationId xmlns:a16="http://schemas.microsoft.com/office/drawing/2014/main" id="{57C7D791-B3BE-D7BC-028A-26CDAD09EF11}"/>
              </a:ext>
            </a:extLst>
          </p:cNvPr>
          <p:cNvSpPr txBox="1"/>
          <p:nvPr/>
        </p:nvSpPr>
        <p:spPr>
          <a:xfrm>
            <a:off x="932688" y="3310128"/>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Aliasing</a:t>
            </a:r>
            <a:endParaRPr lang="en-US" sz="2000" dirty="0"/>
          </a:p>
        </p:txBody>
      </p:sp>
      <p:sp>
        <p:nvSpPr>
          <p:cNvPr id="37" name="Text 35">
            <a:extLst>
              <a:ext uri="{FF2B5EF4-FFF2-40B4-BE49-F238E27FC236}">
                <a16:creationId xmlns:a16="http://schemas.microsoft.com/office/drawing/2014/main" id="{FB3B725E-6457-DCDB-625E-63D134998EF5}"/>
              </a:ext>
            </a:extLst>
          </p:cNvPr>
          <p:cNvSpPr txBox="1"/>
          <p:nvPr/>
        </p:nvSpPr>
        <p:spPr>
          <a:xfrm>
            <a:off x="2887980" y="3310128"/>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Defined aliasing</a:t>
            </a:r>
            <a:endParaRPr lang="en-US" sz="2000" dirty="0"/>
          </a:p>
        </p:txBody>
      </p:sp>
      <p:sp>
        <p:nvSpPr>
          <p:cNvPr id="38" name="Shape 36">
            <a:extLst>
              <a:ext uri="{FF2B5EF4-FFF2-40B4-BE49-F238E27FC236}">
                <a16:creationId xmlns:a16="http://schemas.microsoft.com/office/drawing/2014/main" id="{5625D7F2-6418-37A0-4D7A-CE7719C79023}"/>
              </a:ext>
            </a:extLst>
          </p:cNvPr>
          <p:cNvSpPr/>
          <p:nvPr/>
        </p:nvSpPr>
        <p:spPr>
          <a:xfrm>
            <a:off x="5440680" y="3364992"/>
            <a:ext cx="220370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9" name="Text 37">
            <a:extLst>
              <a:ext uri="{FF2B5EF4-FFF2-40B4-BE49-F238E27FC236}">
                <a16:creationId xmlns:a16="http://schemas.microsoft.com/office/drawing/2014/main" id="{EC440F21-18D2-28E2-3162-96A9B844315A}"/>
              </a:ext>
            </a:extLst>
          </p:cNvPr>
          <p:cNvSpPr txBox="1"/>
          <p:nvPr/>
        </p:nvSpPr>
        <p:spPr>
          <a:xfrm>
            <a:off x="5440680" y="3364992"/>
            <a:ext cx="220370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-fno-strict-aliasing</a:t>
            </a:r>
            <a:endParaRPr lang="en-US" sz="1867" dirty="0"/>
          </a:p>
        </p:txBody>
      </p:sp>
      <p:sp>
        <p:nvSpPr>
          <p:cNvPr id="40" name="Shape 38">
            <a:extLst>
              <a:ext uri="{FF2B5EF4-FFF2-40B4-BE49-F238E27FC236}">
                <a16:creationId xmlns:a16="http://schemas.microsoft.com/office/drawing/2014/main" id="{FE9AE873-FE55-89DF-9D42-29BCF42E101E}"/>
              </a:ext>
            </a:extLst>
          </p:cNvPr>
          <p:cNvSpPr/>
          <p:nvPr/>
        </p:nvSpPr>
        <p:spPr>
          <a:xfrm>
            <a:off x="9784080" y="3429000"/>
            <a:ext cx="201168" cy="201168"/>
          </a:xfrm>
          <a:prstGeom prst="ellipse">
            <a:avLst/>
          </a:prstGeom>
          <a:solidFill>
            <a:srgbClr val="D9A62B"/>
          </a:solidFill>
          <a:ln w="12700">
            <a:solidFill>
              <a:srgbClr val="D9A62B"/>
            </a:solidFill>
            <a:prstDash val="solid"/>
          </a:ln>
        </p:spPr>
        <p:txBody>
          <a:bodyPr/>
          <a:lstStyle/>
          <a:p>
            <a:endParaRPr lang="en-US"/>
          </a:p>
        </p:txBody>
      </p:sp>
      <p:sp>
        <p:nvSpPr>
          <p:cNvPr id="41" name="Shape 39">
            <a:extLst>
              <a:ext uri="{FF2B5EF4-FFF2-40B4-BE49-F238E27FC236}">
                <a16:creationId xmlns:a16="http://schemas.microsoft.com/office/drawing/2014/main" id="{3F6C5F0E-CAAA-9DDB-3278-26B0D8120ABF}"/>
              </a:ext>
            </a:extLst>
          </p:cNvPr>
          <p:cNvSpPr/>
          <p:nvPr/>
        </p:nvSpPr>
        <p:spPr>
          <a:xfrm>
            <a:off x="10067544" y="3429000"/>
            <a:ext cx="201168" cy="201168"/>
          </a:xfrm>
          <a:prstGeom prst="ellipse">
            <a:avLst/>
          </a:prstGeom>
          <a:solidFill>
            <a:srgbClr val="3FA34D"/>
          </a:solidFill>
          <a:ln w="12700">
            <a:solidFill>
              <a:srgbClr val="3FA34D"/>
            </a:solidFill>
            <a:prstDash val="solid"/>
          </a:ln>
        </p:spPr>
        <p:txBody>
          <a:bodyPr/>
          <a:lstStyle/>
          <a:p>
            <a:endParaRPr lang="en-US"/>
          </a:p>
        </p:txBody>
      </p:sp>
      <p:sp>
        <p:nvSpPr>
          <p:cNvPr id="42" name="Text 40">
            <a:extLst>
              <a:ext uri="{FF2B5EF4-FFF2-40B4-BE49-F238E27FC236}">
                <a16:creationId xmlns:a16="http://schemas.microsoft.com/office/drawing/2014/main" id="{D55D615D-B485-77E6-75A3-923F26AD0BDF}"/>
              </a:ext>
            </a:extLst>
          </p:cNvPr>
          <p:cNvSpPr txBox="1"/>
          <p:nvPr/>
        </p:nvSpPr>
        <p:spPr>
          <a:xfrm>
            <a:off x="10305288" y="331012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43" name="Shape 41">
            <a:extLst>
              <a:ext uri="{FF2B5EF4-FFF2-40B4-BE49-F238E27FC236}">
                <a16:creationId xmlns:a16="http://schemas.microsoft.com/office/drawing/2014/main" id="{EEC7CDAA-D419-B2D8-C040-BBD700F0B133}"/>
              </a:ext>
            </a:extLst>
          </p:cNvPr>
          <p:cNvSpPr/>
          <p:nvPr/>
        </p:nvSpPr>
        <p:spPr>
          <a:xfrm>
            <a:off x="932688" y="3739896"/>
            <a:ext cx="10515600" cy="0"/>
          </a:xfrm>
          <a:prstGeom prst="line">
            <a:avLst/>
          </a:prstGeom>
          <a:noFill/>
          <a:ln w="9525">
            <a:solidFill>
              <a:srgbClr val="D9D9D9"/>
            </a:solidFill>
            <a:prstDash val="solid"/>
          </a:ln>
        </p:spPr>
        <p:txBody>
          <a:bodyPr/>
          <a:lstStyle/>
          <a:p>
            <a:endParaRPr lang="en-US"/>
          </a:p>
        </p:txBody>
      </p:sp>
      <p:sp>
        <p:nvSpPr>
          <p:cNvPr id="44" name="Text 42">
            <a:extLst>
              <a:ext uri="{FF2B5EF4-FFF2-40B4-BE49-F238E27FC236}">
                <a16:creationId xmlns:a16="http://schemas.microsoft.com/office/drawing/2014/main" id="{C0E69933-CD97-C6E7-14C9-9BCDAC444E13}"/>
              </a:ext>
            </a:extLst>
          </p:cNvPr>
          <p:cNvSpPr txBox="1"/>
          <p:nvPr/>
        </p:nvSpPr>
        <p:spPr>
          <a:xfrm>
            <a:off x="932688" y="3749040"/>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Type and value</a:t>
            </a:r>
            <a:endParaRPr lang="en-US" sz="2000" dirty="0"/>
          </a:p>
        </p:txBody>
      </p:sp>
      <p:sp>
        <p:nvSpPr>
          <p:cNvPr id="45" name="Text 43">
            <a:extLst>
              <a:ext uri="{FF2B5EF4-FFF2-40B4-BE49-F238E27FC236}">
                <a16:creationId xmlns:a16="http://schemas.microsoft.com/office/drawing/2014/main" id="{C4FFB8CC-3152-86C4-597C-DDD9F08D5CFE}"/>
              </a:ext>
            </a:extLst>
          </p:cNvPr>
          <p:cNvSpPr txBox="1"/>
          <p:nvPr/>
        </p:nvSpPr>
        <p:spPr>
          <a:xfrm>
            <a:off x="2887980" y="3749040"/>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Integer and float traps</a:t>
            </a:r>
            <a:endParaRPr lang="en-US" sz="2000" dirty="0"/>
          </a:p>
        </p:txBody>
      </p:sp>
      <p:sp>
        <p:nvSpPr>
          <p:cNvPr id="46" name="Shape 44">
            <a:extLst>
              <a:ext uri="{FF2B5EF4-FFF2-40B4-BE49-F238E27FC236}">
                <a16:creationId xmlns:a16="http://schemas.microsoft.com/office/drawing/2014/main" id="{2F8F690F-A106-42A3-72DA-388273FA36C6}"/>
              </a:ext>
            </a:extLst>
          </p:cNvPr>
          <p:cNvSpPr/>
          <p:nvPr/>
        </p:nvSpPr>
        <p:spPr>
          <a:xfrm>
            <a:off x="5440680" y="3995928"/>
            <a:ext cx="20665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7" name="Text 45">
            <a:extLst>
              <a:ext uri="{FF2B5EF4-FFF2-40B4-BE49-F238E27FC236}">
                <a16:creationId xmlns:a16="http://schemas.microsoft.com/office/drawing/2014/main" id="{94831ACB-A258-44FE-8200-7E88C4F3F67C}"/>
              </a:ext>
            </a:extLst>
          </p:cNvPr>
          <p:cNvSpPr txBox="1"/>
          <p:nvPr/>
        </p:nvSpPr>
        <p:spPr>
          <a:xfrm>
            <a:off x="5440680" y="3995928"/>
            <a:ext cx="20665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-fsanitize=integer</a:t>
            </a:r>
            <a:endParaRPr lang="en-US" sz="1867" dirty="0"/>
          </a:p>
        </p:txBody>
      </p:sp>
      <p:sp>
        <p:nvSpPr>
          <p:cNvPr id="48" name="Shape 46">
            <a:extLst>
              <a:ext uri="{FF2B5EF4-FFF2-40B4-BE49-F238E27FC236}">
                <a16:creationId xmlns:a16="http://schemas.microsoft.com/office/drawing/2014/main" id="{3EC1F930-0159-098B-FF3D-9E1E150670B9}"/>
              </a:ext>
            </a:extLst>
          </p:cNvPr>
          <p:cNvSpPr/>
          <p:nvPr/>
        </p:nvSpPr>
        <p:spPr>
          <a:xfrm>
            <a:off x="7598664" y="3995928"/>
            <a:ext cx="17327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9" name="Text 47">
            <a:extLst>
              <a:ext uri="{FF2B5EF4-FFF2-40B4-BE49-F238E27FC236}">
                <a16:creationId xmlns:a16="http://schemas.microsoft.com/office/drawing/2014/main" id="{BE6DAE58-16A8-722B-6354-CEB60DFBC601}"/>
              </a:ext>
            </a:extLst>
          </p:cNvPr>
          <p:cNvSpPr txBox="1"/>
          <p:nvPr/>
        </p:nvSpPr>
        <p:spPr>
          <a:xfrm>
            <a:off x="7598664" y="3995928"/>
            <a:ext cx="17327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-fsanitize-trap</a:t>
            </a:r>
            <a:endParaRPr lang="en-US" sz="1867" dirty="0"/>
          </a:p>
        </p:txBody>
      </p:sp>
      <p:sp>
        <p:nvSpPr>
          <p:cNvPr id="50" name="Shape 48">
            <a:extLst>
              <a:ext uri="{FF2B5EF4-FFF2-40B4-BE49-F238E27FC236}">
                <a16:creationId xmlns:a16="http://schemas.microsoft.com/office/drawing/2014/main" id="{F74E29A7-911F-8711-C1E1-5C52124CBFB6}"/>
              </a:ext>
            </a:extLst>
          </p:cNvPr>
          <p:cNvSpPr/>
          <p:nvPr/>
        </p:nvSpPr>
        <p:spPr>
          <a:xfrm>
            <a:off x="9784080" y="3867912"/>
            <a:ext cx="201168" cy="201168"/>
          </a:xfrm>
          <a:prstGeom prst="ellipse">
            <a:avLst/>
          </a:prstGeom>
          <a:solidFill>
            <a:srgbClr val="D9A62B"/>
          </a:solidFill>
          <a:ln w="12700">
            <a:solidFill>
              <a:srgbClr val="D9A62B"/>
            </a:solidFill>
            <a:prstDash val="solid"/>
          </a:ln>
        </p:spPr>
        <p:txBody>
          <a:bodyPr/>
          <a:lstStyle/>
          <a:p>
            <a:endParaRPr lang="en-US"/>
          </a:p>
        </p:txBody>
      </p:sp>
      <p:sp>
        <p:nvSpPr>
          <p:cNvPr id="51" name="Shape 49">
            <a:extLst>
              <a:ext uri="{FF2B5EF4-FFF2-40B4-BE49-F238E27FC236}">
                <a16:creationId xmlns:a16="http://schemas.microsoft.com/office/drawing/2014/main" id="{4F5AD678-05C5-98A0-AD96-2022BB50C938}"/>
              </a:ext>
            </a:extLst>
          </p:cNvPr>
          <p:cNvSpPr/>
          <p:nvPr/>
        </p:nvSpPr>
        <p:spPr>
          <a:xfrm>
            <a:off x="10067544" y="3867912"/>
            <a:ext cx="201168" cy="201168"/>
          </a:xfrm>
          <a:prstGeom prst="ellipse">
            <a:avLst/>
          </a:prstGeom>
          <a:solidFill>
            <a:srgbClr val="3FA34D"/>
          </a:solidFill>
          <a:ln w="12700">
            <a:solidFill>
              <a:srgbClr val="3FA34D"/>
            </a:solidFill>
            <a:prstDash val="solid"/>
          </a:ln>
        </p:spPr>
        <p:txBody>
          <a:bodyPr/>
          <a:lstStyle/>
          <a:p>
            <a:endParaRPr lang="en-US"/>
          </a:p>
        </p:txBody>
      </p:sp>
      <p:sp>
        <p:nvSpPr>
          <p:cNvPr id="52" name="Text 50">
            <a:extLst>
              <a:ext uri="{FF2B5EF4-FFF2-40B4-BE49-F238E27FC236}">
                <a16:creationId xmlns:a16="http://schemas.microsoft.com/office/drawing/2014/main" id="{37003D61-08C7-3B5C-7CC9-768148422353}"/>
              </a:ext>
            </a:extLst>
          </p:cNvPr>
          <p:cNvSpPr txBox="1"/>
          <p:nvPr/>
        </p:nvSpPr>
        <p:spPr>
          <a:xfrm>
            <a:off x="10305288" y="3776472"/>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Android</a:t>
            </a:r>
            <a:endParaRPr lang="en-US" sz="2000" dirty="0"/>
          </a:p>
        </p:txBody>
      </p:sp>
      <p:sp>
        <p:nvSpPr>
          <p:cNvPr id="53" name="Shape 51">
            <a:extLst>
              <a:ext uri="{FF2B5EF4-FFF2-40B4-BE49-F238E27FC236}">
                <a16:creationId xmlns:a16="http://schemas.microsoft.com/office/drawing/2014/main" id="{9776C313-47CB-09C7-6437-4D3E70EB0717}"/>
              </a:ext>
            </a:extLst>
          </p:cNvPr>
          <p:cNvSpPr/>
          <p:nvPr/>
        </p:nvSpPr>
        <p:spPr>
          <a:xfrm>
            <a:off x="9784080" y="4251960"/>
            <a:ext cx="201168" cy="201168"/>
          </a:xfrm>
          <a:prstGeom prst="ellipse">
            <a:avLst/>
          </a:prstGeom>
          <a:solidFill>
            <a:srgbClr val="C93B34"/>
          </a:solidFill>
          <a:ln w="12700">
            <a:solidFill>
              <a:srgbClr val="C93B34"/>
            </a:solidFill>
            <a:prstDash val="solid"/>
          </a:ln>
        </p:spPr>
        <p:txBody>
          <a:bodyPr/>
          <a:lstStyle/>
          <a:p>
            <a:endParaRPr lang="en-US"/>
          </a:p>
        </p:txBody>
      </p:sp>
      <p:sp>
        <p:nvSpPr>
          <p:cNvPr id="54" name="Text 52">
            <a:extLst>
              <a:ext uri="{FF2B5EF4-FFF2-40B4-BE49-F238E27FC236}">
                <a16:creationId xmlns:a16="http://schemas.microsoft.com/office/drawing/2014/main" id="{EEDEEF4A-7BE3-E7B1-3D55-5F93A6CBD49A}"/>
              </a:ext>
            </a:extLst>
          </p:cNvPr>
          <p:cNvSpPr txBox="1"/>
          <p:nvPr/>
        </p:nvSpPr>
        <p:spPr>
          <a:xfrm>
            <a:off x="10021824" y="4160520"/>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55" name="Shape 53">
            <a:extLst>
              <a:ext uri="{FF2B5EF4-FFF2-40B4-BE49-F238E27FC236}">
                <a16:creationId xmlns:a16="http://schemas.microsoft.com/office/drawing/2014/main" id="{93EE9401-6398-ED3A-592E-160988AFF35A}"/>
              </a:ext>
            </a:extLst>
          </p:cNvPr>
          <p:cNvSpPr/>
          <p:nvPr/>
        </p:nvSpPr>
        <p:spPr>
          <a:xfrm>
            <a:off x="932688" y="4562856"/>
            <a:ext cx="10515600" cy="0"/>
          </a:xfrm>
          <a:prstGeom prst="line">
            <a:avLst/>
          </a:prstGeom>
          <a:noFill/>
          <a:ln w="9525">
            <a:solidFill>
              <a:srgbClr val="D9D9D9"/>
            </a:solidFill>
            <a:prstDash val="solid"/>
          </a:ln>
        </p:spPr>
        <p:txBody>
          <a:bodyPr/>
          <a:lstStyle/>
          <a:p>
            <a:endParaRPr lang="en-US"/>
          </a:p>
        </p:txBody>
      </p:sp>
      <p:sp>
        <p:nvSpPr>
          <p:cNvPr id="56" name="Text 54">
            <a:extLst>
              <a:ext uri="{FF2B5EF4-FFF2-40B4-BE49-F238E27FC236}">
                <a16:creationId xmlns:a16="http://schemas.microsoft.com/office/drawing/2014/main" id="{391F59D0-2192-F994-A5BD-1E236C41E82F}"/>
              </a:ext>
            </a:extLst>
          </p:cNvPr>
          <p:cNvSpPr txBox="1"/>
          <p:nvPr/>
        </p:nvSpPr>
        <p:spPr>
          <a:xfrm>
            <a:off x="932688" y="4572000"/>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Type and value</a:t>
            </a:r>
            <a:endParaRPr lang="en-US" sz="2000" dirty="0"/>
          </a:p>
        </p:txBody>
      </p:sp>
      <p:sp>
        <p:nvSpPr>
          <p:cNvPr id="57" name="Text 55">
            <a:extLst>
              <a:ext uri="{FF2B5EF4-FFF2-40B4-BE49-F238E27FC236}">
                <a16:creationId xmlns:a16="http://schemas.microsoft.com/office/drawing/2014/main" id="{AEE6D54E-17CF-4DF6-8066-67097C789270}"/>
              </a:ext>
            </a:extLst>
          </p:cNvPr>
          <p:cNvSpPr txBox="1"/>
          <p:nvPr/>
        </p:nvSpPr>
        <p:spPr>
          <a:xfrm>
            <a:off x="2887980" y="4572000"/>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Wrapping arithmetic</a:t>
            </a:r>
            <a:endParaRPr lang="en-US" sz="2000" dirty="0"/>
          </a:p>
        </p:txBody>
      </p:sp>
      <p:sp>
        <p:nvSpPr>
          <p:cNvPr id="58" name="Shape 56">
            <a:extLst>
              <a:ext uri="{FF2B5EF4-FFF2-40B4-BE49-F238E27FC236}">
                <a16:creationId xmlns:a16="http://schemas.microsoft.com/office/drawing/2014/main" id="{42E63962-B2A0-5752-5416-7932D15DCA09}"/>
              </a:ext>
            </a:extLst>
          </p:cNvPr>
          <p:cNvSpPr/>
          <p:nvPr/>
        </p:nvSpPr>
        <p:spPr>
          <a:xfrm>
            <a:off x="5440680" y="4626864"/>
            <a:ext cx="104241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9" name="Text 57">
            <a:extLst>
              <a:ext uri="{FF2B5EF4-FFF2-40B4-BE49-F238E27FC236}">
                <a16:creationId xmlns:a16="http://schemas.microsoft.com/office/drawing/2014/main" id="{B33CD4C9-22A0-FF18-6CD9-71D09800F0A8}"/>
              </a:ext>
            </a:extLst>
          </p:cNvPr>
          <p:cNvSpPr txBox="1"/>
          <p:nvPr/>
        </p:nvSpPr>
        <p:spPr>
          <a:xfrm>
            <a:off x="5440680" y="4626864"/>
            <a:ext cx="104241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-fwrapv</a:t>
            </a:r>
            <a:endParaRPr lang="en-US" sz="1867" dirty="0"/>
          </a:p>
        </p:txBody>
      </p:sp>
      <p:sp>
        <p:nvSpPr>
          <p:cNvPr id="60" name="Shape 58">
            <a:extLst>
              <a:ext uri="{FF2B5EF4-FFF2-40B4-BE49-F238E27FC236}">
                <a16:creationId xmlns:a16="http://schemas.microsoft.com/office/drawing/2014/main" id="{6058CAD1-B419-FAB2-30E1-0D90B9933B5F}"/>
              </a:ext>
            </a:extLst>
          </p:cNvPr>
          <p:cNvSpPr/>
          <p:nvPr/>
        </p:nvSpPr>
        <p:spPr>
          <a:xfrm>
            <a:off x="9784080" y="4690872"/>
            <a:ext cx="201168" cy="201168"/>
          </a:xfrm>
          <a:prstGeom prst="ellipse">
            <a:avLst/>
          </a:prstGeom>
          <a:solidFill>
            <a:srgbClr val="D9A62B"/>
          </a:solidFill>
          <a:ln w="12700">
            <a:solidFill>
              <a:srgbClr val="D9A62B"/>
            </a:solidFill>
            <a:prstDash val="solid"/>
          </a:ln>
        </p:spPr>
        <p:txBody>
          <a:bodyPr/>
          <a:lstStyle/>
          <a:p>
            <a:endParaRPr lang="en-US"/>
          </a:p>
        </p:txBody>
      </p:sp>
      <p:sp>
        <p:nvSpPr>
          <p:cNvPr id="61" name="Shape 59">
            <a:extLst>
              <a:ext uri="{FF2B5EF4-FFF2-40B4-BE49-F238E27FC236}">
                <a16:creationId xmlns:a16="http://schemas.microsoft.com/office/drawing/2014/main" id="{8EB4E6EF-847D-FF67-4C97-EBD7F19B9DCB}"/>
              </a:ext>
            </a:extLst>
          </p:cNvPr>
          <p:cNvSpPr/>
          <p:nvPr/>
        </p:nvSpPr>
        <p:spPr>
          <a:xfrm>
            <a:off x="10067544" y="4690872"/>
            <a:ext cx="201168" cy="201168"/>
          </a:xfrm>
          <a:prstGeom prst="ellipse">
            <a:avLst/>
          </a:prstGeom>
          <a:solidFill>
            <a:srgbClr val="C93B34"/>
          </a:solidFill>
          <a:ln w="12700">
            <a:solidFill>
              <a:srgbClr val="C93B34"/>
            </a:solidFill>
            <a:prstDash val="solid"/>
          </a:ln>
        </p:spPr>
        <p:txBody>
          <a:bodyPr/>
          <a:lstStyle/>
          <a:p>
            <a:endParaRPr lang="en-US"/>
          </a:p>
        </p:txBody>
      </p:sp>
      <p:sp>
        <p:nvSpPr>
          <p:cNvPr id="62" name="Text 60">
            <a:extLst>
              <a:ext uri="{FF2B5EF4-FFF2-40B4-BE49-F238E27FC236}">
                <a16:creationId xmlns:a16="http://schemas.microsoft.com/office/drawing/2014/main" id="{1C7629B7-1E6D-D42B-74BE-0AEBAC73FCE4}"/>
              </a:ext>
            </a:extLst>
          </p:cNvPr>
          <p:cNvSpPr txBox="1"/>
          <p:nvPr/>
        </p:nvSpPr>
        <p:spPr>
          <a:xfrm>
            <a:off x="10305288" y="457200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63" name="Shape 61">
            <a:extLst>
              <a:ext uri="{FF2B5EF4-FFF2-40B4-BE49-F238E27FC236}">
                <a16:creationId xmlns:a16="http://schemas.microsoft.com/office/drawing/2014/main" id="{3B50ABF3-34AE-BB8A-814E-B9C8B04D3F66}"/>
              </a:ext>
            </a:extLst>
          </p:cNvPr>
          <p:cNvSpPr/>
          <p:nvPr/>
        </p:nvSpPr>
        <p:spPr>
          <a:xfrm>
            <a:off x="932688" y="5001768"/>
            <a:ext cx="10515600" cy="0"/>
          </a:xfrm>
          <a:prstGeom prst="line">
            <a:avLst/>
          </a:prstGeom>
          <a:noFill/>
          <a:ln w="9525">
            <a:solidFill>
              <a:srgbClr val="D9D9D9"/>
            </a:solidFill>
            <a:prstDash val="solid"/>
          </a:ln>
        </p:spPr>
        <p:txBody>
          <a:bodyPr/>
          <a:lstStyle/>
          <a:p>
            <a:endParaRPr lang="en-US"/>
          </a:p>
        </p:txBody>
      </p:sp>
      <p:sp>
        <p:nvSpPr>
          <p:cNvPr id="64" name="Text 62">
            <a:extLst>
              <a:ext uri="{FF2B5EF4-FFF2-40B4-BE49-F238E27FC236}">
                <a16:creationId xmlns:a16="http://schemas.microsoft.com/office/drawing/2014/main" id="{8F7A3216-06B5-AEFF-EA5B-D22C406DEEDB}"/>
              </a:ext>
            </a:extLst>
          </p:cNvPr>
          <p:cNvSpPr txBox="1"/>
          <p:nvPr/>
        </p:nvSpPr>
        <p:spPr>
          <a:xfrm>
            <a:off x="932688" y="5010912"/>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Type and value</a:t>
            </a:r>
            <a:endParaRPr lang="en-US" sz="2000" dirty="0"/>
          </a:p>
        </p:txBody>
      </p:sp>
      <p:sp>
        <p:nvSpPr>
          <p:cNvPr id="65" name="Text 63">
            <a:extLst>
              <a:ext uri="{FF2B5EF4-FFF2-40B4-BE49-F238E27FC236}">
                <a16:creationId xmlns:a16="http://schemas.microsoft.com/office/drawing/2014/main" id="{AAFFBBC1-8E1C-8742-1114-BC5ECDAB2B33}"/>
              </a:ext>
            </a:extLst>
          </p:cNvPr>
          <p:cNvSpPr txBox="1"/>
          <p:nvPr/>
        </p:nvSpPr>
        <p:spPr>
          <a:xfrm>
            <a:off x="2887980" y="5010912"/>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Type confusion</a:t>
            </a:r>
            <a:endParaRPr lang="en-US" sz="2000" dirty="0"/>
          </a:p>
        </p:txBody>
      </p:sp>
      <p:sp>
        <p:nvSpPr>
          <p:cNvPr id="66" name="Shape 64">
            <a:extLst>
              <a:ext uri="{FF2B5EF4-FFF2-40B4-BE49-F238E27FC236}">
                <a16:creationId xmlns:a16="http://schemas.microsoft.com/office/drawing/2014/main" id="{79F80E37-F48B-1663-E8A0-897EE97EE0E4}"/>
              </a:ext>
            </a:extLst>
          </p:cNvPr>
          <p:cNvSpPr/>
          <p:nvPr/>
        </p:nvSpPr>
        <p:spPr>
          <a:xfrm>
            <a:off x="5440680" y="5257800"/>
            <a:ext cx="368503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7" name="Text 65">
            <a:extLst>
              <a:ext uri="{FF2B5EF4-FFF2-40B4-BE49-F238E27FC236}">
                <a16:creationId xmlns:a16="http://schemas.microsoft.com/office/drawing/2014/main" id="{F994E303-E65F-C3BD-9153-9C00C5887B5E}"/>
              </a:ext>
            </a:extLst>
          </p:cNvPr>
          <p:cNvSpPr txBox="1"/>
          <p:nvPr/>
        </p:nvSpPr>
        <p:spPr>
          <a:xfrm>
            <a:off x="5440680" y="5257800"/>
            <a:ext cx="368503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-fsanitize=cfi-vcall,cfi-cast-strict</a:t>
            </a:r>
            <a:endParaRPr lang="en-US" sz="1867" dirty="0"/>
          </a:p>
        </p:txBody>
      </p:sp>
      <p:sp>
        <p:nvSpPr>
          <p:cNvPr id="68" name="Shape 66">
            <a:extLst>
              <a:ext uri="{FF2B5EF4-FFF2-40B4-BE49-F238E27FC236}">
                <a16:creationId xmlns:a16="http://schemas.microsoft.com/office/drawing/2014/main" id="{806083EB-CEA1-C547-F89C-089DD44A0501}"/>
              </a:ext>
            </a:extLst>
          </p:cNvPr>
          <p:cNvSpPr/>
          <p:nvPr/>
        </p:nvSpPr>
        <p:spPr>
          <a:xfrm>
            <a:off x="9784080" y="5129784"/>
            <a:ext cx="201168" cy="201168"/>
          </a:xfrm>
          <a:prstGeom prst="ellipse">
            <a:avLst/>
          </a:prstGeom>
          <a:solidFill>
            <a:srgbClr val="D9A62B"/>
          </a:solidFill>
          <a:ln w="12700">
            <a:solidFill>
              <a:srgbClr val="D9A62B"/>
            </a:solidFill>
            <a:prstDash val="solid"/>
          </a:ln>
        </p:spPr>
        <p:txBody>
          <a:bodyPr/>
          <a:lstStyle/>
          <a:p>
            <a:endParaRPr lang="en-US"/>
          </a:p>
        </p:txBody>
      </p:sp>
      <p:sp>
        <p:nvSpPr>
          <p:cNvPr id="69" name="Shape 67">
            <a:extLst>
              <a:ext uri="{FF2B5EF4-FFF2-40B4-BE49-F238E27FC236}">
                <a16:creationId xmlns:a16="http://schemas.microsoft.com/office/drawing/2014/main" id="{159EC444-4525-9B0F-2403-BF8F3B7DDC31}"/>
              </a:ext>
            </a:extLst>
          </p:cNvPr>
          <p:cNvSpPr/>
          <p:nvPr/>
        </p:nvSpPr>
        <p:spPr>
          <a:xfrm>
            <a:off x="10067544" y="5129784"/>
            <a:ext cx="201168" cy="201168"/>
          </a:xfrm>
          <a:prstGeom prst="ellipse">
            <a:avLst/>
          </a:prstGeom>
          <a:solidFill>
            <a:srgbClr val="3FA34D"/>
          </a:solidFill>
          <a:ln w="12700">
            <a:solidFill>
              <a:srgbClr val="3FA34D"/>
            </a:solidFill>
            <a:prstDash val="solid"/>
          </a:ln>
        </p:spPr>
        <p:txBody>
          <a:bodyPr/>
          <a:lstStyle/>
          <a:p>
            <a:endParaRPr lang="en-US"/>
          </a:p>
        </p:txBody>
      </p:sp>
      <p:sp>
        <p:nvSpPr>
          <p:cNvPr id="70" name="Text 68">
            <a:extLst>
              <a:ext uri="{FF2B5EF4-FFF2-40B4-BE49-F238E27FC236}">
                <a16:creationId xmlns:a16="http://schemas.microsoft.com/office/drawing/2014/main" id="{42276E68-C82A-66B0-042B-190B62AB00F3}"/>
              </a:ext>
            </a:extLst>
          </p:cNvPr>
          <p:cNvSpPr txBox="1"/>
          <p:nvPr/>
        </p:nvSpPr>
        <p:spPr>
          <a:xfrm>
            <a:off x="10305288" y="5038344"/>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Android</a:t>
            </a:r>
            <a:endParaRPr lang="en-US" sz="2000" dirty="0"/>
          </a:p>
        </p:txBody>
      </p:sp>
      <p:sp>
        <p:nvSpPr>
          <p:cNvPr id="71" name="Shape 69">
            <a:extLst>
              <a:ext uri="{FF2B5EF4-FFF2-40B4-BE49-F238E27FC236}">
                <a16:creationId xmlns:a16="http://schemas.microsoft.com/office/drawing/2014/main" id="{668B5487-02CB-34B3-9835-5C71B0969ECC}"/>
              </a:ext>
            </a:extLst>
          </p:cNvPr>
          <p:cNvSpPr/>
          <p:nvPr/>
        </p:nvSpPr>
        <p:spPr>
          <a:xfrm>
            <a:off x="9784080" y="5513832"/>
            <a:ext cx="201168" cy="201168"/>
          </a:xfrm>
          <a:prstGeom prst="ellipse">
            <a:avLst/>
          </a:prstGeom>
          <a:solidFill>
            <a:srgbClr val="C93B34"/>
          </a:solidFill>
          <a:ln w="12700">
            <a:solidFill>
              <a:srgbClr val="C93B34"/>
            </a:solidFill>
            <a:prstDash val="solid"/>
          </a:ln>
        </p:spPr>
        <p:txBody>
          <a:bodyPr/>
          <a:lstStyle/>
          <a:p>
            <a:endParaRPr lang="en-US"/>
          </a:p>
        </p:txBody>
      </p:sp>
      <p:sp>
        <p:nvSpPr>
          <p:cNvPr id="72" name="Text 70">
            <a:extLst>
              <a:ext uri="{FF2B5EF4-FFF2-40B4-BE49-F238E27FC236}">
                <a16:creationId xmlns:a16="http://schemas.microsoft.com/office/drawing/2014/main" id="{4D6E2880-D23B-D901-BAAE-4ED8E0514EB0}"/>
              </a:ext>
            </a:extLst>
          </p:cNvPr>
          <p:cNvSpPr txBox="1"/>
          <p:nvPr/>
        </p:nvSpPr>
        <p:spPr>
          <a:xfrm>
            <a:off x="10021824" y="5422392"/>
            <a:ext cx="2194560" cy="384048"/>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73" name="Shape 71">
            <a:extLst>
              <a:ext uri="{FF2B5EF4-FFF2-40B4-BE49-F238E27FC236}">
                <a16:creationId xmlns:a16="http://schemas.microsoft.com/office/drawing/2014/main" id="{65D00650-D634-1548-E085-777BB15C0AEB}"/>
              </a:ext>
            </a:extLst>
          </p:cNvPr>
          <p:cNvSpPr/>
          <p:nvPr/>
        </p:nvSpPr>
        <p:spPr>
          <a:xfrm>
            <a:off x="932688" y="5824728"/>
            <a:ext cx="10515600" cy="0"/>
          </a:xfrm>
          <a:prstGeom prst="line">
            <a:avLst/>
          </a:prstGeom>
          <a:noFill/>
          <a:ln w="9525">
            <a:solidFill>
              <a:srgbClr val="D9D9D9"/>
            </a:solidFill>
            <a:prstDash val="solid"/>
          </a:ln>
        </p:spPr>
        <p:txBody>
          <a:bodyPr/>
          <a:lstStyle/>
          <a:p>
            <a:endParaRPr lang="en-US"/>
          </a:p>
        </p:txBody>
      </p:sp>
      <p:sp>
        <p:nvSpPr>
          <p:cNvPr id="74" name="Text 72">
            <a:extLst>
              <a:ext uri="{FF2B5EF4-FFF2-40B4-BE49-F238E27FC236}">
                <a16:creationId xmlns:a16="http://schemas.microsoft.com/office/drawing/2014/main" id="{6AC43F04-1DCC-0256-8024-8937910E5619}"/>
              </a:ext>
            </a:extLst>
          </p:cNvPr>
          <p:cNvSpPr txBox="1"/>
          <p:nvPr/>
        </p:nvSpPr>
        <p:spPr>
          <a:xfrm>
            <a:off x="932688" y="5833872"/>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75" name="Text 73">
            <a:extLst>
              <a:ext uri="{FF2B5EF4-FFF2-40B4-BE49-F238E27FC236}">
                <a16:creationId xmlns:a16="http://schemas.microsoft.com/office/drawing/2014/main" id="{E51B6BFA-4FBD-33A8-5208-033E04FB2777}"/>
              </a:ext>
            </a:extLst>
          </p:cNvPr>
          <p:cNvSpPr txBox="1"/>
          <p:nvPr/>
        </p:nvSpPr>
        <p:spPr>
          <a:xfrm>
            <a:off x="2887980" y="5833872"/>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Forward edge</a:t>
            </a:r>
            <a:endParaRPr lang="en-US" sz="2000" dirty="0"/>
          </a:p>
        </p:txBody>
      </p:sp>
      <p:sp>
        <p:nvSpPr>
          <p:cNvPr id="76" name="Shape 74">
            <a:extLst>
              <a:ext uri="{FF2B5EF4-FFF2-40B4-BE49-F238E27FC236}">
                <a16:creationId xmlns:a16="http://schemas.microsoft.com/office/drawing/2014/main" id="{95B8115F-3D91-9A01-36DB-F747431FF90A}"/>
              </a:ext>
            </a:extLst>
          </p:cNvPr>
          <p:cNvSpPr/>
          <p:nvPr/>
        </p:nvSpPr>
        <p:spPr>
          <a:xfrm>
            <a:off x="5440680" y="5888736"/>
            <a:ext cx="119329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7" name="Text 75">
            <a:extLst>
              <a:ext uri="{FF2B5EF4-FFF2-40B4-BE49-F238E27FC236}">
                <a16:creationId xmlns:a16="http://schemas.microsoft.com/office/drawing/2014/main" id="{8DDC83FF-E25D-98F1-7B5F-1B5C7BEE9DB0}"/>
              </a:ext>
            </a:extLst>
          </p:cNvPr>
          <p:cNvSpPr txBox="1"/>
          <p:nvPr/>
        </p:nvSpPr>
        <p:spPr>
          <a:xfrm>
            <a:off x="5440680" y="5888736"/>
            <a:ext cx="119329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/guard:cf</a:t>
            </a:r>
            <a:endParaRPr lang="en-US" sz="1867" dirty="0"/>
          </a:p>
        </p:txBody>
      </p:sp>
      <p:sp>
        <p:nvSpPr>
          <p:cNvPr id="78" name="Shape 76">
            <a:extLst>
              <a:ext uri="{FF2B5EF4-FFF2-40B4-BE49-F238E27FC236}">
                <a16:creationId xmlns:a16="http://schemas.microsoft.com/office/drawing/2014/main" id="{D5D3A43B-FC81-C8CB-CE41-90F8883E593B}"/>
              </a:ext>
            </a:extLst>
          </p:cNvPr>
          <p:cNvSpPr/>
          <p:nvPr/>
        </p:nvSpPr>
        <p:spPr>
          <a:xfrm>
            <a:off x="6725412" y="5888736"/>
            <a:ext cx="17327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9" name="Text 77">
            <a:extLst>
              <a:ext uri="{FF2B5EF4-FFF2-40B4-BE49-F238E27FC236}">
                <a16:creationId xmlns:a16="http://schemas.microsoft.com/office/drawing/2014/main" id="{2CCD6593-DBE4-6952-91BA-2F83B6074A4B}"/>
              </a:ext>
            </a:extLst>
          </p:cNvPr>
          <p:cNvSpPr txBox="1"/>
          <p:nvPr/>
        </p:nvSpPr>
        <p:spPr>
          <a:xfrm>
            <a:off x="6725412" y="5888736"/>
            <a:ext cx="17327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-fcf-protection</a:t>
            </a:r>
            <a:endParaRPr lang="en-US" sz="1867" dirty="0"/>
          </a:p>
        </p:txBody>
      </p:sp>
      <p:sp>
        <p:nvSpPr>
          <p:cNvPr id="80" name="Shape 78">
            <a:extLst>
              <a:ext uri="{FF2B5EF4-FFF2-40B4-BE49-F238E27FC236}">
                <a16:creationId xmlns:a16="http://schemas.microsoft.com/office/drawing/2014/main" id="{A1CF8F41-061B-A59C-FAE0-A8B3554265C3}"/>
              </a:ext>
            </a:extLst>
          </p:cNvPr>
          <p:cNvSpPr/>
          <p:nvPr/>
        </p:nvSpPr>
        <p:spPr>
          <a:xfrm>
            <a:off x="9784080" y="5952744"/>
            <a:ext cx="201168" cy="201168"/>
          </a:xfrm>
          <a:prstGeom prst="ellipse">
            <a:avLst/>
          </a:prstGeom>
          <a:solidFill>
            <a:srgbClr val="3FA34D"/>
          </a:solidFill>
          <a:ln w="12700">
            <a:solidFill>
              <a:srgbClr val="3FA34D"/>
            </a:solidFill>
            <a:prstDash val="solid"/>
          </a:ln>
        </p:spPr>
        <p:txBody>
          <a:bodyPr/>
          <a:lstStyle/>
          <a:p>
            <a:endParaRPr lang="en-US"/>
          </a:p>
        </p:txBody>
      </p:sp>
      <p:sp>
        <p:nvSpPr>
          <p:cNvPr id="81" name="Shape 79">
            <a:extLst>
              <a:ext uri="{FF2B5EF4-FFF2-40B4-BE49-F238E27FC236}">
                <a16:creationId xmlns:a16="http://schemas.microsoft.com/office/drawing/2014/main" id="{B331D71D-4141-995F-9D9F-58554C5C5DC7}"/>
              </a:ext>
            </a:extLst>
          </p:cNvPr>
          <p:cNvSpPr/>
          <p:nvPr/>
        </p:nvSpPr>
        <p:spPr>
          <a:xfrm>
            <a:off x="10067544" y="5952744"/>
            <a:ext cx="201168" cy="201168"/>
          </a:xfrm>
          <a:prstGeom prst="ellipse">
            <a:avLst/>
          </a:prstGeom>
          <a:solidFill>
            <a:srgbClr val="D9A62B"/>
          </a:solidFill>
          <a:ln w="12700">
            <a:solidFill>
              <a:srgbClr val="D9A62B"/>
            </a:solidFill>
            <a:prstDash val="solid"/>
          </a:ln>
        </p:spPr>
        <p:txBody>
          <a:bodyPr/>
          <a:lstStyle/>
          <a:p>
            <a:endParaRPr lang="en-US"/>
          </a:p>
        </p:txBody>
      </p:sp>
      <p:sp>
        <p:nvSpPr>
          <p:cNvPr id="82" name="Text 80">
            <a:extLst>
              <a:ext uri="{FF2B5EF4-FFF2-40B4-BE49-F238E27FC236}">
                <a16:creationId xmlns:a16="http://schemas.microsoft.com/office/drawing/2014/main" id="{86FEAD80-9886-118C-B45A-B998DAD502A9}"/>
              </a:ext>
            </a:extLst>
          </p:cNvPr>
          <p:cNvSpPr txBox="1"/>
          <p:nvPr/>
        </p:nvSpPr>
        <p:spPr>
          <a:xfrm>
            <a:off x="10305288" y="583387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84" name="Title 83">
            <a:extLst>
              <a:ext uri="{FF2B5EF4-FFF2-40B4-BE49-F238E27FC236}">
                <a16:creationId xmlns:a16="http://schemas.microsoft.com/office/drawing/2014/main" id="{94895681-FF2B-ABA7-DEFF-1D8E7EC57906}"/>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Hardening</a:t>
            </a:r>
            <a:endParaRPr lang="en-US" dirty="0"/>
          </a:p>
        </p:txBody>
      </p:sp>
      <p:sp>
        <p:nvSpPr>
          <p:cNvPr id="83" name="TextBox 82">
            <a:extLst>
              <a:ext uri="{FF2B5EF4-FFF2-40B4-BE49-F238E27FC236}">
                <a16:creationId xmlns:a16="http://schemas.microsoft.com/office/drawing/2014/main" id="{18BA6A3C-AE66-E4B3-9237-6B83BA7DE5F7}"/>
              </a:ext>
            </a:extLst>
          </p:cNvPr>
          <p:cNvSpPr txBox="1"/>
          <p:nvPr/>
        </p:nvSpPr>
        <p:spPr>
          <a:xfrm>
            <a:off x="388645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2/3</a:t>
            </a:r>
            <a:endParaRPr lang="en-US" sz="2800" dirty="0">
              <a:solidFill>
                <a:schemeClr val="bg1">
                  <a:lumMod val="75000"/>
                </a:schemeClr>
              </a:solidFill>
            </a:endParaRPr>
          </a:p>
        </p:txBody>
      </p:sp>
      <p:sp>
        <p:nvSpPr>
          <p:cNvPr id="85" name="Callout">
            <a:extLst>
              <a:ext uri="{FF2B5EF4-FFF2-40B4-BE49-F238E27FC236}">
                <a16:creationId xmlns:a16="http://schemas.microsoft.com/office/drawing/2014/main" id="{B24628EC-AFA3-1539-DB55-3831B2D77431}"/>
              </a:ext>
            </a:extLst>
          </p:cNvPr>
          <p:cNvSpPr/>
          <p:nvPr/>
        </p:nvSpPr>
        <p:spPr>
          <a:xfrm>
            <a:off x="5440680" y="1938528"/>
            <a:ext cx="4206240" cy="512064"/>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600" b="1" dirty="0">
                <a:solidFill>
                  <a:srgbClr val="5C4712"/>
                </a:solidFill>
                <a:latin typeface="Aptos"/>
              </a:rPr>
              <a:t>most use-after-free becomes a crash</a:t>
            </a:r>
          </a:p>
          <a:p>
            <a:pPr algn="ctr"/>
            <a:r>
              <a:rPr lang="en-US" sz="1600" b="1" dirty="0">
                <a:solidFill>
                  <a:srgbClr val="5C4712"/>
                </a:solidFill>
                <a:latin typeface="Aptos"/>
              </a:rPr>
              <a:t>on by default on iPhone</a:t>
            </a:r>
          </a:p>
        </p:txBody>
      </p:sp>
      <p:sp>
        <p:nvSpPr>
          <p:cNvPr id="87" name="Callout">
            <a:extLst>
              <a:ext uri="{FF2B5EF4-FFF2-40B4-BE49-F238E27FC236}">
                <a16:creationId xmlns:a16="http://schemas.microsoft.com/office/drawing/2014/main" id="{65565EB4-05FD-7956-1CCC-F6092B7107BC}"/>
              </a:ext>
            </a:extLst>
          </p:cNvPr>
          <p:cNvSpPr/>
          <p:nvPr/>
        </p:nvSpPr>
        <p:spPr>
          <a:xfrm>
            <a:off x="5440680" y="2493264"/>
            <a:ext cx="4023360" cy="402336"/>
          </a:xfrm>
          <a:prstGeom prst="roundRect">
            <a:avLst>
              <a:gd name="adj" fmla="val 50000"/>
            </a:avLst>
          </a:prstGeom>
          <a:solidFill>
            <a:srgbClr val="FFFFFF"/>
          </a:solidFill>
          <a:ln w="25400">
            <a:solidFill>
              <a:srgbClr val="1F4D24"/>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600" b="1" dirty="0">
                <a:solidFill>
                  <a:srgbClr val="7A1C15"/>
                </a:solidFill>
                <a:latin typeface="Aptos"/>
              </a:rPr>
              <a:t>6% of CVEs</a:t>
            </a:r>
            <a:r>
              <a:rPr lang="en-US" sz="1600" b="1" dirty="0">
                <a:solidFill>
                  <a:srgbClr val="1F4D24"/>
                </a:solidFill>
                <a:latin typeface="Aptos"/>
              </a:rPr>
              <a:t>, the OS makes it a crash</a:t>
            </a:r>
          </a:p>
        </p:txBody>
      </p:sp>
      <p:sp>
        <p:nvSpPr>
          <p:cNvPr id="89" name="Callout">
            <a:extLst>
              <a:ext uri="{FF2B5EF4-FFF2-40B4-BE49-F238E27FC236}">
                <a16:creationId xmlns:a16="http://schemas.microsoft.com/office/drawing/2014/main" id="{90F1EFD4-3E7F-FA97-F9BD-AD4A39CD4441}"/>
              </a:ext>
            </a:extLst>
          </p:cNvPr>
          <p:cNvSpPr/>
          <p:nvPr/>
        </p:nvSpPr>
        <p:spPr>
          <a:xfrm>
            <a:off x="5440680" y="3886200"/>
            <a:ext cx="4206240" cy="530352"/>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600" b="1" dirty="0">
                <a:solidFill>
                  <a:srgbClr val="5C4712"/>
                </a:solidFill>
                <a:latin typeface="Aptos"/>
              </a:rPr>
              <a:t>integer overflow, </a:t>
            </a:r>
            <a:r>
              <a:rPr lang="en-US" sz="1600" b="1" dirty="0">
                <a:solidFill>
                  <a:srgbClr val="7A1C15"/>
                </a:solidFill>
                <a:latin typeface="Aptos"/>
              </a:rPr>
              <a:t>3.8% of CVEs</a:t>
            </a:r>
          </a:p>
          <a:p>
            <a:pPr algn="ctr"/>
            <a:r>
              <a:rPr lang="en-US" sz="1600" b="1" dirty="0">
                <a:solidFill>
                  <a:srgbClr val="5C4712"/>
                </a:solidFill>
                <a:latin typeface="Aptos"/>
              </a:rPr>
              <a:t>traps or wraps</a:t>
            </a:r>
          </a:p>
        </p:txBody>
      </p:sp>
      <p:sp>
        <p:nvSpPr>
          <p:cNvPr id="91" name="Callout">
            <a:extLst>
              <a:ext uri="{FF2B5EF4-FFF2-40B4-BE49-F238E27FC236}">
                <a16:creationId xmlns:a16="http://schemas.microsoft.com/office/drawing/2014/main" id="{4063C088-A75F-F3B2-5D63-28FABC20C53B}"/>
              </a:ext>
            </a:extLst>
          </p:cNvPr>
          <p:cNvSpPr/>
          <p:nvPr/>
        </p:nvSpPr>
        <p:spPr>
          <a:xfrm>
            <a:off x="5440680" y="4443984"/>
            <a:ext cx="6007608" cy="694944"/>
          </a:xfrm>
          <a:prstGeom prst="roundRect">
            <a:avLst>
              <a:gd name="adj" fmla="val 50000"/>
            </a:avLst>
          </a:prstGeom>
          <a:solidFill>
            <a:srgbClr val="FFFFFF"/>
          </a:solidFill>
          <a:ln w="31750">
            <a:solidFill>
              <a:srgbClr val="1C3E63"/>
            </a:solidFill>
          </a:ln>
          <a:effectLst>
            <a:outerShdw blurRad="63500" dist="38100" dir="5400000" algn="ctr" rotWithShape="0">
              <a:srgbClr val="000000">
                <a:alpha val="28000"/>
              </a:srgbClr>
            </a:outerShdw>
          </a:effectLst>
        </p:spPr>
        <p:txBody>
          <a:bodyPr wrap="square" lIns="137160" tIns="0" rIns="137160" bIns="0" rtlCol="0" anchor="ctr"/>
          <a:lstStyle/>
          <a:p>
            <a:pPr algn="ctr"/>
            <a:r>
              <a:rPr lang="en-US" sz="2000" b="1" dirty="0">
                <a:solidFill>
                  <a:srgbClr val="1C3E63"/>
                </a:solidFill>
                <a:latin typeface="Aptos"/>
              </a:rPr>
              <a:t>Android ships these in production</a:t>
            </a:r>
          </a:p>
          <a:p>
            <a:pPr algn="ctr"/>
            <a:r>
              <a:rPr lang="en-US" sz="2000" b="1" dirty="0">
                <a:solidFill>
                  <a:srgbClr val="7A1C15"/>
                </a:solidFill>
                <a:latin typeface="Aptos"/>
              </a:rPr>
              <a:t>no equivalent in other toolchains</a:t>
            </a:r>
          </a:p>
        </p:txBody>
      </p:sp>
      <p:sp>
        <p:nvSpPr>
          <p:cNvPr id="93" name="Callout">
            <a:extLst>
              <a:ext uri="{FF2B5EF4-FFF2-40B4-BE49-F238E27FC236}">
                <a16:creationId xmlns:a16="http://schemas.microsoft.com/office/drawing/2014/main" id="{69D9D338-4387-E1EB-6151-E04C1245A0AD}"/>
              </a:ext>
            </a:extLst>
          </p:cNvPr>
          <p:cNvSpPr/>
          <p:nvPr/>
        </p:nvSpPr>
        <p:spPr>
          <a:xfrm>
            <a:off x="5440680" y="5173980"/>
            <a:ext cx="4206240" cy="530352"/>
          </a:xfrm>
          <a:prstGeom prst="roundRect">
            <a:avLst>
              <a:gd name="adj" fmla="val 50000"/>
            </a:avLst>
          </a:prstGeom>
          <a:solidFill>
            <a:srgbClr val="FFFFFF"/>
          </a:solidFill>
          <a:ln w="25400">
            <a:solidFill>
              <a:srgbClr val="5C4712"/>
            </a:solidFill>
          </a:ln>
          <a:effectLst>
            <a:outerShdw blurRad="63500" dist="38100" dir="5400000" algn="ctr" rotWithShape="0">
              <a:srgbClr val="000000">
                <a:alpha val="28000"/>
              </a:srgbClr>
            </a:outerShdw>
          </a:effectLst>
        </p:spPr>
        <p:txBody>
          <a:bodyPr wrap="square" lIns="91440" tIns="0" rIns="91440" bIns="0" rtlCol="0" anchor="ctr"/>
          <a:lstStyle/>
          <a:p>
            <a:pPr algn="ctr"/>
            <a:r>
              <a:rPr lang="en-US" sz="1600" b="1" dirty="0">
                <a:solidFill>
                  <a:srgbClr val="5C4712"/>
                </a:solidFill>
                <a:latin typeface="Aptos"/>
              </a:rPr>
              <a:t>type confusion, </a:t>
            </a:r>
            <a:r>
              <a:rPr lang="en-US" sz="1600" b="1" dirty="0">
                <a:solidFill>
                  <a:srgbClr val="7A1C15"/>
                </a:solidFill>
                <a:latin typeface="Aptos"/>
              </a:rPr>
              <a:t>2.5% of exploits</a:t>
            </a:r>
          </a:p>
          <a:p>
            <a:pPr algn="ctr"/>
            <a:r>
              <a:rPr lang="en-US" sz="1600" b="1" dirty="0">
                <a:solidFill>
                  <a:srgbClr val="5C4712"/>
                </a:solidFill>
                <a:latin typeface="Aptos"/>
              </a:rPr>
              <a:t>bad casts and vcalls trap, needs LTO</a:t>
            </a:r>
          </a:p>
        </p:txBody>
      </p:sp>
    </p:spTree>
    <p:extLst>
      <p:ext uri="{BB962C8B-B14F-4D97-AF65-F5344CB8AC3E}">
        <p14:creationId xmlns:p14="http://schemas.microsoft.com/office/powerpoint/2010/main" val="30202346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C6362-76F6-4F4F-FBBD-3C89BC341E8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3E9A455-9BA8-8EFF-E827-66DC557DC6DD}"/>
              </a:ext>
            </a:extLst>
          </p:cNvPr>
          <p:cNvSpPr txBox="1"/>
          <p:nvPr/>
        </p:nvSpPr>
        <p:spPr>
          <a:xfrm>
            <a:off x="932688"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Area</a:t>
            </a:r>
            <a:endParaRPr lang="en-US" sz="2400" dirty="0"/>
          </a:p>
        </p:txBody>
      </p:sp>
      <p:sp>
        <p:nvSpPr>
          <p:cNvPr id="4" name="Text 2">
            <a:extLst>
              <a:ext uri="{FF2B5EF4-FFF2-40B4-BE49-F238E27FC236}">
                <a16:creationId xmlns:a16="http://schemas.microsoft.com/office/drawing/2014/main" id="{CAE1AD76-C71D-E532-1E57-E3EC77063E09}"/>
              </a:ext>
            </a:extLst>
          </p:cNvPr>
          <p:cNvSpPr txBox="1"/>
          <p:nvPr/>
        </p:nvSpPr>
        <p:spPr>
          <a:xfrm>
            <a:off x="2720340"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Technique</a:t>
            </a:r>
            <a:endParaRPr lang="en-US" sz="2400" dirty="0"/>
          </a:p>
        </p:txBody>
      </p:sp>
      <p:sp>
        <p:nvSpPr>
          <p:cNvPr id="5" name="Text 3">
            <a:extLst>
              <a:ext uri="{FF2B5EF4-FFF2-40B4-BE49-F238E27FC236}">
                <a16:creationId xmlns:a16="http://schemas.microsoft.com/office/drawing/2014/main" id="{F256A3B8-0FC2-DFF3-CD5E-7348C72158AA}"/>
              </a:ext>
            </a:extLst>
          </p:cNvPr>
          <p:cNvSpPr txBox="1"/>
          <p:nvPr/>
        </p:nvSpPr>
        <p:spPr>
          <a:xfrm>
            <a:off x="5440680"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How</a:t>
            </a:r>
            <a:endParaRPr lang="en-US" sz="2400" dirty="0"/>
          </a:p>
        </p:txBody>
      </p:sp>
      <p:sp>
        <p:nvSpPr>
          <p:cNvPr id="6" name="Text 4">
            <a:extLst>
              <a:ext uri="{FF2B5EF4-FFF2-40B4-BE49-F238E27FC236}">
                <a16:creationId xmlns:a16="http://schemas.microsoft.com/office/drawing/2014/main" id="{1EBC7F8E-0226-2C75-BBE9-D542A49A0A63}"/>
              </a:ext>
            </a:extLst>
          </p:cNvPr>
          <p:cNvSpPr txBox="1"/>
          <p:nvPr/>
        </p:nvSpPr>
        <p:spPr>
          <a:xfrm>
            <a:off x="9784080"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Availability</a:t>
            </a:r>
            <a:endParaRPr lang="en-US" sz="2400" dirty="0"/>
          </a:p>
        </p:txBody>
      </p:sp>
      <p:sp>
        <p:nvSpPr>
          <p:cNvPr id="7" name="Shape 5">
            <a:extLst>
              <a:ext uri="{FF2B5EF4-FFF2-40B4-BE49-F238E27FC236}">
                <a16:creationId xmlns:a16="http://schemas.microsoft.com/office/drawing/2014/main" id="{F54A3BA7-B5F7-C704-1F55-AE7129020DF1}"/>
              </a:ext>
            </a:extLst>
          </p:cNvPr>
          <p:cNvSpPr/>
          <p:nvPr/>
        </p:nvSpPr>
        <p:spPr>
          <a:xfrm>
            <a:off x="932688" y="1929384"/>
            <a:ext cx="10515600" cy="0"/>
          </a:xfrm>
          <a:prstGeom prst="line">
            <a:avLst/>
          </a:prstGeom>
          <a:noFill/>
          <a:ln w="12700">
            <a:solidFill>
              <a:srgbClr val="B8B8B8"/>
            </a:solidFill>
            <a:prstDash val="solid"/>
          </a:ln>
        </p:spPr>
        <p:txBody>
          <a:bodyPr/>
          <a:lstStyle/>
          <a:p>
            <a:endParaRPr lang="en-US" sz="2000"/>
          </a:p>
        </p:txBody>
      </p:sp>
      <p:sp>
        <p:nvSpPr>
          <p:cNvPr id="8" name="Text 6">
            <a:extLst>
              <a:ext uri="{FF2B5EF4-FFF2-40B4-BE49-F238E27FC236}">
                <a16:creationId xmlns:a16="http://schemas.microsoft.com/office/drawing/2014/main" id="{A0FCDB81-98DA-ED20-67B9-6112D4116AE7}"/>
              </a:ext>
            </a:extLst>
          </p:cNvPr>
          <p:cNvSpPr txBox="1"/>
          <p:nvPr/>
        </p:nvSpPr>
        <p:spPr>
          <a:xfrm>
            <a:off x="932688" y="2020824"/>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9" name="Text 7">
            <a:extLst>
              <a:ext uri="{FF2B5EF4-FFF2-40B4-BE49-F238E27FC236}">
                <a16:creationId xmlns:a16="http://schemas.microsoft.com/office/drawing/2014/main" id="{DF70A226-8FBB-AAD1-D06B-8B149DC294B5}"/>
              </a:ext>
            </a:extLst>
          </p:cNvPr>
          <p:cNvSpPr txBox="1"/>
          <p:nvPr/>
        </p:nvSpPr>
        <p:spPr>
          <a:xfrm>
            <a:off x="2720340" y="2020824"/>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Backward edge</a:t>
            </a:r>
            <a:endParaRPr lang="en-US" sz="2000" dirty="0"/>
          </a:p>
        </p:txBody>
      </p:sp>
      <p:sp>
        <p:nvSpPr>
          <p:cNvPr id="10" name="Shape 8">
            <a:extLst>
              <a:ext uri="{FF2B5EF4-FFF2-40B4-BE49-F238E27FC236}">
                <a16:creationId xmlns:a16="http://schemas.microsoft.com/office/drawing/2014/main" id="{C38F53AD-C6D3-EF0C-4395-A62F0B7F6B0E}"/>
              </a:ext>
            </a:extLst>
          </p:cNvPr>
          <p:cNvSpPr/>
          <p:nvPr/>
        </p:nvSpPr>
        <p:spPr>
          <a:xfrm>
            <a:off x="5440680" y="2075688"/>
            <a:ext cx="133045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1" name="Text 9">
            <a:extLst>
              <a:ext uri="{FF2B5EF4-FFF2-40B4-BE49-F238E27FC236}">
                <a16:creationId xmlns:a16="http://schemas.microsoft.com/office/drawing/2014/main" id="{DAA648A4-96CF-BE1E-3E1B-5F93BAEBC7DF}"/>
              </a:ext>
            </a:extLst>
          </p:cNvPr>
          <p:cNvSpPr txBox="1"/>
          <p:nvPr/>
        </p:nvSpPr>
        <p:spPr>
          <a:xfrm>
            <a:off x="5440680" y="2075688"/>
            <a:ext cx="133045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Intel CET</a:t>
            </a:r>
            <a:endParaRPr lang="en-US" sz="1867" dirty="0"/>
          </a:p>
        </p:txBody>
      </p:sp>
      <p:sp>
        <p:nvSpPr>
          <p:cNvPr id="12" name="Shape 10">
            <a:extLst>
              <a:ext uri="{FF2B5EF4-FFF2-40B4-BE49-F238E27FC236}">
                <a16:creationId xmlns:a16="http://schemas.microsoft.com/office/drawing/2014/main" id="{6F54347B-A1E0-8090-C52D-86A083B97981}"/>
              </a:ext>
            </a:extLst>
          </p:cNvPr>
          <p:cNvSpPr/>
          <p:nvPr/>
        </p:nvSpPr>
        <p:spPr>
          <a:xfrm>
            <a:off x="6862572" y="2075688"/>
            <a:ext cx="117957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3" name="Text 11">
            <a:extLst>
              <a:ext uri="{FF2B5EF4-FFF2-40B4-BE49-F238E27FC236}">
                <a16:creationId xmlns:a16="http://schemas.microsoft.com/office/drawing/2014/main" id="{5581EE91-3765-B40E-FC24-FB29AED1AE78}"/>
              </a:ext>
            </a:extLst>
          </p:cNvPr>
          <p:cNvSpPr txBox="1"/>
          <p:nvPr/>
        </p:nvSpPr>
        <p:spPr>
          <a:xfrm>
            <a:off x="6862572" y="2075688"/>
            <a:ext cx="117957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Arm GCS</a:t>
            </a:r>
            <a:endParaRPr lang="en-US" sz="1867" dirty="0"/>
          </a:p>
        </p:txBody>
      </p:sp>
      <p:sp>
        <p:nvSpPr>
          <p:cNvPr id="14" name="Shape 12">
            <a:extLst>
              <a:ext uri="{FF2B5EF4-FFF2-40B4-BE49-F238E27FC236}">
                <a16:creationId xmlns:a16="http://schemas.microsoft.com/office/drawing/2014/main" id="{82F73E63-22C5-B793-DB57-730A03F08EB3}"/>
              </a:ext>
            </a:extLst>
          </p:cNvPr>
          <p:cNvSpPr/>
          <p:nvPr/>
        </p:nvSpPr>
        <p:spPr>
          <a:xfrm>
            <a:off x="5440680" y="2459736"/>
            <a:ext cx="215798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5" name="Text 13">
            <a:extLst>
              <a:ext uri="{FF2B5EF4-FFF2-40B4-BE49-F238E27FC236}">
                <a16:creationId xmlns:a16="http://schemas.microsoft.com/office/drawing/2014/main" id="{DC12A5EE-AB68-F00E-B5A4-AE1B59FC4614}"/>
              </a:ext>
            </a:extLst>
          </p:cNvPr>
          <p:cNvSpPr txBox="1"/>
          <p:nvPr/>
        </p:nvSpPr>
        <p:spPr>
          <a:xfrm>
            <a:off x="5440680" y="2459736"/>
            <a:ext cx="215798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ShadowCallStack</a:t>
            </a:r>
            <a:endParaRPr lang="en-US" sz="1867" dirty="0"/>
          </a:p>
        </p:txBody>
      </p:sp>
      <p:sp>
        <p:nvSpPr>
          <p:cNvPr id="16" name="Shape 14">
            <a:extLst>
              <a:ext uri="{FF2B5EF4-FFF2-40B4-BE49-F238E27FC236}">
                <a16:creationId xmlns:a16="http://schemas.microsoft.com/office/drawing/2014/main" id="{403DCE3D-4C1E-5527-83C7-76349E416E77}"/>
              </a:ext>
            </a:extLst>
          </p:cNvPr>
          <p:cNvSpPr/>
          <p:nvPr/>
        </p:nvSpPr>
        <p:spPr>
          <a:xfrm>
            <a:off x="9784080" y="2331720"/>
            <a:ext cx="201168" cy="201168"/>
          </a:xfrm>
          <a:prstGeom prst="ellipse">
            <a:avLst/>
          </a:prstGeom>
          <a:solidFill>
            <a:srgbClr val="3FA34D"/>
          </a:solidFill>
          <a:ln w="12700">
            <a:solidFill>
              <a:srgbClr val="3FA34D"/>
            </a:solidFill>
            <a:prstDash val="solid"/>
          </a:ln>
        </p:spPr>
        <p:txBody>
          <a:bodyPr/>
          <a:lstStyle/>
          <a:p>
            <a:endParaRPr lang="en-US"/>
          </a:p>
        </p:txBody>
      </p:sp>
      <p:sp>
        <p:nvSpPr>
          <p:cNvPr id="17" name="Shape 15">
            <a:extLst>
              <a:ext uri="{FF2B5EF4-FFF2-40B4-BE49-F238E27FC236}">
                <a16:creationId xmlns:a16="http://schemas.microsoft.com/office/drawing/2014/main" id="{2FD68B44-F020-1CB1-1077-17BE09F2AEED}"/>
              </a:ext>
            </a:extLst>
          </p:cNvPr>
          <p:cNvSpPr/>
          <p:nvPr/>
        </p:nvSpPr>
        <p:spPr>
          <a:xfrm>
            <a:off x="10082784" y="2331720"/>
            <a:ext cx="201168" cy="201168"/>
          </a:xfrm>
          <a:prstGeom prst="ellipse">
            <a:avLst/>
          </a:prstGeom>
          <a:solidFill>
            <a:srgbClr val="D9A62B"/>
          </a:solidFill>
          <a:ln w="12700">
            <a:solidFill>
              <a:srgbClr val="D9A62B"/>
            </a:solidFill>
            <a:prstDash val="solid"/>
          </a:ln>
        </p:spPr>
        <p:txBody>
          <a:bodyPr/>
          <a:lstStyle/>
          <a:p>
            <a:endParaRPr lang="en-US"/>
          </a:p>
        </p:txBody>
      </p:sp>
      <p:sp>
        <p:nvSpPr>
          <p:cNvPr id="18" name="Text 16">
            <a:extLst>
              <a:ext uri="{FF2B5EF4-FFF2-40B4-BE49-F238E27FC236}">
                <a16:creationId xmlns:a16="http://schemas.microsoft.com/office/drawing/2014/main" id="{31577264-C4D3-A25A-B194-422C5C422102}"/>
              </a:ext>
            </a:extLst>
          </p:cNvPr>
          <p:cNvSpPr txBox="1"/>
          <p:nvPr/>
        </p:nvSpPr>
        <p:spPr>
          <a:xfrm>
            <a:off x="10320528" y="221284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x86</a:t>
            </a:r>
            <a:endParaRPr lang="en-US" sz="2000" dirty="0"/>
          </a:p>
        </p:txBody>
      </p:sp>
      <p:sp>
        <p:nvSpPr>
          <p:cNvPr id="19" name="Shape 17">
            <a:extLst>
              <a:ext uri="{FF2B5EF4-FFF2-40B4-BE49-F238E27FC236}">
                <a16:creationId xmlns:a16="http://schemas.microsoft.com/office/drawing/2014/main" id="{5D0D2B7D-B173-F41E-0D87-63F46CA7516D}"/>
              </a:ext>
            </a:extLst>
          </p:cNvPr>
          <p:cNvSpPr/>
          <p:nvPr/>
        </p:nvSpPr>
        <p:spPr>
          <a:xfrm>
            <a:off x="932688" y="2834640"/>
            <a:ext cx="10515600" cy="0"/>
          </a:xfrm>
          <a:prstGeom prst="line">
            <a:avLst/>
          </a:prstGeom>
          <a:noFill/>
          <a:ln w="9525">
            <a:solidFill>
              <a:srgbClr val="D9D9D9"/>
            </a:solidFill>
            <a:prstDash val="solid"/>
          </a:ln>
        </p:spPr>
        <p:txBody>
          <a:bodyPr/>
          <a:lstStyle/>
          <a:p>
            <a:endParaRPr lang="en-US"/>
          </a:p>
        </p:txBody>
      </p:sp>
      <p:sp>
        <p:nvSpPr>
          <p:cNvPr id="20" name="Text 18">
            <a:extLst>
              <a:ext uri="{FF2B5EF4-FFF2-40B4-BE49-F238E27FC236}">
                <a16:creationId xmlns:a16="http://schemas.microsoft.com/office/drawing/2014/main" id="{4EC89AA3-B9E8-51C7-EA8A-ABB0C4E8A76E}"/>
              </a:ext>
            </a:extLst>
          </p:cNvPr>
          <p:cNvSpPr txBox="1"/>
          <p:nvPr/>
        </p:nvSpPr>
        <p:spPr>
          <a:xfrm>
            <a:off x="932688" y="2843784"/>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21" name="Text 19">
            <a:extLst>
              <a:ext uri="{FF2B5EF4-FFF2-40B4-BE49-F238E27FC236}">
                <a16:creationId xmlns:a16="http://schemas.microsoft.com/office/drawing/2014/main" id="{1FFD11F0-DC3F-E7B6-4D1F-41460EF1E79B}"/>
              </a:ext>
            </a:extLst>
          </p:cNvPr>
          <p:cNvSpPr txBox="1"/>
          <p:nvPr/>
        </p:nvSpPr>
        <p:spPr>
          <a:xfrm>
            <a:off x="2720340" y="2843784"/>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Exceptions</a:t>
            </a:r>
            <a:endParaRPr lang="en-US" sz="2000" dirty="0"/>
          </a:p>
        </p:txBody>
      </p:sp>
      <p:sp>
        <p:nvSpPr>
          <p:cNvPr id="22" name="Shape 20">
            <a:extLst>
              <a:ext uri="{FF2B5EF4-FFF2-40B4-BE49-F238E27FC236}">
                <a16:creationId xmlns:a16="http://schemas.microsoft.com/office/drawing/2014/main" id="{1C35DCF4-9EBF-6FF5-E0CD-FA097E4E9E3C}"/>
              </a:ext>
            </a:extLst>
          </p:cNvPr>
          <p:cNvSpPr/>
          <p:nvPr/>
        </p:nvSpPr>
        <p:spPr>
          <a:xfrm>
            <a:off x="5440680" y="2898648"/>
            <a:ext cx="17236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3" name="Text 21">
            <a:extLst>
              <a:ext uri="{FF2B5EF4-FFF2-40B4-BE49-F238E27FC236}">
                <a16:creationId xmlns:a16="http://schemas.microsoft.com/office/drawing/2014/main" id="{C855DD11-E562-704B-0D12-506B00468828}"/>
              </a:ext>
            </a:extLst>
          </p:cNvPr>
          <p:cNvSpPr txBox="1"/>
          <p:nvPr/>
        </p:nvSpPr>
        <p:spPr>
          <a:xfrm>
            <a:off x="5440680" y="2898648"/>
            <a:ext cx="17236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/guard:ehcont</a:t>
            </a:r>
            <a:endParaRPr lang="en-US" sz="1867" dirty="0"/>
          </a:p>
        </p:txBody>
      </p:sp>
      <p:sp>
        <p:nvSpPr>
          <p:cNvPr id="24" name="Shape 22">
            <a:extLst>
              <a:ext uri="{FF2B5EF4-FFF2-40B4-BE49-F238E27FC236}">
                <a16:creationId xmlns:a16="http://schemas.microsoft.com/office/drawing/2014/main" id="{7BA6DA3D-BD18-C7E3-CE1B-99FAE7ADB523}"/>
              </a:ext>
            </a:extLst>
          </p:cNvPr>
          <p:cNvSpPr/>
          <p:nvPr/>
        </p:nvSpPr>
        <p:spPr>
          <a:xfrm>
            <a:off x="7255764" y="2898648"/>
            <a:ext cx="13807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5" name="Text 23">
            <a:extLst>
              <a:ext uri="{FF2B5EF4-FFF2-40B4-BE49-F238E27FC236}">
                <a16:creationId xmlns:a16="http://schemas.microsoft.com/office/drawing/2014/main" id="{5C048F25-E32A-B934-06FF-DCACD3612D07}"/>
              </a:ext>
            </a:extLst>
          </p:cNvPr>
          <p:cNvSpPr txBox="1"/>
          <p:nvPr/>
        </p:nvSpPr>
        <p:spPr>
          <a:xfrm>
            <a:off x="7255764" y="2898648"/>
            <a:ext cx="13807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/SAFESEH</a:t>
            </a:r>
            <a:endParaRPr lang="en-US" sz="1867" dirty="0"/>
          </a:p>
        </p:txBody>
      </p:sp>
      <p:sp>
        <p:nvSpPr>
          <p:cNvPr id="26" name="Shape 24">
            <a:extLst>
              <a:ext uri="{FF2B5EF4-FFF2-40B4-BE49-F238E27FC236}">
                <a16:creationId xmlns:a16="http://schemas.microsoft.com/office/drawing/2014/main" id="{7A60ECB0-BE0B-111F-5790-61774E8EE187}"/>
              </a:ext>
            </a:extLst>
          </p:cNvPr>
          <p:cNvSpPr/>
          <p:nvPr/>
        </p:nvSpPr>
        <p:spPr>
          <a:xfrm>
            <a:off x="9784080" y="2962656"/>
            <a:ext cx="201168" cy="201168"/>
          </a:xfrm>
          <a:prstGeom prst="ellipse">
            <a:avLst/>
          </a:prstGeom>
          <a:solidFill>
            <a:srgbClr val="D9A62B"/>
          </a:solidFill>
          <a:ln w="12700">
            <a:solidFill>
              <a:srgbClr val="D9A62B"/>
            </a:solidFill>
            <a:prstDash val="solid"/>
          </a:ln>
        </p:spPr>
        <p:txBody>
          <a:bodyPr/>
          <a:lstStyle/>
          <a:p>
            <a:endParaRPr lang="en-US"/>
          </a:p>
        </p:txBody>
      </p:sp>
      <p:sp>
        <p:nvSpPr>
          <p:cNvPr id="27" name="Shape 25">
            <a:extLst>
              <a:ext uri="{FF2B5EF4-FFF2-40B4-BE49-F238E27FC236}">
                <a16:creationId xmlns:a16="http://schemas.microsoft.com/office/drawing/2014/main" id="{0FDBF09E-8F58-43AE-D72E-863A92CF55D5}"/>
              </a:ext>
            </a:extLst>
          </p:cNvPr>
          <p:cNvSpPr/>
          <p:nvPr/>
        </p:nvSpPr>
        <p:spPr>
          <a:xfrm>
            <a:off x="932688" y="3273552"/>
            <a:ext cx="10515600" cy="0"/>
          </a:xfrm>
          <a:prstGeom prst="line">
            <a:avLst/>
          </a:prstGeom>
          <a:noFill/>
          <a:ln w="9525">
            <a:solidFill>
              <a:srgbClr val="D9D9D9"/>
            </a:solidFill>
            <a:prstDash val="solid"/>
          </a:ln>
        </p:spPr>
        <p:txBody>
          <a:bodyPr/>
          <a:lstStyle/>
          <a:p>
            <a:endParaRPr lang="en-US"/>
          </a:p>
        </p:txBody>
      </p:sp>
      <p:sp>
        <p:nvSpPr>
          <p:cNvPr id="28" name="Text 26">
            <a:extLst>
              <a:ext uri="{FF2B5EF4-FFF2-40B4-BE49-F238E27FC236}">
                <a16:creationId xmlns:a16="http://schemas.microsoft.com/office/drawing/2014/main" id="{68C254CB-5998-CEB2-39A4-156EF5E4F270}"/>
              </a:ext>
            </a:extLst>
          </p:cNvPr>
          <p:cNvSpPr txBox="1"/>
          <p:nvPr/>
        </p:nvSpPr>
        <p:spPr>
          <a:xfrm>
            <a:off x="932688" y="3282696"/>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29" name="Text 27">
            <a:extLst>
              <a:ext uri="{FF2B5EF4-FFF2-40B4-BE49-F238E27FC236}">
                <a16:creationId xmlns:a16="http://schemas.microsoft.com/office/drawing/2014/main" id="{712A9915-7B0A-90AB-2900-84BF82AE3083}"/>
              </a:ext>
            </a:extLst>
          </p:cNvPr>
          <p:cNvSpPr txBox="1"/>
          <p:nvPr/>
        </p:nvSpPr>
        <p:spPr>
          <a:xfrm>
            <a:off x="2720340" y="3282696"/>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Pointer auth, BTI</a:t>
            </a:r>
            <a:endParaRPr lang="en-US" sz="2000" dirty="0"/>
          </a:p>
        </p:txBody>
      </p:sp>
      <p:sp>
        <p:nvSpPr>
          <p:cNvPr id="30" name="Shape 28">
            <a:extLst>
              <a:ext uri="{FF2B5EF4-FFF2-40B4-BE49-F238E27FC236}">
                <a16:creationId xmlns:a16="http://schemas.microsoft.com/office/drawing/2014/main" id="{B2BC4AE0-91C9-00A6-B750-BADE9915C6E9}"/>
              </a:ext>
            </a:extLst>
          </p:cNvPr>
          <p:cNvSpPr/>
          <p:nvPr/>
        </p:nvSpPr>
        <p:spPr>
          <a:xfrm>
            <a:off x="5440680" y="3337560"/>
            <a:ext cx="337870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1" name="Text 29">
            <a:extLst>
              <a:ext uri="{FF2B5EF4-FFF2-40B4-BE49-F238E27FC236}">
                <a16:creationId xmlns:a16="http://schemas.microsoft.com/office/drawing/2014/main" id="{C9EA5F34-701C-81B5-D92B-08D684881239}"/>
              </a:ext>
            </a:extLst>
          </p:cNvPr>
          <p:cNvSpPr txBox="1"/>
          <p:nvPr/>
        </p:nvSpPr>
        <p:spPr>
          <a:xfrm>
            <a:off x="5440680" y="3337560"/>
            <a:ext cx="337870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-mbranch-protection=standard</a:t>
            </a:r>
            <a:endParaRPr lang="en-US" sz="1867" dirty="0"/>
          </a:p>
        </p:txBody>
      </p:sp>
      <p:sp>
        <p:nvSpPr>
          <p:cNvPr id="32" name="Shape 30">
            <a:extLst>
              <a:ext uri="{FF2B5EF4-FFF2-40B4-BE49-F238E27FC236}">
                <a16:creationId xmlns:a16="http://schemas.microsoft.com/office/drawing/2014/main" id="{DBE936BC-5FE7-7654-DB33-52738E58C4B3}"/>
              </a:ext>
            </a:extLst>
          </p:cNvPr>
          <p:cNvSpPr/>
          <p:nvPr/>
        </p:nvSpPr>
        <p:spPr>
          <a:xfrm>
            <a:off x="9784080" y="3401568"/>
            <a:ext cx="201168" cy="201168"/>
          </a:xfrm>
          <a:prstGeom prst="ellipse">
            <a:avLst/>
          </a:prstGeom>
          <a:solidFill>
            <a:srgbClr val="3FA34D"/>
          </a:solidFill>
          <a:ln w="12700">
            <a:solidFill>
              <a:srgbClr val="3FA34D"/>
            </a:solidFill>
            <a:prstDash val="solid"/>
          </a:ln>
        </p:spPr>
        <p:txBody>
          <a:bodyPr/>
          <a:lstStyle/>
          <a:p>
            <a:endParaRPr lang="en-US"/>
          </a:p>
        </p:txBody>
      </p:sp>
      <p:sp>
        <p:nvSpPr>
          <p:cNvPr id="33" name="Shape 31">
            <a:extLst>
              <a:ext uri="{FF2B5EF4-FFF2-40B4-BE49-F238E27FC236}">
                <a16:creationId xmlns:a16="http://schemas.microsoft.com/office/drawing/2014/main" id="{ED8E5A9C-6D04-7087-F954-F491155C2471}"/>
              </a:ext>
            </a:extLst>
          </p:cNvPr>
          <p:cNvSpPr/>
          <p:nvPr/>
        </p:nvSpPr>
        <p:spPr>
          <a:xfrm>
            <a:off x="10082784" y="3401568"/>
            <a:ext cx="201168" cy="201168"/>
          </a:xfrm>
          <a:prstGeom prst="ellipse">
            <a:avLst/>
          </a:prstGeom>
          <a:solidFill>
            <a:srgbClr val="C93B34"/>
          </a:solidFill>
          <a:ln w="12700">
            <a:solidFill>
              <a:srgbClr val="C93B34"/>
            </a:solidFill>
            <a:prstDash val="solid"/>
          </a:ln>
        </p:spPr>
        <p:txBody>
          <a:bodyPr/>
          <a:lstStyle/>
          <a:p>
            <a:endParaRPr lang="en-US"/>
          </a:p>
        </p:txBody>
      </p:sp>
      <p:sp>
        <p:nvSpPr>
          <p:cNvPr id="34" name="Text 32">
            <a:extLst>
              <a:ext uri="{FF2B5EF4-FFF2-40B4-BE49-F238E27FC236}">
                <a16:creationId xmlns:a16="http://schemas.microsoft.com/office/drawing/2014/main" id="{0AC5D7FA-AF15-29B8-50BE-18B9A8792917}"/>
              </a:ext>
            </a:extLst>
          </p:cNvPr>
          <p:cNvSpPr txBox="1"/>
          <p:nvPr/>
        </p:nvSpPr>
        <p:spPr>
          <a:xfrm>
            <a:off x="10320528" y="3282696"/>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x86</a:t>
            </a:r>
            <a:endParaRPr lang="en-US" sz="2000" dirty="0"/>
          </a:p>
        </p:txBody>
      </p:sp>
      <p:sp>
        <p:nvSpPr>
          <p:cNvPr id="35" name="Shape 33">
            <a:extLst>
              <a:ext uri="{FF2B5EF4-FFF2-40B4-BE49-F238E27FC236}">
                <a16:creationId xmlns:a16="http://schemas.microsoft.com/office/drawing/2014/main" id="{A525FC7E-A37E-95AF-9703-36D8157E6F0B}"/>
              </a:ext>
            </a:extLst>
          </p:cNvPr>
          <p:cNvSpPr/>
          <p:nvPr/>
        </p:nvSpPr>
        <p:spPr>
          <a:xfrm>
            <a:off x="932688" y="3712464"/>
            <a:ext cx="10515600" cy="0"/>
          </a:xfrm>
          <a:prstGeom prst="line">
            <a:avLst/>
          </a:prstGeom>
          <a:noFill/>
          <a:ln w="9525">
            <a:solidFill>
              <a:srgbClr val="D9D9D9"/>
            </a:solidFill>
            <a:prstDash val="solid"/>
          </a:ln>
        </p:spPr>
        <p:txBody>
          <a:bodyPr/>
          <a:lstStyle/>
          <a:p>
            <a:endParaRPr lang="en-US"/>
          </a:p>
        </p:txBody>
      </p:sp>
      <p:sp>
        <p:nvSpPr>
          <p:cNvPr id="36" name="Text 34">
            <a:extLst>
              <a:ext uri="{FF2B5EF4-FFF2-40B4-BE49-F238E27FC236}">
                <a16:creationId xmlns:a16="http://schemas.microsoft.com/office/drawing/2014/main" id="{875909E6-EA12-F544-C56E-E53125A00EB7}"/>
              </a:ext>
            </a:extLst>
          </p:cNvPr>
          <p:cNvSpPr txBox="1"/>
          <p:nvPr/>
        </p:nvSpPr>
        <p:spPr>
          <a:xfrm>
            <a:off x="932688" y="3721608"/>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Structural</a:t>
            </a:r>
            <a:endParaRPr lang="en-US" sz="2000" dirty="0"/>
          </a:p>
        </p:txBody>
      </p:sp>
      <p:sp>
        <p:nvSpPr>
          <p:cNvPr id="37" name="Text 35">
            <a:extLst>
              <a:ext uri="{FF2B5EF4-FFF2-40B4-BE49-F238E27FC236}">
                <a16:creationId xmlns:a16="http://schemas.microsoft.com/office/drawing/2014/main" id="{90F6BC4A-F379-D320-AB79-78185177A720}"/>
              </a:ext>
            </a:extLst>
          </p:cNvPr>
          <p:cNvSpPr txBox="1"/>
          <p:nvPr/>
        </p:nvSpPr>
        <p:spPr>
          <a:xfrm>
            <a:off x="2720340" y="3721608"/>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Code pages and layout</a:t>
            </a:r>
            <a:endParaRPr lang="en-US" sz="2000" dirty="0"/>
          </a:p>
        </p:txBody>
      </p:sp>
      <p:sp>
        <p:nvSpPr>
          <p:cNvPr id="38" name="Shape 36">
            <a:extLst>
              <a:ext uri="{FF2B5EF4-FFF2-40B4-BE49-F238E27FC236}">
                <a16:creationId xmlns:a16="http://schemas.microsoft.com/office/drawing/2014/main" id="{00E1B3E5-59AE-DD4A-9714-BAF622006BEC}"/>
              </a:ext>
            </a:extLst>
          </p:cNvPr>
          <p:cNvSpPr/>
          <p:nvPr/>
        </p:nvSpPr>
        <p:spPr>
          <a:xfrm>
            <a:off x="5440680" y="3776472"/>
            <a:ext cx="70866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9" name="Text 37">
            <a:extLst>
              <a:ext uri="{FF2B5EF4-FFF2-40B4-BE49-F238E27FC236}">
                <a16:creationId xmlns:a16="http://schemas.microsoft.com/office/drawing/2014/main" id="{13F6FA37-F50D-6C32-CD8A-1A717CE5E050}"/>
              </a:ext>
            </a:extLst>
          </p:cNvPr>
          <p:cNvSpPr txBox="1"/>
          <p:nvPr/>
        </p:nvSpPr>
        <p:spPr>
          <a:xfrm>
            <a:off x="5440680" y="3776472"/>
            <a:ext cx="70866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DEP</a:t>
            </a:r>
            <a:endParaRPr lang="en-US" sz="1867" dirty="0"/>
          </a:p>
        </p:txBody>
      </p:sp>
      <p:sp>
        <p:nvSpPr>
          <p:cNvPr id="40" name="Shape 38">
            <a:extLst>
              <a:ext uri="{FF2B5EF4-FFF2-40B4-BE49-F238E27FC236}">
                <a16:creationId xmlns:a16="http://schemas.microsoft.com/office/drawing/2014/main" id="{4B3EB621-360D-36AB-2BE4-7F4356912106}"/>
              </a:ext>
            </a:extLst>
          </p:cNvPr>
          <p:cNvSpPr/>
          <p:nvPr/>
        </p:nvSpPr>
        <p:spPr>
          <a:xfrm>
            <a:off x="6240780" y="3776472"/>
            <a:ext cx="72237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1" name="Text 39">
            <a:extLst>
              <a:ext uri="{FF2B5EF4-FFF2-40B4-BE49-F238E27FC236}">
                <a16:creationId xmlns:a16="http://schemas.microsoft.com/office/drawing/2014/main" id="{B727FB8B-F87F-F67E-8684-713EE60CD391}"/>
              </a:ext>
            </a:extLst>
          </p:cNvPr>
          <p:cNvSpPr txBox="1"/>
          <p:nvPr/>
        </p:nvSpPr>
        <p:spPr>
          <a:xfrm>
            <a:off x="6240780" y="3776472"/>
            <a:ext cx="72237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W^X</a:t>
            </a:r>
            <a:endParaRPr lang="en-US" sz="1867" dirty="0"/>
          </a:p>
        </p:txBody>
      </p:sp>
      <p:sp>
        <p:nvSpPr>
          <p:cNvPr id="42" name="Shape 40">
            <a:extLst>
              <a:ext uri="{FF2B5EF4-FFF2-40B4-BE49-F238E27FC236}">
                <a16:creationId xmlns:a16="http://schemas.microsoft.com/office/drawing/2014/main" id="{48878A9F-8E48-7C9C-BA23-13E651253575}"/>
              </a:ext>
            </a:extLst>
          </p:cNvPr>
          <p:cNvSpPr/>
          <p:nvPr/>
        </p:nvSpPr>
        <p:spPr>
          <a:xfrm>
            <a:off x="7054596" y="3776472"/>
            <a:ext cx="85953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3" name="Text 41">
            <a:extLst>
              <a:ext uri="{FF2B5EF4-FFF2-40B4-BE49-F238E27FC236}">
                <a16:creationId xmlns:a16="http://schemas.microsoft.com/office/drawing/2014/main" id="{58811739-1185-D76A-B6EE-BE4EF8930099}"/>
              </a:ext>
            </a:extLst>
          </p:cNvPr>
          <p:cNvSpPr txBox="1"/>
          <p:nvPr/>
        </p:nvSpPr>
        <p:spPr>
          <a:xfrm>
            <a:off x="7054596" y="3776472"/>
            <a:ext cx="85953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ASLR</a:t>
            </a:r>
            <a:endParaRPr lang="en-US" sz="1867" dirty="0"/>
          </a:p>
        </p:txBody>
      </p:sp>
      <p:sp>
        <p:nvSpPr>
          <p:cNvPr id="44" name="Shape 42">
            <a:extLst>
              <a:ext uri="{FF2B5EF4-FFF2-40B4-BE49-F238E27FC236}">
                <a16:creationId xmlns:a16="http://schemas.microsoft.com/office/drawing/2014/main" id="{2B24268D-8908-69D8-7EFC-526DEB36AEC1}"/>
              </a:ext>
            </a:extLst>
          </p:cNvPr>
          <p:cNvSpPr/>
          <p:nvPr/>
        </p:nvSpPr>
        <p:spPr>
          <a:xfrm>
            <a:off x="8005572" y="3776472"/>
            <a:ext cx="70866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5" name="Text 43">
            <a:extLst>
              <a:ext uri="{FF2B5EF4-FFF2-40B4-BE49-F238E27FC236}">
                <a16:creationId xmlns:a16="http://schemas.microsoft.com/office/drawing/2014/main" id="{E344BAD7-BBC5-30EC-0A9F-9D0BEEFB1A06}"/>
              </a:ext>
            </a:extLst>
          </p:cNvPr>
          <p:cNvSpPr txBox="1"/>
          <p:nvPr/>
        </p:nvSpPr>
        <p:spPr>
          <a:xfrm>
            <a:off x="8005572" y="3776472"/>
            <a:ext cx="70866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PIE</a:t>
            </a:r>
            <a:endParaRPr lang="en-US" sz="1867" dirty="0"/>
          </a:p>
        </p:txBody>
      </p:sp>
      <p:sp>
        <p:nvSpPr>
          <p:cNvPr id="46" name="Shape 44">
            <a:extLst>
              <a:ext uri="{FF2B5EF4-FFF2-40B4-BE49-F238E27FC236}">
                <a16:creationId xmlns:a16="http://schemas.microsoft.com/office/drawing/2014/main" id="{73105BA4-5B76-0937-1388-4505853E20F9}"/>
              </a:ext>
            </a:extLst>
          </p:cNvPr>
          <p:cNvSpPr/>
          <p:nvPr/>
        </p:nvSpPr>
        <p:spPr>
          <a:xfrm>
            <a:off x="5440680" y="4160520"/>
            <a:ext cx="10104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7" name="Text 45">
            <a:extLst>
              <a:ext uri="{FF2B5EF4-FFF2-40B4-BE49-F238E27FC236}">
                <a16:creationId xmlns:a16="http://schemas.microsoft.com/office/drawing/2014/main" id="{1CDFF025-F521-F344-60EA-98DD384D897D}"/>
              </a:ext>
            </a:extLst>
          </p:cNvPr>
          <p:cNvSpPr txBox="1"/>
          <p:nvPr/>
        </p:nvSpPr>
        <p:spPr>
          <a:xfrm>
            <a:off x="5440680" y="4160520"/>
            <a:ext cx="10104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RELRO</a:t>
            </a:r>
            <a:endParaRPr lang="en-US" sz="1867" dirty="0"/>
          </a:p>
        </p:txBody>
      </p:sp>
      <p:sp>
        <p:nvSpPr>
          <p:cNvPr id="48" name="Shape 46">
            <a:extLst>
              <a:ext uri="{FF2B5EF4-FFF2-40B4-BE49-F238E27FC236}">
                <a16:creationId xmlns:a16="http://schemas.microsoft.com/office/drawing/2014/main" id="{0C2C7118-2DC3-4651-E6C3-7B554F32C039}"/>
              </a:ext>
            </a:extLst>
          </p:cNvPr>
          <p:cNvSpPr/>
          <p:nvPr/>
        </p:nvSpPr>
        <p:spPr>
          <a:xfrm>
            <a:off x="9784080" y="4032504"/>
            <a:ext cx="201168" cy="201168"/>
          </a:xfrm>
          <a:prstGeom prst="ellipse">
            <a:avLst/>
          </a:prstGeom>
          <a:solidFill>
            <a:srgbClr val="3FA34D"/>
          </a:solidFill>
          <a:ln w="12700">
            <a:solidFill>
              <a:srgbClr val="3FA34D"/>
            </a:solidFill>
            <a:prstDash val="solid"/>
          </a:ln>
        </p:spPr>
        <p:txBody>
          <a:bodyPr/>
          <a:lstStyle/>
          <a:p>
            <a:endParaRPr lang="en-US"/>
          </a:p>
        </p:txBody>
      </p:sp>
      <p:sp>
        <p:nvSpPr>
          <p:cNvPr id="49" name="Shape 47">
            <a:extLst>
              <a:ext uri="{FF2B5EF4-FFF2-40B4-BE49-F238E27FC236}">
                <a16:creationId xmlns:a16="http://schemas.microsoft.com/office/drawing/2014/main" id="{9BCF5766-B1E3-53B8-6E7F-358408C724C7}"/>
              </a:ext>
            </a:extLst>
          </p:cNvPr>
          <p:cNvSpPr/>
          <p:nvPr/>
        </p:nvSpPr>
        <p:spPr>
          <a:xfrm>
            <a:off x="932688" y="4535424"/>
            <a:ext cx="10515600" cy="0"/>
          </a:xfrm>
          <a:prstGeom prst="line">
            <a:avLst/>
          </a:prstGeom>
          <a:noFill/>
          <a:ln w="9525">
            <a:solidFill>
              <a:srgbClr val="D9D9D9"/>
            </a:solidFill>
            <a:prstDash val="solid"/>
          </a:ln>
        </p:spPr>
        <p:txBody>
          <a:bodyPr/>
          <a:lstStyle/>
          <a:p>
            <a:endParaRPr lang="en-US"/>
          </a:p>
        </p:txBody>
      </p:sp>
      <p:sp>
        <p:nvSpPr>
          <p:cNvPr id="50" name="Text 48">
            <a:extLst>
              <a:ext uri="{FF2B5EF4-FFF2-40B4-BE49-F238E27FC236}">
                <a16:creationId xmlns:a16="http://schemas.microsoft.com/office/drawing/2014/main" id="{0F22D5A1-0751-D761-32B8-D7286FBE4509}"/>
              </a:ext>
            </a:extLst>
          </p:cNvPr>
          <p:cNvSpPr txBox="1"/>
          <p:nvPr/>
        </p:nvSpPr>
        <p:spPr>
          <a:xfrm>
            <a:off x="932688" y="4544568"/>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Resource</a:t>
            </a:r>
            <a:endParaRPr lang="en-US" sz="2000" dirty="0"/>
          </a:p>
        </p:txBody>
      </p:sp>
      <p:sp>
        <p:nvSpPr>
          <p:cNvPr id="51" name="Text 49">
            <a:extLst>
              <a:ext uri="{FF2B5EF4-FFF2-40B4-BE49-F238E27FC236}">
                <a16:creationId xmlns:a16="http://schemas.microsoft.com/office/drawing/2014/main" id="{2961F007-C904-CF69-3E02-F88BA515B597}"/>
              </a:ext>
            </a:extLst>
          </p:cNvPr>
          <p:cNvSpPr txBox="1"/>
          <p:nvPr/>
        </p:nvSpPr>
        <p:spPr>
          <a:xfrm>
            <a:off x="2720340" y="4544568"/>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Stack</a:t>
            </a:r>
            <a:endParaRPr lang="en-US" sz="2000" dirty="0"/>
          </a:p>
        </p:txBody>
      </p:sp>
      <p:sp>
        <p:nvSpPr>
          <p:cNvPr id="52" name="Shape 50">
            <a:extLst>
              <a:ext uri="{FF2B5EF4-FFF2-40B4-BE49-F238E27FC236}">
                <a16:creationId xmlns:a16="http://schemas.microsoft.com/office/drawing/2014/main" id="{45423CC8-5D56-C850-53BF-1B10CEE76A29}"/>
              </a:ext>
            </a:extLst>
          </p:cNvPr>
          <p:cNvSpPr/>
          <p:nvPr/>
        </p:nvSpPr>
        <p:spPr>
          <a:xfrm>
            <a:off x="5440680" y="4599432"/>
            <a:ext cx="279806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3" name="Text 51">
            <a:extLst>
              <a:ext uri="{FF2B5EF4-FFF2-40B4-BE49-F238E27FC236}">
                <a16:creationId xmlns:a16="http://schemas.microsoft.com/office/drawing/2014/main" id="{C1CFF1DC-E2BB-690E-A2BE-C2871E062017}"/>
              </a:ext>
            </a:extLst>
          </p:cNvPr>
          <p:cNvSpPr txBox="1"/>
          <p:nvPr/>
        </p:nvSpPr>
        <p:spPr>
          <a:xfrm>
            <a:off x="5440680" y="4599432"/>
            <a:ext cx="279806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-fstack-clash-protection</a:t>
            </a:r>
            <a:endParaRPr lang="en-US" sz="1867" dirty="0"/>
          </a:p>
        </p:txBody>
      </p:sp>
      <p:sp>
        <p:nvSpPr>
          <p:cNvPr id="54" name="Shape 52">
            <a:extLst>
              <a:ext uri="{FF2B5EF4-FFF2-40B4-BE49-F238E27FC236}">
                <a16:creationId xmlns:a16="http://schemas.microsoft.com/office/drawing/2014/main" id="{C0DA04AE-8DA7-63E2-FB36-E41E7CE36A4A}"/>
              </a:ext>
            </a:extLst>
          </p:cNvPr>
          <p:cNvSpPr/>
          <p:nvPr/>
        </p:nvSpPr>
        <p:spPr>
          <a:xfrm>
            <a:off x="5440680" y="4983480"/>
            <a:ext cx="158648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5" name="Text 53">
            <a:extLst>
              <a:ext uri="{FF2B5EF4-FFF2-40B4-BE49-F238E27FC236}">
                <a16:creationId xmlns:a16="http://schemas.microsoft.com/office/drawing/2014/main" id="{D6B62469-04ED-AB5F-EC37-6329DA92C426}"/>
              </a:ext>
            </a:extLst>
          </p:cNvPr>
          <p:cNvSpPr txBox="1"/>
          <p:nvPr/>
        </p:nvSpPr>
        <p:spPr>
          <a:xfrm>
            <a:off x="5440680" y="4983480"/>
            <a:ext cx="158648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guard pages</a:t>
            </a:r>
            <a:endParaRPr lang="en-US" sz="1867" dirty="0"/>
          </a:p>
        </p:txBody>
      </p:sp>
      <p:sp>
        <p:nvSpPr>
          <p:cNvPr id="56" name="Shape 54">
            <a:extLst>
              <a:ext uri="{FF2B5EF4-FFF2-40B4-BE49-F238E27FC236}">
                <a16:creationId xmlns:a16="http://schemas.microsoft.com/office/drawing/2014/main" id="{DF0047B6-D701-9791-82D0-2E1EFF896FC3}"/>
              </a:ext>
            </a:extLst>
          </p:cNvPr>
          <p:cNvSpPr/>
          <p:nvPr/>
        </p:nvSpPr>
        <p:spPr>
          <a:xfrm>
            <a:off x="9784080" y="4855464"/>
            <a:ext cx="201168" cy="201168"/>
          </a:xfrm>
          <a:prstGeom prst="ellipse">
            <a:avLst/>
          </a:prstGeom>
          <a:solidFill>
            <a:srgbClr val="3FA34D"/>
          </a:solidFill>
          <a:ln w="12700">
            <a:solidFill>
              <a:srgbClr val="3FA34D"/>
            </a:solidFill>
            <a:prstDash val="solid"/>
          </a:ln>
        </p:spPr>
        <p:txBody>
          <a:bodyPr/>
          <a:lstStyle/>
          <a:p>
            <a:endParaRPr lang="en-US"/>
          </a:p>
        </p:txBody>
      </p:sp>
      <p:sp>
        <p:nvSpPr>
          <p:cNvPr id="57" name="Shape 55">
            <a:extLst>
              <a:ext uri="{FF2B5EF4-FFF2-40B4-BE49-F238E27FC236}">
                <a16:creationId xmlns:a16="http://schemas.microsoft.com/office/drawing/2014/main" id="{207A524F-138C-F50A-67AE-AAFBB0B29854}"/>
              </a:ext>
            </a:extLst>
          </p:cNvPr>
          <p:cNvSpPr/>
          <p:nvPr/>
        </p:nvSpPr>
        <p:spPr>
          <a:xfrm>
            <a:off x="932688" y="5358384"/>
            <a:ext cx="10515600" cy="0"/>
          </a:xfrm>
          <a:prstGeom prst="line">
            <a:avLst/>
          </a:prstGeom>
          <a:noFill/>
          <a:ln w="9525">
            <a:solidFill>
              <a:srgbClr val="D9D9D9"/>
            </a:solidFill>
            <a:prstDash val="solid"/>
          </a:ln>
        </p:spPr>
        <p:txBody>
          <a:bodyPr/>
          <a:lstStyle/>
          <a:p>
            <a:endParaRPr lang="en-US"/>
          </a:p>
        </p:txBody>
      </p:sp>
      <p:sp>
        <p:nvSpPr>
          <p:cNvPr id="58" name="Text 56">
            <a:extLst>
              <a:ext uri="{FF2B5EF4-FFF2-40B4-BE49-F238E27FC236}">
                <a16:creationId xmlns:a16="http://schemas.microsoft.com/office/drawing/2014/main" id="{98872CA2-4C2E-3842-EA35-5A7A283ECC5D}"/>
              </a:ext>
            </a:extLst>
          </p:cNvPr>
          <p:cNvSpPr txBox="1"/>
          <p:nvPr/>
        </p:nvSpPr>
        <p:spPr>
          <a:xfrm>
            <a:off x="932688" y="5367528"/>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Resource</a:t>
            </a:r>
            <a:endParaRPr lang="en-US" sz="2000" dirty="0"/>
          </a:p>
        </p:txBody>
      </p:sp>
      <p:sp>
        <p:nvSpPr>
          <p:cNvPr id="59" name="Text 57">
            <a:extLst>
              <a:ext uri="{FF2B5EF4-FFF2-40B4-BE49-F238E27FC236}">
                <a16:creationId xmlns:a16="http://schemas.microsoft.com/office/drawing/2014/main" id="{B04DF0F0-A604-F13A-1081-BD7D39968359}"/>
              </a:ext>
            </a:extLst>
          </p:cNvPr>
          <p:cNvSpPr txBox="1"/>
          <p:nvPr/>
        </p:nvSpPr>
        <p:spPr>
          <a:xfrm>
            <a:off x="2720340" y="5367528"/>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Allocation</a:t>
            </a:r>
            <a:endParaRPr lang="en-US" sz="2000" dirty="0"/>
          </a:p>
        </p:txBody>
      </p:sp>
      <p:sp>
        <p:nvSpPr>
          <p:cNvPr id="60" name="Shape 58">
            <a:extLst>
              <a:ext uri="{FF2B5EF4-FFF2-40B4-BE49-F238E27FC236}">
                <a16:creationId xmlns:a16="http://schemas.microsoft.com/office/drawing/2014/main" id="{EB2DEBAF-136E-B894-9DE6-31BE30A6C02C}"/>
              </a:ext>
            </a:extLst>
          </p:cNvPr>
          <p:cNvSpPr/>
          <p:nvPr/>
        </p:nvSpPr>
        <p:spPr>
          <a:xfrm>
            <a:off x="5440680" y="5422392"/>
            <a:ext cx="419709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1" name="Text 59">
            <a:extLst>
              <a:ext uri="{FF2B5EF4-FFF2-40B4-BE49-F238E27FC236}">
                <a16:creationId xmlns:a16="http://schemas.microsoft.com/office/drawing/2014/main" id="{E4C58541-568E-F237-7C05-67EFACB95425}"/>
              </a:ext>
            </a:extLst>
          </p:cNvPr>
          <p:cNvSpPr txBox="1"/>
          <p:nvPr/>
        </p:nvSpPr>
        <p:spPr>
          <a:xfrm>
            <a:off x="5440680" y="5422392"/>
            <a:ext cx="419709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HeapEnableTerminationOnCorruption</a:t>
            </a:r>
            <a:endParaRPr lang="en-US" sz="1867" dirty="0"/>
          </a:p>
        </p:txBody>
      </p:sp>
      <p:sp>
        <p:nvSpPr>
          <p:cNvPr id="62" name="Shape 60">
            <a:extLst>
              <a:ext uri="{FF2B5EF4-FFF2-40B4-BE49-F238E27FC236}">
                <a16:creationId xmlns:a16="http://schemas.microsoft.com/office/drawing/2014/main" id="{26A0C34E-3D99-DEF1-6FC7-2AFFA9FC48FE}"/>
              </a:ext>
            </a:extLst>
          </p:cNvPr>
          <p:cNvSpPr/>
          <p:nvPr/>
        </p:nvSpPr>
        <p:spPr>
          <a:xfrm>
            <a:off x="9784080" y="5486400"/>
            <a:ext cx="201168" cy="201168"/>
          </a:xfrm>
          <a:prstGeom prst="ellipse">
            <a:avLst/>
          </a:prstGeom>
          <a:solidFill>
            <a:srgbClr val="3FA34D"/>
          </a:solidFill>
          <a:ln w="12700">
            <a:solidFill>
              <a:srgbClr val="3FA34D"/>
            </a:solidFill>
            <a:prstDash val="solid"/>
          </a:ln>
        </p:spPr>
        <p:txBody>
          <a:bodyPr/>
          <a:lstStyle/>
          <a:p>
            <a:endParaRPr lang="en-US"/>
          </a:p>
        </p:txBody>
      </p:sp>
      <p:sp>
        <p:nvSpPr>
          <p:cNvPr id="63" name="Shape 61">
            <a:extLst>
              <a:ext uri="{FF2B5EF4-FFF2-40B4-BE49-F238E27FC236}">
                <a16:creationId xmlns:a16="http://schemas.microsoft.com/office/drawing/2014/main" id="{1BF1682A-8B4C-8BF5-B75E-2B58AE1B1FF0}"/>
              </a:ext>
            </a:extLst>
          </p:cNvPr>
          <p:cNvSpPr/>
          <p:nvPr/>
        </p:nvSpPr>
        <p:spPr>
          <a:xfrm>
            <a:off x="932688" y="5797296"/>
            <a:ext cx="10515600" cy="0"/>
          </a:xfrm>
          <a:prstGeom prst="line">
            <a:avLst/>
          </a:prstGeom>
          <a:noFill/>
          <a:ln w="9525">
            <a:solidFill>
              <a:srgbClr val="D9D9D9"/>
            </a:solidFill>
            <a:prstDash val="solid"/>
          </a:ln>
        </p:spPr>
        <p:txBody>
          <a:bodyPr/>
          <a:lstStyle/>
          <a:p>
            <a:endParaRPr lang="en-US"/>
          </a:p>
        </p:txBody>
      </p:sp>
      <p:sp>
        <p:nvSpPr>
          <p:cNvPr id="64" name="Text 62">
            <a:extLst>
              <a:ext uri="{FF2B5EF4-FFF2-40B4-BE49-F238E27FC236}">
                <a16:creationId xmlns:a16="http://schemas.microsoft.com/office/drawing/2014/main" id="{ECACF3C1-5B99-009A-922C-97D0A427FCD4}"/>
              </a:ext>
            </a:extLst>
          </p:cNvPr>
          <p:cNvSpPr txBox="1"/>
          <p:nvPr/>
        </p:nvSpPr>
        <p:spPr>
          <a:xfrm>
            <a:off x="932688" y="5806440"/>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Interface</a:t>
            </a:r>
            <a:endParaRPr lang="en-US" sz="2000" dirty="0"/>
          </a:p>
        </p:txBody>
      </p:sp>
      <p:sp>
        <p:nvSpPr>
          <p:cNvPr id="65" name="Text 63">
            <a:extLst>
              <a:ext uri="{FF2B5EF4-FFF2-40B4-BE49-F238E27FC236}">
                <a16:creationId xmlns:a16="http://schemas.microsoft.com/office/drawing/2014/main" id="{17BBD481-8BEF-5427-DF3D-4176C5CDA6CE}"/>
              </a:ext>
            </a:extLst>
          </p:cNvPr>
          <p:cNvSpPr txBox="1"/>
          <p:nvPr/>
        </p:nvSpPr>
        <p:spPr>
          <a:xfrm>
            <a:off x="2720340" y="5806440"/>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Strings</a:t>
            </a:r>
            <a:endParaRPr lang="en-US" sz="2000" dirty="0"/>
          </a:p>
        </p:txBody>
      </p:sp>
      <p:sp>
        <p:nvSpPr>
          <p:cNvPr id="66" name="Shape 64">
            <a:extLst>
              <a:ext uri="{FF2B5EF4-FFF2-40B4-BE49-F238E27FC236}">
                <a16:creationId xmlns:a16="http://schemas.microsoft.com/office/drawing/2014/main" id="{396C78A8-3EF4-C5F0-E820-991B61149B34}"/>
              </a:ext>
            </a:extLst>
          </p:cNvPr>
          <p:cNvSpPr/>
          <p:nvPr/>
        </p:nvSpPr>
        <p:spPr>
          <a:xfrm>
            <a:off x="5440680" y="5861304"/>
            <a:ext cx="251917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7" name="Text 65">
            <a:extLst>
              <a:ext uri="{FF2B5EF4-FFF2-40B4-BE49-F238E27FC236}">
                <a16:creationId xmlns:a16="http://schemas.microsoft.com/office/drawing/2014/main" id="{65C70EE2-E7E6-5B04-68C9-89B2CAEC0D5E}"/>
              </a:ext>
            </a:extLst>
          </p:cNvPr>
          <p:cNvSpPr txBox="1"/>
          <p:nvPr/>
        </p:nvSpPr>
        <p:spPr>
          <a:xfrm>
            <a:off x="5440680" y="5861304"/>
            <a:ext cx="251917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_FORTIFY_SOURCE</a:t>
            </a:r>
            <a:endParaRPr lang="en-US" sz="1867" dirty="0"/>
          </a:p>
        </p:txBody>
      </p:sp>
      <p:sp>
        <p:nvSpPr>
          <p:cNvPr id="68" name="Shape 66">
            <a:extLst>
              <a:ext uri="{FF2B5EF4-FFF2-40B4-BE49-F238E27FC236}">
                <a16:creationId xmlns:a16="http://schemas.microsoft.com/office/drawing/2014/main" id="{563FB549-7678-BF7D-5F29-D2BFBEDD3CDD}"/>
              </a:ext>
            </a:extLst>
          </p:cNvPr>
          <p:cNvSpPr/>
          <p:nvPr/>
        </p:nvSpPr>
        <p:spPr>
          <a:xfrm>
            <a:off x="8051292" y="5861304"/>
            <a:ext cx="13807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9" name="Text 67">
            <a:extLst>
              <a:ext uri="{FF2B5EF4-FFF2-40B4-BE49-F238E27FC236}">
                <a16:creationId xmlns:a16="http://schemas.microsoft.com/office/drawing/2014/main" id="{32801B50-8F3C-87FD-CB9F-F3B724659BB0}"/>
              </a:ext>
            </a:extLst>
          </p:cNvPr>
          <p:cNvSpPr txBox="1"/>
          <p:nvPr/>
        </p:nvSpPr>
        <p:spPr>
          <a:xfrm>
            <a:off x="8051292" y="5861304"/>
            <a:ext cx="13807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std::format</a:t>
            </a:r>
            <a:endParaRPr lang="en-US" sz="1867" dirty="0"/>
          </a:p>
        </p:txBody>
      </p:sp>
      <p:sp>
        <p:nvSpPr>
          <p:cNvPr id="70" name="Shape 68">
            <a:extLst>
              <a:ext uri="{FF2B5EF4-FFF2-40B4-BE49-F238E27FC236}">
                <a16:creationId xmlns:a16="http://schemas.microsoft.com/office/drawing/2014/main" id="{1AD0C2A7-25F7-6D34-66A8-6222DD0B03AB}"/>
              </a:ext>
            </a:extLst>
          </p:cNvPr>
          <p:cNvSpPr/>
          <p:nvPr/>
        </p:nvSpPr>
        <p:spPr>
          <a:xfrm>
            <a:off x="9784080" y="5925312"/>
            <a:ext cx="201168" cy="201168"/>
          </a:xfrm>
          <a:prstGeom prst="ellipse">
            <a:avLst/>
          </a:prstGeom>
          <a:solidFill>
            <a:srgbClr val="3FA34D"/>
          </a:solidFill>
          <a:ln w="12700">
            <a:solidFill>
              <a:srgbClr val="3FA34D"/>
            </a:solidFill>
            <a:prstDash val="solid"/>
          </a:ln>
        </p:spPr>
        <p:txBody>
          <a:bodyPr/>
          <a:lstStyle/>
          <a:p>
            <a:endParaRPr lang="en-US"/>
          </a:p>
        </p:txBody>
      </p:sp>
      <p:sp>
        <p:nvSpPr>
          <p:cNvPr id="71" name="Shape 69">
            <a:extLst>
              <a:ext uri="{FF2B5EF4-FFF2-40B4-BE49-F238E27FC236}">
                <a16:creationId xmlns:a16="http://schemas.microsoft.com/office/drawing/2014/main" id="{D4D202F3-758C-CC40-1752-D3FD6C1352B3}"/>
              </a:ext>
            </a:extLst>
          </p:cNvPr>
          <p:cNvSpPr/>
          <p:nvPr/>
        </p:nvSpPr>
        <p:spPr>
          <a:xfrm>
            <a:off x="10082784" y="5925312"/>
            <a:ext cx="201168" cy="201168"/>
          </a:xfrm>
          <a:prstGeom prst="ellipse">
            <a:avLst/>
          </a:prstGeom>
          <a:solidFill>
            <a:srgbClr val="C93B34"/>
          </a:solidFill>
          <a:ln w="12700">
            <a:solidFill>
              <a:srgbClr val="C93B34"/>
            </a:solidFill>
            <a:prstDash val="solid"/>
          </a:ln>
        </p:spPr>
        <p:txBody>
          <a:bodyPr/>
          <a:lstStyle/>
          <a:p>
            <a:endParaRPr lang="en-US"/>
          </a:p>
        </p:txBody>
      </p:sp>
      <p:sp>
        <p:nvSpPr>
          <p:cNvPr id="72" name="Text 70">
            <a:extLst>
              <a:ext uri="{FF2B5EF4-FFF2-40B4-BE49-F238E27FC236}">
                <a16:creationId xmlns:a16="http://schemas.microsoft.com/office/drawing/2014/main" id="{A9A41BA2-A82D-D47A-73BC-B68E5683EC74}"/>
              </a:ext>
            </a:extLst>
          </p:cNvPr>
          <p:cNvSpPr txBox="1"/>
          <p:nvPr/>
        </p:nvSpPr>
        <p:spPr>
          <a:xfrm>
            <a:off x="10320528" y="580644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Windows</a:t>
            </a:r>
            <a:endParaRPr lang="en-US" sz="2000" dirty="0"/>
          </a:p>
        </p:txBody>
      </p:sp>
      <p:sp>
        <p:nvSpPr>
          <p:cNvPr id="73" name="Shape 71">
            <a:extLst>
              <a:ext uri="{FF2B5EF4-FFF2-40B4-BE49-F238E27FC236}">
                <a16:creationId xmlns:a16="http://schemas.microsoft.com/office/drawing/2014/main" id="{57225647-A3DB-0C68-9876-6458D154C2AE}"/>
              </a:ext>
            </a:extLst>
          </p:cNvPr>
          <p:cNvSpPr/>
          <p:nvPr/>
        </p:nvSpPr>
        <p:spPr>
          <a:xfrm>
            <a:off x="932688" y="6236208"/>
            <a:ext cx="10515600" cy="0"/>
          </a:xfrm>
          <a:prstGeom prst="line">
            <a:avLst/>
          </a:prstGeom>
          <a:noFill/>
          <a:ln w="9525">
            <a:solidFill>
              <a:srgbClr val="D9D9D9"/>
            </a:solidFill>
            <a:prstDash val="solid"/>
          </a:ln>
        </p:spPr>
        <p:txBody>
          <a:bodyPr/>
          <a:lstStyle/>
          <a:p>
            <a:endParaRPr lang="en-US"/>
          </a:p>
        </p:txBody>
      </p:sp>
      <p:sp>
        <p:nvSpPr>
          <p:cNvPr id="74" name="Text 72">
            <a:extLst>
              <a:ext uri="{FF2B5EF4-FFF2-40B4-BE49-F238E27FC236}">
                <a16:creationId xmlns:a16="http://schemas.microsoft.com/office/drawing/2014/main" id="{4690F0A9-CCF6-9085-A96C-30A02B0A84D3}"/>
              </a:ext>
            </a:extLst>
          </p:cNvPr>
          <p:cNvSpPr txBox="1"/>
          <p:nvPr/>
        </p:nvSpPr>
        <p:spPr>
          <a:xfrm>
            <a:off x="932688" y="6245352"/>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Toolchain</a:t>
            </a:r>
            <a:endParaRPr lang="en-US" sz="2000" dirty="0"/>
          </a:p>
        </p:txBody>
      </p:sp>
      <p:sp>
        <p:nvSpPr>
          <p:cNvPr id="75" name="Text 73">
            <a:extLst>
              <a:ext uri="{FF2B5EF4-FFF2-40B4-BE49-F238E27FC236}">
                <a16:creationId xmlns:a16="http://schemas.microsoft.com/office/drawing/2014/main" id="{00E6D50F-EFCB-C566-1774-4C02719EAEBA}"/>
              </a:ext>
            </a:extLst>
          </p:cNvPr>
          <p:cNvSpPr txBox="1"/>
          <p:nvPr/>
        </p:nvSpPr>
        <p:spPr>
          <a:xfrm>
            <a:off x="2720340" y="6245352"/>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Flag sets</a:t>
            </a:r>
            <a:endParaRPr lang="en-US" sz="2000" dirty="0"/>
          </a:p>
        </p:txBody>
      </p:sp>
      <p:sp>
        <p:nvSpPr>
          <p:cNvPr id="76" name="Shape 74">
            <a:extLst>
              <a:ext uri="{FF2B5EF4-FFF2-40B4-BE49-F238E27FC236}">
                <a16:creationId xmlns:a16="http://schemas.microsoft.com/office/drawing/2014/main" id="{B35AAF7C-5042-D886-C3D1-12150693394A}"/>
              </a:ext>
            </a:extLst>
          </p:cNvPr>
          <p:cNvSpPr/>
          <p:nvPr/>
        </p:nvSpPr>
        <p:spPr>
          <a:xfrm>
            <a:off x="5440680" y="6300216"/>
            <a:ext cx="13898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7" name="Text 75">
            <a:extLst>
              <a:ext uri="{FF2B5EF4-FFF2-40B4-BE49-F238E27FC236}">
                <a16:creationId xmlns:a16="http://schemas.microsoft.com/office/drawing/2014/main" id="{CDE5D972-D287-8970-7CB2-7A9FAF697099}"/>
              </a:ext>
            </a:extLst>
          </p:cNvPr>
          <p:cNvSpPr txBox="1"/>
          <p:nvPr/>
        </p:nvSpPr>
        <p:spPr>
          <a:xfrm>
            <a:off x="5440680" y="6300216"/>
            <a:ext cx="13898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-fhardened</a:t>
            </a:r>
            <a:endParaRPr lang="en-US" sz="1867" dirty="0"/>
          </a:p>
        </p:txBody>
      </p:sp>
      <p:sp>
        <p:nvSpPr>
          <p:cNvPr id="78" name="Shape 76">
            <a:extLst>
              <a:ext uri="{FF2B5EF4-FFF2-40B4-BE49-F238E27FC236}">
                <a16:creationId xmlns:a16="http://schemas.microsoft.com/office/drawing/2014/main" id="{EC8C58A7-EFF4-5151-274D-3E43EAED5DE8}"/>
              </a:ext>
            </a:extLst>
          </p:cNvPr>
          <p:cNvSpPr/>
          <p:nvPr/>
        </p:nvSpPr>
        <p:spPr>
          <a:xfrm>
            <a:off x="6922008" y="6300216"/>
            <a:ext cx="19248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9" name="Text 77">
            <a:extLst>
              <a:ext uri="{FF2B5EF4-FFF2-40B4-BE49-F238E27FC236}">
                <a16:creationId xmlns:a16="http://schemas.microsoft.com/office/drawing/2014/main" id="{5A44260A-70E4-7EBD-B29E-8B2F6E9D33A9}"/>
              </a:ext>
            </a:extLst>
          </p:cNvPr>
          <p:cNvSpPr txBox="1"/>
          <p:nvPr/>
        </p:nvSpPr>
        <p:spPr>
          <a:xfrm>
            <a:off x="6922008" y="6300216"/>
            <a:ext cx="19248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OpenSSF guide</a:t>
            </a:r>
            <a:endParaRPr lang="en-US" sz="1867" dirty="0"/>
          </a:p>
        </p:txBody>
      </p:sp>
      <p:sp>
        <p:nvSpPr>
          <p:cNvPr id="80" name="Shape 78">
            <a:extLst>
              <a:ext uri="{FF2B5EF4-FFF2-40B4-BE49-F238E27FC236}">
                <a16:creationId xmlns:a16="http://schemas.microsoft.com/office/drawing/2014/main" id="{4D197B08-A66A-C6C4-0C16-4992896CE430}"/>
              </a:ext>
            </a:extLst>
          </p:cNvPr>
          <p:cNvSpPr/>
          <p:nvPr/>
        </p:nvSpPr>
        <p:spPr>
          <a:xfrm>
            <a:off x="9784080" y="6364224"/>
            <a:ext cx="201168" cy="201168"/>
          </a:xfrm>
          <a:prstGeom prst="ellipse">
            <a:avLst/>
          </a:prstGeom>
          <a:solidFill>
            <a:srgbClr val="D9A62B"/>
          </a:solidFill>
          <a:ln w="12700">
            <a:solidFill>
              <a:srgbClr val="D9A62B"/>
            </a:solidFill>
            <a:prstDash val="solid"/>
          </a:ln>
        </p:spPr>
        <p:txBody>
          <a:bodyPr/>
          <a:lstStyle/>
          <a:p>
            <a:endParaRPr lang="en-US"/>
          </a:p>
        </p:txBody>
      </p:sp>
      <p:sp>
        <p:nvSpPr>
          <p:cNvPr id="81" name="Shape 79">
            <a:extLst>
              <a:ext uri="{FF2B5EF4-FFF2-40B4-BE49-F238E27FC236}">
                <a16:creationId xmlns:a16="http://schemas.microsoft.com/office/drawing/2014/main" id="{5F2E4EDB-23D7-1A86-B804-C54F203AF947}"/>
              </a:ext>
            </a:extLst>
          </p:cNvPr>
          <p:cNvSpPr/>
          <p:nvPr/>
        </p:nvSpPr>
        <p:spPr>
          <a:xfrm>
            <a:off x="10082784" y="6364224"/>
            <a:ext cx="201168" cy="201168"/>
          </a:xfrm>
          <a:prstGeom prst="ellipse">
            <a:avLst/>
          </a:prstGeom>
          <a:solidFill>
            <a:srgbClr val="C93B34"/>
          </a:solidFill>
          <a:ln w="12700">
            <a:solidFill>
              <a:srgbClr val="C93B34"/>
            </a:solidFill>
            <a:prstDash val="solid"/>
          </a:ln>
        </p:spPr>
        <p:txBody>
          <a:bodyPr/>
          <a:lstStyle/>
          <a:p>
            <a:endParaRPr lang="en-US"/>
          </a:p>
        </p:txBody>
      </p:sp>
      <p:sp>
        <p:nvSpPr>
          <p:cNvPr id="82" name="Text 80">
            <a:extLst>
              <a:ext uri="{FF2B5EF4-FFF2-40B4-BE49-F238E27FC236}">
                <a16:creationId xmlns:a16="http://schemas.microsoft.com/office/drawing/2014/main" id="{5E59F3B7-47AE-461E-80A3-A8CAE3097136}"/>
              </a:ext>
            </a:extLst>
          </p:cNvPr>
          <p:cNvSpPr txBox="1"/>
          <p:nvPr/>
        </p:nvSpPr>
        <p:spPr>
          <a:xfrm>
            <a:off x="10320528" y="624535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84" name="Title 83">
            <a:extLst>
              <a:ext uri="{FF2B5EF4-FFF2-40B4-BE49-F238E27FC236}">
                <a16:creationId xmlns:a16="http://schemas.microsoft.com/office/drawing/2014/main" id="{4BF0C251-0CE2-C708-A7B6-64AE3CC4DFB8}"/>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Hardening</a:t>
            </a:r>
            <a:endParaRPr lang="en-US" dirty="0"/>
          </a:p>
        </p:txBody>
      </p:sp>
      <p:sp>
        <p:nvSpPr>
          <p:cNvPr id="83" name="TextBox 82">
            <a:extLst>
              <a:ext uri="{FF2B5EF4-FFF2-40B4-BE49-F238E27FC236}">
                <a16:creationId xmlns:a16="http://schemas.microsoft.com/office/drawing/2014/main" id="{E4D3CF94-21EB-A7AE-D924-18263D94D1C4}"/>
              </a:ext>
            </a:extLst>
          </p:cNvPr>
          <p:cNvSpPr txBox="1"/>
          <p:nvPr/>
        </p:nvSpPr>
        <p:spPr>
          <a:xfrm>
            <a:off x="388645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3/3</a:t>
            </a:r>
            <a:endParaRPr lang="en-US" sz="2800" dirty="0">
              <a:solidFill>
                <a:schemeClr val="bg1">
                  <a:lumMod val="75000"/>
                </a:schemeClr>
              </a:solidFill>
            </a:endParaRPr>
          </a:p>
        </p:txBody>
      </p:sp>
    </p:spTree>
    <p:extLst>
      <p:ext uri="{BB962C8B-B14F-4D97-AF65-F5344CB8AC3E}">
        <p14:creationId xmlns:p14="http://schemas.microsoft.com/office/powerpoint/2010/main" val="7081078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32688"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Area</a:t>
            </a:r>
            <a:endParaRPr lang="en-US" sz="2400" dirty="0"/>
          </a:p>
        </p:txBody>
      </p:sp>
      <p:sp>
        <p:nvSpPr>
          <p:cNvPr id="4" name="Text 2"/>
          <p:cNvSpPr txBox="1"/>
          <p:nvPr/>
        </p:nvSpPr>
        <p:spPr>
          <a:xfrm>
            <a:off x="2720340"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Technique</a:t>
            </a:r>
            <a:endParaRPr lang="en-US" sz="2400" dirty="0"/>
          </a:p>
        </p:txBody>
      </p:sp>
      <p:sp>
        <p:nvSpPr>
          <p:cNvPr id="5" name="Text 3"/>
          <p:cNvSpPr txBox="1"/>
          <p:nvPr/>
        </p:nvSpPr>
        <p:spPr>
          <a:xfrm>
            <a:off x="5440680"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How</a:t>
            </a:r>
            <a:endParaRPr lang="en-US" sz="2400" dirty="0"/>
          </a:p>
        </p:txBody>
      </p:sp>
      <p:sp>
        <p:nvSpPr>
          <p:cNvPr id="6" name="Text 4"/>
          <p:cNvSpPr txBox="1"/>
          <p:nvPr/>
        </p:nvSpPr>
        <p:spPr>
          <a:xfrm>
            <a:off x="9784080" y="1554480"/>
            <a:ext cx="2194560" cy="365760"/>
          </a:xfrm>
          <a:prstGeom prst="rect">
            <a:avLst/>
          </a:prstGeom>
          <a:noFill/>
          <a:ln/>
        </p:spPr>
        <p:txBody>
          <a:bodyPr wrap="square" lIns="0" tIns="0" rIns="0" bIns="0" rtlCol="0" anchor="ctr"/>
          <a:lstStyle/>
          <a:p>
            <a:pPr marL="0" indent="0">
              <a:buNone/>
            </a:pPr>
            <a:r>
              <a:rPr lang="en-US" sz="2400" b="1" dirty="0">
                <a:solidFill>
                  <a:srgbClr val="1A1A1A"/>
                </a:solidFill>
                <a:ea typeface="Aptos" pitchFamily="34" charset="-122"/>
                <a:cs typeface="Aptos" pitchFamily="34" charset="-120"/>
              </a:rPr>
              <a:t>Availability</a:t>
            </a:r>
            <a:endParaRPr lang="en-US" sz="2400" dirty="0"/>
          </a:p>
        </p:txBody>
      </p:sp>
      <p:sp>
        <p:nvSpPr>
          <p:cNvPr id="7" name="Shape 5"/>
          <p:cNvSpPr/>
          <p:nvPr/>
        </p:nvSpPr>
        <p:spPr>
          <a:xfrm>
            <a:off x="932688" y="1929384"/>
            <a:ext cx="10515600" cy="0"/>
          </a:xfrm>
          <a:prstGeom prst="line">
            <a:avLst/>
          </a:prstGeom>
          <a:noFill/>
          <a:ln w="12700">
            <a:solidFill>
              <a:srgbClr val="B8B8B8"/>
            </a:solidFill>
            <a:prstDash val="solid"/>
          </a:ln>
        </p:spPr>
        <p:txBody>
          <a:bodyPr/>
          <a:lstStyle/>
          <a:p>
            <a:endParaRPr lang="en-US" sz="2000"/>
          </a:p>
        </p:txBody>
      </p:sp>
      <p:sp>
        <p:nvSpPr>
          <p:cNvPr id="8" name="Text 6"/>
          <p:cNvSpPr txBox="1"/>
          <p:nvPr/>
        </p:nvSpPr>
        <p:spPr>
          <a:xfrm>
            <a:off x="932688" y="2020824"/>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9" name="Text 7"/>
          <p:cNvSpPr txBox="1"/>
          <p:nvPr/>
        </p:nvSpPr>
        <p:spPr>
          <a:xfrm>
            <a:off x="2720340" y="2020824"/>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Backward edge</a:t>
            </a:r>
            <a:endParaRPr lang="en-US" sz="2000" dirty="0"/>
          </a:p>
        </p:txBody>
      </p:sp>
      <p:sp>
        <p:nvSpPr>
          <p:cNvPr id="10" name="Shape 8"/>
          <p:cNvSpPr/>
          <p:nvPr/>
        </p:nvSpPr>
        <p:spPr>
          <a:xfrm>
            <a:off x="5440680" y="2075688"/>
            <a:ext cx="133045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1" name="Text 9"/>
          <p:cNvSpPr txBox="1"/>
          <p:nvPr/>
        </p:nvSpPr>
        <p:spPr>
          <a:xfrm>
            <a:off x="5440680" y="2075688"/>
            <a:ext cx="133045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Intel CET</a:t>
            </a:r>
            <a:endParaRPr lang="en-US" sz="1867" dirty="0"/>
          </a:p>
        </p:txBody>
      </p:sp>
      <p:sp>
        <p:nvSpPr>
          <p:cNvPr id="12" name="Shape 10"/>
          <p:cNvSpPr/>
          <p:nvPr/>
        </p:nvSpPr>
        <p:spPr>
          <a:xfrm>
            <a:off x="6862572" y="2075688"/>
            <a:ext cx="117957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3" name="Text 11"/>
          <p:cNvSpPr txBox="1"/>
          <p:nvPr/>
        </p:nvSpPr>
        <p:spPr>
          <a:xfrm>
            <a:off x="6862572" y="2075688"/>
            <a:ext cx="117957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Arm GCS</a:t>
            </a:r>
            <a:endParaRPr lang="en-US" sz="1867" dirty="0"/>
          </a:p>
        </p:txBody>
      </p:sp>
      <p:sp>
        <p:nvSpPr>
          <p:cNvPr id="14" name="Shape 12"/>
          <p:cNvSpPr/>
          <p:nvPr/>
        </p:nvSpPr>
        <p:spPr>
          <a:xfrm>
            <a:off x="5440680" y="2459736"/>
            <a:ext cx="215798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15" name="Text 13"/>
          <p:cNvSpPr txBox="1"/>
          <p:nvPr/>
        </p:nvSpPr>
        <p:spPr>
          <a:xfrm>
            <a:off x="5440680" y="2459736"/>
            <a:ext cx="215798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ShadowCallStack</a:t>
            </a:r>
            <a:endParaRPr lang="en-US" sz="1867" dirty="0"/>
          </a:p>
        </p:txBody>
      </p:sp>
      <p:sp>
        <p:nvSpPr>
          <p:cNvPr id="16" name="Shape 14"/>
          <p:cNvSpPr/>
          <p:nvPr/>
        </p:nvSpPr>
        <p:spPr>
          <a:xfrm>
            <a:off x="9784080" y="2331720"/>
            <a:ext cx="201168" cy="201168"/>
          </a:xfrm>
          <a:prstGeom prst="ellipse">
            <a:avLst/>
          </a:prstGeom>
          <a:solidFill>
            <a:srgbClr val="3FA34D"/>
          </a:solidFill>
          <a:ln w="12700">
            <a:solidFill>
              <a:srgbClr val="3FA34D"/>
            </a:solidFill>
            <a:prstDash val="solid"/>
          </a:ln>
        </p:spPr>
        <p:txBody>
          <a:bodyPr/>
          <a:lstStyle/>
          <a:p>
            <a:endParaRPr lang="en-US"/>
          </a:p>
        </p:txBody>
      </p:sp>
      <p:sp>
        <p:nvSpPr>
          <p:cNvPr id="17" name="Shape 15"/>
          <p:cNvSpPr/>
          <p:nvPr/>
        </p:nvSpPr>
        <p:spPr>
          <a:xfrm>
            <a:off x="10082784" y="2331720"/>
            <a:ext cx="201168" cy="201168"/>
          </a:xfrm>
          <a:prstGeom prst="ellipse">
            <a:avLst/>
          </a:prstGeom>
          <a:solidFill>
            <a:srgbClr val="D9A62B"/>
          </a:solidFill>
          <a:ln w="12700">
            <a:solidFill>
              <a:srgbClr val="D9A62B"/>
            </a:solidFill>
            <a:prstDash val="solid"/>
          </a:ln>
        </p:spPr>
        <p:txBody>
          <a:bodyPr/>
          <a:lstStyle/>
          <a:p>
            <a:endParaRPr lang="en-US"/>
          </a:p>
        </p:txBody>
      </p:sp>
      <p:sp>
        <p:nvSpPr>
          <p:cNvPr id="18" name="Text 16"/>
          <p:cNvSpPr txBox="1"/>
          <p:nvPr/>
        </p:nvSpPr>
        <p:spPr>
          <a:xfrm>
            <a:off x="10320528" y="2212848"/>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x86</a:t>
            </a:r>
            <a:endParaRPr lang="en-US" sz="2000" dirty="0"/>
          </a:p>
        </p:txBody>
      </p:sp>
      <p:sp>
        <p:nvSpPr>
          <p:cNvPr id="19" name="Shape 17"/>
          <p:cNvSpPr/>
          <p:nvPr/>
        </p:nvSpPr>
        <p:spPr>
          <a:xfrm>
            <a:off x="932688" y="2834640"/>
            <a:ext cx="10515600" cy="0"/>
          </a:xfrm>
          <a:prstGeom prst="line">
            <a:avLst/>
          </a:prstGeom>
          <a:noFill/>
          <a:ln w="9525">
            <a:solidFill>
              <a:srgbClr val="D9D9D9"/>
            </a:solidFill>
            <a:prstDash val="solid"/>
          </a:ln>
        </p:spPr>
        <p:txBody>
          <a:bodyPr/>
          <a:lstStyle/>
          <a:p>
            <a:endParaRPr lang="en-US"/>
          </a:p>
        </p:txBody>
      </p:sp>
      <p:sp>
        <p:nvSpPr>
          <p:cNvPr id="20" name="Text 18"/>
          <p:cNvSpPr txBox="1"/>
          <p:nvPr/>
        </p:nvSpPr>
        <p:spPr>
          <a:xfrm>
            <a:off x="932688" y="2843784"/>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21" name="Text 19"/>
          <p:cNvSpPr txBox="1"/>
          <p:nvPr/>
        </p:nvSpPr>
        <p:spPr>
          <a:xfrm>
            <a:off x="2720340" y="2843784"/>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Exceptions</a:t>
            </a:r>
            <a:endParaRPr lang="en-US" sz="2000" dirty="0"/>
          </a:p>
        </p:txBody>
      </p:sp>
      <p:sp>
        <p:nvSpPr>
          <p:cNvPr id="22" name="Shape 20"/>
          <p:cNvSpPr/>
          <p:nvPr/>
        </p:nvSpPr>
        <p:spPr>
          <a:xfrm>
            <a:off x="5440680" y="2898648"/>
            <a:ext cx="17236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3" name="Text 21"/>
          <p:cNvSpPr txBox="1"/>
          <p:nvPr/>
        </p:nvSpPr>
        <p:spPr>
          <a:xfrm>
            <a:off x="5440680" y="2898648"/>
            <a:ext cx="17236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/guard:ehcont</a:t>
            </a:r>
            <a:endParaRPr lang="en-US" sz="1867" dirty="0"/>
          </a:p>
        </p:txBody>
      </p:sp>
      <p:sp>
        <p:nvSpPr>
          <p:cNvPr id="24" name="Shape 22"/>
          <p:cNvSpPr/>
          <p:nvPr/>
        </p:nvSpPr>
        <p:spPr>
          <a:xfrm>
            <a:off x="7255764" y="2898648"/>
            <a:ext cx="13807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25" name="Text 23"/>
          <p:cNvSpPr txBox="1"/>
          <p:nvPr/>
        </p:nvSpPr>
        <p:spPr>
          <a:xfrm>
            <a:off x="7255764" y="2898648"/>
            <a:ext cx="13807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/SAFESEH</a:t>
            </a:r>
            <a:endParaRPr lang="en-US" sz="1867" dirty="0"/>
          </a:p>
        </p:txBody>
      </p:sp>
      <p:sp>
        <p:nvSpPr>
          <p:cNvPr id="26" name="Shape 24"/>
          <p:cNvSpPr/>
          <p:nvPr/>
        </p:nvSpPr>
        <p:spPr>
          <a:xfrm>
            <a:off x="9784080" y="2962656"/>
            <a:ext cx="201168" cy="201168"/>
          </a:xfrm>
          <a:prstGeom prst="ellipse">
            <a:avLst/>
          </a:prstGeom>
          <a:solidFill>
            <a:srgbClr val="D9A62B"/>
          </a:solidFill>
          <a:ln w="12700">
            <a:solidFill>
              <a:srgbClr val="D9A62B"/>
            </a:solidFill>
            <a:prstDash val="solid"/>
          </a:ln>
        </p:spPr>
        <p:txBody>
          <a:bodyPr/>
          <a:lstStyle/>
          <a:p>
            <a:endParaRPr lang="en-US"/>
          </a:p>
        </p:txBody>
      </p:sp>
      <p:sp>
        <p:nvSpPr>
          <p:cNvPr id="27" name="Shape 25"/>
          <p:cNvSpPr/>
          <p:nvPr/>
        </p:nvSpPr>
        <p:spPr>
          <a:xfrm>
            <a:off x="932688" y="3273552"/>
            <a:ext cx="10515600" cy="0"/>
          </a:xfrm>
          <a:prstGeom prst="line">
            <a:avLst/>
          </a:prstGeom>
          <a:noFill/>
          <a:ln w="9525">
            <a:solidFill>
              <a:srgbClr val="D9D9D9"/>
            </a:solidFill>
            <a:prstDash val="solid"/>
          </a:ln>
        </p:spPr>
        <p:txBody>
          <a:bodyPr/>
          <a:lstStyle/>
          <a:p>
            <a:endParaRPr lang="en-US"/>
          </a:p>
        </p:txBody>
      </p:sp>
      <p:sp>
        <p:nvSpPr>
          <p:cNvPr id="28" name="Text 26"/>
          <p:cNvSpPr txBox="1"/>
          <p:nvPr/>
        </p:nvSpPr>
        <p:spPr>
          <a:xfrm>
            <a:off x="932688" y="3282696"/>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Control flow</a:t>
            </a:r>
            <a:endParaRPr lang="en-US" sz="2000" dirty="0"/>
          </a:p>
        </p:txBody>
      </p:sp>
      <p:sp>
        <p:nvSpPr>
          <p:cNvPr id="29" name="Text 27"/>
          <p:cNvSpPr txBox="1"/>
          <p:nvPr/>
        </p:nvSpPr>
        <p:spPr>
          <a:xfrm>
            <a:off x="2720340" y="3282696"/>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Pointer auth, BTI</a:t>
            </a:r>
            <a:endParaRPr lang="en-US" sz="2000" dirty="0"/>
          </a:p>
        </p:txBody>
      </p:sp>
      <p:sp>
        <p:nvSpPr>
          <p:cNvPr id="30" name="Shape 28"/>
          <p:cNvSpPr/>
          <p:nvPr/>
        </p:nvSpPr>
        <p:spPr>
          <a:xfrm>
            <a:off x="5440680" y="3337560"/>
            <a:ext cx="337870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1" name="Text 29"/>
          <p:cNvSpPr txBox="1"/>
          <p:nvPr/>
        </p:nvSpPr>
        <p:spPr>
          <a:xfrm>
            <a:off x="5440680" y="3337560"/>
            <a:ext cx="337870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-mbranch-protection=standard</a:t>
            </a:r>
            <a:endParaRPr lang="en-US" sz="1867" dirty="0"/>
          </a:p>
        </p:txBody>
      </p:sp>
      <p:sp>
        <p:nvSpPr>
          <p:cNvPr id="32" name="Shape 30"/>
          <p:cNvSpPr/>
          <p:nvPr/>
        </p:nvSpPr>
        <p:spPr>
          <a:xfrm>
            <a:off x="9784080" y="3401568"/>
            <a:ext cx="201168" cy="201168"/>
          </a:xfrm>
          <a:prstGeom prst="ellipse">
            <a:avLst/>
          </a:prstGeom>
          <a:solidFill>
            <a:srgbClr val="3FA34D"/>
          </a:solidFill>
          <a:ln w="12700">
            <a:solidFill>
              <a:srgbClr val="3FA34D"/>
            </a:solidFill>
            <a:prstDash val="solid"/>
          </a:ln>
        </p:spPr>
        <p:txBody>
          <a:bodyPr/>
          <a:lstStyle/>
          <a:p>
            <a:endParaRPr lang="en-US"/>
          </a:p>
        </p:txBody>
      </p:sp>
      <p:sp>
        <p:nvSpPr>
          <p:cNvPr id="33" name="Shape 31"/>
          <p:cNvSpPr/>
          <p:nvPr/>
        </p:nvSpPr>
        <p:spPr>
          <a:xfrm>
            <a:off x="10082784" y="3401568"/>
            <a:ext cx="201168" cy="201168"/>
          </a:xfrm>
          <a:prstGeom prst="ellipse">
            <a:avLst/>
          </a:prstGeom>
          <a:solidFill>
            <a:srgbClr val="C93B34"/>
          </a:solidFill>
          <a:ln w="12700">
            <a:solidFill>
              <a:srgbClr val="C93B34"/>
            </a:solidFill>
            <a:prstDash val="solid"/>
          </a:ln>
        </p:spPr>
        <p:txBody>
          <a:bodyPr/>
          <a:lstStyle/>
          <a:p>
            <a:endParaRPr lang="en-US"/>
          </a:p>
        </p:txBody>
      </p:sp>
      <p:sp>
        <p:nvSpPr>
          <p:cNvPr id="34" name="Text 32"/>
          <p:cNvSpPr txBox="1"/>
          <p:nvPr/>
        </p:nvSpPr>
        <p:spPr>
          <a:xfrm>
            <a:off x="10320528" y="3282696"/>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x86</a:t>
            </a:r>
            <a:endParaRPr lang="en-US" sz="2000" dirty="0"/>
          </a:p>
        </p:txBody>
      </p:sp>
      <p:sp>
        <p:nvSpPr>
          <p:cNvPr id="35" name="Shape 33"/>
          <p:cNvSpPr/>
          <p:nvPr/>
        </p:nvSpPr>
        <p:spPr>
          <a:xfrm>
            <a:off x="932688" y="3712464"/>
            <a:ext cx="10515600" cy="0"/>
          </a:xfrm>
          <a:prstGeom prst="line">
            <a:avLst/>
          </a:prstGeom>
          <a:noFill/>
          <a:ln w="9525">
            <a:solidFill>
              <a:srgbClr val="D9D9D9"/>
            </a:solidFill>
            <a:prstDash val="solid"/>
          </a:ln>
        </p:spPr>
        <p:txBody>
          <a:bodyPr/>
          <a:lstStyle/>
          <a:p>
            <a:endParaRPr lang="en-US"/>
          </a:p>
        </p:txBody>
      </p:sp>
      <p:sp>
        <p:nvSpPr>
          <p:cNvPr id="36" name="Text 34"/>
          <p:cNvSpPr txBox="1"/>
          <p:nvPr/>
        </p:nvSpPr>
        <p:spPr>
          <a:xfrm>
            <a:off x="932688" y="3721608"/>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Structural</a:t>
            </a:r>
            <a:endParaRPr lang="en-US" sz="2000" dirty="0"/>
          </a:p>
        </p:txBody>
      </p:sp>
      <p:sp>
        <p:nvSpPr>
          <p:cNvPr id="37" name="Text 35"/>
          <p:cNvSpPr txBox="1"/>
          <p:nvPr/>
        </p:nvSpPr>
        <p:spPr>
          <a:xfrm>
            <a:off x="2720340" y="3721608"/>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Code pages and layout</a:t>
            </a:r>
            <a:endParaRPr lang="en-US" sz="2000" dirty="0"/>
          </a:p>
        </p:txBody>
      </p:sp>
      <p:sp>
        <p:nvSpPr>
          <p:cNvPr id="38" name="Shape 36"/>
          <p:cNvSpPr/>
          <p:nvPr/>
        </p:nvSpPr>
        <p:spPr>
          <a:xfrm>
            <a:off x="5440680" y="3776472"/>
            <a:ext cx="70866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39" name="Text 37"/>
          <p:cNvSpPr txBox="1"/>
          <p:nvPr/>
        </p:nvSpPr>
        <p:spPr>
          <a:xfrm>
            <a:off x="5440680" y="3776472"/>
            <a:ext cx="70866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DEP</a:t>
            </a:r>
            <a:endParaRPr lang="en-US" sz="1867" dirty="0"/>
          </a:p>
        </p:txBody>
      </p:sp>
      <p:sp>
        <p:nvSpPr>
          <p:cNvPr id="40" name="Shape 38"/>
          <p:cNvSpPr/>
          <p:nvPr/>
        </p:nvSpPr>
        <p:spPr>
          <a:xfrm>
            <a:off x="6240780" y="3776472"/>
            <a:ext cx="72237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1" name="Text 39"/>
          <p:cNvSpPr txBox="1"/>
          <p:nvPr/>
        </p:nvSpPr>
        <p:spPr>
          <a:xfrm>
            <a:off x="6240780" y="3776472"/>
            <a:ext cx="72237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W^X</a:t>
            </a:r>
            <a:endParaRPr lang="en-US" sz="1867" dirty="0"/>
          </a:p>
        </p:txBody>
      </p:sp>
      <p:sp>
        <p:nvSpPr>
          <p:cNvPr id="42" name="Shape 40"/>
          <p:cNvSpPr/>
          <p:nvPr/>
        </p:nvSpPr>
        <p:spPr>
          <a:xfrm>
            <a:off x="7054596" y="3776472"/>
            <a:ext cx="85953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3" name="Text 41"/>
          <p:cNvSpPr txBox="1"/>
          <p:nvPr/>
        </p:nvSpPr>
        <p:spPr>
          <a:xfrm>
            <a:off x="7054596" y="3776472"/>
            <a:ext cx="85953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ASLR</a:t>
            </a:r>
            <a:endParaRPr lang="en-US" sz="1867" dirty="0"/>
          </a:p>
        </p:txBody>
      </p:sp>
      <p:sp>
        <p:nvSpPr>
          <p:cNvPr id="44" name="Shape 42"/>
          <p:cNvSpPr/>
          <p:nvPr/>
        </p:nvSpPr>
        <p:spPr>
          <a:xfrm>
            <a:off x="8005572" y="3776472"/>
            <a:ext cx="708660"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5" name="Text 43"/>
          <p:cNvSpPr txBox="1"/>
          <p:nvPr/>
        </p:nvSpPr>
        <p:spPr>
          <a:xfrm>
            <a:off x="8005572" y="3776472"/>
            <a:ext cx="708660"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PIE</a:t>
            </a:r>
            <a:endParaRPr lang="en-US" sz="1867" dirty="0"/>
          </a:p>
        </p:txBody>
      </p:sp>
      <p:sp>
        <p:nvSpPr>
          <p:cNvPr id="46" name="Shape 44"/>
          <p:cNvSpPr/>
          <p:nvPr/>
        </p:nvSpPr>
        <p:spPr>
          <a:xfrm>
            <a:off x="5440680" y="4160520"/>
            <a:ext cx="10104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47" name="Text 45"/>
          <p:cNvSpPr txBox="1"/>
          <p:nvPr/>
        </p:nvSpPr>
        <p:spPr>
          <a:xfrm>
            <a:off x="5440680" y="4160520"/>
            <a:ext cx="10104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RELRO</a:t>
            </a:r>
            <a:endParaRPr lang="en-US" sz="1867" dirty="0"/>
          </a:p>
        </p:txBody>
      </p:sp>
      <p:sp>
        <p:nvSpPr>
          <p:cNvPr id="48" name="Shape 46"/>
          <p:cNvSpPr/>
          <p:nvPr/>
        </p:nvSpPr>
        <p:spPr>
          <a:xfrm>
            <a:off x="9784080" y="4032504"/>
            <a:ext cx="201168" cy="201168"/>
          </a:xfrm>
          <a:prstGeom prst="ellipse">
            <a:avLst/>
          </a:prstGeom>
          <a:solidFill>
            <a:srgbClr val="3FA34D"/>
          </a:solidFill>
          <a:ln w="12700">
            <a:solidFill>
              <a:srgbClr val="3FA34D"/>
            </a:solidFill>
            <a:prstDash val="solid"/>
          </a:ln>
        </p:spPr>
        <p:txBody>
          <a:bodyPr/>
          <a:lstStyle/>
          <a:p>
            <a:endParaRPr lang="en-US"/>
          </a:p>
        </p:txBody>
      </p:sp>
      <p:sp>
        <p:nvSpPr>
          <p:cNvPr id="49" name="Shape 47"/>
          <p:cNvSpPr/>
          <p:nvPr/>
        </p:nvSpPr>
        <p:spPr>
          <a:xfrm>
            <a:off x="932688" y="4535424"/>
            <a:ext cx="10515600" cy="0"/>
          </a:xfrm>
          <a:prstGeom prst="line">
            <a:avLst/>
          </a:prstGeom>
          <a:noFill/>
          <a:ln w="9525">
            <a:solidFill>
              <a:srgbClr val="D9D9D9"/>
            </a:solidFill>
            <a:prstDash val="solid"/>
          </a:ln>
        </p:spPr>
        <p:txBody>
          <a:bodyPr/>
          <a:lstStyle/>
          <a:p>
            <a:endParaRPr lang="en-US"/>
          </a:p>
        </p:txBody>
      </p:sp>
      <p:sp>
        <p:nvSpPr>
          <p:cNvPr id="50" name="Text 48"/>
          <p:cNvSpPr txBox="1"/>
          <p:nvPr/>
        </p:nvSpPr>
        <p:spPr>
          <a:xfrm>
            <a:off x="932688" y="4544568"/>
            <a:ext cx="1737360" cy="822960"/>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Resource</a:t>
            </a:r>
            <a:endParaRPr lang="en-US" sz="2000" dirty="0"/>
          </a:p>
        </p:txBody>
      </p:sp>
      <p:sp>
        <p:nvSpPr>
          <p:cNvPr id="51" name="Text 49"/>
          <p:cNvSpPr txBox="1"/>
          <p:nvPr/>
        </p:nvSpPr>
        <p:spPr>
          <a:xfrm>
            <a:off x="2720340" y="4544568"/>
            <a:ext cx="2697480" cy="822960"/>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Stack</a:t>
            </a:r>
            <a:endParaRPr lang="en-US" sz="2000" dirty="0"/>
          </a:p>
        </p:txBody>
      </p:sp>
      <p:sp>
        <p:nvSpPr>
          <p:cNvPr id="52" name="Shape 50"/>
          <p:cNvSpPr/>
          <p:nvPr/>
        </p:nvSpPr>
        <p:spPr>
          <a:xfrm>
            <a:off x="5440680" y="4599432"/>
            <a:ext cx="279806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3" name="Text 51"/>
          <p:cNvSpPr txBox="1"/>
          <p:nvPr/>
        </p:nvSpPr>
        <p:spPr>
          <a:xfrm>
            <a:off x="5440680" y="4599432"/>
            <a:ext cx="279806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-fstack-clash-protection</a:t>
            </a:r>
            <a:endParaRPr lang="en-US" sz="1867" dirty="0"/>
          </a:p>
        </p:txBody>
      </p:sp>
      <p:sp>
        <p:nvSpPr>
          <p:cNvPr id="54" name="Shape 52"/>
          <p:cNvSpPr/>
          <p:nvPr/>
        </p:nvSpPr>
        <p:spPr>
          <a:xfrm>
            <a:off x="5440680" y="4983480"/>
            <a:ext cx="158648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55" name="Text 53"/>
          <p:cNvSpPr txBox="1"/>
          <p:nvPr/>
        </p:nvSpPr>
        <p:spPr>
          <a:xfrm>
            <a:off x="5440680" y="4983480"/>
            <a:ext cx="158648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guard pages</a:t>
            </a:r>
            <a:endParaRPr lang="en-US" sz="1867" dirty="0"/>
          </a:p>
        </p:txBody>
      </p:sp>
      <p:sp>
        <p:nvSpPr>
          <p:cNvPr id="56" name="Shape 54"/>
          <p:cNvSpPr/>
          <p:nvPr/>
        </p:nvSpPr>
        <p:spPr>
          <a:xfrm>
            <a:off x="9784080" y="4855464"/>
            <a:ext cx="201168" cy="201168"/>
          </a:xfrm>
          <a:prstGeom prst="ellipse">
            <a:avLst/>
          </a:prstGeom>
          <a:solidFill>
            <a:srgbClr val="3FA34D"/>
          </a:solidFill>
          <a:ln w="12700">
            <a:solidFill>
              <a:srgbClr val="3FA34D"/>
            </a:solidFill>
            <a:prstDash val="solid"/>
          </a:ln>
        </p:spPr>
        <p:txBody>
          <a:bodyPr/>
          <a:lstStyle/>
          <a:p>
            <a:endParaRPr lang="en-US"/>
          </a:p>
        </p:txBody>
      </p:sp>
      <p:sp>
        <p:nvSpPr>
          <p:cNvPr id="57" name="Shape 55"/>
          <p:cNvSpPr/>
          <p:nvPr/>
        </p:nvSpPr>
        <p:spPr>
          <a:xfrm>
            <a:off x="932688" y="5358384"/>
            <a:ext cx="10515600" cy="0"/>
          </a:xfrm>
          <a:prstGeom prst="line">
            <a:avLst/>
          </a:prstGeom>
          <a:noFill/>
          <a:ln w="9525">
            <a:solidFill>
              <a:srgbClr val="D9D9D9"/>
            </a:solidFill>
            <a:prstDash val="solid"/>
          </a:ln>
        </p:spPr>
        <p:txBody>
          <a:bodyPr/>
          <a:lstStyle/>
          <a:p>
            <a:endParaRPr lang="en-US"/>
          </a:p>
        </p:txBody>
      </p:sp>
      <p:sp>
        <p:nvSpPr>
          <p:cNvPr id="58" name="Text 56"/>
          <p:cNvSpPr txBox="1"/>
          <p:nvPr/>
        </p:nvSpPr>
        <p:spPr>
          <a:xfrm>
            <a:off x="932688" y="5367528"/>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Resource</a:t>
            </a:r>
            <a:endParaRPr lang="en-US" sz="2000" dirty="0"/>
          </a:p>
        </p:txBody>
      </p:sp>
      <p:sp>
        <p:nvSpPr>
          <p:cNvPr id="59" name="Text 57"/>
          <p:cNvSpPr txBox="1"/>
          <p:nvPr/>
        </p:nvSpPr>
        <p:spPr>
          <a:xfrm>
            <a:off x="2720340" y="5367528"/>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Allocation</a:t>
            </a:r>
            <a:endParaRPr lang="en-US" sz="2000" dirty="0"/>
          </a:p>
        </p:txBody>
      </p:sp>
      <p:sp>
        <p:nvSpPr>
          <p:cNvPr id="60" name="Shape 58"/>
          <p:cNvSpPr/>
          <p:nvPr/>
        </p:nvSpPr>
        <p:spPr>
          <a:xfrm>
            <a:off x="5440680" y="5422392"/>
            <a:ext cx="4197096"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1" name="Text 59"/>
          <p:cNvSpPr txBox="1"/>
          <p:nvPr/>
        </p:nvSpPr>
        <p:spPr>
          <a:xfrm>
            <a:off x="5440680" y="5422392"/>
            <a:ext cx="4197096"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HeapEnableTerminationOnCorruption</a:t>
            </a:r>
            <a:endParaRPr lang="en-US" sz="1867" dirty="0"/>
          </a:p>
        </p:txBody>
      </p:sp>
      <p:sp>
        <p:nvSpPr>
          <p:cNvPr id="62" name="Shape 60"/>
          <p:cNvSpPr/>
          <p:nvPr/>
        </p:nvSpPr>
        <p:spPr>
          <a:xfrm>
            <a:off x="9784080" y="5486400"/>
            <a:ext cx="201168" cy="201168"/>
          </a:xfrm>
          <a:prstGeom prst="ellipse">
            <a:avLst/>
          </a:prstGeom>
          <a:solidFill>
            <a:srgbClr val="3FA34D"/>
          </a:solidFill>
          <a:ln w="12700">
            <a:solidFill>
              <a:srgbClr val="3FA34D"/>
            </a:solidFill>
            <a:prstDash val="solid"/>
          </a:ln>
        </p:spPr>
        <p:txBody>
          <a:bodyPr/>
          <a:lstStyle/>
          <a:p>
            <a:endParaRPr lang="en-US"/>
          </a:p>
        </p:txBody>
      </p:sp>
      <p:sp>
        <p:nvSpPr>
          <p:cNvPr id="63" name="Shape 61"/>
          <p:cNvSpPr/>
          <p:nvPr/>
        </p:nvSpPr>
        <p:spPr>
          <a:xfrm>
            <a:off x="932688" y="5797296"/>
            <a:ext cx="10515600" cy="0"/>
          </a:xfrm>
          <a:prstGeom prst="line">
            <a:avLst/>
          </a:prstGeom>
          <a:noFill/>
          <a:ln w="9525">
            <a:solidFill>
              <a:srgbClr val="D9D9D9"/>
            </a:solidFill>
            <a:prstDash val="solid"/>
          </a:ln>
        </p:spPr>
        <p:txBody>
          <a:bodyPr/>
          <a:lstStyle/>
          <a:p>
            <a:endParaRPr lang="en-US"/>
          </a:p>
        </p:txBody>
      </p:sp>
      <p:sp>
        <p:nvSpPr>
          <p:cNvPr id="64" name="Text 62"/>
          <p:cNvSpPr txBox="1"/>
          <p:nvPr/>
        </p:nvSpPr>
        <p:spPr>
          <a:xfrm>
            <a:off x="932688" y="5806440"/>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Interface</a:t>
            </a:r>
            <a:endParaRPr lang="en-US" sz="2000" dirty="0"/>
          </a:p>
        </p:txBody>
      </p:sp>
      <p:sp>
        <p:nvSpPr>
          <p:cNvPr id="65" name="Text 63"/>
          <p:cNvSpPr txBox="1"/>
          <p:nvPr/>
        </p:nvSpPr>
        <p:spPr>
          <a:xfrm>
            <a:off x="2720340" y="5806440"/>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Strings</a:t>
            </a:r>
            <a:endParaRPr lang="en-US" sz="2000" dirty="0"/>
          </a:p>
        </p:txBody>
      </p:sp>
      <p:sp>
        <p:nvSpPr>
          <p:cNvPr id="66" name="Shape 64"/>
          <p:cNvSpPr/>
          <p:nvPr/>
        </p:nvSpPr>
        <p:spPr>
          <a:xfrm>
            <a:off x="5440680" y="5861304"/>
            <a:ext cx="251917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7" name="Text 65"/>
          <p:cNvSpPr txBox="1"/>
          <p:nvPr/>
        </p:nvSpPr>
        <p:spPr>
          <a:xfrm>
            <a:off x="5440680" y="5861304"/>
            <a:ext cx="251917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_FORTIFY_SOURCE</a:t>
            </a:r>
            <a:endParaRPr lang="en-US" sz="1867" dirty="0"/>
          </a:p>
        </p:txBody>
      </p:sp>
      <p:sp>
        <p:nvSpPr>
          <p:cNvPr id="68" name="Shape 66"/>
          <p:cNvSpPr/>
          <p:nvPr/>
        </p:nvSpPr>
        <p:spPr>
          <a:xfrm>
            <a:off x="8051292" y="5861304"/>
            <a:ext cx="1380744"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69" name="Text 67"/>
          <p:cNvSpPr txBox="1"/>
          <p:nvPr/>
        </p:nvSpPr>
        <p:spPr>
          <a:xfrm>
            <a:off x="8051292" y="5861304"/>
            <a:ext cx="1380744"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std::format</a:t>
            </a:r>
            <a:endParaRPr lang="en-US" sz="1867" dirty="0"/>
          </a:p>
        </p:txBody>
      </p:sp>
      <p:sp>
        <p:nvSpPr>
          <p:cNvPr id="70" name="Shape 68"/>
          <p:cNvSpPr/>
          <p:nvPr/>
        </p:nvSpPr>
        <p:spPr>
          <a:xfrm>
            <a:off x="9784080" y="5925312"/>
            <a:ext cx="201168" cy="201168"/>
          </a:xfrm>
          <a:prstGeom prst="ellipse">
            <a:avLst/>
          </a:prstGeom>
          <a:solidFill>
            <a:srgbClr val="3FA34D"/>
          </a:solidFill>
          <a:ln w="12700">
            <a:solidFill>
              <a:srgbClr val="3FA34D"/>
            </a:solidFill>
            <a:prstDash val="solid"/>
          </a:ln>
        </p:spPr>
        <p:txBody>
          <a:bodyPr/>
          <a:lstStyle/>
          <a:p>
            <a:endParaRPr lang="en-US"/>
          </a:p>
        </p:txBody>
      </p:sp>
      <p:sp>
        <p:nvSpPr>
          <p:cNvPr id="71" name="Shape 69"/>
          <p:cNvSpPr/>
          <p:nvPr/>
        </p:nvSpPr>
        <p:spPr>
          <a:xfrm>
            <a:off x="10082784" y="5925312"/>
            <a:ext cx="201168" cy="201168"/>
          </a:xfrm>
          <a:prstGeom prst="ellipse">
            <a:avLst/>
          </a:prstGeom>
          <a:solidFill>
            <a:srgbClr val="C93B34"/>
          </a:solidFill>
          <a:ln w="12700">
            <a:solidFill>
              <a:srgbClr val="C93B34"/>
            </a:solidFill>
            <a:prstDash val="solid"/>
          </a:ln>
        </p:spPr>
        <p:txBody>
          <a:bodyPr/>
          <a:lstStyle/>
          <a:p>
            <a:endParaRPr lang="en-US"/>
          </a:p>
        </p:txBody>
      </p:sp>
      <p:sp>
        <p:nvSpPr>
          <p:cNvPr id="72" name="Text 70"/>
          <p:cNvSpPr txBox="1"/>
          <p:nvPr/>
        </p:nvSpPr>
        <p:spPr>
          <a:xfrm>
            <a:off x="10320528" y="5806440"/>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Windows</a:t>
            </a:r>
            <a:endParaRPr lang="en-US" sz="2000" dirty="0"/>
          </a:p>
        </p:txBody>
      </p:sp>
      <p:sp>
        <p:nvSpPr>
          <p:cNvPr id="73" name="Shape 71"/>
          <p:cNvSpPr/>
          <p:nvPr/>
        </p:nvSpPr>
        <p:spPr>
          <a:xfrm>
            <a:off x="932688" y="6236208"/>
            <a:ext cx="10515600" cy="0"/>
          </a:xfrm>
          <a:prstGeom prst="line">
            <a:avLst/>
          </a:prstGeom>
          <a:noFill/>
          <a:ln w="9525">
            <a:solidFill>
              <a:srgbClr val="D9D9D9"/>
            </a:solidFill>
            <a:prstDash val="solid"/>
          </a:ln>
        </p:spPr>
        <p:txBody>
          <a:bodyPr/>
          <a:lstStyle/>
          <a:p>
            <a:endParaRPr lang="en-US"/>
          </a:p>
        </p:txBody>
      </p:sp>
      <p:sp>
        <p:nvSpPr>
          <p:cNvPr id="74" name="Text 72"/>
          <p:cNvSpPr txBox="1"/>
          <p:nvPr/>
        </p:nvSpPr>
        <p:spPr>
          <a:xfrm>
            <a:off x="932688" y="6245352"/>
            <a:ext cx="1737360" cy="438912"/>
          </a:xfrm>
          <a:prstGeom prst="rect">
            <a:avLst/>
          </a:prstGeom>
          <a:noFill/>
          <a:ln/>
        </p:spPr>
        <p:txBody>
          <a:bodyPr wrap="square" lIns="0" tIns="0" rIns="0" bIns="0" rtlCol="0" anchor="ctr"/>
          <a:lstStyle/>
          <a:p>
            <a:pPr marL="0" indent="0">
              <a:buNone/>
            </a:pPr>
            <a:r>
              <a:rPr lang="en-US" sz="2000" b="1" dirty="0">
                <a:solidFill>
                  <a:srgbClr val="1A1A1A"/>
                </a:solidFill>
                <a:ea typeface="Aptos" pitchFamily="34" charset="-122"/>
                <a:cs typeface="Aptos" pitchFamily="34" charset="-120"/>
              </a:rPr>
              <a:t>Toolchain</a:t>
            </a:r>
            <a:endParaRPr lang="en-US" sz="2000" dirty="0"/>
          </a:p>
        </p:txBody>
      </p:sp>
      <p:sp>
        <p:nvSpPr>
          <p:cNvPr id="75" name="Text 73"/>
          <p:cNvSpPr txBox="1"/>
          <p:nvPr/>
        </p:nvSpPr>
        <p:spPr>
          <a:xfrm>
            <a:off x="2720340" y="6245352"/>
            <a:ext cx="2697480" cy="438912"/>
          </a:xfrm>
          <a:prstGeom prst="rect">
            <a:avLst/>
          </a:prstGeom>
          <a:noFill/>
          <a:ln/>
        </p:spPr>
        <p:txBody>
          <a:bodyPr wrap="square" lIns="0" tIns="0" rIns="0" bIns="0" rtlCol="0" anchor="ctr"/>
          <a:lstStyle/>
          <a:p>
            <a:pPr marL="0" indent="0">
              <a:buNone/>
            </a:pPr>
            <a:r>
              <a:rPr lang="en-US" sz="2000" dirty="0">
                <a:solidFill>
                  <a:srgbClr val="1A1A1A"/>
                </a:solidFill>
                <a:ea typeface="Aptos" pitchFamily="34" charset="-122"/>
                <a:cs typeface="Aptos" pitchFamily="34" charset="-120"/>
              </a:rPr>
              <a:t>Flag sets</a:t>
            </a:r>
            <a:endParaRPr lang="en-US" sz="2000" dirty="0"/>
          </a:p>
        </p:txBody>
      </p:sp>
      <p:sp>
        <p:nvSpPr>
          <p:cNvPr id="76" name="Shape 74"/>
          <p:cNvSpPr/>
          <p:nvPr/>
        </p:nvSpPr>
        <p:spPr>
          <a:xfrm>
            <a:off x="5440680" y="6300216"/>
            <a:ext cx="1389888"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7" name="Text 75"/>
          <p:cNvSpPr txBox="1"/>
          <p:nvPr/>
        </p:nvSpPr>
        <p:spPr>
          <a:xfrm>
            <a:off x="5440680" y="6300216"/>
            <a:ext cx="1389888"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-fhardened</a:t>
            </a:r>
            <a:endParaRPr lang="en-US" sz="1867" dirty="0"/>
          </a:p>
        </p:txBody>
      </p:sp>
      <p:sp>
        <p:nvSpPr>
          <p:cNvPr id="78" name="Shape 76"/>
          <p:cNvSpPr/>
          <p:nvPr/>
        </p:nvSpPr>
        <p:spPr>
          <a:xfrm>
            <a:off x="6922008" y="6300216"/>
            <a:ext cx="1924812" cy="329184"/>
          </a:xfrm>
          <a:prstGeom prst="roundRect">
            <a:avLst>
              <a:gd name="adj" fmla="val 22222"/>
            </a:avLst>
          </a:prstGeom>
          <a:solidFill>
            <a:srgbClr val="EAE8E6"/>
          </a:solidFill>
          <a:ln w="12700">
            <a:solidFill>
              <a:srgbClr val="EAE8E6"/>
            </a:solidFill>
            <a:prstDash val="solid"/>
          </a:ln>
        </p:spPr>
        <p:txBody>
          <a:bodyPr/>
          <a:lstStyle/>
          <a:p>
            <a:endParaRPr lang="en-US"/>
          </a:p>
        </p:txBody>
      </p:sp>
      <p:sp>
        <p:nvSpPr>
          <p:cNvPr id="79" name="Text 77"/>
          <p:cNvSpPr txBox="1"/>
          <p:nvPr/>
        </p:nvSpPr>
        <p:spPr>
          <a:xfrm>
            <a:off x="6922008" y="6300216"/>
            <a:ext cx="1924812" cy="329184"/>
          </a:xfrm>
          <a:prstGeom prst="rect">
            <a:avLst/>
          </a:prstGeom>
          <a:noFill/>
          <a:ln/>
        </p:spPr>
        <p:txBody>
          <a:bodyPr wrap="square" lIns="0" tIns="0" rIns="0" bIns="0" rtlCol="0" anchor="ctr"/>
          <a:lstStyle/>
          <a:p>
            <a:pPr marL="0" indent="0" algn="ctr">
              <a:buNone/>
            </a:pPr>
            <a:r>
              <a:rPr lang="en-US" sz="1867" dirty="0">
                <a:solidFill>
                  <a:srgbClr val="3A3A3A"/>
                </a:solidFill>
                <a:ea typeface="Aptos" pitchFamily="34" charset="-122"/>
                <a:cs typeface="Aptos" pitchFamily="34" charset="-120"/>
              </a:rPr>
              <a:t>OpenSSF guide</a:t>
            </a:r>
            <a:endParaRPr lang="en-US" sz="1867" dirty="0"/>
          </a:p>
        </p:txBody>
      </p:sp>
      <p:sp>
        <p:nvSpPr>
          <p:cNvPr id="80" name="Shape 78"/>
          <p:cNvSpPr/>
          <p:nvPr/>
        </p:nvSpPr>
        <p:spPr>
          <a:xfrm>
            <a:off x="9784080" y="6364224"/>
            <a:ext cx="201168" cy="201168"/>
          </a:xfrm>
          <a:prstGeom prst="ellipse">
            <a:avLst/>
          </a:prstGeom>
          <a:solidFill>
            <a:srgbClr val="D9A62B"/>
          </a:solidFill>
          <a:ln w="12700">
            <a:solidFill>
              <a:srgbClr val="D9A62B"/>
            </a:solidFill>
            <a:prstDash val="solid"/>
          </a:ln>
        </p:spPr>
        <p:txBody>
          <a:bodyPr/>
          <a:lstStyle/>
          <a:p>
            <a:endParaRPr lang="en-US"/>
          </a:p>
        </p:txBody>
      </p:sp>
      <p:sp>
        <p:nvSpPr>
          <p:cNvPr id="81" name="Shape 79"/>
          <p:cNvSpPr/>
          <p:nvPr/>
        </p:nvSpPr>
        <p:spPr>
          <a:xfrm>
            <a:off x="10082784" y="6364224"/>
            <a:ext cx="201168" cy="201168"/>
          </a:xfrm>
          <a:prstGeom prst="ellipse">
            <a:avLst/>
          </a:prstGeom>
          <a:solidFill>
            <a:srgbClr val="C93B34"/>
          </a:solidFill>
          <a:ln w="12700">
            <a:solidFill>
              <a:srgbClr val="C93B34"/>
            </a:solidFill>
            <a:prstDash val="solid"/>
          </a:ln>
        </p:spPr>
        <p:txBody>
          <a:bodyPr/>
          <a:lstStyle/>
          <a:p>
            <a:endParaRPr lang="en-US"/>
          </a:p>
        </p:txBody>
      </p:sp>
      <p:sp>
        <p:nvSpPr>
          <p:cNvPr id="82" name="Text 80"/>
          <p:cNvSpPr txBox="1"/>
          <p:nvPr/>
        </p:nvSpPr>
        <p:spPr>
          <a:xfrm>
            <a:off x="10320528" y="6245352"/>
            <a:ext cx="2194560" cy="438912"/>
          </a:xfrm>
          <a:prstGeom prst="rect">
            <a:avLst/>
          </a:prstGeom>
          <a:noFill/>
          <a:ln/>
        </p:spPr>
        <p:txBody>
          <a:bodyPr wrap="square" lIns="0" tIns="0" rIns="0" bIns="0" rtlCol="0" anchor="ctr"/>
          <a:lstStyle/>
          <a:p>
            <a:pPr marL="0" indent="0">
              <a:buNone/>
            </a:pPr>
            <a:r>
              <a:rPr lang="en-US" sz="2000" dirty="0">
                <a:solidFill>
                  <a:srgbClr val="5A5A5A"/>
                </a:solidFill>
                <a:ea typeface="Aptos" pitchFamily="34" charset="-122"/>
                <a:cs typeface="Aptos" pitchFamily="34" charset="-120"/>
              </a:rPr>
              <a:t>MSVC</a:t>
            </a:r>
            <a:endParaRPr lang="en-US" sz="2000" dirty="0"/>
          </a:p>
        </p:txBody>
      </p:sp>
      <p:sp>
        <p:nvSpPr>
          <p:cNvPr id="84" name="Title 83">
            <a:extLst>
              <a:ext uri="{FF2B5EF4-FFF2-40B4-BE49-F238E27FC236}">
                <a16:creationId xmlns:a16="http://schemas.microsoft.com/office/drawing/2014/main" id="{6EDB2F43-D42D-74FB-B8FD-659B97AD64A8}"/>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Hardening</a:t>
            </a:r>
            <a:endParaRPr lang="en-US" dirty="0"/>
          </a:p>
        </p:txBody>
      </p:sp>
      <p:sp>
        <p:nvSpPr>
          <p:cNvPr id="83" name="TextBox 82">
            <a:extLst>
              <a:ext uri="{FF2B5EF4-FFF2-40B4-BE49-F238E27FC236}">
                <a16:creationId xmlns:a16="http://schemas.microsoft.com/office/drawing/2014/main" id="{A12125A5-C3DE-F218-CB51-89292B79C239}"/>
              </a:ext>
            </a:extLst>
          </p:cNvPr>
          <p:cNvSpPr txBox="1"/>
          <p:nvPr/>
        </p:nvSpPr>
        <p:spPr>
          <a:xfrm>
            <a:off x="3886454" y="643185"/>
            <a:ext cx="977900" cy="769441"/>
          </a:xfrm>
          <a:prstGeom prst="rect">
            <a:avLst/>
          </a:prstGeom>
          <a:noFill/>
        </p:spPr>
        <p:txBody>
          <a:bodyPr wrap="square" rtlCol="0">
            <a:spAutoFit/>
          </a:bodyPr>
          <a:lstStyle>
            <a:defPPr>
              <a:defRPr lang="en-US"/>
            </a:defPPr>
            <a:lvl1pPr>
              <a:defRPr/>
            </a:lvl1pPr>
          </a:lstStyle>
          <a:p>
            <a:r>
              <a:rPr lang="en-US" sz="4400" dirty="0">
                <a:solidFill>
                  <a:schemeClr val="bg1">
                    <a:lumMod val="75000"/>
                  </a:schemeClr>
                </a:solidFill>
              </a:rPr>
              <a:t>3/3</a:t>
            </a:r>
            <a:endParaRPr lang="en-US" sz="2800" dirty="0">
              <a:solidFill>
                <a:schemeClr val="bg1">
                  <a:lumMod val="75000"/>
                </a:schemeClr>
              </a:solidFill>
            </a:endParaRPr>
          </a:p>
        </p:txBody>
      </p:sp>
      <p:sp>
        <p:nvSpPr>
          <p:cNvPr id="85" name="Bubble 1">
            <a:extLst>
              <a:ext uri="{FF2B5EF4-FFF2-40B4-BE49-F238E27FC236}">
                <a16:creationId xmlns:a16="http://schemas.microsoft.com/office/drawing/2014/main" id="{99BA867F-37D3-5C3A-6564-FB047A9C059C}"/>
              </a:ext>
            </a:extLst>
          </p:cNvPr>
          <p:cNvSpPr/>
          <p:nvPr/>
        </p:nvSpPr>
        <p:spPr>
          <a:xfrm>
            <a:off x="5433060" y="2788920"/>
            <a:ext cx="4229100" cy="533400"/>
          </a:xfrm>
          <a:prstGeom prst="roundRect">
            <a:avLst>
              <a:gd name="adj" fmla="val 50000"/>
            </a:avLst>
          </a:prstGeom>
          <a:solidFill>
            <a:srgbClr val="FFFFFF"/>
          </a:solidFill>
          <a:ln w="28575">
            <a:solidFill>
              <a:srgbClr val="5C4712"/>
            </a:solidFill>
          </a:ln>
          <a:effectLst>
            <a:outerShdw blurRad="63500" dist="38100" dir="5400000" algn="t" rotWithShape="0">
              <a:srgbClr val="000000">
                <a:alpha val="35000"/>
              </a:srgbClr>
            </a:outerShdw>
          </a:effectLst>
        </p:spPr>
        <p:txBody>
          <a:bodyPr wrap="none" lIns="91440" tIns="0" rIns="91440" bIns="0" rtlCol="0" anchor="ctr">
            <a:noAutofit/>
          </a:bodyPr>
          <a:lstStyle/>
          <a:p>
            <a:pPr marL="0" indent="0" algn="ctr">
              <a:buNone/>
            </a:pPr>
            <a:r>
              <a:rPr lang="en-US" sz="1600" b="1" dirty="0">
                <a:solidFill>
                  <a:srgbClr val="5C4712"/>
                </a:solidFill>
                <a:latin typeface="+mn-lt"/>
                <a:ea typeface="+mn-lt"/>
                <a:cs typeface="+mn-lt"/>
              </a:rPr>
              <a:t>hijacked returns and calls now fault</a:t>
            </a:r>
          </a:p>
          <a:p>
            <a:pPr marL="0" indent="0" algn="ctr">
              <a:buNone/>
            </a:pPr>
            <a:r>
              <a:rPr lang="en-US" sz="1600" b="1" dirty="0">
                <a:solidFill>
                  <a:srgbClr val="5C4712"/>
                </a:solidFill>
                <a:latin typeface="+mn-lt"/>
                <a:ea typeface="+mn-lt"/>
                <a:cs typeface="+mn-lt"/>
              </a:rPr>
              <a:t>in the CPU</a:t>
            </a:r>
          </a:p>
        </p:txBody>
      </p:sp>
      <p:sp>
        <p:nvSpPr>
          <p:cNvPr id="87" name="Bubble 2">
            <a:extLst>
              <a:ext uri="{FF2B5EF4-FFF2-40B4-BE49-F238E27FC236}">
                <a16:creationId xmlns:a16="http://schemas.microsoft.com/office/drawing/2014/main" id="{B61D9E39-1C12-874A-B281-A6BA2FB2642B}"/>
              </a:ext>
            </a:extLst>
          </p:cNvPr>
          <p:cNvSpPr/>
          <p:nvPr/>
        </p:nvSpPr>
        <p:spPr>
          <a:xfrm>
            <a:off x="5433060" y="3741420"/>
            <a:ext cx="4229100" cy="769620"/>
          </a:xfrm>
          <a:prstGeom prst="roundRect">
            <a:avLst>
              <a:gd name="adj" fmla="val 50000"/>
            </a:avLst>
          </a:prstGeom>
          <a:solidFill>
            <a:srgbClr val="FFFFFF"/>
          </a:solidFill>
          <a:ln w="28575">
            <a:solidFill>
              <a:srgbClr val="1F4D24"/>
            </a:solidFill>
          </a:ln>
          <a:effectLst>
            <a:outerShdw blurRad="63500" dist="38100" dir="5400000" algn="t" rotWithShape="0">
              <a:srgbClr val="000000">
                <a:alpha val="35000"/>
              </a:srgbClr>
            </a:outerShdw>
          </a:effectLst>
        </p:spPr>
        <p:txBody>
          <a:bodyPr wrap="none" lIns="91440" tIns="0" rIns="91440" bIns="0" rtlCol="0" anchor="ctr">
            <a:noAutofit/>
          </a:bodyPr>
          <a:lstStyle/>
          <a:p>
            <a:pPr marL="0" indent="0" algn="ctr">
              <a:buNone/>
            </a:pPr>
            <a:r>
              <a:rPr lang="en-US" sz="1600" b="1" dirty="0">
                <a:solidFill>
                  <a:srgbClr val="1F4D24"/>
                </a:solidFill>
                <a:latin typeface="+mn-lt"/>
                <a:ea typeface="+mn-lt"/>
                <a:cs typeface="+mn-lt"/>
              </a:rPr>
              <a:t>injected code cannot run</a:t>
            </a:r>
          </a:p>
          <a:p>
            <a:pPr marL="0" indent="0" algn="ctr">
              <a:buNone/>
            </a:pPr>
            <a:r>
              <a:rPr lang="en-US" sz="1600" b="1" dirty="0">
                <a:solidFill>
                  <a:srgbClr val="1F4D24"/>
                </a:solidFill>
                <a:latin typeface="+mn-lt"/>
                <a:ea typeface="+mn-lt"/>
                <a:cs typeface="+mn-lt"/>
              </a:rPr>
              <a:t>so attackers reuse existing code</a:t>
            </a:r>
          </a:p>
        </p:txBody>
      </p:sp>
      <p:sp>
        <p:nvSpPr>
          <p:cNvPr id="89" name="Bubble 3">
            <a:extLst>
              <a:ext uri="{FF2B5EF4-FFF2-40B4-BE49-F238E27FC236}">
                <a16:creationId xmlns:a16="http://schemas.microsoft.com/office/drawing/2014/main" id="{3CE5612C-8CEB-55F6-C23E-97AE0D512B1F}"/>
              </a:ext>
            </a:extLst>
          </p:cNvPr>
          <p:cNvSpPr/>
          <p:nvPr/>
        </p:nvSpPr>
        <p:spPr>
          <a:xfrm>
            <a:off x="5468112" y="4620006"/>
            <a:ext cx="4229100" cy="769620"/>
          </a:xfrm>
          <a:prstGeom prst="roundRect">
            <a:avLst>
              <a:gd name="adj" fmla="val 50000"/>
            </a:avLst>
          </a:prstGeom>
          <a:solidFill>
            <a:srgbClr val="FFFFFF"/>
          </a:solidFill>
          <a:ln w="28575">
            <a:solidFill>
              <a:srgbClr val="1F4D24"/>
            </a:solidFill>
          </a:ln>
          <a:effectLst>
            <a:outerShdw blurRad="63500" dist="38100" dir="5400000" algn="t" rotWithShape="0">
              <a:srgbClr val="000000">
                <a:alpha val="35000"/>
              </a:srgbClr>
            </a:outerShdw>
          </a:effectLst>
        </p:spPr>
        <p:txBody>
          <a:bodyPr wrap="none" lIns="91440" tIns="0" rIns="91440" bIns="0" rtlCol="0" anchor="ctr">
            <a:noAutofit/>
          </a:bodyPr>
          <a:lstStyle/>
          <a:p>
            <a:pPr marL="0" indent="0" algn="ctr">
              <a:buNone/>
            </a:pPr>
            <a:r>
              <a:rPr lang="en-US" sz="1600" b="1" dirty="0">
                <a:solidFill>
                  <a:srgbClr val="1F4D24"/>
                </a:solidFill>
                <a:latin typeface="+mn-lt"/>
                <a:ea typeface="+mn-lt"/>
                <a:cs typeface="+mn-lt"/>
              </a:rPr>
              <a:t>running out of stack is a crash</a:t>
            </a:r>
          </a:p>
          <a:p>
            <a:pPr marL="0" indent="0" algn="ctr">
              <a:buNone/>
            </a:pPr>
            <a:r>
              <a:rPr lang="en-US" sz="1600" b="1" dirty="0">
                <a:solidFill>
                  <a:srgbClr val="1F4D24"/>
                </a:solidFill>
                <a:latin typeface="+mn-lt"/>
                <a:ea typeface="+mn-lt"/>
                <a:cs typeface="+mn-lt"/>
              </a:rPr>
              <a:t>it cannot overwrite other memory</a:t>
            </a:r>
          </a:p>
        </p:txBody>
      </p:sp>
      <p:sp>
        <p:nvSpPr>
          <p:cNvPr id="91" name="Bubble 4">
            <a:extLst>
              <a:ext uri="{FF2B5EF4-FFF2-40B4-BE49-F238E27FC236}">
                <a16:creationId xmlns:a16="http://schemas.microsoft.com/office/drawing/2014/main" id="{86CC64FF-7853-E0C3-8371-BA4F4B9DDD7C}"/>
              </a:ext>
            </a:extLst>
          </p:cNvPr>
          <p:cNvSpPr/>
          <p:nvPr/>
        </p:nvSpPr>
        <p:spPr>
          <a:xfrm>
            <a:off x="5390388" y="5911407"/>
            <a:ext cx="6027420" cy="822960"/>
          </a:xfrm>
          <a:prstGeom prst="roundRect">
            <a:avLst>
              <a:gd name="adj" fmla="val 50000"/>
            </a:avLst>
          </a:prstGeom>
          <a:solidFill>
            <a:srgbClr val="FFFFFF"/>
          </a:solidFill>
          <a:ln w="28575">
            <a:solidFill>
              <a:srgbClr val="5C4712"/>
            </a:solidFill>
          </a:ln>
          <a:effectLst>
            <a:outerShdw blurRad="63500" dist="38100" dir="5400000" algn="t" rotWithShape="0">
              <a:srgbClr val="000000">
                <a:alpha val="35000"/>
              </a:srgbClr>
            </a:outerShdw>
          </a:effectLst>
        </p:spPr>
        <p:txBody>
          <a:bodyPr wrap="none" lIns="91440" tIns="0" rIns="91440" bIns="0" rtlCol="0" anchor="ctr">
            <a:noAutofit/>
          </a:bodyPr>
          <a:lstStyle/>
          <a:p>
            <a:pPr marL="0" indent="0" algn="ctr">
              <a:buNone/>
            </a:pPr>
            <a:r>
              <a:rPr lang="en-US" sz="2000" b="1" dirty="0">
                <a:solidFill>
                  <a:srgbClr val="5C4712"/>
                </a:solidFill>
                <a:latin typeface="+mn-lt"/>
                <a:ea typeface="+mn-lt"/>
                <a:cs typeface="+mn-lt"/>
              </a:rPr>
              <a:t>UB becomes a trap or a defined value</a:t>
            </a:r>
          </a:p>
          <a:p>
            <a:pPr marL="0" indent="0" algn="ctr">
              <a:buNone/>
            </a:pPr>
            <a:r>
              <a:rPr lang="en-US" sz="2000" b="1" dirty="0">
                <a:solidFill>
                  <a:srgbClr val="7A1C15"/>
                </a:solidFill>
                <a:latin typeface="+mn-lt"/>
                <a:ea typeface="+mn-lt"/>
                <a:cs typeface="+mn-lt"/>
              </a:rPr>
              <a:t>by your vendor’s choice, not the standard’s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SQL Slammer, 2003</a:t>
            </a:r>
            <a:endParaRPr lang="en-US" sz="4400" dirty="0"/>
          </a:p>
        </p:txBody>
      </p:sp>
      <p:sp>
        <p:nvSpPr>
          <p:cNvPr id="11" name="Subline"/>
          <p:cNvSpPr txBox="1"/>
          <p:nvPr/>
        </p:nvSpPr>
        <p:spPr>
          <a:xfrm>
            <a:off x="932688" y="1444752"/>
            <a:ext cx="9144000" cy="329184"/>
          </a:xfrm>
          <a:prstGeom prst="rect">
            <a:avLst/>
          </a:prstGeom>
          <a:noFill/>
          <a:ln>
            <a:noFill/>
          </a:ln>
        </p:spPr>
        <p:txBody>
          <a:bodyPr wrap="none" lIns="0" tIns="0" rIns="0" bIns="0" rtlCol="0" anchor="ctr">
            <a:noAutofit/>
          </a:bodyPr>
          <a:lstStyle/>
          <a:p>
            <a:pPr algn="l"/>
            <a:r>
              <a:rPr lang="en-US" sz="1600" dirty="0">
                <a:solidFill>
                  <a:srgbClr val="595959"/>
                </a:solidFill>
                <a:latin typeface="Aptos"/>
                <a:cs typeface="Aptos"/>
              </a:rPr>
              <a:t>A patch existed in July 2002. The worm arrived in January 2003, and most servers still did not have it.</a:t>
            </a:r>
          </a:p>
        </p:txBody>
      </p:sp>
      <p:sp>
        <p:nvSpPr>
          <p:cNvPr id="12" name="CVE chip"/>
          <p:cNvSpPr/>
          <p:nvPr/>
        </p:nvSpPr>
        <p:spPr>
          <a:xfrm>
            <a:off x="6050280" y="875081"/>
            <a:ext cx="1463040" cy="292608"/>
          </a:xfrm>
          <a:prstGeom prst="roundRect">
            <a:avLst>
              <a:gd name="adj" fmla="val 50000"/>
            </a:avLst>
          </a:prstGeom>
          <a:solidFill>
            <a:srgbClr val="D9D9D9"/>
          </a:solidFill>
          <a:ln>
            <a:noFill/>
          </a:ln>
        </p:spPr>
        <p:txBody>
          <a:bodyPr wrap="none" lIns="0" tIns="0" rIns="0" bIns="0" rtlCol="0" anchor="ctr">
            <a:noAutofit/>
          </a:bodyPr>
          <a:lstStyle/>
          <a:p>
            <a:pPr algn="ctr"/>
            <a:r>
              <a:rPr lang="en-US" sz="1200" b="1" dirty="0">
                <a:solidFill>
                  <a:srgbClr val="1A1A1A"/>
                </a:solidFill>
                <a:latin typeface="Aptos"/>
                <a:cs typeface="Aptos"/>
              </a:rPr>
              <a:t>CVE-2002-0649</a:t>
            </a:r>
          </a:p>
        </p:txBody>
      </p:sp>
      <p:sp>
        <p:nvSpPr>
          <p:cNvPr id="13" name="Code panel"/>
          <p:cNvSpPr/>
          <p:nvPr/>
        </p:nvSpPr>
        <p:spPr>
          <a:xfrm>
            <a:off x="932688" y="2103120"/>
            <a:ext cx="6355080" cy="2606040"/>
          </a:xfrm>
          <a:prstGeom prst="roundRect">
            <a:avLst>
              <a:gd name="adj" fmla="val 5000"/>
            </a:avLst>
          </a:prstGeom>
          <a:solidFill>
            <a:srgbClr val="12161F"/>
          </a:solidFill>
          <a:ln>
            <a:noFill/>
          </a:ln>
        </p:spPr>
        <p:txBody>
          <a:bodyPr wrap="none" lIns="0" tIns="0" rIns="0" bIns="0" rtlCol="0" anchor="ctr">
            <a:noAutofit/>
          </a:bodyPr>
          <a:lstStyle/>
          <a:p>
            <a:pPr algn="l"/>
            <a:endParaRPr lang="en-US" dirty="0"/>
          </a:p>
        </p:txBody>
      </p:sp>
      <p:sp>
        <p:nvSpPr>
          <p:cNvPr id="14" name="Code"/>
          <p:cNvSpPr txBox="1"/>
          <p:nvPr/>
        </p:nvSpPr>
        <p:spPr>
          <a:xfrm>
            <a:off x="1207008" y="2542946"/>
            <a:ext cx="5806440" cy="1726387"/>
          </a:xfrm>
          <a:prstGeom prst="rect">
            <a:avLst/>
          </a:prstGeom>
          <a:noFill/>
        </p:spPr>
        <p:txBody>
          <a:bodyPr wrap="none" lIns="0" tIns="0" rIns="0" bIns="0" rtlCol="0" anchor="t">
            <a:noAutofit/>
          </a:bodyPr>
          <a:lstStyle/>
          <a:p>
            <a:pPr>
              <a:lnSpc>
                <a:spcPct val="100000"/>
              </a:lnSpc>
            </a:pPr>
            <a:r>
              <a:rPr lang="en-US" sz="1500" dirty="0">
                <a:solidFill>
                  <a:srgbClr val="8A94A6"/>
                </a:solidFill>
                <a:latin typeface="Courier New"/>
                <a:cs typeface="Courier New"/>
              </a:rPr>
              <a:t>// one UDP packet, port 1434</a:t>
            </a:r>
            <a:endParaRPr lang="en-US" sz="1500" dirty="0">
              <a:latin typeface="Courier New"/>
              <a:cs typeface="Courier New"/>
            </a:endParaRPr>
          </a:p>
          <a:p>
            <a:pPr>
              <a:lnSpc>
                <a:spcPct val="100000"/>
              </a:lnSpc>
            </a:pPr>
            <a:r>
              <a:rPr lang="en-US" sz="1500" dirty="0">
                <a:solidFill>
                  <a:srgbClr val="FFD98C"/>
                </a:solidFill>
                <a:latin typeface="Courier New"/>
                <a:cs typeface="Courier New"/>
              </a:rPr>
              <a:t>BOOL</a:t>
            </a:r>
            <a:r>
              <a:rPr lang="en-US" sz="1500" dirty="0">
                <a:solidFill>
                  <a:srgbClr val="E6E9EF"/>
                </a:solidFill>
                <a:latin typeface="Courier New"/>
                <a:cs typeface="Courier New"/>
              </a:rPr>
              <a:t> </a:t>
            </a:r>
            <a:r>
              <a:rPr lang="en-US" sz="1500" dirty="0">
                <a:solidFill>
                  <a:srgbClr val="82AAFF"/>
                </a:solidFill>
                <a:latin typeface="Courier New"/>
                <a:cs typeface="Courier New"/>
              </a:rPr>
              <a:t>SsrpEnumCore</a:t>
            </a:r>
            <a:r>
              <a:rPr lang="en-US" sz="1500" dirty="0">
                <a:solidFill>
                  <a:srgbClr val="E6E9EF"/>
                </a:solidFill>
                <a:latin typeface="Courier New"/>
                <a:cs typeface="Courier New"/>
              </a:rPr>
              <a:t>(</a:t>
            </a:r>
            <a:r>
              <a:rPr lang="en-US" sz="1500" dirty="0">
                <a:solidFill>
                  <a:srgbClr val="FFD98C"/>
                </a:solidFill>
                <a:latin typeface="Courier New"/>
                <a:cs typeface="Courier New"/>
              </a:rPr>
              <a:t>LPSTR</a:t>
            </a:r>
            <a:r>
              <a:rPr lang="en-US" sz="1500" dirty="0">
                <a:solidFill>
                  <a:srgbClr val="E6E9EF"/>
                </a:solidFill>
                <a:latin typeface="Courier New"/>
                <a:cs typeface="Courier New"/>
              </a:rPr>
              <a:t> szInstanceName, ...)</a:t>
            </a:r>
            <a:endParaRPr lang="en-US" sz="1500" dirty="0">
              <a:latin typeface="Courier New"/>
              <a:cs typeface="Courier New"/>
            </a:endParaRPr>
          </a:p>
          <a:p>
            <a:pPr>
              <a:lnSpc>
                <a:spcPct val="100000"/>
              </a:lnSpc>
            </a:pPr>
            <a:r>
              <a:rPr lang="en-US" sz="1500" dirty="0">
                <a:solidFill>
                  <a:srgbClr val="E6E9EF"/>
                </a:solidFill>
                <a:latin typeface="Courier New"/>
                <a:cs typeface="Courier New"/>
              </a:rPr>
              <a:t>{</a:t>
            </a:r>
            <a:endParaRPr lang="en-US" sz="1500" dirty="0">
              <a:latin typeface="Courier New"/>
              <a:cs typeface="Courier New"/>
            </a:endParaRPr>
          </a:p>
          <a:p>
            <a:pPr>
              <a:lnSpc>
                <a:spcPct val="100000"/>
              </a:lnSpc>
            </a:pPr>
            <a:r>
              <a:rPr lang="en-US" sz="1500" dirty="0">
                <a:solidFill>
                  <a:srgbClr val="E6E9EF"/>
                </a:solidFill>
                <a:latin typeface="Courier New"/>
                <a:cs typeface="Courier New"/>
              </a:rPr>
              <a:t>    </a:t>
            </a:r>
            <a:r>
              <a:rPr lang="en-US" sz="1500" dirty="0">
                <a:solidFill>
                  <a:srgbClr val="C792EA"/>
                </a:solidFill>
                <a:latin typeface="Courier New"/>
                <a:cs typeface="Courier New"/>
              </a:rPr>
              <a:t>char</a:t>
            </a:r>
            <a:r>
              <a:rPr lang="en-US" sz="1500" dirty="0">
                <a:solidFill>
                  <a:srgbClr val="E6E9EF"/>
                </a:solidFill>
                <a:latin typeface="Courier New"/>
                <a:cs typeface="Courier New"/>
              </a:rPr>
              <a:t> szregKey[</a:t>
            </a:r>
            <a:r>
              <a:rPr lang="en-US" sz="1500" dirty="0">
                <a:solidFill>
                  <a:srgbClr val="F78C6C"/>
                </a:solidFill>
                <a:latin typeface="Courier New"/>
                <a:cs typeface="Courier New"/>
              </a:rPr>
              <a:t>512</a:t>
            </a:r>
            <a:r>
              <a:rPr lang="en-US" sz="1500" dirty="0">
                <a:solidFill>
                  <a:srgbClr val="E6E9EF"/>
                </a:solidFill>
                <a:latin typeface="Courier New"/>
                <a:cs typeface="Courier New"/>
              </a:rPr>
              <a:t>];</a:t>
            </a:r>
            <a:endParaRPr lang="en-US" sz="1500" dirty="0">
              <a:latin typeface="Courier New"/>
              <a:cs typeface="Courier New"/>
            </a:endParaRPr>
          </a:p>
          <a:p>
            <a:pPr>
              <a:lnSpc>
                <a:spcPct val="100000"/>
              </a:lnSpc>
            </a:pPr>
            <a:endParaRPr lang="en-US" sz="1500" dirty="0">
              <a:latin typeface="Courier New"/>
              <a:cs typeface="Courier New"/>
            </a:endParaRPr>
          </a:p>
          <a:p>
            <a:pPr>
              <a:lnSpc>
                <a:spcPct val="100000"/>
              </a:lnSpc>
            </a:pPr>
            <a:r>
              <a:rPr lang="en-US" sz="1500" dirty="0">
                <a:solidFill>
                  <a:srgbClr val="E6E9EF"/>
                </a:solidFill>
                <a:latin typeface="Courier New"/>
                <a:cs typeface="Courier New"/>
              </a:rPr>
              <a:t>    </a:t>
            </a:r>
            <a:r>
              <a:rPr lang="en-US" sz="1500" dirty="0">
                <a:solidFill>
                  <a:srgbClr val="82AAFF"/>
                </a:solidFill>
                <a:latin typeface="Courier New"/>
                <a:cs typeface="Courier New"/>
              </a:rPr>
              <a:t>sprintf</a:t>
            </a:r>
            <a:r>
              <a:rPr lang="en-US" sz="1500" dirty="0">
                <a:solidFill>
                  <a:srgbClr val="E6E9EF"/>
                </a:solidFill>
                <a:latin typeface="Courier New"/>
                <a:cs typeface="Courier New"/>
              </a:rPr>
              <a:t>(szregKey, </a:t>
            </a:r>
            <a:r>
              <a:rPr lang="en-US" sz="1500" dirty="0">
                <a:solidFill>
                  <a:srgbClr val="7EE2A8"/>
                </a:solidFill>
                <a:latin typeface="Courier New"/>
                <a:cs typeface="Courier New"/>
              </a:rPr>
              <a:t>"%s%s\\MSSQLServer\\..."</a:t>
            </a:r>
            <a:r>
              <a:rPr lang="en-US" sz="1500" dirty="0">
                <a:solidFill>
                  <a:srgbClr val="E6E9EF"/>
                </a:solidFill>
                <a:latin typeface="Courier New"/>
                <a:cs typeface="Courier New"/>
              </a:rPr>
              <a:t>,</a:t>
            </a:r>
            <a:endParaRPr lang="en-US" sz="1500" dirty="0">
              <a:latin typeface="Courier New"/>
              <a:cs typeface="Courier New"/>
            </a:endParaRPr>
          </a:p>
          <a:p>
            <a:pPr>
              <a:lnSpc>
                <a:spcPct val="100000"/>
              </a:lnSpc>
            </a:pPr>
            <a:r>
              <a:rPr lang="en-US" sz="1500" dirty="0">
                <a:solidFill>
                  <a:srgbClr val="E6E9EF"/>
                </a:solidFill>
                <a:latin typeface="Courier New"/>
                <a:cs typeface="Courier New"/>
              </a:rPr>
              <a:t>            INSTREGKEY, szInstName);</a:t>
            </a:r>
            <a:endParaRPr lang="en-US" sz="1500" dirty="0">
              <a:latin typeface="Courier New"/>
              <a:cs typeface="Courier New"/>
            </a:endParaRPr>
          </a:p>
          <a:p>
            <a:pPr>
              <a:lnSpc>
                <a:spcPct val="100000"/>
              </a:lnSpc>
            </a:pPr>
            <a:r>
              <a:rPr lang="en-US" sz="1500" dirty="0">
                <a:solidFill>
                  <a:srgbClr val="E6E9EF"/>
                </a:solidFill>
                <a:latin typeface="Courier New"/>
                <a:cs typeface="Courier New"/>
              </a:rPr>
              <a:t>}</a:t>
            </a:r>
            <a:endParaRPr lang="en-US" sz="1500" dirty="0">
              <a:latin typeface="Courier New"/>
              <a:cs typeface="Courier New"/>
            </a:endParaRPr>
          </a:p>
        </p:txBody>
      </p:sp>
      <p:sp>
        <p:nvSpPr>
          <p:cNvPr id="15" name="Callout name"/>
          <p:cNvSpPr/>
          <p:nvPr/>
        </p:nvSpPr>
        <p:spPr>
          <a:xfrm>
            <a:off x="6629400" y="2564892"/>
            <a:ext cx="2377440" cy="603504"/>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40000"/>
              </a:srgbClr>
            </a:outerShdw>
          </a:effectLst>
        </p:spPr>
        <p:txBody>
          <a:bodyPr wrap="none" lIns="137160" tIns="0" rIns="137160" bIns="0" rtlCol="0" anchor="ctr">
            <a:noAutofit/>
          </a:bodyPr>
          <a:lstStyle/>
          <a:p>
            <a:pPr algn="ctr"/>
            <a:r>
              <a:rPr lang="en-US" sz="1300" b="1" dirty="0">
                <a:solidFill>
                  <a:srgbClr val="7A1C15"/>
                </a:solidFill>
                <a:latin typeface="Aptos"/>
                <a:cs typeface="Aptos"/>
              </a:rPr>
              <a:t>the name comes off a UDP</a:t>
            </a:r>
          </a:p>
          <a:p>
            <a:pPr algn="ctr"/>
            <a:r>
              <a:rPr lang="en-US" sz="1300" b="1" dirty="0">
                <a:solidFill>
                  <a:srgbClr val="7A1C15"/>
                </a:solidFill>
                <a:latin typeface="Aptos"/>
                <a:cs typeface="Aptos"/>
              </a:rPr>
              <a:t>packet, no length anywhere</a:t>
            </a:r>
          </a:p>
        </p:txBody>
      </p:sp>
      <p:sp>
        <p:nvSpPr>
          <p:cNvPr id="16" name="Callout sprintf"/>
          <p:cNvSpPr/>
          <p:nvPr/>
        </p:nvSpPr>
        <p:spPr>
          <a:xfrm>
            <a:off x="6629400" y="3535985"/>
            <a:ext cx="2377440" cy="603504"/>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40000"/>
              </a:srgbClr>
            </a:outerShdw>
          </a:effectLst>
        </p:spPr>
        <p:txBody>
          <a:bodyPr wrap="none" lIns="137160" tIns="0" rIns="137160" bIns="0" rtlCol="0" anchor="ctr">
            <a:noAutofit/>
          </a:bodyPr>
          <a:lstStyle/>
          <a:p>
            <a:pPr algn="ctr"/>
            <a:r>
              <a:rPr lang="en-US" sz="1300" b="1" dirty="0">
                <a:solidFill>
                  <a:srgbClr val="7A1C15"/>
                </a:solidFill>
                <a:latin typeface="Aptos"/>
                <a:cs typeface="Aptos"/>
              </a:rPr>
              <a:t>sprintf into char[512],</a:t>
            </a:r>
          </a:p>
          <a:p>
            <a:pPr algn="ctr"/>
            <a:r>
              <a:rPr lang="en-US" sz="1300" b="1" dirty="0">
                <a:solidFill>
                  <a:srgbClr val="7A1C15"/>
                </a:solidFill>
                <a:latin typeface="Aptos"/>
                <a:cs typeface="Aptos"/>
              </a:rPr>
              <a:t>nothing checks the size</a:t>
            </a:r>
          </a:p>
        </p:txBody>
      </p:sp>
      <p:sp>
        <p:nvSpPr>
          <p:cNvPr id="17" name="Stats tile"/>
          <p:cNvSpPr/>
          <p:nvPr/>
        </p:nvSpPr>
        <p:spPr>
          <a:xfrm>
            <a:off x="9189720" y="2103120"/>
            <a:ext cx="2468880" cy="2606040"/>
          </a:xfrm>
          <a:prstGeom prst="roundRect">
            <a:avLst>
              <a:gd name="adj" fmla="val 50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18" name="376"/>
          <p:cNvSpPr txBox="1"/>
          <p:nvPr/>
        </p:nvSpPr>
        <p:spPr>
          <a:xfrm>
            <a:off x="9436608" y="2249424"/>
            <a:ext cx="1975104" cy="457200"/>
          </a:xfrm>
          <a:prstGeom prst="rect">
            <a:avLst/>
          </a:prstGeom>
          <a:noFill/>
          <a:ln>
            <a:noFill/>
          </a:ln>
        </p:spPr>
        <p:txBody>
          <a:bodyPr wrap="none" lIns="0" tIns="0" rIns="0" bIns="0" rtlCol="0" anchor="b">
            <a:noAutofit/>
          </a:bodyPr>
          <a:lstStyle/>
          <a:p>
            <a:pPr algn="l"/>
            <a:r>
              <a:rPr lang="en-US" sz="3200" b="1" dirty="0">
                <a:solidFill>
                  <a:srgbClr val="156082"/>
                </a:solidFill>
                <a:latin typeface="Aptos Display"/>
                <a:cs typeface="Aptos Display"/>
              </a:rPr>
              <a:t>376</a:t>
            </a:r>
            <a:r>
              <a:rPr lang="en-US" sz="1400" b="1" dirty="0">
                <a:solidFill>
                  <a:srgbClr val="1A1A1A"/>
                </a:solidFill>
                <a:latin typeface="Aptos"/>
                <a:cs typeface="Aptos"/>
              </a:rPr>
              <a:t> bytes</a:t>
            </a:r>
          </a:p>
        </p:txBody>
      </p:sp>
      <p:sp>
        <p:nvSpPr>
          <p:cNvPr id="19" name="376 caption"/>
          <p:cNvSpPr txBox="1"/>
          <p:nvPr/>
        </p:nvSpPr>
        <p:spPr>
          <a:xfrm>
            <a:off x="9436608" y="2724912"/>
            <a:ext cx="1975104" cy="237744"/>
          </a:xfrm>
          <a:prstGeom prst="rect">
            <a:avLst/>
          </a:prstGeom>
          <a:noFill/>
          <a:ln>
            <a:noFill/>
          </a:ln>
        </p:spPr>
        <p:txBody>
          <a:bodyPr wrap="none" lIns="0" tIns="0" rIns="0" bIns="0" rtlCol="0" anchor="t">
            <a:noAutofit/>
          </a:bodyPr>
          <a:lstStyle/>
          <a:p>
            <a:pPr algn="l"/>
            <a:r>
              <a:rPr lang="en-US" sz="1200" dirty="0">
                <a:solidFill>
                  <a:srgbClr val="595959"/>
                </a:solidFill>
                <a:latin typeface="Aptos"/>
                <a:cs typeface="Aptos"/>
              </a:rPr>
              <a:t>the whole worm, one packet</a:t>
            </a:r>
          </a:p>
        </p:txBody>
      </p:sp>
      <p:cxnSp>
        <p:nvCxnSpPr>
          <p:cNvPr id="20" name="Stat rule 1"/>
          <p:cNvCxnSpPr/>
          <p:nvPr/>
        </p:nvCxnSpPr>
        <p:spPr>
          <a:xfrm>
            <a:off x="9436608" y="3003804"/>
            <a:ext cx="1975104" cy="0"/>
          </a:xfrm>
          <a:prstGeom prst="line">
            <a:avLst/>
          </a:prstGeom>
          <a:ln w="6350">
            <a:solidFill>
              <a:srgbClr val="C9C4C1"/>
            </a:solidFill>
          </a:ln>
        </p:spPr>
      </p:cxnSp>
      <p:sp>
        <p:nvSpPr>
          <p:cNvPr id="21" name="8.5"/>
          <p:cNvSpPr txBox="1"/>
          <p:nvPr/>
        </p:nvSpPr>
        <p:spPr>
          <a:xfrm>
            <a:off x="9436608" y="3044952"/>
            <a:ext cx="1975104" cy="457200"/>
          </a:xfrm>
          <a:prstGeom prst="rect">
            <a:avLst/>
          </a:prstGeom>
          <a:noFill/>
          <a:ln>
            <a:noFill/>
          </a:ln>
        </p:spPr>
        <p:txBody>
          <a:bodyPr wrap="none" lIns="0" tIns="0" rIns="0" bIns="0" rtlCol="0" anchor="b">
            <a:noAutofit/>
          </a:bodyPr>
          <a:lstStyle/>
          <a:p>
            <a:pPr algn="l"/>
            <a:r>
              <a:rPr lang="en-US" sz="3200" b="1" dirty="0">
                <a:solidFill>
                  <a:srgbClr val="156082"/>
                </a:solidFill>
                <a:latin typeface="Aptos Display"/>
                <a:cs typeface="Aptos Display"/>
              </a:rPr>
              <a:t>8.5</a:t>
            </a:r>
            <a:r>
              <a:rPr lang="en-US" sz="1400" b="1" dirty="0">
                <a:solidFill>
                  <a:srgbClr val="1A1A1A"/>
                </a:solidFill>
                <a:latin typeface="Aptos"/>
                <a:cs typeface="Aptos"/>
              </a:rPr>
              <a:t> seconds</a:t>
            </a:r>
          </a:p>
        </p:txBody>
      </p:sp>
      <p:sp>
        <p:nvSpPr>
          <p:cNvPr id="22" name="8.5 caption"/>
          <p:cNvSpPr txBox="1"/>
          <p:nvPr/>
        </p:nvSpPr>
        <p:spPr>
          <a:xfrm>
            <a:off x="9436608" y="3520440"/>
            <a:ext cx="1975104" cy="237744"/>
          </a:xfrm>
          <a:prstGeom prst="rect">
            <a:avLst/>
          </a:prstGeom>
          <a:noFill/>
          <a:ln>
            <a:noFill/>
          </a:ln>
        </p:spPr>
        <p:txBody>
          <a:bodyPr wrap="none" lIns="0" tIns="0" rIns="0" bIns="0" rtlCol="0" anchor="t">
            <a:noAutofit/>
          </a:bodyPr>
          <a:lstStyle/>
          <a:p>
            <a:pPr algn="l"/>
            <a:r>
              <a:rPr lang="en-US" sz="1200" dirty="0">
                <a:solidFill>
                  <a:srgbClr val="595959"/>
                </a:solidFill>
                <a:latin typeface="Aptos"/>
                <a:cs typeface="Aptos"/>
              </a:rPr>
              <a:t>to double the infected hosts</a:t>
            </a:r>
          </a:p>
        </p:txBody>
      </p:sp>
      <p:cxnSp>
        <p:nvCxnSpPr>
          <p:cNvPr id="23" name="Stat rule 2"/>
          <p:cNvCxnSpPr/>
          <p:nvPr/>
        </p:nvCxnSpPr>
        <p:spPr>
          <a:xfrm>
            <a:off x="9436608" y="3799332"/>
            <a:ext cx="1975104" cy="0"/>
          </a:xfrm>
          <a:prstGeom prst="line">
            <a:avLst/>
          </a:prstGeom>
          <a:ln w="6350">
            <a:solidFill>
              <a:srgbClr val="C9C4C1"/>
            </a:solidFill>
          </a:ln>
        </p:spPr>
      </p:cxnSp>
      <p:sp>
        <p:nvSpPr>
          <p:cNvPr id="24" name="75,000"/>
          <p:cNvSpPr txBox="1"/>
          <p:nvPr/>
        </p:nvSpPr>
        <p:spPr>
          <a:xfrm>
            <a:off x="9436608" y="3840480"/>
            <a:ext cx="1975104" cy="457200"/>
          </a:xfrm>
          <a:prstGeom prst="rect">
            <a:avLst/>
          </a:prstGeom>
          <a:noFill/>
          <a:ln>
            <a:noFill/>
          </a:ln>
        </p:spPr>
        <p:txBody>
          <a:bodyPr wrap="none" lIns="0" tIns="0" rIns="0" bIns="0" rtlCol="0" anchor="b">
            <a:noAutofit/>
          </a:bodyPr>
          <a:lstStyle/>
          <a:p>
            <a:pPr algn="l"/>
            <a:r>
              <a:rPr lang="en-US" sz="3200" b="1" dirty="0">
                <a:solidFill>
                  <a:srgbClr val="156082"/>
                </a:solidFill>
                <a:latin typeface="Aptos Display"/>
                <a:cs typeface="Aptos Display"/>
              </a:rPr>
              <a:t>75,000</a:t>
            </a:r>
            <a:r>
              <a:rPr lang="en-US" sz="1400" b="1" dirty="0">
                <a:solidFill>
                  <a:srgbClr val="1A1A1A"/>
                </a:solidFill>
                <a:latin typeface="Aptos"/>
                <a:cs typeface="Aptos"/>
              </a:rPr>
              <a:t> hosts</a:t>
            </a:r>
          </a:p>
        </p:txBody>
      </p:sp>
      <p:sp>
        <p:nvSpPr>
          <p:cNvPr id="25" name="75,000 caption"/>
          <p:cNvSpPr txBox="1"/>
          <p:nvPr/>
        </p:nvSpPr>
        <p:spPr>
          <a:xfrm>
            <a:off x="9436608" y="4315968"/>
            <a:ext cx="1975104" cy="237744"/>
          </a:xfrm>
          <a:prstGeom prst="rect">
            <a:avLst/>
          </a:prstGeom>
          <a:noFill/>
          <a:ln>
            <a:noFill/>
          </a:ln>
        </p:spPr>
        <p:txBody>
          <a:bodyPr wrap="none" lIns="0" tIns="0" rIns="0" bIns="0" rtlCol="0" anchor="t">
            <a:noAutofit/>
          </a:bodyPr>
          <a:lstStyle/>
          <a:p>
            <a:pPr algn="l"/>
            <a:r>
              <a:rPr lang="en-US" sz="1200" dirty="0">
                <a:solidFill>
                  <a:srgbClr val="595959"/>
                </a:solidFill>
                <a:latin typeface="Aptos"/>
                <a:cs typeface="Aptos"/>
              </a:rPr>
              <a:t>infected within ten minutes</a:t>
            </a:r>
          </a:p>
        </p:txBody>
      </p:sp>
      <p:sp>
        <p:nvSpPr>
          <p:cNvPr id="26" name="Closing 1"/>
          <p:cNvSpPr txBox="1"/>
          <p:nvPr/>
        </p:nvSpPr>
        <p:spPr>
          <a:xfrm>
            <a:off x="932688" y="5559056"/>
            <a:ext cx="10698480" cy="411480"/>
          </a:xfrm>
          <a:prstGeom prst="rect">
            <a:avLst/>
          </a:prstGeom>
          <a:noFill/>
          <a:ln>
            <a:noFill/>
          </a:ln>
        </p:spPr>
        <p:txBody>
          <a:bodyPr wrap="none" lIns="0" tIns="0" rIns="0" bIns="0" rtlCol="0" anchor="ctr">
            <a:noAutofit/>
          </a:bodyPr>
          <a:lstStyle/>
          <a:p>
            <a:pPr algn="l"/>
            <a:r>
              <a:rPr lang="en-US" sz="2200" b="1" dirty="0">
                <a:solidFill>
                  <a:srgbClr val="1A1A1A"/>
                </a:solidFill>
                <a:latin typeface="Aptos"/>
                <a:cs typeface="Aptos"/>
              </a:rPr>
              <a:t>Every line still compiles as C++26</a:t>
            </a:r>
          </a:p>
        </p:txBody>
      </p:sp>
      <p:sp>
        <p:nvSpPr>
          <p:cNvPr id="27" name="Closing 2"/>
          <p:cNvSpPr txBox="1"/>
          <p:nvPr/>
        </p:nvSpPr>
        <p:spPr>
          <a:xfrm>
            <a:off x="932688" y="5997968"/>
            <a:ext cx="10698480" cy="365760"/>
          </a:xfrm>
          <a:prstGeom prst="rect">
            <a:avLst/>
          </a:prstGeom>
          <a:noFill/>
          <a:ln>
            <a:noFill/>
          </a:ln>
        </p:spPr>
        <p:txBody>
          <a:bodyPr wrap="none" lIns="0" tIns="0" rIns="0" bIns="0" rtlCol="0" anchor="ctr">
            <a:noAutofit/>
          </a:bodyPr>
          <a:lstStyle/>
          <a:p>
            <a:pPr algn="l"/>
            <a:r>
              <a:rPr lang="en-US" sz="1600" dirty="0">
                <a:solidFill>
                  <a:srgbClr val="595959"/>
                </a:solidFill>
                <a:latin typeface="Aptos"/>
                <a:cs typeface="Aptos"/>
              </a:rPr>
              <a:t>std::string has existed since 1998, and like every safe alternative since, it is opt-in.</a:t>
            </a:r>
          </a:p>
        </p:txBody>
      </p:sp>
      <p:sp>
        <p:nvSpPr>
          <p:cNvPr id="4" name="tx315">
            <a:extLst>
              <a:ext uri="{FF2B5EF4-FFF2-40B4-BE49-F238E27FC236}">
                <a16:creationId xmlns:a16="http://schemas.microsoft.com/office/drawing/2014/main" id="{F342028F-B810-8A04-56FF-9FFF0803940F}"/>
              </a:ext>
            </a:extLst>
          </p:cNvPr>
          <p:cNvSpPr txBox="1"/>
          <p:nvPr/>
        </p:nvSpPr>
        <p:spPr>
          <a:xfrm>
            <a:off x="932688" y="5029200"/>
            <a:ext cx="914400" cy="310896"/>
          </a:xfrm>
          <a:prstGeom prst="rect">
            <a:avLst/>
          </a:prstGeom>
          <a:noFill/>
        </p:spPr>
        <p:txBody>
          <a:bodyPr wrap="square" lIns="0" tIns="0" rIns="0" bIns="0" anchor="ctr"/>
          <a:lstStyle/>
          <a:p>
            <a:pPr algn="l"/>
            <a:r>
              <a:rPr lang="en-US" sz="1100" b="0" dirty="0">
                <a:solidFill>
                  <a:srgbClr val="595959"/>
                </a:solidFill>
                <a:latin typeface="Aptos"/>
              </a:rPr>
              <a:t>caught by</a:t>
            </a:r>
          </a:p>
        </p:txBody>
      </p:sp>
      <p:sp>
        <p:nvSpPr>
          <p:cNvPr id="6" name="Rounded Rectangle chip">
            <a:extLst>
              <a:ext uri="{FF2B5EF4-FFF2-40B4-BE49-F238E27FC236}">
                <a16:creationId xmlns:a16="http://schemas.microsoft.com/office/drawing/2014/main" id="{56308755-DF1C-C809-28C3-923A69410868}"/>
              </a:ext>
            </a:extLst>
          </p:cNvPr>
          <p:cNvSpPr/>
          <p:nvPr/>
        </p:nvSpPr>
        <p:spPr>
          <a:xfrm>
            <a:off x="1929384" y="5029200"/>
            <a:ext cx="1280160" cy="310896"/>
          </a:xfrm>
          <a:prstGeom prst="roundRect">
            <a:avLst>
              <a:gd name="adj" fmla="val 50000"/>
            </a:avLst>
          </a:prstGeom>
          <a:solidFill>
            <a:srgbClr val="F0DFB8"/>
          </a:solidFill>
          <a:ln>
            <a:noFill/>
          </a:ln>
        </p:spPr>
        <p:txBody>
          <a:bodyPr wrap="none" lIns="0" tIns="0" rIns="0" bIns="0" anchor="ctr"/>
          <a:lstStyle/>
          <a:p>
            <a:pPr algn="ctr"/>
            <a:r>
              <a:rPr lang="en-US" sz="1200" b="1" dirty="0">
                <a:solidFill>
                  <a:srgbClr val="5C4712"/>
                </a:solidFill>
                <a:latin typeface="Aptos"/>
              </a:rPr>
              <a:t>Annotations</a:t>
            </a:r>
          </a:p>
        </p:txBody>
      </p:sp>
      <p:sp>
        <p:nvSpPr>
          <p:cNvPr id="8" name="Rounded Rectangle chip">
            <a:extLst>
              <a:ext uri="{FF2B5EF4-FFF2-40B4-BE49-F238E27FC236}">
                <a16:creationId xmlns:a16="http://schemas.microsoft.com/office/drawing/2014/main" id="{3B60686C-BDD6-B6CF-4DC3-49EEE9E8A68E}"/>
              </a:ext>
            </a:extLst>
          </p:cNvPr>
          <p:cNvSpPr/>
          <p:nvPr/>
        </p:nvSpPr>
        <p:spPr>
          <a:xfrm>
            <a:off x="3337560" y="5029200"/>
            <a:ext cx="1636776" cy="310896"/>
          </a:xfrm>
          <a:prstGeom prst="roundRect">
            <a:avLst>
              <a:gd name="adj" fmla="val 50000"/>
            </a:avLst>
          </a:prstGeom>
          <a:solidFill>
            <a:srgbClr val="CFE4D1"/>
          </a:solidFill>
          <a:ln>
            <a:noFill/>
          </a:ln>
        </p:spPr>
        <p:txBody>
          <a:bodyPr wrap="none" lIns="0" tIns="0" rIns="0" bIns="0" anchor="ctr"/>
          <a:lstStyle/>
          <a:p>
            <a:pPr algn="ctr"/>
            <a:r>
              <a:rPr lang="en-US" sz="1200" b="1" dirty="0">
                <a:solidFill>
                  <a:srgbClr val="1F4D24"/>
                </a:solidFill>
                <a:latin typeface="Aptos"/>
              </a:rPr>
              <a:t>Static analysis</a:t>
            </a:r>
          </a:p>
        </p:txBody>
      </p:sp>
      <p:sp>
        <p:nvSpPr>
          <p:cNvPr id="10" name="Rounded Rectangle chip">
            <a:extLst>
              <a:ext uri="{FF2B5EF4-FFF2-40B4-BE49-F238E27FC236}">
                <a16:creationId xmlns:a16="http://schemas.microsoft.com/office/drawing/2014/main" id="{FCE2A60F-DF5B-2B6B-1ECB-8596F8278469}"/>
              </a:ext>
            </a:extLst>
          </p:cNvPr>
          <p:cNvSpPr/>
          <p:nvPr/>
        </p:nvSpPr>
        <p:spPr>
          <a:xfrm>
            <a:off x="5093208" y="5029200"/>
            <a:ext cx="1737360" cy="310896"/>
          </a:xfrm>
          <a:prstGeom prst="roundRect">
            <a:avLst>
              <a:gd name="adj" fmla="val 50000"/>
            </a:avLst>
          </a:prstGeom>
          <a:solidFill>
            <a:srgbClr val="CFE4D1"/>
          </a:solidFill>
          <a:ln>
            <a:noFill/>
          </a:ln>
        </p:spPr>
        <p:txBody>
          <a:bodyPr wrap="none" lIns="0" tIns="0" rIns="0" bIns="0" anchor="ctr"/>
          <a:lstStyle/>
          <a:p>
            <a:pPr algn="ctr"/>
            <a:r>
              <a:rPr lang="en-US" sz="1200" b="1" dirty="0">
                <a:solidFill>
                  <a:srgbClr val="1F4D24"/>
                </a:solidFill>
                <a:latin typeface="Aptos"/>
              </a:rPr>
              <a:t>Dynamic analysis</a:t>
            </a:r>
          </a:p>
        </p:txBody>
      </p:sp>
      <p:sp>
        <p:nvSpPr>
          <p:cNvPr id="29" name="Rounded Rectangle chip">
            <a:extLst>
              <a:ext uri="{FF2B5EF4-FFF2-40B4-BE49-F238E27FC236}">
                <a16:creationId xmlns:a16="http://schemas.microsoft.com/office/drawing/2014/main" id="{C38EF436-DD8A-C1DB-45D2-13304E8834CB}"/>
              </a:ext>
            </a:extLst>
          </p:cNvPr>
          <p:cNvSpPr/>
          <p:nvPr/>
        </p:nvSpPr>
        <p:spPr>
          <a:xfrm>
            <a:off x="6931152" y="5029200"/>
            <a:ext cx="1143000" cy="310896"/>
          </a:xfrm>
          <a:prstGeom prst="roundRect">
            <a:avLst>
              <a:gd name="adj" fmla="val 50000"/>
            </a:avLst>
          </a:prstGeom>
          <a:solidFill>
            <a:srgbClr val="F0DFB8"/>
          </a:solidFill>
          <a:ln>
            <a:noFill/>
          </a:ln>
        </p:spPr>
        <p:txBody>
          <a:bodyPr wrap="none" lIns="0" tIns="0" rIns="0" bIns="0" anchor="ctr"/>
          <a:lstStyle/>
          <a:p>
            <a:pPr algn="ctr"/>
            <a:r>
              <a:rPr lang="en-US" sz="1200" b="1" dirty="0">
                <a:solidFill>
                  <a:srgbClr val="5C4712"/>
                </a:solidFill>
                <a:latin typeface="Aptos"/>
              </a:rPr>
              <a:t>Hardening</a:t>
            </a:r>
          </a:p>
        </p:txBody>
      </p:sp>
      <p:sp>
        <p:nvSpPr>
          <p:cNvPr id="31" name="tx320">
            <a:extLst>
              <a:ext uri="{FF2B5EF4-FFF2-40B4-BE49-F238E27FC236}">
                <a16:creationId xmlns:a16="http://schemas.microsoft.com/office/drawing/2014/main" id="{8FC869F8-F52A-4F41-4EF4-645A6EAE58C1}"/>
              </a:ext>
            </a:extLst>
          </p:cNvPr>
          <p:cNvSpPr txBox="1"/>
          <p:nvPr/>
        </p:nvSpPr>
        <p:spPr>
          <a:xfrm>
            <a:off x="8302752" y="5029200"/>
            <a:ext cx="3355848" cy="310896"/>
          </a:xfrm>
          <a:prstGeom prst="rect">
            <a:avLst/>
          </a:prstGeom>
          <a:noFill/>
        </p:spPr>
        <p:txBody>
          <a:bodyPr wrap="square" lIns="0" tIns="0" rIns="0" bIns="0" anchor="ctr"/>
          <a:lstStyle/>
          <a:p>
            <a:pPr algn="l"/>
            <a:r>
              <a:rPr lang="en-US" sz="1200" b="0" dirty="0">
                <a:solidFill>
                  <a:srgbClr val="595959"/>
                </a:solidFill>
                <a:latin typeface="Aptos"/>
              </a:rPr>
              <a:t>ASan on one packet, /GS makes it a crash</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79C4C-5A81-788E-B6AF-5426E7C47995}"/>
              </a:ext>
            </a:extLst>
          </p:cNvPr>
          <p:cNvSpPr>
            <a:spLocks noGrp="1"/>
          </p:cNvSpPr>
          <p:nvPr>
            <p:ph type="title"/>
          </p:nvPr>
        </p:nvSpPr>
        <p:spPr/>
        <p:txBody>
          <a:bodyPr/>
          <a:lstStyle/>
          <a:p>
            <a:r>
              <a:t>How effective is hardening</a:t>
            </a:r>
          </a:p>
        </p:txBody>
      </p:sp>
      <p:sp>
        <p:nvSpPr>
          <p:cNvPr id="3" name="TextBox 2"/>
          <p:cNvSpPr txBox="1"/>
          <p:nvPr/>
        </p:nvSpPr>
        <p:spPr>
          <a:xfrm>
            <a:off x="838200" y="1700000"/>
            <a:ext cx="1300000" cy="900000"/>
          </a:xfrm>
          <a:prstGeom prst="rect">
            <a:avLst/>
          </a:prstGeom>
          <a:noFill/>
        </p:spPr>
        <p:txBody>
          <a:bodyPr wrap="square" lIns="0" tIns="0" rIns="0" bIns="0" anchor="t">
            <a:spAutoFit/>
          </a:bodyPr>
          <a:lstStyle/>
          <a:p>
            <a:pPr algn="l"/>
            <a:r>
              <a:rPr sz="5400" b="1" dirty="0">
                <a:solidFill>
                  <a:srgbClr val="156082"/>
                </a:solidFill>
                <a:latin typeface="Aptos"/>
              </a:rPr>
              <a:t>01</a:t>
            </a:r>
          </a:p>
        </p:txBody>
      </p:sp>
      <p:sp>
        <p:nvSpPr>
          <p:cNvPr id="4" name="TextBox 3"/>
          <p:cNvSpPr txBox="1"/>
          <p:nvPr/>
        </p:nvSpPr>
        <p:spPr>
          <a:xfrm>
            <a:off x="2238200" y="1760000"/>
            <a:ext cx="9115600" cy="500000"/>
          </a:xfrm>
          <a:prstGeom prst="rect">
            <a:avLst/>
          </a:prstGeom>
          <a:noFill/>
        </p:spPr>
        <p:txBody>
          <a:bodyPr wrap="square" lIns="0" tIns="0" rIns="0" bIns="0" anchor="t">
            <a:spAutoFit/>
          </a:bodyPr>
          <a:lstStyle/>
          <a:p>
            <a:pPr algn="l"/>
            <a:r>
              <a:rPr sz="2600" b="1" dirty="0">
                <a:solidFill>
                  <a:srgbClr val="1A1A1A"/>
                </a:solidFill>
                <a:latin typeface="Aptos"/>
              </a:rPr>
              <a:t>It contains, it does not prevent</a:t>
            </a:r>
          </a:p>
        </p:txBody>
      </p:sp>
      <p:sp>
        <p:nvSpPr>
          <p:cNvPr id="5" name="TextBox 4"/>
          <p:cNvSpPr txBox="1"/>
          <p:nvPr/>
        </p:nvSpPr>
        <p:spPr>
          <a:xfrm>
            <a:off x="2238200" y="2260000"/>
            <a:ext cx="9115600" cy="492443"/>
          </a:xfrm>
          <a:prstGeom prst="rect">
            <a:avLst/>
          </a:prstGeom>
          <a:noFill/>
        </p:spPr>
        <p:txBody>
          <a:bodyPr wrap="square" lIns="0" tIns="0" rIns="0" bIns="0" anchor="t">
            <a:spAutoFit/>
          </a:bodyPr>
          <a:lstStyle/>
          <a:p>
            <a:pPr algn="l"/>
            <a:r>
              <a:rPr lang="en-US" sz="1600" b="0" dirty="0">
                <a:solidFill>
                  <a:srgbClr val="595959"/>
                </a:solidFill>
              </a:rPr>
              <a:t>Every default mitigation acts after the bug has already occurred. A stack canary, a trap instruction or a page fault turns a takeover into a crash.</a:t>
            </a:r>
            <a:endParaRPr sz="1600" b="0" dirty="0">
              <a:solidFill>
                <a:srgbClr val="595959"/>
              </a:solidFill>
            </a:endParaRPr>
          </a:p>
        </p:txBody>
      </p:sp>
      <p:sp>
        <p:nvSpPr>
          <p:cNvPr id="6" name="Rectangle 5"/>
          <p:cNvSpPr/>
          <p:nvPr/>
        </p:nvSpPr>
        <p:spPr>
          <a:xfrm>
            <a:off x="838200" y="313000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8200" y="3250000"/>
            <a:ext cx="1300000" cy="900000"/>
          </a:xfrm>
          <a:prstGeom prst="rect">
            <a:avLst/>
          </a:prstGeom>
          <a:noFill/>
        </p:spPr>
        <p:txBody>
          <a:bodyPr wrap="square" lIns="0" tIns="0" rIns="0" bIns="0" anchor="t">
            <a:spAutoFit/>
          </a:bodyPr>
          <a:lstStyle/>
          <a:p>
            <a:pPr algn="l"/>
            <a:r>
              <a:rPr sz="5400" b="1">
                <a:solidFill>
                  <a:srgbClr val="156082"/>
                </a:solidFill>
                <a:latin typeface="Aptos"/>
              </a:rPr>
              <a:t>02</a:t>
            </a:r>
          </a:p>
        </p:txBody>
      </p:sp>
      <p:sp>
        <p:nvSpPr>
          <p:cNvPr id="8" name="TextBox 7"/>
          <p:cNvSpPr txBox="1"/>
          <p:nvPr/>
        </p:nvSpPr>
        <p:spPr>
          <a:xfrm>
            <a:off x="2238200" y="3310000"/>
            <a:ext cx="9115600" cy="500000"/>
          </a:xfrm>
          <a:prstGeom prst="rect">
            <a:avLst/>
          </a:prstGeom>
          <a:noFill/>
        </p:spPr>
        <p:txBody>
          <a:bodyPr wrap="square" lIns="0" tIns="0" rIns="0" bIns="0" anchor="t">
            <a:spAutoFit/>
          </a:bodyPr>
          <a:lstStyle/>
          <a:p>
            <a:pPr algn="l"/>
            <a:r>
              <a:rPr sz="2600" b="1">
                <a:solidFill>
                  <a:srgbClr val="1A1A1A"/>
                </a:solidFill>
                <a:latin typeface="Aptos"/>
              </a:rPr>
              <a:t>It barely reaches lifetime</a:t>
            </a:r>
          </a:p>
        </p:txBody>
      </p:sp>
      <p:sp>
        <p:nvSpPr>
          <p:cNvPr id="9" name="TextBox 8"/>
          <p:cNvSpPr txBox="1"/>
          <p:nvPr/>
        </p:nvSpPr>
        <p:spPr>
          <a:xfrm>
            <a:off x="2238200" y="3810000"/>
            <a:ext cx="9115600" cy="492443"/>
          </a:xfrm>
          <a:prstGeom prst="rect">
            <a:avLst/>
          </a:prstGeom>
          <a:noFill/>
        </p:spPr>
        <p:txBody>
          <a:bodyPr wrap="square" lIns="0" tIns="0" rIns="0" bIns="0" anchor="t">
            <a:spAutoFit/>
          </a:bodyPr>
          <a:lstStyle/>
          <a:p>
            <a:pPr algn="l"/>
            <a:r>
              <a:rPr sz="1600" b="0" dirty="0">
                <a:solidFill>
                  <a:srgbClr val="595959"/>
                </a:solidFill>
              </a:rPr>
              <a:t>Use after free is 9.4% of CVEs. Nothing on by default stops the access. The one real answer, memory tagging, needs hardware most machines don’t have.</a:t>
            </a:r>
          </a:p>
        </p:txBody>
      </p:sp>
      <p:sp>
        <p:nvSpPr>
          <p:cNvPr id="10" name="Rectangle 9"/>
          <p:cNvSpPr/>
          <p:nvPr/>
        </p:nvSpPr>
        <p:spPr>
          <a:xfrm>
            <a:off x="838200" y="468000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8200" y="4800000"/>
            <a:ext cx="1300000" cy="900000"/>
          </a:xfrm>
          <a:prstGeom prst="rect">
            <a:avLst/>
          </a:prstGeom>
          <a:noFill/>
        </p:spPr>
        <p:txBody>
          <a:bodyPr wrap="square" lIns="0" tIns="0" rIns="0" bIns="0" anchor="t">
            <a:spAutoFit/>
          </a:bodyPr>
          <a:lstStyle/>
          <a:p>
            <a:pPr algn="l"/>
            <a:r>
              <a:rPr sz="5400" b="1">
                <a:solidFill>
                  <a:srgbClr val="156082"/>
                </a:solidFill>
                <a:latin typeface="Aptos"/>
              </a:rPr>
              <a:t>03</a:t>
            </a:r>
          </a:p>
        </p:txBody>
      </p:sp>
      <p:sp>
        <p:nvSpPr>
          <p:cNvPr id="12" name="TextBox 11"/>
          <p:cNvSpPr txBox="1"/>
          <p:nvPr/>
        </p:nvSpPr>
        <p:spPr>
          <a:xfrm>
            <a:off x="2238200" y="4860000"/>
            <a:ext cx="9115600" cy="400110"/>
          </a:xfrm>
          <a:prstGeom prst="rect">
            <a:avLst/>
          </a:prstGeom>
          <a:noFill/>
        </p:spPr>
        <p:txBody>
          <a:bodyPr wrap="square" lIns="0" tIns="0" rIns="0" bIns="0" anchor="t">
            <a:spAutoFit/>
          </a:bodyPr>
          <a:lstStyle/>
          <a:p>
            <a:pPr algn="l"/>
            <a:r>
              <a:rPr lang="en-US" sz="2600" b="1" dirty="0">
                <a:solidFill>
                  <a:srgbClr val="1A1A1A"/>
                </a:solidFill>
                <a:latin typeface="Aptos"/>
              </a:rPr>
              <a:t>Availability is inconsistent</a:t>
            </a:r>
            <a:endParaRPr sz="2600" b="1" dirty="0">
              <a:solidFill>
                <a:srgbClr val="1A1A1A"/>
              </a:solidFill>
              <a:latin typeface="Aptos"/>
            </a:endParaRPr>
          </a:p>
        </p:txBody>
      </p:sp>
      <p:sp>
        <p:nvSpPr>
          <p:cNvPr id="13" name="TextBox 12"/>
          <p:cNvSpPr txBox="1"/>
          <p:nvPr/>
        </p:nvSpPr>
        <p:spPr>
          <a:xfrm>
            <a:off x="2238200" y="5360000"/>
            <a:ext cx="9115600" cy="492443"/>
          </a:xfrm>
          <a:prstGeom prst="rect">
            <a:avLst/>
          </a:prstGeom>
          <a:noFill/>
        </p:spPr>
        <p:txBody>
          <a:bodyPr wrap="square" lIns="0" tIns="0" rIns="0" bIns="0" anchor="t">
            <a:spAutoFit/>
          </a:bodyPr>
          <a:lstStyle/>
          <a:p>
            <a:pPr algn="l"/>
            <a:r>
              <a:rPr sz="1600" b="0" dirty="0">
                <a:solidFill>
                  <a:srgbClr val="595959"/>
                </a:solidFill>
              </a:rPr>
              <a:t>Hardened STL is on for Apple and Android and off for MSVC. Fortify is on for Fedora and Ubuntu and off for plain -O2. The same source gets different safety from different vendors.</a:t>
            </a:r>
          </a:p>
        </p:txBody>
      </p:sp>
    </p:spTree>
    <p:extLst>
      <p:ext uri="{BB962C8B-B14F-4D97-AF65-F5344CB8AC3E}">
        <p14:creationId xmlns:p14="http://schemas.microsoft.com/office/powerpoint/2010/main" val="9205690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FFFFFF"/>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FFFFFF"/>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FFFFFF"/>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Signal/</a:t>
            </a:r>
            <a:r>
              <a:rPr lang="en-US" sz="1400" b="1" dirty="0">
                <a:solidFill>
                  <a:srgbClr val="1A1A1A"/>
                </a:solidFill>
              </a:rPr>
              <a:t>R</a:t>
            </a:r>
            <a:r>
              <a:rPr sz="1400" b="1" dirty="0">
                <a:solidFill>
                  <a:srgbClr val="1A1A1A"/>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Atomicity/</a:t>
            </a:r>
            <a:r>
              <a:rPr lang="en-US" sz="1400" b="1" dirty="0">
                <a:solidFill>
                  <a:srgbClr val="1A1A1A"/>
                </a:solidFill>
              </a:rPr>
              <a:t>O</a:t>
            </a:r>
            <a:r>
              <a:rPr sz="1400" b="1" dirty="0">
                <a:solidFill>
                  <a:srgbClr val="1A1A1A"/>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Non-</a:t>
            </a:r>
            <a:r>
              <a:rPr lang="en-US" sz="1400" b="1" dirty="0">
                <a:solidFill>
                  <a:srgbClr val="1A1A1A"/>
                </a:solidFill>
              </a:rPr>
              <a:t>M</a:t>
            </a:r>
            <a:r>
              <a:rPr sz="1400" b="1" dirty="0">
                <a:solidFill>
                  <a:srgbClr val="1A1A1A"/>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FFFFFF"/>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FFFFFF"/>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Hardening coverage</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De</a:t>
            </a:r>
            <a:r>
              <a:rPr sz="1400" b="1" dirty="0">
                <a:solidFill>
                  <a:srgbClr val="1A1A1A"/>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FFFFFF"/>
                </a:solidFill>
              </a:rPr>
              <a:t>Toolchain/Optimizer</a:t>
            </a:r>
            <a:endParaRPr sz="1400" b="1" dirty="0">
              <a:solidFill>
                <a:schemeClr val="tx1"/>
              </a:solidFill>
            </a:endParaRPr>
          </a:p>
        </p:txBody>
      </p:sp>
    </p:spTree>
    <p:extLst>
      <p:ext uri="{BB962C8B-B14F-4D97-AF65-F5344CB8AC3E}">
        <p14:creationId xmlns:p14="http://schemas.microsoft.com/office/powerpoint/2010/main" val="7313328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7C3BB-D2B4-4C11-8DC5-712899BC5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84AC8-40FA-D255-8A6E-FBE6B4F06652}"/>
              </a:ext>
            </a:extLst>
          </p:cNvPr>
          <p:cNvSpPr>
            <a:spLocks noGrp="1"/>
          </p:cNvSpPr>
          <p:nvPr>
            <p:ph type="title"/>
          </p:nvPr>
        </p:nvSpPr>
        <p:spPr/>
        <p:txBody>
          <a:bodyPr/>
          <a:lstStyle/>
          <a:p>
            <a:r>
              <a:rPr lang="en-US" dirty="0">
                <a:solidFill>
                  <a:srgbClr val="1A1A1A"/>
                </a:solidFill>
              </a:rPr>
              <a:t>Detection at test time</a:t>
            </a:r>
            <a:endParaRPr lang="en-US" dirty="0"/>
          </a:p>
        </p:txBody>
      </p:sp>
      <p:sp>
        <p:nvSpPr>
          <p:cNvPr id="3" name="Text Placeholder 2">
            <a:extLst>
              <a:ext uri="{FF2B5EF4-FFF2-40B4-BE49-F238E27FC236}">
                <a16:creationId xmlns:a16="http://schemas.microsoft.com/office/drawing/2014/main" id="{CC1FE548-DA72-09B5-2226-B0565ADC813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045098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14400" y="1524000"/>
            <a:ext cx="10363200" cy="731520"/>
          </a:xfrm>
          <a:prstGeom prst="rect">
            <a:avLst/>
          </a:prstGeom>
          <a:noFill/>
          <a:ln/>
        </p:spPr>
        <p:txBody>
          <a:bodyPr wrap="square" lIns="0" tIns="0" rIns="0" bIns="0" rtlCol="0" anchor="t"/>
          <a:lstStyle/>
          <a:p>
            <a:r>
              <a:rPr lang="en-US" sz="1867" dirty="0">
                <a:solidFill>
                  <a:srgbClr val="5A5A5A"/>
                </a:solidFill>
                <a:latin typeface="Aptos (Body)"/>
                <a:ea typeface="Aptos" pitchFamily="34" charset="-122"/>
                <a:cs typeface="Aptos" pitchFamily="34" charset="-120"/>
              </a:rPr>
              <a:t>Tools that look for the bug before the binary ships. They read the source or run an instrumented build on the developer's machine or in CI, and report what they find.</a:t>
            </a:r>
            <a:endParaRPr lang="en-US" sz="1867" dirty="0">
              <a:latin typeface="Aptos (Body)"/>
            </a:endParaRPr>
          </a:p>
        </p:txBody>
      </p:sp>
      <p:sp>
        <p:nvSpPr>
          <p:cNvPr id="4" name="Text 2"/>
          <p:cNvSpPr txBox="1"/>
          <p:nvPr/>
        </p:nvSpPr>
        <p:spPr>
          <a:xfrm>
            <a:off x="853440" y="2474976"/>
            <a:ext cx="1219200" cy="853440"/>
          </a:xfrm>
          <a:prstGeom prst="rect">
            <a:avLst/>
          </a:prstGeom>
          <a:noFill/>
          <a:ln/>
        </p:spPr>
        <p:txBody>
          <a:bodyPr wrap="square" lIns="0" tIns="0" rIns="0" bIns="0" rtlCol="0" anchor="t"/>
          <a:lstStyle/>
          <a:p>
            <a:r>
              <a:rPr lang="en-US" sz="5333" b="1" dirty="0">
                <a:solidFill>
                  <a:srgbClr val="1E5F7E"/>
                </a:solidFill>
                <a:latin typeface="Aptos (Body)"/>
                <a:ea typeface="Aptos" pitchFamily="34" charset="-122"/>
                <a:cs typeface="Aptos" pitchFamily="34" charset="-120"/>
              </a:rPr>
              <a:t>01</a:t>
            </a:r>
            <a:endParaRPr lang="en-US" sz="5333" dirty="0">
              <a:latin typeface="Aptos (Body)"/>
            </a:endParaRPr>
          </a:p>
        </p:txBody>
      </p:sp>
      <p:sp>
        <p:nvSpPr>
          <p:cNvPr id="5" name="Text 3"/>
          <p:cNvSpPr txBox="1"/>
          <p:nvPr/>
        </p:nvSpPr>
        <p:spPr>
          <a:xfrm>
            <a:off x="2255520" y="2499360"/>
            <a:ext cx="9144000" cy="463296"/>
          </a:xfrm>
          <a:prstGeom prst="rect">
            <a:avLst/>
          </a:prstGeom>
          <a:noFill/>
          <a:ln/>
        </p:spPr>
        <p:txBody>
          <a:bodyPr wrap="square" lIns="0" tIns="0" rIns="0" bIns="0" rtlCol="0" anchor="t"/>
          <a:lstStyle/>
          <a:p>
            <a:r>
              <a:rPr lang="en-US" sz="2533" b="1" dirty="0">
                <a:solidFill>
                  <a:srgbClr val="1A1A1A"/>
                </a:solidFill>
                <a:latin typeface="Aptos (Body)"/>
                <a:ea typeface="Aptos" pitchFamily="34" charset="-122"/>
                <a:cs typeface="Aptos" pitchFamily="34" charset="-120"/>
              </a:rPr>
              <a:t>It runs on a test build, not the shipped one</a:t>
            </a:r>
            <a:endParaRPr lang="en-US" sz="2533" dirty="0">
              <a:latin typeface="Aptos (Body)"/>
            </a:endParaRPr>
          </a:p>
        </p:txBody>
      </p:sp>
      <p:sp>
        <p:nvSpPr>
          <p:cNvPr id="6" name="Text 4"/>
          <p:cNvSpPr txBox="1"/>
          <p:nvPr/>
        </p:nvSpPr>
        <p:spPr>
          <a:xfrm>
            <a:off x="2255520" y="2987040"/>
            <a:ext cx="9022080" cy="670560"/>
          </a:xfrm>
          <a:prstGeom prst="rect">
            <a:avLst/>
          </a:prstGeom>
          <a:noFill/>
          <a:ln/>
        </p:spPr>
        <p:txBody>
          <a:bodyPr wrap="square" lIns="0" tIns="0" rIns="0" bIns="0" rtlCol="0" anchor="t"/>
          <a:lstStyle/>
          <a:p>
            <a:r>
              <a:rPr lang="en-US" sz="1600" dirty="0">
                <a:solidFill>
                  <a:srgbClr val="5A5A5A"/>
                </a:solidFill>
                <a:latin typeface="Aptos (Body)"/>
                <a:ea typeface="Aptos" pitchFamily="34" charset="-122"/>
                <a:cs typeface="Aptos" pitchFamily="34" charset="-120"/>
              </a:rPr>
              <a:t>Warnings and static analysis read the source. ASan, TSan and Valgrind instrument a separate build. The binary the customer gets carries none of it.</a:t>
            </a:r>
            <a:endParaRPr lang="en-US" sz="1600" dirty="0">
              <a:latin typeface="Aptos (Body)"/>
            </a:endParaRPr>
          </a:p>
        </p:txBody>
      </p:sp>
      <p:sp>
        <p:nvSpPr>
          <p:cNvPr id="7" name="Shape 5"/>
          <p:cNvSpPr/>
          <p:nvPr/>
        </p:nvSpPr>
        <p:spPr>
          <a:xfrm>
            <a:off x="853440" y="3742944"/>
            <a:ext cx="10485120" cy="0"/>
          </a:xfrm>
          <a:prstGeom prst="line">
            <a:avLst/>
          </a:prstGeom>
          <a:noFill/>
          <a:ln w="9525">
            <a:solidFill>
              <a:srgbClr val="DADADA"/>
            </a:solidFill>
            <a:prstDash val="solid"/>
          </a:ln>
        </p:spPr>
        <p:txBody>
          <a:bodyPr/>
          <a:lstStyle/>
          <a:p>
            <a:endParaRPr lang="en-US" sz="2400">
              <a:latin typeface="Aptos (Body)"/>
            </a:endParaRPr>
          </a:p>
        </p:txBody>
      </p:sp>
      <p:sp>
        <p:nvSpPr>
          <p:cNvPr id="8" name="Text 6"/>
          <p:cNvSpPr txBox="1"/>
          <p:nvPr/>
        </p:nvSpPr>
        <p:spPr>
          <a:xfrm>
            <a:off x="853440" y="3840480"/>
            <a:ext cx="1219200" cy="853440"/>
          </a:xfrm>
          <a:prstGeom prst="rect">
            <a:avLst/>
          </a:prstGeom>
          <a:noFill/>
          <a:ln/>
        </p:spPr>
        <p:txBody>
          <a:bodyPr wrap="square" lIns="0" tIns="0" rIns="0" bIns="0" rtlCol="0" anchor="t"/>
          <a:lstStyle/>
          <a:p>
            <a:r>
              <a:rPr lang="en-US" sz="5333" b="1" dirty="0">
                <a:solidFill>
                  <a:srgbClr val="1E5F7E"/>
                </a:solidFill>
                <a:latin typeface="Aptos (Body)"/>
                <a:ea typeface="Aptos" pitchFamily="34" charset="-122"/>
                <a:cs typeface="Aptos" pitchFamily="34" charset="-120"/>
              </a:rPr>
              <a:t>02</a:t>
            </a:r>
            <a:endParaRPr lang="en-US" sz="5333" dirty="0">
              <a:latin typeface="Aptos (Body)"/>
            </a:endParaRPr>
          </a:p>
        </p:txBody>
      </p:sp>
      <p:sp>
        <p:nvSpPr>
          <p:cNvPr id="9" name="Text 7"/>
          <p:cNvSpPr txBox="1"/>
          <p:nvPr/>
        </p:nvSpPr>
        <p:spPr>
          <a:xfrm>
            <a:off x="2255520" y="3864864"/>
            <a:ext cx="9144000" cy="463296"/>
          </a:xfrm>
          <a:prstGeom prst="rect">
            <a:avLst/>
          </a:prstGeom>
          <a:noFill/>
          <a:ln/>
        </p:spPr>
        <p:txBody>
          <a:bodyPr wrap="square" lIns="0" tIns="0" rIns="0" bIns="0" rtlCol="0" anchor="t"/>
          <a:lstStyle/>
          <a:p>
            <a:r>
              <a:rPr lang="en-US" sz="2533" b="1" dirty="0">
                <a:solidFill>
                  <a:srgbClr val="1A1A1A"/>
                </a:solidFill>
                <a:latin typeface="Aptos (Body)"/>
                <a:ea typeface="Aptos" pitchFamily="34" charset="-122"/>
                <a:cs typeface="Aptos" pitchFamily="34" charset="-120"/>
              </a:rPr>
              <a:t>It reports, it does not stop anything</a:t>
            </a:r>
            <a:endParaRPr lang="en-US" sz="2533" dirty="0">
              <a:latin typeface="Aptos (Body)"/>
            </a:endParaRPr>
          </a:p>
        </p:txBody>
      </p:sp>
      <p:sp>
        <p:nvSpPr>
          <p:cNvPr id="10" name="Text 8"/>
          <p:cNvSpPr txBox="1"/>
          <p:nvPr/>
        </p:nvSpPr>
        <p:spPr>
          <a:xfrm>
            <a:off x="2255520" y="4352544"/>
            <a:ext cx="9022080" cy="670560"/>
          </a:xfrm>
          <a:prstGeom prst="rect">
            <a:avLst/>
          </a:prstGeom>
          <a:noFill/>
          <a:ln/>
        </p:spPr>
        <p:txBody>
          <a:bodyPr wrap="square" lIns="0" tIns="0" rIns="0" bIns="0" rtlCol="0" anchor="t"/>
          <a:lstStyle/>
          <a:p>
            <a:r>
              <a:rPr lang="en-US" sz="1600" dirty="0">
                <a:solidFill>
                  <a:srgbClr val="5A5A5A"/>
                </a:solidFill>
                <a:latin typeface="Aptos (Body)"/>
                <a:ea typeface="Aptos" pitchFamily="34" charset="-122"/>
                <a:cs typeface="Aptos" pitchFamily="34" charset="-120"/>
              </a:rPr>
              <a:t>A finding is a line in a log. Someone has to read it, believe it and fix it. Nothing prevents the build from shipping with the finding still open.</a:t>
            </a:r>
            <a:endParaRPr lang="en-US" sz="1600" dirty="0">
              <a:latin typeface="Aptos (Body)"/>
            </a:endParaRPr>
          </a:p>
        </p:txBody>
      </p:sp>
      <p:sp>
        <p:nvSpPr>
          <p:cNvPr id="11" name="Shape 9"/>
          <p:cNvSpPr/>
          <p:nvPr/>
        </p:nvSpPr>
        <p:spPr>
          <a:xfrm>
            <a:off x="853440" y="5108448"/>
            <a:ext cx="10485120" cy="0"/>
          </a:xfrm>
          <a:prstGeom prst="line">
            <a:avLst/>
          </a:prstGeom>
          <a:noFill/>
          <a:ln w="9525">
            <a:solidFill>
              <a:srgbClr val="DADADA"/>
            </a:solidFill>
            <a:prstDash val="solid"/>
          </a:ln>
        </p:spPr>
        <p:txBody>
          <a:bodyPr/>
          <a:lstStyle/>
          <a:p>
            <a:endParaRPr lang="en-US" sz="2400">
              <a:latin typeface="Aptos (Body)"/>
            </a:endParaRPr>
          </a:p>
        </p:txBody>
      </p:sp>
      <p:sp>
        <p:nvSpPr>
          <p:cNvPr id="12" name="Text 10"/>
          <p:cNvSpPr txBox="1"/>
          <p:nvPr/>
        </p:nvSpPr>
        <p:spPr>
          <a:xfrm>
            <a:off x="853440" y="5205984"/>
            <a:ext cx="1219200" cy="853440"/>
          </a:xfrm>
          <a:prstGeom prst="rect">
            <a:avLst/>
          </a:prstGeom>
          <a:noFill/>
          <a:ln/>
        </p:spPr>
        <p:txBody>
          <a:bodyPr wrap="square" lIns="0" tIns="0" rIns="0" bIns="0" rtlCol="0" anchor="t"/>
          <a:lstStyle/>
          <a:p>
            <a:r>
              <a:rPr lang="en-US" sz="5333" b="1" dirty="0">
                <a:solidFill>
                  <a:srgbClr val="1E5F7E"/>
                </a:solidFill>
                <a:latin typeface="Aptos (Body)"/>
                <a:ea typeface="Aptos" pitchFamily="34" charset="-122"/>
                <a:cs typeface="Aptos" pitchFamily="34" charset="-120"/>
              </a:rPr>
              <a:t>03</a:t>
            </a:r>
            <a:endParaRPr lang="en-US" sz="5333" dirty="0">
              <a:latin typeface="Aptos (Body)"/>
            </a:endParaRPr>
          </a:p>
        </p:txBody>
      </p:sp>
      <p:sp>
        <p:nvSpPr>
          <p:cNvPr id="13" name="Text 11"/>
          <p:cNvSpPr txBox="1"/>
          <p:nvPr/>
        </p:nvSpPr>
        <p:spPr>
          <a:xfrm>
            <a:off x="2255520" y="5230368"/>
            <a:ext cx="9144000" cy="463296"/>
          </a:xfrm>
          <a:prstGeom prst="rect">
            <a:avLst/>
          </a:prstGeom>
          <a:noFill/>
          <a:ln/>
        </p:spPr>
        <p:txBody>
          <a:bodyPr wrap="square" lIns="0" tIns="0" rIns="0" bIns="0" rtlCol="0" anchor="t"/>
          <a:lstStyle/>
          <a:p>
            <a:r>
              <a:rPr lang="en-US" sz="2533" b="1" dirty="0">
                <a:solidFill>
                  <a:srgbClr val="1A1A1A"/>
                </a:solidFill>
                <a:latin typeface="Aptos (Body)"/>
                <a:ea typeface="Aptos" pitchFamily="34" charset="-122"/>
                <a:cs typeface="Aptos" pitchFamily="34" charset="-120"/>
              </a:rPr>
              <a:t>It sees what you compile and what you run</a:t>
            </a:r>
            <a:endParaRPr lang="en-US" sz="2533" dirty="0">
              <a:latin typeface="Aptos (Body)"/>
            </a:endParaRPr>
          </a:p>
        </p:txBody>
      </p:sp>
      <p:sp>
        <p:nvSpPr>
          <p:cNvPr id="14" name="Text 12"/>
          <p:cNvSpPr txBox="1"/>
          <p:nvPr/>
        </p:nvSpPr>
        <p:spPr>
          <a:xfrm>
            <a:off x="2255520" y="5718048"/>
            <a:ext cx="9022080" cy="670560"/>
          </a:xfrm>
          <a:prstGeom prst="rect">
            <a:avLst/>
          </a:prstGeom>
          <a:noFill/>
          <a:ln/>
        </p:spPr>
        <p:txBody>
          <a:bodyPr wrap="square" lIns="0" tIns="0" rIns="0" bIns="0" rtlCol="0" anchor="t"/>
          <a:lstStyle/>
          <a:p>
            <a:r>
              <a:rPr lang="en-US" sz="1600" dirty="0">
                <a:solidFill>
                  <a:srgbClr val="5A5A5A"/>
                </a:solidFill>
                <a:latin typeface="Aptos (Body)"/>
                <a:ea typeface="Aptos" pitchFamily="34" charset="-122"/>
                <a:cs typeface="Aptos" pitchFamily="34" charset="-120"/>
              </a:rPr>
              <a:t>Static tools see the code you point them at. Dynamic tools see the paths your tests execute. Everything else is invisible to them.</a:t>
            </a:r>
            <a:endParaRPr lang="en-US" sz="1600" dirty="0">
              <a:latin typeface="Aptos (Body)"/>
            </a:endParaRPr>
          </a:p>
        </p:txBody>
      </p:sp>
      <p:sp>
        <p:nvSpPr>
          <p:cNvPr id="15" name="Title 14">
            <a:extLst>
              <a:ext uri="{FF2B5EF4-FFF2-40B4-BE49-F238E27FC236}">
                <a16:creationId xmlns:a16="http://schemas.microsoft.com/office/drawing/2014/main" id="{A15378CE-3DE1-9F5D-9BB4-7A09AFE720F4}"/>
              </a:ext>
            </a:extLst>
          </p:cNvPr>
          <p:cNvSpPr>
            <a:spLocks noGrp="1"/>
          </p:cNvSpPr>
          <p:nvPr>
            <p:ph type="title"/>
          </p:nvPr>
        </p:nvSpPr>
        <p:spPr/>
        <p:txBody>
          <a:bodyPr/>
          <a:lstStyle/>
          <a:p>
            <a:r>
              <a:rPr lang="en-US" dirty="0">
                <a:solidFill>
                  <a:srgbClr val="1A1A1A"/>
                </a:solidFill>
              </a:rPr>
              <a:t>Detection at test time</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37260"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Area</a:t>
            </a:r>
            <a:endParaRPr lang="en-US" sz="2400" dirty="0"/>
          </a:p>
        </p:txBody>
      </p:sp>
      <p:sp>
        <p:nvSpPr>
          <p:cNvPr id="4" name="Text 2"/>
          <p:cNvSpPr txBox="1"/>
          <p:nvPr/>
        </p:nvSpPr>
        <p:spPr>
          <a:xfrm>
            <a:off x="2912364"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Technique</a:t>
            </a:r>
            <a:endParaRPr lang="en-US" sz="2400" dirty="0"/>
          </a:p>
        </p:txBody>
      </p:sp>
      <p:sp>
        <p:nvSpPr>
          <p:cNvPr id="5" name="Text 3"/>
          <p:cNvSpPr txBox="1"/>
          <p:nvPr/>
        </p:nvSpPr>
        <p:spPr>
          <a:xfrm>
            <a:off x="5228844"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How</a:t>
            </a:r>
            <a:endParaRPr lang="en-US" sz="2400" dirty="0"/>
          </a:p>
        </p:txBody>
      </p:sp>
      <p:sp>
        <p:nvSpPr>
          <p:cNvPr id="6" name="Text 4"/>
          <p:cNvSpPr txBox="1"/>
          <p:nvPr/>
        </p:nvSpPr>
        <p:spPr>
          <a:xfrm>
            <a:off x="9583420"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Availability</a:t>
            </a:r>
            <a:endParaRPr lang="en-US" sz="2400" dirty="0"/>
          </a:p>
        </p:txBody>
      </p:sp>
      <p:sp>
        <p:nvSpPr>
          <p:cNvPr id="7" name="Shape 5"/>
          <p:cNvSpPr/>
          <p:nvPr/>
        </p:nvSpPr>
        <p:spPr>
          <a:xfrm>
            <a:off x="937260" y="1896491"/>
            <a:ext cx="10668000" cy="0"/>
          </a:xfrm>
          <a:prstGeom prst="line">
            <a:avLst/>
          </a:prstGeom>
          <a:noFill/>
          <a:ln w="9525">
            <a:solidFill>
              <a:srgbClr val="B8B8B8"/>
            </a:solidFill>
            <a:prstDash val="solid"/>
          </a:ln>
        </p:spPr>
        <p:txBody>
          <a:bodyPr/>
          <a:lstStyle/>
          <a:p>
            <a:endParaRPr lang="en-US" sz="2667"/>
          </a:p>
        </p:txBody>
      </p:sp>
      <p:sp>
        <p:nvSpPr>
          <p:cNvPr id="8" name="Text 6"/>
          <p:cNvSpPr txBox="1"/>
          <p:nvPr/>
        </p:nvSpPr>
        <p:spPr>
          <a:xfrm>
            <a:off x="937260" y="1994027"/>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All</a:t>
            </a:r>
            <a:endParaRPr lang="en-US" sz="2000" dirty="0"/>
          </a:p>
        </p:txBody>
      </p:sp>
      <p:sp>
        <p:nvSpPr>
          <p:cNvPr id="9" name="Text 7"/>
          <p:cNvSpPr txBox="1"/>
          <p:nvPr/>
        </p:nvSpPr>
        <p:spPr>
          <a:xfrm>
            <a:off x="2912364" y="1994027"/>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Compiler warnings</a:t>
            </a:r>
            <a:endParaRPr lang="en-US" sz="2000" dirty="0"/>
          </a:p>
        </p:txBody>
      </p:sp>
      <p:sp>
        <p:nvSpPr>
          <p:cNvPr id="10" name="Shape 8"/>
          <p:cNvSpPr/>
          <p:nvPr/>
        </p:nvSpPr>
        <p:spPr>
          <a:xfrm>
            <a:off x="5228844" y="2048891"/>
            <a:ext cx="1114349"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11" name="Text 9"/>
          <p:cNvSpPr txBox="1"/>
          <p:nvPr/>
        </p:nvSpPr>
        <p:spPr>
          <a:xfrm>
            <a:off x="5228844" y="2048891"/>
            <a:ext cx="1114349"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/W4 /WX</a:t>
            </a:r>
            <a:endParaRPr lang="en-US" sz="1867" dirty="0"/>
          </a:p>
        </p:txBody>
      </p:sp>
      <p:sp>
        <p:nvSpPr>
          <p:cNvPr id="12" name="Shape 10"/>
          <p:cNvSpPr/>
          <p:nvPr/>
        </p:nvSpPr>
        <p:spPr>
          <a:xfrm>
            <a:off x="6440730" y="2048891"/>
            <a:ext cx="251399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13" name="Text 11"/>
          <p:cNvSpPr txBox="1"/>
          <p:nvPr/>
        </p:nvSpPr>
        <p:spPr>
          <a:xfrm>
            <a:off x="6440730" y="2048891"/>
            <a:ext cx="251399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-Wall -Wextra -Werror</a:t>
            </a:r>
            <a:endParaRPr lang="en-US" sz="1867" dirty="0"/>
          </a:p>
        </p:txBody>
      </p:sp>
      <p:sp>
        <p:nvSpPr>
          <p:cNvPr id="14" name="Shape 12"/>
          <p:cNvSpPr/>
          <p:nvPr/>
        </p:nvSpPr>
        <p:spPr>
          <a:xfrm>
            <a:off x="9583420" y="2122043"/>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15" name="Shape 13"/>
          <p:cNvSpPr/>
          <p:nvPr/>
        </p:nvSpPr>
        <p:spPr>
          <a:xfrm>
            <a:off x="937260" y="2408555"/>
            <a:ext cx="10668000" cy="0"/>
          </a:xfrm>
          <a:prstGeom prst="line">
            <a:avLst/>
          </a:prstGeom>
          <a:noFill/>
          <a:ln w="6350">
            <a:solidFill>
              <a:srgbClr val="D9D9D9"/>
            </a:solidFill>
            <a:prstDash val="solid"/>
          </a:ln>
        </p:spPr>
        <p:txBody>
          <a:bodyPr/>
          <a:lstStyle/>
          <a:p>
            <a:endParaRPr lang="en-US" sz="2400"/>
          </a:p>
        </p:txBody>
      </p:sp>
      <p:sp>
        <p:nvSpPr>
          <p:cNvPr id="16" name="Text 14"/>
          <p:cNvSpPr txBox="1"/>
          <p:nvPr/>
        </p:nvSpPr>
        <p:spPr>
          <a:xfrm>
            <a:off x="937260" y="2432939"/>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All</a:t>
            </a:r>
            <a:endParaRPr lang="en-US" sz="2000" dirty="0"/>
          </a:p>
        </p:txBody>
      </p:sp>
      <p:sp>
        <p:nvSpPr>
          <p:cNvPr id="17" name="Text 15"/>
          <p:cNvSpPr txBox="1"/>
          <p:nvPr/>
        </p:nvSpPr>
        <p:spPr>
          <a:xfrm>
            <a:off x="2912364" y="2432939"/>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Static analysis</a:t>
            </a:r>
            <a:endParaRPr lang="en-US" sz="2000" dirty="0"/>
          </a:p>
        </p:txBody>
      </p:sp>
      <p:sp>
        <p:nvSpPr>
          <p:cNvPr id="18" name="Shape 16"/>
          <p:cNvSpPr/>
          <p:nvPr/>
        </p:nvSpPr>
        <p:spPr>
          <a:xfrm>
            <a:off x="5228844" y="2487803"/>
            <a:ext cx="1068019"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19" name="Text 17"/>
          <p:cNvSpPr txBox="1"/>
          <p:nvPr/>
        </p:nvSpPr>
        <p:spPr>
          <a:xfrm>
            <a:off x="5228844" y="2487803"/>
            <a:ext cx="1068019"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/analyze</a:t>
            </a:r>
            <a:endParaRPr lang="en-US" sz="1867" dirty="0"/>
          </a:p>
        </p:txBody>
      </p:sp>
      <p:sp>
        <p:nvSpPr>
          <p:cNvPr id="20" name="Shape 18"/>
          <p:cNvSpPr/>
          <p:nvPr/>
        </p:nvSpPr>
        <p:spPr>
          <a:xfrm>
            <a:off x="6394399" y="2487803"/>
            <a:ext cx="1267968"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21" name="Text 19"/>
          <p:cNvSpPr txBox="1"/>
          <p:nvPr/>
        </p:nvSpPr>
        <p:spPr>
          <a:xfrm>
            <a:off x="6394399" y="2487803"/>
            <a:ext cx="1267968"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clang-tidy</a:t>
            </a:r>
            <a:endParaRPr lang="en-US" sz="1867" dirty="0"/>
          </a:p>
        </p:txBody>
      </p:sp>
      <p:sp>
        <p:nvSpPr>
          <p:cNvPr id="22" name="Shape 20"/>
          <p:cNvSpPr/>
          <p:nvPr/>
        </p:nvSpPr>
        <p:spPr>
          <a:xfrm>
            <a:off x="7759903" y="2487803"/>
            <a:ext cx="1014375"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23" name="Text 21"/>
          <p:cNvSpPr txBox="1"/>
          <p:nvPr/>
        </p:nvSpPr>
        <p:spPr>
          <a:xfrm>
            <a:off x="7759903" y="2487803"/>
            <a:ext cx="1014375"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CodeQL</a:t>
            </a:r>
            <a:endParaRPr lang="en-US" sz="1867" dirty="0"/>
          </a:p>
        </p:txBody>
      </p:sp>
      <p:sp>
        <p:nvSpPr>
          <p:cNvPr id="24" name="Shape 22"/>
          <p:cNvSpPr/>
          <p:nvPr/>
        </p:nvSpPr>
        <p:spPr>
          <a:xfrm>
            <a:off x="9583420" y="256095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25" name="Shape 23"/>
          <p:cNvSpPr/>
          <p:nvPr/>
        </p:nvSpPr>
        <p:spPr>
          <a:xfrm>
            <a:off x="9865360" y="2560955"/>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26" name="Text 24"/>
          <p:cNvSpPr txBox="1"/>
          <p:nvPr/>
        </p:nvSpPr>
        <p:spPr>
          <a:xfrm>
            <a:off x="10109200" y="2463419"/>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opt-in</a:t>
            </a:r>
            <a:endParaRPr lang="en-US" sz="2000" dirty="0"/>
          </a:p>
        </p:txBody>
      </p:sp>
      <p:sp>
        <p:nvSpPr>
          <p:cNvPr id="27" name="Shape 25"/>
          <p:cNvSpPr/>
          <p:nvPr/>
        </p:nvSpPr>
        <p:spPr>
          <a:xfrm>
            <a:off x="937260" y="2847467"/>
            <a:ext cx="10668000" cy="0"/>
          </a:xfrm>
          <a:prstGeom prst="line">
            <a:avLst/>
          </a:prstGeom>
          <a:noFill/>
          <a:ln w="6350">
            <a:solidFill>
              <a:srgbClr val="D9D9D9"/>
            </a:solidFill>
            <a:prstDash val="solid"/>
          </a:ln>
        </p:spPr>
        <p:txBody>
          <a:bodyPr/>
          <a:lstStyle/>
          <a:p>
            <a:endParaRPr lang="en-US" sz="2400"/>
          </a:p>
        </p:txBody>
      </p:sp>
      <p:sp>
        <p:nvSpPr>
          <p:cNvPr id="28" name="Text 26"/>
          <p:cNvSpPr txBox="1"/>
          <p:nvPr/>
        </p:nvSpPr>
        <p:spPr>
          <a:xfrm>
            <a:off x="937260" y="2871851"/>
            <a:ext cx="1828800" cy="1207008"/>
          </a:xfrm>
          <a:prstGeom prst="rect">
            <a:avLst/>
          </a:prstGeom>
          <a:noFill/>
          <a:ln/>
        </p:spPr>
        <p:txBody>
          <a:bodyPr wrap="square" lIns="0" tIns="0" rIns="0" bIns="0" rtlCol="0" anchor="t"/>
          <a:lstStyle/>
          <a:p>
            <a:r>
              <a:rPr lang="en-US" sz="2000" b="1" dirty="0">
                <a:solidFill>
                  <a:srgbClr val="1A1A1A"/>
                </a:solidFill>
                <a:latin typeface="Aptos" pitchFamily="34" charset="0"/>
                <a:ea typeface="Aptos" pitchFamily="34" charset="-122"/>
                <a:cs typeface="Aptos" pitchFamily="34" charset="-120"/>
              </a:rPr>
              <a:t>Bounds</a:t>
            </a:r>
            <a:endParaRPr lang="en-US" sz="2000" dirty="0"/>
          </a:p>
        </p:txBody>
      </p:sp>
      <p:sp>
        <p:nvSpPr>
          <p:cNvPr id="29" name="Text 27"/>
          <p:cNvSpPr txBox="1"/>
          <p:nvPr/>
        </p:nvSpPr>
        <p:spPr>
          <a:xfrm>
            <a:off x="2912364" y="2871851"/>
            <a:ext cx="2316480" cy="1207008"/>
          </a:xfrm>
          <a:prstGeom prst="rect">
            <a:avLst/>
          </a:prstGeom>
          <a:noFill/>
          <a:ln/>
        </p:spPr>
        <p:txBody>
          <a:bodyPr wrap="square" lIns="0" tIns="0" rIns="0" bIns="0" rtlCol="0" anchor="t"/>
          <a:lstStyle/>
          <a:p>
            <a:r>
              <a:rPr lang="en-US" sz="2000" dirty="0">
                <a:solidFill>
                  <a:srgbClr val="1A1A1A"/>
                </a:solidFill>
                <a:latin typeface="Aptos" pitchFamily="34" charset="0"/>
                <a:ea typeface="Aptos" pitchFamily="34" charset="-122"/>
                <a:cs typeface="Aptos" pitchFamily="34" charset="-120"/>
              </a:rPr>
              <a:t>Debug STL, RTC</a:t>
            </a:r>
            <a:endParaRPr lang="en-US" sz="2000" dirty="0"/>
          </a:p>
        </p:txBody>
      </p:sp>
      <p:sp>
        <p:nvSpPr>
          <p:cNvPr id="30" name="Shape 28"/>
          <p:cNvSpPr/>
          <p:nvPr/>
        </p:nvSpPr>
        <p:spPr>
          <a:xfrm>
            <a:off x="5228844" y="2932811"/>
            <a:ext cx="364053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1" name="Text 29"/>
          <p:cNvSpPr txBox="1"/>
          <p:nvPr/>
        </p:nvSpPr>
        <p:spPr>
          <a:xfrm>
            <a:off x="5228845" y="2932811"/>
            <a:ext cx="3130296"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_ITERATOR_DEBUG_LEVEL=2</a:t>
            </a:r>
            <a:endParaRPr lang="en-US" sz="1867" dirty="0"/>
          </a:p>
        </p:txBody>
      </p:sp>
      <p:sp>
        <p:nvSpPr>
          <p:cNvPr id="32" name="Shape 30"/>
          <p:cNvSpPr/>
          <p:nvPr/>
        </p:nvSpPr>
        <p:spPr>
          <a:xfrm>
            <a:off x="5228845" y="3310763"/>
            <a:ext cx="235061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3" name="Text 31"/>
          <p:cNvSpPr txBox="1"/>
          <p:nvPr/>
        </p:nvSpPr>
        <p:spPr>
          <a:xfrm>
            <a:off x="5228846" y="3310763"/>
            <a:ext cx="2214066"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_GLIBCXX_DEBUG</a:t>
            </a:r>
            <a:endParaRPr lang="en-US" sz="1867" dirty="0"/>
          </a:p>
        </p:txBody>
      </p:sp>
      <p:sp>
        <p:nvSpPr>
          <p:cNvPr id="34" name="Shape 32"/>
          <p:cNvSpPr/>
          <p:nvPr/>
        </p:nvSpPr>
        <p:spPr>
          <a:xfrm>
            <a:off x="7676997" y="3310763"/>
            <a:ext cx="914400"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5" name="Text 33"/>
          <p:cNvSpPr txBox="1"/>
          <p:nvPr/>
        </p:nvSpPr>
        <p:spPr>
          <a:xfrm>
            <a:off x="7676997" y="3310763"/>
            <a:ext cx="914400"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/RTC1</a:t>
            </a:r>
            <a:endParaRPr lang="en-US" sz="1867" dirty="0"/>
          </a:p>
        </p:txBody>
      </p:sp>
      <p:sp>
        <p:nvSpPr>
          <p:cNvPr id="36" name="Shape 34"/>
          <p:cNvSpPr/>
          <p:nvPr/>
        </p:nvSpPr>
        <p:spPr>
          <a:xfrm>
            <a:off x="5228844" y="3688715"/>
            <a:ext cx="201655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7" name="Text 35"/>
          <p:cNvSpPr txBox="1"/>
          <p:nvPr/>
        </p:nvSpPr>
        <p:spPr>
          <a:xfrm>
            <a:off x="5228844" y="3688715"/>
            <a:ext cx="201655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-fsanitize=bounds</a:t>
            </a:r>
            <a:endParaRPr lang="en-US" sz="1867" dirty="0"/>
          </a:p>
        </p:txBody>
      </p:sp>
      <p:sp>
        <p:nvSpPr>
          <p:cNvPr id="38" name="Shape 36"/>
          <p:cNvSpPr/>
          <p:nvPr/>
        </p:nvSpPr>
        <p:spPr>
          <a:xfrm>
            <a:off x="9583420" y="338391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39" name="Shape 37"/>
          <p:cNvSpPr/>
          <p:nvPr/>
        </p:nvSpPr>
        <p:spPr>
          <a:xfrm>
            <a:off x="937260" y="4054475"/>
            <a:ext cx="10668000" cy="0"/>
          </a:xfrm>
          <a:prstGeom prst="line">
            <a:avLst/>
          </a:prstGeom>
          <a:noFill/>
          <a:ln w="6350">
            <a:solidFill>
              <a:srgbClr val="D9D9D9"/>
            </a:solidFill>
            <a:prstDash val="solid"/>
          </a:ln>
        </p:spPr>
        <p:txBody>
          <a:bodyPr/>
          <a:lstStyle/>
          <a:p>
            <a:endParaRPr lang="en-US" sz="2400"/>
          </a:p>
        </p:txBody>
      </p:sp>
      <p:sp>
        <p:nvSpPr>
          <p:cNvPr id="40" name="Text 38"/>
          <p:cNvSpPr txBox="1"/>
          <p:nvPr/>
        </p:nvSpPr>
        <p:spPr>
          <a:xfrm>
            <a:off x="937260" y="4078859"/>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Lifetime</a:t>
            </a:r>
            <a:endParaRPr lang="en-US" sz="2000" dirty="0"/>
          </a:p>
        </p:txBody>
      </p:sp>
      <p:sp>
        <p:nvSpPr>
          <p:cNvPr id="41" name="Text 39"/>
          <p:cNvSpPr txBox="1"/>
          <p:nvPr/>
        </p:nvSpPr>
        <p:spPr>
          <a:xfrm>
            <a:off x="2912364" y="4078859"/>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AddressSanitizer</a:t>
            </a:r>
            <a:endParaRPr lang="en-US" sz="2000" dirty="0"/>
          </a:p>
        </p:txBody>
      </p:sp>
      <p:sp>
        <p:nvSpPr>
          <p:cNvPr id="42" name="Shape 40"/>
          <p:cNvSpPr/>
          <p:nvPr/>
        </p:nvSpPr>
        <p:spPr>
          <a:xfrm>
            <a:off x="5228844" y="4133723"/>
            <a:ext cx="211653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43" name="Text 41"/>
          <p:cNvSpPr txBox="1"/>
          <p:nvPr/>
        </p:nvSpPr>
        <p:spPr>
          <a:xfrm>
            <a:off x="5228844" y="4133723"/>
            <a:ext cx="211653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-fsanitize=address</a:t>
            </a:r>
            <a:endParaRPr lang="en-US" sz="1867" dirty="0"/>
          </a:p>
        </p:txBody>
      </p:sp>
      <p:sp>
        <p:nvSpPr>
          <p:cNvPr id="44" name="Shape 42"/>
          <p:cNvSpPr/>
          <p:nvPr/>
        </p:nvSpPr>
        <p:spPr>
          <a:xfrm>
            <a:off x="7442911" y="4133723"/>
            <a:ext cx="1063143"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45" name="Text 43"/>
          <p:cNvSpPr txBox="1"/>
          <p:nvPr/>
        </p:nvSpPr>
        <p:spPr>
          <a:xfrm>
            <a:off x="7442911" y="4133723"/>
            <a:ext cx="1063143"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HWASan</a:t>
            </a:r>
            <a:endParaRPr lang="en-US" sz="1867" dirty="0"/>
          </a:p>
        </p:txBody>
      </p:sp>
      <p:sp>
        <p:nvSpPr>
          <p:cNvPr id="46" name="Shape 44"/>
          <p:cNvSpPr/>
          <p:nvPr/>
        </p:nvSpPr>
        <p:spPr>
          <a:xfrm>
            <a:off x="9583420" y="420687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47" name="Shape 45"/>
          <p:cNvSpPr/>
          <p:nvPr/>
        </p:nvSpPr>
        <p:spPr>
          <a:xfrm>
            <a:off x="9865360" y="4206875"/>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48" name="Text 46"/>
          <p:cNvSpPr txBox="1"/>
          <p:nvPr/>
        </p:nvSpPr>
        <p:spPr>
          <a:xfrm>
            <a:off x="10139680" y="4109339"/>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2x cost</a:t>
            </a:r>
            <a:endParaRPr lang="en-US" sz="2000" dirty="0"/>
          </a:p>
        </p:txBody>
      </p:sp>
      <p:sp>
        <p:nvSpPr>
          <p:cNvPr id="49" name="Shape 47"/>
          <p:cNvSpPr/>
          <p:nvPr/>
        </p:nvSpPr>
        <p:spPr>
          <a:xfrm>
            <a:off x="937260" y="4493387"/>
            <a:ext cx="10668000" cy="0"/>
          </a:xfrm>
          <a:prstGeom prst="line">
            <a:avLst/>
          </a:prstGeom>
          <a:noFill/>
          <a:ln w="6350">
            <a:solidFill>
              <a:srgbClr val="D9D9D9"/>
            </a:solidFill>
            <a:prstDash val="solid"/>
          </a:ln>
        </p:spPr>
        <p:txBody>
          <a:bodyPr/>
          <a:lstStyle/>
          <a:p>
            <a:endParaRPr lang="en-US" sz="2400"/>
          </a:p>
        </p:txBody>
      </p:sp>
      <p:sp>
        <p:nvSpPr>
          <p:cNvPr id="50" name="Text 48"/>
          <p:cNvSpPr txBox="1"/>
          <p:nvPr/>
        </p:nvSpPr>
        <p:spPr>
          <a:xfrm>
            <a:off x="937260" y="4517771"/>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Lifetime</a:t>
            </a:r>
            <a:endParaRPr lang="en-US" sz="2000" dirty="0"/>
          </a:p>
        </p:txBody>
      </p:sp>
      <p:sp>
        <p:nvSpPr>
          <p:cNvPr id="51" name="Text 49"/>
          <p:cNvSpPr txBox="1"/>
          <p:nvPr/>
        </p:nvSpPr>
        <p:spPr>
          <a:xfrm>
            <a:off x="2912364" y="4517771"/>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Binary checkers</a:t>
            </a:r>
            <a:endParaRPr lang="en-US" sz="2000" dirty="0"/>
          </a:p>
        </p:txBody>
      </p:sp>
      <p:sp>
        <p:nvSpPr>
          <p:cNvPr id="52" name="Shape 50"/>
          <p:cNvSpPr/>
          <p:nvPr/>
        </p:nvSpPr>
        <p:spPr>
          <a:xfrm>
            <a:off x="5228844" y="4572635"/>
            <a:ext cx="111678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53" name="Text 51"/>
          <p:cNvSpPr txBox="1"/>
          <p:nvPr/>
        </p:nvSpPr>
        <p:spPr>
          <a:xfrm>
            <a:off x="5228844" y="4572635"/>
            <a:ext cx="111678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Valgrind</a:t>
            </a:r>
            <a:endParaRPr lang="en-US" sz="1867" dirty="0"/>
          </a:p>
        </p:txBody>
      </p:sp>
      <p:sp>
        <p:nvSpPr>
          <p:cNvPr id="54" name="Shape 52"/>
          <p:cNvSpPr/>
          <p:nvPr/>
        </p:nvSpPr>
        <p:spPr>
          <a:xfrm>
            <a:off x="6443167" y="4572635"/>
            <a:ext cx="1365504"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55" name="Text 53"/>
          <p:cNvSpPr txBox="1"/>
          <p:nvPr/>
        </p:nvSpPr>
        <p:spPr>
          <a:xfrm>
            <a:off x="6443167" y="4572635"/>
            <a:ext cx="1365504"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Dr. Memory</a:t>
            </a:r>
            <a:endParaRPr lang="en-US" sz="1867" dirty="0"/>
          </a:p>
        </p:txBody>
      </p:sp>
      <p:sp>
        <p:nvSpPr>
          <p:cNvPr id="56" name="Shape 54"/>
          <p:cNvSpPr/>
          <p:nvPr/>
        </p:nvSpPr>
        <p:spPr>
          <a:xfrm>
            <a:off x="7906207" y="4572635"/>
            <a:ext cx="1465479"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57" name="Text 55"/>
          <p:cNvSpPr txBox="1"/>
          <p:nvPr/>
        </p:nvSpPr>
        <p:spPr>
          <a:xfrm>
            <a:off x="7906207" y="4572635"/>
            <a:ext cx="1465479"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AppVerifier</a:t>
            </a:r>
            <a:endParaRPr lang="en-US" sz="1867" dirty="0"/>
          </a:p>
        </p:txBody>
      </p:sp>
      <p:sp>
        <p:nvSpPr>
          <p:cNvPr id="58" name="Shape 56"/>
          <p:cNvSpPr/>
          <p:nvPr/>
        </p:nvSpPr>
        <p:spPr>
          <a:xfrm>
            <a:off x="9583420" y="4645787"/>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59" name="Text 57"/>
          <p:cNvSpPr txBox="1"/>
          <p:nvPr/>
        </p:nvSpPr>
        <p:spPr>
          <a:xfrm>
            <a:off x="9827260" y="4548251"/>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Linux</a:t>
            </a:r>
            <a:endParaRPr lang="en-US" sz="2000" dirty="0"/>
          </a:p>
        </p:txBody>
      </p:sp>
      <p:sp>
        <p:nvSpPr>
          <p:cNvPr id="60" name="Shape 58"/>
          <p:cNvSpPr/>
          <p:nvPr/>
        </p:nvSpPr>
        <p:spPr>
          <a:xfrm>
            <a:off x="10515431" y="4645787"/>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61" name="Text 59"/>
          <p:cNvSpPr txBox="1"/>
          <p:nvPr/>
        </p:nvSpPr>
        <p:spPr>
          <a:xfrm>
            <a:off x="10759271" y="4548251"/>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Windows</a:t>
            </a:r>
            <a:endParaRPr lang="en-US" sz="2000" dirty="0"/>
          </a:p>
        </p:txBody>
      </p:sp>
      <p:sp>
        <p:nvSpPr>
          <p:cNvPr id="62" name="Shape 60"/>
          <p:cNvSpPr/>
          <p:nvPr/>
        </p:nvSpPr>
        <p:spPr>
          <a:xfrm>
            <a:off x="937260" y="4932299"/>
            <a:ext cx="10668000" cy="0"/>
          </a:xfrm>
          <a:prstGeom prst="line">
            <a:avLst/>
          </a:prstGeom>
          <a:noFill/>
          <a:ln w="6350">
            <a:solidFill>
              <a:srgbClr val="D9D9D9"/>
            </a:solidFill>
            <a:prstDash val="solid"/>
          </a:ln>
        </p:spPr>
        <p:txBody>
          <a:bodyPr/>
          <a:lstStyle/>
          <a:p>
            <a:endParaRPr lang="en-US" sz="2400"/>
          </a:p>
        </p:txBody>
      </p:sp>
      <p:sp>
        <p:nvSpPr>
          <p:cNvPr id="63" name="Text 61"/>
          <p:cNvSpPr txBox="1"/>
          <p:nvPr/>
        </p:nvSpPr>
        <p:spPr>
          <a:xfrm>
            <a:off x="937260" y="4956683"/>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Initialization</a:t>
            </a:r>
            <a:endParaRPr lang="en-US" sz="2000" dirty="0"/>
          </a:p>
        </p:txBody>
      </p:sp>
      <p:sp>
        <p:nvSpPr>
          <p:cNvPr id="64" name="Text 62"/>
          <p:cNvSpPr txBox="1"/>
          <p:nvPr/>
        </p:nvSpPr>
        <p:spPr>
          <a:xfrm>
            <a:off x="2912364" y="4956683"/>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MemorySanitizer</a:t>
            </a:r>
            <a:endParaRPr lang="en-US" sz="2000" dirty="0"/>
          </a:p>
        </p:txBody>
      </p:sp>
      <p:sp>
        <p:nvSpPr>
          <p:cNvPr id="65" name="Shape 63"/>
          <p:cNvSpPr/>
          <p:nvPr/>
        </p:nvSpPr>
        <p:spPr>
          <a:xfrm>
            <a:off x="5228844" y="5011547"/>
            <a:ext cx="201655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66" name="Text 64"/>
          <p:cNvSpPr txBox="1"/>
          <p:nvPr/>
        </p:nvSpPr>
        <p:spPr>
          <a:xfrm>
            <a:off x="5228844" y="5011547"/>
            <a:ext cx="201655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-fsanitize=memory</a:t>
            </a:r>
            <a:endParaRPr lang="en-US" sz="1867" dirty="0"/>
          </a:p>
        </p:txBody>
      </p:sp>
      <p:sp>
        <p:nvSpPr>
          <p:cNvPr id="67" name="Shape 65"/>
          <p:cNvSpPr/>
          <p:nvPr/>
        </p:nvSpPr>
        <p:spPr>
          <a:xfrm>
            <a:off x="9583420" y="5084699"/>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68" name="Text 66"/>
          <p:cNvSpPr txBox="1"/>
          <p:nvPr/>
        </p:nvSpPr>
        <p:spPr>
          <a:xfrm>
            <a:off x="9827260" y="4987163"/>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Linux</a:t>
            </a:r>
            <a:endParaRPr lang="en-US" sz="2000" dirty="0"/>
          </a:p>
        </p:txBody>
      </p:sp>
      <p:sp>
        <p:nvSpPr>
          <p:cNvPr id="69" name="Shape 67"/>
          <p:cNvSpPr/>
          <p:nvPr/>
        </p:nvSpPr>
        <p:spPr>
          <a:xfrm>
            <a:off x="10528977" y="5084699"/>
            <a:ext cx="195072" cy="195072"/>
          </a:xfrm>
          <a:prstGeom prst="ellipse">
            <a:avLst/>
          </a:prstGeom>
          <a:solidFill>
            <a:srgbClr val="C93B34"/>
          </a:solidFill>
          <a:ln w="12700">
            <a:solidFill>
              <a:srgbClr val="C93B34"/>
            </a:solidFill>
            <a:prstDash val="solid"/>
          </a:ln>
        </p:spPr>
        <p:txBody>
          <a:bodyPr/>
          <a:lstStyle/>
          <a:p>
            <a:endParaRPr lang="en-US" sz="2000"/>
          </a:p>
        </p:txBody>
      </p:sp>
      <p:sp>
        <p:nvSpPr>
          <p:cNvPr id="70" name="Text 68"/>
          <p:cNvSpPr txBox="1"/>
          <p:nvPr/>
        </p:nvSpPr>
        <p:spPr>
          <a:xfrm>
            <a:off x="10772817" y="4987163"/>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MSVC</a:t>
            </a:r>
            <a:endParaRPr lang="en-US" sz="2000" dirty="0"/>
          </a:p>
        </p:txBody>
      </p:sp>
      <p:sp>
        <p:nvSpPr>
          <p:cNvPr id="71" name="Shape 69"/>
          <p:cNvSpPr/>
          <p:nvPr/>
        </p:nvSpPr>
        <p:spPr>
          <a:xfrm>
            <a:off x="937260" y="5371211"/>
            <a:ext cx="10668000" cy="0"/>
          </a:xfrm>
          <a:prstGeom prst="line">
            <a:avLst/>
          </a:prstGeom>
          <a:noFill/>
          <a:ln w="6350">
            <a:solidFill>
              <a:srgbClr val="D9D9D9"/>
            </a:solidFill>
            <a:prstDash val="solid"/>
          </a:ln>
        </p:spPr>
        <p:txBody>
          <a:bodyPr/>
          <a:lstStyle/>
          <a:p>
            <a:endParaRPr lang="en-US" sz="2400"/>
          </a:p>
        </p:txBody>
      </p:sp>
      <p:sp>
        <p:nvSpPr>
          <p:cNvPr id="72" name="Text 70"/>
          <p:cNvSpPr txBox="1"/>
          <p:nvPr/>
        </p:nvSpPr>
        <p:spPr>
          <a:xfrm>
            <a:off x="937260" y="5395595"/>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Type and value</a:t>
            </a:r>
            <a:endParaRPr lang="en-US" sz="2000" dirty="0"/>
          </a:p>
        </p:txBody>
      </p:sp>
      <p:sp>
        <p:nvSpPr>
          <p:cNvPr id="73" name="Text 71"/>
          <p:cNvSpPr txBox="1"/>
          <p:nvPr/>
        </p:nvSpPr>
        <p:spPr>
          <a:xfrm>
            <a:off x="2912364" y="5395595"/>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UBSan</a:t>
            </a:r>
            <a:endParaRPr lang="en-US" sz="2000" dirty="0"/>
          </a:p>
        </p:txBody>
      </p:sp>
      <p:sp>
        <p:nvSpPr>
          <p:cNvPr id="74" name="Shape 72"/>
          <p:cNvSpPr/>
          <p:nvPr/>
        </p:nvSpPr>
        <p:spPr>
          <a:xfrm>
            <a:off x="5228844" y="5450459"/>
            <a:ext cx="2316480"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75" name="Text 73"/>
          <p:cNvSpPr txBox="1"/>
          <p:nvPr/>
        </p:nvSpPr>
        <p:spPr>
          <a:xfrm>
            <a:off x="5228844" y="5450459"/>
            <a:ext cx="2316480"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-fsanitize=undefined</a:t>
            </a:r>
            <a:endParaRPr lang="en-US" sz="1867" dirty="0"/>
          </a:p>
        </p:txBody>
      </p:sp>
      <p:sp>
        <p:nvSpPr>
          <p:cNvPr id="76" name="Shape 74"/>
          <p:cNvSpPr/>
          <p:nvPr/>
        </p:nvSpPr>
        <p:spPr>
          <a:xfrm>
            <a:off x="9583420" y="5523611"/>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77" name="Shape 75"/>
          <p:cNvSpPr/>
          <p:nvPr/>
        </p:nvSpPr>
        <p:spPr>
          <a:xfrm>
            <a:off x="9865360" y="5523611"/>
            <a:ext cx="195072" cy="195072"/>
          </a:xfrm>
          <a:prstGeom prst="ellipse">
            <a:avLst/>
          </a:prstGeom>
          <a:solidFill>
            <a:srgbClr val="C93B34"/>
          </a:solidFill>
          <a:ln w="12700">
            <a:solidFill>
              <a:srgbClr val="C93B34"/>
            </a:solidFill>
            <a:prstDash val="solid"/>
          </a:ln>
        </p:spPr>
        <p:txBody>
          <a:bodyPr/>
          <a:lstStyle/>
          <a:p>
            <a:endParaRPr lang="en-US" sz="2000"/>
          </a:p>
        </p:txBody>
      </p:sp>
      <p:sp>
        <p:nvSpPr>
          <p:cNvPr id="78" name="Text 76"/>
          <p:cNvSpPr txBox="1"/>
          <p:nvPr/>
        </p:nvSpPr>
        <p:spPr>
          <a:xfrm>
            <a:off x="10109200" y="5426075"/>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MSVC</a:t>
            </a:r>
            <a:endParaRPr lang="en-US" sz="2000" dirty="0"/>
          </a:p>
        </p:txBody>
      </p:sp>
      <p:sp>
        <p:nvSpPr>
          <p:cNvPr id="79" name="Shape 77"/>
          <p:cNvSpPr/>
          <p:nvPr/>
        </p:nvSpPr>
        <p:spPr>
          <a:xfrm>
            <a:off x="937260" y="5810123"/>
            <a:ext cx="10668000" cy="0"/>
          </a:xfrm>
          <a:prstGeom prst="line">
            <a:avLst/>
          </a:prstGeom>
          <a:noFill/>
          <a:ln w="6350">
            <a:solidFill>
              <a:srgbClr val="D9D9D9"/>
            </a:solidFill>
            <a:prstDash val="solid"/>
          </a:ln>
        </p:spPr>
        <p:txBody>
          <a:bodyPr/>
          <a:lstStyle/>
          <a:p>
            <a:endParaRPr lang="en-US" sz="2400"/>
          </a:p>
        </p:txBody>
      </p:sp>
      <p:sp>
        <p:nvSpPr>
          <p:cNvPr id="80" name="Text 78"/>
          <p:cNvSpPr txBox="1"/>
          <p:nvPr/>
        </p:nvSpPr>
        <p:spPr>
          <a:xfrm>
            <a:off x="937260" y="5834507"/>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Concurrency</a:t>
            </a:r>
            <a:endParaRPr lang="en-US" sz="2000" dirty="0"/>
          </a:p>
        </p:txBody>
      </p:sp>
      <p:sp>
        <p:nvSpPr>
          <p:cNvPr id="81" name="Text 79"/>
          <p:cNvSpPr txBox="1"/>
          <p:nvPr/>
        </p:nvSpPr>
        <p:spPr>
          <a:xfrm>
            <a:off x="2912364" y="5834507"/>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ThreadSanitizer</a:t>
            </a:r>
            <a:endParaRPr lang="en-US" sz="2000" dirty="0"/>
          </a:p>
        </p:txBody>
      </p:sp>
      <p:sp>
        <p:nvSpPr>
          <p:cNvPr id="82" name="Shape 80"/>
          <p:cNvSpPr/>
          <p:nvPr/>
        </p:nvSpPr>
        <p:spPr>
          <a:xfrm>
            <a:off x="5228844" y="5889371"/>
            <a:ext cx="201655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83" name="Text 81"/>
          <p:cNvSpPr txBox="1"/>
          <p:nvPr/>
        </p:nvSpPr>
        <p:spPr>
          <a:xfrm>
            <a:off x="5228844" y="5889371"/>
            <a:ext cx="201655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-fsanitize=thread</a:t>
            </a:r>
            <a:endParaRPr lang="en-US" sz="1867" dirty="0"/>
          </a:p>
        </p:txBody>
      </p:sp>
      <p:sp>
        <p:nvSpPr>
          <p:cNvPr id="84" name="Shape 82"/>
          <p:cNvSpPr/>
          <p:nvPr/>
        </p:nvSpPr>
        <p:spPr>
          <a:xfrm>
            <a:off x="7342937" y="5889371"/>
            <a:ext cx="111678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85" name="Text 83"/>
          <p:cNvSpPr txBox="1"/>
          <p:nvPr/>
        </p:nvSpPr>
        <p:spPr>
          <a:xfrm>
            <a:off x="7342937" y="5889371"/>
            <a:ext cx="111678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Helgrind</a:t>
            </a:r>
            <a:endParaRPr lang="en-US" sz="1867" dirty="0"/>
          </a:p>
        </p:txBody>
      </p:sp>
      <p:sp>
        <p:nvSpPr>
          <p:cNvPr id="86" name="Shape 84"/>
          <p:cNvSpPr/>
          <p:nvPr/>
        </p:nvSpPr>
        <p:spPr>
          <a:xfrm>
            <a:off x="9583420" y="5962523"/>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87" name="Text 85"/>
          <p:cNvSpPr txBox="1"/>
          <p:nvPr/>
        </p:nvSpPr>
        <p:spPr>
          <a:xfrm>
            <a:off x="9827260" y="5864987"/>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Linux</a:t>
            </a:r>
            <a:endParaRPr lang="en-US" sz="2000" dirty="0"/>
          </a:p>
        </p:txBody>
      </p:sp>
      <p:sp>
        <p:nvSpPr>
          <p:cNvPr id="88" name="Shape 86"/>
          <p:cNvSpPr/>
          <p:nvPr/>
        </p:nvSpPr>
        <p:spPr>
          <a:xfrm>
            <a:off x="10552684" y="5962523"/>
            <a:ext cx="195072" cy="195072"/>
          </a:xfrm>
          <a:prstGeom prst="ellipse">
            <a:avLst/>
          </a:prstGeom>
          <a:solidFill>
            <a:srgbClr val="C93B34"/>
          </a:solidFill>
          <a:ln w="12700">
            <a:solidFill>
              <a:srgbClr val="C93B34"/>
            </a:solidFill>
            <a:prstDash val="solid"/>
          </a:ln>
        </p:spPr>
        <p:txBody>
          <a:bodyPr/>
          <a:lstStyle/>
          <a:p>
            <a:endParaRPr lang="en-US" sz="2000"/>
          </a:p>
        </p:txBody>
      </p:sp>
      <p:sp>
        <p:nvSpPr>
          <p:cNvPr id="89" name="Text 87"/>
          <p:cNvSpPr txBox="1"/>
          <p:nvPr/>
        </p:nvSpPr>
        <p:spPr>
          <a:xfrm>
            <a:off x="10796524" y="5864987"/>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MSVC</a:t>
            </a:r>
            <a:endParaRPr lang="en-US" sz="2000" dirty="0"/>
          </a:p>
        </p:txBody>
      </p:sp>
      <p:sp>
        <p:nvSpPr>
          <p:cNvPr id="90" name="Shape 88"/>
          <p:cNvSpPr/>
          <p:nvPr/>
        </p:nvSpPr>
        <p:spPr>
          <a:xfrm>
            <a:off x="937260" y="6249035"/>
            <a:ext cx="10668000" cy="0"/>
          </a:xfrm>
          <a:prstGeom prst="line">
            <a:avLst/>
          </a:prstGeom>
          <a:noFill/>
          <a:ln w="6350">
            <a:solidFill>
              <a:srgbClr val="D9D9D9"/>
            </a:solidFill>
            <a:prstDash val="solid"/>
          </a:ln>
        </p:spPr>
        <p:txBody>
          <a:bodyPr/>
          <a:lstStyle/>
          <a:p>
            <a:endParaRPr lang="en-US" sz="2400"/>
          </a:p>
        </p:txBody>
      </p:sp>
      <p:sp>
        <p:nvSpPr>
          <p:cNvPr id="91" name="Text 89"/>
          <p:cNvSpPr txBox="1"/>
          <p:nvPr/>
        </p:nvSpPr>
        <p:spPr>
          <a:xfrm>
            <a:off x="937260" y="6273419"/>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Interface</a:t>
            </a:r>
            <a:endParaRPr lang="en-US" sz="2000" dirty="0"/>
          </a:p>
        </p:txBody>
      </p:sp>
      <p:sp>
        <p:nvSpPr>
          <p:cNvPr id="92" name="Text 90"/>
          <p:cNvSpPr txBox="1"/>
          <p:nvPr/>
        </p:nvSpPr>
        <p:spPr>
          <a:xfrm>
            <a:off x="2912364" y="6273419"/>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Fuzzing</a:t>
            </a:r>
            <a:endParaRPr lang="en-US" sz="2000" dirty="0"/>
          </a:p>
        </p:txBody>
      </p:sp>
      <p:sp>
        <p:nvSpPr>
          <p:cNvPr id="93" name="Shape 91"/>
          <p:cNvSpPr/>
          <p:nvPr/>
        </p:nvSpPr>
        <p:spPr>
          <a:xfrm>
            <a:off x="5228845" y="6328283"/>
            <a:ext cx="121676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94" name="Text 92"/>
          <p:cNvSpPr txBox="1"/>
          <p:nvPr/>
        </p:nvSpPr>
        <p:spPr>
          <a:xfrm>
            <a:off x="5228845" y="6328283"/>
            <a:ext cx="121676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libFuzzer</a:t>
            </a:r>
            <a:endParaRPr lang="en-US" sz="1867" dirty="0"/>
          </a:p>
        </p:txBody>
      </p:sp>
      <p:sp>
        <p:nvSpPr>
          <p:cNvPr id="95" name="Shape 93"/>
          <p:cNvSpPr/>
          <p:nvPr/>
        </p:nvSpPr>
        <p:spPr>
          <a:xfrm>
            <a:off x="6543141" y="6328283"/>
            <a:ext cx="1011936"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96" name="Text 94"/>
          <p:cNvSpPr txBox="1"/>
          <p:nvPr/>
        </p:nvSpPr>
        <p:spPr>
          <a:xfrm>
            <a:off x="6543141" y="6328283"/>
            <a:ext cx="1011936"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AFL++</a:t>
            </a:r>
            <a:endParaRPr lang="en-US" sz="1867" dirty="0"/>
          </a:p>
        </p:txBody>
      </p:sp>
      <p:sp>
        <p:nvSpPr>
          <p:cNvPr id="97" name="Shape 95"/>
          <p:cNvSpPr/>
          <p:nvPr/>
        </p:nvSpPr>
        <p:spPr>
          <a:xfrm>
            <a:off x="7652613" y="6328283"/>
            <a:ext cx="126309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98" name="Text 96"/>
          <p:cNvSpPr txBox="1"/>
          <p:nvPr/>
        </p:nvSpPr>
        <p:spPr>
          <a:xfrm>
            <a:off x="7652613" y="6328283"/>
            <a:ext cx="126309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OSS-Fuzz</a:t>
            </a:r>
            <a:endParaRPr lang="en-US" sz="1867" dirty="0"/>
          </a:p>
        </p:txBody>
      </p:sp>
      <p:sp>
        <p:nvSpPr>
          <p:cNvPr id="99" name="Shape 97"/>
          <p:cNvSpPr/>
          <p:nvPr/>
        </p:nvSpPr>
        <p:spPr>
          <a:xfrm>
            <a:off x="9583420" y="640143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100" name="Shape 98"/>
          <p:cNvSpPr/>
          <p:nvPr/>
        </p:nvSpPr>
        <p:spPr>
          <a:xfrm>
            <a:off x="9857740" y="6401435"/>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101" name="Text 99"/>
          <p:cNvSpPr txBox="1"/>
          <p:nvPr/>
        </p:nvSpPr>
        <p:spPr>
          <a:xfrm>
            <a:off x="10101580" y="6303899"/>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needs harness</a:t>
            </a:r>
            <a:endParaRPr lang="en-US" sz="2000" dirty="0"/>
          </a:p>
        </p:txBody>
      </p:sp>
      <p:sp>
        <p:nvSpPr>
          <p:cNvPr id="102" name="Title 101">
            <a:extLst>
              <a:ext uri="{FF2B5EF4-FFF2-40B4-BE49-F238E27FC236}">
                <a16:creationId xmlns:a16="http://schemas.microsoft.com/office/drawing/2014/main" id="{CC5056A8-F3EF-72A4-2367-224044C3C864}"/>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Detection at test time</a:t>
            </a:r>
            <a:endParaRPr lang="en-US" dirty="0"/>
          </a:p>
        </p:txBody>
      </p:sp>
    </p:spTree>
    <p:extLst>
      <p:ext uri="{BB962C8B-B14F-4D97-AF65-F5344CB8AC3E}">
        <p14:creationId xmlns:p14="http://schemas.microsoft.com/office/powerpoint/2010/main" val="2845472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6E289-2062-1C60-604B-6E1911A5019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788929D-753D-1630-3C9F-C556EC4D5BCB}"/>
              </a:ext>
            </a:extLst>
          </p:cNvPr>
          <p:cNvSpPr txBox="1"/>
          <p:nvPr/>
        </p:nvSpPr>
        <p:spPr>
          <a:xfrm>
            <a:off x="937260"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Area</a:t>
            </a:r>
            <a:endParaRPr lang="en-US" sz="2400" dirty="0"/>
          </a:p>
        </p:txBody>
      </p:sp>
      <p:sp>
        <p:nvSpPr>
          <p:cNvPr id="4" name="Text 2">
            <a:extLst>
              <a:ext uri="{FF2B5EF4-FFF2-40B4-BE49-F238E27FC236}">
                <a16:creationId xmlns:a16="http://schemas.microsoft.com/office/drawing/2014/main" id="{7192AD45-0527-E68B-9F01-68883C3169FB}"/>
              </a:ext>
            </a:extLst>
          </p:cNvPr>
          <p:cNvSpPr txBox="1"/>
          <p:nvPr/>
        </p:nvSpPr>
        <p:spPr>
          <a:xfrm>
            <a:off x="2912364"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Technique</a:t>
            </a:r>
            <a:endParaRPr lang="en-US" sz="2400" dirty="0"/>
          </a:p>
        </p:txBody>
      </p:sp>
      <p:sp>
        <p:nvSpPr>
          <p:cNvPr id="5" name="Text 3">
            <a:extLst>
              <a:ext uri="{FF2B5EF4-FFF2-40B4-BE49-F238E27FC236}">
                <a16:creationId xmlns:a16="http://schemas.microsoft.com/office/drawing/2014/main" id="{E1E6EA50-8B9A-4071-F1C1-AC17EA59FF88}"/>
              </a:ext>
            </a:extLst>
          </p:cNvPr>
          <p:cNvSpPr txBox="1"/>
          <p:nvPr/>
        </p:nvSpPr>
        <p:spPr>
          <a:xfrm>
            <a:off x="5228844"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How</a:t>
            </a:r>
            <a:endParaRPr lang="en-US" sz="2400" dirty="0"/>
          </a:p>
        </p:txBody>
      </p:sp>
      <p:sp>
        <p:nvSpPr>
          <p:cNvPr id="6" name="Text 4">
            <a:extLst>
              <a:ext uri="{FF2B5EF4-FFF2-40B4-BE49-F238E27FC236}">
                <a16:creationId xmlns:a16="http://schemas.microsoft.com/office/drawing/2014/main" id="{4A3D72C0-701B-53E2-85B7-F5CFCFAD23C6}"/>
              </a:ext>
            </a:extLst>
          </p:cNvPr>
          <p:cNvSpPr txBox="1"/>
          <p:nvPr/>
        </p:nvSpPr>
        <p:spPr>
          <a:xfrm>
            <a:off x="9583420" y="1530731"/>
            <a:ext cx="2194560" cy="365760"/>
          </a:xfrm>
          <a:prstGeom prst="rect">
            <a:avLst/>
          </a:prstGeom>
          <a:noFill/>
          <a:ln/>
        </p:spPr>
        <p:txBody>
          <a:bodyPr wrap="square" lIns="0" tIns="0" rIns="0" bIns="0" rtlCol="0" anchor="ctr"/>
          <a:lstStyle/>
          <a:p>
            <a:r>
              <a:rPr lang="en-US" sz="2400" b="1" dirty="0">
                <a:solidFill>
                  <a:srgbClr val="1A1A1A"/>
                </a:solidFill>
                <a:latin typeface="Aptos" pitchFamily="34" charset="0"/>
                <a:ea typeface="Aptos" pitchFamily="34" charset="-122"/>
                <a:cs typeface="Aptos" pitchFamily="34" charset="-120"/>
              </a:rPr>
              <a:t>Availability</a:t>
            </a:r>
            <a:endParaRPr lang="en-US" sz="2400" dirty="0"/>
          </a:p>
        </p:txBody>
      </p:sp>
      <p:sp>
        <p:nvSpPr>
          <p:cNvPr id="7" name="Shape 5">
            <a:extLst>
              <a:ext uri="{FF2B5EF4-FFF2-40B4-BE49-F238E27FC236}">
                <a16:creationId xmlns:a16="http://schemas.microsoft.com/office/drawing/2014/main" id="{C72D02AE-0182-D43E-6AB3-4B18767E8C86}"/>
              </a:ext>
            </a:extLst>
          </p:cNvPr>
          <p:cNvSpPr/>
          <p:nvPr/>
        </p:nvSpPr>
        <p:spPr>
          <a:xfrm>
            <a:off x="937260" y="1896491"/>
            <a:ext cx="10668000" cy="0"/>
          </a:xfrm>
          <a:prstGeom prst="line">
            <a:avLst/>
          </a:prstGeom>
          <a:noFill/>
          <a:ln w="9525">
            <a:solidFill>
              <a:srgbClr val="B8B8B8"/>
            </a:solidFill>
            <a:prstDash val="solid"/>
          </a:ln>
        </p:spPr>
        <p:txBody>
          <a:bodyPr/>
          <a:lstStyle/>
          <a:p>
            <a:endParaRPr lang="en-US" sz="2667"/>
          </a:p>
        </p:txBody>
      </p:sp>
      <p:sp>
        <p:nvSpPr>
          <p:cNvPr id="8" name="Text 6">
            <a:extLst>
              <a:ext uri="{FF2B5EF4-FFF2-40B4-BE49-F238E27FC236}">
                <a16:creationId xmlns:a16="http://schemas.microsoft.com/office/drawing/2014/main" id="{9189F8D2-53F5-7929-0A74-0295F94BA48F}"/>
              </a:ext>
            </a:extLst>
          </p:cNvPr>
          <p:cNvSpPr txBox="1"/>
          <p:nvPr/>
        </p:nvSpPr>
        <p:spPr>
          <a:xfrm>
            <a:off x="937260" y="1994027"/>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All</a:t>
            </a:r>
            <a:endParaRPr lang="en-US" sz="2000" dirty="0"/>
          </a:p>
        </p:txBody>
      </p:sp>
      <p:sp>
        <p:nvSpPr>
          <p:cNvPr id="9" name="Text 7">
            <a:extLst>
              <a:ext uri="{FF2B5EF4-FFF2-40B4-BE49-F238E27FC236}">
                <a16:creationId xmlns:a16="http://schemas.microsoft.com/office/drawing/2014/main" id="{57AF30C3-FE0D-ED51-5C2E-0D8C7FC43DA1}"/>
              </a:ext>
            </a:extLst>
          </p:cNvPr>
          <p:cNvSpPr txBox="1"/>
          <p:nvPr/>
        </p:nvSpPr>
        <p:spPr>
          <a:xfrm>
            <a:off x="2912364" y="1994027"/>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Compiler warnings</a:t>
            </a:r>
            <a:endParaRPr lang="en-US" sz="2000" dirty="0"/>
          </a:p>
        </p:txBody>
      </p:sp>
      <p:sp>
        <p:nvSpPr>
          <p:cNvPr id="10" name="Shape 8">
            <a:extLst>
              <a:ext uri="{FF2B5EF4-FFF2-40B4-BE49-F238E27FC236}">
                <a16:creationId xmlns:a16="http://schemas.microsoft.com/office/drawing/2014/main" id="{AD2B834D-61B5-7B31-99F7-F23FBD41F7D6}"/>
              </a:ext>
            </a:extLst>
          </p:cNvPr>
          <p:cNvSpPr/>
          <p:nvPr/>
        </p:nvSpPr>
        <p:spPr>
          <a:xfrm>
            <a:off x="5228844" y="2048891"/>
            <a:ext cx="1114349"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11" name="Text 9">
            <a:extLst>
              <a:ext uri="{FF2B5EF4-FFF2-40B4-BE49-F238E27FC236}">
                <a16:creationId xmlns:a16="http://schemas.microsoft.com/office/drawing/2014/main" id="{00BC1165-0449-EBBA-BF58-CEAB8F91644A}"/>
              </a:ext>
            </a:extLst>
          </p:cNvPr>
          <p:cNvSpPr txBox="1"/>
          <p:nvPr/>
        </p:nvSpPr>
        <p:spPr>
          <a:xfrm>
            <a:off x="5228844" y="2048891"/>
            <a:ext cx="1114349"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/W4 /WX</a:t>
            </a:r>
            <a:endParaRPr lang="en-US" sz="1867" dirty="0"/>
          </a:p>
        </p:txBody>
      </p:sp>
      <p:sp>
        <p:nvSpPr>
          <p:cNvPr id="12" name="Shape 10">
            <a:extLst>
              <a:ext uri="{FF2B5EF4-FFF2-40B4-BE49-F238E27FC236}">
                <a16:creationId xmlns:a16="http://schemas.microsoft.com/office/drawing/2014/main" id="{2BC3B227-0507-A5F0-3B6B-D775A6648729}"/>
              </a:ext>
            </a:extLst>
          </p:cNvPr>
          <p:cNvSpPr/>
          <p:nvPr/>
        </p:nvSpPr>
        <p:spPr>
          <a:xfrm>
            <a:off x="6440730" y="2048891"/>
            <a:ext cx="251399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13" name="Text 11">
            <a:extLst>
              <a:ext uri="{FF2B5EF4-FFF2-40B4-BE49-F238E27FC236}">
                <a16:creationId xmlns:a16="http://schemas.microsoft.com/office/drawing/2014/main" id="{0BE86496-7C16-7EBE-9BBA-C874FDAC6498}"/>
              </a:ext>
            </a:extLst>
          </p:cNvPr>
          <p:cNvSpPr txBox="1"/>
          <p:nvPr/>
        </p:nvSpPr>
        <p:spPr>
          <a:xfrm>
            <a:off x="6440730" y="2048891"/>
            <a:ext cx="251399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-Wall -Wextra -Werror</a:t>
            </a:r>
            <a:endParaRPr lang="en-US" sz="1867" dirty="0"/>
          </a:p>
        </p:txBody>
      </p:sp>
      <p:sp>
        <p:nvSpPr>
          <p:cNvPr id="14" name="Shape 12">
            <a:extLst>
              <a:ext uri="{FF2B5EF4-FFF2-40B4-BE49-F238E27FC236}">
                <a16:creationId xmlns:a16="http://schemas.microsoft.com/office/drawing/2014/main" id="{39AADA4B-9DE5-E639-58D7-A4AAD174CF6E}"/>
              </a:ext>
            </a:extLst>
          </p:cNvPr>
          <p:cNvSpPr/>
          <p:nvPr/>
        </p:nvSpPr>
        <p:spPr>
          <a:xfrm>
            <a:off x="9583420" y="2122043"/>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15" name="Shape 13">
            <a:extLst>
              <a:ext uri="{FF2B5EF4-FFF2-40B4-BE49-F238E27FC236}">
                <a16:creationId xmlns:a16="http://schemas.microsoft.com/office/drawing/2014/main" id="{9EE99D64-22AE-83C4-E64D-9C5EAA7BF152}"/>
              </a:ext>
            </a:extLst>
          </p:cNvPr>
          <p:cNvSpPr/>
          <p:nvPr/>
        </p:nvSpPr>
        <p:spPr>
          <a:xfrm>
            <a:off x="937260" y="2408555"/>
            <a:ext cx="10668000" cy="0"/>
          </a:xfrm>
          <a:prstGeom prst="line">
            <a:avLst/>
          </a:prstGeom>
          <a:noFill/>
          <a:ln w="6350">
            <a:solidFill>
              <a:srgbClr val="D9D9D9"/>
            </a:solidFill>
            <a:prstDash val="solid"/>
          </a:ln>
        </p:spPr>
        <p:txBody>
          <a:bodyPr/>
          <a:lstStyle/>
          <a:p>
            <a:endParaRPr lang="en-US" sz="2400"/>
          </a:p>
        </p:txBody>
      </p:sp>
      <p:sp>
        <p:nvSpPr>
          <p:cNvPr id="16" name="Text 14">
            <a:extLst>
              <a:ext uri="{FF2B5EF4-FFF2-40B4-BE49-F238E27FC236}">
                <a16:creationId xmlns:a16="http://schemas.microsoft.com/office/drawing/2014/main" id="{DB57B356-6B6D-DB34-A5E8-913F8C9ACC53}"/>
              </a:ext>
            </a:extLst>
          </p:cNvPr>
          <p:cNvSpPr txBox="1"/>
          <p:nvPr/>
        </p:nvSpPr>
        <p:spPr>
          <a:xfrm>
            <a:off x="937260" y="2432939"/>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All</a:t>
            </a:r>
            <a:endParaRPr lang="en-US" sz="2000" dirty="0"/>
          </a:p>
        </p:txBody>
      </p:sp>
      <p:sp>
        <p:nvSpPr>
          <p:cNvPr id="17" name="Text 15">
            <a:extLst>
              <a:ext uri="{FF2B5EF4-FFF2-40B4-BE49-F238E27FC236}">
                <a16:creationId xmlns:a16="http://schemas.microsoft.com/office/drawing/2014/main" id="{A43C5709-B82A-C3B8-E2C4-1678068C04F7}"/>
              </a:ext>
            </a:extLst>
          </p:cNvPr>
          <p:cNvSpPr txBox="1"/>
          <p:nvPr/>
        </p:nvSpPr>
        <p:spPr>
          <a:xfrm>
            <a:off x="2912364" y="2432939"/>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Static analysis</a:t>
            </a:r>
            <a:endParaRPr lang="en-US" sz="2000" dirty="0"/>
          </a:p>
        </p:txBody>
      </p:sp>
      <p:sp>
        <p:nvSpPr>
          <p:cNvPr id="18" name="Shape 16">
            <a:extLst>
              <a:ext uri="{FF2B5EF4-FFF2-40B4-BE49-F238E27FC236}">
                <a16:creationId xmlns:a16="http://schemas.microsoft.com/office/drawing/2014/main" id="{046B5825-AD7C-EA0E-11B7-22B23401BF78}"/>
              </a:ext>
            </a:extLst>
          </p:cNvPr>
          <p:cNvSpPr/>
          <p:nvPr/>
        </p:nvSpPr>
        <p:spPr>
          <a:xfrm>
            <a:off x="5228844" y="2487803"/>
            <a:ext cx="1068019"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19" name="Text 17">
            <a:extLst>
              <a:ext uri="{FF2B5EF4-FFF2-40B4-BE49-F238E27FC236}">
                <a16:creationId xmlns:a16="http://schemas.microsoft.com/office/drawing/2014/main" id="{081658E1-C044-B048-B161-37216CEDD3B1}"/>
              </a:ext>
            </a:extLst>
          </p:cNvPr>
          <p:cNvSpPr txBox="1"/>
          <p:nvPr/>
        </p:nvSpPr>
        <p:spPr>
          <a:xfrm>
            <a:off x="5228844" y="2487803"/>
            <a:ext cx="1068019"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/analyze</a:t>
            </a:r>
            <a:endParaRPr lang="en-US" sz="1867" dirty="0"/>
          </a:p>
        </p:txBody>
      </p:sp>
      <p:sp>
        <p:nvSpPr>
          <p:cNvPr id="20" name="Shape 18">
            <a:extLst>
              <a:ext uri="{FF2B5EF4-FFF2-40B4-BE49-F238E27FC236}">
                <a16:creationId xmlns:a16="http://schemas.microsoft.com/office/drawing/2014/main" id="{7EC57170-B476-6098-7927-9C6F3A2BCA93}"/>
              </a:ext>
            </a:extLst>
          </p:cNvPr>
          <p:cNvSpPr/>
          <p:nvPr/>
        </p:nvSpPr>
        <p:spPr>
          <a:xfrm>
            <a:off x="6394399" y="2487803"/>
            <a:ext cx="1267968"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21" name="Text 19">
            <a:extLst>
              <a:ext uri="{FF2B5EF4-FFF2-40B4-BE49-F238E27FC236}">
                <a16:creationId xmlns:a16="http://schemas.microsoft.com/office/drawing/2014/main" id="{2F0BE88A-7F7D-8353-C3FE-8209831D0A2A}"/>
              </a:ext>
            </a:extLst>
          </p:cNvPr>
          <p:cNvSpPr txBox="1"/>
          <p:nvPr/>
        </p:nvSpPr>
        <p:spPr>
          <a:xfrm>
            <a:off x="6394399" y="2487803"/>
            <a:ext cx="1267968"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clang-tidy</a:t>
            </a:r>
            <a:endParaRPr lang="en-US" sz="1867" dirty="0"/>
          </a:p>
        </p:txBody>
      </p:sp>
      <p:sp>
        <p:nvSpPr>
          <p:cNvPr id="22" name="Shape 20">
            <a:extLst>
              <a:ext uri="{FF2B5EF4-FFF2-40B4-BE49-F238E27FC236}">
                <a16:creationId xmlns:a16="http://schemas.microsoft.com/office/drawing/2014/main" id="{0419F19D-38CA-33B2-AB4E-4AE5ADDDDEDF}"/>
              </a:ext>
            </a:extLst>
          </p:cNvPr>
          <p:cNvSpPr/>
          <p:nvPr/>
        </p:nvSpPr>
        <p:spPr>
          <a:xfrm>
            <a:off x="7759903" y="2487803"/>
            <a:ext cx="1014375"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23" name="Text 21">
            <a:extLst>
              <a:ext uri="{FF2B5EF4-FFF2-40B4-BE49-F238E27FC236}">
                <a16:creationId xmlns:a16="http://schemas.microsoft.com/office/drawing/2014/main" id="{3B1B9662-7D00-47EA-ECCA-565261F5BEB4}"/>
              </a:ext>
            </a:extLst>
          </p:cNvPr>
          <p:cNvSpPr txBox="1"/>
          <p:nvPr/>
        </p:nvSpPr>
        <p:spPr>
          <a:xfrm>
            <a:off x="7759903" y="2487803"/>
            <a:ext cx="1014375"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CodeQL</a:t>
            </a:r>
            <a:endParaRPr lang="en-US" sz="1867" dirty="0"/>
          </a:p>
        </p:txBody>
      </p:sp>
      <p:sp>
        <p:nvSpPr>
          <p:cNvPr id="24" name="Shape 22">
            <a:extLst>
              <a:ext uri="{FF2B5EF4-FFF2-40B4-BE49-F238E27FC236}">
                <a16:creationId xmlns:a16="http://schemas.microsoft.com/office/drawing/2014/main" id="{22287D24-FF38-BC13-1336-FB0288FDE549}"/>
              </a:ext>
            </a:extLst>
          </p:cNvPr>
          <p:cNvSpPr/>
          <p:nvPr/>
        </p:nvSpPr>
        <p:spPr>
          <a:xfrm>
            <a:off x="9583420" y="256095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25" name="Shape 23">
            <a:extLst>
              <a:ext uri="{FF2B5EF4-FFF2-40B4-BE49-F238E27FC236}">
                <a16:creationId xmlns:a16="http://schemas.microsoft.com/office/drawing/2014/main" id="{F116E1C4-5820-89B5-D38B-D7CC03BBFDE1}"/>
              </a:ext>
            </a:extLst>
          </p:cNvPr>
          <p:cNvSpPr/>
          <p:nvPr/>
        </p:nvSpPr>
        <p:spPr>
          <a:xfrm>
            <a:off x="9865360" y="2560955"/>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26" name="Text 24">
            <a:extLst>
              <a:ext uri="{FF2B5EF4-FFF2-40B4-BE49-F238E27FC236}">
                <a16:creationId xmlns:a16="http://schemas.microsoft.com/office/drawing/2014/main" id="{E05FD12B-01E9-3ADB-031E-2241D232B8DB}"/>
              </a:ext>
            </a:extLst>
          </p:cNvPr>
          <p:cNvSpPr txBox="1"/>
          <p:nvPr/>
        </p:nvSpPr>
        <p:spPr>
          <a:xfrm>
            <a:off x="10109200" y="2463419"/>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opt-in</a:t>
            </a:r>
            <a:endParaRPr lang="en-US" sz="2000" dirty="0"/>
          </a:p>
        </p:txBody>
      </p:sp>
      <p:sp>
        <p:nvSpPr>
          <p:cNvPr id="27" name="Shape 25">
            <a:extLst>
              <a:ext uri="{FF2B5EF4-FFF2-40B4-BE49-F238E27FC236}">
                <a16:creationId xmlns:a16="http://schemas.microsoft.com/office/drawing/2014/main" id="{02E11CA8-FDA9-0702-339B-87E75DE015ED}"/>
              </a:ext>
            </a:extLst>
          </p:cNvPr>
          <p:cNvSpPr/>
          <p:nvPr/>
        </p:nvSpPr>
        <p:spPr>
          <a:xfrm>
            <a:off x="937260" y="2847467"/>
            <a:ext cx="10668000" cy="0"/>
          </a:xfrm>
          <a:prstGeom prst="line">
            <a:avLst/>
          </a:prstGeom>
          <a:noFill/>
          <a:ln w="6350">
            <a:solidFill>
              <a:srgbClr val="D9D9D9"/>
            </a:solidFill>
            <a:prstDash val="solid"/>
          </a:ln>
        </p:spPr>
        <p:txBody>
          <a:bodyPr/>
          <a:lstStyle/>
          <a:p>
            <a:endParaRPr lang="en-US" sz="2400"/>
          </a:p>
        </p:txBody>
      </p:sp>
      <p:sp>
        <p:nvSpPr>
          <p:cNvPr id="28" name="Text 26">
            <a:extLst>
              <a:ext uri="{FF2B5EF4-FFF2-40B4-BE49-F238E27FC236}">
                <a16:creationId xmlns:a16="http://schemas.microsoft.com/office/drawing/2014/main" id="{FB3A5B70-FC63-EDC0-A229-C638BD2E1587}"/>
              </a:ext>
            </a:extLst>
          </p:cNvPr>
          <p:cNvSpPr txBox="1"/>
          <p:nvPr/>
        </p:nvSpPr>
        <p:spPr>
          <a:xfrm>
            <a:off x="937260" y="2871851"/>
            <a:ext cx="1828800" cy="1207008"/>
          </a:xfrm>
          <a:prstGeom prst="rect">
            <a:avLst/>
          </a:prstGeom>
          <a:noFill/>
          <a:ln/>
        </p:spPr>
        <p:txBody>
          <a:bodyPr wrap="square" lIns="0" tIns="0" rIns="0" bIns="0" rtlCol="0" anchor="t"/>
          <a:lstStyle/>
          <a:p>
            <a:r>
              <a:rPr lang="en-US" sz="2000" b="1" dirty="0">
                <a:solidFill>
                  <a:srgbClr val="1A1A1A"/>
                </a:solidFill>
                <a:latin typeface="Aptos" pitchFamily="34" charset="0"/>
                <a:ea typeface="Aptos" pitchFamily="34" charset="-122"/>
                <a:cs typeface="Aptos" pitchFamily="34" charset="-120"/>
              </a:rPr>
              <a:t>Bounds</a:t>
            </a:r>
            <a:endParaRPr lang="en-US" sz="2000" dirty="0"/>
          </a:p>
        </p:txBody>
      </p:sp>
      <p:sp>
        <p:nvSpPr>
          <p:cNvPr id="29" name="Text 27">
            <a:extLst>
              <a:ext uri="{FF2B5EF4-FFF2-40B4-BE49-F238E27FC236}">
                <a16:creationId xmlns:a16="http://schemas.microsoft.com/office/drawing/2014/main" id="{B74A42D8-0AB8-FC48-3A87-7AEBC33CA543}"/>
              </a:ext>
            </a:extLst>
          </p:cNvPr>
          <p:cNvSpPr txBox="1"/>
          <p:nvPr/>
        </p:nvSpPr>
        <p:spPr>
          <a:xfrm>
            <a:off x="2912364" y="2871851"/>
            <a:ext cx="2316480" cy="1207008"/>
          </a:xfrm>
          <a:prstGeom prst="rect">
            <a:avLst/>
          </a:prstGeom>
          <a:noFill/>
          <a:ln/>
        </p:spPr>
        <p:txBody>
          <a:bodyPr wrap="square" lIns="0" tIns="0" rIns="0" bIns="0" rtlCol="0" anchor="t"/>
          <a:lstStyle/>
          <a:p>
            <a:r>
              <a:rPr lang="en-US" sz="2000" dirty="0">
                <a:solidFill>
                  <a:srgbClr val="1A1A1A"/>
                </a:solidFill>
                <a:latin typeface="Aptos" pitchFamily="34" charset="0"/>
                <a:ea typeface="Aptos" pitchFamily="34" charset="-122"/>
                <a:cs typeface="Aptos" pitchFamily="34" charset="-120"/>
              </a:rPr>
              <a:t>Debug STL, RTC</a:t>
            </a:r>
            <a:endParaRPr lang="en-US" sz="2000" dirty="0"/>
          </a:p>
        </p:txBody>
      </p:sp>
      <p:sp>
        <p:nvSpPr>
          <p:cNvPr id="30" name="Shape 28">
            <a:extLst>
              <a:ext uri="{FF2B5EF4-FFF2-40B4-BE49-F238E27FC236}">
                <a16:creationId xmlns:a16="http://schemas.microsoft.com/office/drawing/2014/main" id="{54FCD2D0-5E45-B70C-AF12-143C450F59B5}"/>
              </a:ext>
            </a:extLst>
          </p:cNvPr>
          <p:cNvSpPr/>
          <p:nvPr/>
        </p:nvSpPr>
        <p:spPr>
          <a:xfrm>
            <a:off x="5228844" y="2932811"/>
            <a:ext cx="364053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1" name="Text 29">
            <a:extLst>
              <a:ext uri="{FF2B5EF4-FFF2-40B4-BE49-F238E27FC236}">
                <a16:creationId xmlns:a16="http://schemas.microsoft.com/office/drawing/2014/main" id="{5DC7F26D-22D6-5E3F-4EA8-58F231A1C8E9}"/>
              </a:ext>
            </a:extLst>
          </p:cNvPr>
          <p:cNvSpPr txBox="1"/>
          <p:nvPr/>
        </p:nvSpPr>
        <p:spPr>
          <a:xfrm>
            <a:off x="5228845" y="2932811"/>
            <a:ext cx="3130296"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_ITERATOR_DEBUG_LEVEL=2</a:t>
            </a:r>
            <a:endParaRPr lang="en-US" sz="1867" dirty="0"/>
          </a:p>
        </p:txBody>
      </p:sp>
      <p:sp>
        <p:nvSpPr>
          <p:cNvPr id="32" name="Shape 30">
            <a:extLst>
              <a:ext uri="{FF2B5EF4-FFF2-40B4-BE49-F238E27FC236}">
                <a16:creationId xmlns:a16="http://schemas.microsoft.com/office/drawing/2014/main" id="{77DF4126-EE08-547B-14B5-F6DAEF968F9A}"/>
              </a:ext>
            </a:extLst>
          </p:cNvPr>
          <p:cNvSpPr/>
          <p:nvPr/>
        </p:nvSpPr>
        <p:spPr>
          <a:xfrm>
            <a:off x="5228845" y="3310763"/>
            <a:ext cx="235061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3" name="Text 31">
            <a:extLst>
              <a:ext uri="{FF2B5EF4-FFF2-40B4-BE49-F238E27FC236}">
                <a16:creationId xmlns:a16="http://schemas.microsoft.com/office/drawing/2014/main" id="{767E135E-6A79-B31E-2DCC-39D9A941A810}"/>
              </a:ext>
            </a:extLst>
          </p:cNvPr>
          <p:cNvSpPr txBox="1"/>
          <p:nvPr/>
        </p:nvSpPr>
        <p:spPr>
          <a:xfrm>
            <a:off x="5228846" y="3310763"/>
            <a:ext cx="2214066"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_GLIBCXX_DEBUG</a:t>
            </a:r>
            <a:endParaRPr lang="en-US" sz="1867" dirty="0"/>
          </a:p>
        </p:txBody>
      </p:sp>
      <p:sp>
        <p:nvSpPr>
          <p:cNvPr id="34" name="Shape 32">
            <a:extLst>
              <a:ext uri="{FF2B5EF4-FFF2-40B4-BE49-F238E27FC236}">
                <a16:creationId xmlns:a16="http://schemas.microsoft.com/office/drawing/2014/main" id="{6F43A7FB-0AF6-E029-B1EF-AF2FC917AF76}"/>
              </a:ext>
            </a:extLst>
          </p:cNvPr>
          <p:cNvSpPr/>
          <p:nvPr/>
        </p:nvSpPr>
        <p:spPr>
          <a:xfrm>
            <a:off x="7676997" y="3310763"/>
            <a:ext cx="914400"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5" name="Text 33">
            <a:extLst>
              <a:ext uri="{FF2B5EF4-FFF2-40B4-BE49-F238E27FC236}">
                <a16:creationId xmlns:a16="http://schemas.microsoft.com/office/drawing/2014/main" id="{AC3E58F2-4F17-230A-C3C3-E27C11FFC3AD}"/>
              </a:ext>
            </a:extLst>
          </p:cNvPr>
          <p:cNvSpPr txBox="1"/>
          <p:nvPr/>
        </p:nvSpPr>
        <p:spPr>
          <a:xfrm>
            <a:off x="7676997" y="3310763"/>
            <a:ext cx="914400"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/RTC1</a:t>
            </a:r>
            <a:endParaRPr lang="en-US" sz="1867" dirty="0"/>
          </a:p>
        </p:txBody>
      </p:sp>
      <p:sp>
        <p:nvSpPr>
          <p:cNvPr id="36" name="Shape 34">
            <a:extLst>
              <a:ext uri="{FF2B5EF4-FFF2-40B4-BE49-F238E27FC236}">
                <a16:creationId xmlns:a16="http://schemas.microsoft.com/office/drawing/2014/main" id="{A6685B41-0553-6315-F9FA-695F7080E923}"/>
              </a:ext>
            </a:extLst>
          </p:cNvPr>
          <p:cNvSpPr/>
          <p:nvPr/>
        </p:nvSpPr>
        <p:spPr>
          <a:xfrm>
            <a:off x="5228844" y="3688715"/>
            <a:ext cx="201655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37" name="Text 35">
            <a:extLst>
              <a:ext uri="{FF2B5EF4-FFF2-40B4-BE49-F238E27FC236}">
                <a16:creationId xmlns:a16="http://schemas.microsoft.com/office/drawing/2014/main" id="{CEC60042-85BC-A500-76DE-FD43C5BF0CA6}"/>
              </a:ext>
            </a:extLst>
          </p:cNvPr>
          <p:cNvSpPr txBox="1"/>
          <p:nvPr/>
        </p:nvSpPr>
        <p:spPr>
          <a:xfrm>
            <a:off x="5228844" y="3688715"/>
            <a:ext cx="201655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-fsanitize=bounds</a:t>
            </a:r>
            <a:endParaRPr lang="en-US" sz="1867" dirty="0"/>
          </a:p>
        </p:txBody>
      </p:sp>
      <p:sp>
        <p:nvSpPr>
          <p:cNvPr id="38" name="Shape 36">
            <a:extLst>
              <a:ext uri="{FF2B5EF4-FFF2-40B4-BE49-F238E27FC236}">
                <a16:creationId xmlns:a16="http://schemas.microsoft.com/office/drawing/2014/main" id="{C22A8715-B854-6E6A-3B59-EB7CD8A80268}"/>
              </a:ext>
            </a:extLst>
          </p:cNvPr>
          <p:cNvSpPr/>
          <p:nvPr/>
        </p:nvSpPr>
        <p:spPr>
          <a:xfrm>
            <a:off x="9583420" y="338391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39" name="Shape 37">
            <a:extLst>
              <a:ext uri="{FF2B5EF4-FFF2-40B4-BE49-F238E27FC236}">
                <a16:creationId xmlns:a16="http://schemas.microsoft.com/office/drawing/2014/main" id="{BB3D7FC2-7A47-665A-85E4-FBE89E9E13A0}"/>
              </a:ext>
            </a:extLst>
          </p:cNvPr>
          <p:cNvSpPr/>
          <p:nvPr/>
        </p:nvSpPr>
        <p:spPr>
          <a:xfrm>
            <a:off x="937260" y="4054475"/>
            <a:ext cx="10668000" cy="0"/>
          </a:xfrm>
          <a:prstGeom prst="line">
            <a:avLst/>
          </a:prstGeom>
          <a:noFill/>
          <a:ln w="6350">
            <a:solidFill>
              <a:srgbClr val="D9D9D9"/>
            </a:solidFill>
            <a:prstDash val="solid"/>
          </a:ln>
        </p:spPr>
        <p:txBody>
          <a:bodyPr/>
          <a:lstStyle/>
          <a:p>
            <a:endParaRPr lang="en-US" sz="2400"/>
          </a:p>
        </p:txBody>
      </p:sp>
      <p:sp>
        <p:nvSpPr>
          <p:cNvPr id="40" name="Text 38">
            <a:extLst>
              <a:ext uri="{FF2B5EF4-FFF2-40B4-BE49-F238E27FC236}">
                <a16:creationId xmlns:a16="http://schemas.microsoft.com/office/drawing/2014/main" id="{4BE3ADF7-3B21-D6C6-50B4-947957672CA8}"/>
              </a:ext>
            </a:extLst>
          </p:cNvPr>
          <p:cNvSpPr txBox="1"/>
          <p:nvPr/>
        </p:nvSpPr>
        <p:spPr>
          <a:xfrm>
            <a:off x="937260" y="4078859"/>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Lifetime</a:t>
            </a:r>
            <a:endParaRPr lang="en-US" sz="2000" dirty="0"/>
          </a:p>
        </p:txBody>
      </p:sp>
      <p:sp>
        <p:nvSpPr>
          <p:cNvPr id="41" name="Text 39">
            <a:extLst>
              <a:ext uri="{FF2B5EF4-FFF2-40B4-BE49-F238E27FC236}">
                <a16:creationId xmlns:a16="http://schemas.microsoft.com/office/drawing/2014/main" id="{F04A57DC-434C-4009-758F-FE4B69BFA26A}"/>
              </a:ext>
            </a:extLst>
          </p:cNvPr>
          <p:cNvSpPr txBox="1"/>
          <p:nvPr/>
        </p:nvSpPr>
        <p:spPr>
          <a:xfrm>
            <a:off x="2912364" y="4078859"/>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AddressSanitizer</a:t>
            </a:r>
            <a:endParaRPr lang="en-US" sz="2000" dirty="0"/>
          </a:p>
        </p:txBody>
      </p:sp>
      <p:sp>
        <p:nvSpPr>
          <p:cNvPr id="42" name="Shape 40">
            <a:extLst>
              <a:ext uri="{FF2B5EF4-FFF2-40B4-BE49-F238E27FC236}">
                <a16:creationId xmlns:a16="http://schemas.microsoft.com/office/drawing/2014/main" id="{02426F87-E77F-E3D7-CA1B-AC62DB9AB0B7}"/>
              </a:ext>
            </a:extLst>
          </p:cNvPr>
          <p:cNvSpPr/>
          <p:nvPr/>
        </p:nvSpPr>
        <p:spPr>
          <a:xfrm>
            <a:off x="5228844" y="4133723"/>
            <a:ext cx="211653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43" name="Text 41">
            <a:extLst>
              <a:ext uri="{FF2B5EF4-FFF2-40B4-BE49-F238E27FC236}">
                <a16:creationId xmlns:a16="http://schemas.microsoft.com/office/drawing/2014/main" id="{5F40A463-0E67-7ABF-BAD5-6E4F14486838}"/>
              </a:ext>
            </a:extLst>
          </p:cNvPr>
          <p:cNvSpPr txBox="1"/>
          <p:nvPr/>
        </p:nvSpPr>
        <p:spPr>
          <a:xfrm>
            <a:off x="5228844" y="4133723"/>
            <a:ext cx="211653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-fsanitize=address</a:t>
            </a:r>
            <a:endParaRPr lang="en-US" sz="1867" dirty="0"/>
          </a:p>
        </p:txBody>
      </p:sp>
      <p:sp>
        <p:nvSpPr>
          <p:cNvPr id="44" name="Shape 42">
            <a:extLst>
              <a:ext uri="{FF2B5EF4-FFF2-40B4-BE49-F238E27FC236}">
                <a16:creationId xmlns:a16="http://schemas.microsoft.com/office/drawing/2014/main" id="{626EEE05-FD72-3556-11A5-1807543F36B3}"/>
              </a:ext>
            </a:extLst>
          </p:cNvPr>
          <p:cNvSpPr/>
          <p:nvPr/>
        </p:nvSpPr>
        <p:spPr>
          <a:xfrm>
            <a:off x="7442911" y="4133723"/>
            <a:ext cx="1063143"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45" name="Text 43">
            <a:extLst>
              <a:ext uri="{FF2B5EF4-FFF2-40B4-BE49-F238E27FC236}">
                <a16:creationId xmlns:a16="http://schemas.microsoft.com/office/drawing/2014/main" id="{1BF6C57A-F117-818D-2A60-9335EE32C781}"/>
              </a:ext>
            </a:extLst>
          </p:cNvPr>
          <p:cNvSpPr txBox="1"/>
          <p:nvPr/>
        </p:nvSpPr>
        <p:spPr>
          <a:xfrm>
            <a:off x="7442911" y="4133723"/>
            <a:ext cx="1063143"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HWASan</a:t>
            </a:r>
            <a:endParaRPr lang="en-US" sz="1867" dirty="0"/>
          </a:p>
        </p:txBody>
      </p:sp>
      <p:sp>
        <p:nvSpPr>
          <p:cNvPr id="46" name="Shape 44">
            <a:extLst>
              <a:ext uri="{FF2B5EF4-FFF2-40B4-BE49-F238E27FC236}">
                <a16:creationId xmlns:a16="http://schemas.microsoft.com/office/drawing/2014/main" id="{F2635154-71B3-95BA-FAAC-24745A6BF2DB}"/>
              </a:ext>
            </a:extLst>
          </p:cNvPr>
          <p:cNvSpPr/>
          <p:nvPr/>
        </p:nvSpPr>
        <p:spPr>
          <a:xfrm>
            <a:off x="9583420" y="420687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47" name="Shape 45">
            <a:extLst>
              <a:ext uri="{FF2B5EF4-FFF2-40B4-BE49-F238E27FC236}">
                <a16:creationId xmlns:a16="http://schemas.microsoft.com/office/drawing/2014/main" id="{F9513026-5550-5634-0831-0F2DB6704700}"/>
              </a:ext>
            </a:extLst>
          </p:cNvPr>
          <p:cNvSpPr/>
          <p:nvPr/>
        </p:nvSpPr>
        <p:spPr>
          <a:xfrm>
            <a:off x="9865360" y="4206875"/>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48" name="Text 46">
            <a:extLst>
              <a:ext uri="{FF2B5EF4-FFF2-40B4-BE49-F238E27FC236}">
                <a16:creationId xmlns:a16="http://schemas.microsoft.com/office/drawing/2014/main" id="{CBBD4C62-C515-8C82-37B1-8F68E19CDA27}"/>
              </a:ext>
            </a:extLst>
          </p:cNvPr>
          <p:cNvSpPr txBox="1"/>
          <p:nvPr/>
        </p:nvSpPr>
        <p:spPr>
          <a:xfrm>
            <a:off x="10139680" y="4109339"/>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2x cost</a:t>
            </a:r>
            <a:endParaRPr lang="en-US" sz="2000" dirty="0"/>
          </a:p>
        </p:txBody>
      </p:sp>
      <p:sp>
        <p:nvSpPr>
          <p:cNvPr id="49" name="Shape 47">
            <a:extLst>
              <a:ext uri="{FF2B5EF4-FFF2-40B4-BE49-F238E27FC236}">
                <a16:creationId xmlns:a16="http://schemas.microsoft.com/office/drawing/2014/main" id="{B20226F0-2E32-8F63-AF0F-A92F57D627A7}"/>
              </a:ext>
            </a:extLst>
          </p:cNvPr>
          <p:cNvSpPr/>
          <p:nvPr/>
        </p:nvSpPr>
        <p:spPr>
          <a:xfrm>
            <a:off x="937260" y="4493387"/>
            <a:ext cx="10668000" cy="0"/>
          </a:xfrm>
          <a:prstGeom prst="line">
            <a:avLst/>
          </a:prstGeom>
          <a:noFill/>
          <a:ln w="6350">
            <a:solidFill>
              <a:srgbClr val="D9D9D9"/>
            </a:solidFill>
            <a:prstDash val="solid"/>
          </a:ln>
        </p:spPr>
        <p:txBody>
          <a:bodyPr/>
          <a:lstStyle/>
          <a:p>
            <a:endParaRPr lang="en-US" sz="2400"/>
          </a:p>
        </p:txBody>
      </p:sp>
      <p:sp>
        <p:nvSpPr>
          <p:cNvPr id="50" name="Text 48">
            <a:extLst>
              <a:ext uri="{FF2B5EF4-FFF2-40B4-BE49-F238E27FC236}">
                <a16:creationId xmlns:a16="http://schemas.microsoft.com/office/drawing/2014/main" id="{7A89CD58-F962-A80B-10B4-D5AFCC22373B}"/>
              </a:ext>
            </a:extLst>
          </p:cNvPr>
          <p:cNvSpPr txBox="1"/>
          <p:nvPr/>
        </p:nvSpPr>
        <p:spPr>
          <a:xfrm>
            <a:off x="937260" y="4517771"/>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Lifetime</a:t>
            </a:r>
            <a:endParaRPr lang="en-US" sz="2000" dirty="0"/>
          </a:p>
        </p:txBody>
      </p:sp>
      <p:sp>
        <p:nvSpPr>
          <p:cNvPr id="51" name="Text 49">
            <a:extLst>
              <a:ext uri="{FF2B5EF4-FFF2-40B4-BE49-F238E27FC236}">
                <a16:creationId xmlns:a16="http://schemas.microsoft.com/office/drawing/2014/main" id="{B5B6AABB-7803-6F2D-CE4A-562DF0CE61D6}"/>
              </a:ext>
            </a:extLst>
          </p:cNvPr>
          <p:cNvSpPr txBox="1"/>
          <p:nvPr/>
        </p:nvSpPr>
        <p:spPr>
          <a:xfrm>
            <a:off x="2912364" y="4517771"/>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Binary checkers</a:t>
            </a:r>
            <a:endParaRPr lang="en-US" sz="2000" dirty="0"/>
          </a:p>
        </p:txBody>
      </p:sp>
      <p:sp>
        <p:nvSpPr>
          <p:cNvPr id="52" name="Shape 50">
            <a:extLst>
              <a:ext uri="{FF2B5EF4-FFF2-40B4-BE49-F238E27FC236}">
                <a16:creationId xmlns:a16="http://schemas.microsoft.com/office/drawing/2014/main" id="{82258A6D-16AD-5E28-3B7C-E834795CFDC8}"/>
              </a:ext>
            </a:extLst>
          </p:cNvPr>
          <p:cNvSpPr/>
          <p:nvPr/>
        </p:nvSpPr>
        <p:spPr>
          <a:xfrm>
            <a:off x="5228844" y="4572635"/>
            <a:ext cx="111678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53" name="Text 51">
            <a:extLst>
              <a:ext uri="{FF2B5EF4-FFF2-40B4-BE49-F238E27FC236}">
                <a16:creationId xmlns:a16="http://schemas.microsoft.com/office/drawing/2014/main" id="{6B62D859-E5C8-0D7A-A093-093E6209BCD8}"/>
              </a:ext>
            </a:extLst>
          </p:cNvPr>
          <p:cNvSpPr txBox="1"/>
          <p:nvPr/>
        </p:nvSpPr>
        <p:spPr>
          <a:xfrm>
            <a:off x="5228844" y="4572635"/>
            <a:ext cx="111678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Valgrind</a:t>
            </a:r>
            <a:endParaRPr lang="en-US" sz="1867" dirty="0"/>
          </a:p>
        </p:txBody>
      </p:sp>
      <p:sp>
        <p:nvSpPr>
          <p:cNvPr id="54" name="Shape 52">
            <a:extLst>
              <a:ext uri="{FF2B5EF4-FFF2-40B4-BE49-F238E27FC236}">
                <a16:creationId xmlns:a16="http://schemas.microsoft.com/office/drawing/2014/main" id="{23C3280F-D571-646F-1401-6816BACD4435}"/>
              </a:ext>
            </a:extLst>
          </p:cNvPr>
          <p:cNvSpPr/>
          <p:nvPr/>
        </p:nvSpPr>
        <p:spPr>
          <a:xfrm>
            <a:off x="6443167" y="4572635"/>
            <a:ext cx="1365504"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55" name="Text 53">
            <a:extLst>
              <a:ext uri="{FF2B5EF4-FFF2-40B4-BE49-F238E27FC236}">
                <a16:creationId xmlns:a16="http://schemas.microsoft.com/office/drawing/2014/main" id="{AD969F5D-5F1A-8DD4-DDDA-BF00BEAAD1CE}"/>
              </a:ext>
            </a:extLst>
          </p:cNvPr>
          <p:cNvSpPr txBox="1"/>
          <p:nvPr/>
        </p:nvSpPr>
        <p:spPr>
          <a:xfrm>
            <a:off x="6443167" y="4572635"/>
            <a:ext cx="1365504"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Dr. Memory</a:t>
            </a:r>
            <a:endParaRPr lang="en-US" sz="1867" dirty="0"/>
          </a:p>
        </p:txBody>
      </p:sp>
      <p:sp>
        <p:nvSpPr>
          <p:cNvPr id="56" name="Shape 54">
            <a:extLst>
              <a:ext uri="{FF2B5EF4-FFF2-40B4-BE49-F238E27FC236}">
                <a16:creationId xmlns:a16="http://schemas.microsoft.com/office/drawing/2014/main" id="{1D5E0DCE-A70B-2233-1EB2-DBDEE8F9F1C5}"/>
              </a:ext>
            </a:extLst>
          </p:cNvPr>
          <p:cNvSpPr/>
          <p:nvPr/>
        </p:nvSpPr>
        <p:spPr>
          <a:xfrm>
            <a:off x="7906207" y="4572635"/>
            <a:ext cx="1465479"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57" name="Text 55">
            <a:extLst>
              <a:ext uri="{FF2B5EF4-FFF2-40B4-BE49-F238E27FC236}">
                <a16:creationId xmlns:a16="http://schemas.microsoft.com/office/drawing/2014/main" id="{EDBE2279-94F3-99F8-8CA7-711436C017BA}"/>
              </a:ext>
            </a:extLst>
          </p:cNvPr>
          <p:cNvSpPr txBox="1"/>
          <p:nvPr/>
        </p:nvSpPr>
        <p:spPr>
          <a:xfrm>
            <a:off x="7906207" y="4572635"/>
            <a:ext cx="1465479"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AppVerifier</a:t>
            </a:r>
            <a:endParaRPr lang="en-US" sz="1867" dirty="0"/>
          </a:p>
        </p:txBody>
      </p:sp>
      <p:sp>
        <p:nvSpPr>
          <p:cNvPr id="58" name="Shape 56">
            <a:extLst>
              <a:ext uri="{FF2B5EF4-FFF2-40B4-BE49-F238E27FC236}">
                <a16:creationId xmlns:a16="http://schemas.microsoft.com/office/drawing/2014/main" id="{B1863F6E-F2CD-42F6-EE2F-9220C77A7A45}"/>
              </a:ext>
            </a:extLst>
          </p:cNvPr>
          <p:cNvSpPr/>
          <p:nvPr/>
        </p:nvSpPr>
        <p:spPr>
          <a:xfrm>
            <a:off x="9583420" y="4645787"/>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59" name="Text 57">
            <a:extLst>
              <a:ext uri="{FF2B5EF4-FFF2-40B4-BE49-F238E27FC236}">
                <a16:creationId xmlns:a16="http://schemas.microsoft.com/office/drawing/2014/main" id="{13E9812D-D7B5-C3AE-D3FC-8D1138FC70AD}"/>
              </a:ext>
            </a:extLst>
          </p:cNvPr>
          <p:cNvSpPr txBox="1"/>
          <p:nvPr/>
        </p:nvSpPr>
        <p:spPr>
          <a:xfrm>
            <a:off x="9827260" y="4548251"/>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Linux</a:t>
            </a:r>
            <a:endParaRPr lang="en-US" sz="2000" dirty="0"/>
          </a:p>
        </p:txBody>
      </p:sp>
      <p:sp>
        <p:nvSpPr>
          <p:cNvPr id="60" name="Shape 58">
            <a:extLst>
              <a:ext uri="{FF2B5EF4-FFF2-40B4-BE49-F238E27FC236}">
                <a16:creationId xmlns:a16="http://schemas.microsoft.com/office/drawing/2014/main" id="{35E585E5-9A08-53B8-D4E8-F351156BCB00}"/>
              </a:ext>
            </a:extLst>
          </p:cNvPr>
          <p:cNvSpPr/>
          <p:nvPr/>
        </p:nvSpPr>
        <p:spPr>
          <a:xfrm>
            <a:off x="10515431" y="4645787"/>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61" name="Text 59">
            <a:extLst>
              <a:ext uri="{FF2B5EF4-FFF2-40B4-BE49-F238E27FC236}">
                <a16:creationId xmlns:a16="http://schemas.microsoft.com/office/drawing/2014/main" id="{73354D7F-9A42-71E7-2D6F-634A59A1431B}"/>
              </a:ext>
            </a:extLst>
          </p:cNvPr>
          <p:cNvSpPr txBox="1"/>
          <p:nvPr/>
        </p:nvSpPr>
        <p:spPr>
          <a:xfrm>
            <a:off x="10759271" y="4548251"/>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Windows</a:t>
            </a:r>
            <a:endParaRPr lang="en-US" sz="2000" dirty="0"/>
          </a:p>
        </p:txBody>
      </p:sp>
      <p:sp>
        <p:nvSpPr>
          <p:cNvPr id="62" name="Shape 60">
            <a:extLst>
              <a:ext uri="{FF2B5EF4-FFF2-40B4-BE49-F238E27FC236}">
                <a16:creationId xmlns:a16="http://schemas.microsoft.com/office/drawing/2014/main" id="{38D3E811-58F9-D467-116C-2469F7515415}"/>
              </a:ext>
            </a:extLst>
          </p:cNvPr>
          <p:cNvSpPr/>
          <p:nvPr/>
        </p:nvSpPr>
        <p:spPr>
          <a:xfrm>
            <a:off x="937260" y="4932299"/>
            <a:ext cx="10668000" cy="0"/>
          </a:xfrm>
          <a:prstGeom prst="line">
            <a:avLst/>
          </a:prstGeom>
          <a:noFill/>
          <a:ln w="6350">
            <a:solidFill>
              <a:srgbClr val="D9D9D9"/>
            </a:solidFill>
            <a:prstDash val="solid"/>
          </a:ln>
        </p:spPr>
        <p:txBody>
          <a:bodyPr/>
          <a:lstStyle/>
          <a:p>
            <a:endParaRPr lang="en-US" sz="2400"/>
          </a:p>
        </p:txBody>
      </p:sp>
      <p:sp>
        <p:nvSpPr>
          <p:cNvPr id="63" name="Text 61">
            <a:extLst>
              <a:ext uri="{FF2B5EF4-FFF2-40B4-BE49-F238E27FC236}">
                <a16:creationId xmlns:a16="http://schemas.microsoft.com/office/drawing/2014/main" id="{FA41E69C-CCEB-D22C-3327-2F4FBC38D7C4}"/>
              </a:ext>
            </a:extLst>
          </p:cNvPr>
          <p:cNvSpPr txBox="1"/>
          <p:nvPr/>
        </p:nvSpPr>
        <p:spPr>
          <a:xfrm>
            <a:off x="937260" y="4956683"/>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Initialization</a:t>
            </a:r>
            <a:endParaRPr lang="en-US" sz="2000" dirty="0"/>
          </a:p>
        </p:txBody>
      </p:sp>
      <p:sp>
        <p:nvSpPr>
          <p:cNvPr id="64" name="Text 62">
            <a:extLst>
              <a:ext uri="{FF2B5EF4-FFF2-40B4-BE49-F238E27FC236}">
                <a16:creationId xmlns:a16="http://schemas.microsoft.com/office/drawing/2014/main" id="{DB0672ED-6A4D-D0F0-A283-2DAB106EC534}"/>
              </a:ext>
            </a:extLst>
          </p:cNvPr>
          <p:cNvSpPr txBox="1"/>
          <p:nvPr/>
        </p:nvSpPr>
        <p:spPr>
          <a:xfrm>
            <a:off x="2912364" y="4956683"/>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MemorySanitizer</a:t>
            </a:r>
            <a:endParaRPr lang="en-US" sz="2000" dirty="0"/>
          </a:p>
        </p:txBody>
      </p:sp>
      <p:sp>
        <p:nvSpPr>
          <p:cNvPr id="65" name="Shape 63">
            <a:extLst>
              <a:ext uri="{FF2B5EF4-FFF2-40B4-BE49-F238E27FC236}">
                <a16:creationId xmlns:a16="http://schemas.microsoft.com/office/drawing/2014/main" id="{D43CE3BF-BE36-E20B-81CD-38175C28FFE3}"/>
              </a:ext>
            </a:extLst>
          </p:cNvPr>
          <p:cNvSpPr/>
          <p:nvPr/>
        </p:nvSpPr>
        <p:spPr>
          <a:xfrm>
            <a:off x="5228844" y="5011547"/>
            <a:ext cx="201655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66" name="Text 64">
            <a:extLst>
              <a:ext uri="{FF2B5EF4-FFF2-40B4-BE49-F238E27FC236}">
                <a16:creationId xmlns:a16="http://schemas.microsoft.com/office/drawing/2014/main" id="{DEAD6868-DB11-250B-FA05-86AEC230E702}"/>
              </a:ext>
            </a:extLst>
          </p:cNvPr>
          <p:cNvSpPr txBox="1"/>
          <p:nvPr/>
        </p:nvSpPr>
        <p:spPr>
          <a:xfrm>
            <a:off x="5228844" y="5011547"/>
            <a:ext cx="201655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-fsanitize=memory</a:t>
            </a:r>
            <a:endParaRPr lang="en-US" sz="1867" dirty="0"/>
          </a:p>
        </p:txBody>
      </p:sp>
      <p:sp>
        <p:nvSpPr>
          <p:cNvPr id="67" name="Shape 65">
            <a:extLst>
              <a:ext uri="{FF2B5EF4-FFF2-40B4-BE49-F238E27FC236}">
                <a16:creationId xmlns:a16="http://schemas.microsoft.com/office/drawing/2014/main" id="{8A23FAB6-DBA6-A2E2-0153-FAB0E4C65ABE}"/>
              </a:ext>
            </a:extLst>
          </p:cNvPr>
          <p:cNvSpPr/>
          <p:nvPr/>
        </p:nvSpPr>
        <p:spPr>
          <a:xfrm>
            <a:off x="9583420" y="5084699"/>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68" name="Text 66">
            <a:extLst>
              <a:ext uri="{FF2B5EF4-FFF2-40B4-BE49-F238E27FC236}">
                <a16:creationId xmlns:a16="http://schemas.microsoft.com/office/drawing/2014/main" id="{90811ADD-D855-C14A-D1C9-E20A49430A95}"/>
              </a:ext>
            </a:extLst>
          </p:cNvPr>
          <p:cNvSpPr txBox="1"/>
          <p:nvPr/>
        </p:nvSpPr>
        <p:spPr>
          <a:xfrm>
            <a:off x="9827260" y="4987163"/>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Linux</a:t>
            </a:r>
            <a:endParaRPr lang="en-US" sz="2000" dirty="0"/>
          </a:p>
        </p:txBody>
      </p:sp>
      <p:sp>
        <p:nvSpPr>
          <p:cNvPr id="69" name="Shape 67">
            <a:extLst>
              <a:ext uri="{FF2B5EF4-FFF2-40B4-BE49-F238E27FC236}">
                <a16:creationId xmlns:a16="http://schemas.microsoft.com/office/drawing/2014/main" id="{62E6C44F-5472-D2E2-3074-A88AEEDA05E5}"/>
              </a:ext>
            </a:extLst>
          </p:cNvPr>
          <p:cNvSpPr/>
          <p:nvPr/>
        </p:nvSpPr>
        <p:spPr>
          <a:xfrm>
            <a:off x="10528977" y="5084699"/>
            <a:ext cx="195072" cy="195072"/>
          </a:xfrm>
          <a:prstGeom prst="ellipse">
            <a:avLst/>
          </a:prstGeom>
          <a:solidFill>
            <a:srgbClr val="C93B34"/>
          </a:solidFill>
          <a:ln w="12700">
            <a:solidFill>
              <a:srgbClr val="C93B34"/>
            </a:solidFill>
            <a:prstDash val="solid"/>
          </a:ln>
        </p:spPr>
        <p:txBody>
          <a:bodyPr/>
          <a:lstStyle/>
          <a:p>
            <a:endParaRPr lang="en-US" sz="2000"/>
          </a:p>
        </p:txBody>
      </p:sp>
      <p:sp>
        <p:nvSpPr>
          <p:cNvPr id="70" name="Text 68">
            <a:extLst>
              <a:ext uri="{FF2B5EF4-FFF2-40B4-BE49-F238E27FC236}">
                <a16:creationId xmlns:a16="http://schemas.microsoft.com/office/drawing/2014/main" id="{539D4841-F580-6087-378A-BFC438549043}"/>
              </a:ext>
            </a:extLst>
          </p:cNvPr>
          <p:cNvSpPr txBox="1"/>
          <p:nvPr/>
        </p:nvSpPr>
        <p:spPr>
          <a:xfrm>
            <a:off x="10772817" y="4987163"/>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MSVC</a:t>
            </a:r>
            <a:endParaRPr lang="en-US" sz="2000" dirty="0"/>
          </a:p>
        </p:txBody>
      </p:sp>
      <p:sp>
        <p:nvSpPr>
          <p:cNvPr id="71" name="Shape 69">
            <a:extLst>
              <a:ext uri="{FF2B5EF4-FFF2-40B4-BE49-F238E27FC236}">
                <a16:creationId xmlns:a16="http://schemas.microsoft.com/office/drawing/2014/main" id="{90094F52-3B0D-4C26-DC59-F7568E2B7472}"/>
              </a:ext>
            </a:extLst>
          </p:cNvPr>
          <p:cNvSpPr/>
          <p:nvPr/>
        </p:nvSpPr>
        <p:spPr>
          <a:xfrm>
            <a:off x="937260" y="5371211"/>
            <a:ext cx="10668000" cy="0"/>
          </a:xfrm>
          <a:prstGeom prst="line">
            <a:avLst/>
          </a:prstGeom>
          <a:noFill/>
          <a:ln w="6350">
            <a:solidFill>
              <a:srgbClr val="D9D9D9"/>
            </a:solidFill>
            <a:prstDash val="solid"/>
          </a:ln>
        </p:spPr>
        <p:txBody>
          <a:bodyPr/>
          <a:lstStyle/>
          <a:p>
            <a:endParaRPr lang="en-US" sz="2400"/>
          </a:p>
        </p:txBody>
      </p:sp>
      <p:sp>
        <p:nvSpPr>
          <p:cNvPr id="72" name="Text 70">
            <a:extLst>
              <a:ext uri="{FF2B5EF4-FFF2-40B4-BE49-F238E27FC236}">
                <a16:creationId xmlns:a16="http://schemas.microsoft.com/office/drawing/2014/main" id="{238BBAEE-DCE7-F2B8-1547-88B608C52992}"/>
              </a:ext>
            </a:extLst>
          </p:cNvPr>
          <p:cNvSpPr txBox="1"/>
          <p:nvPr/>
        </p:nvSpPr>
        <p:spPr>
          <a:xfrm>
            <a:off x="937260" y="5395595"/>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Type and value</a:t>
            </a:r>
            <a:endParaRPr lang="en-US" sz="2000" dirty="0"/>
          </a:p>
        </p:txBody>
      </p:sp>
      <p:sp>
        <p:nvSpPr>
          <p:cNvPr id="73" name="Text 71">
            <a:extLst>
              <a:ext uri="{FF2B5EF4-FFF2-40B4-BE49-F238E27FC236}">
                <a16:creationId xmlns:a16="http://schemas.microsoft.com/office/drawing/2014/main" id="{B0AC0734-6492-C781-DC0D-8B271407FDDE}"/>
              </a:ext>
            </a:extLst>
          </p:cNvPr>
          <p:cNvSpPr txBox="1"/>
          <p:nvPr/>
        </p:nvSpPr>
        <p:spPr>
          <a:xfrm>
            <a:off x="2912364" y="5395595"/>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UBSan</a:t>
            </a:r>
            <a:endParaRPr lang="en-US" sz="2000" dirty="0"/>
          </a:p>
        </p:txBody>
      </p:sp>
      <p:sp>
        <p:nvSpPr>
          <p:cNvPr id="74" name="Shape 72">
            <a:extLst>
              <a:ext uri="{FF2B5EF4-FFF2-40B4-BE49-F238E27FC236}">
                <a16:creationId xmlns:a16="http://schemas.microsoft.com/office/drawing/2014/main" id="{733CA1F0-7359-9C3A-32F0-2E4104E25404}"/>
              </a:ext>
            </a:extLst>
          </p:cNvPr>
          <p:cNvSpPr/>
          <p:nvPr/>
        </p:nvSpPr>
        <p:spPr>
          <a:xfrm>
            <a:off x="5228844" y="5450459"/>
            <a:ext cx="2316480"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75" name="Text 73">
            <a:extLst>
              <a:ext uri="{FF2B5EF4-FFF2-40B4-BE49-F238E27FC236}">
                <a16:creationId xmlns:a16="http://schemas.microsoft.com/office/drawing/2014/main" id="{F4E738EC-5B33-FBCB-A2C1-5DFDE5D7DBA9}"/>
              </a:ext>
            </a:extLst>
          </p:cNvPr>
          <p:cNvSpPr txBox="1"/>
          <p:nvPr/>
        </p:nvSpPr>
        <p:spPr>
          <a:xfrm>
            <a:off x="5228844" y="5450459"/>
            <a:ext cx="2316480"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-fsanitize=undefined</a:t>
            </a:r>
            <a:endParaRPr lang="en-US" sz="1867" dirty="0"/>
          </a:p>
        </p:txBody>
      </p:sp>
      <p:sp>
        <p:nvSpPr>
          <p:cNvPr id="76" name="Shape 74">
            <a:extLst>
              <a:ext uri="{FF2B5EF4-FFF2-40B4-BE49-F238E27FC236}">
                <a16:creationId xmlns:a16="http://schemas.microsoft.com/office/drawing/2014/main" id="{049E0547-8241-0C23-7907-67710535FC81}"/>
              </a:ext>
            </a:extLst>
          </p:cNvPr>
          <p:cNvSpPr/>
          <p:nvPr/>
        </p:nvSpPr>
        <p:spPr>
          <a:xfrm>
            <a:off x="9583420" y="5523611"/>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77" name="Shape 75">
            <a:extLst>
              <a:ext uri="{FF2B5EF4-FFF2-40B4-BE49-F238E27FC236}">
                <a16:creationId xmlns:a16="http://schemas.microsoft.com/office/drawing/2014/main" id="{BB1E5EDB-8658-B3A0-BAFC-4F4AC90C8066}"/>
              </a:ext>
            </a:extLst>
          </p:cNvPr>
          <p:cNvSpPr/>
          <p:nvPr/>
        </p:nvSpPr>
        <p:spPr>
          <a:xfrm>
            <a:off x="9865360" y="5523611"/>
            <a:ext cx="195072" cy="195072"/>
          </a:xfrm>
          <a:prstGeom prst="ellipse">
            <a:avLst/>
          </a:prstGeom>
          <a:solidFill>
            <a:srgbClr val="C93B34"/>
          </a:solidFill>
          <a:ln w="12700">
            <a:solidFill>
              <a:srgbClr val="C93B34"/>
            </a:solidFill>
            <a:prstDash val="solid"/>
          </a:ln>
        </p:spPr>
        <p:txBody>
          <a:bodyPr/>
          <a:lstStyle/>
          <a:p>
            <a:endParaRPr lang="en-US" sz="2000"/>
          </a:p>
        </p:txBody>
      </p:sp>
      <p:sp>
        <p:nvSpPr>
          <p:cNvPr id="78" name="Text 76">
            <a:extLst>
              <a:ext uri="{FF2B5EF4-FFF2-40B4-BE49-F238E27FC236}">
                <a16:creationId xmlns:a16="http://schemas.microsoft.com/office/drawing/2014/main" id="{6DF9F3A6-CB8C-FC50-4ED6-AE477F849753}"/>
              </a:ext>
            </a:extLst>
          </p:cNvPr>
          <p:cNvSpPr txBox="1"/>
          <p:nvPr/>
        </p:nvSpPr>
        <p:spPr>
          <a:xfrm>
            <a:off x="10109200" y="5426075"/>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MSVC</a:t>
            </a:r>
            <a:endParaRPr lang="en-US" sz="2000" dirty="0"/>
          </a:p>
        </p:txBody>
      </p:sp>
      <p:sp>
        <p:nvSpPr>
          <p:cNvPr id="79" name="Shape 77">
            <a:extLst>
              <a:ext uri="{FF2B5EF4-FFF2-40B4-BE49-F238E27FC236}">
                <a16:creationId xmlns:a16="http://schemas.microsoft.com/office/drawing/2014/main" id="{9F5D6DB6-0710-65EC-E6DD-CA658420B547}"/>
              </a:ext>
            </a:extLst>
          </p:cNvPr>
          <p:cNvSpPr/>
          <p:nvPr/>
        </p:nvSpPr>
        <p:spPr>
          <a:xfrm>
            <a:off x="937260" y="5810123"/>
            <a:ext cx="10668000" cy="0"/>
          </a:xfrm>
          <a:prstGeom prst="line">
            <a:avLst/>
          </a:prstGeom>
          <a:noFill/>
          <a:ln w="6350">
            <a:solidFill>
              <a:srgbClr val="D9D9D9"/>
            </a:solidFill>
            <a:prstDash val="solid"/>
          </a:ln>
        </p:spPr>
        <p:txBody>
          <a:bodyPr/>
          <a:lstStyle/>
          <a:p>
            <a:endParaRPr lang="en-US" sz="2400"/>
          </a:p>
        </p:txBody>
      </p:sp>
      <p:sp>
        <p:nvSpPr>
          <p:cNvPr id="80" name="Text 78">
            <a:extLst>
              <a:ext uri="{FF2B5EF4-FFF2-40B4-BE49-F238E27FC236}">
                <a16:creationId xmlns:a16="http://schemas.microsoft.com/office/drawing/2014/main" id="{B44437E9-BBA4-3E67-5B26-19439E3AD34D}"/>
              </a:ext>
            </a:extLst>
          </p:cNvPr>
          <p:cNvSpPr txBox="1"/>
          <p:nvPr/>
        </p:nvSpPr>
        <p:spPr>
          <a:xfrm>
            <a:off x="937260" y="5834507"/>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Concurrency</a:t>
            </a:r>
            <a:endParaRPr lang="en-US" sz="2000" dirty="0"/>
          </a:p>
        </p:txBody>
      </p:sp>
      <p:sp>
        <p:nvSpPr>
          <p:cNvPr id="81" name="Text 79">
            <a:extLst>
              <a:ext uri="{FF2B5EF4-FFF2-40B4-BE49-F238E27FC236}">
                <a16:creationId xmlns:a16="http://schemas.microsoft.com/office/drawing/2014/main" id="{10EF9C9A-EE5E-A9EC-D23C-023AE7447B1A}"/>
              </a:ext>
            </a:extLst>
          </p:cNvPr>
          <p:cNvSpPr txBox="1"/>
          <p:nvPr/>
        </p:nvSpPr>
        <p:spPr>
          <a:xfrm>
            <a:off x="2912364" y="5834507"/>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ThreadSanitizer</a:t>
            </a:r>
            <a:endParaRPr lang="en-US" sz="2000" dirty="0"/>
          </a:p>
        </p:txBody>
      </p:sp>
      <p:sp>
        <p:nvSpPr>
          <p:cNvPr id="82" name="Shape 80">
            <a:extLst>
              <a:ext uri="{FF2B5EF4-FFF2-40B4-BE49-F238E27FC236}">
                <a16:creationId xmlns:a16="http://schemas.microsoft.com/office/drawing/2014/main" id="{F97E7ED8-3EE7-68EE-9779-3A4AA6F67EE6}"/>
              </a:ext>
            </a:extLst>
          </p:cNvPr>
          <p:cNvSpPr/>
          <p:nvPr/>
        </p:nvSpPr>
        <p:spPr>
          <a:xfrm>
            <a:off x="5228844" y="5889371"/>
            <a:ext cx="201655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83" name="Text 81">
            <a:extLst>
              <a:ext uri="{FF2B5EF4-FFF2-40B4-BE49-F238E27FC236}">
                <a16:creationId xmlns:a16="http://schemas.microsoft.com/office/drawing/2014/main" id="{8837C0A2-6D1B-7B66-712B-312DCBBB467D}"/>
              </a:ext>
            </a:extLst>
          </p:cNvPr>
          <p:cNvSpPr txBox="1"/>
          <p:nvPr/>
        </p:nvSpPr>
        <p:spPr>
          <a:xfrm>
            <a:off x="5228844" y="5889371"/>
            <a:ext cx="201655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-fsanitize=thread</a:t>
            </a:r>
            <a:endParaRPr lang="en-US" sz="1867" dirty="0"/>
          </a:p>
        </p:txBody>
      </p:sp>
      <p:sp>
        <p:nvSpPr>
          <p:cNvPr id="84" name="Shape 82">
            <a:extLst>
              <a:ext uri="{FF2B5EF4-FFF2-40B4-BE49-F238E27FC236}">
                <a16:creationId xmlns:a16="http://schemas.microsoft.com/office/drawing/2014/main" id="{B1489956-505C-0E43-FE65-967A9963A989}"/>
              </a:ext>
            </a:extLst>
          </p:cNvPr>
          <p:cNvSpPr/>
          <p:nvPr/>
        </p:nvSpPr>
        <p:spPr>
          <a:xfrm>
            <a:off x="7342937" y="5889371"/>
            <a:ext cx="1116787"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85" name="Text 83">
            <a:extLst>
              <a:ext uri="{FF2B5EF4-FFF2-40B4-BE49-F238E27FC236}">
                <a16:creationId xmlns:a16="http://schemas.microsoft.com/office/drawing/2014/main" id="{0D40D3C5-21D0-3116-CCBA-1ACC7D6F0C37}"/>
              </a:ext>
            </a:extLst>
          </p:cNvPr>
          <p:cNvSpPr txBox="1"/>
          <p:nvPr/>
        </p:nvSpPr>
        <p:spPr>
          <a:xfrm>
            <a:off x="7342937" y="5889371"/>
            <a:ext cx="1116787"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Helgrind</a:t>
            </a:r>
            <a:endParaRPr lang="en-US" sz="1867" dirty="0"/>
          </a:p>
        </p:txBody>
      </p:sp>
      <p:sp>
        <p:nvSpPr>
          <p:cNvPr id="86" name="Shape 84">
            <a:extLst>
              <a:ext uri="{FF2B5EF4-FFF2-40B4-BE49-F238E27FC236}">
                <a16:creationId xmlns:a16="http://schemas.microsoft.com/office/drawing/2014/main" id="{D351B2D9-0BF2-EC10-9E51-A701DA3E1BEA}"/>
              </a:ext>
            </a:extLst>
          </p:cNvPr>
          <p:cNvSpPr/>
          <p:nvPr/>
        </p:nvSpPr>
        <p:spPr>
          <a:xfrm>
            <a:off x="9583420" y="5962523"/>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87" name="Text 85">
            <a:extLst>
              <a:ext uri="{FF2B5EF4-FFF2-40B4-BE49-F238E27FC236}">
                <a16:creationId xmlns:a16="http://schemas.microsoft.com/office/drawing/2014/main" id="{556D165A-74BB-5777-60E6-1D97CF21C033}"/>
              </a:ext>
            </a:extLst>
          </p:cNvPr>
          <p:cNvSpPr txBox="1"/>
          <p:nvPr/>
        </p:nvSpPr>
        <p:spPr>
          <a:xfrm>
            <a:off x="9827260" y="5864987"/>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Linux</a:t>
            </a:r>
            <a:endParaRPr lang="en-US" sz="2000" dirty="0"/>
          </a:p>
        </p:txBody>
      </p:sp>
      <p:sp>
        <p:nvSpPr>
          <p:cNvPr id="88" name="Shape 86">
            <a:extLst>
              <a:ext uri="{FF2B5EF4-FFF2-40B4-BE49-F238E27FC236}">
                <a16:creationId xmlns:a16="http://schemas.microsoft.com/office/drawing/2014/main" id="{BDC2A0C8-0727-D791-B47F-EDFBB6FE680F}"/>
              </a:ext>
            </a:extLst>
          </p:cNvPr>
          <p:cNvSpPr/>
          <p:nvPr/>
        </p:nvSpPr>
        <p:spPr>
          <a:xfrm>
            <a:off x="10552684" y="5962523"/>
            <a:ext cx="195072" cy="195072"/>
          </a:xfrm>
          <a:prstGeom prst="ellipse">
            <a:avLst/>
          </a:prstGeom>
          <a:solidFill>
            <a:srgbClr val="C93B34"/>
          </a:solidFill>
          <a:ln w="12700">
            <a:solidFill>
              <a:srgbClr val="C93B34"/>
            </a:solidFill>
            <a:prstDash val="solid"/>
          </a:ln>
        </p:spPr>
        <p:txBody>
          <a:bodyPr/>
          <a:lstStyle/>
          <a:p>
            <a:endParaRPr lang="en-US" sz="2000"/>
          </a:p>
        </p:txBody>
      </p:sp>
      <p:sp>
        <p:nvSpPr>
          <p:cNvPr id="89" name="Text 87">
            <a:extLst>
              <a:ext uri="{FF2B5EF4-FFF2-40B4-BE49-F238E27FC236}">
                <a16:creationId xmlns:a16="http://schemas.microsoft.com/office/drawing/2014/main" id="{7CB47B19-ECAD-88DB-3417-0DC1861E93C3}"/>
              </a:ext>
            </a:extLst>
          </p:cNvPr>
          <p:cNvSpPr txBox="1"/>
          <p:nvPr/>
        </p:nvSpPr>
        <p:spPr>
          <a:xfrm>
            <a:off x="10796524" y="5864987"/>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MSVC</a:t>
            </a:r>
            <a:endParaRPr lang="en-US" sz="2000" dirty="0"/>
          </a:p>
        </p:txBody>
      </p:sp>
      <p:sp>
        <p:nvSpPr>
          <p:cNvPr id="90" name="Shape 88">
            <a:extLst>
              <a:ext uri="{FF2B5EF4-FFF2-40B4-BE49-F238E27FC236}">
                <a16:creationId xmlns:a16="http://schemas.microsoft.com/office/drawing/2014/main" id="{9B1A9D76-1A3B-6C40-4385-E9D53FF9785C}"/>
              </a:ext>
            </a:extLst>
          </p:cNvPr>
          <p:cNvSpPr/>
          <p:nvPr/>
        </p:nvSpPr>
        <p:spPr>
          <a:xfrm>
            <a:off x="937260" y="6249035"/>
            <a:ext cx="10668000" cy="0"/>
          </a:xfrm>
          <a:prstGeom prst="line">
            <a:avLst/>
          </a:prstGeom>
          <a:noFill/>
          <a:ln w="6350">
            <a:solidFill>
              <a:srgbClr val="D9D9D9"/>
            </a:solidFill>
            <a:prstDash val="solid"/>
          </a:ln>
        </p:spPr>
        <p:txBody>
          <a:bodyPr/>
          <a:lstStyle/>
          <a:p>
            <a:endParaRPr lang="en-US" sz="2400"/>
          </a:p>
        </p:txBody>
      </p:sp>
      <p:sp>
        <p:nvSpPr>
          <p:cNvPr id="91" name="Text 89">
            <a:extLst>
              <a:ext uri="{FF2B5EF4-FFF2-40B4-BE49-F238E27FC236}">
                <a16:creationId xmlns:a16="http://schemas.microsoft.com/office/drawing/2014/main" id="{CCAAB819-4E06-2B35-7DB0-2480AB076273}"/>
              </a:ext>
            </a:extLst>
          </p:cNvPr>
          <p:cNvSpPr txBox="1"/>
          <p:nvPr/>
        </p:nvSpPr>
        <p:spPr>
          <a:xfrm>
            <a:off x="937260" y="6273419"/>
            <a:ext cx="1828800" cy="438912"/>
          </a:xfrm>
          <a:prstGeom prst="rect">
            <a:avLst/>
          </a:prstGeom>
          <a:noFill/>
          <a:ln/>
        </p:spPr>
        <p:txBody>
          <a:bodyPr wrap="square" lIns="0" tIns="0" rIns="0" bIns="0" rtlCol="0" anchor="ctr"/>
          <a:lstStyle/>
          <a:p>
            <a:r>
              <a:rPr lang="en-US" sz="2000" b="1" dirty="0">
                <a:solidFill>
                  <a:srgbClr val="1A1A1A"/>
                </a:solidFill>
                <a:latin typeface="Aptos" pitchFamily="34" charset="0"/>
                <a:ea typeface="Aptos" pitchFamily="34" charset="-122"/>
                <a:cs typeface="Aptos" pitchFamily="34" charset="-120"/>
              </a:rPr>
              <a:t>Interface</a:t>
            </a:r>
            <a:endParaRPr lang="en-US" sz="2000" dirty="0"/>
          </a:p>
        </p:txBody>
      </p:sp>
      <p:sp>
        <p:nvSpPr>
          <p:cNvPr id="92" name="Text 90">
            <a:extLst>
              <a:ext uri="{FF2B5EF4-FFF2-40B4-BE49-F238E27FC236}">
                <a16:creationId xmlns:a16="http://schemas.microsoft.com/office/drawing/2014/main" id="{1F6133AD-52E6-A870-4CCD-46CE0D5FB92D}"/>
              </a:ext>
            </a:extLst>
          </p:cNvPr>
          <p:cNvSpPr txBox="1"/>
          <p:nvPr/>
        </p:nvSpPr>
        <p:spPr>
          <a:xfrm>
            <a:off x="2912364" y="6273419"/>
            <a:ext cx="2316480" cy="438912"/>
          </a:xfrm>
          <a:prstGeom prst="rect">
            <a:avLst/>
          </a:prstGeom>
          <a:noFill/>
          <a:ln/>
        </p:spPr>
        <p:txBody>
          <a:bodyPr wrap="square" lIns="0" tIns="0" rIns="0" bIns="0" rtlCol="0" anchor="ctr"/>
          <a:lstStyle/>
          <a:p>
            <a:r>
              <a:rPr lang="en-US" sz="2000" dirty="0">
                <a:solidFill>
                  <a:srgbClr val="1A1A1A"/>
                </a:solidFill>
                <a:latin typeface="Aptos" pitchFamily="34" charset="0"/>
                <a:ea typeface="Aptos" pitchFamily="34" charset="-122"/>
                <a:cs typeface="Aptos" pitchFamily="34" charset="-120"/>
              </a:rPr>
              <a:t>Fuzzing</a:t>
            </a:r>
            <a:endParaRPr lang="en-US" sz="2000" dirty="0"/>
          </a:p>
        </p:txBody>
      </p:sp>
      <p:sp>
        <p:nvSpPr>
          <p:cNvPr id="93" name="Shape 91">
            <a:extLst>
              <a:ext uri="{FF2B5EF4-FFF2-40B4-BE49-F238E27FC236}">
                <a16:creationId xmlns:a16="http://schemas.microsoft.com/office/drawing/2014/main" id="{3C45C002-B773-ECB4-A1BE-277800A1E449}"/>
              </a:ext>
            </a:extLst>
          </p:cNvPr>
          <p:cNvSpPr/>
          <p:nvPr/>
        </p:nvSpPr>
        <p:spPr>
          <a:xfrm>
            <a:off x="5228845" y="6328283"/>
            <a:ext cx="121676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94" name="Text 92">
            <a:extLst>
              <a:ext uri="{FF2B5EF4-FFF2-40B4-BE49-F238E27FC236}">
                <a16:creationId xmlns:a16="http://schemas.microsoft.com/office/drawing/2014/main" id="{D8443B86-76B4-7790-8548-33F8A27F91A1}"/>
              </a:ext>
            </a:extLst>
          </p:cNvPr>
          <p:cNvSpPr txBox="1"/>
          <p:nvPr/>
        </p:nvSpPr>
        <p:spPr>
          <a:xfrm>
            <a:off x="5228845" y="6328283"/>
            <a:ext cx="121676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libFuzzer</a:t>
            </a:r>
            <a:endParaRPr lang="en-US" sz="1867" dirty="0"/>
          </a:p>
        </p:txBody>
      </p:sp>
      <p:sp>
        <p:nvSpPr>
          <p:cNvPr id="95" name="Shape 93">
            <a:extLst>
              <a:ext uri="{FF2B5EF4-FFF2-40B4-BE49-F238E27FC236}">
                <a16:creationId xmlns:a16="http://schemas.microsoft.com/office/drawing/2014/main" id="{AB75EB14-0F9F-A0C8-E75E-5B5518D295C6}"/>
              </a:ext>
            </a:extLst>
          </p:cNvPr>
          <p:cNvSpPr/>
          <p:nvPr/>
        </p:nvSpPr>
        <p:spPr>
          <a:xfrm>
            <a:off x="6543141" y="6328283"/>
            <a:ext cx="1011936"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96" name="Text 94">
            <a:extLst>
              <a:ext uri="{FF2B5EF4-FFF2-40B4-BE49-F238E27FC236}">
                <a16:creationId xmlns:a16="http://schemas.microsoft.com/office/drawing/2014/main" id="{135D956B-A07F-71B1-0E25-EEE913B41990}"/>
              </a:ext>
            </a:extLst>
          </p:cNvPr>
          <p:cNvSpPr txBox="1"/>
          <p:nvPr/>
        </p:nvSpPr>
        <p:spPr>
          <a:xfrm>
            <a:off x="6543141" y="6328283"/>
            <a:ext cx="1011936"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AFL++</a:t>
            </a:r>
            <a:endParaRPr lang="en-US" sz="1867" dirty="0"/>
          </a:p>
        </p:txBody>
      </p:sp>
      <p:sp>
        <p:nvSpPr>
          <p:cNvPr id="97" name="Shape 95">
            <a:extLst>
              <a:ext uri="{FF2B5EF4-FFF2-40B4-BE49-F238E27FC236}">
                <a16:creationId xmlns:a16="http://schemas.microsoft.com/office/drawing/2014/main" id="{D5789752-9AFD-F548-3DE7-B33DDF545163}"/>
              </a:ext>
            </a:extLst>
          </p:cNvPr>
          <p:cNvSpPr/>
          <p:nvPr/>
        </p:nvSpPr>
        <p:spPr>
          <a:xfrm>
            <a:off x="7652613" y="6328283"/>
            <a:ext cx="1263091" cy="329184"/>
          </a:xfrm>
          <a:prstGeom prst="roundRect">
            <a:avLst>
              <a:gd name="adj" fmla="val 22222"/>
            </a:avLst>
          </a:prstGeom>
          <a:solidFill>
            <a:srgbClr val="EAE8E6"/>
          </a:solidFill>
          <a:ln w="12700">
            <a:solidFill>
              <a:srgbClr val="EAE8E6"/>
            </a:solidFill>
            <a:prstDash val="solid"/>
          </a:ln>
        </p:spPr>
        <p:txBody>
          <a:bodyPr/>
          <a:lstStyle/>
          <a:p>
            <a:endParaRPr lang="en-US" sz="2400"/>
          </a:p>
        </p:txBody>
      </p:sp>
      <p:sp>
        <p:nvSpPr>
          <p:cNvPr id="98" name="Text 96">
            <a:extLst>
              <a:ext uri="{FF2B5EF4-FFF2-40B4-BE49-F238E27FC236}">
                <a16:creationId xmlns:a16="http://schemas.microsoft.com/office/drawing/2014/main" id="{82DB8D78-C9AE-73FF-2FDE-57CD79FF51B3}"/>
              </a:ext>
            </a:extLst>
          </p:cNvPr>
          <p:cNvSpPr txBox="1"/>
          <p:nvPr/>
        </p:nvSpPr>
        <p:spPr>
          <a:xfrm>
            <a:off x="7652613" y="6328283"/>
            <a:ext cx="1263091" cy="329184"/>
          </a:xfrm>
          <a:prstGeom prst="rect">
            <a:avLst/>
          </a:prstGeom>
          <a:noFill/>
          <a:ln/>
        </p:spPr>
        <p:txBody>
          <a:bodyPr wrap="square" lIns="0" tIns="0" rIns="0" bIns="0" rtlCol="0" anchor="ctr"/>
          <a:lstStyle/>
          <a:p>
            <a:pPr algn="ctr"/>
            <a:r>
              <a:rPr lang="en-US" sz="1867" dirty="0">
                <a:solidFill>
                  <a:srgbClr val="3A3A3A"/>
                </a:solidFill>
                <a:latin typeface="Aptos" pitchFamily="34" charset="0"/>
                <a:ea typeface="Aptos" pitchFamily="34" charset="-122"/>
                <a:cs typeface="Aptos" pitchFamily="34" charset="-120"/>
              </a:rPr>
              <a:t>OSS-Fuzz</a:t>
            </a:r>
            <a:endParaRPr lang="en-US" sz="1867" dirty="0"/>
          </a:p>
        </p:txBody>
      </p:sp>
      <p:sp>
        <p:nvSpPr>
          <p:cNvPr id="99" name="Shape 97">
            <a:extLst>
              <a:ext uri="{FF2B5EF4-FFF2-40B4-BE49-F238E27FC236}">
                <a16:creationId xmlns:a16="http://schemas.microsoft.com/office/drawing/2014/main" id="{A602A27F-02E1-70AD-C9AE-E92199D46AC5}"/>
              </a:ext>
            </a:extLst>
          </p:cNvPr>
          <p:cNvSpPr/>
          <p:nvPr/>
        </p:nvSpPr>
        <p:spPr>
          <a:xfrm>
            <a:off x="9583420" y="6401435"/>
            <a:ext cx="195072" cy="195072"/>
          </a:xfrm>
          <a:prstGeom prst="ellipse">
            <a:avLst/>
          </a:prstGeom>
          <a:solidFill>
            <a:srgbClr val="3FA34D"/>
          </a:solidFill>
          <a:ln w="12700">
            <a:solidFill>
              <a:srgbClr val="3FA34D"/>
            </a:solidFill>
            <a:prstDash val="solid"/>
          </a:ln>
        </p:spPr>
        <p:txBody>
          <a:bodyPr/>
          <a:lstStyle/>
          <a:p>
            <a:endParaRPr lang="en-US" sz="2000"/>
          </a:p>
        </p:txBody>
      </p:sp>
      <p:sp>
        <p:nvSpPr>
          <p:cNvPr id="100" name="Shape 98">
            <a:extLst>
              <a:ext uri="{FF2B5EF4-FFF2-40B4-BE49-F238E27FC236}">
                <a16:creationId xmlns:a16="http://schemas.microsoft.com/office/drawing/2014/main" id="{EE602D15-AC00-98AE-D5CC-9152CF7976D8}"/>
              </a:ext>
            </a:extLst>
          </p:cNvPr>
          <p:cNvSpPr/>
          <p:nvPr/>
        </p:nvSpPr>
        <p:spPr>
          <a:xfrm>
            <a:off x="9857740" y="6401435"/>
            <a:ext cx="195072" cy="195072"/>
          </a:xfrm>
          <a:prstGeom prst="ellipse">
            <a:avLst/>
          </a:prstGeom>
          <a:solidFill>
            <a:srgbClr val="D9A62B"/>
          </a:solidFill>
          <a:ln w="12700">
            <a:solidFill>
              <a:srgbClr val="D9A62B"/>
            </a:solidFill>
            <a:prstDash val="solid"/>
          </a:ln>
        </p:spPr>
        <p:txBody>
          <a:bodyPr/>
          <a:lstStyle/>
          <a:p>
            <a:endParaRPr lang="en-US" sz="2000"/>
          </a:p>
        </p:txBody>
      </p:sp>
      <p:sp>
        <p:nvSpPr>
          <p:cNvPr id="101" name="Text 99">
            <a:extLst>
              <a:ext uri="{FF2B5EF4-FFF2-40B4-BE49-F238E27FC236}">
                <a16:creationId xmlns:a16="http://schemas.microsoft.com/office/drawing/2014/main" id="{63DD800C-8BAF-91D0-72F8-21D1D7B8D22A}"/>
              </a:ext>
            </a:extLst>
          </p:cNvPr>
          <p:cNvSpPr txBox="1"/>
          <p:nvPr/>
        </p:nvSpPr>
        <p:spPr>
          <a:xfrm>
            <a:off x="10101580" y="6303899"/>
            <a:ext cx="2194560" cy="377952"/>
          </a:xfrm>
          <a:prstGeom prst="rect">
            <a:avLst/>
          </a:prstGeom>
          <a:noFill/>
          <a:ln/>
        </p:spPr>
        <p:txBody>
          <a:bodyPr wrap="square" lIns="0" tIns="0" rIns="0" bIns="0" rtlCol="0" anchor="ctr"/>
          <a:lstStyle/>
          <a:p>
            <a:r>
              <a:rPr lang="en-US" sz="2000" dirty="0">
                <a:solidFill>
                  <a:srgbClr val="5A5A5A"/>
                </a:solidFill>
                <a:latin typeface="Aptos" pitchFamily="34" charset="0"/>
                <a:ea typeface="Aptos" pitchFamily="34" charset="-122"/>
                <a:cs typeface="Aptos" pitchFamily="34" charset="-120"/>
              </a:rPr>
              <a:t>needs harness</a:t>
            </a:r>
            <a:endParaRPr lang="en-US" sz="2000" dirty="0"/>
          </a:p>
        </p:txBody>
      </p:sp>
      <p:sp>
        <p:nvSpPr>
          <p:cNvPr id="102" name="Title 101">
            <a:extLst>
              <a:ext uri="{FF2B5EF4-FFF2-40B4-BE49-F238E27FC236}">
                <a16:creationId xmlns:a16="http://schemas.microsoft.com/office/drawing/2014/main" id="{843B841D-325A-7436-8865-312A67375C80}"/>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Detection at test time</a:t>
            </a:r>
            <a:endParaRPr lang="en-US" dirty="0"/>
          </a:p>
        </p:txBody>
      </p:sp>
      <p:sp>
        <p:nvSpPr>
          <p:cNvPr id="103" name="Bubble warnings">
            <a:extLst>
              <a:ext uri="{FF2B5EF4-FFF2-40B4-BE49-F238E27FC236}">
                <a16:creationId xmlns:a16="http://schemas.microsoft.com/office/drawing/2014/main" id="{EA35828A-07C3-21D3-6015-6DA81249C520}"/>
              </a:ext>
            </a:extLst>
          </p:cNvPr>
          <p:cNvSpPr/>
          <p:nvPr/>
        </p:nvSpPr>
        <p:spPr>
          <a:xfrm>
            <a:off x="4846320" y="1371600"/>
            <a:ext cx="5760720" cy="1115568"/>
          </a:xfrm>
          <a:prstGeom prst="roundRect">
            <a:avLst>
              <a:gd name="adj" fmla="val 50000"/>
            </a:avLst>
          </a:prstGeom>
          <a:solidFill>
            <a:srgbClr val="FFFFFF"/>
          </a:solidFill>
          <a:ln w="38100">
            <a:solidFill>
              <a:srgbClr val="7A1C15"/>
            </a:solidFill>
          </a:ln>
          <a:effectLst>
            <a:outerShdw blurRad="63500" dist="38100" dir="5400000" algn="ctr" rotWithShape="0">
              <a:srgbClr val="000000">
                <a:alpha val="40000"/>
              </a:srgbClr>
            </a:outerShdw>
          </a:effectLst>
        </p:spPr>
        <p:txBody>
          <a:bodyPr wrap="none" lIns="274320" tIns="0" rIns="274320" bIns="0" rtlCol="0" anchor="ctr">
            <a:noAutofit/>
          </a:bodyPr>
          <a:lstStyle/>
          <a:p>
            <a:pPr algn="ctr"/>
            <a:r>
              <a:rPr lang="en-US" sz="2000" b="1" dirty="0">
                <a:solidFill>
                  <a:srgbClr val="7A1C15"/>
                </a:solidFill>
                <a:latin typeface="Aptos"/>
                <a:cs typeface="Aptos"/>
              </a:rPr>
              <a:t>Compiler warnings</a:t>
            </a:r>
          </a:p>
          <a:p>
            <a:pPr algn="ctr"/>
            <a:r>
              <a:rPr lang="en-US" sz="1700" b="1" dirty="0">
                <a:solidFill>
                  <a:srgbClr val="1A1A1A"/>
                </a:solidFill>
                <a:latin typeface="Aptos"/>
                <a:cs typeface="Aptos"/>
              </a:rPr>
              <a:t>conversions, sign compares, format strings</a:t>
            </a:r>
          </a:p>
          <a:p>
            <a:pPr algn="ctr"/>
            <a:r>
              <a:rPr lang="en-US" sz="1500" b="1" dirty="0">
                <a:solidFill>
                  <a:srgbClr val="7A1C15"/>
                </a:solidFill>
                <a:latin typeface="Aptos"/>
                <a:cs typeface="Aptos"/>
              </a:rPr>
              <a:t>at best 2,142 CVEs and 15 exploited, under 3%</a:t>
            </a:r>
          </a:p>
        </p:txBody>
      </p:sp>
      <p:sp>
        <p:nvSpPr>
          <p:cNvPr id="105" name="Bubble static">
            <a:extLst>
              <a:ext uri="{FF2B5EF4-FFF2-40B4-BE49-F238E27FC236}">
                <a16:creationId xmlns:a16="http://schemas.microsoft.com/office/drawing/2014/main" id="{D063DA0A-8BEC-B6DA-0EFF-397BFD3108D9}"/>
              </a:ext>
            </a:extLst>
          </p:cNvPr>
          <p:cNvSpPr/>
          <p:nvPr/>
        </p:nvSpPr>
        <p:spPr>
          <a:xfrm>
            <a:off x="5669280" y="2542032"/>
            <a:ext cx="6126480" cy="1115568"/>
          </a:xfrm>
          <a:prstGeom prst="roundRect">
            <a:avLst>
              <a:gd name="adj" fmla="val 50000"/>
            </a:avLst>
          </a:prstGeom>
          <a:solidFill>
            <a:srgbClr val="FFFFFF"/>
          </a:solidFill>
          <a:ln w="38100">
            <a:solidFill>
              <a:srgbClr val="7A1C15"/>
            </a:solidFill>
          </a:ln>
          <a:effectLst>
            <a:outerShdw blurRad="63500" dist="38100" dir="5400000" algn="ctr" rotWithShape="0">
              <a:srgbClr val="000000">
                <a:alpha val="40000"/>
              </a:srgbClr>
            </a:outerShdw>
          </a:effectLst>
        </p:spPr>
        <p:txBody>
          <a:bodyPr wrap="none" lIns="274320" tIns="0" rIns="274320" bIns="0" rtlCol="0" anchor="ctr">
            <a:noAutofit/>
          </a:bodyPr>
          <a:lstStyle/>
          <a:p>
            <a:pPr algn="ctr"/>
            <a:r>
              <a:rPr lang="en-US" sz="2000" b="1" dirty="0">
                <a:solidFill>
                  <a:srgbClr val="7A1C15"/>
                </a:solidFill>
                <a:latin typeface="Aptos"/>
                <a:cs typeface="Aptos"/>
              </a:rPr>
              <a:t>Static analysis</a:t>
            </a:r>
          </a:p>
          <a:p>
            <a:pPr algn="ctr"/>
            <a:r>
              <a:rPr lang="en-US" sz="1700" b="1" dirty="0">
                <a:solidFill>
                  <a:srgbClr val="1A1A1A"/>
                </a:solidFill>
                <a:latin typeface="Aptos"/>
                <a:cs typeface="Aptos"/>
              </a:rPr>
              <a:t>pattern matching, misses 47 to 80% of real bugs</a:t>
            </a:r>
          </a:p>
          <a:p>
            <a:pPr algn="ctr"/>
            <a:r>
              <a:rPr lang="en-US" sz="1500" b="1" dirty="0">
                <a:solidFill>
                  <a:srgbClr val="1F4D24"/>
                </a:solidFill>
                <a:latin typeface="Aptos"/>
                <a:cs typeface="Aptos"/>
              </a:rPr>
              <a:t>guaranteed only for conversions, 225 CVEs and 1 exploited</a:t>
            </a:r>
          </a:p>
        </p:txBody>
      </p:sp>
      <p:sp>
        <p:nvSpPr>
          <p:cNvPr id="107" name="Bubble asan">
            <a:extLst>
              <a:ext uri="{FF2B5EF4-FFF2-40B4-BE49-F238E27FC236}">
                <a16:creationId xmlns:a16="http://schemas.microsoft.com/office/drawing/2014/main" id="{0EB84D79-DD66-67D0-AB0B-CC3884E29443}"/>
              </a:ext>
            </a:extLst>
          </p:cNvPr>
          <p:cNvSpPr/>
          <p:nvPr/>
        </p:nvSpPr>
        <p:spPr>
          <a:xfrm>
            <a:off x="4846320" y="3767328"/>
            <a:ext cx="6400800" cy="1115568"/>
          </a:xfrm>
          <a:prstGeom prst="roundRect">
            <a:avLst>
              <a:gd name="adj" fmla="val 50000"/>
            </a:avLst>
          </a:prstGeom>
          <a:solidFill>
            <a:srgbClr val="FFFFFF"/>
          </a:solidFill>
          <a:ln w="38100">
            <a:solidFill>
              <a:srgbClr val="1C3E63"/>
            </a:solidFill>
          </a:ln>
          <a:effectLst>
            <a:outerShdw blurRad="63500" dist="38100" dir="5400000" algn="ctr" rotWithShape="0">
              <a:srgbClr val="000000">
                <a:alpha val="40000"/>
              </a:srgbClr>
            </a:outerShdw>
          </a:effectLst>
        </p:spPr>
        <p:txBody>
          <a:bodyPr wrap="none" lIns="274320" tIns="0" rIns="274320" bIns="0" rtlCol="0" anchor="ctr">
            <a:noAutofit/>
          </a:bodyPr>
          <a:lstStyle/>
          <a:p>
            <a:pPr algn="ctr"/>
            <a:r>
              <a:rPr lang="en-US" sz="2000" b="1" dirty="0">
                <a:solidFill>
                  <a:srgbClr val="1C3E63"/>
                </a:solidFill>
                <a:latin typeface="Aptos"/>
                <a:cs typeface="Aptos"/>
              </a:rPr>
              <a:t>AddressSanitizer</a:t>
            </a:r>
          </a:p>
          <a:p>
            <a:pPr algn="ctr"/>
            <a:r>
              <a:rPr lang="en-US" sz="1700" b="1" dirty="0">
                <a:solidFill>
                  <a:srgbClr val="1A1A1A"/>
                </a:solidFill>
                <a:latin typeface="Aptos"/>
                <a:cs typeface="Aptos"/>
              </a:rPr>
              <a:t>overflow, use after free, double free</a:t>
            </a:r>
          </a:p>
          <a:p>
            <a:pPr algn="ctr"/>
            <a:r>
              <a:rPr lang="en-US" sz="1500" b="1" dirty="0">
                <a:solidFill>
                  <a:srgbClr val="7A1C15"/>
                </a:solidFill>
                <a:latin typeface="Aptos"/>
                <a:cs typeface="Aptos"/>
              </a:rPr>
              <a:t>could see 49,676 CVEs and 342 exploited, 61% of each</a:t>
            </a:r>
          </a:p>
        </p:txBody>
      </p:sp>
    </p:spTree>
    <p:extLst>
      <p:ext uri="{BB962C8B-B14F-4D97-AF65-F5344CB8AC3E}">
        <p14:creationId xmlns:p14="http://schemas.microsoft.com/office/powerpoint/2010/main" val="17979031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Android Stagefright, 2015</a:t>
            </a:r>
            <a:endParaRPr lang="en-US" sz="4400" dirty="0"/>
          </a:p>
        </p:txBody>
      </p:sp>
      <p:sp>
        <p:nvSpPr>
          <p:cNvPr id="11" name="Subline"/>
          <p:cNvSpPr txBox="1"/>
          <p:nvPr/>
        </p:nvSpPr>
        <p:spPr>
          <a:xfrm>
            <a:off x="932688" y="1444752"/>
            <a:ext cx="9144000" cy="329184"/>
          </a:xfrm>
          <a:prstGeom prst="rect">
            <a:avLst/>
          </a:prstGeom>
          <a:noFill/>
          <a:ln>
            <a:noFill/>
          </a:ln>
        </p:spPr>
        <p:txBody>
          <a:bodyPr wrap="none" lIns="0" tIns="0" rIns="0" bIns="0" rtlCol="0" anchor="ctr">
            <a:noAutofit/>
          </a:bodyPr>
          <a:lstStyle/>
          <a:p>
            <a:pPr algn="l"/>
            <a:r>
              <a:rPr lang="en-US" sz="1600" dirty="0">
                <a:solidFill>
                  <a:srgbClr val="595959"/>
                </a:solidFill>
                <a:latin typeface="Aptos"/>
                <a:cs typeface="Aptos"/>
              </a:rPr>
              <a:t>libstagefright, the C++ media parser in Android. A video in one text message ran code on the phone.</a:t>
            </a:r>
          </a:p>
        </p:txBody>
      </p:sp>
      <p:sp>
        <p:nvSpPr>
          <p:cNvPr id="12" name="CVE chip"/>
          <p:cNvSpPr/>
          <p:nvPr/>
        </p:nvSpPr>
        <p:spPr>
          <a:xfrm>
            <a:off x="7287768" y="882396"/>
            <a:ext cx="1463040" cy="292608"/>
          </a:xfrm>
          <a:prstGeom prst="roundRect">
            <a:avLst>
              <a:gd name="adj" fmla="val 50000"/>
            </a:avLst>
          </a:prstGeom>
          <a:solidFill>
            <a:srgbClr val="D9D9D9"/>
          </a:solidFill>
          <a:ln>
            <a:noFill/>
          </a:ln>
        </p:spPr>
        <p:txBody>
          <a:bodyPr wrap="none" lIns="0" tIns="0" rIns="0" bIns="0" rtlCol="0" anchor="ctr">
            <a:noAutofit/>
          </a:bodyPr>
          <a:lstStyle/>
          <a:p>
            <a:pPr algn="ctr"/>
            <a:r>
              <a:rPr lang="en-US" sz="1200" b="1" dirty="0">
                <a:solidFill>
                  <a:srgbClr val="1A1A1A"/>
                </a:solidFill>
                <a:latin typeface="Aptos"/>
                <a:cs typeface="Aptos"/>
              </a:rPr>
              <a:t>CVE-2015-3864</a:t>
            </a:r>
          </a:p>
        </p:txBody>
      </p:sp>
      <p:sp>
        <p:nvSpPr>
          <p:cNvPr id="13" name="Code panel"/>
          <p:cNvSpPr/>
          <p:nvPr/>
        </p:nvSpPr>
        <p:spPr>
          <a:xfrm>
            <a:off x="932688" y="2103120"/>
            <a:ext cx="6355080" cy="2606040"/>
          </a:xfrm>
          <a:prstGeom prst="roundRect">
            <a:avLst>
              <a:gd name="adj" fmla="val 5000"/>
            </a:avLst>
          </a:prstGeom>
          <a:solidFill>
            <a:srgbClr val="12161F"/>
          </a:solidFill>
          <a:ln>
            <a:noFill/>
          </a:ln>
        </p:spPr>
        <p:txBody>
          <a:bodyPr wrap="none" lIns="0" tIns="0" rIns="0" bIns="0" rtlCol="0" anchor="ctr">
            <a:noAutofit/>
          </a:bodyPr>
          <a:lstStyle/>
          <a:p>
            <a:pPr algn="l"/>
            <a:endParaRPr lang="en-US" dirty="0"/>
          </a:p>
        </p:txBody>
      </p:sp>
      <p:sp>
        <p:nvSpPr>
          <p:cNvPr id="14" name="Code"/>
          <p:cNvSpPr txBox="1"/>
          <p:nvPr/>
        </p:nvSpPr>
        <p:spPr>
          <a:xfrm>
            <a:off x="1207008" y="2681057"/>
            <a:ext cx="5806440" cy="1450165"/>
          </a:xfrm>
          <a:prstGeom prst="rect">
            <a:avLst/>
          </a:prstGeom>
          <a:noFill/>
        </p:spPr>
        <p:txBody>
          <a:bodyPr wrap="none" lIns="0" tIns="0" rIns="0" bIns="0" rtlCol="0" anchor="t">
            <a:noAutofit/>
          </a:bodyPr>
          <a:lstStyle/>
          <a:p>
            <a:pPr>
              <a:lnSpc>
                <a:spcPct val="120000"/>
              </a:lnSpc>
            </a:pPr>
            <a:r>
              <a:rPr lang="en-US" sz="1400" dirty="0">
                <a:solidFill>
                  <a:srgbClr val="8A94A6"/>
                </a:solidFill>
                <a:latin typeface="Courier New"/>
                <a:cs typeface="Courier New"/>
              </a:rPr>
              <a:t>// MPEG4Extractor.cpp, Android 5.1, simplified</a:t>
            </a:r>
            <a:endParaRPr lang="en-US" sz="1400" dirty="0">
              <a:latin typeface="Courier New"/>
              <a:cs typeface="Courier New"/>
            </a:endParaRPr>
          </a:p>
          <a:p>
            <a:pPr>
              <a:lnSpc>
                <a:spcPct val="120000"/>
              </a:lnSpc>
            </a:pPr>
            <a:r>
              <a:rPr lang="en-US" sz="1400" dirty="0">
                <a:solidFill>
                  <a:srgbClr val="FFD98C"/>
                </a:solidFill>
                <a:latin typeface="Courier New"/>
                <a:cs typeface="Courier New"/>
              </a:rPr>
              <a:t>uint64_t</a:t>
            </a:r>
            <a:r>
              <a:rPr lang="en-US" sz="1400" dirty="0">
                <a:solidFill>
                  <a:srgbClr val="E6E9EF"/>
                </a:solidFill>
                <a:latin typeface="Courier New"/>
                <a:cs typeface="Courier New"/>
              </a:rPr>
              <a:t> chunk_size = </a:t>
            </a:r>
            <a:r>
              <a:rPr lang="en-US" sz="1400" dirty="0">
                <a:solidFill>
                  <a:srgbClr val="82AAFF"/>
                </a:solidFill>
                <a:latin typeface="Courier New"/>
                <a:cs typeface="Courier New"/>
              </a:rPr>
              <a:t>ntohl</a:t>
            </a:r>
            <a:r>
              <a:rPr lang="en-US" sz="1400" dirty="0">
                <a:solidFill>
                  <a:srgbClr val="E6E9EF"/>
                </a:solidFill>
                <a:latin typeface="Courier New"/>
                <a:cs typeface="Courier New"/>
              </a:rPr>
              <a:t>(hdr[</a:t>
            </a:r>
            <a:r>
              <a:rPr lang="en-US" sz="1400" dirty="0">
                <a:solidFill>
                  <a:srgbClr val="F78C6C"/>
                </a:solidFill>
                <a:latin typeface="Courier New"/>
                <a:cs typeface="Courier New"/>
              </a:rPr>
              <a:t>0</a:t>
            </a:r>
            <a:r>
              <a:rPr lang="en-US" sz="1400" dirty="0">
                <a:solidFill>
                  <a:srgbClr val="E6E9EF"/>
                </a:solidFill>
                <a:latin typeface="Courier New"/>
                <a:cs typeface="Courier New"/>
              </a:rPr>
              <a:t>]);</a:t>
            </a:r>
            <a:endParaRPr lang="en-US" sz="1400" dirty="0">
              <a:latin typeface="Courier New"/>
              <a:cs typeface="Courier New"/>
            </a:endParaRPr>
          </a:p>
          <a:p>
            <a:pPr>
              <a:lnSpc>
                <a:spcPct val="120000"/>
              </a:lnSpc>
            </a:pPr>
            <a:endParaRPr lang="en-US" sz="1400" dirty="0">
              <a:latin typeface="Courier New"/>
              <a:cs typeface="Courier New"/>
            </a:endParaRPr>
          </a:p>
          <a:p>
            <a:pPr>
              <a:lnSpc>
                <a:spcPct val="120000"/>
              </a:lnSpc>
            </a:pPr>
            <a:r>
              <a:rPr lang="en-US" sz="1400" dirty="0">
                <a:solidFill>
                  <a:srgbClr val="FFD98C"/>
                </a:solidFill>
                <a:latin typeface="Courier New"/>
                <a:cs typeface="Courier New"/>
              </a:rPr>
              <a:t>uint8_t</a:t>
            </a:r>
            <a:r>
              <a:rPr lang="en-US" sz="1400" dirty="0">
                <a:solidFill>
                  <a:srgbClr val="E6E9EF"/>
                </a:solidFill>
                <a:latin typeface="Courier New"/>
                <a:cs typeface="Courier New"/>
              </a:rPr>
              <a:t> *buffer = </a:t>
            </a:r>
            <a:r>
              <a:rPr lang="en-US" sz="1400" dirty="0">
                <a:solidFill>
                  <a:srgbClr val="C792EA"/>
                </a:solidFill>
                <a:latin typeface="Courier New"/>
                <a:cs typeface="Courier New"/>
              </a:rPr>
              <a:t>new</a:t>
            </a:r>
            <a:r>
              <a:rPr lang="en-US" sz="1400" dirty="0">
                <a:solidFill>
                  <a:srgbClr val="E6E9EF"/>
                </a:solidFill>
                <a:latin typeface="Courier New"/>
                <a:cs typeface="Courier New"/>
              </a:rPr>
              <a:t> </a:t>
            </a:r>
            <a:r>
              <a:rPr lang="en-US" sz="1400" dirty="0">
                <a:solidFill>
                  <a:srgbClr val="FFD98C"/>
                </a:solidFill>
                <a:latin typeface="Courier New"/>
                <a:cs typeface="Courier New"/>
              </a:rPr>
              <a:t>uint8_t</a:t>
            </a:r>
            <a:r>
              <a:rPr lang="en-US" sz="1400" dirty="0">
                <a:solidFill>
                  <a:srgbClr val="E6E9EF"/>
                </a:solidFill>
                <a:latin typeface="Courier New"/>
                <a:cs typeface="Courier New"/>
              </a:rPr>
              <a:t>[chunk_size];</a:t>
            </a:r>
            <a:endParaRPr lang="en-US" sz="1400" dirty="0">
              <a:latin typeface="Courier New"/>
              <a:cs typeface="Courier New"/>
            </a:endParaRPr>
          </a:p>
          <a:p>
            <a:pPr>
              <a:lnSpc>
                <a:spcPct val="120000"/>
              </a:lnSpc>
            </a:pPr>
            <a:r>
              <a:rPr lang="en-US" sz="1400" dirty="0">
                <a:solidFill>
                  <a:srgbClr val="FFD98C"/>
                </a:solidFill>
                <a:latin typeface="Courier New"/>
                <a:cs typeface="Courier New"/>
              </a:rPr>
              <a:t>size_t</a:t>
            </a:r>
            <a:r>
              <a:rPr lang="en-US" sz="1400" dirty="0">
                <a:solidFill>
                  <a:srgbClr val="E6E9EF"/>
                </a:solidFill>
                <a:latin typeface="Courier New"/>
                <a:cs typeface="Courier New"/>
              </a:rPr>
              <a:t>   size   = chunk_size - </a:t>
            </a:r>
            <a:r>
              <a:rPr lang="en-US" sz="1400" dirty="0">
                <a:solidFill>
                  <a:srgbClr val="F78C6C"/>
                </a:solidFill>
                <a:latin typeface="Courier New"/>
                <a:cs typeface="Courier New"/>
              </a:rPr>
              <a:t>8</a:t>
            </a:r>
            <a:r>
              <a:rPr lang="en-US" sz="1400" dirty="0">
                <a:solidFill>
                  <a:srgbClr val="E6E9EF"/>
                </a:solidFill>
                <a:latin typeface="Courier New"/>
                <a:cs typeface="Courier New"/>
              </a:rPr>
              <a:t>;</a:t>
            </a:r>
            <a:endParaRPr lang="en-US" sz="1400" dirty="0">
              <a:latin typeface="Courier New"/>
              <a:cs typeface="Courier New"/>
            </a:endParaRPr>
          </a:p>
          <a:p>
            <a:pPr>
              <a:lnSpc>
                <a:spcPct val="120000"/>
              </a:lnSpc>
            </a:pPr>
            <a:r>
              <a:rPr lang="en-US" sz="1400" dirty="0">
                <a:solidFill>
                  <a:srgbClr val="E6E9EF"/>
                </a:solidFill>
                <a:latin typeface="Courier New"/>
                <a:cs typeface="Courier New"/>
              </a:rPr>
              <a:t>mDataSource-&gt;</a:t>
            </a:r>
            <a:r>
              <a:rPr lang="en-US" sz="1400" dirty="0">
                <a:solidFill>
                  <a:srgbClr val="82AAFF"/>
                </a:solidFill>
                <a:latin typeface="Courier New"/>
                <a:cs typeface="Courier New"/>
              </a:rPr>
              <a:t>readAt</a:t>
            </a:r>
            <a:r>
              <a:rPr lang="en-US" sz="1400" dirty="0">
                <a:solidFill>
                  <a:srgbClr val="E6E9EF"/>
                </a:solidFill>
                <a:latin typeface="Courier New"/>
                <a:cs typeface="Courier New"/>
              </a:rPr>
              <a:t>(offset, buffer + </a:t>
            </a:r>
            <a:r>
              <a:rPr lang="en-US" sz="1400" dirty="0">
                <a:solidFill>
                  <a:srgbClr val="F78C6C"/>
                </a:solidFill>
                <a:latin typeface="Courier New"/>
                <a:cs typeface="Courier New"/>
              </a:rPr>
              <a:t>8</a:t>
            </a:r>
            <a:r>
              <a:rPr lang="en-US" sz="1400" dirty="0">
                <a:solidFill>
                  <a:srgbClr val="E6E9EF"/>
                </a:solidFill>
                <a:latin typeface="Courier New"/>
                <a:cs typeface="Courier New"/>
              </a:rPr>
              <a:t>, size);</a:t>
            </a:r>
            <a:endParaRPr lang="en-US" sz="1400" dirty="0">
              <a:latin typeface="Courier New"/>
              <a:cs typeface="Courier New"/>
            </a:endParaRPr>
          </a:p>
        </p:txBody>
      </p:sp>
      <p:sp>
        <p:nvSpPr>
          <p:cNvPr id="15" name="Callout source"/>
          <p:cNvSpPr/>
          <p:nvPr/>
        </p:nvSpPr>
        <p:spPr>
          <a:xfrm>
            <a:off x="6629400" y="2760135"/>
            <a:ext cx="2377440" cy="566928"/>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40000"/>
              </a:srgbClr>
            </a:outerShdw>
          </a:effectLst>
        </p:spPr>
        <p:txBody>
          <a:bodyPr wrap="none" lIns="109728" tIns="0" rIns="109728" bIns="0" rtlCol="0" anchor="ctr">
            <a:noAutofit/>
          </a:bodyPr>
          <a:lstStyle/>
          <a:p>
            <a:pPr algn="ctr"/>
            <a:r>
              <a:rPr lang="en-US" sz="1250" b="1" dirty="0">
                <a:solidFill>
                  <a:srgbClr val="7A1C15"/>
                </a:solidFill>
                <a:latin typeface="Aptos"/>
                <a:cs typeface="Aptos"/>
              </a:rPr>
              <a:t>chunk_size comes from the</a:t>
            </a:r>
          </a:p>
          <a:p>
            <a:pPr algn="ctr"/>
            <a:r>
              <a:rPr lang="en-US" sz="1250" b="1" dirty="0">
                <a:solidFill>
                  <a:srgbClr val="7A1C15"/>
                </a:solidFill>
                <a:latin typeface="Aptos"/>
                <a:cs typeface="Aptos"/>
              </a:rPr>
              <a:t>file, no bound is checked</a:t>
            </a:r>
          </a:p>
        </p:txBody>
      </p:sp>
      <p:sp>
        <p:nvSpPr>
          <p:cNvPr id="16" name="Callout underflow"/>
          <p:cNvSpPr/>
          <p:nvPr/>
        </p:nvSpPr>
        <p:spPr>
          <a:xfrm>
            <a:off x="6629400" y="3606064"/>
            <a:ext cx="2377440" cy="566928"/>
          </a:xfrm>
          <a:prstGeom prst="roundRect">
            <a:avLst>
              <a:gd name="adj" fmla="val 50000"/>
            </a:avLst>
          </a:prstGeom>
          <a:solidFill>
            <a:srgbClr val="FFFFFF"/>
          </a:solidFill>
          <a:ln w="25400">
            <a:solidFill>
              <a:srgbClr val="7A1C15"/>
            </a:solidFill>
          </a:ln>
          <a:effectLst>
            <a:outerShdw blurRad="63500" dist="38100" dir="5400000" algn="ctr" rotWithShape="0">
              <a:srgbClr val="000000">
                <a:alpha val="40000"/>
              </a:srgbClr>
            </a:outerShdw>
          </a:effectLst>
        </p:spPr>
        <p:txBody>
          <a:bodyPr wrap="none" lIns="109728" tIns="0" rIns="109728" bIns="0" rtlCol="0" anchor="ctr">
            <a:noAutofit/>
          </a:bodyPr>
          <a:lstStyle/>
          <a:p>
            <a:pPr algn="ctr"/>
            <a:r>
              <a:rPr lang="en-US" sz="1250" b="1" dirty="0">
                <a:solidFill>
                  <a:srgbClr val="7A1C15"/>
                </a:solidFill>
                <a:latin typeface="Aptos"/>
                <a:cs typeface="Aptos"/>
              </a:rPr>
              <a:t>the subtraction underflows,</a:t>
            </a:r>
          </a:p>
          <a:p>
            <a:pPr algn="ctr"/>
            <a:r>
              <a:rPr lang="en-US" sz="1250" b="1" dirty="0">
                <a:solidFill>
                  <a:srgbClr val="7A1C15"/>
                </a:solidFill>
                <a:latin typeface="Aptos"/>
                <a:cs typeface="Aptos"/>
              </a:rPr>
              <a:t>the copy runs off the heap</a:t>
            </a:r>
          </a:p>
        </p:txBody>
      </p:sp>
      <p:sp>
        <p:nvSpPr>
          <p:cNvPr id="17" name="Stats tile"/>
          <p:cNvSpPr/>
          <p:nvPr/>
        </p:nvSpPr>
        <p:spPr>
          <a:xfrm>
            <a:off x="9189720" y="2103120"/>
            <a:ext cx="2468880" cy="2606040"/>
          </a:xfrm>
          <a:prstGeom prst="roundRect">
            <a:avLst>
              <a:gd name="adj" fmla="val 50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18" name="950 M"/>
          <p:cNvSpPr txBox="1"/>
          <p:nvPr/>
        </p:nvSpPr>
        <p:spPr>
          <a:xfrm>
            <a:off x="9436608" y="2249424"/>
            <a:ext cx="1975104" cy="457200"/>
          </a:xfrm>
          <a:prstGeom prst="rect">
            <a:avLst/>
          </a:prstGeom>
          <a:noFill/>
          <a:ln>
            <a:noFill/>
          </a:ln>
        </p:spPr>
        <p:txBody>
          <a:bodyPr wrap="none" lIns="0" tIns="0" rIns="0" bIns="0" rtlCol="0" anchor="b">
            <a:noAutofit/>
          </a:bodyPr>
          <a:lstStyle/>
          <a:p>
            <a:pPr algn="l"/>
            <a:r>
              <a:rPr lang="en-US" sz="3200" b="1" dirty="0">
                <a:solidFill>
                  <a:srgbClr val="156082"/>
                </a:solidFill>
                <a:latin typeface="Aptos Display"/>
                <a:cs typeface="Aptos Display"/>
              </a:rPr>
              <a:t>950 M</a:t>
            </a:r>
            <a:r>
              <a:rPr lang="en-US" sz="1400" b="1" dirty="0">
                <a:solidFill>
                  <a:srgbClr val="1A1A1A"/>
                </a:solidFill>
                <a:latin typeface="Aptos"/>
                <a:cs typeface="Aptos"/>
              </a:rPr>
              <a:t> phones</a:t>
            </a:r>
          </a:p>
        </p:txBody>
      </p:sp>
      <p:sp>
        <p:nvSpPr>
          <p:cNvPr id="19" name="950 M caption"/>
          <p:cNvSpPr txBox="1"/>
          <p:nvPr/>
        </p:nvSpPr>
        <p:spPr>
          <a:xfrm>
            <a:off x="9436608" y="2724912"/>
            <a:ext cx="1975104" cy="237744"/>
          </a:xfrm>
          <a:prstGeom prst="rect">
            <a:avLst/>
          </a:prstGeom>
          <a:noFill/>
          <a:ln>
            <a:noFill/>
          </a:ln>
        </p:spPr>
        <p:txBody>
          <a:bodyPr wrap="none" lIns="0" tIns="0" rIns="0" bIns="0" rtlCol="0" anchor="t">
            <a:noAutofit/>
          </a:bodyPr>
          <a:lstStyle/>
          <a:p>
            <a:pPr algn="l"/>
            <a:r>
              <a:rPr lang="en-US" sz="1200" dirty="0">
                <a:solidFill>
                  <a:srgbClr val="595959"/>
                </a:solidFill>
                <a:latin typeface="Aptos"/>
                <a:cs typeface="Aptos"/>
              </a:rPr>
              <a:t>95% of Android at the time</a:t>
            </a:r>
          </a:p>
        </p:txBody>
      </p:sp>
      <p:cxnSp>
        <p:nvCxnSpPr>
          <p:cNvPr id="20" name="Stat rule 1"/>
          <p:cNvCxnSpPr/>
          <p:nvPr/>
        </p:nvCxnSpPr>
        <p:spPr>
          <a:xfrm>
            <a:off x="9436608" y="3003804"/>
            <a:ext cx="1975104" cy="0"/>
          </a:xfrm>
          <a:prstGeom prst="line">
            <a:avLst/>
          </a:prstGeom>
          <a:ln w="6350">
            <a:solidFill>
              <a:srgbClr val="C9C4C1"/>
            </a:solidFill>
          </a:ln>
        </p:spPr>
      </p:cxnSp>
      <p:sp>
        <p:nvSpPr>
          <p:cNvPr id="21" name="1"/>
          <p:cNvSpPr txBox="1"/>
          <p:nvPr/>
        </p:nvSpPr>
        <p:spPr>
          <a:xfrm>
            <a:off x="9436608" y="3044952"/>
            <a:ext cx="1975104" cy="457200"/>
          </a:xfrm>
          <a:prstGeom prst="rect">
            <a:avLst/>
          </a:prstGeom>
          <a:noFill/>
          <a:ln>
            <a:noFill/>
          </a:ln>
        </p:spPr>
        <p:txBody>
          <a:bodyPr wrap="none" lIns="0" tIns="0" rIns="0" bIns="0" rtlCol="0" anchor="b">
            <a:noAutofit/>
          </a:bodyPr>
          <a:lstStyle/>
          <a:p>
            <a:pPr algn="l"/>
            <a:r>
              <a:rPr lang="en-US" sz="3200" b="1" dirty="0">
                <a:solidFill>
                  <a:srgbClr val="156082"/>
                </a:solidFill>
                <a:latin typeface="Aptos Display"/>
                <a:cs typeface="Aptos Display"/>
              </a:rPr>
              <a:t>1</a:t>
            </a:r>
            <a:r>
              <a:rPr lang="en-US" sz="1400" b="1" dirty="0">
                <a:solidFill>
                  <a:srgbClr val="1A1A1A"/>
                </a:solidFill>
                <a:latin typeface="Aptos"/>
                <a:cs typeface="Aptos"/>
              </a:rPr>
              <a:t> message</a:t>
            </a:r>
          </a:p>
        </p:txBody>
      </p:sp>
      <p:sp>
        <p:nvSpPr>
          <p:cNvPr id="22" name="1 caption"/>
          <p:cNvSpPr txBox="1"/>
          <p:nvPr/>
        </p:nvSpPr>
        <p:spPr>
          <a:xfrm>
            <a:off x="9436608" y="3520440"/>
            <a:ext cx="1975104" cy="237744"/>
          </a:xfrm>
          <a:prstGeom prst="rect">
            <a:avLst/>
          </a:prstGeom>
          <a:noFill/>
          <a:ln>
            <a:noFill/>
          </a:ln>
        </p:spPr>
        <p:txBody>
          <a:bodyPr wrap="none" lIns="0" tIns="0" rIns="0" bIns="0" rtlCol="0" anchor="t">
            <a:noAutofit/>
          </a:bodyPr>
          <a:lstStyle/>
          <a:p>
            <a:pPr algn="l"/>
            <a:r>
              <a:rPr lang="en-US" sz="1200" dirty="0">
                <a:solidFill>
                  <a:srgbClr val="595959"/>
                </a:solidFill>
                <a:latin typeface="Aptos"/>
                <a:cs typeface="Aptos"/>
              </a:rPr>
              <a:t>an MMS, no tap needed</a:t>
            </a:r>
          </a:p>
        </p:txBody>
      </p:sp>
      <p:cxnSp>
        <p:nvCxnSpPr>
          <p:cNvPr id="23" name="Stat rule 2"/>
          <p:cNvCxnSpPr/>
          <p:nvPr/>
        </p:nvCxnSpPr>
        <p:spPr>
          <a:xfrm>
            <a:off x="9436608" y="3799332"/>
            <a:ext cx="1975104" cy="0"/>
          </a:xfrm>
          <a:prstGeom prst="line">
            <a:avLst/>
          </a:prstGeom>
          <a:ln w="6350">
            <a:solidFill>
              <a:srgbClr val="C9C4C1"/>
            </a:solidFill>
          </a:ln>
        </p:spPr>
      </p:cxnSp>
      <p:sp>
        <p:nvSpPr>
          <p:cNvPr id="24" name="2"/>
          <p:cNvSpPr txBox="1"/>
          <p:nvPr/>
        </p:nvSpPr>
        <p:spPr>
          <a:xfrm>
            <a:off x="9436608" y="3840480"/>
            <a:ext cx="1975104" cy="457200"/>
          </a:xfrm>
          <a:prstGeom prst="rect">
            <a:avLst/>
          </a:prstGeom>
          <a:noFill/>
          <a:ln>
            <a:noFill/>
          </a:ln>
        </p:spPr>
        <p:txBody>
          <a:bodyPr wrap="none" lIns="0" tIns="0" rIns="0" bIns="0" rtlCol="0" anchor="b">
            <a:noAutofit/>
          </a:bodyPr>
          <a:lstStyle/>
          <a:p>
            <a:pPr algn="l"/>
            <a:r>
              <a:rPr lang="en-US" sz="3200" b="1" dirty="0">
                <a:solidFill>
                  <a:srgbClr val="156082"/>
                </a:solidFill>
                <a:latin typeface="Aptos Display"/>
                <a:cs typeface="Aptos Display"/>
              </a:rPr>
              <a:t>2</a:t>
            </a:r>
            <a:r>
              <a:rPr lang="en-US" sz="1400" b="1" dirty="0">
                <a:solidFill>
                  <a:srgbClr val="1A1A1A"/>
                </a:solidFill>
                <a:latin typeface="Aptos"/>
                <a:cs typeface="Aptos"/>
              </a:rPr>
              <a:t> patches</a:t>
            </a:r>
          </a:p>
        </p:txBody>
      </p:sp>
      <p:sp>
        <p:nvSpPr>
          <p:cNvPr id="25" name="2 caption"/>
          <p:cNvSpPr txBox="1"/>
          <p:nvPr/>
        </p:nvSpPr>
        <p:spPr>
          <a:xfrm>
            <a:off x="9436608" y="4315968"/>
            <a:ext cx="1975104" cy="237744"/>
          </a:xfrm>
          <a:prstGeom prst="rect">
            <a:avLst/>
          </a:prstGeom>
          <a:noFill/>
          <a:ln>
            <a:noFill/>
          </a:ln>
        </p:spPr>
        <p:txBody>
          <a:bodyPr wrap="none" lIns="0" tIns="0" rIns="0" bIns="0" rtlCol="0" anchor="t">
            <a:noAutofit/>
          </a:bodyPr>
          <a:lstStyle/>
          <a:p>
            <a:pPr algn="l"/>
            <a:r>
              <a:rPr lang="en-US" sz="1200" dirty="0">
                <a:solidFill>
                  <a:srgbClr val="595959"/>
                </a:solidFill>
                <a:latin typeface="Aptos"/>
                <a:cs typeface="Aptos"/>
              </a:rPr>
              <a:t>the first fix was wrong too</a:t>
            </a:r>
          </a:p>
        </p:txBody>
      </p:sp>
      <p:sp>
        <p:nvSpPr>
          <p:cNvPr id="26" name="Closing 1"/>
          <p:cNvSpPr txBox="1"/>
          <p:nvPr/>
        </p:nvSpPr>
        <p:spPr>
          <a:xfrm>
            <a:off x="932688" y="5596127"/>
            <a:ext cx="10698480" cy="411480"/>
          </a:xfrm>
          <a:prstGeom prst="rect">
            <a:avLst/>
          </a:prstGeom>
          <a:noFill/>
          <a:ln>
            <a:noFill/>
          </a:ln>
        </p:spPr>
        <p:txBody>
          <a:bodyPr wrap="none" lIns="0" tIns="0" rIns="0" bIns="0" rtlCol="0" anchor="ctr">
            <a:noAutofit/>
          </a:bodyPr>
          <a:lstStyle/>
          <a:p>
            <a:pPr algn="l"/>
            <a:r>
              <a:rPr lang="en-US" sz="2200" b="1" dirty="0">
                <a:solidFill>
                  <a:srgbClr val="1A1A1A"/>
                </a:solidFill>
                <a:latin typeface="Aptos"/>
                <a:cs typeface="Aptos"/>
              </a:rPr>
              <a:t>One text message reached 950 million phones.</a:t>
            </a:r>
          </a:p>
        </p:txBody>
      </p:sp>
      <p:sp>
        <p:nvSpPr>
          <p:cNvPr id="27" name="Closing 2"/>
          <p:cNvSpPr txBox="1"/>
          <p:nvPr/>
        </p:nvSpPr>
        <p:spPr>
          <a:xfrm>
            <a:off x="932688" y="6035039"/>
            <a:ext cx="10698480" cy="365760"/>
          </a:xfrm>
          <a:prstGeom prst="rect">
            <a:avLst/>
          </a:prstGeom>
          <a:noFill/>
          <a:ln>
            <a:noFill/>
          </a:ln>
        </p:spPr>
        <p:txBody>
          <a:bodyPr wrap="none" lIns="0" tIns="0" rIns="0" bIns="0" rtlCol="0" anchor="ctr">
            <a:noAutofit/>
          </a:bodyPr>
          <a:lstStyle/>
          <a:p>
            <a:pPr algn="l"/>
            <a:r>
              <a:rPr lang="en-US" sz="1600" dirty="0">
                <a:solidFill>
                  <a:srgbClr val="595959"/>
                </a:solidFill>
                <a:latin typeface="Aptos"/>
                <a:cs typeface="Aptos"/>
              </a:rPr>
              <a:t>The size came from the file, the subtraction underflowed, and new[] trusted the result.</a:t>
            </a:r>
          </a:p>
        </p:txBody>
      </p:sp>
      <p:sp>
        <p:nvSpPr>
          <p:cNvPr id="33" name="tx315">
            <a:extLst>
              <a:ext uri="{FF2B5EF4-FFF2-40B4-BE49-F238E27FC236}">
                <a16:creationId xmlns:a16="http://schemas.microsoft.com/office/drawing/2014/main" id="{8C4AA145-684C-40EA-20F8-08D77EC39B01}"/>
              </a:ext>
            </a:extLst>
          </p:cNvPr>
          <p:cNvSpPr txBox="1"/>
          <p:nvPr/>
        </p:nvSpPr>
        <p:spPr>
          <a:xfrm>
            <a:off x="932688" y="5029200"/>
            <a:ext cx="914400" cy="310896"/>
          </a:xfrm>
          <a:prstGeom prst="rect">
            <a:avLst/>
          </a:prstGeom>
          <a:noFill/>
        </p:spPr>
        <p:txBody>
          <a:bodyPr wrap="square" lIns="0" tIns="0" rIns="0" bIns="0" anchor="ctr"/>
          <a:lstStyle/>
          <a:p>
            <a:pPr algn="l"/>
            <a:r>
              <a:rPr lang="en-US" sz="1100" b="0" dirty="0">
                <a:solidFill>
                  <a:srgbClr val="595959"/>
                </a:solidFill>
                <a:latin typeface="Aptos"/>
              </a:rPr>
              <a:t>caught by</a:t>
            </a:r>
          </a:p>
        </p:txBody>
      </p:sp>
      <p:sp>
        <p:nvSpPr>
          <p:cNvPr id="35" name="Rounded Rectangle chip">
            <a:extLst>
              <a:ext uri="{FF2B5EF4-FFF2-40B4-BE49-F238E27FC236}">
                <a16:creationId xmlns:a16="http://schemas.microsoft.com/office/drawing/2014/main" id="{B16EC352-2375-450E-29C7-97498A260485}"/>
              </a:ext>
            </a:extLst>
          </p:cNvPr>
          <p:cNvSpPr/>
          <p:nvPr/>
        </p:nvSpPr>
        <p:spPr>
          <a:xfrm>
            <a:off x="1920240" y="5029200"/>
            <a:ext cx="1303020" cy="310896"/>
          </a:xfrm>
          <a:prstGeom prst="roundRect">
            <a:avLst>
              <a:gd name="adj" fmla="val 50000"/>
            </a:avLst>
          </a:prstGeom>
          <a:solidFill>
            <a:srgbClr val="D9D9D9"/>
          </a:solidFill>
          <a:ln>
            <a:noFill/>
          </a:ln>
        </p:spPr>
        <p:txBody>
          <a:bodyPr wrap="none" lIns="0" tIns="0" rIns="0" bIns="0" anchor="ctr"/>
          <a:lstStyle/>
          <a:p>
            <a:pPr algn="ctr"/>
            <a:r>
              <a:rPr lang="en-US" sz="1200" b="1" dirty="0">
                <a:solidFill>
                  <a:srgbClr val="595959"/>
                </a:solidFill>
                <a:latin typeface="Aptos"/>
              </a:rPr>
              <a:t>Annotations</a:t>
            </a:r>
          </a:p>
        </p:txBody>
      </p:sp>
      <p:sp>
        <p:nvSpPr>
          <p:cNvPr id="37" name="Rounded Rectangle chip">
            <a:extLst>
              <a:ext uri="{FF2B5EF4-FFF2-40B4-BE49-F238E27FC236}">
                <a16:creationId xmlns:a16="http://schemas.microsoft.com/office/drawing/2014/main" id="{6123829F-145A-4993-0A96-A0C2141395E3}"/>
              </a:ext>
            </a:extLst>
          </p:cNvPr>
          <p:cNvSpPr/>
          <p:nvPr/>
        </p:nvSpPr>
        <p:spPr>
          <a:xfrm>
            <a:off x="3332988" y="5029200"/>
            <a:ext cx="1650492" cy="310896"/>
          </a:xfrm>
          <a:prstGeom prst="roundRect">
            <a:avLst>
              <a:gd name="adj" fmla="val 50000"/>
            </a:avLst>
          </a:prstGeom>
          <a:solidFill>
            <a:srgbClr val="F0DFB8"/>
          </a:solidFill>
          <a:ln>
            <a:noFill/>
          </a:ln>
        </p:spPr>
        <p:txBody>
          <a:bodyPr wrap="none" lIns="0" tIns="0" rIns="0" bIns="0" anchor="ctr"/>
          <a:lstStyle/>
          <a:p>
            <a:pPr algn="ctr"/>
            <a:r>
              <a:rPr lang="en-US" sz="1200" b="1" dirty="0">
                <a:solidFill>
                  <a:srgbClr val="5C4712"/>
                </a:solidFill>
                <a:latin typeface="Aptos"/>
              </a:rPr>
              <a:t>Static analysis</a:t>
            </a:r>
          </a:p>
        </p:txBody>
      </p:sp>
      <p:sp>
        <p:nvSpPr>
          <p:cNvPr id="39" name="Rounded Rectangle chip">
            <a:extLst>
              <a:ext uri="{FF2B5EF4-FFF2-40B4-BE49-F238E27FC236}">
                <a16:creationId xmlns:a16="http://schemas.microsoft.com/office/drawing/2014/main" id="{6D6CC822-6994-B7CC-FA59-918582184C60}"/>
              </a:ext>
            </a:extLst>
          </p:cNvPr>
          <p:cNvSpPr/>
          <p:nvPr/>
        </p:nvSpPr>
        <p:spPr>
          <a:xfrm>
            <a:off x="5093208" y="5029200"/>
            <a:ext cx="1737360" cy="310896"/>
          </a:xfrm>
          <a:prstGeom prst="roundRect">
            <a:avLst>
              <a:gd name="adj" fmla="val 50000"/>
            </a:avLst>
          </a:prstGeom>
          <a:solidFill>
            <a:srgbClr val="CFE4D1"/>
          </a:solidFill>
          <a:ln>
            <a:noFill/>
          </a:ln>
        </p:spPr>
        <p:txBody>
          <a:bodyPr wrap="none" lIns="0" tIns="0" rIns="0" bIns="0" anchor="ctr"/>
          <a:lstStyle/>
          <a:p>
            <a:pPr algn="ctr"/>
            <a:r>
              <a:rPr lang="en-US" sz="1200" b="1" dirty="0">
                <a:solidFill>
                  <a:srgbClr val="1F4D24"/>
                </a:solidFill>
                <a:latin typeface="Aptos"/>
              </a:rPr>
              <a:t>Dynamic analysis</a:t>
            </a:r>
          </a:p>
        </p:txBody>
      </p:sp>
      <p:sp>
        <p:nvSpPr>
          <p:cNvPr id="41" name="Rounded Rectangle chip">
            <a:extLst>
              <a:ext uri="{FF2B5EF4-FFF2-40B4-BE49-F238E27FC236}">
                <a16:creationId xmlns:a16="http://schemas.microsoft.com/office/drawing/2014/main" id="{6BD4E5BA-BA0E-6DA8-EAD6-6190BA79A0FB}"/>
              </a:ext>
            </a:extLst>
          </p:cNvPr>
          <p:cNvSpPr/>
          <p:nvPr/>
        </p:nvSpPr>
        <p:spPr>
          <a:xfrm>
            <a:off x="6940296" y="5029200"/>
            <a:ext cx="1129284" cy="310896"/>
          </a:xfrm>
          <a:prstGeom prst="roundRect">
            <a:avLst>
              <a:gd name="adj" fmla="val 50000"/>
            </a:avLst>
          </a:prstGeom>
          <a:solidFill>
            <a:srgbClr val="D9D9D9"/>
          </a:solidFill>
          <a:ln>
            <a:noFill/>
          </a:ln>
        </p:spPr>
        <p:txBody>
          <a:bodyPr wrap="none" lIns="0" tIns="0" rIns="0" bIns="0" anchor="ctr"/>
          <a:lstStyle/>
          <a:p>
            <a:pPr algn="ctr"/>
            <a:r>
              <a:rPr lang="en-US" sz="1200" b="1" dirty="0">
                <a:solidFill>
                  <a:srgbClr val="595959"/>
                </a:solidFill>
                <a:latin typeface="Aptos"/>
              </a:rPr>
              <a:t>Hardening</a:t>
            </a:r>
          </a:p>
        </p:txBody>
      </p:sp>
      <p:sp>
        <p:nvSpPr>
          <p:cNvPr id="43" name="tx320">
            <a:extLst>
              <a:ext uri="{FF2B5EF4-FFF2-40B4-BE49-F238E27FC236}">
                <a16:creationId xmlns:a16="http://schemas.microsoft.com/office/drawing/2014/main" id="{BC53E6A8-31AB-2BEB-B287-CFADDE0F2CAF}"/>
              </a:ext>
            </a:extLst>
          </p:cNvPr>
          <p:cNvSpPr txBox="1"/>
          <p:nvPr/>
        </p:nvSpPr>
        <p:spPr>
          <a:xfrm>
            <a:off x="8316468" y="5029200"/>
            <a:ext cx="3342132" cy="310896"/>
          </a:xfrm>
          <a:prstGeom prst="rect">
            <a:avLst/>
          </a:prstGeom>
          <a:noFill/>
        </p:spPr>
        <p:txBody>
          <a:bodyPr wrap="square" lIns="0" tIns="0" rIns="0" bIns="0" anchor="ctr"/>
          <a:lstStyle/>
          <a:p>
            <a:pPr algn="l"/>
            <a:r>
              <a:rPr lang="en-US" sz="1200" b="0" dirty="0">
                <a:solidFill>
                  <a:srgbClr val="595959"/>
                </a:solidFill>
                <a:latin typeface="Aptos"/>
              </a:rPr>
              <a:t>UBSan on the subtraction, ASan on the write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Signal/</a:t>
            </a:r>
            <a:r>
              <a:rPr lang="en-US" sz="1400" b="1" dirty="0">
                <a:solidFill>
                  <a:srgbClr val="1A1A1A"/>
                </a:solidFill>
              </a:rPr>
              <a:t>R</a:t>
            </a:r>
            <a:r>
              <a:rPr sz="1400" b="1" dirty="0">
                <a:solidFill>
                  <a:srgbClr val="1A1A1A"/>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Atomicity/</a:t>
            </a:r>
            <a:r>
              <a:rPr lang="en-US" sz="1400" b="1" dirty="0">
                <a:solidFill>
                  <a:srgbClr val="1A1A1A"/>
                </a:solidFill>
              </a:rPr>
              <a:t>O</a:t>
            </a:r>
            <a:r>
              <a:rPr sz="1400" b="1" dirty="0">
                <a:solidFill>
                  <a:srgbClr val="1A1A1A"/>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Non-</a:t>
            </a:r>
            <a:r>
              <a:rPr lang="en-US" sz="1400" b="1" dirty="0">
                <a:solidFill>
                  <a:srgbClr val="1A1A1A"/>
                </a:solidFill>
              </a:rPr>
              <a:t>M</a:t>
            </a:r>
            <a:r>
              <a:rPr sz="1400" b="1" dirty="0">
                <a:solidFill>
                  <a:srgbClr val="1A1A1A"/>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Static analysis coverage</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De</a:t>
            </a:r>
            <a:r>
              <a:rPr sz="1400" b="1" dirty="0">
                <a:solidFill>
                  <a:srgbClr val="1A1A1A"/>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Toolchain/Optimizer</a:t>
            </a:r>
            <a:endParaRPr sz="1400" b="1" dirty="0">
              <a:solidFill>
                <a:schemeClr val="tx1"/>
              </a:solidFill>
            </a:endParaRPr>
          </a:p>
        </p:txBody>
      </p:sp>
    </p:spTree>
    <p:extLst>
      <p:ext uri="{BB962C8B-B14F-4D97-AF65-F5344CB8AC3E}">
        <p14:creationId xmlns:p14="http://schemas.microsoft.com/office/powerpoint/2010/main" val="18663990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rgbClr val="F0BA28"/>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Signal/</a:t>
            </a:r>
            <a:r>
              <a:rPr lang="en-US" sz="1400" b="1" dirty="0">
                <a:solidFill>
                  <a:srgbClr val="1A1A1A"/>
                </a:solidFill>
              </a:rPr>
              <a:t>R</a:t>
            </a:r>
            <a:r>
              <a:rPr sz="1400" b="1" dirty="0">
                <a:solidFill>
                  <a:srgbClr val="1A1A1A"/>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Atomicity/</a:t>
            </a:r>
            <a:r>
              <a:rPr lang="en-US" sz="1400" b="1" dirty="0">
                <a:solidFill>
                  <a:srgbClr val="1A1A1A"/>
                </a:solidFill>
              </a:rPr>
              <a:t>O</a:t>
            </a:r>
            <a:r>
              <a:rPr sz="1400" b="1" dirty="0">
                <a:solidFill>
                  <a:srgbClr val="1A1A1A"/>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rgbClr val="F8D878"/>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Non-</a:t>
            </a:r>
            <a:r>
              <a:rPr lang="en-US" sz="1400" b="1" dirty="0">
                <a:solidFill>
                  <a:srgbClr val="1A1A1A"/>
                </a:solidFill>
              </a:rPr>
              <a:t>M</a:t>
            </a:r>
            <a:r>
              <a:rPr sz="1400" b="1" dirty="0">
                <a:solidFill>
                  <a:srgbClr val="1A1A1A"/>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rgbClr val="F8D878"/>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rgbClr val="F0BA28"/>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FFFFFF"/>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Address Sanitizer coverage</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rgbClr val="FDF0C4"/>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De</a:t>
            </a:r>
            <a:r>
              <a:rPr sz="1400" b="1" dirty="0">
                <a:solidFill>
                  <a:srgbClr val="1A1A1A"/>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Toolchain/Optimizer</a:t>
            </a:r>
            <a:endParaRPr sz="1400" b="1" dirty="0">
              <a:solidFill>
                <a:schemeClr val="tx1"/>
              </a:solidFill>
            </a:endParaRPr>
          </a:p>
        </p:txBody>
      </p:sp>
    </p:spTree>
    <p:extLst>
      <p:ext uri="{BB962C8B-B14F-4D97-AF65-F5344CB8AC3E}">
        <p14:creationId xmlns:p14="http://schemas.microsoft.com/office/powerpoint/2010/main" val="9688516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838200" y="1700000"/>
            <a:ext cx="1219200" cy="853440"/>
          </a:xfrm>
          <a:prstGeom prst="rect">
            <a:avLst/>
          </a:prstGeom>
          <a:noFill/>
          <a:ln/>
        </p:spPr>
        <p:txBody>
          <a:bodyPr wrap="square" lIns="0" tIns="0" rIns="0" bIns="0" rtlCol="0" anchor="t"/>
          <a:lstStyle/>
          <a:p>
            <a:r>
              <a:rPr lang="en-US" sz="5333" b="1" dirty="0">
                <a:solidFill>
                  <a:srgbClr val="1E5F7E"/>
                </a:solidFill>
                <a:latin typeface="Aptos" pitchFamily="34" charset="0"/>
                <a:ea typeface="Aptos" pitchFamily="34" charset="-122"/>
                <a:cs typeface="Aptos" pitchFamily="34" charset="-120"/>
              </a:rPr>
              <a:t>01</a:t>
            </a:r>
            <a:endParaRPr lang="en-US" sz="5333" dirty="0"/>
          </a:p>
        </p:txBody>
      </p:sp>
      <p:sp>
        <p:nvSpPr>
          <p:cNvPr id="4" name="Text 2"/>
          <p:cNvSpPr txBox="1"/>
          <p:nvPr/>
        </p:nvSpPr>
        <p:spPr>
          <a:xfrm>
            <a:off x="2240280" y="1724384"/>
            <a:ext cx="9144000" cy="463296"/>
          </a:xfrm>
          <a:prstGeom prst="rect">
            <a:avLst/>
          </a:prstGeom>
          <a:noFill/>
          <a:ln/>
        </p:spPr>
        <p:txBody>
          <a:bodyPr wrap="square" lIns="0" tIns="0" rIns="0" bIns="0" rtlCol="0" anchor="t"/>
          <a:lstStyle/>
          <a:p>
            <a:r>
              <a:rPr lang="en-US" sz="2533" b="1" dirty="0">
                <a:solidFill>
                  <a:srgbClr val="1A1A1A"/>
                </a:solidFill>
                <a:latin typeface="Aptos" pitchFamily="34" charset="0"/>
                <a:ea typeface="Aptos" pitchFamily="34" charset="-122"/>
                <a:cs typeface="Aptos" pitchFamily="34" charset="-120"/>
              </a:rPr>
              <a:t>It only covers what runs</a:t>
            </a:r>
            <a:endParaRPr lang="en-US" sz="2533" dirty="0"/>
          </a:p>
        </p:txBody>
      </p:sp>
      <p:sp>
        <p:nvSpPr>
          <p:cNvPr id="5" name="Text 3"/>
          <p:cNvSpPr txBox="1"/>
          <p:nvPr/>
        </p:nvSpPr>
        <p:spPr>
          <a:xfrm>
            <a:off x="2240280" y="2212064"/>
            <a:ext cx="9022080" cy="731520"/>
          </a:xfrm>
          <a:prstGeom prst="rect">
            <a:avLst/>
          </a:prstGeom>
          <a:noFill/>
          <a:ln/>
        </p:spPr>
        <p:txBody>
          <a:bodyPr wrap="square" lIns="0" tIns="0" rIns="0" bIns="0" rtlCol="0" anchor="t"/>
          <a:lstStyle/>
          <a:p>
            <a:r>
              <a:rPr lang="en-US" sz="1600" dirty="0">
                <a:solidFill>
                  <a:srgbClr val="5A5A5A"/>
                </a:solidFill>
                <a:latin typeface="Aptos" pitchFamily="34" charset="0"/>
                <a:ea typeface="Aptos" pitchFamily="34" charset="-122"/>
                <a:cs typeface="Aptos" pitchFamily="34" charset="-120"/>
              </a:rPr>
              <a:t>Sanitizers check the code the tests execute. A bug on an untested path is not found.</a:t>
            </a:r>
          </a:p>
          <a:p>
            <a:r>
              <a:rPr lang="en-US" sz="1600" dirty="0">
                <a:solidFill>
                  <a:srgbClr val="5A5A5A"/>
                </a:solidFill>
                <a:latin typeface="Aptos" pitchFamily="34" charset="0"/>
                <a:ea typeface="Aptos" pitchFamily="34" charset="-122"/>
                <a:cs typeface="Aptos" pitchFamily="34" charset="-120"/>
              </a:rPr>
              <a:t>Fuzzing helps, but each entry point needs its own harness.</a:t>
            </a:r>
            <a:endParaRPr lang="en-US" sz="1600" dirty="0"/>
          </a:p>
        </p:txBody>
      </p:sp>
      <p:sp>
        <p:nvSpPr>
          <p:cNvPr id="6" name="Shape 4"/>
          <p:cNvSpPr/>
          <p:nvPr/>
        </p:nvSpPr>
        <p:spPr>
          <a:xfrm>
            <a:off x="838200" y="2967968"/>
            <a:ext cx="10485120" cy="0"/>
          </a:xfrm>
          <a:prstGeom prst="line">
            <a:avLst/>
          </a:prstGeom>
          <a:noFill/>
          <a:ln w="9525">
            <a:solidFill>
              <a:srgbClr val="DADADA"/>
            </a:solidFill>
            <a:prstDash val="solid"/>
          </a:ln>
        </p:spPr>
        <p:txBody>
          <a:bodyPr/>
          <a:lstStyle/>
          <a:p>
            <a:endParaRPr lang="en-US" sz="2400"/>
          </a:p>
        </p:txBody>
      </p:sp>
      <p:sp>
        <p:nvSpPr>
          <p:cNvPr id="7" name="Text 5"/>
          <p:cNvSpPr txBox="1"/>
          <p:nvPr/>
        </p:nvSpPr>
        <p:spPr>
          <a:xfrm>
            <a:off x="838200" y="3065504"/>
            <a:ext cx="1219200" cy="853440"/>
          </a:xfrm>
          <a:prstGeom prst="rect">
            <a:avLst/>
          </a:prstGeom>
          <a:noFill/>
          <a:ln/>
        </p:spPr>
        <p:txBody>
          <a:bodyPr wrap="square" lIns="0" tIns="0" rIns="0" bIns="0" rtlCol="0" anchor="t"/>
          <a:lstStyle/>
          <a:p>
            <a:r>
              <a:rPr lang="en-US" sz="5333" b="1" dirty="0">
                <a:solidFill>
                  <a:srgbClr val="1E5F7E"/>
                </a:solidFill>
                <a:latin typeface="Aptos" pitchFamily="34" charset="0"/>
                <a:ea typeface="Aptos" pitchFamily="34" charset="-122"/>
                <a:cs typeface="Aptos" pitchFamily="34" charset="-120"/>
              </a:rPr>
              <a:t>02</a:t>
            </a:r>
            <a:endParaRPr lang="en-US" sz="5333" dirty="0"/>
          </a:p>
        </p:txBody>
      </p:sp>
      <p:sp>
        <p:nvSpPr>
          <p:cNvPr id="8" name="Text 6"/>
          <p:cNvSpPr txBox="1"/>
          <p:nvPr/>
        </p:nvSpPr>
        <p:spPr>
          <a:xfrm>
            <a:off x="2240280" y="3089888"/>
            <a:ext cx="9144000" cy="463296"/>
          </a:xfrm>
          <a:prstGeom prst="rect">
            <a:avLst/>
          </a:prstGeom>
          <a:noFill/>
          <a:ln/>
        </p:spPr>
        <p:txBody>
          <a:bodyPr wrap="square" lIns="0" tIns="0" rIns="0" bIns="0" rtlCol="0" anchor="t"/>
          <a:lstStyle/>
          <a:p>
            <a:r>
              <a:rPr lang="en-US" sz="2533" b="1" dirty="0">
                <a:solidFill>
                  <a:srgbClr val="1A1A1A"/>
                </a:solidFill>
                <a:latin typeface="Aptos" pitchFamily="34" charset="0"/>
                <a:ea typeface="Aptos" pitchFamily="34" charset="-122"/>
                <a:cs typeface="Aptos" pitchFamily="34" charset="-120"/>
              </a:rPr>
              <a:t>It is off by default and easy to ignore</a:t>
            </a:r>
            <a:endParaRPr lang="en-US" sz="2533" dirty="0"/>
          </a:p>
        </p:txBody>
      </p:sp>
      <p:sp>
        <p:nvSpPr>
          <p:cNvPr id="9" name="Text 7"/>
          <p:cNvSpPr txBox="1"/>
          <p:nvPr/>
        </p:nvSpPr>
        <p:spPr>
          <a:xfrm>
            <a:off x="2240280" y="3577568"/>
            <a:ext cx="9022080" cy="731520"/>
          </a:xfrm>
          <a:prstGeom prst="rect">
            <a:avLst/>
          </a:prstGeom>
          <a:noFill/>
          <a:ln/>
        </p:spPr>
        <p:txBody>
          <a:bodyPr wrap="square" lIns="0" tIns="0" rIns="0" bIns="0" rtlCol="0" anchor="t"/>
          <a:lstStyle/>
          <a:p>
            <a:r>
              <a:rPr lang="en-US" sz="1600" dirty="0">
                <a:solidFill>
                  <a:srgbClr val="5A5A5A"/>
                </a:solidFill>
                <a:latin typeface="Aptos" pitchFamily="34" charset="0"/>
                <a:ea typeface="Aptos" pitchFamily="34" charset="-122"/>
                <a:cs typeface="Aptos" pitchFamily="34" charset="-120"/>
              </a:rPr>
              <a:t>clang-tidy runs 0 checks out of the box. /analyze is opt in. /W4 warnings do not fail the build unless /WX is set. Most projects never turn these on.</a:t>
            </a:r>
            <a:endParaRPr lang="en-US" sz="1600" dirty="0"/>
          </a:p>
        </p:txBody>
      </p:sp>
      <p:sp>
        <p:nvSpPr>
          <p:cNvPr id="10" name="Shape 8"/>
          <p:cNvSpPr/>
          <p:nvPr/>
        </p:nvSpPr>
        <p:spPr>
          <a:xfrm>
            <a:off x="838200" y="4333472"/>
            <a:ext cx="10485120" cy="0"/>
          </a:xfrm>
          <a:prstGeom prst="line">
            <a:avLst/>
          </a:prstGeom>
          <a:noFill/>
          <a:ln w="9525">
            <a:solidFill>
              <a:srgbClr val="DADADA"/>
            </a:solidFill>
            <a:prstDash val="solid"/>
          </a:ln>
        </p:spPr>
        <p:txBody>
          <a:bodyPr/>
          <a:lstStyle/>
          <a:p>
            <a:endParaRPr lang="en-US" sz="2400"/>
          </a:p>
        </p:txBody>
      </p:sp>
      <p:sp>
        <p:nvSpPr>
          <p:cNvPr id="11" name="Text 9"/>
          <p:cNvSpPr txBox="1"/>
          <p:nvPr/>
        </p:nvSpPr>
        <p:spPr>
          <a:xfrm>
            <a:off x="838200" y="4431008"/>
            <a:ext cx="1219200" cy="853440"/>
          </a:xfrm>
          <a:prstGeom prst="rect">
            <a:avLst/>
          </a:prstGeom>
          <a:noFill/>
          <a:ln/>
        </p:spPr>
        <p:txBody>
          <a:bodyPr wrap="square" lIns="0" tIns="0" rIns="0" bIns="0" rtlCol="0" anchor="t"/>
          <a:lstStyle/>
          <a:p>
            <a:r>
              <a:rPr lang="en-US" sz="5333" b="1" dirty="0">
                <a:solidFill>
                  <a:srgbClr val="1E5F7E"/>
                </a:solidFill>
                <a:latin typeface="Aptos" pitchFamily="34" charset="0"/>
                <a:ea typeface="Aptos" pitchFamily="34" charset="-122"/>
                <a:cs typeface="Aptos" pitchFamily="34" charset="-120"/>
              </a:rPr>
              <a:t>03</a:t>
            </a:r>
            <a:endParaRPr lang="en-US" sz="5333" dirty="0"/>
          </a:p>
        </p:txBody>
      </p:sp>
      <p:sp>
        <p:nvSpPr>
          <p:cNvPr id="12" name="Text 10"/>
          <p:cNvSpPr txBox="1"/>
          <p:nvPr/>
        </p:nvSpPr>
        <p:spPr>
          <a:xfrm>
            <a:off x="2240280" y="4455392"/>
            <a:ext cx="9144000" cy="463296"/>
          </a:xfrm>
          <a:prstGeom prst="rect">
            <a:avLst/>
          </a:prstGeom>
          <a:noFill/>
          <a:ln/>
        </p:spPr>
        <p:txBody>
          <a:bodyPr wrap="square" lIns="0" tIns="0" rIns="0" bIns="0" rtlCol="0" anchor="t"/>
          <a:lstStyle/>
          <a:p>
            <a:r>
              <a:rPr lang="en-US" sz="2533" b="1" dirty="0">
                <a:solidFill>
                  <a:srgbClr val="1A1A1A"/>
                </a:solidFill>
                <a:latin typeface="Aptos" pitchFamily="34" charset="0"/>
                <a:ea typeface="Aptos" pitchFamily="34" charset="-122"/>
                <a:cs typeface="Aptos" pitchFamily="34" charset="-120"/>
              </a:rPr>
              <a:t>None of it is a guarantee</a:t>
            </a:r>
          </a:p>
        </p:txBody>
      </p:sp>
      <p:sp>
        <p:nvSpPr>
          <p:cNvPr id="13" name="Text 11"/>
          <p:cNvSpPr txBox="1"/>
          <p:nvPr/>
        </p:nvSpPr>
        <p:spPr>
          <a:xfrm>
            <a:off x="2240280" y="4943072"/>
            <a:ext cx="9022080" cy="731520"/>
          </a:xfrm>
          <a:prstGeom prst="rect">
            <a:avLst/>
          </a:prstGeom>
          <a:noFill/>
          <a:ln/>
        </p:spPr>
        <p:txBody>
          <a:bodyPr wrap="square" lIns="0" tIns="0" rIns="0" bIns="0" rtlCol="0" anchor="t"/>
          <a:lstStyle/>
          <a:p>
            <a:r>
              <a:rPr lang="en-US" sz="1600" dirty="0">
                <a:solidFill>
                  <a:srgbClr val="5A5A5A"/>
                </a:solidFill>
                <a:latin typeface="Aptos" pitchFamily="34" charset="0"/>
                <a:ea typeface="Aptos" pitchFamily="34" charset="-122"/>
                <a:cs typeface="Aptos" pitchFamily="34" charset="-120"/>
              </a:rPr>
              <a:t>Warnings and static tools match known patterns and produce false positives. Sanitizers are accurate, but only on the paths the tests ran. Chromium and Microsoft run all of this at scale and still report that about 70% of their serious security bugs are memory safety bugs.</a:t>
            </a:r>
            <a:endParaRPr lang="en-US" sz="1600" dirty="0"/>
          </a:p>
        </p:txBody>
      </p:sp>
      <p:sp>
        <p:nvSpPr>
          <p:cNvPr id="14" name="Title 13">
            <a:extLst>
              <a:ext uri="{FF2B5EF4-FFF2-40B4-BE49-F238E27FC236}">
                <a16:creationId xmlns:a16="http://schemas.microsoft.com/office/drawing/2014/main" id="{570ED16F-7782-FD74-CFBA-ED558D3AEC26}"/>
              </a:ext>
            </a:extLst>
          </p:cNvPr>
          <p:cNvSpPr>
            <a:spLocks noGrp="1"/>
          </p:cNvSpPr>
          <p:nvPr>
            <p:ph type="title"/>
          </p:nvPr>
        </p:nvSpPr>
        <p:spPr/>
        <p:txBody>
          <a:bodyPr/>
          <a:lstStyle/>
          <a:p>
            <a:r>
              <a:rPr lang="en-US" dirty="0">
                <a:solidFill>
                  <a:srgbClr val="1A1A1A"/>
                </a:solidFill>
                <a:latin typeface="Aptos" pitchFamily="34" charset="0"/>
                <a:ea typeface="Aptos" pitchFamily="34" charset="-122"/>
                <a:cs typeface="Aptos" pitchFamily="34" charset="-120"/>
              </a:rPr>
              <a:t>How effective is detection</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6AEAF9-847A-376E-7637-82FD4ABCB136}"/>
              </a:ext>
            </a:extLst>
          </p:cNvPr>
          <p:cNvSpPr txBox="1"/>
          <p:nvPr/>
        </p:nvSpPr>
        <p:spPr>
          <a:xfrm>
            <a:off x="1623060" y="3044279"/>
            <a:ext cx="8945880" cy="769441"/>
          </a:xfrm>
          <a:prstGeom prst="rect">
            <a:avLst/>
          </a:prstGeom>
          <a:noFill/>
        </p:spPr>
        <p:txBody>
          <a:bodyPr wrap="square" rtlCol="0">
            <a:spAutoFit/>
          </a:bodyPr>
          <a:lstStyle/>
          <a:p>
            <a:r>
              <a:rPr lang="en-US" sz="4400" b="1" dirty="0"/>
              <a:t>What if we had full test coverage?</a:t>
            </a:r>
          </a:p>
        </p:txBody>
      </p:sp>
    </p:spTree>
    <p:extLst>
      <p:ext uri="{BB962C8B-B14F-4D97-AF65-F5344CB8AC3E}">
        <p14:creationId xmlns:p14="http://schemas.microsoft.com/office/powerpoint/2010/main" val="17693265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Signal/</a:t>
            </a:r>
            <a:r>
              <a:rPr lang="en-US" sz="1400" b="1" dirty="0">
                <a:solidFill>
                  <a:srgbClr val="1A1A1A"/>
                </a:solidFill>
              </a:rPr>
              <a:t>R</a:t>
            </a:r>
            <a:r>
              <a:rPr sz="1400" b="1" dirty="0">
                <a:solidFill>
                  <a:srgbClr val="1A1A1A"/>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Atomicity/</a:t>
            </a:r>
            <a:r>
              <a:rPr lang="en-US" sz="1400" b="1" dirty="0">
                <a:solidFill>
                  <a:srgbClr val="1A1A1A"/>
                </a:solidFill>
              </a:rPr>
              <a:t>O</a:t>
            </a:r>
            <a:r>
              <a:rPr sz="1400" b="1" dirty="0">
                <a:solidFill>
                  <a:srgbClr val="1A1A1A"/>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Non-</a:t>
            </a:r>
            <a:r>
              <a:rPr lang="en-US" sz="1400" b="1" dirty="0">
                <a:solidFill>
                  <a:srgbClr val="1A1A1A"/>
                </a:solidFill>
              </a:rPr>
              <a:t>M</a:t>
            </a:r>
            <a:r>
              <a:rPr sz="1400" b="1" dirty="0">
                <a:solidFill>
                  <a:srgbClr val="1A1A1A"/>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FFFFFF"/>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Address Sanitizer coverage</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De</a:t>
            </a:r>
            <a:r>
              <a:rPr sz="1400" b="1" dirty="0">
                <a:solidFill>
                  <a:srgbClr val="1A1A1A"/>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Toolchain/Optimizer</a:t>
            </a:r>
            <a:endParaRPr sz="1400" b="1" dirty="0">
              <a:solidFill>
                <a:schemeClr val="tx1"/>
              </a:solidFill>
            </a:endParaRPr>
          </a:p>
        </p:txBody>
      </p:sp>
    </p:spTree>
    <p:extLst>
      <p:ext uri="{BB962C8B-B14F-4D97-AF65-F5344CB8AC3E}">
        <p14:creationId xmlns:p14="http://schemas.microsoft.com/office/powerpoint/2010/main" val="29879175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Address Sanitizer coverage</a:t>
            </a:r>
          </a:p>
        </p:txBody>
      </p:sp>
      <p:sp>
        <p:nvSpPr>
          <p:cNvPr id="5" name="Rounded Rectangle chip"/>
          <p:cNvSpPr/>
          <p:nvPr/>
        </p:nvSpPr>
        <p:spPr>
          <a:xfrm>
            <a:off x="4884960" y="1597840"/>
            <a:ext cx="2194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Out-of-bounds write</a:t>
            </a:r>
          </a:p>
        </p:txBody>
      </p:sp>
      <p:sp>
        <p:nvSpPr>
          <p:cNvPr id="6" name="Rounded Rectangle chip"/>
          <p:cNvSpPr/>
          <p:nvPr/>
        </p:nvSpPr>
        <p:spPr>
          <a:xfrm>
            <a:off x="7168960" y="1597840"/>
            <a:ext cx="2108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Out-of-bounds read</a:t>
            </a:r>
          </a:p>
        </p:txBody>
      </p:sp>
      <p:sp>
        <p:nvSpPr>
          <p:cNvPr id="7" name="Rounded Rectangle chip"/>
          <p:cNvSpPr/>
          <p:nvPr/>
        </p:nvSpPr>
        <p:spPr>
          <a:xfrm>
            <a:off x="9366960" y="1597840"/>
            <a:ext cx="2022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Unknown direction</a:t>
            </a:r>
          </a:p>
        </p:txBody>
      </p:sp>
      <p:sp>
        <p:nvSpPr>
          <p:cNvPr id="8" name="Rounded Rectangle chip"/>
          <p:cNvSpPr/>
          <p:nvPr/>
        </p:nvSpPr>
        <p:spPr>
          <a:xfrm>
            <a:off x="4884960" y="2027840"/>
            <a:ext cx="1334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Bad index</a:t>
            </a:r>
          </a:p>
        </p:txBody>
      </p:sp>
      <p:sp>
        <p:nvSpPr>
          <p:cNvPr id="9" name="Rounded Rectangle chip"/>
          <p:cNvSpPr/>
          <p:nvPr/>
        </p:nvSpPr>
        <p:spPr>
          <a:xfrm>
            <a:off x="6308960" y="2027840"/>
            <a:ext cx="2108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Pointer arithmetic</a:t>
            </a:r>
          </a:p>
        </p:txBody>
      </p:sp>
      <p:sp>
        <p:nvSpPr>
          <p:cNvPr id="10" name="TextBox 9"/>
          <p:cNvSpPr txBox="1"/>
          <p:nvPr/>
        </p:nvSpPr>
        <p:spPr>
          <a:xfrm>
            <a:off x="944880" y="157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Bounds</a:t>
            </a:r>
          </a:p>
        </p:txBody>
      </p:sp>
      <p:sp>
        <p:nvSpPr>
          <p:cNvPr id="11" name="Rectangle 10"/>
          <p:cNvSpPr/>
          <p:nvPr/>
        </p:nvSpPr>
        <p:spPr>
          <a:xfrm>
            <a:off x="944880" y="244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chip"/>
          <p:cNvSpPr/>
          <p:nvPr/>
        </p:nvSpPr>
        <p:spPr>
          <a:xfrm>
            <a:off x="4884960" y="2497840"/>
            <a:ext cx="1764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Use-after-free</a:t>
            </a:r>
          </a:p>
        </p:txBody>
      </p:sp>
      <p:sp>
        <p:nvSpPr>
          <p:cNvPr id="13" name="Rounded Rectangle chip"/>
          <p:cNvSpPr/>
          <p:nvPr/>
        </p:nvSpPr>
        <p:spPr>
          <a:xfrm>
            <a:off x="6738960" y="2497840"/>
            <a:ext cx="1506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Double-free</a:t>
            </a:r>
          </a:p>
        </p:txBody>
      </p:sp>
      <p:sp>
        <p:nvSpPr>
          <p:cNvPr id="14" name="Rounded Rectangle chip"/>
          <p:cNvSpPr/>
          <p:nvPr/>
        </p:nvSpPr>
        <p:spPr>
          <a:xfrm>
            <a:off x="8334960" y="2497840"/>
            <a:ext cx="2452000"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Aptos"/>
              </a:rPr>
              <a:t>Dangling stack pointer</a:t>
            </a:r>
          </a:p>
        </p:txBody>
      </p:sp>
      <p:sp>
        <p:nvSpPr>
          <p:cNvPr id="15" name="TextBox 14"/>
          <p:cNvSpPr txBox="1"/>
          <p:nvPr/>
        </p:nvSpPr>
        <p:spPr>
          <a:xfrm>
            <a:off x="944880" y="2477840"/>
            <a:ext cx="3200000" cy="369332"/>
          </a:xfrm>
          <a:prstGeom prst="rect">
            <a:avLst/>
          </a:prstGeom>
          <a:noFill/>
        </p:spPr>
        <p:txBody>
          <a:bodyPr wrap="square" lIns="0" tIns="0" rIns="0" bIns="0" anchor="t">
            <a:spAutoFit/>
          </a:bodyPr>
          <a:lstStyle/>
          <a:p>
            <a:pPr algn="l"/>
            <a:r>
              <a:rPr sz="2400" b="1">
                <a:solidFill>
                  <a:srgbClr val="1A1A1A"/>
                </a:solidFill>
                <a:latin typeface="Aptos"/>
              </a:rPr>
              <a:t>Lifetime</a:t>
            </a:r>
          </a:p>
        </p:txBody>
      </p:sp>
      <p:sp>
        <p:nvSpPr>
          <p:cNvPr id="16" name="Rectangle 15"/>
          <p:cNvSpPr/>
          <p:nvPr/>
        </p:nvSpPr>
        <p:spPr>
          <a:xfrm>
            <a:off x="944880" y="291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chip"/>
          <p:cNvSpPr/>
          <p:nvPr/>
        </p:nvSpPr>
        <p:spPr>
          <a:xfrm>
            <a:off x="4884960" y="2967840"/>
            <a:ext cx="193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Null dereference</a:t>
            </a:r>
          </a:p>
        </p:txBody>
      </p:sp>
      <p:sp>
        <p:nvSpPr>
          <p:cNvPr id="18" name="Rounded Rectangle chip"/>
          <p:cNvSpPr/>
          <p:nvPr/>
        </p:nvSpPr>
        <p:spPr>
          <a:xfrm>
            <a:off x="6910960" y="2967840"/>
            <a:ext cx="236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Unchecked null return</a:t>
            </a:r>
          </a:p>
        </p:txBody>
      </p:sp>
      <p:sp>
        <p:nvSpPr>
          <p:cNvPr id="19" name="TextBox 18"/>
          <p:cNvSpPr txBox="1"/>
          <p:nvPr/>
        </p:nvSpPr>
        <p:spPr>
          <a:xfrm>
            <a:off x="944880" y="2947840"/>
            <a:ext cx="3200000" cy="369332"/>
          </a:xfrm>
          <a:prstGeom prst="rect">
            <a:avLst/>
          </a:prstGeom>
          <a:noFill/>
        </p:spPr>
        <p:txBody>
          <a:bodyPr wrap="square" lIns="0" tIns="0" rIns="0" bIns="0" anchor="t">
            <a:spAutoFit/>
          </a:bodyPr>
          <a:lstStyle/>
          <a:p>
            <a:pPr algn="l"/>
            <a:r>
              <a:rPr sz="2400" b="1">
                <a:solidFill>
                  <a:srgbClr val="1A1A1A"/>
                </a:solidFill>
                <a:latin typeface="Aptos"/>
              </a:rPr>
              <a:t>Null</a:t>
            </a:r>
          </a:p>
        </p:txBody>
      </p:sp>
      <p:sp>
        <p:nvSpPr>
          <p:cNvPr id="20" name="Rectangle 19"/>
          <p:cNvSpPr/>
          <p:nvPr/>
        </p:nvSpPr>
        <p:spPr>
          <a:xfrm>
            <a:off x="944880" y="338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chip"/>
          <p:cNvSpPr/>
          <p:nvPr/>
        </p:nvSpPr>
        <p:spPr>
          <a:xfrm>
            <a:off x="4884960" y="3437840"/>
            <a:ext cx="2280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Exhaustion, no limit</a:t>
            </a:r>
          </a:p>
        </p:txBody>
      </p:sp>
      <p:sp>
        <p:nvSpPr>
          <p:cNvPr id="22" name="Rounded Rectangle chip"/>
          <p:cNvSpPr/>
          <p:nvPr/>
        </p:nvSpPr>
        <p:spPr>
          <a:xfrm>
            <a:off x="7254960" y="3437840"/>
            <a:ext cx="167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Leaked handle</a:t>
            </a:r>
          </a:p>
        </p:txBody>
      </p:sp>
      <p:sp>
        <p:nvSpPr>
          <p:cNvPr id="23" name="TextBox 22"/>
          <p:cNvSpPr txBox="1"/>
          <p:nvPr/>
        </p:nvSpPr>
        <p:spPr>
          <a:xfrm>
            <a:off x="944880" y="3417840"/>
            <a:ext cx="3573780" cy="369332"/>
          </a:xfrm>
          <a:prstGeom prst="rect">
            <a:avLst/>
          </a:prstGeom>
          <a:noFill/>
        </p:spPr>
        <p:txBody>
          <a:bodyPr wrap="square" lIns="0" tIns="0" rIns="0" bIns="0" anchor="t">
            <a:spAutoFit/>
          </a:bodyPr>
          <a:lstStyle/>
          <a:p>
            <a:pPr algn="l"/>
            <a:r>
              <a:rPr sz="2400" b="1" dirty="0">
                <a:solidFill>
                  <a:srgbClr val="1A1A1A"/>
                </a:solidFill>
                <a:latin typeface="Aptos"/>
              </a:rPr>
              <a:t>Non-memory resources</a:t>
            </a:r>
          </a:p>
        </p:txBody>
      </p:sp>
      <p:sp>
        <p:nvSpPr>
          <p:cNvPr id="24" name="Rectangle 23"/>
          <p:cNvSpPr/>
          <p:nvPr/>
        </p:nvSpPr>
        <p:spPr>
          <a:xfrm>
            <a:off x="944880" y="385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chip"/>
          <p:cNvSpPr/>
          <p:nvPr/>
        </p:nvSpPr>
        <p:spPr>
          <a:xfrm>
            <a:off x="4884960" y="3907840"/>
            <a:ext cx="193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Integer overflow</a:t>
            </a:r>
          </a:p>
        </p:txBody>
      </p:sp>
      <p:sp>
        <p:nvSpPr>
          <p:cNvPr id="26" name="Rounded Rectangle chip"/>
          <p:cNvSpPr/>
          <p:nvPr/>
        </p:nvSpPr>
        <p:spPr>
          <a:xfrm>
            <a:off x="6910960" y="390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Divide by zero</a:t>
            </a:r>
          </a:p>
        </p:txBody>
      </p:sp>
      <p:sp>
        <p:nvSpPr>
          <p:cNvPr id="27" name="Rounded Rectangle chip"/>
          <p:cNvSpPr/>
          <p:nvPr/>
        </p:nvSpPr>
        <p:spPr>
          <a:xfrm>
            <a:off x="8764960" y="390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Wrong calculation</a:t>
            </a:r>
          </a:p>
        </p:txBody>
      </p:sp>
      <p:sp>
        <p:nvSpPr>
          <p:cNvPr id="28" name="TextBox 27"/>
          <p:cNvSpPr txBox="1"/>
          <p:nvPr/>
        </p:nvSpPr>
        <p:spPr>
          <a:xfrm>
            <a:off x="944880" y="3887840"/>
            <a:ext cx="3200000" cy="369332"/>
          </a:xfrm>
          <a:prstGeom prst="rect">
            <a:avLst/>
          </a:prstGeom>
          <a:noFill/>
        </p:spPr>
        <p:txBody>
          <a:bodyPr wrap="square" lIns="0" tIns="0" rIns="0" bIns="0" anchor="t">
            <a:spAutoFit/>
          </a:bodyPr>
          <a:lstStyle/>
          <a:p>
            <a:pPr algn="l"/>
            <a:r>
              <a:rPr sz="2400" b="1" dirty="0">
                <a:solidFill>
                  <a:srgbClr val="1A1A1A"/>
                </a:solidFill>
                <a:latin typeface="Aptos"/>
              </a:rPr>
              <a:t>Arithmetic</a:t>
            </a:r>
          </a:p>
        </p:txBody>
      </p:sp>
      <p:sp>
        <p:nvSpPr>
          <p:cNvPr id="29" name="Rectangle 28"/>
          <p:cNvSpPr/>
          <p:nvPr/>
        </p:nvSpPr>
        <p:spPr>
          <a:xfrm>
            <a:off x="944880" y="432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chip"/>
          <p:cNvSpPr/>
          <p:nvPr/>
        </p:nvSpPr>
        <p:spPr>
          <a:xfrm>
            <a:off x="4884960" y="437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No allocation limit</a:t>
            </a:r>
          </a:p>
        </p:txBody>
      </p:sp>
      <p:sp>
        <p:nvSpPr>
          <p:cNvPr id="31" name="Rounded Rectangle chip"/>
          <p:cNvSpPr/>
          <p:nvPr/>
        </p:nvSpPr>
        <p:spPr>
          <a:xfrm>
            <a:off x="7168960" y="437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Memory leak</a:t>
            </a:r>
          </a:p>
        </p:txBody>
      </p:sp>
      <p:sp>
        <p:nvSpPr>
          <p:cNvPr id="32" name="TextBox 31"/>
          <p:cNvSpPr txBox="1"/>
          <p:nvPr/>
        </p:nvSpPr>
        <p:spPr>
          <a:xfrm>
            <a:off x="944880" y="4357840"/>
            <a:ext cx="3200000" cy="369332"/>
          </a:xfrm>
          <a:prstGeom prst="rect">
            <a:avLst/>
          </a:prstGeom>
          <a:noFill/>
        </p:spPr>
        <p:txBody>
          <a:bodyPr wrap="square" lIns="0" tIns="0" rIns="0" bIns="0" anchor="t">
            <a:spAutoFit/>
          </a:bodyPr>
          <a:lstStyle/>
          <a:p>
            <a:pPr algn="l"/>
            <a:r>
              <a:rPr sz="2400" b="1">
                <a:solidFill>
                  <a:srgbClr val="1A1A1A"/>
                </a:solidFill>
                <a:latin typeface="Aptos"/>
              </a:rPr>
              <a:t>Allocation</a:t>
            </a:r>
          </a:p>
        </p:txBody>
      </p:sp>
      <p:sp>
        <p:nvSpPr>
          <p:cNvPr id="33" name="Rectangle 32"/>
          <p:cNvSpPr/>
          <p:nvPr/>
        </p:nvSpPr>
        <p:spPr>
          <a:xfrm>
            <a:off x="944880" y="479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chip"/>
          <p:cNvSpPr/>
          <p:nvPr/>
        </p:nvSpPr>
        <p:spPr>
          <a:xfrm>
            <a:off x="4884960" y="4847840"/>
            <a:ext cx="2710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Untrusted deserialization</a:t>
            </a:r>
          </a:p>
        </p:txBody>
      </p:sp>
      <p:sp>
        <p:nvSpPr>
          <p:cNvPr id="35" name="TextBox 34"/>
          <p:cNvSpPr txBox="1"/>
          <p:nvPr/>
        </p:nvSpPr>
        <p:spPr>
          <a:xfrm>
            <a:off x="944880" y="4827840"/>
            <a:ext cx="3200000" cy="369332"/>
          </a:xfrm>
          <a:prstGeom prst="rect">
            <a:avLst/>
          </a:prstGeom>
          <a:noFill/>
        </p:spPr>
        <p:txBody>
          <a:bodyPr wrap="square" lIns="0" tIns="0" rIns="0" bIns="0" anchor="t">
            <a:spAutoFit/>
          </a:bodyPr>
          <a:lstStyle/>
          <a:p>
            <a:pPr algn="l"/>
            <a:r>
              <a:rPr sz="2400" b="1">
                <a:solidFill>
                  <a:srgbClr val="1A1A1A"/>
                </a:solidFill>
                <a:latin typeface="Aptos"/>
              </a:rPr>
              <a:t>Deserialization</a:t>
            </a:r>
          </a:p>
        </p:txBody>
      </p:sp>
      <p:sp>
        <p:nvSpPr>
          <p:cNvPr id="36" name="Rectangle 35"/>
          <p:cNvSpPr/>
          <p:nvPr/>
        </p:nvSpPr>
        <p:spPr>
          <a:xfrm>
            <a:off x="944880" y="526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chip"/>
          <p:cNvSpPr/>
          <p:nvPr/>
        </p:nvSpPr>
        <p:spPr>
          <a:xfrm>
            <a:off x="4884960" y="5317840"/>
            <a:ext cx="133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Data race</a:t>
            </a:r>
          </a:p>
        </p:txBody>
      </p:sp>
      <p:sp>
        <p:nvSpPr>
          <p:cNvPr id="38" name="Rounded Rectangle chip"/>
          <p:cNvSpPr/>
          <p:nvPr/>
        </p:nvSpPr>
        <p:spPr>
          <a:xfrm>
            <a:off x="6308960" y="5317840"/>
            <a:ext cx="219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Check-then-use race</a:t>
            </a:r>
          </a:p>
        </p:txBody>
      </p:sp>
      <p:sp>
        <p:nvSpPr>
          <p:cNvPr id="39" name="TextBox 38"/>
          <p:cNvSpPr txBox="1"/>
          <p:nvPr/>
        </p:nvSpPr>
        <p:spPr>
          <a:xfrm>
            <a:off x="944880" y="5297840"/>
            <a:ext cx="3200000" cy="369332"/>
          </a:xfrm>
          <a:prstGeom prst="rect">
            <a:avLst/>
          </a:prstGeom>
          <a:noFill/>
        </p:spPr>
        <p:txBody>
          <a:bodyPr wrap="square" lIns="0" tIns="0" rIns="0" bIns="0" anchor="t">
            <a:spAutoFit/>
          </a:bodyPr>
          <a:lstStyle/>
          <a:p>
            <a:pPr algn="l"/>
            <a:r>
              <a:rPr sz="2400" b="1">
                <a:solidFill>
                  <a:srgbClr val="1A1A1A"/>
                </a:solidFill>
                <a:latin typeface="Aptos"/>
              </a:rPr>
              <a:t>Data races</a:t>
            </a:r>
          </a:p>
        </p:txBody>
      </p:sp>
      <p:sp>
        <p:nvSpPr>
          <p:cNvPr id="40" name="Rectangle 39"/>
          <p:cNvSpPr/>
          <p:nvPr/>
        </p:nvSpPr>
        <p:spPr>
          <a:xfrm>
            <a:off x="944880" y="573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chip"/>
          <p:cNvSpPr/>
          <p:nvPr/>
        </p:nvSpPr>
        <p:spPr>
          <a:xfrm>
            <a:off x="4884960" y="5787840"/>
            <a:ext cx="210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Uninitialized read</a:t>
            </a:r>
          </a:p>
        </p:txBody>
      </p:sp>
      <p:sp>
        <p:nvSpPr>
          <p:cNvPr id="42" name="Rounded Rectangle chip"/>
          <p:cNvSpPr/>
          <p:nvPr/>
        </p:nvSpPr>
        <p:spPr>
          <a:xfrm>
            <a:off x="7082960" y="5787840"/>
            <a:ext cx="2022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Insecure defaults</a:t>
            </a:r>
          </a:p>
        </p:txBody>
      </p:sp>
      <p:sp>
        <p:nvSpPr>
          <p:cNvPr id="43" name="TextBox 42"/>
          <p:cNvSpPr txBox="1"/>
          <p:nvPr/>
        </p:nvSpPr>
        <p:spPr>
          <a:xfrm>
            <a:off x="944880" y="5767840"/>
            <a:ext cx="3200000" cy="369332"/>
          </a:xfrm>
          <a:prstGeom prst="rect">
            <a:avLst/>
          </a:prstGeom>
          <a:noFill/>
        </p:spPr>
        <p:txBody>
          <a:bodyPr wrap="square" lIns="0" tIns="0" rIns="0" bIns="0" anchor="t">
            <a:spAutoFit/>
          </a:bodyPr>
          <a:lstStyle/>
          <a:p>
            <a:pPr algn="l"/>
            <a:r>
              <a:rPr sz="2400" b="1">
                <a:solidFill>
                  <a:srgbClr val="1A1A1A"/>
                </a:solidFill>
                <a:latin typeface="Aptos"/>
              </a:rPr>
              <a:t>Initialization</a:t>
            </a:r>
          </a:p>
        </p:txBody>
      </p:sp>
      <p:sp>
        <p:nvSpPr>
          <p:cNvPr id="44" name="Rectangle 43"/>
          <p:cNvSpPr/>
          <p:nvPr/>
        </p:nvSpPr>
        <p:spPr>
          <a:xfrm>
            <a:off x="944880" y="6205720"/>
            <a:ext cx="10515600" cy="12700"/>
          </a:xfrm>
          <a:prstGeom prst="rect">
            <a:avLst/>
          </a:prstGeom>
          <a:solidFill>
            <a:srgbClr val="C9C4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chip"/>
          <p:cNvSpPr/>
          <p:nvPr/>
        </p:nvSpPr>
        <p:spPr>
          <a:xfrm>
            <a:off x="4884960" y="6257840"/>
            <a:ext cx="1764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Type confusion</a:t>
            </a:r>
          </a:p>
        </p:txBody>
      </p:sp>
      <p:sp>
        <p:nvSpPr>
          <p:cNvPr id="46" name="Rounded Rectangle chip"/>
          <p:cNvSpPr/>
          <p:nvPr/>
        </p:nvSpPr>
        <p:spPr>
          <a:xfrm>
            <a:off x="6738960" y="6257840"/>
            <a:ext cx="1248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Bad cast</a:t>
            </a:r>
          </a:p>
        </p:txBody>
      </p:sp>
      <p:sp>
        <p:nvSpPr>
          <p:cNvPr id="47" name="Rounded Rectangle chip"/>
          <p:cNvSpPr/>
          <p:nvPr/>
        </p:nvSpPr>
        <p:spPr>
          <a:xfrm>
            <a:off x="8076960" y="6257840"/>
            <a:ext cx="150600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A1A1A"/>
                </a:solidFill>
                <a:latin typeface="Aptos"/>
              </a:rPr>
              <a:t>Weak typing</a:t>
            </a:r>
          </a:p>
        </p:txBody>
      </p:sp>
      <p:sp>
        <p:nvSpPr>
          <p:cNvPr id="48" name="TextBox 47"/>
          <p:cNvSpPr txBox="1"/>
          <p:nvPr/>
        </p:nvSpPr>
        <p:spPr>
          <a:xfrm>
            <a:off x="944880" y="6237840"/>
            <a:ext cx="3200000" cy="369332"/>
          </a:xfrm>
          <a:prstGeom prst="rect">
            <a:avLst/>
          </a:prstGeom>
          <a:noFill/>
        </p:spPr>
        <p:txBody>
          <a:bodyPr wrap="square" lIns="0" tIns="0" rIns="0" bIns="0" anchor="t">
            <a:spAutoFit/>
          </a:bodyPr>
          <a:lstStyle/>
          <a:p>
            <a:pPr algn="l"/>
            <a:r>
              <a:rPr sz="2400" b="1">
                <a:solidFill>
                  <a:srgbClr val="1A1A1A"/>
                </a:solidFill>
                <a:latin typeface="Aptos"/>
              </a:rPr>
              <a:t>Type</a:t>
            </a:r>
          </a:p>
        </p:txBody>
      </p:sp>
    </p:spTree>
    <p:extLst>
      <p:ext uri="{BB962C8B-B14F-4D97-AF65-F5344CB8AC3E}">
        <p14:creationId xmlns:p14="http://schemas.microsoft.com/office/powerpoint/2010/main" val="10842050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7C7D9-6B3B-75B6-941D-A3B68D1DA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2F722-8397-AF68-D785-DC8B37679F1B}"/>
              </a:ext>
            </a:extLst>
          </p:cNvPr>
          <p:cNvSpPr>
            <a:spLocks noGrp="1"/>
          </p:cNvSpPr>
          <p:nvPr>
            <p:ph type="title"/>
          </p:nvPr>
        </p:nvSpPr>
        <p:spPr/>
        <p:txBody>
          <a:bodyPr/>
          <a:lstStyle/>
          <a:p>
            <a:r>
              <a:rPr lang="en-US" dirty="0"/>
              <a:t>Change the language</a:t>
            </a:r>
          </a:p>
        </p:txBody>
      </p:sp>
      <p:sp>
        <p:nvSpPr>
          <p:cNvPr id="3" name="Text Placeholder 2">
            <a:extLst>
              <a:ext uri="{FF2B5EF4-FFF2-40B4-BE49-F238E27FC236}">
                <a16:creationId xmlns:a16="http://schemas.microsoft.com/office/drawing/2014/main" id="{80ADE499-F29A-04FB-52C9-CF28D13ADF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77735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Change the language</a:t>
            </a:r>
            <a:endParaRPr lang="en-US" sz="4400" dirty="0"/>
          </a:p>
        </p:txBody>
      </p:sp>
      <p:sp>
        <p:nvSpPr>
          <p:cNvPr id="11" name="Subline"/>
          <p:cNvSpPr txBox="1"/>
          <p:nvPr/>
        </p:nvSpPr>
        <p:spPr>
          <a:xfrm>
            <a:off x="932688" y="1463040"/>
            <a:ext cx="10698480" cy="329184"/>
          </a:xfrm>
          <a:prstGeom prst="rect">
            <a:avLst/>
          </a:prstGeom>
          <a:noFill/>
          <a:ln>
            <a:noFill/>
          </a:ln>
        </p:spPr>
        <p:txBody>
          <a:bodyPr wrap="none" lIns="0" tIns="0" rIns="0" bIns="0" rtlCol="0" anchor="ctr">
            <a:noAutofit/>
          </a:bodyPr>
          <a:lstStyle/>
          <a:p>
            <a:pPr algn="l"/>
            <a:r>
              <a:rPr lang="en-US" sz="1600" dirty="0">
                <a:solidFill>
                  <a:srgbClr val="595959"/>
                </a:solidFill>
                <a:latin typeface="Aptos"/>
                <a:cs typeface="Aptos"/>
              </a:rPr>
              <a:t>Two proposals. One shipped in C++26, the other is proposed for C++29.</a:t>
            </a:r>
          </a:p>
        </p:txBody>
      </p:sp>
      <p:sp>
        <p:nvSpPr>
          <p:cNvPr id="12" name="Contracts card"/>
          <p:cNvSpPr/>
          <p:nvPr/>
        </p:nvSpPr>
        <p:spPr>
          <a:xfrm>
            <a:off x="932688" y="2029968"/>
            <a:ext cx="5212080" cy="3931920"/>
          </a:xfrm>
          <a:prstGeom prst="roundRect">
            <a:avLst>
              <a:gd name="adj" fmla="val 3500"/>
            </a:avLst>
          </a:prstGeom>
          <a:solidFill>
            <a:srgbClr val="FFFFFF"/>
          </a:solidFill>
          <a:ln w="9525">
            <a:solidFill>
              <a:srgbClr val="C9C4C1"/>
            </a:solidFill>
          </a:ln>
        </p:spPr>
        <p:txBody>
          <a:bodyPr wrap="none" lIns="0" tIns="0" rIns="0" bIns="0" rtlCol="0" anchor="ctr">
            <a:noAutofit/>
          </a:bodyPr>
          <a:lstStyle/>
          <a:p>
            <a:pPr algn="l"/>
            <a:endParaRPr lang="en-US" dirty="0"/>
          </a:p>
        </p:txBody>
      </p:sp>
      <p:sp>
        <p:nvSpPr>
          <p:cNvPr id="13" name="01"/>
          <p:cNvSpPr txBox="1"/>
          <p:nvPr/>
        </p:nvSpPr>
        <p:spPr>
          <a:xfrm>
            <a:off x="1298448" y="2304288"/>
            <a:ext cx="731520" cy="365760"/>
          </a:xfrm>
          <a:prstGeom prst="rect">
            <a:avLst/>
          </a:prstGeom>
          <a:noFill/>
          <a:ln>
            <a:noFill/>
          </a:ln>
        </p:spPr>
        <p:txBody>
          <a:bodyPr wrap="none" lIns="0" tIns="0" rIns="0" bIns="0" rtlCol="0" anchor="ctr">
            <a:noAutofit/>
          </a:bodyPr>
          <a:lstStyle/>
          <a:p>
            <a:pPr algn="l"/>
            <a:r>
              <a:rPr lang="en-US" sz="2000" b="1" dirty="0">
                <a:solidFill>
                  <a:srgbClr val="156082"/>
                </a:solidFill>
                <a:latin typeface="Aptos Display"/>
                <a:cs typeface="Aptos Display"/>
              </a:rPr>
              <a:t>01</a:t>
            </a:r>
          </a:p>
        </p:txBody>
      </p:sp>
      <p:sp>
        <p:nvSpPr>
          <p:cNvPr id="14" name="Contracts status"/>
          <p:cNvSpPr/>
          <p:nvPr/>
        </p:nvSpPr>
        <p:spPr>
          <a:xfrm>
            <a:off x="4727448" y="2331720"/>
            <a:ext cx="1051560" cy="310896"/>
          </a:xfrm>
          <a:prstGeom prst="roundRect">
            <a:avLst>
              <a:gd name="adj" fmla="val 50000"/>
            </a:avLst>
          </a:prstGeom>
          <a:solidFill>
            <a:srgbClr val="D9A63A"/>
          </a:solidFill>
          <a:ln>
            <a:noFill/>
          </a:ln>
        </p:spPr>
        <p:txBody>
          <a:bodyPr wrap="none" lIns="0" tIns="0" rIns="0" bIns="0" rtlCol="0" anchor="ctr">
            <a:noAutofit/>
          </a:bodyPr>
          <a:lstStyle/>
          <a:p>
            <a:pPr algn="ctr"/>
            <a:r>
              <a:rPr lang="en-US" sz="1200" b="1" dirty="0">
                <a:solidFill>
                  <a:srgbClr val="FFFFFF"/>
                </a:solidFill>
                <a:latin typeface="Aptos"/>
                <a:cs typeface="Aptos"/>
              </a:rPr>
              <a:t>in C++26</a:t>
            </a:r>
          </a:p>
        </p:txBody>
      </p:sp>
      <p:sp>
        <p:nvSpPr>
          <p:cNvPr id="15" name="Contracts"/>
          <p:cNvSpPr txBox="1"/>
          <p:nvPr/>
        </p:nvSpPr>
        <p:spPr>
          <a:xfrm>
            <a:off x="1298448" y="2743200"/>
            <a:ext cx="4480560" cy="566928"/>
          </a:xfrm>
          <a:prstGeom prst="rect">
            <a:avLst/>
          </a:prstGeom>
          <a:noFill/>
          <a:ln>
            <a:noFill/>
          </a:ln>
        </p:spPr>
        <p:txBody>
          <a:bodyPr wrap="none" lIns="0" tIns="0" rIns="0" bIns="0" rtlCol="0" anchor="ctr">
            <a:noAutofit/>
          </a:bodyPr>
          <a:lstStyle/>
          <a:p>
            <a:pPr algn="l"/>
            <a:r>
              <a:rPr lang="en-US" sz="3200" b="1" dirty="0">
                <a:solidFill>
                  <a:srgbClr val="1A1A1A"/>
                </a:solidFill>
                <a:latin typeface="Aptos Display"/>
                <a:cs typeface="Aptos Display"/>
              </a:rPr>
              <a:t>Contracts</a:t>
            </a:r>
          </a:p>
        </p:txBody>
      </p:sp>
      <p:sp>
        <p:nvSpPr>
          <p:cNvPr id="16" name="Contracts tagline"/>
          <p:cNvSpPr txBox="1"/>
          <p:nvPr/>
        </p:nvSpPr>
        <p:spPr>
          <a:xfrm>
            <a:off x="1298448" y="3328416"/>
            <a:ext cx="4480560" cy="566928"/>
          </a:xfrm>
          <a:prstGeom prst="rect">
            <a:avLst/>
          </a:prstGeom>
          <a:noFill/>
          <a:ln>
            <a:noFill/>
          </a:ln>
        </p:spPr>
        <p:txBody>
          <a:bodyPr wrap="square" lIns="0" tIns="0" rIns="0" bIns="0" rtlCol="0" anchor="t">
            <a:noAutofit/>
          </a:bodyPr>
          <a:lstStyle/>
          <a:p>
            <a:pPr algn="l"/>
            <a:r>
              <a:rPr lang="en-US" sz="1500" dirty="0">
                <a:solidFill>
                  <a:srgbClr val="595959"/>
                </a:solidFill>
                <a:latin typeface="Aptos"/>
                <a:cs typeface="Aptos"/>
              </a:rPr>
              <a:t>Say what a function expects and what it promises.</a:t>
            </a:r>
          </a:p>
        </p:txBody>
      </p:sp>
      <p:sp>
        <p:nvSpPr>
          <p:cNvPr id="17" name="Contracts code"/>
          <p:cNvSpPr/>
          <p:nvPr/>
        </p:nvSpPr>
        <p:spPr>
          <a:xfrm>
            <a:off x="1298448" y="3986784"/>
            <a:ext cx="4480560" cy="457200"/>
          </a:xfrm>
          <a:prstGeom prst="roundRect">
            <a:avLst>
              <a:gd name="adj" fmla="val 14000"/>
            </a:avLst>
          </a:prstGeom>
          <a:solidFill>
            <a:srgbClr val="12161F"/>
          </a:solidFill>
          <a:ln>
            <a:noFill/>
          </a:ln>
        </p:spPr>
        <p:txBody>
          <a:bodyPr wrap="none" lIns="182880" tIns="0" rIns="91440" bIns="0" rtlCol="0" anchor="ctr">
            <a:noAutofit/>
          </a:bodyPr>
          <a:lstStyle/>
          <a:p>
            <a:pPr algn="l"/>
            <a:r>
              <a:rPr lang="en-US" sz="1200" b="1" dirty="0">
                <a:solidFill>
                  <a:srgbClr val="7EE2A8"/>
                </a:solidFill>
                <a:latin typeface="Courier New"/>
                <a:cs typeface="Courier New"/>
              </a:rPr>
              <a:t>pre</a:t>
            </a:r>
            <a:r>
              <a:rPr lang="en-US" sz="1200" dirty="0">
                <a:solidFill>
                  <a:srgbClr val="E6E9EF"/>
                </a:solidFill>
                <a:latin typeface="Courier New"/>
                <a:cs typeface="Courier New"/>
              </a:rPr>
              <a:t>(...)  </a:t>
            </a:r>
            <a:r>
              <a:rPr lang="en-US" sz="1200" b="1" dirty="0">
                <a:solidFill>
                  <a:srgbClr val="7EE2A8"/>
                </a:solidFill>
                <a:latin typeface="Courier New"/>
                <a:cs typeface="Courier New"/>
              </a:rPr>
              <a:t>post</a:t>
            </a:r>
            <a:r>
              <a:rPr lang="en-US" sz="1200" dirty="0">
                <a:solidFill>
                  <a:srgbClr val="E6E9EF"/>
                </a:solidFill>
                <a:latin typeface="Courier New"/>
                <a:cs typeface="Courier New"/>
              </a:rPr>
              <a:t>(</a:t>
            </a:r>
            <a:r>
              <a:rPr lang="en-US" sz="1200" b="1" dirty="0">
                <a:solidFill>
                  <a:srgbClr val="FF7EB6"/>
                </a:solidFill>
                <a:latin typeface="Courier New"/>
                <a:cs typeface="Courier New"/>
              </a:rPr>
              <a:t>r</a:t>
            </a:r>
            <a:r>
              <a:rPr lang="en-US" sz="1200" dirty="0">
                <a:solidFill>
                  <a:srgbClr val="E6E9EF"/>
                </a:solidFill>
                <a:latin typeface="Courier New"/>
                <a:cs typeface="Courier New"/>
              </a:rPr>
              <a:t>: ...)  </a:t>
            </a:r>
            <a:r>
              <a:rPr lang="en-US" sz="1200" b="1" dirty="0">
                <a:solidFill>
                  <a:srgbClr val="7EE2A8"/>
                </a:solidFill>
                <a:latin typeface="Courier New"/>
                <a:cs typeface="Courier New"/>
              </a:rPr>
              <a:t>contract_assert</a:t>
            </a:r>
            <a:r>
              <a:rPr lang="en-US" sz="1200" dirty="0">
                <a:solidFill>
                  <a:srgbClr val="E6E9EF"/>
                </a:solidFill>
                <a:latin typeface="Courier New"/>
                <a:cs typeface="Courier New"/>
              </a:rPr>
              <a:t>(...)</a:t>
            </a:r>
          </a:p>
        </p:txBody>
      </p:sp>
      <p:cxnSp>
        <p:nvCxnSpPr>
          <p:cNvPr id="18" name="Contracts rule 1"/>
          <p:cNvCxnSpPr/>
          <p:nvPr/>
        </p:nvCxnSpPr>
        <p:spPr>
          <a:xfrm>
            <a:off x="1298448" y="4645152"/>
            <a:ext cx="4480560" cy="0"/>
          </a:xfrm>
          <a:prstGeom prst="line">
            <a:avLst/>
          </a:prstGeom>
          <a:ln w="9525">
            <a:solidFill>
              <a:srgbClr val="C9C4C1"/>
            </a:solidFill>
          </a:ln>
        </p:spPr>
      </p:cxnSp>
      <p:sp>
        <p:nvSpPr>
          <p:cNvPr id="19" name="Contracts label 1"/>
          <p:cNvSpPr txBox="1"/>
          <p:nvPr/>
        </p:nvSpPr>
        <p:spPr>
          <a:xfrm>
            <a:off x="1298448" y="4681728"/>
            <a:ext cx="1920240" cy="365760"/>
          </a:xfrm>
          <a:prstGeom prst="rect">
            <a:avLst/>
          </a:prstGeom>
          <a:noFill/>
          <a:ln>
            <a:noFill/>
          </a:ln>
        </p:spPr>
        <p:txBody>
          <a:bodyPr wrap="none" lIns="0" tIns="0" rIns="0" bIns="0" rtlCol="0" anchor="ctr">
            <a:noAutofit/>
          </a:bodyPr>
          <a:lstStyle/>
          <a:p>
            <a:pPr algn="l"/>
            <a:r>
              <a:rPr lang="en-US" sz="1200" dirty="0">
                <a:solidFill>
                  <a:srgbClr val="595959"/>
                </a:solidFill>
                <a:latin typeface="Aptos"/>
                <a:cs typeface="Aptos"/>
              </a:rPr>
              <a:t>Who writes the rules</a:t>
            </a:r>
          </a:p>
        </p:txBody>
      </p:sp>
      <p:sp>
        <p:nvSpPr>
          <p:cNvPr id="20" name="Contracts value 1"/>
          <p:cNvSpPr txBox="1"/>
          <p:nvPr/>
        </p:nvSpPr>
        <p:spPr>
          <a:xfrm>
            <a:off x="3218688" y="4681728"/>
            <a:ext cx="2560320" cy="365760"/>
          </a:xfrm>
          <a:prstGeom prst="rect">
            <a:avLst/>
          </a:prstGeom>
          <a:noFill/>
          <a:ln>
            <a:noFill/>
          </a:ln>
        </p:spPr>
        <p:txBody>
          <a:bodyPr wrap="none" lIns="0" tIns="0" rIns="0" bIns="0" rtlCol="0" anchor="ctr">
            <a:noAutofit/>
          </a:bodyPr>
          <a:lstStyle/>
          <a:p>
            <a:pPr algn="l"/>
            <a:r>
              <a:rPr lang="en-US" sz="1400" b="1" dirty="0">
                <a:solidFill>
                  <a:srgbClr val="1A1A1A"/>
                </a:solidFill>
                <a:latin typeface="Aptos"/>
                <a:cs typeface="Aptos"/>
              </a:rPr>
              <a:t>you, per function</a:t>
            </a:r>
          </a:p>
        </p:txBody>
      </p:sp>
      <p:cxnSp>
        <p:nvCxnSpPr>
          <p:cNvPr id="21" name="Contracts rule 2"/>
          <p:cNvCxnSpPr/>
          <p:nvPr/>
        </p:nvCxnSpPr>
        <p:spPr>
          <a:xfrm>
            <a:off x="1298448" y="5047488"/>
            <a:ext cx="4480560" cy="0"/>
          </a:xfrm>
          <a:prstGeom prst="line">
            <a:avLst/>
          </a:prstGeom>
          <a:ln w="9525">
            <a:solidFill>
              <a:srgbClr val="C9C4C1"/>
            </a:solidFill>
          </a:ln>
        </p:spPr>
      </p:cxnSp>
      <p:sp>
        <p:nvSpPr>
          <p:cNvPr id="22" name="Contracts label 2"/>
          <p:cNvSpPr txBox="1"/>
          <p:nvPr/>
        </p:nvSpPr>
        <p:spPr>
          <a:xfrm>
            <a:off x="1298448" y="5084064"/>
            <a:ext cx="1920240" cy="365760"/>
          </a:xfrm>
          <a:prstGeom prst="rect">
            <a:avLst/>
          </a:prstGeom>
          <a:noFill/>
          <a:ln>
            <a:noFill/>
          </a:ln>
        </p:spPr>
        <p:txBody>
          <a:bodyPr wrap="none" lIns="0" tIns="0" rIns="0" bIns="0" rtlCol="0" anchor="ctr">
            <a:noAutofit/>
          </a:bodyPr>
          <a:lstStyle/>
          <a:p>
            <a:pPr algn="l"/>
            <a:r>
              <a:rPr lang="en-US" sz="1200" dirty="0">
                <a:solidFill>
                  <a:srgbClr val="595959"/>
                </a:solidFill>
                <a:latin typeface="Aptos"/>
                <a:cs typeface="Aptos"/>
              </a:rPr>
              <a:t>When they are checked</a:t>
            </a:r>
          </a:p>
        </p:txBody>
      </p:sp>
      <p:sp>
        <p:nvSpPr>
          <p:cNvPr id="23" name="Contracts value 2"/>
          <p:cNvSpPr txBox="1"/>
          <p:nvPr/>
        </p:nvSpPr>
        <p:spPr>
          <a:xfrm>
            <a:off x="3218688" y="5084064"/>
            <a:ext cx="2560320" cy="365760"/>
          </a:xfrm>
          <a:prstGeom prst="rect">
            <a:avLst/>
          </a:prstGeom>
          <a:noFill/>
          <a:ln>
            <a:noFill/>
          </a:ln>
        </p:spPr>
        <p:txBody>
          <a:bodyPr wrap="none" lIns="0" tIns="0" rIns="0" bIns="0" rtlCol="0" anchor="ctr">
            <a:noAutofit/>
          </a:bodyPr>
          <a:lstStyle/>
          <a:p>
            <a:pPr algn="l"/>
            <a:r>
              <a:rPr lang="en-US" sz="1400" b="1" dirty="0">
                <a:solidFill>
                  <a:srgbClr val="1A1A1A"/>
                </a:solidFill>
                <a:latin typeface="Aptos"/>
                <a:cs typeface="Aptos"/>
              </a:rPr>
              <a:t>at run time</a:t>
            </a:r>
          </a:p>
        </p:txBody>
      </p:sp>
      <p:cxnSp>
        <p:nvCxnSpPr>
          <p:cNvPr id="24" name="Contracts rule 3"/>
          <p:cNvCxnSpPr/>
          <p:nvPr/>
        </p:nvCxnSpPr>
        <p:spPr>
          <a:xfrm>
            <a:off x="1298448" y="5449824"/>
            <a:ext cx="4480560" cy="0"/>
          </a:xfrm>
          <a:prstGeom prst="line">
            <a:avLst/>
          </a:prstGeom>
          <a:ln w="9525">
            <a:solidFill>
              <a:srgbClr val="C9C4C1"/>
            </a:solidFill>
          </a:ln>
        </p:spPr>
      </p:cxnSp>
      <p:sp>
        <p:nvSpPr>
          <p:cNvPr id="25" name="Contracts label 3"/>
          <p:cNvSpPr txBox="1"/>
          <p:nvPr/>
        </p:nvSpPr>
        <p:spPr>
          <a:xfrm>
            <a:off x="1298448" y="5486400"/>
            <a:ext cx="1920240" cy="365760"/>
          </a:xfrm>
          <a:prstGeom prst="rect">
            <a:avLst/>
          </a:prstGeom>
          <a:noFill/>
          <a:ln>
            <a:noFill/>
          </a:ln>
        </p:spPr>
        <p:txBody>
          <a:bodyPr wrap="none" lIns="0" tIns="0" rIns="0" bIns="0" rtlCol="0" anchor="ctr">
            <a:noAutofit/>
          </a:bodyPr>
          <a:lstStyle/>
          <a:p>
            <a:pPr algn="l"/>
            <a:r>
              <a:rPr lang="en-US" sz="1200" dirty="0">
                <a:solidFill>
                  <a:srgbClr val="595959"/>
                </a:solidFill>
                <a:latin typeface="Aptos"/>
                <a:cs typeface="Aptos"/>
              </a:rPr>
              <a:t>Who turns them on</a:t>
            </a:r>
          </a:p>
        </p:txBody>
      </p:sp>
      <p:sp>
        <p:nvSpPr>
          <p:cNvPr id="26" name="Contracts value 3"/>
          <p:cNvSpPr txBox="1"/>
          <p:nvPr/>
        </p:nvSpPr>
        <p:spPr>
          <a:xfrm>
            <a:off x="3218688" y="5486400"/>
            <a:ext cx="2560320" cy="365760"/>
          </a:xfrm>
          <a:prstGeom prst="rect">
            <a:avLst/>
          </a:prstGeom>
          <a:noFill/>
          <a:ln>
            <a:noFill/>
          </a:ln>
        </p:spPr>
        <p:txBody>
          <a:bodyPr wrap="none" lIns="0" tIns="0" rIns="0" bIns="0" rtlCol="0" anchor="ctr">
            <a:noAutofit/>
          </a:bodyPr>
          <a:lstStyle/>
          <a:p>
            <a:pPr algn="l"/>
            <a:r>
              <a:rPr lang="en-US" sz="1400" b="1" dirty="0">
                <a:solidFill>
                  <a:srgbClr val="1A1A1A"/>
                </a:solidFill>
                <a:latin typeface="Aptos"/>
                <a:cs typeface="Aptos"/>
              </a:rPr>
              <a:t>the build decides</a:t>
            </a:r>
          </a:p>
        </p:txBody>
      </p:sp>
      <p:sp>
        <p:nvSpPr>
          <p:cNvPr id="27" name="Profiles card"/>
          <p:cNvSpPr/>
          <p:nvPr/>
        </p:nvSpPr>
        <p:spPr>
          <a:xfrm>
            <a:off x="6446520" y="2029968"/>
            <a:ext cx="5212080" cy="3931920"/>
          </a:xfrm>
          <a:prstGeom prst="roundRect">
            <a:avLst>
              <a:gd name="adj" fmla="val 3500"/>
            </a:avLst>
          </a:prstGeom>
          <a:solidFill>
            <a:srgbClr val="FFFFFF"/>
          </a:solidFill>
          <a:ln w="9525">
            <a:solidFill>
              <a:srgbClr val="C9C4C1"/>
            </a:solidFill>
          </a:ln>
        </p:spPr>
        <p:txBody>
          <a:bodyPr wrap="none" lIns="0" tIns="0" rIns="0" bIns="0" rtlCol="0" anchor="ctr">
            <a:noAutofit/>
          </a:bodyPr>
          <a:lstStyle/>
          <a:p>
            <a:pPr algn="l"/>
            <a:endParaRPr lang="en-US" dirty="0"/>
          </a:p>
        </p:txBody>
      </p:sp>
      <p:sp>
        <p:nvSpPr>
          <p:cNvPr id="28" name="02"/>
          <p:cNvSpPr txBox="1"/>
          <p:nvPr/>
        </p:nvSpPr>
        <p:spPr>
          <a:xfrm>
            <a:off x="6812280" y="2304288"/>
            <a:ext cx="731520" cy="365760"/>
          </a:xfrm>
          <a:prstGeom prst="rect">
            <a:avLst/>
          </a:prstGeom>
          <a:noFill/>
          <a:ln>
            <a:noFill/>
          </a:ln>
        </p:spPr>
        <p:txBody>
          <a:bodyPr wrap="none" lIns="0" tIns="0" rIns="0" bIns="0" rtlCol="0" anchor="ctr">
            <a:noAutofit/>
          </a:bodyPr>
          <a:lstStyle/>
          <a:p>
            <a:pPr algn="l"/>
            <a:r>
              <a:rPr lang="en-US" sz="2000" b="1" dirty="0">
                <a:solidFill>
                  <a:srgbClr val="156082"/>
                </a:solidFill>
                <a:latin typeface="Aptos Display"/>
                <a:cs typeface="Aptos Display"/>
              </a:rPr>
              <a:t>02</a:t>
            </a:r>
          </a:p>
        </p:txBody>
      </p:sp>
      <p:sp>
        <p:nvSpPr>
          <p:cNvPr id="29" name="Profiles status"/>
          <p:cNvSpPr/>
          <p:nvPr/>
        </p:nvSpPr>
        <p:spPr>
          <a:xfrm>
            <a:off x="9372600" y="2331720"/>
            <a:ext cx="1920240" cy="310896"/>
          </a:xfrm>
          <a:prstGeom prst="roundRect">
            <a:avLst>
              <a:gd name="adj" fmla="val 50000"/>
            </a:avLst>
          </a:prstGeom>
          <a:solidFill>
            <a:srgbClr val="FFFAFA"/>
          </a:solidFill>
          <a:ln w="22225">
            <a:solidFill>
              <a:srgbClr val="D9A63A"/>
            </a:solidFill>
            <a:prstDash val="sysDash"/>
          </a:ln>
        </p:spPr>
        <p:txBody>
          <a:bodyPr wrap="none" lIns="0" tIns="0" rIns="0" bIns="0" rtlCol="0" anchor="ctr">
            <a:noAutofit/>
          </a:bodyPr>
          <a:lstStyle/>
          <a:p>
            <a:pPr algn="ctr"/>
            <a:r>
              <a:rPr lang="en-US" sz="1200" b="1" dirty="0">
                <a:solidFill>
                  <a:srgbClr val="1A1A1A"/>
                </a:solidFill>
                <a:latin typeface="Aptos"/>
                <a:cs typeface="Aptos"/>
              </a:rPr>
              <a:t>proposed for C++29</a:t>
            </a:r>
          </a:p>
        </p:txBody>
      </p:sp>
      <p:sp>
        <p:nvSpPr>
          <p:cNvPr id="30" name="Profiles"/>
          <p:cNvSpPr txBox="1"/>
          <p:nvPr/>
        </p:nvSpPr>
        <p:spPr>
          <a:xfrm>
            <a:off x="6812280" y="2743200"/>
            <a:ext cx="4480560" cy="566928"/>
          </a:xfrm>
          <a:prstGeom prst="rect">
            <a:avLst/>
          </a:prstGeom>
          <a:noFill/>
          <a:ln>
            <a:noFill/>
          </a:ln>
        </p:spPr>
        <p:txBody>
          <a:bodyPr wrap="none" lIns="0" tIns="0" rIns="0" bIns="0" rtlCol="0" anchor="ctr">
            <a:noAutofit/>
          </a:bodyPr>
          <a:lstStyle/>
          <a:p>
            <a:pPr algn="l"/>
            <a:r>
              <a:rPr lang="en-US" sz="3200" b="1" dirty="0">
                <a:solidFill>
                  <a:srgbClr val="1A1A1A"/>
                </a:solidFill>
                <a:latin typeface="Aptos Display"/>
                <a:cs typeface="Aptos Display"/>
              </a:rPr>
              <a:t>Profiles</a:t>
            </a:r>
          </a:p>
        </p:txBody>
      </p:sp>
      <p:sp>
        <p:nvSpPr>
          <p:cNvPr id="31" name="Profiles tagline"/>
          <p:cNvSpPr txBox="1"/>
          <p:nvPr/>
        </p:nvSpPr>
        <p:spPr>
          <a:xfrm>
            <a:off x="6812280" y="3328416"/>
            <a:ext cx="4480560" cy="566928"/>
          </a:xfrm>
          <a:prstGeom prst="rect">
            <a:avLst/>
          </a:prstGeom>
          <a:noFill/>
          <a:ln>
            <a:noFill/>
          </a:ln>
        </p:spPr>
        <p:txBody>
          <a:bodyPr wrap="square" lIns="0" tIns="0" rIns="0" bIns="0" rtlCol="0" anchor="t">
            <a:noAutofit/>
          </a:bodyPr>
          <a:lstStyle/>
          <a:p>
            <a:pPr algn="l"/>
            <a:r>
              <a:rPr lang="en-US" sz="1500" dirty="0">
                <a:solidFill>
                  <a:srgbClr val="595959"/>
                </a:solidFill>
                <a:latin typeface="Aptos"/>
                <a:cs typeface="Aptos"/>
              </a:rPr>
              <a:t>Rule sets for type, bounds, lifetime and arithmetic, enforced by the compiler.</a:t>
            </a:r>
          </a:p>
        </p:txBody>
      </p:sp>
      <p:sp>
        <p:nvSpPr>
          <p:cNvPr id="32" name="Profiles code"/>
          <p:cNvSpPr/>
          <p:nvPr/>
        </p:nvSpPr>
        <p:spPr>
          <a:xfrm>
            <a:off x="6812280" y="3986784"/>
            <a:ext cx="4480560" cy="457200"/>
          </a:xfrm>
          <a:prstGeom prst="roundRect">
            <a:avLst>
              <a:gd name="adj" fmla="val 14000"/>
            </a:avLst>
          </a:prstGeom>
          <a:solidFill>
            <a:srgbClr val="12161F"/>
          </a:solidFill>
          <a:ln>
            <a:noFill/>
          </a:ln>
        </p:spPr>
        <p:txBody>
          <a:bodyPr wrap="none" lIns="182880" tIns="0" rIns="91440" bIns="0" rtlCol="0" anchor="ctr">
            <a:noAutofit/>
          </a:bodyPr>
          <a:lstStyle/>
          <a:p>
            <a:pPr algn="l"/>
            <a:r>
              <a:rPr lang="en-US" sz="1200" dirty="0">
                <a:solidFill>
                  <a:srgbClr val="E6E9EF"/>
                </a:solidFill>
                <a:latin typeface="Courier New"/>
                <a:cs typeface="Courier New"/>
              </a:rPr>
              <a:t>[[</a:t>
            </a:r>
            <a:r>
              <a:rPr lang="en-US" sz="1200" b="1" dirty="0">
                <a:solidFill>
                  <a:srgbClr val="7EE2A8"/>
                </a:solidFill>
                <a:latin typeface="Courier New"/>
                <a:cs typeface="Courier New"/>
              </a:rPr>
              <a:t>profiles::enforce</a:t>
            </a:r>
            <a:r>
              <a:rPr lang="en-US" sz="1200" dirty="0">
                <a:solidFill>
                  <a:srgbClr val="E6E9EF"/>
                </a:solidFill>
                <a:latin typeface="Courier New"/>
                <a:cs typeface="Courier New"/>
              </a:rPr>
              <a:t>(</a:t>
            </a:r>
            <a:r>
              <a:rPr lang="en-US" sz="1200" b="1" dirty="0">
                <a:solidFill>
                  <a:srgbClr val="FF7EB6"/>
                </a:solidFill>
                <a:latin typeface="Courier New"/>
                <a:cs typeface="Courier New"/>
              </a:rPr>
              <a:t>std::bounds</a:t>
            </a:r>
            <a:r>
              <a:rPr lang="en-US" sz="1200" dirty="0">
                <a:solidFill>
                  <a:srgbClr val="E6E9EF"/>
                </a:solidFill>
                <a:latin typeface="Courier New"/>
                <a:cs typeface="Courier New"/>
              </a:rPr>
              <a:t>)]];</a:t>
            </a:r>
          </a:p>
        </p:txBody>
      </p:sp>
      <p:cxnSp>
        <p:nvCxnSpPr>
          <p:cNvPr id="33" name="Profiles rule 1"/>
          <p:cNvCxnSpPr/>
          <p:nvPr/>
        </p:nvCxnSpPr>
        <p:spPr>
          <a:xfrm>
            <a:off x="6812280" y="4645152"/>
            <a:ext cx="4480560" cy="0"/>
          </a:xfrm>
          <a:prstGeom prst="line">
            <a:avLst/>
          </a:prstGeom>
          <a:ln w="9525">
            <a:solidFill>
              <a:srgbClr val="C9C4C1"/>
            </a:solidFill>
          </a:ln>
        </p:spPr>
      </p:cxnSp>
      <p:sp>
        <p:nvSpPr>
          <p:cNvPr id="34" name="Profiles label 1"/>
          <p:cNvSpPr txBox="1"/>
          <p:nvPr/>
        </p:nvSpPr>
        <p:spPr>
          <a:xfrm>
            <a:off x="6812280" y="4681728"/>
            <a:ext cx="1920240" cy="365760"/>
          </a:xfrm>
          <a:prstGeom prst="rect">
            <a:avLst/>
          </a:prstGeom>
          <a:noFill/>
          <a:ln>
            <a:noFill/>
          </a:ln>
        </p:spPr>
        <p:txBody>
          <a:bodyPr wrap="none" lIns="0" tIns="0" rIns="0" bIns="0" rtlCol="0" anchor="ctr">
            <a:noAutofit/>
          </a:bodyPr>
          <a:lstStyle/>
          <a:p>
            <a:pPr algn="l"/>
            <a:r>
              <a:rPr lang="en-US" sz="1200" dirty="0">
                <a:solidFill>
                  <a:srgbClr val="595959"/>
                </a:solidFill>
                <a:latin typeface="Aptos"/>
                <a:cs typeface="Aptos"/>
              </a:rPr>
              <a:t>Who writes the rules</a:t>
            </a:r>
          </a:p>
        </p:txBody>
      </p:sp>
      <p:sp>
        <p:nvSpPr>
          <p:cNvPr id="35" name="Profiles value 1"/>
          <p:cNvSpPr txBox="1"/>
          <p:nvPr/>
        </p:nvSpPr>
        <p:spPr>
          <a:xfrm>
            <a:off x="8732520" y="4681728"/>
            <a:ext cx="2560320" cy="365760"/>
          </a:xfrm>
          <a:prstGeom prst="rect">
            <a:avLst/>
          </a:prstGeom>
          <a:noFill/>
          <a:ln>
            <a:noFill/>
          </a:ln>
        </p:spPr>
        <p:txBody>
          <a:bodyPr wrap="none" lIns="0" tIns="0" rIns="0" bIns="0" rtlCol="0" anchor="ctr">
            <a:noAutofit/>
          </a:bodyPr>
          <a:lstStyle/>
          <a:p>
            <a:pPr algn="l"/>
            <a:r>
              <a:rPr lang="en-US" sz="1400" b="1" dirty="0">
                <a:solidFill>
                  <a:srgbClr val="1A1A1A"/>
                </a:solidFill>
                <a:latin typeface="Aptos"/>
                <a:cs typeface="Aptos"/>
              </a:rPr>
              <a:t>the standard</a:t>
            </a:r>
          </a:p>
        </p:txBody>
      </p:sp>
      <p:cxnSp>
        <p:nvCxnSpPr>
          <p:cNvPr id="36" name="Profiles rule 2"/>
          <p:cNvCxnSpPr/>
          <p:nvPr/>
        </p:nvCxnSpPr>
        <p:spPr>
          <a:xfrm>
            <a:off x="6812280" y="5047488"/>
            <a:ext cx="4480560" cy="0"/>
          </a:xfrm>
          <a:prstGeom prst="line">
            <a:avLst/>
          </a:prstGeom>
          <a:ln w="9525">
            <a:solidFill>
              <a:srgbClr val="C9C4C1"/>
            </a:solidFill>
          </a:ln>
        </p:spPr>
      </p:cxnSp>
      <p:sp>
        <p:nvSpPr>
          <p:cNvPr id="37" name="Profiles label 2"/>
          <p:cNvSpPr txBox="1"/>
          <p:nvPr/>
        </p:nvSpPr>
        <p:spPr>
          <a:xfrm>
            <a:off x="6812280" y="5084064"/>
            <a:ext cx="1920240" cy="365760"/>
          </a:xfrm>
          <a:prstGeom prst="rect">
            <a:avLst/>
          </a:prstGeom>
          <a:noFill/>
          <a:ln>
            <a:noFill/>
          </a:ln>
        </p:spPr>
        <p:txBody>
          <a:bodyPr wrap="none" lIns="0" tIns="0" rIns="0" bIns="0" rtlCol="0" anchor="ctr">
            <a:noAutofit/>
          </a:bodyPr>
          <a:lstStyle/>
          <a:p>
            <a:pPr algn="l"/>
            <a:r>
              <a:rPr lang="en-US" sz="1200" dirty="0">
                <a:solidFill>
                  <a:srgbClr val="595959"/>
                </a:solidFill>
                <a:latin typeface="Aptos"/>
                <a:cs typeface="Aptos"/>
              </a:rPr>
              <a:t>When they are checked</a:t>
            </a:r>
          </a:p>
        </p:txBody>
      </p:sp>
      <p:sp>
        <p:nvSpPr>
          <p:cNvPr id="38" name="Profiles value 2"/>
          <p:cNvSpPr txBox="1"/>
          <p:nvPr/>
        </p:nvSpPr>
        <p:spPr>
          <a:xfrm>
            <a:off x="8732520" y="5084064"/>
            <a:ext cx="2560320" cy="365760"/>
          </a:xfrm>
          <a:prstGeom prst="rect">
            <a:avLst/>
          </a:prstGeom>
          <a:noFill/>
          <a:ln>
            <a:noFill/>
          </a:ln>
        </p:spPr>
        <p:txBody>
          <a:bodyPr wrap="none" lIns="0" tIns="0" rIns="0" bIns="0" rtlCol="0" anchor="ctr">
            <a:noAutofit/>
          </a:bodyPr>
          <a:lstStyle/>
          <a:p>
            <a:pPr algn="l"/>
            <a:r>
              <a:rPr lang="en-US" sz="1400" b="1" dirty="0">
                <a:solidFill>
                  <a:srgbClr val="1A1A1A"/>
                </a:solidFill>
                <a:latin typeface="Aptos"/>
                <a:cs typeface="Aptos"/>
              </a:rPr>
              <a:t>compile time and run time</a:t>
            </a:r>
          </a:p>
        </p:txBody>
      </p:sp>
      <p:cxnSp>
        <p:nvCxnSpPr>
          <p:cNvPr id="39" name="Profiles rule 3"/>
          <p:cNvCxnSpPr/>
          <p:nvPr/>
        </p:nvCxnSpPr>
        <p:spPr>
          <a:xfrm>
            <a:off x="6812280" y="5449824"/>
            <a:ext cx="4480560" cy="0"/>
          </a:xfrm>
          <a:prstGeom prst="line">
            <a:avLst/>
          </a:prstGeom>
          <a:ln w="9525">
            <a:solidFill>
              <a:srgbClr val="C9C4C1"/>
            </a:solidFill>
          </a:ln>
        </p:spPr>
      </p:cxnSp>
      <p:sp>
        <p:nvSpPr>
          <p:cNvPr id="40" name="Profiles label 3"/>
          <p:cNvSpPr txBox="1"/>
          <p:nvPr/>
        </p:nvSpPr>
        <p:spPr>
          <a:xfrm>
            <a:off x="6812280" y="5486400"/>
            <a:ext cx="1920240" cy="365760"/>
          </a:xfrm>
          <a:prstGeom prst="rect">
            <a:avLst/>
          </a:prstGeom>
          <a:noFill/>
          <a:ln>
            <a:noFill/>
          </a:ln>
        </p:spPr>
        <p:txBody>
          <a:bodyPr wrap="none" lIns="0" tIns="0" rIns="0" bIns="0" rtlCol="0" anchor="ctr">
            <a:noAutofit/>
          </a:bodyPr>
          <a:lstStyle/>
          <a:p>
            <a:pPr algn="l"/>
            <a:r>
              <a:rPr lang="en-US" sz="1200" dirty="0">
                <a:solidFill>
                  <a:srgbClr val="595959"/>
                </a:solidFill>
                <a:latin typeface="Aptos"/>
                <a:cs typeface="Aptos"/>
              </a:rPr>
              <a:t>Who turns them on</a:t>
            </a:r>
          </a:p>
        </p:txBody>
      </p:sp>
      <p:sp>
        <p:nvSpPr>
          <p:cNvPr id="41" name="Profiles value 3"/>
          <p:cNvSpPr txBox="1"/>
          <p:nvPr/>
        </p:nvSpPr>
        <p:spPr>
          <a:xfrm>
            <a:off x="8732520" y="5486400"/>
            <a:ext cx="2560320" cy="365760"/>
          </a:xfrm>
          <a:prstGeom prst="rect">
            <a:avLst/>
          </a:prstGeom>
          <a:noFill/>
          <a:ln>
            <a:noFill/>
          </a:ln>
        </p:spPr>
        <p:txBody>
          <a:bodyPr wrap="none" lIns="0" tIns="0" rIns="0" bIns="0" rtlCol="0" anchor="ctr">
            <a:noAutofit/>
          </a:bodyPr>
          <a:lstStyle/>
          <a:p>
            <a:pPr algn="l"/>
            <a:r>
              <a:rPr lang="en-US" sz="1400" b="1" dirty="0">
                <a:solidFill>
                  <a:srgbClr val="1A1A1A"/>
                </a:solidFill>
                <a:latin typeface="Aptos"/>
                <a:cs typeface="Aptos"/>
              </a:rPr>
              <a:t>Opt-in, per file</a:t>
            </a:r>
          </a:p>
        </p:txBody>
      </p:sp>
      <p:sp>
        <p:nvSpPr>
          <p:cNvPr id="42" name="Closing line"/>
          <p:cNvSpPr txBox="1"/>
          <p:nvPr/>
        </p:nvSpPr>
        <p:spPr>
          <a:xfrm>
            <a:off x="932688" y="6163056"/>
            <a:ext cx="10698480" cy="365760"/>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Your rules, or the standard’s rules. Either way, someone has to ask for the check.</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Contracts</a:t>
            </a:r>
            <a:endParaRPr lang="en-US" sz="4400" dirty="0"/>
          </a:p>
        </p:txBody>
      </p:sp>
      <p:sp>
        <p:nvSpPr>
          <p:cNvPr id="200" name="Code panel"/>
          <p:cNvSpPr/>
          <p:nvPr/>
        </p:nvSpPr>
        <p:spPr>
          <a:xfrm>
            <a:off x="932688" y="1527048"/>
            <a:ext cx="10725912" cy="4965192"/>
          </a:xfrm>
          <a:prstGeom prst="roundRect">
            <a:avLst>
              <a:gd name="adj" fmla="val 4000"/>
            </a:avLst>
          </a:prstGeom>
          <a:solidFill>
            <a:srgbClr val="12161F"/>
          </a:solidFill>
          <a:ln>
            <a:noFill/>
          </a:ln>
        </p:spPr>
        <p:txBody>
          <a:bodyPr rtlCol="0" anchor="ctr"/>
          <a:lstStyle/>
          <a:p>
            <a:endParaRPr lang="en-US" dirty="0"/>
          </a:p>
        </p:txBody>
      </p:sp>
      <p:sp>
        <p:nvSpPr>
          <p:cNvPr id="201" name="Code"/>
          <p:cNvSpPr txBox="1"/>
          <p:nvPr/>
        </p:nvSpPr>
        <p:spPr>
          <a:xfrm>
            <a:off x="1133856" y="1682496"/>
            <a:ext cx="10323576" cy="4690872"/>
          </a:xfrm>
          <a:prstGeom prst="rect">
            <a:avLst/>
          </a:prstGeom>
          <a:noFill/>
        </p:spPr>
        <p:txBody>
          <a:bodyPr wrap="none" lIns="0" tIns="0" rIns="0" bIns="0" rtlCol="0" anchor="t">
            <a:noAutofit/>
          </a:bodyPr>
          <a:lstStyle/>
          <a:p>
            <a:pPr>
              <a:lnSpc>
                <a:spcPct val="100000"/>
              </a:lnSpc>
            </a:pPr>
            <a:r>
              <a:rPr lang="en-US" sz="1200" dirty="0">
                <a:solidFill>
                  <a:srgbClr val="8A94A6"/>
                </a:solidFill>
                <a:latin typeface="Courier New"/>
                <a:cs typeface="Courier New"/>
              </a:rPr>
              <a:t>// AX.25 address field: 6 shifted callsign bytes, then byte 6 packs H/C, reserved, SSID, last.</a:t>
            </a:r>
            <a:endParaRPr lang="en-US" sz="1200" dirty="0">
              <a:latin typeface="Courier New"/>
              <a:cs typeface="Courier New"/>
            </a:endParaRPr>
          </a:p>
          <a:p>
            <a:pPr>
              <a:lnSpc>
                <a:spcPct val="100000"/>
              </a:lnSpc>
            </a:pPr>
            <a:r>
              <a:rPr lang="en-US" sz="1200" dirty="0">
                <a:solidFill>
                  <a:srgbClr val="8A94A6"/>
                </a:solidFill>
                <a:latin typeface="Courier New"/>
                <a:cs typeface="Courier New"/>
              </a:rPr>
              <a:t>// The preconditions replace the assert() calls at the top: </a:t>
            </a:r>
            <a:r>
              <a:rPr lang="en-US" sz="1200" u="sng" dirty="0">
                <a:solidFill>
                  <a:srgbClr val="467886"/>
                </a:solidFill>
                <a:latin typeface="Courier New"/>
                <a:cs typeface="Courier New"/>
                <a:hlinkClick r:id="rId3"/>
              </a:rPr>
              <a:t>https://github.com/iontodirel/libmodem</a:t>
            </a:r>
            <a:endParaRPr lang="en-US" sz="1200" dirty="0">
              <a:latin typeface="Courier New"/>
              <a:cs typeface="Courier New"/>
            </a:endParaRPr>
          </a:p>
          <a:p>
            <a:pPr>
              <a:lnSpc>
                <a:spcPct val="100000"/>
              </a:lnSpc>
            </a:pPr>
            <a:endParaRPr lang="en-US" sz="1200" dirty="0">
              <a:solidFill>
                <a:srgbClr val="82AAFF"/>
              </a:solidFill>
              <a:latin typeface="Courier New"/>
              <a:cs typeface="Courier New"/>
            </a:endParaRPr>
          </a:p>
          <a:p>
            <a:pPr>
              <a:lnSpc>
                <a:spcPct val="100000"/>
              </a:lnSpc>
            </a:pPr>
            <a:r>
              <a:rPr lang="en-US" sz="1200" dirty="0">
                <a:solidFill>
                  <a:srgbClr val="82AAFF"/>
                </a:solidFill>
                <a:latin typeface="Courier New"/>
                <a:cs typeface="Courier New"/>
              </a:rPr>
              <a:t>std::array&lt;uint8_t, </a:t>
            </a:r>
            <a:r>
              <a:rPr lang="en-US" sz="1200" dirty="0">
                <a:solidFill>
                  <a:srgbClr val="F78C6C"/>
                </a:solidFill>
                <a:latin typeface="Courier New"/>
                <a:cs typeface="Courier New"/>
              </a:rPr>
              <a:t>7</a:t>
            </a:r>
            <a:r>
              <a:rPr lang="en-US" sz="1200" dirty="0">
                <a:solidFill>
                  <a:srgbClr val="82AAFF"/>
                </a:solidFill>
                <a:latin typeface="Courier New"/>
                <a:cs typeface="Courier New"/>
              </a:rPr>
              <a:t>&gt;</a:t>
            </a:r>
            <a:r>
              <a:rPr lang="en-US" sz="1200" dirty="0">
                <a:solidFill>
                  <a:srgbClr val="E6E9EF"/>
                </a:solidFill>
                <a:latin typeface="Courier New"/>
                <a:cs typeface="Courier New"/>
              </a:rPr>
              <a:t> </a:t>
            </a:r>
            <a:r>
              <a:rPr lang="en-US" sz="1200" dirty="0">
                <a:solidFill>
                  <a:srgbClr val="FFD98C"/>
                </a:solidFill>
                <a:latin typeface="Courier New"/>
                <a:cs typeface="Courier New"/>
              </a:rPr>
              <a:t>encode_address</a:t>
            </a:r>
            <a:r>
              <a:rPr lang="en-US" sz="1200" dirty="0">
                <a:solidFill>
                  <a:srgbClr val="E6E9EF"/>
                </a:solidFill>
                <a:latin typeface="Courier New"/>
                <a:cs typeface="Courier New"/>
              </a:rPr>
              <a:t>(</a:t>
            </a:r>
            <a:r>
              <a:rPr lang="en-US" sz="1200" dirty="0">
                <a:solidFill>
                  <a:srgbClr val="82AAFF"/>
                </a:solidFill>
                <a:latin typeface="Courier New"/>
                <a:cs typeface="Courier New"/>
              </a:rPr>
              <a:t>std::string_view</a:t>
            </a:r>
            <a:r>
              <a:rPr lang="en-US" sz="1200" dirty="0">
                <a:solidFill>
                  <a:srgbClr val="E6E9EF"/>
                </a:solidFill>
                <a:latin typeface="Courier New"/>
                <a:cs typeface="Courier New"/>
              </a:rPr>
              <a:t> address, </a:t>
            </a:r>
            <a:r>
              <a:rPr lang="en-US" sz="1200" dirty="0">
                <a:solidFill>
                  <a:srgbClr val="C792EA"/>
                </a:solidFill>
                <a:latin typeface="Courier New"/>
                <a:cs typeface="Courier New"/>
              </a:rPr>
              <a:t>const</a:t>
            </a:r>
            <a:r>
              <a:rPr lang="en-US" sz="1200" dirty="0">
                <a:solidFill>
                  <a:srgbClr val="E6E9EF"/>
                </a:solidFill>
                <a:latin typeface="Courier New"/>
                <a:cs typeface="Courier New"/>
              </a:rPr>
              <a:t> </a:t>
            </a:r>
            <a:r>
              <a:rPr lang="en-US" sz="1200" dirty="0">
                <a:solidFill>
                  <a:srgbClr val="82AAFF"/>
                </a:solidFill>
                <a:latin typeface="Courier New"/>
                <a:cs typeface="Courier New"/>
              </a:rPr>
              <a:t>int</a:t>
            </a:r>
            <a:r>
              <a:rPr lang="en-US" sz="1200" dirty="0">
                <a:solidFill>
                  <a:srgbClr val="E6E9EF"/>
                </a:solidFill>
                <a:latin typeface="Courier New"/>
                <a:cs typeface="Courier New"/>
              </a:rPr>
              <a:t> ssid,</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dirty="0">
                <a:solidFill>
                  <a:srgbClr val="C792EA"/>
                </a:solidFill>
                <a:latin typeface="Courier New"/>
                <a:cs typeface="Courier New"/>
              </a:rPr>
              <a:t>const</a:t>
            </a:r>
            <a:r>
              <a:rPr lang="en-US" sz="1200" dirty="0">
                <a:solidFill>
                  <a:srgbClr val="E6E9EF"/>
                </a:solidFill>
                <a:latin typeface="Courier New"/>
                <a:cs typeface="Courier New"/>
              </a:rPr>
              <a:t> </a:t>
            </a:r>
            <a:r>
              <a:rPr lang="en-US" sz="1200" dirty="0">
                <a:solidFill>
                  <a:srgbClr val="82AAFF"/>
                </a:solidFill>
                <a:latin typeface="Courier New"/>
                <a:cs typeface="Courier New"/>
              </a:rPr>
              <a:t>bool</a:t>
            </a:r>
            <a:r>
              <a:rPr lang="en-US" sz="1200" dirty="0">
                <a:solidFill>
                  <a:srgbClr val="E6E9EF"/>
                </a:solidFill>
                <a:latin typeface="Courier New"/>
                <a:cs typeface="Courier New"/>
              </a:rPr>
              <a:t> cr_or_h_bit, </a:t>
            </a:r>
            <a:r>
              <a:rPr lang="en-US" sz="1200" dirty="0">
                <a:solidFill>
                  <a:srgbClr val="C792EA"/>
                </a:solidFill>
                <a:latin typeface="Courier New"/>
                <a:cs typeface="Courier New"/>
              </a:rPr>
              <a:t>const</a:t>
            </a:r>
            <a:r>
              <a:rPr lang="en-US" sz="1200" dirty="0">
                <a:solidFill>
                  <a:srgbClr val="E6E9EF"/>
                </a:solidFill>
                <a:latin typeface="Courier New"/>
                <a:cs typeface="Courier New"/>
              </a:rPr>
              <a:t> </a:t>
            </a:r>
            <a:r>
              <a:rPr lang="en-US" sz="1200" dirty="0">
                <a:solidFill>
                  <a:srgbClr val="82AAFF"/>
                </a:solidFill>
                <a:latin typeface="Courier New"/>
                <a:cs typeface="Courier New"/>
              </a:rPr>
              <a:t>bool</a:t>
            </a:r>
            <a:r>
              <a:rPr lang="en-US" sz="1200" dirty="0">
                <a:solidFill>
                  <a:srgbClr val="E6E9EF"/>
                </a:solidFill>
                <a:latin typeface="Courier New"/>
                <a:cs typeface="Courier New"/>
              </a:rPr>
              <a:t> last, </a:t>
            </a:r>
            <a:r>
              <a:rPr lang="en-US" sz="1200" dirty="0">
                <a:solidFill>
                  <a:srgbClr val="C792EA"/>
                </a:solidFill>
                <a:latin typeface="Courier New"/>
                <a:cs typeface="Courier New"/>
              </a:rPr>
              <a:t>const</a:t>
            </a:r>
            <a:r>
              <a:rPr lang="en-US" sz="1200" dirty="0">
                <a:solidFill>
                  <a:srgbClr val="E6E9EF"/>
                </a:solidFill>
                <a:latin typeface="Courier New"/>
                <a:cs typeface="Courier New"/>
              </a:rPr>
              <a:t> </a:t>
            </a:r>
            <a:r>
              <a:rPr lang="en-US" sz="1200" dirty="0">
                <a:solidFill>
                  <a:srgbClr val="82AAFF"/>
                </a:solidFill>
                <a:latin typeface="Courier New"/>
                <a:cs typeface="Courier New"/>
              </a:rPr>
              <a:t>std::array&lt;uint8_t, </a:t>
            </a:r>
            <a:r>
              <a:rPr lang="en-US" sz="1200" dirty="0">
                <a:solidFill>
                  <a:srgbClr val="F78C6C"/>
                </a:solidFill>
                <a:latin typeface="Courier New"/>
                <a:cs typeface="Courier New"/>
              </a:rPr>
              <a:t>2</a:t>
            </a:r>
            <a:r>
              <a:rPr lang="en-US" sz="1200" dirty="0">
                <a:solidFill>
                  <a:srgbClr val="82AAFF"/>
                </a:solidFill>
                <a:latin typeface="Courier New"/>
                <a:cs typeface="Courier New"/>
              </a:rPr>
              <a:t>&gt;</a:t>
            </a:r>
            <a:r>
              <a:rPr lang="en-US" sz="1200" dirty="0">
                <a:solidFill>
                  <a:srgbClr val="E6E9EF"/>
                </a:solidFill>
                <a:latin typeface="Courier New"/>
                <a:cs typeface="Courier New"/>
              </a:rPr>
              <a:t> reserved_bits)</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pre</a:t>
            </a:r>
            <a:r>
              <a:rPr lang="en-US" sz="1200" dirty="0">
                <a:solidFill>
                  <a:srgbClr val="E6E9EF"/>
                </a:solidFill>
                <a:latin typeface="Courier New"/>
                <a:cs typeface="Courier New"/>
              </a:rPr>
              <a:t>(address.size() &lt;= </a:t>
            </a:r>
            <a:r>
              <a:rPr lang="en-US" sz="1200" dirty="0">
                <a:solidFill>
                  <a:srgbClr val="F78C6C"/>
                </a:solidFill>
                <a:latin typeface="Courier New"/>
                <a:cs typeface="Courier New"/>
              </a:rPr>
              <a:t>6</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pre</a:t>
            </a:r>
            <a:r>
              <a:rPr lang="en-US" sz="1200" dirty="0">
                <a:solidFill>
                  <a:srgbClr val="E6E9EF"/>
                </a:solidFill>
                <a:latin typeface="Courier New"/>
                <a:cs typeface="Courier New"/>
              </a:rPr>
              <a:t>(ssid &gt;= </a:t>
            </a:r>
            <a:r>
              <a:rPr lang="en-US" sz="1200" dirty="0">
                <a:solidFill>
                  <a:srgbClr val="F78C6C"/>
                </a:solidFill>
                <a:latin typeface="Courier New"/>
                <a:cs typeface="Courier New"/>
              </a:rPr>
              <a:t>0</a:t>
            </a:r>
            <a:r>
              <a:rPr lang="en-US" sz="1200" dirty="0">
                <a:solidFill>
                  <a:srgbClr val="E6E9EF"/>
                </a:solidFill>
                <a:latin typeface="Courier New"/>
                <a:cs typeface="Courier New"/>
              </a:rPr>
              <a:t> &amp;&amp; ssid &lt;= </a:t>
            </a:r>
            <a:r>
              <a:rPr lang="en-US" sz="1200" dirty="0">
                <a:solidFill>
                  <a:srgbClr val="F78C6C"/>
                </a:solidFill>
                <a:latin typeface="Courier New"/>
                <a:cs typeface="Courier New"/>
              </a:rPr>
              <a:t>15</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pre</a:t>
            </a:r>
            <a:r>
              <a:rPr lang="en-US" sz="1200" dirty="0">
                <a:solidFill>
                  <a:srgbClr val="E6E9EF"/>
                </a:solidFill>
                <a:latin typeface="Courier New"/>
                <a:cs typeface="Courier New"/>
              </a:rPr>
              <a:t>(reserved_bits[</a:t>
            </a:r>
            <a:r>
              <a:rPr lang="en-US" sz="1200" dirty="0">
                <a:solidFill>
                  <a:srgbClr val="F78C6C"/>
                </a:solidFill>
                <a:latin typeface="Courier New"/>
                <a:cs typeface="Courier New"/>
              </a:rPr>
              <a:t>0</a:t>
            </a:r>
            <a:r>
              <a:rPr lang="en-US" sz="1200" dirty="0">
                <a:solidFill>
                  <a:srgbClr val="E6E9EF"/>
                </a:solidFill>
                <a:latin typeface="Courier New"/>
                <a:cs typeface="Courier New"/>
              </a:rPr>
              <a:t>] &lt;= </a:t>
            </a:r>
            <a:r>
              <a:rPr lang="en-US" sz="1200" dirty="0">
                <a:solidFill>
                  <a:srgbClr val="F78C6C"/>
                </a:solidFill>
                <a:latin typeface="Courier New"/>
                <a:cs typeface="Courier New"/>
              </a:rPr>
              <a:t>1</a:t>
            </a:r>
            <a:r>
              <a:rPr lang="en-US" sz="1200" dirty="0">
                <a:solidFill>
                  <a:srgbClr val="E6E9EF"/>
                </a:solidFill>
                <a:latin typeface="Courier New"/>
                <a:cs typeface="Courier New"/>
              </a:rPr>
              <a:t> &amp;&amp; reserved_bits[</a:t>
            </a:r>
            <a:r>
              <a:rPr lang="en-US" sz="1200" dirty="0">
                <a:solidFill>
                  <a:srgbClr val="F78C6C"/>
                </a:solidFill>
                <a:latin typeface="Courier New"/>
                <a:cs typeface="Courier New"/>
              </a:rPr>
              <a:t>1</a:t>
            </a:r>
            <a:r>
              <a:rPr lang="en-US" sz="1200" dirty="0">
                <a:solidFill>
                  <a:srgbClr val="E6E9EF"/>
                </a:solidFill>
                <a:latin typeface="Courier New"/>
                <a:cs typeface="Courier New"/>
              </a:rPr>
              <a:t>] &lt;= </a:t>
            </a:r>
            <a:r>
              <a:rPr lang="en-US" sz="1200" dirty="0">
                <a:solidFill>
                  <a:srgbClr val="F78C6C"/>
                </a:solidFill>
                <a:latin typeface="Courier New"/>
                <a:cs typeface="Courier New"/>
              </a:rPr>
              <a:t>1</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post</a:t>
            </a:r>
            <a:r>
              <a:rPr lang="en-US" sz="1200" dirty="0">
                <a:solidFill>
                  <a:srgbClr val="E6E9EF"/>
                </a:solidFill>
                <a:latin typeface="Courier New"/>
                <a:cs typeface="Courier New"/>
              </a:rPr>
              <a:t>(</a:t>
            </a:r>
            <a:r>
              <a:rPr lang="en-US" sz="1200" b="1" dirty="0">
                <a:solidFill>
                  <a:srgbClr val="FF7EB6"/>
                </a:solidFill>
                <a:latin typeface="Courier New"/>
                <a:cs typeface="Courier New"/>
              </a:rPr>
              <a:t>r</a:t>
            </a:r>
            <a:r>
              <a:rPr lang="en-US" sz="1200" dirty="0">
                <a:solidFill>
                  <a:srgbClr val="E6E9EF"/>
                </a:solidFill>
                <a:latin typeface="Courier New"/>
                <a:cs typeface="Courier New"/>
              </a:rPr>
              <a:t>: (</a:t>
            </a:r>
            <a:r>
              <a:rPr lang="en-US" sz="1200" b="1" dirty="0">
                <a:solidFill>
                  <a:srgbClr val="FF7EB6"/>
                </a:solidFill>
                <a:latin typeface="Courier New"/>
                <a:cs typeface="Courier New"/>
              </a:rPr>
              <a:t>r</a:t>
            </a:r>
            <a:r>
              <a:rPr lang="en-US" sz="1200" dirty="0">
                <a:solidFill>
                  <a:srgbClr val="E6E9EF"/>
                </a:solidFill>
                <a:latin typeface="Courier New"/>
                <a:cs typeface="Courier New"/>
              </a:rPr>
              <a:t>[</a:t>
            </a:r>
            <a:r>
              <a:rPr lang="en-US" sz="1200" dirty="0">
                <a:solidFill>
                  <a:srgbClr val="F78C6C"/>
                </a:solidFill>
                <a:latin typeface="Courier New"/>
                <a:cs typeface="Courier New"/>
              </a:rPr>
              <a:t>6</a:t>
            </a:r>
            <a:r>
              <a:rPr lang="en-US" sz="1200" dirty="0">
                <a:solidFill>
                  <a:srgbClr val="E6E9EF"/>
                </a:solidFill>
                <a:latin typeface="Courier New"/>
                <a:cs typeface="Courier New"/>
              </a:rPr>
              <a:t>] &amp; </a:t>
            </a:r>
            <a:r>
              <a:rPr lang="en-US" sz="1200" dirty="0">
                <a:solidFill>
                  <a:srgbClr val="F78C6C"/>
                </a:solidFill>
                <a:latin typeface="Courier New"/>
                <a:cs typeface="Courier New"/>
              </a:rPr>
              <a:t>0x01</a:t>
            </a:r>
            <a:r>
              <a:rPr lang="en-US" sz="1200" dirty="0">
                <a:solidFill>
                  <a:srgbClr val="E6E9EF"/>
                </a:solidFill>
                <a:latin typeface="Courier New"/>
                <a:cs typeface="Courier New"/>
              </a:rPr>
              <a:t>)        == (last ? </a:t>
            </a:r>
            <a:r>
              <a:rPr lang="en-US" sz="1200" dirty="0">
                <a:solidFill>
                  <a:srgbClr val="F78C6C"/>
                </a:solidFill>
                <a:latin typeface="Courier New"/>
                <a:cs typeface="Courier New"/>
              </a:rPr>
              <a:t>1</a:t>
            </a:r>
            <a:r>
              <a:rPr lang="en-US" sz="1200" dirty="0">
                <a:solidFill>
                  <a:srgbClr val="E6E9EF"/>
                </a:solidFill>
                <a:latin typeface="Courier New"/>
                <a:cs typeface="Courier New"/>
              </a:rPr>
              <a:t> : </a:t>
            </a:r>
            <a:r>
              <a:rPr lang="en-US" sz="1200" dirty="0">
                <a:solidFill>
                  <a:srgbClr val="F78C6C"/>
                </a:solidFill>
                <a:latin typeface="Courier New"/>
                <a:cs typeface="Courier New"/>
              </a:rPr>
              <a:t>0</a:t>
            </a:r>
            <a:r>
              <a:rPr lang="en-US" sz="1200" dirty="0">
                <a:solidFill>
                  <a:srgbClr val="E6E9EF"/>
                </a:solidFill>
                <a:latin typeface="Courier New"/>
                <a:cs typeface="Courier New"/>
              </a:rPr>
              <a:t>))          </a:t>
            </a:r>
            <a:r>
              <a:rPr lang="en-US" sz="1200" dirty="0">
                <a:solidFill>
                  <a:srgbClr val="8A94A6"/>
                </a:solidFill>
                <a:latin typeface="Courier New"/>
                <a:cs typeface="Courier New"/>
              </a:rPr>
              <a:t>// bit 0      last address in path</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post</a:t>
            </a:r>
            <a:r>
              <a:rPr lang="en-US" sz="1200" dirty="0">
                <a:solidFill>
                  <a:srgbClr val="E6E9EF"/>
                </a:solidFill>
                <a:latin typeface="Courier New"/>
                <a:cs typeface="Courier New"/>
              </a:rPr>
              <a:t>(</a:t>
            </a:r>
            <a:r>
              <a:rPr lang="en-US" sz="1200" b="1" dirty="0">
                <a:solidFill>
                  <a:srgbClr val="FF7EB6"/>
                </a:solidFill>
                <a:latin typeface="Courier New"/>
                <a:cs typeface="Courier New"/>
              </a:rPr>
              <a:t>r</a:t>
            </a:r>
            <a:r>
              <a:rPr lang="en-US" sz="1200" dirty="0">
                <a:solidFill>
                  <a:srgbClr val="E6E9EF"/>
                </a:solidFill>
                <a:latin typeface="Courier New"/>
                <a:cs typeface="Courier New"/>
              </a:rPr>
              <a:t>: ((</a:t>
            </a:r>
            <a:r>
              <a:rPr lang="en-US" sz="1200" b="1" dirty="0">
                <a:solidFill>
                  <a:srgbClr val="FF7EB6"/>
                </a:solidFill>
                <a:latin typeface="Courier New"/>
                <a:cs typeface="Courier New"/>
              </a:rPr>
              <a:t>r</a:t>
            </a:r>
            <a:r>
              <a:rPr lang="en-US" sz="1200" dirty="0">
                <a:solidFill>
                  <a:srgbClr val="E6E9EF"/>
                </a:solidFill>
                <a:latin typeface="Courier New"/>
                <a:cs typeface="Courier New"/>
              </a:rPr>
              <a:t>[</a:t>
            </a:r>
            <a:r>
              <a:rPr lang="en-US" sz="1200" dirty="0">
                <a:solidFill>
                  <a:srgbClr val="F78C6C"/>
                </a:solidFill>
                <a:latin typeface="Courier New"/>
                <a:cs typeface="Courier New"/>
              </a:rPr>
              <a:t>6</a:t>
            </a:r>
            <a:r>
              <a:rPr lang="en-US" sz="1200" dirty="0">
                <a:solidFill>
                  <a:srgbClr val="E6E9EF"/>
                </a:solidFill>
                <a:latin typeface="Courier New"/>
                <a:cs typeface="Courier New"/>
              </a:rPr>
              <a:t>] &gt;&gt; </a:t>
            </a:r>
            <a:r>
              <a:rPr lang="en-US" sz="1200" dirty="0">
                <a:solidFill>
                  <a:srgbClr val="F78C6C"/>
                </a:solidFill>
                <a:latin typeface="Courier New"/>
                <a:cs typeface="Courier New"/>
              </a:rPr>
              <a:t>1</a:t>
            </a:r>
            <a:r>
              <a:rPr lang="en-US" sz="1200" dirty="0">
                <a:solidFill>
                  <a:srgbClr val="E6E9EF"/>
                </a:solidFill>
                <a:latin typeface="Courier New"/>
                <a:cs typeface="Courier New"/>
              </a:rPr>
              <a:t>) &amp; </a:t>
            </a:r>
            <a:r>
              <a:rPr lang="en-US" sz="1200" dirty="0">
                <a:solidFill>
                  <a:srgbClr val="F78C6C"/>
                </a:solidFill>
                <a:latin typeface="Courier New"/>
                <a:cs typeface="Courier New"/>
              </a:rPr>
              <a:t>0x0F</a:t>
            </a:r>
            <a:r>
              <a:rPr lang="en-US" sz="1200" dirty="0">
                <a:solidFill>
                  <a:srgbClr val="E6E9EF"/>
                </a:solidFill>
                <a:latin typeface="Courier New"/>
                <a:cs typeface="Courier New"/>
              </a:rPr>
              <a:t>) == ssid)                    </a:t>
            </a:r>
            <a:r>
              <a:rPr lang="en-US" sz="1200" dirty="0">
                <a:solidFill>
                  <a:srgbClr val="8A94A6"/>
                </a:solidFill>
                <a:latin typeface="Courier New"/>
                <a:cs typeface="Courier New"/>
              </a:rPr>
              <a:t>// bits 4..1  SSID</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post</a:t>
            </a:r>
            <a:r>
              <a:rPr lang="en-US" sz="1200" dirty="0">
                <a:solidFill>
                  <a:srgbClr val="E6E9EF"/>
                </a:solidFill>
                <a:latin typeface="Courier New"/>
                <a:cs typeface="Courier New"/>
              </a:rPr>
              <a:t>(</a:t>
            </a:r>
            <a:r>
              <a:rPr lang="en-US" sz="1200" b="1" dirty="0">
                <a:solidFill>
                  <a:srgbClr val="FF7EB6"/>
                </a:solidFill>
                <a:latin typeface="Courier New"/>
                <a:cs typeface="Courier New"/>
              </a:rPr>
              <a:t>r</a:t>
            </a:r>
            <a:r>
              <a:rPr lang="en-US" sz="1200" dirty="0">
                <a:solidFill>
                  <a:srgbClr val="E6E9EF"/>
                </a:solidFill>
                <a:latin typeface="Courier New"/>
                <a:cs typeface="Courier New"/>
              </a:rPr>
              <a:t>: ((</a:t>
            </a:r>
            <a:r>
              <a:rPr lang="en-US" sz="1200" b="1" dirty="0">
                <a:solidFill>
                  <a:srgbClr val="FF7EB6"/>
                </a:solidFill>
                <a:latin typeface="Courier New"/>
                <a:cs typeface="Courier New"/>
              </a:rPr>
              <a:t>r</a:t>
            </a:r>
            <a:r>
              <a:rPr lang="en-US" sz="1200" dirty="0">
                <a:solidFill>
                  <a:srgbClr val="E6E9EF"/>
                </a:solidFill>
                <a:latin typeface="Courier New"/>
                <a:cs typeface="Courier New"/>
              </a:rPr>
              <a:t>[</a:t>
            </a:r>
            <a:r>
              <a:rPr lang="en-US" sz="1200" dirty="0">
                <a:solidFill>
                  <a:srgbClr val="F78C6C"/>
                </a:solidFill>
                <a:latin typeface="Courier New"/>
                <a:cs typeface="Courier New"/>
              </a:rPr>
              <a:t>6</a:t>
            </a:r>
            <a:r>
              <a:rPr lang="en-US" sz="1200" dirty="0">
                <a:solidFill>
                  <a:srgbClr val="E6E9EF"/>
                </a:solidFill>
                <a:latin typeface="Courier New"/>
                <a:cs typeface="Courier New"/>
              </a:rPr>
              <a:t>] &gt;&gt; </a:t>
            </a:r>
            <a:r>
              <a:rPr lang="en-US" sz="1200" dirty="0">
                <a:solidFill>
                  <a:srgbClr val="F78C6C"/>
                </a:solidFill>
                <a:latin typeface="Courier New"/>
                <a:cs typeface="Courier New"/>
              </a:rPr>
              <a:t>5</a:t>
            </a:r>
            <a:r>
              <a:rPr lang="en-US" sz="1200" dirty="0">
                <a:solidFill>
                  <a:srgbClr val="E6E9EF"/>
                </a:solidFill>
                <a:latin typeface="Courier New"/>
                <a:cs typeface="Courier New"/>
              </a:rPr>
              <a:t>) &amp; </a:t>
            </a:r>
            <a:r>
              <a:rPr lang="en-US" sz="1200" dirty="0">
                <a:solidFill>
                  <a:srgbClr val="F78C6C"/>
                </a:solidFill>
                <a:latin typeface="Courier New"/>
                <a:cs typeface="Courier New"/>
              </a:rPr>
              <a:t>0x01</a:t>
            </a:r>
            <a:r>
              <a:rPr lang="en-US" sz="1200" dirty="0">
                <a:solidFill>
                  <a:srgbClr val="E6E9EF"/>
                </a:solidFill>
                <a:latin typeface="Courier New"/>
                <a:cs typeface="Courier New"/>
              </a:rPr>
              <a:t>) == reserved_bits[</a:t>
            </a:r>
            <a:r>
              <a:rPr lang="en-US" sz="1200" dirty="0">
                <a:solidFill>
                  <a:srgbClr val="F78C6C"/>
                </a:solidFill>
                <a:latin typeface="Courier New"/>
                <a:cs typeface="Courier New"/>
              </a:rPr>
              <a:t>0</a:t>
            </a:r>
            <a:r>
              <a:rPr lang="en-US" sz="1200" dirty="0">
                <a:solidFill>
                  <a:srgbClr val="E6E9EF"/>
                </a:solidFill>
                <a:latin typeface="Courier New"/>
                <a:cs typeface="Courier New"/>
              </a:rPr>
              <a:t>])        </a:t>
            </a:r>
            <a:r>
              <a:rPr lang="en-US" sz="1200" dirty="0">
                <a:solidFill>
                  <a:srgbClr val="8A94A6"/>
                </a:solidFill>
                <a:latin typeface="Courier New"/>
                <a:cs typeface="Courier New"/>
              </a:rPr>
              <a:t>// bit 5      reserved</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post</a:t>
            </a:r>
            <a:r>
              <a:rPr lang="en-US" sz="1200" dirty="0">
                <a:solidFill>
                  <a:srgbClr val="E6E9EF"/>
                </a:solidFill>
                <a:latin typeface="Courier New"/>
                <a:cs typeface="Courier New"/>
              </a:rPr>
              <a:t>(</a:t>
            </a:r>
            <a:r>
              <a:rPr lang="en-US" sz="1200" b="1" dirty="0">
                <a:solidFill>
                  <a:srgbClr val="FF7EB6"/>
                </a:solidFill>
                <a:latin typeface="Courier New"/>
                <a:cs typeface="Courier New"/>
              </a:rPr>
              <a:t>r</a:t>
            </a:r>
            <a:r>
              <a:rPr lang="en-US" sz="1200" dirty="0">
                <a:solidFill>
                  <a:srgbClr val="E6E9EF"/>
                </a:solidFill>
                <a:latin typeface="Courier New"/>
                <a:cs typeface="Courier New"/>
              </a:rPr>
              <a:t>: ((</a:t>
            </a:r>
            <a:r>
              <a:rPr lang="en-US" sz="1200" b="1" dirty="0">
                <a:solidFill>
                  <a:srgbClr val="FF7EB6"/>
                </a:solidFill>
                <a:latin typeface="Courier New"/>
                <a:cs typeface="Courier New"/>
              </a:rPr>
              <a:t>r</a:t>
            </a:r>
            <a:r>
              <a:rPr lang="en-US" sz="1200" dirty="0">
                <a:solidFill>
                  <a:srgbClr val="E6E9EF"/>
                </a:solidFill>
                <a:latin typeface="Courier New"/>
                <a:cs typeface="Courier New"/>
              </a:rPr>
              <a:t>[</a:t>
            </a:r>
            <a:r>
              <a:rPr lang="en-US" sz="1200" dirty="0">
                <a:solidFill>
                  <a:srgbClr val="F78C6C"/>
                </a:solidFill>
                <a:latin typeface="Courier New"/>
                <a:cs typeface="Courier New"/>
              </a:rPr>
              <a:t>6</a:t>
            </a:r>
            <a:r>
              <a:rPr lang="en-US" sz="1200" dirty="0">
                <a:solidFill>
                  <a:srgbClr val="E6E9EF"/>
                </a:solidFill>
                <a:latin typeface="Courier New"/>
                <a:cs typeface="Courier New"/>
              </a:rPr>
              <a:t>] &gt;&gt; </a:t>
            </a:r>
            <a:r>
              <a:rPr lang="en-US" sz="1200" dirty="0">
                <a:solidFill>
                  <a:srgbClr val="F78C6C"/>
                </a:solidFill>
                <a:latin typeface="Courier New"/>
                <a:cs typeface="Courier New"/>
              </a:rPr>
              <a:t>6</a:t>
            </a:r>
            <a:r>
              <a:rPr lang="en-US" sz="1200" dirty="0">
                <a:solidFill>
                  <a:srgbClr val="E6E9EF"/>
                </a:solidFill>
                <a:latin typeface="Courier New"/>
                <a:cs typeface="Courier New"/>
              </a:rPr>
              <a:t>) &amp; </a:t>
            </a:r>
            <a:r>
              <a:rPr lang="en-US" sz="1200" dirty="0">
                <a:solidFill>
                  <a:srgbClr val="F78C6C"/>
                </a:solidFill>
                <a:latin typeface="Courier New"/>
                <a:cs typeface="Courier New"/>
              </a:rPr>
              <a:t>0x01</a:t>
            </a:r>
            <a:r>
              <a:rPr lang="en-US" sz="1200" dirty="0">
                <a:solidFill>
                  <a:srgbClr val="E6E9EF"/>
                </a:solidFill>
                <a:latin typeface="Courier New"/>
                <a:cs typeface="Courier New"/>
              </a:rPr>
              <a:t>) == reserved_bits[</a:t>
            </a:r>
            <a:r>
              <a:rPr lang="en-US" sz="1200" dirty="0">
                <a:solidFill>
                  <a:srgbClr val="F78C6C"/>
                </a:solidFill>
                <a:latin typeface="Courier New"/>
                <a:cs typeface="Courier New"/>
              </a:rPr>
              <a:t>1</a:t>
            </a:r>
            <a:r>
              <a:rPr lang="en-US" sz="1200" dirty="0">
                <a:solidFill>
                  <a:srgbClr val="E6E9EF"/>
                </a:solidFill>
                <a:latin typeface="Courier New"/>
                <a:cs typeface="Courier New"/>
              </a:rPr>
              <a:t>])        </a:t>
            </a:r>
            <a:r>
              <a:rPr lang="en-US" sz="1200" dirty="0">
                <a:solidFill>
                  <a:srgbClr val="8A94A6"/>
                </a:solidFill>
                <a:latin typeface="Courier New"/>
                <a:cs typeface="Courier New"/>
              </a:rPr>
              <a:t>// bit 6      reserved</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post</a:t>
            </a:r>
            <a:r>
              <a:rPr lang="en-US" sz="1200" dirty="0">
                <a:solidFill>
                  <a:srgbClr val="E6E9EF"/>
                </a:solidFill>
                <a:latin typeface="Courier New"/>
                <a:cs typeface="Courier New"/>
              </a:rPr>
              <a:t>(</a:t>
            </a:r>
            <a:r>
              <a:rPr lang="en-US" sz="1200" b="1" dirty="0">
                <a:solidFill>
                  <a:srgbClr val="FF7EB6"/>
                </a:solidFill>
                <a:latin typeface="Courier New"/>
                <a:cs typeface="Courier New"/>
              </a:rPr>
              <a:t>r</a:t>
            </a:r>
            <a:r>
              <a:rPr lang="en-US" sz="1200" dirty="0">
                <a:solidFill>
                  <a:srgbClr val="E6E9EF"/>
                </a:solidFill>
                <a:latin typeface="Courier New"/>
                <a:cs typeface="Courier New"/>
              </a:rPr>
              <a:t>: (</a:t>
            </a:r>
            <a:r>
              <a:rPr lang="en-US" sz="1200" b="1" dirty="0">
                <a:solidFill>
                  <a:srgbClr val="FF7EB6"/>
                </a:solidFill>
                <a:latin typeface="Courier New"/>
                <a:cs typeface="Courier New"/>
              </a:rPr>
              <a:t>r</a:t>
            </a:r>
            <a:r>
              <a:rPr lang="en-US" sz="1200" dirty="0">
                <a:solidFill>
                  <a:srgbClr val="E6E9EF"/>
                </a:solidFill>
                <a:latin typeface="Courier New"/>
                <a:cs typeface="Courier New"/>
              </a:rPr>
              <a:t>[</a:t>
            </a:r>
            <a:r>
              <a:rPr lang="en-US" sz="1200" dirty="0">
                <a:solidFill>
                  <a:srgbClr val="F78C6C"/>
                </a:solidFill>
                <a:latin typeface="Courier New"/>
                <a:cs typeface="Courier New"/>
              </a:rPr>
              <a:t>6</a:t>
            </a:r>
            <a:r>
              <a:rPr lang="en-US" sz="1200" dirty="0">
                <a:solidFill>
                  <a:srgbClr val="E6E9EF"/>
                </a:solidFill>
                <a:latin typeface="Courier New"/>
                <a:cs typeface="Courier New"/>
              </a:rPr>
              <a:t>] &gt;&gt; </a:t>
            </a:r>
            <a:r>
              <a:rPr lang="en-US" sz="1200" dirty="0">
                <a:solidFill>
                  <a:srgbClr val="F78C6C"/>
                </a:solidFill>
                <a:latin typeface="Courier New"/>
                <a:cs typeface="Courier New"/>
              </a:rPr>
              <a:t>7</a:t>
            </a:r>
            <a:r>
              <a:rPr lang="en-US" sz="1200" dirty="0">
                <a:solidFill>
                  <a:srgbClr val="E6E9EF"/>
                </a:solidFill>
                <a:latin typeface="Courier New"/>
                <a:cs typeface="Courier New"/>
              </a:rPr>
              <a:t>)          == (cr_or_h_bit ? </a:t>
            </a:r>
            <a:r>
              <a:rPr lang="en-US" sz="1200" dirty="0">
                <a:solidFill>
                  <a:srgbClr val="F78C6C"/>
                </a:solidFill>
                <a:latin typeface="Courier New"/>
                <a:cs typeface="Courier New"/>
              </a:rPr>
              <a:t>1</a:t>
            </a:r>
            <a:r>
              <a:rPr lang="en-US" sz="1200" dirty="0">
                <a:solidFill>
                  <a:srgbClr val="E6E9EF"/>
                </a:solidFill>
                <a:latin typeface="Courier New"/>
                <a:cs typeface="Courier New"/>
              </a:rPr>
              <a:t> : </a:t>
            </a:r>
            <a:r>
              <a:rPr lang="en-US" sz="1200" dirty="0">
                <a:solidFill>
                  <a:srgbClr val="F78C6C"/>
                </a:solidFill>
                <a:latin typeface="Courier New"/>
                <a:cs typeface="Courier New"/>
              </a:rPr>
              <a:t>0</a:t>
            </a:r>
            <a:r>
              <a:rPr lang="en-US" sz="1200" dirty="0">
                <a:solidFill>
                  <a:srgbClr val="E6E9EF"/>
                </a:solidFill>
                <a:latin typeface="Courier New"/>
                <a:cs typeface="Courier New"/>
              </a:rPr>
              <a:t>))   </a:t>
            </a:r>
            <a:r>
              <a:rPr lang="en-US" sz="1200" dirty="0">
                <a:solidFill>
                  <a:srgbClr val="8A94A6"/>
                </a:solidFill>
                <a:latin typeface="Courier New"/>
                <a:cs typeface="Courier New"/>
              </a:rPr>
              <a:t>// bit 7      H bit (used) or C/R bit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dirty="0">
                <a:solidFill>
                  <a:srgbClr val="82AAFF"/>
                </a:solidFill>
                <a:latin typeface="Courier New"/>
                <a:cs typeface="Courier New"/>
              </a:rPr>
              <a:t>std::array&lt;uint8_t, </a:t>
            </a:r>
            <a:r>
              <a:rPr lang="en-US" sz="1200" dirty="0">
                <a:solidFill>
                  <a:srgbClr val="F78C6C"/>
                </a:solidFill>
                <a:latin typeface="Courier New"/>
                <a:cs typeface="Courier New"/>
              </a:rPr>
              <a:t>7</a:t>
            </a:r>
            <a:r>
              <a:rPr lang="en-US" sz="1200" dirty="0">
                <a:solidFill>
                  <a:srgbClr val="82AAFF"/>
                </a:solidFill>
                <a:latin typeface="Courier New"/>
                <a:cs typeface="Courier New"/>
              </a:rPr>
              <a:t>&gt;</a:t>
            </a:r>
            <a:r>
              <a:rPr lang="en-US" sz="1200" dirty="0">
                <a:solidFill>
                  <a:srgbClr val="E6E9EF"/>
                </a:solidFill>
                <a:latin typeface="Courier New"/>
                <a:cs typeface="Courier New"/>
              </a:rPr>
              <a:t> data = {};</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dirty="0">
                <a:solidFill>
                  <a:srgbClr val="C792EA"/>
                </a:solidFill>
                <a:latin typeface="Courier New"/>
                <a:cs typeface="Courier New"/>
              </a:rPr>
              <a:t>for</a:t>
            </a:r>
            <a:r>
              <a:rPr lang="en-US" sz="1200" dirty="0">
                <a:solidFill>
                  <a:srgbClr val="E6E9EF"/>
                </a:solidFill>
                <a:latin typeface="Courier New"/>
                <a:cs typeface="Courier New"/>
              </a:rPr>
              <a:t> (</a:t>
            </a:r>
            <a:r>
              <a:rPr lang="en-US" sz="1200" dirty="0">
                <a:solidFill>
                  <a:srgbClr val="82AAFF"/>
                </a:solidFill>
                <a:latin typeface="Courier New"/>
                <a:cs typeface="Courier New"/>
              </a:rPr>
              <a:t>size_t</a:t>
            </a:r>
            <a:r>
              <a:rPr lang="en-US" sz="1200" dirty="0">
                <a:solidFill>
                  <a:srgbClr val="E6E9EF"/>
                </a:solidFill>
                <a:latin typeface="Courier New"/>
                <a:cs typeface="Courier New"/>
              </a:rPr>
              <a:t> i = </a:t>
            </a:r>
            <a:r>
              <a:rPr lang="en-US" sz="1200" dirty="0">
                <a:solidFill>
                  <a:srgbClr val="F78C6C"/>
                </a:solidFill>
                <a:latin typeface="Courier New"/>
                <a:cs typeface="Courier New"/>
              </a:rPr>
              <a:t>0</a:t>
            </a:r>
            <a:r>
              <a:rPr lang="en-US" sz="1200" dirty="0">
                <a:solidFill>
                  <a:srgbClr val="E6E9EF"/>
                </a:solidFill>
                <a:latin typeface="Courier New"/>
                <a:cs typeface="Courier New"/>
              </a:rPr>
              <a:t>; i &lt; </a:t>
            </a:r>
            <a:r>
              <a:rPr lang="en-US" sz="1200" dirty="0">
                <a:solidFill>
                  <a:srgbClr val="F78C6C"/>
                </a:solidFill>
                <a:latin typeface="Courier New"/>
                <a:cs typeface="Courier New"/>
              </a:rPr>
              <a:t>6</a:t>
            </a:r>
            <a:r>
              <a:rPr lang="en-US" sz="1200" dirty="0">
                <a:solidFill>
                  <a:srgbClr val="E6E9EF"/>
                </a:solidFill>
                <a:latin typeface="Courier New"/>
                <a:cs typeface="Courier New"/>
              </a:rPr>
              <a:t>; i++)                           </a:t>
            </a:r>
            <a:r>
              <a:rPr lang="en-US" sz="1200" dirty="0">
                <a:solidFill>
                  <a:srgbClr val="8A94A6"/>
                </a:solidFill>
                <a:latin typeface="Courier New"/>
                <a:cs typeface="Courier New"/>
              </a:rPr>
              <a:t>// callsign, space padded, each char &lt;&lt; 1</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data[i] = i &lt; address.size() ? </a:t>
            </a:r>
            <a:r>
              <a:rPr lang="en-US" sz="1200" dirty="0">
                <a:solidFill>
                  <a:srgbClr val="C792EA"/>
                </a:solidFill>
                <a:latin typeface="Courier New"/>
                <a:cs typeface="Courier New"/>
              </a:rPr>
              <a:t>static_cast</a:t>
            </a:r>
            <a:r>
              <a:rPr lang="en-US" sz="1200" dirty="0">
                <a:solidFill>
                  <a:srgbClr val="E6E9EF"/>
                </a:solidFill>
                <a:latin typeface="Courier New"/>
                <a:cs typeface="Courier New"/>
              </a:rPr>
              <a:t>&lt;</a:t>
            </a:r>
            <a:r>
              <a:rPr lang="en-US" sz="1200" dirty="0">
                <a:solidFill>
                  <a:srgbClr val="82AAFF"/>
                </a:solidFill>
                <a:latin typeface="Courier New"/>
                <a:cs typeface="Courier New"/>
              </a:rPr>
              <a:t>uint8_t</a:t>
            </a:r>
            <a:r>
              <a:rPr lang="en-US" sz="1200" dirty="0">
                <a:solidFill>
                  <a:srgbClr val="E6E9EF"/>
                </a:solidFill>
                <a:latin typeface="Courier New"/>
                <a:cs typeface="Courier New"/>
              </a:rPr>
              <a:t>&gt;(address[i] &lt;&lt; </a:t>
            </a:r>
            <a:r>
              <a:rPr lang="en-US" sz="1200" dirty="0">
                <a:solidFill>
                  <a:srgbClr val="F78C6C"/>
                </a:solidFill>
                <a:latin typeface="Courier New"/>
                <a:cs typeface="Courier New"/>
              </a:rPr>
              <a:t>1</a:t>
            </a:r>
            <a:r>
              <a:rPr lang="en-US" sz="1200" dirty="0">
                <a:solidFill>
                  <a:srgbClr val="E6E9EF"/>
                </a:solidFill>
                <a:latin typeface="Courier New"/>
                <a:cs typeface="Courier New"/>
              </a:rPr>
              <a:t>) : (</a:t>
            </a:r>
            <a:r>
              <a:rPr lang="en-US" sz="1200" dirty="0">
                <a:solidFill>
                  <a:srgbClr val="F78C6C"/>
                </a:solidFill>
                <a:latin typeface="Courier New"/>
                <a:cs typeface="Courier New"/>
              </a:rPr>
              <a:t>' '</a:t>
            </a:r>
            <a:r>
              <a:rPr lang="en-US" sz="1200" dirty="0">
                <a:solidFill>
                  <a:srgbClr val="E6E9EF"/>
                </a:solidFill>
                <a:latin typeface="Courier New"/>
                <a:cs typeface="Courier New"/>
              </a:rPr>
              <a:t> &lt;&lt; </a:t>
            </a:r>
            <a:r>
              <a:rPr lang="en-US" sz="1200" dirty="0">
                <a:solidFill>
                  <a:srgbClr val="F78C6C"/>
                </a:solidFill>
                <a:latin typeface="Courier New"/>
                <a:cs typeface="Courier New"/>
              </a:rPr>
              <a:t>1</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endParaRPr lang="en-US" sz="1200" dirty="0">
              <a:latin typeface="Courier New"/>
              <a:cs typeface="Courier New"/>
            </a:endParaRPr>
          </a:p>
          <a:p>
            <a:pPr>
              <a:lnSpc>
                <a:spcPct val="100000"/>
              </a:lnSpc>
            </a:pPr>
            <a:r>
              <a:rPr lang="en-US" sz="1200" dirty="0">
                <a:solidFill>
                  <a:srgbClr val="E6E9EF"/>
                </a:solidFill>
                <a:latin typeface="Courier New"/>
                <a:cs typeface="Courier New"/>
              </a:rPr>
              <a:t>    data[</a:t>
            </a:r>
            <a:r>
              <a:rPr lang="en-US" sz="1200" dirty="0">
                <a:solidFill>
                  <a:srgbClr val="F78C6C"/>
                </a:solidFill>
                <a:latin typeface="Courier New"/>
                <a:cs typeface="Courier New"/>
              </a:rPr>
              <a:t>6</a:t>
            </a:r>
            <a:r>
              <a:rPr lang="en-US" sz="1200" dirty="0">
                <a:solidFill>
                  <a:srgbClr val="E6E9EF"/>
                </a:solidFill>
                <a:latin typeface="Courier New"/>
                <a:cs typeface="Courier New"/>
              </a:rPr>
              <a:t>]  = (reserved_bits[</a:t>
            </a:r>
            <a:r>
              <a:rPr lang="en-US" sz="1200" dirty="0">
                <a:solidFill>
                  <a:srgbClr val="F78C6C"/>
                </a:solidFill>
                <a:latin typeface="Courier New"/>
                <a:cs typeface="Courier New"/>
              </a:rPr>
              <a:t>0</a:t>
            </a:r>
            <a:r>
              <a:rPr lang="en-US" sz="1200" dirty="0">
                <a:solidFill>
                  <a:srgbClr val="E6E9EF"/>
                </a:solidFill>
                <a:latin typeface="Courier New"/>
                <a:cs typeface="Courier New"/>
              </a:rPr>
              <a:t>] &lt;&lt; </a:t>
            </a:r>
            <a:r>
              <a:rPr lang="en-US" sz="1200" dirty="0">
                <a:solidFill>
                  <a:srgbClr val="F78C6C"/>
                </a:solidFill>
                <a:latin typeface="Courier New"/>
                <a:cs typeface="Courier New"/>
              </a:rPr>
              <a:t>5</a:t>
            </a:r>
            <a:r>
              <a:rPr lang="en-US" sz="1200" dirty="0">
                <a:solidFill>
                  <a:srgbClr val="E6E9EF"/>
                </a:solidFill>
                <a:latin typeface="Courier New"/>
                <a:cs typeface="Courier New"/>
              </a:rPr>
              <a:t>) | (reserved_bits[</a:t>
            </a:r>
            <a:r>
              <a:rPr lang="en-US" sz="1200" dirty="0">
                <a:solidFill>
                  <a:srgbClr val="F78C6C"/>
                </a:solidFill>
                <a:latin typeface="Courier New"/>
                <a:cs typeface="Courier New"/>
              </a:rPr>
              <a:t>1</a:t>
            </a:r>
            <a:r>
              <a:rPr lang="en-US" sz="1200" dirty="0">
                <a:solidFill>
                  <a:srgbClr val="E6E9EF"/>
                </a:solidFill>
                <a:latin typeface="Courier New"/>
                <a:cs typeface="Courier New"/>
              </a:rPr>
              <a:t>] &lt;&lt; </a:t>
            </a:r>
            <a:r>
              <a:rPr lang="en-US" sz="1200" dirty="0">
                <a:solidFill>
                  <a:srgbClr val="F78C6C"/>
                </a:solidFill>
                <a:latin typeface="Courier New"/>
                <a:cs typeface="Courier New"/>
              </a:rPr>
              <a:t>6</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data[</a:t>
            </a:r>
            <a:r>
              <a:rPr lang="en-US" sz="1200" dirty="0">
                <a:solidFill>
                  <a:srgbClr val="F78C6C"/>
                </a:solidFill>
                <a:latin typeface="Courier New"/>
                <a:cs typeface="Courier New"/>
              </a:rPr>
              <a:t>6</a:t>
            </a:r>
            <a:r>
              <a:rPr lang="en-US" sz="1200" dirty="0">
                <a:solidFill>
                  <a:srgbClr val="E6E9EF"/>
                </a:solidFill>
                <a:latin typeface="Courier New"/>
                <a:cs typeface="Courier New"/>
              </a:rPr>
              <a:t>] |= ssid &lt;&lt; </a:t>
            </a:r>
            <a:r>
              <a:rPr lang="en-US" sz="1200" dirty="0">
                <a:solidFill>
                  <a:srgbClr val="F78C6C"/>
                </a:solidFill>
                <a:latin typeface="Courier New"/>
                <a:cs typeface="Courier New"/>
              </a:rPr>
              <a:t>1</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dirty="0">
                <a:solidFill>
                  <a:srgbClr val="C792EA"/>
                </a:solidFill>
                <a:latin typeface="Courier New"/>
                <a:cs typeface="Courier New"/>
              </a:rPr>
              <a:t>if</a:t>
            </a:r>
            <a:r>
              <a:rPr lang="en-US" sz="1200" dirty="0">
                <a:solidFill>
                  <a:srgbClr val="E6E9EF"/>
                </a:solidFill>
                <a:latin typeface="Courier New"/>
                <a:cs typeface="Courier New"/>
              </a:rPr>
              <a:t> (last)        data[</a:t>
            </a:r>
            <a:r>
              <a:rPr lang="en-US" sz="1200" dirty="0">
                <a:solidFill>
                  <a:srgbClr val="F78C6C"/>
                </a:solidFill>
                <a:latin typeface="Courier New"/>
                <a:cs typeface="Courier New"/>
              </a:rPr>
              <a:t>6</a:t>
            </a:r>
            <a:r>
              <a:rPr lang="en-US" sz="1200" dirty="0">
                <a:solidFill>
                  <a:srgbClr val="E6E9EF"/>
                </a:solidFill>
                <a:latin typeface="Courier New"/>
                <a:cs typeface="Courier New"/>
              </a:rPr>
              <a:t>] |= </a:t>
            </a:r>
            <a:r>
              <a:rPr lang="en-US" sz="1200" dirty="0">
                <a:solidFill>
                  <a:srgbClr val="F78C6C"/>
                </a:solidFill>
                <a:latin typeface="Courier New"/>
                <a:cs typeface="Courier New"/>
              </a:rPr>
              <a:t>0x01</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dirty="0">
                <a:solidFill>
                  <a:srgbClr val="C792EA"/>
                </a:solidFill>
                <a:latin typeface="Courier New"/>
                <a:cs typeface="Courier New"/>
              </a:rPr>
              <a:t>if</a:t>
            </a:r>
            <a:r>
              <a:rPr lang="en-US" sz="1200" dirty="0">
                <a:solidFill>
                  <a:srgbClr val="E6E9EF"/>
                </a:solidFill>
                <a:latin typeface="Courier New"/>
                <a:cs typeface="Courier New"/>
              </a:rPr>
              <a:t> (cr_or_h_bit) data[</a:t>
            </a:r>
            <a:r>
              <a:rPr lang="en-US" sz="1200" dirty="0">
                <a:solidFill>
                  <a:srgbClr val="F78C6C"/>
                </a:solidFill>
                <a:latin typeface="Courier New"/>
                <a:cs typeface="Courier New"/>
              </a:rPr>
              <a:t>6</a:t>
            </a:r>
            <a:r>
              <a:rPr lang="en-US" sz="1200" dirty="0">
                <a:solidFill>
                  <a:srgbClr val="E6E9EF"/>
                </a:solidFill>
                <a:latin typeface="Courier New"/>
                <a:cs typeface="Courier New"/>
              </a:rPr>
              <a:t>] |= </a:t>
            </a:r>
            <a:r>
              <a:rPr lang="en-US" sz="1200" dirty="0">
                <a:solidFill>
                  <a:srgbClr val="F78C6C"/>
                </a:solidFill>
                <a:latin typeface="Courier New"/>
                <a:cs typeface="Courier New"/>
              </a:rPr>
              <a:t>0x80</a:t>
            </a:r>
            <a:r>
              <a:rPr lang="en-US" sz="1200" dirty="0">
                <a:solidFill>
                  <a:srgbClr val="E6E9EF"/>
                </a:solidFill>
                <a:latin typeface="Courier New"/>
                <a:cs typeface="Courier New"/>
              </a:rPr>
              <a:t>;</a:t>
            </a:r>
            <a:endParaRPr lang="en-US" sz="1200" dirty="0">
              <a:latin typeface="Courier New"/>
              <a:cs typeface="Courier New"/>
            </a:endParaRPr>
          </a:p>
          <a:p>
            <a:pPr>
              <a:lnSpc>
                <a:spcPct val="100000"/>
              </a:lnSpc>
            </a:pP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b="1" dirty="0">
                <a:solidFill>
                  <a:srgbClr val="7EE2A8"/>
                </a:solidFill>
                <a:latin typeface="Courier New"/>
                <a:cs typeface="Courier New"/>
              </a:rPr>
              <a:t>contract_assert</a:t>
            </a:r>
            <a:r>
              <a:rPr lang="en-US" sz="1200" dirty="0">
                <a:solidFill>
                  <a:srgbClr val="E6E9EF"/>
                </a:solidFill>
                <a:latin typeface="Courier New"/>
                <a:cs typeface="Courier New"/>
              </a:rPr>
              <a:t>(((data[</a:t>
            </a:r>
            <a:r>
              <a:rPr lang="en-US" sz="1200" dirty="0">
                <a:solidFill>
                  <a:srgbClr val="F78C6C"/>
                </a:solidFill>
                <a:latin typeface="Courier New"/>
                <a:cs typeface="Courier New"/>
              </a:rPr>
              <a:t>6</a:t>
            </a:r>
            <a:r>
              <a:rPr lang="en-US" sz="1200" dirty="0">
                <a:solidFill>
                  <a:srgbClr val="E6E9EF"/>
                </a:solidFill>
                <a:latin typeface="Courier New"/>
                <a:cs typeface="Courier New"/>
              </a:rPr>
              <a:t>] &gt;&gt; </a:t>
            </a:r>
            <a:r>
              <a:rPr lang="en-US" sz="1200" dirty="0">
                <a:solidFill>
                  <a:srgbClr val="F78C6C"/>
                </a:solidFill>
                <a:latin typeface="Courier New"/>
                <a:cs typeface="Courier New"/>
              </a:rPr>
              <a:t>1</a:t>
            </a:r>
            <a:r>
              <a:rPr lang="en-US" sz="1200" dirty="0">
                <a:solidFill>
                  <a:srgbClr val="E6E9EF"/>
                </a:solidFill>
                <a:latin typeface="Courier New"/>
                <a:cs typeface="Courier New"/>
              </a:rPr>
              <a:t>) &amp; </a:t>
            </a:r>
            <a:r>
              <a:rPr lang="en-US" sz="1200" dirty="0">
                <a:solidFill>
                  <a:srgbClr val="F78C6C"/>
                </a:solidFill>
                <a:latin typeface="Courier New"/>
                <a:cs typeface="Courier New"/>
              </a:rPr>
              <a:t>0x0F</a:t>
            </a:r>
            <a:r>
              <a:rPr lang="en-US" sz="1200" dirty="0">
                <a:solidFill>
                  <a:srgbClr val="E6E9EF"/>
                </a:solidFill>
                <a:latin typeface="Courier New"/>
                <a:cs typeface="Courier New"/>
              </a:rPr>
              <a:t>) == ssid);</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    </a:t>
            </a:r>
            <a:r>
              <a:rPr lang="en-US" sz="1200" dirty="0">
                <a:solidFill>
                  <a:srgbClr val="C792EA"/>
                </a:solidFill>
                <a:latin typeface="Courier New"/>
                <a:cs typeface="Courier New"/>
              </a:rPr>
              <a:t>return</a:t>
            </a:r>
            <a:r>
              <a:rPr lang="en-US" sz="1200" dirty="0">
                <a:solidFill>
                  <a:srgbClr val="E6E9EF"/>
                </a:solidFill>
                <a:latin typeface="Courier New"/>
                <a:cs typeface="Courier New"/>
              </a:rPr>
              <a:t> data;</a:t>
            </a:r>
            <a:endParaRPr lang="en-US" sz="1200" dirty="0">
              <a:latin typeface="Courier New"/>
              <a:cs typeface="Courier New"/>
            </a:endParaRPr>
          </a:p>
          <a:p>
            <a:pPr>
              <a:lnSpc>
                <a:spcPct val="100000"/>
              </a:lnSpc>
            </a:pPr>
            <a:r>
              <a:rPr lang="en-US" sz="1200" dirty="0">
                <a:solidFill>
                  <a:srgbClr val="E6E9EF"/>
                </a:solidFill>
                <a:latin typeface="Courier New"/>
                <a:cs typeface="Courier New"/>
              </a:rPr>
              <a:t>}</a:t>
            </a:r>
            <a:endParaRPr lang="en-US" sz="1200" dirty="0">
              <a:latin typeface="Courier New"/>
              <a:cs typeface="Courier New"/>
            </a:endParaRPr>
          </a:p>
        </p:txBody>
      </p:sp>
      <p:grpSp>
        <p:nvGrpSpPr>
          <p:cNvPr id="300" name="Byte 6 diagram"/>
          <p:cNvGrpSpPr/>
          <p:nvPr/>
        </p:nvGrpSpPr>
        <p:grpSpPr>
          <a:xfrm>
            <a:off x="8458200" y="5385816"/>
            <a:ext cx="2926080" cy="850392"/>
            <a:chOff x="8458200" y="5385816"/>
            <a:chExt cx="2926080" cy="850392"/>
          </a:xfrm>
        </p:grpSpPr>
        <p:sp>
          <p:nvSpPr>
            <p:cNvPr id="301" name="bit 7"/>
            <p:cNvSpPr txBox="1"/>
            <p:nvPr/>
          </p:nvSpPr>
          <p:spPr>
            <a:xfrm>
              <a:off x="8469173" y="5870448"/>
              <a:ext cx="343814" cy="365760"/>
            </a:xfrm>
            <a:prstGeom prst="rect">
              <a:avLst/>
            </a:prstGeom>
            <a:solidFill>
              <a:srgbClr val="3A2233"/>
            </a:solidFill>
            <a:ln>
              <a:noFill/>
            </a:ln>
          </p:spPr>
          <p:txBody>
            <a:bodyPr wrap="none" lIns="0" tIns="0" rIns="0" bIns="0" rtlCol="0" anchor="ctr">
              <a:noAutofit/>
            </a:bodyPr>
            <a:lstStyle/>
            <a:p>
              <a:pPr algn="ctr"/>
              <a:r>
                <a:rPr lang="en-US" sz="950" b="1" dirty="0">
                  <a:solidFill>
                    <a:srgbClr val="E6E9EF"/>
                  </a:solidFill>
                  <a:latin typeface="Courier New"/>
                  <a:cs typeface="Courier New"/>
                </a:rPr>
                <a:t>H/C</a:t>
              </a:r>
            </a:p>
          </p:txBody>
        </p:sp>
        <p:sp>
          <p:nvSpPr>
            <p:cNvPr id="302" name="bit number 7"/>
            <p:cNvSpPr txBox="1"/>
            <p:nvPr/>
          </p:nvSpPr>
          <p:spPr>
            <a:xfrm>
              <a:off x="845820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7</a:t>
              </a:r>
            </a:p>
          </p:txBody>
        </p:sp>
        <p:sp>
          <p:nvSpPr>
            <p:cNvPr id="303" name="bit 6"/>
            <p:cNvSpPr txBox="1"/>
            <p:nvPr/>
          </p:nvSpPr>
          <p:spPr>
            <a:xfrm>
              <a:off x="8834933" y="5870448"/>
              <a:ext cx="343814" cy="365760"/>
            </a:xfrm>
            <a:prstGeom prst="rect">
              <a:avLst/>
            </a:prstGeom>
            <a:solidFill>
              <a:srgbClr val="1E2E3C"/>
            </a:solidFill>
            <a:ln>
              <a:noFill/>
            </a:ln>
          </p:spPr>
          <p:txBody>
            <a:bodyPr wrap="none" lIns="0" tIns="0" rIns="0" bIns="0" rtlCol="0" anchor="ctr">
              <a:noAutofit/>
            </a:bodyPr>
            <a:lstStyle/>
            <a:p>
              <a:pPr algn="ctr"/>
              <a:r>
                <a:rPr lang="en-US" sz="1150" b="1" dirty="0">
                  <a:solidFill>
                    <a:srgbClr val="E6E9EF"/>
                  </a:solidFill>
                  <a:latin typeface="Courier New"/>
                  <a:cs typeface="Courier New"/>
                </a:rPr>
                <a:t>R</a:t>
              </a:r>
            </a:p>
          </p:txBody>
        </p:sp>
        <p:sp>
          <p:nvSpPr>
            <p:cNvPr id="304" name="bit number 6"/>
            <p:cNvSpPr txBox="1"/>
            <p:nvPr/>
          </p:nvSpPr>
          <p:spPr>
            <a:xfrm>
              <a:off x="882396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6</a:t>
              </a:r>
            </a:p>
          </p:txBody>
        </p:sp>
        <p:sp>
          <p:nvSpPr>
            <p:cNvPr id="305" name="bit 5"/>
            <p:cNvSpPr txBox="1"/>
            <p:nvPr/>
          </p:nvSpPr>
          <p:spPr>
            <a:xfrm>
              <a:off x="9200693" y="5870448"/>
              <a:ext cx="343814" cy="365760"/>
            </a:xfrm>
            <a:prstGeom prst="rect">
              <a:avLst/>
            </a:prstGeom>
            <a:solidFill>
              <a:srgbClr val="1E2E3C"/>
            </a:solidFill>
            <a:ln>
              <a:noFill/>
            </a:ln>
          </p:spPr>
          <p:txBody>
            <a:bodyPr wrap="none" lIns="0" tIns="0" rIns="0" bIns="0" rtlCol="0" anchor="ctr">
              <a:noAutofit/>
            </a:bodyPr>
            <a:lstStyle/>
            <a:p>
              <a:pPr algn="ctr"/>
              <a:r>
                <a:rPr lang="en-US" sz="1150" b="1" dirty="0">
                  <a:solidFill>
                    <a:srgbClr val="E6E9EF"/>
                  </a:solidFill>
                  <a:latin typeface="Courier New"/>
                  <a:cs typeface="Courier New"/>
                </a:rPr>
                <a:t>R</a:t>
              </a:r>
            </a:p>
          </p:txBody>
        </p:sp>
        <p:sp>
          <p:nvSpPr>
            <p:cNvPr id="306" name="bit number 5"/>
            <p:cNvSpPr txBox="1"/>
            <p:nvPr/>
          </p:nvSpPr>
          <p:spPr>
            <a:xfrm>
              <a:off x="918972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5</a:t>
              </a:r>
            </a:p>
          </p:txBody>
        </p:sp>
        <p:sp>
          <p:nvSpPr>
            <p:cNvPr id="307" name="bit 4"/>
            <p:cNvSpPr txBox="1"/>
            <p:nvPr/>
          </p:nvSpPr>
          <p:spPr>
            <a:xfrm>
              <a:off x="9566453" y="5870448"/>
              <a:ext cx="343814" cy="365760"/>
            </a:xfrm>
            <a:prstGeom prst="rect">
              <a:avLst/>
            </a:prstGeom>
            <a:solidFill>
              <a:srgbClr val="2B2A3E"/>
            </a:solidFill>
            <a:ln>
              <a:noFill/>
            </a:ln>
          </p:spPr>
          <p:txBody>
            <a:bodyPr wrap="none" lIns="0" tIns="0" rIns="0" bIns="0" rtlCol="0" anchor="ctr">
              <a:noAutofit/>
            </a:bodyPr>
            <a:lstStyle/>
            <a:p>
              <a:pPr algn="ctr"/>
              <a:r>
                <a:rPr lang="en-US" sz="1150" b="1" dirty="0">
                  <a:solidFill>
                    <a:srgbClr val="E6E9EF"/>
                  </a:solidFill>
                  <a:latin typeface="Courier New"/>
                  <a:cs typeface="Courier New"/>
                </a:rPr>
                <a:t>S</a:t>
              </a:r>
            </a:p>
          </p:txBody>
        </p:sp>
        <p:sp>
          <p:nvSpPr>
            <p:cNvPr id="308" name="bit number 4"/>
            <p:cNvSpPr txBox="1"/>
            <p:nvPr/>
          </p:nvSpPr>
          <p:spPr>
            <a:xfrm>
              <a:off x="955548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4</a:t>
              </a:r>
            </a:p>
          </p:txBody>
        </p:sp>
        <p:sp>
          <p:nvSpPr>
            <p:cNvPr id="309" name="bit 3"/>
            <p:cNvSpPr txBox="1"/>
            <p:nvPr/>
          </p:nvSpPr>
          <p:spPr>
            <a:xfrm>
              <a:off x="9932213" y="5870448"/>
              <a:ext cx="343814" cy="365760"/>
            </a:xfrm>
            <a:prstGeom prst="rect">
              <a:avLst/>
            </a:prstGeom>
            <a:solidFill>
              <a:srgbClr val="2B2A3E"/>
            </a:solidFill>
            <a:ln>
              <a:noFill/>
            </a:ln>
          </p:spPr>
          <p:txBody>
            <a:bodyPr wrap="none" lIns="0" tIns="0" rIns="0" bIns="0" rtlCol="0" anchor="ctr">
              <a:noAutofit/>
            </a:bodyPr>
            <a:lstStyle/>
            <a:p>
              <a:pPr algn="ctr"/>
              <a:r>
                <a:rPr lang="en-US" sz="1150" b="1" dirty="0">
                  <a:solidFill>
                    <a:srgbClr val="E6E9EF"/>
                  </a:solidFill>
                  <a:latin typeface="Courier New"/>
                  <a:cs typeface="Courier New"/>
                </a:rPr>
                <a:t>S</a:t>
              </a:r>
            </a:p>
          </p:txBody>
        </p:sp>
        <p:sp>
          <p:nvSpPr>
            <p:cNvPr id="310" name="bit number 3"/>
            <p:cNvSpPr txBox="1"/>
            <p:nvPr/>
          </p:nvSpPr>
          <p:spPr>
            <a:xfrm>
              <a:off x="992124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3</a:t>
              </a:r>
            </a:p>
          </p:txBody>
        </p:sp>
        <p:sp>
          <p:nvSpPr>
            <p:cNvPr id="311" name="bit 2"/>
            <p:cNvSpPr txBox="1"/>
            <p:nvPr/>
          </p:nvSpPr>
          <p:spPr>
            <a:xfrm>
              <a:off x="10297973" y="5870448"/>
              <a:ext cx="343814" cy="365760"/>
            </a:xfrm>
            <a:prstGeom prst="rect">
              <a:avLst/>
            </a:prstGeom>
            <a:solidFill>
              <a:srgbClr val="2B2A3E"/>
            </a:solidFill>
            <a:ln>
              <a:noFill/>
            </a:ln>
          </p:spPr>
          <p:txBody>
            <a:bodyPr wrap="none" lIns="0" tIns="0" rIns="0" bIns="0" rtlCol="0" anchor="ctr">
              <a:noAutofit/>
            </a:bodyPr>
            <a:lstStyle/>
            <a:p>
              <a:pPr algn="ctr"/>
              <a:r>
                <a:rPr lang="en-US" sz="1150" b="1" dirty="0">
                  <a:solidFill>
                    <a:srgbClr val="E6E9EF"/>
                  </a:solidFill>
                  <a:latin typeface="Courier New"/>
                  <a:cs typeface="Courier New"/>
                </a:rPr>
                <a:t>S</a:t>
              </a:r>
            </a:p>
          </p:txBody>
        </p:sp>
        <p:sp>
          <p:nvSpPr>
            <p:cNvPr id="312" name="bit number 2"/>
            <p:cNvSpPr txBox="1"/>
            <p:nvPr/>
          </p:nvSpPr>
          <p:spPr>
            <a:xfrm>
              <a:off x="1028700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2</a:t>
              </a:r>
            </a:p>
          </p:txBody>
        </p:sp>
        <p:sp>
          <p:nvSpPr>
            <p:cNvPr id="313" name="bit 1"/>
            <p:cNvSpPr txBox="1"/>
            <p:nvPr/>
          </p:nvSpPr>
          <p:spPr>
            <a:xfrm>
              <a:off x="10663733" y="5870448"/>
              <a:ext cx="343814" cy="365760"/>
            </a:xfrm>
            <a:prstGeom prst="rect">
              <a:avLst/>
            </a:prstGeom>
            <a:solidFill>
              <a:srgbClr val="2B2A3E"/>
            </a:solidFill>
            <a:ln>
              <a:noFill/>
            </a:ln>
          </p:spPr>
          <p:txBody>
            <a:bodyPr wrap="none" lIns="0" tIns="0" rIns="0" bIns="0" rtlCol="0" anchor="ctr">
              <a:noAutofit/>
            </a:bodyPr>
            <a:lstStyle/>
            <a:p>
              <a:pPr algn="ctr"/>
              <a:r>
                <a:rPr lang="en-US" sz="1150" b="1" dirty="0">
                  <a:solidFill>
                    <a:srgbClr val="E6E9EF"/>
                  </a:solidFill>
                  <a:latin typeface="Courier New"/>
                  <a:cs typeface="Courier New"/>
                </a:rPr>
                <a:t>S</a:t>
              </a:r>
            </a:p>
          </p:txBody>
        </p:sp>
        <p:sp>
          <p:nvSpPr>
            <p:cNvPr id="314" name="bit number 1"/>
            <p:cNvSpPr txBox="1"/>
            <p:nvPr/>
          </p:nvSpPr>
          <p:spPr>
            <a:xfrm>
              <a:off x="1065276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1</a:t>
              </a:r>
            </a:p>
          </p:txBody>
        </p:sp>
        <p:sp>
          <p:nvSpPr>
            <p:cNvPr id="315" name="bit 0"/>
            <p:cNvSpPr txBox="1"/>
            <p:nvPr/>
          </p:nvSpPr>
          <p:spPr>
            <a:xfrm>
              <a:off x="11029493" y="5870448"/>
              <a:ext cx="343814" cy="365760"/>
            </a:xfrm>
            <a:prstGeom prst="rect">
              <a:avLst/>
            </a:prstGeom>
            <a:solidFill>
              <a:srgbClr val="1F3327"/>
            </a:solidFill>
            <a:ln>
              <a:noFill/>
            </a:ln>
          </p:spPr>
          <p:txBody>
            <a:bodyPr wrap="none" lIns="0" tIns="0" rIns="0" bIns="0" rtlCol="0" anchor="ctr">
              <a:noAutofit/>
            </a:bodyPr>
            <a:lstStyle/>
            <a:p>
              <a:pPr algn="ctr"/>
              <a:r>
                <a:rPr lang="en-US" sz="1150" b="1" dirty="0">
                  <a:solidFill>
                    <a:srgbClr val="E6E9EF"/>
                  </a:solidFill>
                  <a:latin typeface="Courier New"/>
                  <a:cs typeface="Courier New"/>
                </a:rPr>
                <a:t>L</a:t>
              </a:r>
            </a:p>
          </p:txBody>
        </p:sp>
        <p:sp>
          <p:nvSpPr>
            <p:cNvPr id="316" name="bit number 0"/>
            <p:cNvSpPr txBox="1"/>
            <p:nvPr/>
          </p:nvSpPr>
          <p:spPr>
            <a:xfrm>
              <a:off x="11018520" y="5641848"/>
              <a:ext cx="365760" cy="182880"/>
            </a:xfrm>
            <a:prstGeom prst="rect">
              <a:avLst/>
            </a:prstGeom>
            <a:noFill/>
            <a:ln>
              <a:noFill/>
            </a:ln>
          </p:spPr>
          <p:txBody>
            <a:bodyPr wrap="none" lIns="0" tIns="0" rIns="0" bIns="0" rtlCol="0" anchor="ctr">
              <a:noAutofit/>
            </a:bodyPr>
            <a:lstStyle/>
            <a:p>
              <a:pPr algn="ctr"/>
              <a:r>
                <a:rPr lang="en-US" sz="950" dirty="0">
                  <a:solidFill>
                    <a:srgbClr val="8A94A6"/>
                  </a:solidFill>
                  <a:latin typeface="Courier New"/>
                  <a:cs typeface="Courier New"/>
                </a:rPr>
                <a:t>0</a:t>
              </a:r>
            </a:p>
          </p:txBody>
        </p:sp>
        <p:sp>
          <p:nvSpPr>
            <p:cNvPr id="317" name="byte 6 label"/>
            <p:cNvSpPr txBox="1"/>
            <p:nvPr/>
          </p:nvSpPr>
          <p:spPr>
            <a:xfrm>
              <a:off x="8458200" y="5385816"/>
              <a:ext cx="2926080" cy="219456"/>
            </a:xfrm>
            <a:prstGeom prst="rect">
              <a:avLst/>
            </a:prstGeom>
            <a:noFill/>
            <a:ln>
              <a:noFill/>
            </a:ln>
          </p:spPr>
          <p:txBody>
            <a:bodyPr wrap="none" lIns="0" tIns="0" rIns="0" bIns="0" rtlCol="0" anchor="ctr">
              <a:noAutofit/>
            </a:bodyPr>
            <a:lstStyle/>
            <a:p>
              <a:pPr algn="r"/>
              <a:r>
                <a:rPr lang="en-US" sz="1100" dirty="0">
                  <a:solidFill>
                    <a:srgbClr val="E6E9EF"/>
                  </a:solidFill>
                  <a:latin typeface="Courier New"/>
                  <a:cs typeface="Courier New"/>
                </a:rPr>
                <a:t>byte 6</a:t>
              </a: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Profiles</a:t>
            </a:r>
            <a:endParaRPr lang="en-US" sz="4400" dirty="0"/>
          </a:p>
        </p:txBody>
      </p:sp>
      <p:sp>
        <p:nvSpPr>
          <p:cNvPr id="200" name="Code panel"/>
          <p:cNvSpPr/>
          <p:nvPr/>
        </p:nvSpPr>
        <p:spPr>
          <a:xfrm>
            <a:off x="932688" y="1527048"/>
            <a:ext cx="10725912" cy="4965192"/>
          </a:xfrm>
          <a:prstGeom prst="roundRect">
            <a:avLst>
              <a:gd name="adj" fmla="val 4000"/>
            </a:avLst>
          </a:prstGeom>
          <a:solidFill>
            <a:srgbClr val="12161F"/>
          </a:solidFill>
          <a:ln>
            <a:noFill/>
          </a:ln>
        </p:spPr>
        <p:txBody>
          <a:bodyPr rtlCol="0" anchor="ctr"/>
          <a:lstStyle/>
          <a:p>
            <a:endParaRPr lang="en-US" dirty="0"/>
          </a:p>
        </p:txBody>
      </p:sp>
      <p:sp>
        <p:nvSpPr>
          <p:cNvPr id="201" name="Code"/>
          <p:cNvSpPr txBox="1"/>
          <p:nvPr/>
        </p:nvSpPr>
        <p:spPr>
          <a:xfrm>
            <a:off x="1133856" y="1700784"/>
            <a:ext cx="10323576" cy="4617720"/>
          </a:xfrm>
          <a:prstGeom prst="rect">
            <a:avLst/>
          </a:prstGeom>
          <a:noFill/>
        </p:spPr>
        <p:txBody>
          <a:bodyPr wrap="none" lIns="0" tIns="0" rIns="0" bIns="0" rtlCol="0" anchor="t">
            <a:noAutofit/>
          </a:bodyPr>
          <a:lstStyle/>
          <a:p>
            <a:pPr>
              <a:lnSpc>
                <a:spcPct val="100000"/>
              </a:lnSpc>
            </a:pPr>
            <a:r>
              <a:rPr lang="en-US" sz="1350" dirty="0">
                <a:solidFill>
                  <a:srgbClr val="8A94A6"/>
                </a:solidFill>
                <a:latin typeface="Courier New"/>
                <a:cs typeface="Courier New"/>
              </a:rPr>
              <a:t>// Profiles as proposed for C++29 (P3081, P3589): fixed by the standard, checked by the compiler.</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a:t>
            </a:r>
            <a:r>
              <a:rPr lang="en-US" sz="1350" b="1" dirty="0">
                <a:solidFill>
                  <a:srgbClr val="7EE2A8"/>
                </a:solidFill>
                <a:latin typeface="Courier New"/>
                <a:cs typeface="Courier New"/>
              </a:rPr>
              <a:t>profiles::enforce</a:t>
            </a:r>
            <a:r>
              <a:rPr lang="en-US" sz="1350" dirty="0">
                <a:solidFill>
                  <a:srgbClr val="E6E9EF"/>
                </a:solidFill>
                <a:latin typeface="Courier New"/>
                <a:cs typeface="Courier New"/>
              </a:rPr>
              <a:t>(</a:t>
            </a:r>
            <a:r>
              <a:rPr lang="en-US" sz="1350" b="1" dirty="0">
                <a:solidFill>
                  <a:srgbClr val="FF7EB6"/>
                </a:solidFill>
                <a:latin typeface="Courier New"/>
                <a:cs typeface="Courier New"/>
              </a:rPr>
              <a:t>std::type</a:t>
            </a:r>
            <a:r>
              <a:rPr lang="en-US" sz="1350" dirty="0">
                <a:solidFill>
                  <a:srgbClr val="E6E9EF"/>
                </a:solidFill>
                <a:latin typeface="Courier New"/>
                <a:cs typeface="Courier New"/>
              </a:rPr>
              <a:t>)]];</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a:t>
            </a:r>
            <a:r>
              <a:rPr lang="en-US" sz="1350" b="1" dirty="0">
                <a:solidFill>
                  <a:srgbClr val="7EE2A8"/>
                </a:solidFill>
                <a:latin typeface="Courier New"/>
                <a:cs typeface="Courier New"/>
              </a:rPr>
              <a:t>profiles::enforce</a:t>
            </a:r>
            <a:r>
              <a:rPr lang="en-US" sz="1350" dirty="0">
                <a:solidFill>
                  <a:srgbClr val="E6E9EF"/>
                </a:solidFill>
                <a:latin typeface="Courier New"/>
                <a:cs typeface="Courier New"/>
              </a:rPr>
              <a:t>(</a:t>
            </a:r>
            <a:r>
              <a:rPr lang="en-US" sz="1350" b="1" dirty="0">
                <a:solidFill>
                  <a:srgbClr val="FF7EB6"/>
                </a:solidFill>
                <a:latin typeface="Courier New"/>
                <a:cs typeface="Courier New"/>
              </a:rPr>
              <a:t>std::bounds</a:t>
            </a:r>
            <a:r>
              <a:rPr lang="en-US" sz="1350" dirty="0">
                <a:solidFill>
                  <a:srgbClr val="E6E9EF"/>
                </a:solidFill>
                <a:latin typeface="Courier New"/>
                <a:cs typeface="Courier New"/>
              </a:rPr>
              <a:t>)]];</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a:t>
            </a:r>
            <a:r>
              <a:rPr lang="en-US" sz="1350" b="1" dirty="0">
                <a:solidFill>
                  <a:srgbClr val="7EE2A8"/>
                </a:solidFill>
                <a:latin typeface="Courier New"/>
                <a:cs typeface="Courier New"/>
              </a:rPr>
              <a:t>profiles::enforce</a:t>
            </a:r>
            <a:r>
              <a:rPr lang="en-US" sz="1350" dirty="0">
                <a:solidFill>
                  <a:srgbClr val="E6E9EF"/>
                </a:solidFill>
                <a:latin typeface="Courier New"/>
                <a:cs typeface="Courier New"/>
              </a:rPr>
              <a:t>(</a:t>
            </a:r>
            <a:r>
              <a:rPr lang="en-US" sz="1350" b="1" dirty="0">
                <a:solidFill>
                  <a:srgbClr val="FF7EB6"/>
                </a:solidFill>
                <a:latin typeface="Courier New"/>
                <a:cs typeface="Courier New"/>
              </a:rPr>
              <a:t>std::arithmetic</a:t>
            </a:r>
            <a:r>
              <a:rPr lang="en-US" sz="1350" dirty="0">
                <a:solidFill>
                  <a:srgbClr val="E6E9EF"/>
                </a:solidFill>
                <a:latin typeface="Courier New"/>
                <a:cs typeface="Courier New"/>
              </a:rPr>
              <a:t>)]];</a:t>
            </a:r>
            <a:endParaRPr lang="en-US" sz="1350" dirty="0">
              <a:latin typeface="Courier New"/>
              <a:cs typeface="Courier New"/>
            </a:endParaRPr>
          </a:p>
          <a:p>
            <a:pPr>
              <a:lnSpc>
                <a:spcPct val="100000"/>
              </a:lnSpc>
            </a:pPr>
            <a:endParaRPr lang="en-US" sz="1350" dirty="0">
              <a:latin typeface="Courier New"/>
              <a:cs typeface="Courier New"/>
            </a:endParaRPr>
          </a:p>
          <a:p>
            <a:pPr>
              <a:lnSpc>
                <a:spcPct val="100000"/>
              </a:lnSpc>
            </a:pPr>
            <a:r>
              <a:rPr lang="en-US" sz="1350" dirty="0">
                <a:solidFill>
                  <a:srgbClr val="8A94A6"/>
                </a:solidFill>
                <a:latin typeface="Courier New"/>
                <a:cs typeface="Courier New"/>
              </a:rPr>
              <a:t>// Simplified from libmodem, bitstream.cpp (github.com/iontodirel/libmodem)</a:t>
            </a:r>
            <a:endParaRPr lang="en-US" sz="1350" dirty="0">
              <a:latin typeface="Courier New"/>
              <a:cs typeface="Courier New"/>
            </a:endParaRPr>
          </a:p>
          <a:p>
            <a:pPr>
              <a:lnSpc>
                <a:spcPct val="100000"/>
              </a:lnSpc>
            </a:pPr>
            <a:r>
              <a:rPr lang="en-US" sz="1350" dirty="0">
                <a:solidFill>
                  <a:srgbClr val="82AAFF"/>
                </a:solidFill>
                <a:latin typeface="Courier New"/>
                <a:cs typeface="Courier New"/>
              </a:rPr>
              <a:t>std::array&lt;uint8_t, </a:t>
            </a:r>
            <a:r>
              <a:rPr lang="en-US" sz="1350" dirty="0">
                <a:solidFill>
                  <a:srgbClr val="F78C6C"/>
                </a:solidFill>
                <a:latin typeface="Courier New"/>
                <a:cs typeface="Courier New"/>
              </a:rPr>
              <a:t>7</a:t>
            </a:r>
            <a:r>
              <a:rPr lang="en-US" sz="1350" dirty="0">
                <a:solidFill>
                  <a:srgbClr val="82AAFF"/>
                </a:solidFill>
                <a:latin typeface="Courier New"/>
                <a:cs typeface="Courier New"/>
              </a:rPr>
              <a:t>&gt;</a:t>
            </a:r>
            <a:r>
              <a:rPr lang="en-US" sz="1350" dirty="0">
                <a:solidFill>
                  <a:srgbClr val="E6E9EF"/>
                </a:solidFill>
                <a:latin typeface="Courier New"/>
                <a:cs typeface="Courier New"/>
              </a:rPr>
              <a:t> </a:t>
            </a:r>
            <a:r>
              <a:rPr lang="en-US" sz="1350" dirty="0">
                <a:solidFill>
                  <a:srgbClr val="FFD98C"/>
                </a:solidFill>
                <a:latin typeface="Courier New"/>
                <a:cs typeface="Courier New"/>
              </a:rPr>
              <a:t>encode_address</a:t>
            </a:r>
            <a:r>
              <a:rPr lang="en-US" sz="1350" dirty="0">
                <a:solidFill>
                  <a:srgbClr val="E6E9EF"/>
                </a:solidFill>
                <a:latin typeface="Courier New"/>
                <a:cs typeface="Courier New"/>
              </a:rPr>
              <a:t>(</a:t>
            </a:r>
            <a:r>
              <a:rPr lang="en-US" sz="1350" dirty="0">
                <a:solidFill>
                  <a:srgbClr val="82AAFF"/>
                </a:solidFill>
                <a:latin typeface="Courier New"/>
                <a:cs typeface="Courier New"/>
              </a:rPr>
              <a:t>std::string_view</a:t>
            </a:r>
            <a:r>
              <a:rPr lang="en-US" sz="1350" dirty="0">
                <a:solidFill>
                  <a:srgbClr val="E6E9EF"/>
                </a:solidFill>
                <a:latin typeface="Courier New"/>
                <a:cs typeface="Courier New"/>
              </a:rPr>
              <a:t> address, </a:t>
            </a:r>
            <a:r>
              <a:rPr lang="en-US" sz="1350" dirty="0">
                <a:solidFill>
                  <a:srgbClr val="82AAFF"/>
                </a:solidFill>
                <a:latin typeface="Courier New"/>
                <a:cs typeface="Courier New"/>
              </a:rPr>
              <a:t>int</a:t>
            </a:r>
            <a:r>
              <a:rPr lang="en-US" sz="1350" dirty="0">
                <a:solidFill>
                  <a:srgbClr val="E6E9EF"/>
                </a:solidFill>
                <a:latin typeface="Courier New"/>
                <a:cs typeface="Courier New"/>
              </a:rPr>
              <a:t> ssid)</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82AAFF"/>
                </a:solidFill>
                <a:latin typeface="Courier New"/>
                <a:cs typeface="Courier New"/>
              </a:rPr>
              <a:t>std::array&lt;uint8_t, </a:t>
            </a:r>
            <a:r>
              <a:rPr lang="en-US" sz="1350" dirty="0">
                <a:solidFill>
                  <a:srgbClr val="F78C6C"/>
                </a:solidFill>
                <a:latin typeface="Courier New"/>
                <a:cs typeface="Courier New"/>
              </a:rPr>
              <a:t>7</a:t>
            </a:r>
            <a:r>
              <a:rPr lang="en-US" sz="1350" dirty="0">
                <a:solidFill>
                  <a:srgbClr val="82AAFF"/>
                </a:solidFill>
                <a:latin typeface="Courier New"/>
                <a:cs typeface="Courier New"/>
              </a:rPr>
              <a:t>&gt;</a:t>
            </a:r>
            <a:r>
              <a:rPr lang="en-US" sz="1350" dirty="0">
                <a:solidFill>
                  <a:srgbClr val="E6E9EF"/>
                </a:solidFill>
                <a:latin typeface="Courier New"/>
                <a:cs typeface="Courier New"/>
              </a:rPr>
              <a:t> data;        </a:t>
            </a:r>
            <a:r>
              <a:rPr lang="en-US" sz="1350" dirty="0">
                <a:solidFill>
                  <a:srgbClr val="F07178"/>
                </a:solidFill>
                <a:latin typeface="Courier New"/>
                <a:cs typeface="Courier New"/>
              </a:rPr>
              <a:t>// error: std::type</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F07178"/>
                </a:solidFill>
                <a:latin typeface="Courier New"/>
                <a:cs typeface="Courier New"/>
              </a:rPr>
              <a:t>// data is not initialized</a:t>
            </a:r>
            <a:endParaRPr lang="en-US" sz="1350" dirty="0">
              <a:latin typeface="Courier New"/>
              <a:cs typeface="Courier New"/>
            </a:endParaRPr>
          </a:p>
          <a:p>
            <a:pPr>
              <a:lnSpc>
                <a:spcPct val="100000"/>
              </a:lnSpc>
            </a:pP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C792EA"/>
                </a:solidFill>
                <a:latin typeface="Courier New"/>
                <a:cs typeface="Courier New"/>
              </a:rPr>
              <a:t>for</a:t>
            </a:r>
            <a:r>
              <a:rPr lang="en-US" sz="1350" dirty="0">
                <a:solidFill>
                  <a:srgbClr val="E6E9EF"/>
                </a:solidFill>
                <a:latin typeface="Courier New"/>
                <a:cs typeface="Courier New"/>
              </a:rPr>
              <a:t> (</a:t>
            </a:r>
            <a:r>
              <a:rPr lang="en-US" sz="1350" dirty="0">
                <a:solidFill>
                  <a:srgbClr val="82AAFF"/>
                </a:solidFill>
                <a:latin typeface="Courier New"/>
                <a:cs typeface="Courier New"/>
              </a:rPr>
              <a:t>size_t</a:t>
            </a:r>
            <a:r>
              <a:rPr lang="en-US" sz="1350" dirty="0">
                <a:solidFill>
                  <a:srgbClr val="E6E9EF"/>
                </a:solidFill>
                <a:latin typeface="Courier New"/>
                <a:cs typeface="Courier New"/>
              </a:rPr>
              <a:t> i = </a:t>
            </a:r>
            <a:r>
              <a:rPr lang="en-US" sz="1350" dirty="0">
                <a:solidFill>
                  <a:srgbClr val="F78C6C"/>
                </a:solidFill>
                <a:latin typeface="Courier New"/>
                <a:cs typeface="Courier New"/>
              </a:rPr>
              <a:t>0</a:t>
            </a:r>
            <a:r>
              <a:rPr lang="en-US" sz="1350" dirty="0">
                <a:solidFill>
                  <a:srgbClr val="E6E9EF"/>
                </a:solidFill>
                <a:latin typeface="Courier New"/>
                <a:cs typeface="Courier New"/>
              </a:rPr>
              <a:t>; i &lt; </a:t>
            </a:r>
            <a:r>
              <a:rPr lang="en-US" sz="1350" dirty="0">
                <a:solidFill>
                  <a:srgbClr val="F78C6C"/>
                </a:solidFill>
                <a:latin typeface="Courier New"/>
                <a:cs typeface="Courier New"/>
              </a:rPr>
              <a:t>6</a:t>
            </a:r>
            <a:r>
              <a:rPr lang="en-US" sz="1350" dirty="0">
                <a:solidFill>
                  <a:srgbClr val="E6E9EF"/>
                </a:solidFill>
                <a:latin typeface="Courier New"/>
                <a:cs typeface="Courier New"/>
              </a:rPr>
              <a:t>; ++i)</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        data[i] = address[i] &lt;&lt; </a:t>
            </a:r>
            <a:r>
              <a:rPr lang="en-US" sz="1350" dirty="0">
                <a:solidFill>
                  <a:srgbClr val="F78C6C"/>
                </a:solidFill>
                <a:latin typeface="Courier New"/>
                <a:cs typeface="Courier New"/>
              </a:rPr>
              <a:t>1</a:t>
            </a:r>
            <a:r>
              <a:rPr lang="en-US" sz="1350" dirty="0">
                <a:solidFill>
                  <a:srgbClr val="E6E9EF"/>
                </a:solidFill>
                <a:latin typeface="Courier New"/>
                <a:cs typeface="Courier New"/>
              </a:rPr>
              <a:t>;      </a:t>
            </a:r>
            <a:r>
              <a:rPr lang="en-US" sz="1350" dirty="0">
                <a:solidFill>
                  <a:srgbClr val="F07178"/>
                </a:solidFill>
                <a:latin typeface="Courier New"/>
                <a:cs typeface="Courier New"/>
              </a:rPr>
              <a:t>// error: std::arithmetic</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F07178"/>
                </a:solidFill>
                <a:latin typeface="Courier New"/>
                <a:cs typeface="Courier New"/>
              </a:rPr>
              <a:t>// int narrows to uint8_t</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FFCB6B"/>
                </a:solidFill>
                <a:latin typeface="Courier New"/>
                <a:cs typeface="Courier New"/>
              </a:rPr>
              <a:t>// checked: std::bounds</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FFCB6B"/>
                </a:solidFill>
                <a:latin typeface="Courier New"/>
                <a:cs typeface="Courier New"/>
              </a:rPr>
              <a:t>// i &lt; address.size(), at run time</a:t>
            </a:r>
            <a:endParaRPr lang="en-US" sz="1350" dirty="0">
              <a:latin typeface="Courier New"/>
              <a:cs typeface="Courier New"/>
            </a:endParaRPr>
          </a:p>
          <a:p>
            <a:pPr>
              <a:lnSpc>
                <a:spcPct val="100000"/>
              </a:lnSpc>
            </a:pPr>
            <a:endParaRPr lang="en-US" sz="1350" dirty="0">
              <a:latin typeface="Courier New"/>
              <a:cs typeface="Courier New"/>
            </a:endParaRPr>
          </a:p>
          <a:p>
            <a:pPr>
              <a:lnSpc>
                <a:spcPct val="100000"/>
              </a:lnSpc>
            </a:pPr>
            <a:r>
              <a:rPr lang="en-US" sz="1350" dirty="0">
                <a:solidFill>
                  <a:srgbClr val="E6E9EF"/>
                </a:solidFill>
                <a:latin typeface="Courier New"/>
                <a:cs typeface="Courier New"/>
              </a:rPr>
              <a:t>    data[</a:t>
            </a:r>
            <a:r>
              <a:rPr lang="en-US" sz="1350" dirty="0">
                <a:solidFill>
                  <a:srgbClr val="F78C6C"/>
                </a:solidFill>
                <a:latin typeface="Courier New"/>
                <a:cs typeface="Courier New"/>
              </a:rPr>
              <a:t>6</a:t>
            </a:r>
            <a:r>
              <a:rPr lang="en-US" sz="1350" dirty="0">
                <a:solidFill>
                  <a:srgbClr val="E6E9EF"/>
                </a:solidFill>
                <a:latin typeface="Courier New"/>
                <a:cs typeface="Courier New"/>
              </a:rPr>
              <a:t>] |= ssid &lt;&lt; </a:t>
            </a:r>
            <a:r>
              <a:rPr lang="en-US" sz="1350" dirty="0">
                <a:solidFill>
                  <a:srgbClr val="F78C6C"/>
                </a:solidFill>
                <a:latin typeface="Courier New"/>
                <a:cs typeface="Courier New"/>
              </a:rPr>
              <a:t>1</a:t>
            </a:r>
            <a:r>
              <a:rPr lang="en-US" sz="1350" dirty="0">
                <a:solidFill>
                  <a:srgbClr val="E6E9EF"/>
                </a:solidFill>
                <a:latin typeface="Courier New"/>
                <a:cs typeface="Courier New"/>
              </a:rPr>
              <a:t>;               </a:t>
            </a:r>
            <a:r>
              <a:rPr lang="en-US" sz="1350" dirty="0">
                <a:solidFill>
                  <a:srgbClr val="F07178"/>
                </a:solidFill>
                <a:latin typeface="Courier New"/>
                <a:cs typeface="Courier New"/>
              </a:rPr>
              <a:t>// error: std::arithmetic</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F07178"/>
                </a:solidFill>
                <a:latin typeface="Courier New"/>
                <a:cs typeface="Courier New"/>
              </a:rPr>
              <a:t>// int narrows to uint8_t</a:t>
            </a:r>
            <a:endParaRPr lang="en-US" sz="1350" dirty="0">
              <a:latin typeface="Courier New"/>
              <a:cs typeface="Courier New"/>
            </a:endParaRPr>
          </a:p>
          <a:p>
            <a:pPr>
              <a:lnSpc>
                <a:spcPct val="100000"/>
              </a:lnSpc>
            </a:pPr>
            <a:endParaRPr lang="en-US" sz="1350" dirty="0">
              <a:latin typeface="Courier New"/>
              <a:cs typeface="Courier New"/>
            </a:endParaRPr>
          </a:p>
          <a:p>
            <a:pPr>
              <a:lnSpc>
                <a:spcPct val="100000"/>
              </a:lnSpc>
            </a:pPr>
            <a:r>
              <a:rPr lang="en-US" sz="1350" dirty="0">
                <a:solidFill>
                  <a:srgbClr val="E6E9EF"/>
                </a:solidFill>
                <a:latin typeface="Courier New"/>
                <a:cs typeface="Courier New"/>
              </a:rPr>
              <a:t>    </a:t>
            </a:r>
            <a:r>
              <a:rPr lang="en-US" sz="1350" dirty="0">
                <a:solidFill>
                  <a:srgbClr val="C792EA"/>
                </a:solidFill>
                <a:latin typeface="Courier New"/>
                <a:cs typeface="Courier New"/>
              </a:rPr>
              <a:t>return</a:t>
            </a:r>
            <a:r>
              <a:rPr lang="en-US" sz="1350" dirty="0">
                <a:solidFill>
                  <a:srgbClr val="E6E9EF"/>
                </a:solidFill>
                <a:latin typeface="Courier New"/>
                <a:cs typeface="Courier New"/>
              </a:rPr>
              <a:t> data;</a:t>
            </a:r>
            <a:endParaRPr lang="en-US" sz="1350" dirty="0">
              <a:latin typeface="Courier New"/>
              <a:cs typeface="Courier New"/>
            </a:endParaRPr>
          </a:p>
          <a:p>
            <a:pPr>
              <a:lnSpc>
                <a:spcPct val="100000"/>
              </a:lnSpc>
            </a:pPr>
            <a:r>
              <a:rPr lang="en-US" sz="1350" dirty="0">
                <a:solidFill>
                  <a:srgbClr val="E6E9EF"/>
                </a:solidFill>
                <a:latin typeface="Courier New"/>
                <a:cs typeface="Courier New"/>
              </a:rPr>
              <a:t>}</a:t>
            </a:r>
            <a:endParaRPr lang="en-US" sz="1350" dirty="0">
              <a:latin typeface="Courier New"/>
              <a:cs typeface="Courier New"/>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Signal/</a:t>
            </a:r>
            <a:r>
              <a:rPr lang="en-US" sz="1400" b="1" dirty="0">
                <a:solidFill>
                  <a:srgbClr val="1A1A1A"/>
                </a:solidFill>
              </a:rPr>
              <a:t>R</a:t>
            </a:r>
            <a:r>
              <a:rPr sz="1400" b="1" dirty="0">
                <a:solidFill>
                  <a:srgbClr val="1A1A1A"/>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Atomicity/</a:t>
            </a:r>
            <a:r>
              <a:rPr lang="en-US" sz="1400" b="1" dirty="0">
                <a:solidFill>
                  <a:srgbClr val="1A1A1A"/>
                </a:solidFill>
              </a:rPr>
              <a:t>O</a:t>
            </a:r>
            <a:r>
              <a:rPr sz="1400" b="1" dirty="0">
                <a:solidFill>
                  <a:srgbClr val="1A1A1A"/>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Non-</a:t>
            </a:r>
            <a:r>
              <a:rPr lang="en-US" sz="1400" b="1" dirty="0">
                <a:solidFill>
                  <a:srgbClr val="1A1A1A"/>
                </a:solidFill>
              </a:rPr>
              <a:t>M</a:t>
            </a:r>
            <a:r>
              <a:rPr sz="1400" b="1" dirty="0">
                <a:solidFill>
                  <a:srgbClr val="1A1A1A"/>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FFFFFF"/>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Contracts coverage</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De</a:t>
            </a:r>
            <a:r>
              <a:rPr sz="1400" b="1" dirty="0">
                <a:solidFill>
                  <a:srgbClr val="1A1A1A"/>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Toolchain/Optimizer</a:t>
            </a:r>
            <a:endParaRPr sz="1400" b="1" dirty="0">
              <a:solidFill>
                <a:schemeClr val="tx1"/>
              </a:solidFill>
            </a:endParaRPr>
          </a:p>
        </p:txBody>
      </p:sp>
    </p:spTree>
    <p:extLst>
      <p:ext uri="{BB962C8B-B14F-4D97-AF65-F5344CB8AC3E}">
        <p14:creationId xmlns:p14="http://schemas.microsoft.com/office/powerpoint/2010/main" val="27892587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A111-3A0C-C98C-1272-B34340BD89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F42DE4-BBB2-62FE-F112-43C69D99522D}"/>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DA147696-511A-6BCF-0475-C357F0B9E827}"/>
              </a:ext>
            </a:extLst>
          </p:cNvPr>
          <p:cNvSpPr/>
          <p:nvPr/>
        </p:nvSpPr>
        <p:spPr>
          <a:xfrm>
            <a:off x="5776264" y="1712531"/>
            <a:ext cx="1634947"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FFFFFF"/>
                </a:solidFill>
              </a:rPr>
              <a:t>Initialization</a:t>
            </a:r>
          </a:p>
        </p:txBody>
      </p:sp>
      <p:sp>
        <p:nvSpPr>
          <p:cNvPr id="6" name="Rounded Rectangle 5">
            <a:extLst>
              <a:ext uri="{FF2B5EF4-FFF2-40B4-BE49-F238E27FC236}">
                <a16:creationId xmlns:a16="http://schemas.microsoft.com/office/drawing/2014/main" id="{6E6AB5A3-4AFA-421A-3F73-512F800249BE}"/>
              </a:ext>
            </a:extLst>
          </p:cNvPr>
          <p:cNvSpPr/>
          <p:nvPr/>
        </p:nvSpPr>
        <p:spPr>
          <a:xfrm>
            <a:off x="7511796" y="1712531"/>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Lifetime</a:t>
            </a:r>
          </a:p>
        </p:txBody>
      </p:sp>
      <p:sp>
        <p:nvSpPr>
          <p:cNvPr id="7" name="Rounded Rectangle 6">
            <a:extLst>
              <a:ext uri="{FF2B5EF4-FFF2-40B4-BE49-F238E27FC236}">
                <a16:creationId xmlns:a16="http://schemas.microsoft.com/office/drawing/2014/main" id="{4A7708D4-0B42-8A75-BA9F-FC8F166A618F}"/>
              </a:ext>
            </a:extLst>
          </p:cNvPr>
          <p:cNvSpPr/>
          <p:nvPr/>
        </p:nvSpPr>
        <p:spPr>
          <a:xfrm>
            <a:off x="8687714" y="1712531"/>
            <a:ext cx="702259"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Null</a:t>
            </a:r>
          </a:p>
        </p:txBody>
      </p:sp>
      <p:sp>
        <p:nvSpPr>
          <p:cNvPr id="8" name="Rounded Rectangle 7">
            <a:extLst>
              <a:ext uri="{FF2B5EF4-FFF2-40B4-BE49-F238E27FC236}">
                <a16:creationId xmlns:a16="http://schemas.microsoft.com/office/drawing/2014/main" id="{BA5B2613-A7EF-D1F1-6901-81840A1FCFBC}"/>
              </a:ext>
            </a:extLst>
          </p:cNvPr>
          <p:cNvSpPr/>
          <p:nvPr/>
        </p:nvSpPr>
        <p:spPr>
          <a:xfrm>
            <a:off x="9490557" y="1712531"/>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Alignment</a:t>
            </a:r>
          </a:p>
        </p:txBody>
      </p:sp>
      <p:sp>
        <p:nvSpPr>
          <p:cNvPr id="9" name="Rounded Rectangle 8">
            <a:extLst>
              <a:ext uri="{FF2B5EF4-FFF2-40B4-BE49-F238E27FC236}">
                <a16:creationId xmlns:a16="http://schemas.microsoft.com/office/drawing/2014/main" id="{63257D53-711C-1718-C2F5-F2DCCD74E011}"/>
              </a:ext>
            </a:extLst>
          </p:cNvPr>
          <p:cNvSpPr/>
          <p:nvPr/>
        </p:nvSpPr>
        <p:spPr>
          <a:xfrm>
            <a:off x="10759744" y="1712531"/>
            <a:ext cx="1075334"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FFFFFF"/>
                </a:solidFill>
              </a:rPr>
              <a:t>Aliasing</a:t>
            </a:r>
          </a:p>
        </p:txBody>
      </p:sp>
      <p:cxnSp>
        <p:nvCxnSpPr>
          <p:cNvPr id="10" name="Connector 9">
            <a:extLst>
              <a:ext uri="{FF2B5EF4-FFF2-40B4-BE49-F238E27FC236}">
                <a16:creationId xmlns:a16="http://schemas.microsoft.com/office/drawing/2014/main" id="{17446CEA-CFCD-6A8C-5E7D-F9BDE2C1FE22}"/>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BCB532-EFBA-3A90-5E44-60BF67DDB086}"/>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9D014964-1F90-4E1C-4A4B-01699F081A19}"/>
              </a:ext>
            </a:extLst>
          </p:cNvPr>
          <p:cNvSpPr/>
          <p:nvPr/>
        </p:nvSpPr>
        <p:spPr>
          <a:xfrm>
            <a:off x="4786884" y="2277935"/>
            <a:ext cx="702259"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Type</a:t>
            </a:r>
          </a:p>
        </p:txBody>
      </p:sp>
      <p:sp>
        <p:nvSpPr>
          <p:cNvPr id="13" name="Rounded Rectangle 12">
            <a:extLst>
              <a:ext uri="{FF2B5EF4-FFF2-40B4-BE49-F238E27FC236}">
                <a16:creationId xmlns:a16="http://schemas.microsoft.com/office/drawing/2014/main" id="{5D37E737-12A2-2722-702B-BAC5993CC37D}"/>
              </a:ext>
            </a:extLst>
          </p:cNvPr>
          <p:cNvSpPr/>
          <p:nvPr/>
        </p:nvSpPr>
        <p:spPr>
          <a:xfrm>
            <a:off x="5589727" y="2277935"/>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Arithmetic</a:t>
            </a:r>
          </a:p>
        </p:txBody>
      </p:sp>
      <p:sp>
        <p:nvSpPr>
          <p:cNvPr id="14" name="Rounded Rectangle 13">
            <a:extLst>
              <a:ext uri="{FF2B5EF4-FFF2-40B4-BE49-F238E27FC236}">
                <a16:creationId xmlns:a16="http://schemas.microsoft.com/office/drawing/2014/main" id="{8C548321-A21B-16B2-08C9-5DD5CCF14490}"/>
              </a:ext>
            </a:extLst>
          </p:cNvPr>
          <p:cNvSpPr/>
          <p:nvPr/>
        </p:nvSpPr>
        <p:spPr>
          <a:xfrm>
            <a:off x="6952183" y="2277935"/>
            <a:ext cx="1261872"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Conversion</a:t>
            </a:r>
          </a:p>
        </p:txBody>
      </p:sp>
      <p:sp>
        <p:nvSpPr>
          <p:cNvPr id="15" name="Rounded Rectangle 14">
            <a:extLst>
              <a:ext uri="{FF2B5EF4-FFF2-40B4-BE49-F238E27FC236}">
                <a16:creationId xmlns:a16="http://schemas.microsoft.com/office/drawing/2014/main" id="{18E90813-579A-909F-BA37-F3F0E1FD114E}"/>
              </a:ext>
            </a:extLst>
          </p:cNvPr>
          <p:cNvSpPr/>
          <p:nvPr/>
        </p:nvSpPr>
        <p:spPr>
          <a:xfrm>
            <a:off x="8314639" y="2277935"/>
            <a:ext cx="795528" cy="365760"/>
          </a:xfrm>
          <a:prstGeom prst="roundRect">
            <a:avLst>
              <a:gd name="adj" fmla="val 50000"/>
            </a:avLst>
          </a:prstGeom>
          <a:solidFill>
            <a:srgbClr val="D9A63A"/>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FFFFFF"/>
                </a:solidFill>
              </a:rPr>
              <a:t>Const</a:t>
            </a:r>
          </a:p>
        </p:txBody>
      </p:sp>
      <p:sp>
        <p:nvSpPr>
          <p:cNvPr id="16" name="Rounded Rectangle 15">
            <a:extLst>
              <a:ext uri="{FF2B5EF4-FFF2-40B4-BE49-F238E27FC236}">
                <a16:creationId xmlns:a16="http://schemas.microsoft.com/office/drawing/2014/main" id="{D606A614-0960-BCDC-0BFE-DA0F7C57C00A}"/>
              </a:ext>
            </a:extLst>
          </p:cNvPr>
          <p:cNvSpPr/>
          <p:nvPr/>
        </p:nvSpPr>
        <p:spPr>
          <a:xfrm>
            <a:off x="9210751" y="2277935"/>
            <a:ext cx="70225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Enum</a:t>
            </a:r>
          </a:p>
        </p:txBody>
      </p:sp>
      <p:sp>
        <p:nvSpPr>
          <p:cNvPr id="17" name="Rounded Rectangle 16">
            <a:extLst>
              <a:ext uri="{FF2B5EF4-FFF2-40B4-BE49-F238E27FC236}">
                <a16:creationId xmlns:a16="http://schemas.microsoft.com/office/drawing/2014/main" id="{452E6BAC-473A-7C6C-29AB-9E7E39FCA69E}"/>
              </a:ext>
            </a:extLst>
          </p:cNvPr>
          <p:cNvSpPr/>
          <p:nvPr/>
        </p:nvSpPr>
        <p:spPr>
          <a:xfrm>
            <a:off x="10013594" y="2277935"/>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Floating point</a:t>
            </a:r>
          </a:p>
        </p:txBody>
      </p:sp>
      <p:cxnSp>
        <p:nvCxnSpPr>
          <p:cNvPr id="18" name="Connector 17">
            <a:extLst>
              <a:ext uri="{FF2B5EF4-FFF2-40B4-BE49-F238E27FC236}">
                <a16:creationId xmlns:a16="http://schemas.microsoft.com/office/drawing/2014/main" id="{5E5B38E1-B53A-6D23-A34E-1148D136DCD6}"/>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DD9033C-00B5-413A-BAFB-0617C13812F4}"/>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7CE3AACB-923C-071F-4F46-EDC1527E30D2}"/>
              </a:ext>
            </a:extLst>
          </p:cNvPr>
          <p:cNvSpPr/>
          <p:nvPr/>
        </p:nvSpPr>
        <p:spPr>
          <a:xfrm>
            <a:off x="4786884" y="33615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Exception safety</a:t>
            </a:r>
          </a:p>
        </p:txBody>
      </p:sp>
      <p:sp>
        <p:nvSpPr>
          <p:cNvPr id="21" name="Rounded Rectangle 20">
            <a:extLst>
              <a:ext uri="{FF2B5EF4-FFF2-40B4-BE49-F238E27FC236}">
                <a16:creationId xmlns:a16="http://schemas.microsoft.com/office/drawing/2014/main" id="{1F73840A-0FF0-8D4A-2460-20549EC175C2}"/>
              </a:ext>
            </a:extLst>
          </p:cNvPr>
          <p:cNvSpPr/>
          <p:nvPr/>
        </p:nvSpPr>
        <p:spPr>
          <a:xfrm>
            <a:off x="6708952" y="3361502"/>
            <a:ext cx="163494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Error handling</a:t>
            </a:r>
          </a:p>
        </p:txBody>
      </p:sp>
      <p:sp>
        <p:nvSpPr>
          <p:cNvPr id="22" name="Rounded Rectangle 21">
            <a:extLst>
              <a:ext uri="{FF2B5EF4-FFF2-40B4-BE49-F238E27FC236}">
                <a16:creationId xmlns:a16="http://schemas.microsoft.com/office/drawing/2014/main" id="{C1B1B396-DAAE-D67D-A015-5FB434DBA990}"/>
              </a:ext>
            </a:extLst>
          </p:cNvPr>
          <p:cNvSpPr/>
          <p:nvPr/>
        </p:nvSpPr>
        <p:spPr>
          <a:xfrm>
            <a:off x="8444484" y="3361502"/>
            <a:ext cx="191475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Signal/</a:t>
            </a:r>
            <a:r>
              <a:rPr lang="en-US" sz="1400" b="1" dirty="0">
                <a:solidFill>
                  <a:srgbClr val="1A1A1A"/>
                </a:solidFill>
              </a:rPr>
              <a:t>R</a:t>
            </a:r>
            <a:r>
              <a:rPr sz="1400" b="1" dirty="0">
                <a:solidFill>
                  <a:srgbClr val="1A1A1A"/>
                </a:solidFill>
              </a:rPr>
              <a:t>eentrancy</a:t>
            </a:r>
          </a:p>
        </p:txBody>
      </p:sp>
      <p:sp>
        <p:nvSpPr>
          <p:cNvPr id="23" name="Rounded Rectangle 22">
            <a:extLst>
              <a:ext uri="{FF2B5EF4-FFF2-40B4-BE49-F238E27FC236}">
                <a16:creationId xmlns:a16="http://schemas.microsoft.com/office/drawing/2014/main" id="{639123EC-A80E-902E-974C-4A06DF175BA5}"/>
              </a:ext>
            </a:extLst>
          </p:cNvPr>
          <p:cNvSpPr/>
          <p:nvPr/>
        </p:nvSpPr>
        <p:spPr>
          <a:xfrm>
            <a:off x="9190633" y="3828926"/>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Evaluation order</a:t>
            </a:r>
          </a:p>
        </p:txBody>
      </p:sp>
      <p:sp>
        <p:nvSpPr>
          <p:cNvPr id="24" name="Rounded Rectangle 23">
            <a:extLst>
              <a:ext uri="{FF2B5EF4-FFF2-40B4-BE49-F238E27FC236}">
                <a16:creationId xmlns:a16="http://schemas.microsoft.com/office/drawing/2014/main" id="{441D26C1-5AD8-BEF8-AEB8-E8C7912ED648}"/>
              </a:ext>
            </a:extLst>
          </p:cNvPr>
          <p:cNvSpPr/>
          <p:nvPr/>
        </p:nvSpPr>
        <p:spPr>
          <a:xfrm>
            <a:off x="4786884" y="3818702"/>
            <a:ext cx="182148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Forward progress</a:t>
            </a:r>
          </a:p>
        </p:txBody>
      </p:sp>
      <p:sp>
        <p:nvSpPr>
          <p:cNvPr id="25" name="Rounded Rectangle 24">
            <a:extLst>
              <a:ext uri="{FF2B5EF4-FFF2-40B4-BE49-F238E27FC236}">
                <a16:creationId xmlns:a16="http://schemas.microsoft.com/office/drawing/2014/main" id="{CCC6CA34-BD17-0BE7-907D-995B56154CAF}"/>
              </a:ext>
            </a:extLst>
          </p:cNvPr>
          <p:cNvSpPr/>
          <p:nvPr/>
        </p:nvSpPr>
        <p:spPr>
          <a:xfrm>
            <a:off x="6708952" y="3818702"/>
            <a:ext cx="238109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Control-flow integrity</a:t>
            </a:r>
          </a:p>
        </p:txBody>
      </p:sp>
      <p:cxnSp>
        <p:nvCxnSpPr>
          <p:cNvPr id="26" name="Connector 25">
            <a:extLst>
              <a:ext uri="{FF2B5EF4-FFF2-40B4-BE49-F238E27FC236}">
                <a16:creationId xmlns:a16="http://schemas.microsoft.com/office/drawing/2014/main" id="{B6673E57-9A69-863E-2525-828F8D31854D}"/>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5F85B1C-3AF5-13F5-736B-0282691E8843}"/>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5FD843EB-8686-BC35-6FC2-E248795F7388}"/>
              </a:ext>
            </a:extLst>
          </p:cNvPr>
          <p:cNvSpPr/>
          <p:nvPr/>
        </p:nvSpPr>
        <p:spPr>
          <a:xfrm>
            <a:off x="4786884" y="4403408"/>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Data races</a:t>
            </a:r>
          </a:p>
        </p:txBody>
      </p:sp>
      <p:sp>
        <p:nvSpPr>
          <p:cNvPr id="29" name="Rounded Rectangle 28">
            <a:extLst>
              <a:ext uri="{FF2B5EF4-FFF2-40B4-BE49-F238E27FC236}">
                <a16:creationId xmlns:a16="http://schemas.microsoft.com/office/drawing/2014/main" id="{4D9ABDEB-D585-80E4-F998-68AE5D06427E}"/>
              </a:ext>
            </a:extLst>
          </p:cNvPr>
          <p:cNvSpPr/>
          <p:nvPr/>
        </p:nvSpPr>
        <p:spPr>
          <a:xfrm>
            <a:off x="6149340" y="4403408"/>
            <a:ext cx="200802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Atomicity/</a:t>
            </a:r>
            <a:r>
              <a:rPr lang="en-US" sz="1400" b="1" dirty="0">
                <a:solidFill>
                  <a:srgbClr val="1A1A1A"/>
                </a:solidFill>
              </a:rPr>
              <a:t>O</a:t>
            </a:r>
            <a:r>
              <a:rPr sz="1400" b="1" dirty="0">
                <a:solidFill>
                  <a:srgbClr val="1A1A1A"/>
                </a:solidFill>
              </a:rPr>
              <a:t>rdering</a:t>
            </a:r>
          </a:p>
        </p:txBody>
      </p:sp>
      <p:sp>
        <p:nvSpPr>
          <p:cNvPr id="30" name="Rounded Rectangle 29">
            <a:extLst>
              <a:ext uri="{FF2B5EF4-FFF2-40B4-BE49-F238E27FC236}">
                <a16:creationId xmlns:a16="http://schemas.microsoft.com/office/drawing/2014/main" id="{07EAE752-C660-3E55-00F7-CA87DA65C15C}"/>
              </a:ext>
            </a:extLst>
          </p:cNvPr>
          <p:cNvSpPr/>
          <p:nvPr/>
        </p:nvSpPr>
        <p:spPr>
          <a:xfrm>
            <a:off x="8257946" y="4403408"/>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Liveness</a:t>
            </a:r>
          </a:p>
        </p:txBody>
      </p:sp>
      <p:cxnSp>
        <p:nvCxnSpPr>
          <p:cNvPr id="31" name="Connector 30">
            <a:extLst>
              <a:ext uri="{FF2B5EF4-FFF2-40B4-BE49-F238E27FC236}">
                <a16:creationId xmlns:a16="http://schemas.microsoft.com/office/drawing/2014/main" id="{8B4239B9-C978-9F43-DFA2-8918A2DE85EA}"/>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FDAB37C-9CA9-7202-C597-A05C805C6289}"/>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E6EC55BF-2329-9FB0-F4A9-AB931EBCE810}"/>
              </a:ext>
            </a:extLst>
          </p:cNvPr>
          <p:cNvSpPr/>
          <p:nvPr/>
        </p:nvSpPr>
        <p:spPr>
          <a:xfrm>
            <a:off x="4786884" y="5002847"/>
            <a:ext cx="1261872"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Allocation</a:t>
            </a:r>
          </a:p>
        </p:txBody>
      </p:sp>
      <p:sp>
        <p:nvSpPr>
          <p:cNvPr id="34" name="Rounded Rectangle 33">
            <a:extLst>
              <a:ext uri="{FF2B5EF4-FFF2-40B4-BE49-F238E27FC236}">
                <a16:creationId xmlns:a16="http://schemas.microsoft.com/office/drawing/2014/main" id="{CA88E5EC-BA52-A7AF-AB75-4DA72AAB8802}"/>
              </a:ext>
            </a:extLst>
          </p:cNvPr>
          <p:cNvSpPr/>
          <p:nvPr/>
        </p:nvSpPr>
        <p:spPr>
          <a:xfrm>
            <a:off x="6149340" y="5002847"/>
            <a:ext cx="795528"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Stack</a:t>
            </a:r>
          </a:p>
        </p:txBody>
      </p:sp>
      <p:sp>
        <p:nvSpPr>
          <p:cNvPr id="35" name="Rounded Rectangle 34">
            <a:extLst>
              <a:ext uri="{FF2B5EF4-FFF2-40B4-BE49-F238E27FC236}">
                <a16:creationId xmlns:a16="http://schemas.microsoft.com/office/drawing/2014/main" id="{548D0F3D-ECE5-19A0-3B5B-90E1B3CCDD33}"/>
              </a:ext>
            </a:extLst>
          </p:cNvPr>
          <p:cNvSpPr/>
          <p:nvPr/>
        </p:nvSpPr>
        <p:spPr>
          <a:xfrm>
            <a:off x="7045452" y="5002847"/>
            <a:ext cx="219456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Non-</a:t>
            </a:r>
            <a:r>
              <a:rPr lang="en-US" sz="1400" b="1" dirty="0">
                <a:solidFill>
                  <a:srgbClr val="1A1A1A"/>
                </a:solidFill>
              </a:rPr>
              <a:t>M</a:t>
            </a:r>
            <a:r>
              <a:rPr sz="1400" b="1" dirty="0">
                <a:solidFill>
                  <a:srgbClr val="1A1A1A"/>
                </a:solidFill>
              </a:rPr>
              <a:t>emory resources</a:t>
            </a:r>
          </a:p>
        </p:txBody>
      </p:sp>
      <p:cxnSp>
        <p:nvCxnSpPr>
          <p:cNvPr id="36" name="Connector 35">
            <a:extLst>
              <a:ext uri="{FF2B5EF4-FFF2-40B4-BE49-F238E27FC236}">
                <a16:creationId xmlns:a16="http://schemas.microsoft.com/office/drawing/2014/main" id="{9EB09387-7C8B-20A3-2B05-A51C20D5B65D}"/>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53228DBB-618D-698E-6A62-1176823D4982}"/>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1FF02C33-816B-8F09-C4F5-8DF77C670F53}"/>
              </a:ext>
            </a:extLst>
          </p:cNvPr>
          <p:cNvSpPr/>
          <p:nvPr/>
        </p:nvSpPr>
        <p:spPr>
          <a:xfrm>
            <a:off x="4787900" y="5606352"/>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ODR/IFNDR</a:t>
            </a:r>
          </a:p>
        </p:txBody>
      </p:sp>
      <p:sp>
        <p:nvSpPr>
          <p:cNvPr id="39" name="Rounded Rectangle 38">
            <a:extLst>
              <a:ext uri="{FF2B5EF4-FFF2-40B4-BE49-F238E27FC236}">
                <a16:creationId xmlns:a16="http://schemas.microsoft.com/office/drawing/2014/main" id="{9087176A-2352-632F-6980-803A8E79A200}"/>
              </a:ext>
            </a:extLst>
          </p:cNvPr>
          <p:cNvSpPr/>
          <p:nvPr/>
        </p:nvSpPr>
        <p:spPr>
          <a:xfrm>
            <a:off x="6057087" y="5606352"/>
            <a:ext cx="608990"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rgbClr val="1A1A1A"/>
                </a:solidFill>
              </a:rPr>
              <a:t>ABI</a:t>
            </a:r>
          </a:p>
        </p:txBody>
      </p:sp>
      <p:cxnSp>
        <p:nvCxnSpPr>
          <p:cNvPr id="40" name="Connector 39">
            <a:extLst>
              <a:ext uri="{FF2B5EF4-FFF2-40B4-BE49-F238E27FC236}">
                <a16:creationId xmlns:a16="http://schemas.microsoft.com/office/drawing/2014/main" id="{E5F7A19E-F51A-EC35-BDA6-D9339336A9F8}"/>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993ED8BF-0105-7B43-DA18-055C3A29D898}"/>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8A3EA2F-1291-40ED-B90C-6A0FBAFC89C9}"/>
              </a:ext>
            </a:extLst>
          </p:cNvPr>
          <p:cNvSpPr/>
          <p:nvPr/>
        </p:nvSpPr>
        <p:spPr>
          <a:xfrm>
            <a:off x="4786884" y="6209855"/>
            <a:ext cx="982065"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Strings</a:t>
            </a:r>
          </a:p>
        </p:txBody>
      </p:sp>
      <p:sp>
        <p:nvSpPr>
          <p:cNvPr id="43" name="Rounded Rectangle 42">
            <a:extLst>
              <a:ext uri="{FF2B5EF4-FFF2-40B4-BE49-F238E27FC236}">
                <a16:creationId xmlns:a16="http://schemas.microsoft.com/office/drawing/2014/main" id="{00D2D2C0-E35D-9B21-E28F-28A1D5DB213D}"/>
              </a:ext>
            </a:extLst>
          </p:cNvPr>
          <p:cNvSpPr/>
          <p:nvPr/>
        </p:nvSpPr>
        <p:spPr>
          <a:xfrm>
            <a:off x="5869533" y="6209855"/>
            <a:ext cx="107533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Variadic</a:t>
            </a:r>
          </a:p>
        </p:txBody>
      </p:sp>
      <p:sp>
        <p:nvSpPr>
          <p:cNvPr id="44" name="Rounded Rectangle 43">
            <a:extLst>
              <a:ext uri="{FF2B5EF4-FFF2-40B4-BE49-F238E27FC236}">
                <a16:creationId xmlns:a16="http://schemas.microsoft.com/office/drawing/2014/main" id="{22C44E19-64A4-B435-53B1-17B425E3E882}"/>
              </a:ext>
            </a:extLst>
          </p:cNvPr>
          <p:cNvSpPr/>
          <p:nvPr/>
        </p:nvSpPr>
        <p:spPr>
          <a:xfrm>
            <a:off x="7045452" y="6209855"/>
            <a:ext cx="1168603"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rgbClr val="1A1A1A"/>
                </a:solidFill>
              </a:rPr>
              <a:t>Units</a:t>
            </a:r>
          </a:p>
        </p:txBody>
      </p:sp>
      <p:sp>
        <p:nvSpPr>
          <p:cNvPr id="75" name="Rounded Rectangle 8">
            <a:extLst>
              <a:ext uri="{FF2B5EF4-FFF2-40B4-BE49-F238E27FC236}">
                <a16:creationId xmlns:a16="http://schemas.microsoft.com/office/drawing/2014/main" id="{246B4378-6053-3C6C-684B-79C3D6EA7413}"/>
              </a:ext>
            </a:extLst>
          </p:cNvPr>
          <p:cNvSpPr/>
          <p:nvPr/>
        </p:nvSpPr>
        <p:spPr>
          <a:xfrm>
            <a:off x="4786884" y="1705928"/>
            <a:ext cx="888796" cy="365760"/>
          </a:xfrm>
          <a:prstGeom prst="roundRect">
            <a:avLst>
              <a:gd name="adj" fmla="val 50000"/>
            </a:avLst>
          </a:prstGeom>
          <a:solidFill>
            <a:srgbClr val="4E9A51"/>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FFFFFF"/>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883927EF-F5FE-024F-0168-B7D95EDC6A35}"/>
              </a:ext>
            </a:extLst>
          </p:cNvPr>
          <p:cNvSpPr>
            <a:spLocks noGrp="1"/>
          </p:cNvSpPr>
          <p:nvPr>
            <p:ph type="title"/>
          </p:nvPr>
        </p:nvSpPr>
        <p:spPr/>
        <p:txBody>
          <a:bodyPr/>
          <a:lstStyle/>
          <a:p>
            <a:r>
              <a:rPr lang="en-US" dirty="0"/>
              <a:t>Profiles coverage</a:t>
            </a:r>
          </a:p>
        </p:txBody>
      </p:sp>
      <p:sp>
        <p:nvSpPr>
          <p:cNvPr id="47" name="Rounded Rectangle 8">
            <a:extLst>
              <a:ext uri="{FF2B5EF4-FFF2-40B4-BE49-F238E27FC236}">
                <a16:creationId xmlns:a16="http://schemas.microsoft.com/office/drawing/2014/main" id="{66FD33FE-9C09-8723-4F59-E2B2FAEE1EC7}"/>
              </a:ext>
            </a:extLst>
          </p:cNvPr>
          <p:cNvSpPr/>
          <p:nvPr/>
        </p:nvSpPr>
        <p:spPr>
          <a:xfrm>
            <a:off x="4782007" y="2796477"/>
            <a:ext cx="126674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7D9C77EA-161B-AA4F-A48E-8A7A864933CB}"/>
              </a:ext>
            </a:extLst>
          </p:cNvPr>
          <p:cNvSpPr/>
          <p:nvPr/>
        </p:nvSpPr>
        <p:spPr>
          <a:xfrm>
            <a:off x="6138367" y="2790763"/>
            <a:ext cx="1426464"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6AC1FBB7-B7BA-0578-7D99-75FCAB0971E8}"/>
              </a:ext>
            </a:extLst>
          </p:cNvPr>
          <p:cNvSpPr/>
          <p:nvPr/>
        </p:nvSpPr>
        <p:spPr>
          <a:xfrm>
            <a:off x="8314639" y="6208070"/>
            <a:ext cx="2000707"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De</a:t>
            </a:r>
            <a:r>
              <a:rPr sz="1400" b="1" dirty="0">
                <a:solidFill>
                  <a:srgbClr val="1A1A1A"/>
                </a:solidFill>
              </a:rPr>
              <a:t>serialization</a:t>
            </a:r>
          </a:p>
        </p:txBody>
      </p:sp>
      <p:sp>
        <p:nvSpPr>
          <p:cNvPr id="54" name="Rounded Rectangle 38">
            <a:extLst>
              <a:ext uri="{FF2B5EF4-FFF2-40B4-BE49-F238E27FC236}">
                <a16:creationId xmlns:a16="http://schemas.microsoft.com/office/drawing/2014/main" id="{8C86E424-0C05-A3C6-1E47-409C6991BD45}"/>
              </a:ext>
            </a:extLst>
          </p:cNvPr>
          <p:cNvSpPr/>
          <p:nvPr/>
        </p:nvSpPr>
        <p:spPr>
          <a:xfrm>
            <a:off x="6766660" y="5608138"/>
            <a:ext cx="2011579" cy="365760"/>
          </a:xfrm>
          <a:prstGeom prst="roundRect">
            <a:avLst>
              <a:gd name="adj" fmla="val 50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rgbClr val="1A1A1A"/>
                </a:solidFill>
              </a:rPr>
              <a:t>Toolchain/Optimizer</a:t>
            </a:r>
            <a:endParaRPr sz="1400" b="1" dirty="0">
              <a:solidFill>
                <a:schemeClr val="tx1"/>
              </a:solidFill>
            </a:endParaRPr>
          </a:p>
        </p:txBody>
      </p:sp>
    </p:spTree>
    <p:extLst>
      <p:ext uri="{BB962C8B-B14F-4D97-AF65-F5344CB8AC3E}">
        <p14:creationId xmlns:p14="http://schemas.microsoft.com/office/powerpoint/2010/main" val="3047110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A917E-8114-91BB-1AF1-DCE0614754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64B114-A8E5-403B-3428-CB3AC5BC14BB}"/>
              </a:ext>
            </a:extLst>
          </p:cNvPr>
          <p:cNvSpPr txBox="1"/>
          <p:nvPr/>
        </p:nvSpPr>
        <p:spPr>
          <a:xfrm>
            <a:off x="1623060" y="2367171"/>
            <a:ext cx="8945880" cy="2123658"/>
          </a:xfrm>
          <a:prstGeom prst="rect">
            <a:avLst/>
          </a:prstGeom>
          <a:noFill/>
        </p:spPr>
        <p:txBody>
          <a:bodyPr wrap="square" rtlCol="0">
            <a:spAutoFit/>
          </a:bodyPr>
          <a:lstStyle/>
          <a:p>
            <a:r>
              <a:rPr lang="en-US" sz="4400" b="1" dirty="0"/>
              <a:t>What if we applied all the existing test detection and hardening tools?</a:t>
            </a:r>
          </a:p>
        </p:txBody>
      </p:sp>
    </p:spTree>
    <p:extLst>
      <p:ext uri="{BB962C8B-B14F-4D97-AF65-F5344CB8AC3E}">
        <p14:creationId xmlns:p14="http://schemas.microsoft.com/office/powerpoint/2010/main" val="37068024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CF88D-1805-C3D8-6461-6BD26F226E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C3F6D8-2AB7-9C46-34E9-424FD63EACF6}"/>
              </a:ext>
            </a:extLst>
          </p:cNvPr>
          <p:cNvSpPr txBox="1"/>
          <p:nvPr/>
        </p:nvSpPr>
        <p:spPr>
          <a:xfrm>
            <a:off x="937260" y="1710746"/>
            <a:ext cx="3246120" cy="369332"/>
          </a:xfrm>
          <a:prstGeom prst="rect">
            <a:avLst/>
          </a:prstGeom>
          <a:noFill/>
        </p:spPr>
        <p:txBody>
          <a:bodyPr wrap="square" lIns="0" tIns="0" rIns="0" bIns="0" anchor="ctr">
            <a:spAutoFit/>
          </a:bodyPr>
          <a:lstStyle/>
          <a:p>
            <a:r>
              <a:rPr sz="2400" b="1" dirty="0">
                <a:solidFill>
                  <a:srgbClr val="1A1A1A"/>
                </a:solidFill>
              </a:rPr>
              <a:t>Memory safety</a:t>
            </a:r>
          </a:p>
        </p:txBody>
      </p:sp>
      <p:sp>
        <p:nvSpPr>
          <p:cNvPr id="5" name="Rounded Rectangle 4">
            <a:extLst>
              <a:ext uri="{FF2B5EF4-FFF2-40B4-BE49-F238E27FC236}">
                <a16:creationId xmlns:a16="http://schemas.microsoft.com/office/drawing/2014/main" id="{2179BFED-0BE3-CF85-0F57-0BDBEFFB9CBC}"/>
              </a:ext>
            </a:extLst>
          </p:cNvPr>
          <p:cNvSpPr/>
          <p:nvPr/>
        </p:nvSpPr>
        <p:spPr>
          <a:xfrm>
            <a:off x="5776264" y="1712531"/>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Initialization</a:t>
            </a:r>
          </a:p>
        </p:txBody>
      </p:sp>
      <p:sp>
        <p:nvSpPr>
          <p:cNvPr id="6" name="Rounded Rectangle 5">
            <a:extLst>
              <a:ext uri="{FF2B5EF4-FFF2-40B4-BE49-F238E27FC236}">
                <a16:creationId xmlns:a16="http://schemas.microsoft.com/office/drawing/2014/main" id="{15460EC2-D51D-ACD1-86DA-2B7DC03AC1A7}"/>
              </a:ext>
            </a:extLst>
          </p:cNvPr>
          <p:cNvSpPr/>
          <p:nvPr/>
        </p:nvSpPr>
        <p:spPr>
          <a:xfrm>
            <a:off x="7511796"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Lifetime</a:t>
            </a:r>
          </a:p>
        </p:txBody>
      </p:sp>
      <p:sp>
        <p:nvSpPr>
          <p:cNvPr id="7" name="Rounded Rectangle 6">
            <a:extLst>
              <a:ext uri="{FF2B5EF4-FFF2-40B4-BE49-F238E27FC236}">
                <a16:creationId xmlns:a16="http://schemas.microsoft.com/office/drawing/2014/main" id="{2D69716D-DC48-8A09-3198-CDD9AE6C08F8}"/>
              </a:ext>
            </a:extLst>
          </p:cNvPr>
          <p:cNvSpPr/>
          <p:nvPr/>
        </p:nvSpPr>
        <p:spPr>
          <a:xfrm>
            <a:off x="8687714" y="1712531"/>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Null</a:t>
            </a:r>
          </a:p>
        </p:txBody>
      </p:sp>
      <p:sp>
        <p:nvSpPr>
          <p:cNvPr id="8" name="Rounded Rectangle 7">
            <a:extLst>
              <a:ext uri="{FF2B5EF4-FFF2-40B4-BE49-F238E27FC236}">
                <a16:creationId xmlns:a16="http://schemas.microsoft.com/office/drawing/2014/main" id="{8C392093-CC64-F751-494B-B964E8B190D3}"/>
              </a:ext>
            </a:extLst>
          </p:cNvPr>
          <p:cNvSpPr/>
          <p:nvPr/>
        </p:nvSpPr>
        <p:spPr>
          <a:xfrm>
            <a:off x="9490557" y="1712531"/>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Alignment</a:t>
            </a:r>
          </a:p>
        </p:txBody>
      </p:sp>
      <p:sp>
        <p:nvSpPr>
          <p:cNvPr id="9" name="Rounded Rectangle 8">
            <a:extLst>
              <a:ext uri="{FF2B5EF4-FFF2-40B4-BE49-F238E27FC236}">
                <a16:creationId xmlns:a16="http://schemas.microsoft.com/office/drawing/2014/main" id="{EB28AF10-8E25-B176-1F72-AD3FF25EDB26}"/>
              </a:ext>
            </a:extLst>
          </p:cNvPr>
          <p:cNvSpPr/>
          <p:nvPr/>
        </p:nvSpPr>
        <p:spPr>
          <a:xfrm>
            <a:off x="10759744" y="1712531"/>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Aliasing</a:t>
            </a:r>
          </a:p>
        </p:txBody>
      </p:sp>
      <p:cxnSp>
        <p:nvCxnSpPr>
          <p:cNvPr id="10" name="Connector 9">
            <a:extLst>
              <a:ext uri="{FF2B5EF4-FFF2-40B4-BE49-F238E27FC236}">
                <a16:creationId xmlns:a16="http://schemas.microsoft.com/office/drawing/2014/main" id="{684A9A3A-1C18-561A-5479-3E07D437F72F}"/>
              </a:ext>
            </a:extLst>
          </p:cNvPr>
          <p:cNvCxnSpPr/>
          <p:nvPr/>
        </p:nvCxnSpPr>
        <p:spPr>
          <a:xfrm>
            <a:off x="937260" y="21666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F0F7FCA-5A2D-E19E-013B-0E34B761830B}"/>
              </a:ext>
            </a:extLst>
          </p:cNvPr>
          <p:cNvSpPr txBox="1"/>
          <p:nvPr/>
        </p:nvSpPr>
        <p:spPr>
          <a:xfrm>
            <a:off x="937260" y="2276150"/>
            <a:ext cx="3246120" cy="369332"/>
          </a:xfrm>
          <a:prstGeom prst="rect">
            <a:avLst/>
          </a:prstGeom>
          <a:noFill/>
        </p:spPr>
        <p:txBody>
          <a:bodyPr wrap="square" lIns="0" tIns="0" rIns="0" bIns="0" anchor="ctr">
            <a:spAutoFit/>
          </a:bodyPr>
          <a:lstStyle/>
          <a:p>
            <a:r>
              <a:rPr sz="2400" b="1" dirty="0">
                <a:solidFill>
                  <a:srgbClr val="1A1A1A"/>
                </a:solidFill>
              </a:rPr>
              <a:t>Type and value safety</a:t>
            </a:r>
          </a:p>
        </p:txBody>
      </p:sp>
      <p:sp>
        <p:nvSpPr>
          <p:cNvPr id="12" name="Rounded Rectangle 11">
            <a:extLst>
              <a:ext uri="{FF2B5EF4-FFF2-40B4-BE49-F238E27FC236}">
                <a16:creationId xmlns:a16="http://schemas.microsoft.com/office/drawing/2014/main" id="{C6C68072-7608-E572-F603-835537CCD971}"/>
              </a:ext>
            </a:extLst>
          </p:cNvPr>
          <p:cNvSpPr/>
          <p:nvPr/>
        </p:nvSpPr>
        <p:spPr>
          <a:xfrm>
            <a:off x="4786884"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Type</a:t>
            </a:r>
          </a:p>
        </p:txBody>
      </p:sp>
      <p:sp>
        <p:nvSpPr>
          <p:cNvPr id="13" name="Rounded Rectangle 12">
            <a:extLst>
              <a:ext uri="{FF2B5EF4-FFF2-40B4-BE49-F238E27FC236}">
                <a16:creationId xmlns:a16="http://schemas.microsoft.com/office/drawing/2014/main" id="{EE1769A2-92B9-FED8-CBD8-3778B1686D8B}"/>
              </a:ext>
            </a:extLst>
          </p:cNvPr>
          <p:cNvSpPr/>
          <p:nvPr/>
        </p:nvSpPr>
        <p:spPr>
          <a:xfrm>
            <a:off x="5589727"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Arithmetic</a:t>
            </a:r>
          </a:p>
        </p:txBody>
      </p:sp>
      <p:sp>
        <p:nvSpPr>
          <p:cNvPr id="14" name="Rounded Rectangle 13">
            <a:extLst>
              <a:ext uri="{FF2B5EF4-FFF2-40B4-BE49-F238E27FC236}">
                <a16:creationId xmlns:a16="http://schemas.microsoft.com/office/drawing/2014/main" id="{12949E73-F952-97C5-6ADA-5FC5D2EB4F26}"/>
              </a:ext>
            </a:extLst>
          </p:cNvPr>
          <p:cNvSpPr/>
          <p:nvPr/>
        </p:nvSpPr>
        <p:spPr>
          <a:xfrm>
            <a:off x="6952183" y="2277935"/>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Conversion</a:t>
            </a:r>
          </a:p>
        </p:txBody>
      </p:sp>
      <p:sp>
        <p:nvSpPr>
          <p:cNvPr id="15" name="Rounded Rectangle 14">
            <a:extLst>
              <a:ext uri="{FF2B5EF4-FFF2-40B4-BE49-F238E27FC236}">
                <a16:creationId xmlns:a16="http://schemas.microsoft.com/office/drawing/2014/main" id="{BE4A4B28-A211-17E8-ED71-0AA0D8D15386}"/>
              </a:ext>
            </a:extLst>
          </p:cNvPr>
          <p:cNvSpPr/>
          <p:nvPr/>
        </p:nvSpPr>
        <p:spPr>
          <a:xfrm>
            <a:off x="8314639" y="2277935"/>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Const</a:t>
            </a:r>
          </a:p>
        </p:txBody>
      </p:sp>
      <p:sp>
        <p:nvSpPr>
          <p:cNvPr id="16" name="Rounded Rectangle 15">
            <a:extLst>
              <a:ext uri="{FF2B5EF4-FFF2-40B4-BE49-F238E27FC236}">
                <a16:creationId xmlns:a16="http://schemas.microsoft.com/office/drawing/2014/main" id="{A3656344-CD18-95F2-E78D-9BBC1FC49F1C}"/>
              </a:ext>
            </a:extLst>
          </p:cNvPr>
          <p:cNvSpPr/>
          <p:nvPr/>
        </p:nvSpPr>
        <p:spPr>
          <a:xfrm>
            <a:off x="9210751" y="2277935"/>
            <a:ext cx="70225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Enum</a:t>
            </a:r>
          </a:p>
        </p:txBody>
      </p:sp>
      <p:sp>
        <p:nvSpPr>
          <p:cNvPr id="17" name="Rounded Rectangle 16">
            <a:extLst>
              <a:ext uri="{FF2B5EF4-FFF2-40B4-BE49-F238E27FC236}">
                <a16:creationId xmlns:a16="http://schemas.microsoft.com/office/drawing/2014/main" id="{AAE05BCF-18B1-D60A-8B20-15FD3A8F1EB2}"/>
              </a:ext>
            </a:extLst>
          </p:cNvPr>
          <p:cNvSpPr/>
          <p:nvPr/>
        </p:nvSpPr>
        <p:spPr>
          <a:xfrm>
            <a:off x="10013594" y="2277935"/>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Floating point</a:t>
            </a:r>
          </a:p>
        </p:txBody>
      </p:sp>
      <p:cxnSp>
        <p:nvCxnSpPr>
          <p:cNvPr id="18" name="Connector 17">
            <a:extLst>
              <a:ext uri="{FF2B5EF4-FFF2-40B4-BE49-F238E27FC236}">
                <a16:creationId xmlns:a16="http://schemas.microsoft.com/office/drawing/2014/main" id="{84A9F96C-788F-C8B7-D457-FE40622BF9CF}"/>
              </a:ext>
            </a:extLst>
          </p:cNvPr>
          <p:cNvCxnSpPr/>
          <p:nvPr/>
        </p:nvCxnSpPr>
        <p:spPr>
          <a:xfrm>
            <a:off x="937260" y="3257868"/>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886220E-FBE4-86AC-4E18-62734EE671E6}"/>
              </a:ext>
            </a:extLst>
          </p:cNvPr>
          <p:cNvSpPr txBox="1"/>
          <p:nvPr/>
        </p:nvSpPr>
        <p:spPr>
          <a:xfrm>
            <a:off x="937260" y="3380788"/>
            <a:ext cx="3246120" cy="738664"/>
          </a:xfrm>
          <a:prstGeom prst="rect">
            <a:avLst/>
          </a:prstGeom>
          <a:noFill/>
        </p:spPr>
        <p:txBody>
          <a:bodyPr wrap="square" lIns="0" tIns="0" rIns="0" bIns="0" anchor="ctr">
            <a:spAutoFit/>
          </a:bodyPr>
          <a:lstStyle/>
          <a:p>
            <a:r>
              <a:rPr sz="2400" b="1">
                <a:solidFill>
                  <a:srgbClr val="1A1A1A"/>
                </a:solidFill>
              </a:rPr>
              <a:t>Control flow and error safety</a:t>
            </a:r>
          </a:p>
        </p:txBody>
      </p:sp>
      <p:sp>
        <p:nvSpPr>
          <p:cNvPr id="20" name="Rounded Rectangle 19">
            <a:extLst>
              <a:ext uri="{FF2B5EF4-FFF2-40B4-BE49-F238E27FC236}">
                <a16:creationId xmlns:a16="http://schemas.microsoft.com/office/drawing/2014/main" id="{FBA3571A-18D5-9E89-E83F-FC942ADA80A4}"/>
              </a:ext>
            </a:extLst>
          </p:cNvPr>
          <p:cNvSpPr/>
          <p:nvPr/>
        </p:nvSpPr>
        <p:spPr>
          <a:xfrm>
            <a:off x="4786884" y="33615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Exception safety</a:t>
            </a:r>
          </a:p>
        </p:txBody>
      </p:sp>
      <p:sp>
        <p:nvSpPr>
          <p:cNvPr id="21" name="Rounded Rectangle 20">
            <a:extLst>
              <a:ext uri="{FF2B5EF4-FFF2-40B4-BE49-F238E27FC236}">
                <a16:creationId xmlns:a16="http://schemas.microsoft.com/office/drawing/2014/main" id="{19C75AE4-3CDD-FE9F-6CED-C5D4C9EDD554}"/>
              </a:ext>
            </a:extLst>
          </p:cNvPr>
          <p:cNvSpPr/>
          <p:nvPr/>
        </p:nvSpPr>
        <p:spPr>
          <a:xfrm>
            <a:off x="6708952" y="3361502"/>
            <a:ext cx="163494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Error handling</a:t>
            </a:r>
          </a:p>
        </p:txBody>
      </p:sp>
      <p:sp>
        <p:nvSpPr>
          <p:cNvPr id="22" name="Rounded Rectangle 21">
            <a:extLst>
              <a:ext uri="{FF2B5EF4-FFF2-40B4-BE49-F238E27FC236}">
                <a16:creationId xmlns:a16="http://schemas.microsoft.com/office/drawing/2014/main" id="{81E94895-C098-CD4A-765F-BAEBCA9561FE}"/>
              </a:ext>
            </a:extLst>
          </p:cNvPr>
          <p:cNvSpPr/>
          <p:nvPr/>
        </p:nvSpPr>
        <p:spPr>
          <a:xfrm>
            <a:off x="8444484" y="3361502"/>
            <a:ext cx="191475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Signal/</a:t>
            </a:r>
            <a:r>
              <a:rPr lang="en-US" sz="1400" b="1" dirty="0">
                <a:solidFill>
                  <a:schemeClr val="tx1"/>
                </a:solidFill>
              </a:rPr>
              <a:t>R</a:t>
            </a:r>
            <a:r>
              <a:rPr sz="1400" b="1" dirty="0">
                <a:solidFill>
                  <a:schemeClr val="tx1"/>
                </a:solidFill>
              </a:rPr>
              <a:t>eentrancy</a:t>
            </a:r>
          </a:p>
        </p:txBody>
      </p:sp>
      <p:sp>
        <p:nvSpPr>
          <p:cNvPr id="23" name="Rounded Rectangle 22">
            <a:extLst>
              <a:ext uri="{FF2B5EF4-FFF2-40B4-BE49-F238E27FC236}">
                <a16:creationId xmlns:a16="http://schemas.microsoft.com/office/drawing/2014/main" id="{260BFB26-A717-9990-5D70-80B153C49697}"/>
              </a:ext>
            </a:extLst>
          </p:cNvPr>
          <p:cNvSpPr/>
          <p:nvPr/>
        </p:nvSpPr>
        <p:spPr>
          <a:xfrm>
            <a:off x="9190633" y="3828926"/>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Evaluation order</a:t>
            </a:r>
          </a:p>
        </p:txBody>
      </p:sp>
      <p:sp>
        <p:nvSpPr>
          <p:cNvPr id="24" name="Rounded Rectangle 23">
            <a:extLst>
              <a:ext uri="{FF2B5EF4-FFF2-40B4-BE49-F238E27FC236}">
                <a16:creationId xmlns:a16="http://schemas.microsoft.com/office/drawing/2014/main" id="{C7E38EC7-B3C3-9B3B-AB99-4CFF30576ADF}"/>
              </a:ext>
            </a:extLst>
          </p:cNvPr>
          <p:cNvSpPr/>
          <p:nvPr/>
        </p:nvSpPr>
        <p:spPr>
          <a:xfrm>
            <a:off x="4786884" y="3818702"/>
            <a:ext cx="182148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Forward progress</a:t>
            </a:r>
          </a:p>
        </p:txBody>
      </p:sp>
      <p:sp>
        <p:nvSpPr>
          <p:cNvPr id="25" name="Rounded Rectangle 24">
            <a:extLst>
              <a:ext uri="{FF2B5EF4-FFF2-40B4-BE49-F238E27FC236}">
                <a16:creationId xmlns:a16="http://schemas.microsoft.com/office/drawing/2014/main" id="{BDD47247-96C1-937E-6325-B984D3D530F7}"/>
              </a:ext>
            </a:extLst>
          </p:cNvPr>
          <p:cNvSpPr/>
          <p:nvPr/>
        </p:nvSpPr>
        <p:spPr>
          <a:xfrm>
            <a:off x="6708952" y="3818702"/>
            <a:ext cx="238109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Control-flow integrity</a:t>
            </a:r>
          </a:p>
        </p:txBody>
      </p:sp>
      <p:cxnSp>
        <p:nvCxnSpPr>
          <p:cNvPr id="26" name="Connector 25">
            <a:extLst>
              <a:ext uri="{FF2B5EF4-FFF2-40B4-BE49-F238E27FC236}">
                <a16:creationId xmlns:a16="http://schemas.microsoft.com/office/drawing/2014/main" id="{F0A7DBF7-A083-8C93-85AA-9413F6E48C3B}"/>
              </a:ext>
            </a:extLst>
          </p:cNvPr>
          <p:cNvCxnSpPr>
            <a:cxnSpLocks/>
          </p:cNvCxnSpPr>
          <p:nvPr/>
        </p:nvCxnSpPr>
        <p:spPr>
          <a:xfrm>
            <a:off x="937260" y="4280472"/>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DB79CC5-7373-1232-B769-EBAA632EF512}"/>
              </a:ext>
            </a:extLst>
          </p:cNvPr>
          <p:cNvSpPr txBox="1"/>
          <p:nvPr/>
        </p:nvSpPr>
        <p:spPr>
          <a:xfrm>
            <a:off x="937260" y="4397558"/>
            <a:ext cx="3246120" cy="369332"/>
          </a:xfrm>
          <a:prstGeom prst="rect">
            <a:avLst/>
          </a:prstGeom>
          <a:noFill/>
        </p:spPr>
        <p:txBody>
          <a:bodyPr wrap="square" lIns="0" tIns="0" rIns="0" bIns="0" anchor="ctr">
            <a:spAutoFit/>
          </a:bodyPr>
          <a:lstStyle/>
          <a:p>
            <a:r>
              <a:rPr sz="2400" b="1" dirty="0">
                <a:solidFill>
                  <a:srgbClr val="1A1A1A"/>
                </a:solidFill>
              </a:rPr>
              <a:t>Concurrency safety</a:t>
            </a:r>
          </a:p>
        </p:txBody>
      </p:sp>
      <p:sp>
        <p:nvSpPr>
          <p:cNvPr id="28" name="Rounded Rectangle 27">
            <a:extLst>
              <a:ext uri="{FF2B5EF4-FFF2-40B4-BE49-F238E27FC236}">
                <a16:creationId xmlns:a16="http://schemas.microsoft.com/office/drawing/2014/main" id="{0DAFED41-8E54-A190-1072-3FE4D6957834}"/>
              </a:ext>
            </a:extLst>
          </p:cNvPr>
          <p:cNvSpPr/>
          <p:nvPr/>
        </p:nvSpPr>
        <p:spPr>
          <a:xfrm>
            <a:off x="4786884" y="4403408"/>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Data races</a:t>
            </a:r>
          </a:p>
        </p:txBody>
      </p:sp>
      <p:sp>
        <p:nvSpPr>
          <p:cNvPr id="29" name="Rounded Rectangle 28">
            <a:extLst>
              <a:ext uri="{FF2B5EF4-FFF2-40B4-BE49-F238E27FC236}">
                <a16:creationId xmlns:a16="http://schemas.microsoft.com/office/drawing/2014/main" id="{171212FF-CB31-23F4-C9F7-8C58B03D42F3}"/>
              </a:ext>
            </a:extLst>
          </p:cNvPr>
          <p:cNvSpPr/>
          <p:nvPr/>
        </p:nvSpPr>
        <p:spPr>
          <a:xfrm>
            <a:off x="6149340" y="4403408"/>
            <a:ext cx="200802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Atomicity/</a:t>
            </a:r>
            <a:r>
              <a:rPr lang="en-US" sz="1400" b="1" dirty="0">
                <a:solidFill>
                  <a:schemeClr val="tx1"/>
                </a:solidFill>
              </a:rPr>
              <a:t>O</a:t>
            </a:r>
            <a:r>
              <a:rPr sz="1400" b="1" dirty="0">
                <a:solidFill>
                  <a:schemeClr val="tx1"/>
                </a:solidFill>
              </a:rPr>
              <a:t>rdering</a:t>
            </a:r>
          </a:p>
        </p:txBody>
      </p:sp>
      <p:sp>
        <p:nvSpPr>
          <p:cNvPr id="30" name="Rounded Rectangle 29">
            <a:extLst>
              <a:ext uri="{FF2B5EF4-FFF2-40B4-BE49-F238E27FC236}">
                <a16:creationId xmlns:a16="http://schemas.microsoft.com/office/drawing/2014/main" id="{598449B6-339D-25F2-3D6F-183ACF8A2352}"/>
              </a:ext>
            </a:extLst>
          </p:cNvPr>
          <p:cNvSpPr/>
          <p:nvPr/>
        </p:nvSpPr>
        <p:spPr>
          <a:xfrm>
            <a:off x="8257946" y="4403408"/>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Liveness</a:t>
            </a:r>
          </a:p>
        </p:txBody>
      </p:sp>
      <p:cxnSp>
        <p:nvCxnSpPr>
          <p:cNvPr id="31" name="Connector 30">
            <a:extLst>
              <a:ext uri="{FF2B5EF4-FFF2-40B4-BE49-F238E27FC236}">
                <a16:creationId xmlns:a16="http://schemas.microsoft.com/office/drawing/2014/main" id="{21F6F3B9-DBA5-E4D8-9D93-8B0FD3443BE8}"/>
              </a:ext>
            </a:extLst>
          </p:cNvPr>
          <p:cNvCxnSpPr>
            <a:cxnSpLocks/>
          </p:cNvCxnSpPr>
          <p:nvPr/>
        </p:nvCxnSpPr>
        <p:spPr>
          <a:xfrm>
            <a:off x="937260" y="4883976"/>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FDB6F105-7942-8C55-0B9E-BC79FA6AB21F}"/>
              </a:ext>
            </a:extLst>
          </p:cNvPr>
          <p:cNvSpPr txBox="1"/>
          <p:nvPr/>
        </p:nvSpPr>
        <p:spPr>
          <a:xfrm>
            <a:off x="937260" y="5001062"/>
            <a:ext cx="3246120" cy="369332"/>
          </a:xfrm>
          <a:prstGeom prst="rect">
            <a:avLst/>
          </a:prstGeom>
          <a:noFill/>
        </p:spPr>
        <p:txBody>
          <a:bodyPr wrap="square" lIns="0" tIns="0" rIns="0" bIns="0" anchor="ctr">
            <a:spAutoFit/>
          </a:bodyPr>
          <a:lstStyle/>
          <a:p>
            <a:r>
              <a:rPr sz="2400" b="1" dirty="0">
                <a:solidFill>
                  <a:srgbClr val="1A1A1A"/>
                </a:solidFill>
              </a:rPr>
              <a:t>Resource safety</a:t>
            </a:r>
          </a:p>
        </p:txBody>
      </p:sp>
      <p:sp>
        <p:nvSpPr>
          <p:cNvPr id="33" name="Rounded Rectangle 32">
            <a:extLst>
              <a:ext uri="{FF2B5EF4-FFF2-40B4-BE49-F238E27FC236}">
                <a16:creationId xmlns:a16="http://schemas.microsoft.com/office/drawing/2014/main" id="{089FDF27-43C6-C51E-CAB9-7013CD07F4B6}"/>
              </a:ext>
            </a:extLst>
          </p:cNvPr>
          <p:cNvSpPr/>
          <p:nvPr/>
        </p:nvSpPr>
        <p:spPr>
          <a:xfrm>
            <a:off x="4786884" y="5002847"/>
            <a:ext cx="1261872"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Allocation</a:t>
            </a:r>
          </a:p>
        </p:txBody>
      </p:sp>
      <p:sp>
        <p:nvSpPr>
          <p:cNvPr id="34" name="Rounded Rectangle 33">
            <a:extLst>
              <a:ext uri="{FF2B5EF4-FFF2-40B4-BE49-F238E27FC236}">
                <a16:creationId xmlns:a16="http://schemas.microsoft.com/office/drawing/2014/main" id="{A4DC1A9C-DCBF-4226-7EFE-E57861DD9EDA}"/>
              </a:ext>
            </a:extLst>
          </p:cNvPr>
          <p:cNvSpPr/>
          <p:nvPr/>
        </p:nvSpPr>
        <p:spPr>
          <a:xfrm>
            <a:off x="6149340" y="5002847"/>
            <a:ext cx="795528"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Stack</a:t>
            </a:r>
          </a:p>
        </p:txBody>
      </p:sp>
      <p:sp>
        <p:nvSpPr>
          <p:cNvPr id="35" name="Rounded Rectangle 34">
            <a:extLst>
              <a:ext uri="{FF2B5EF4-FFF2-40B4-BE49-F238E27FC236}">
                <a16:creationId xmlns:a16="http://schemas.microsoft.com/office/drawing/2014/main" id="{7DE72914-2282-5379-4432-C66A144C0629}"/>
              </a:ext>
            </a:extLst>
          </p:cNvPr>
          <p:cNvSpPr/>
          <p:nvPr/>
        </p:nvSpPr>
        <p:spPr>
          <a:xfrm>
            <a:off x="7045452" y="5002847"/>
            <a:ext cx="219456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Non-</a:t>
            </a:r>
            <a:r>
              <a:rPr lang="en-US" sz="1400" b="1" dirty="0">
                <a:solidFill>
                  <a:schemeClr val="tx1"/>
                </a:solidFill>
              </a:rPr>
              <a:t>M</a:t>
            </a:r>
            <a:r>
              <a:rPr sz="1400" b="1" dirty="0">
                <a:solidFill>
                  <a:schemeClr val="tx1"/>
                </a:solidFill>
              </a:rPr>
              <a:t>emory resources</a:t>
            </a:r>
          </a:p>
        </p:txBody>
      </p:sp>
      <p:cxnSp>
        <p:nvCxnSpPr>
          <p:cNvPr id="36" name="Connector 35">
            <a:extLst>
              <a:ext uri="{FF2B5EF4-FFF2-40B4-BE49-F238E27FC236}">
                <a16:creationId xmlns:a16="http://schemas.microsoft.com/office/drawing/2014/main" id="{63AB264B-2C40-F2BF-5D9E-1EB989435702}"/>
              </a:ext>
            </a:extLst>
          </p:cNvPr>
          <p:cNvCxnSpPr>
            <a:cxnSpLocks/>
          </p:cNvCxnSpPr>
          <p:nvPr/>
        </p:nvCxnSpPr>
        <p:spPr>
          <a:xfrm>
            <a:off x="937260" y="5487480"/>
            <a:ext cx="10897818"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7BE2E92B-450B-DF29-0C99-49A059A613FD}"/>
              </a:ext>
            </a:extLst>
          </p:cNvPr>
          <p:cNvSpPr txBox="1"/>
          <p:nvPr/>
        </p:nvSpPr>
        <p:spPr>
          <a:xfrm>
            <a:off x="937260" y="5604566"/>
            <a:ext cx="3921760" cy="369332"/>
          </a:xfrm>
          <a:prstGeom prst="rect">
            <a:avLst/>
          </a:prstGeom>
          <a:noFill/>
        </p:spPr>
        <p:txBody>
          <a:bodyPr wrap="square" lIns="0" tIns="0" rIns="0" bIns="0" anchor="ctr">
            <a:spAutoFit/>
          </a:bodyPr>
          <a:lstStyle/>
          <a:p>
            <a:r>
              <a:rPr sz="2400" b="1" dirty="0">
                <a:solidFill>
                  <a:srgbClr val="1A1A1A"/>
                </a:solidFill>
              </a:rPr>
              <a:t>Structural and build safety</a:t>
            </a:r>
          </a:p>
        </p:txBody>
      </p:sp>
      <p:sp>
        <p:nvSpPr>
          <p:cNvPr id="38" name="Rounded Rectangle 37">
            <a:extLst>
              <a:ext uri="{FF2B5EF4-FFF2-40B4-BE49-F238E27FC236}">
                <a16:creationId xmlns:a16="http://schemas.microsoft.com/office/drawing/2014/main" id="{28C4FF38-2840-9553-791C-3023A88C558B}"/>
              </a:ext>
            </a:extLst>
          </p:cNvPr>
          <p:cNvSpPr/>
          <p:nvPr/>
        </p:nvSpPr>
        <p:spPr>
          <a:xfrm>
            <a:off x="4787900" y="5606352"/>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ODR/IFNDR</a:t>
            </a:r>
          </a:p>
        </p:txBody>
      </p:sp>
      <p:sp>
        <p:nvSpPr>
          <p:cNvPr id="39" name="Rounded Rectangle 38">
            <a:extLst>
              <a:ext uri="{FF2B5EF4-FFF2-40B4-BE49-F238E27FC236}">
                <a16:creationId xmlns:a16="http://schemas.microsoft.com/office/drawing/2014/main" id="{EE9B5F69-D962-A3C8-166B-286C1BB59878}"/>
              </a:ext>
            </a:extLst>
          </p:cNvPr>
          <p:cNvSpPr/>
          <p:nvPr/>
        </p:nvSpPr>
        <p:spPr>
          <a:xfrm>
            <a:off x="6057087" y="5606352"/>
            <a:ext cx="608990"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a:solidFill>
                  <a:schemeClr val="tx1"/>
                </a:solidFill>
              </a:rPr>
              <a:t>ABI</a:t>
            </a:r>
          </a:p>
        </p:txBody>
      </p:sp>
      <p:cxnSp>
        <p:nvCxnSpPr>
          <p:cNvPr id="40" name="Connector 39">
            <a:extLst>
              <a:ext uri="{FF2B5EF4-FFF2-40B4-BE49-F238E27FC236}">
                <a16:creationId xmlns:a16="http://schemas.microsoft.com/office/drawing/2014/main" id="{EFADFEEE-0D38-C2B9-3B83-F95F0DCDADCE}"/>
              </a:ext>
            </a:extLst>
          </p:cNvPr>
          <p:cNvCxnSpPr>
            <a:cxnSpLocks/>
          </p:cNvCxnSpPr>
          <p:nvPr/>
        </p:nvCxnSpPr>
        <p:spPr>
          <a:xfrm>
            <a:off x="937260" y="6090984"/>
            <a:ext cx="10927080" cy="0"/>
          </a:xfrm>
          <a:prstGeom prst="line">
            <a:avLst/>
          </a:prstGeom>
          <a:ln w="12700">
            <a:solidFill>
              <a:srgbClr val="D8D2CA"/>
            </a:solidFill>
          </a:ln>
          <a:effectLst/>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904DF5B-93CB-10CA-47D3-F5BB16B888C6}"/>
              </a:ext>
            </a:extLst>
          </p:cNvPr>
          <p:cNvSpPr txBox="1"/>
          <p:nvPr/>
        </p:nvSpPr>
        <p:spPr>
          <a:xfrm>
            <a:off x="937260" y="6208070"/>
            <a:ext cx="3667760" cy="369332"/>
          </a:xfrm>
          <a:prstGeom prst="rect">
            <a:avLst/>
          </a:prstGeom>
          <a:noFill/>
        </p:spPr>
        <p:txBody>
          <a:bodyPr wrap="square" lIns="0" tIns="0" rIns="0" bIns="0" anchor="ctr">
            <a:spAutoFit/>
          </a:bodyPr>
          <a:lstStyle/>
          <a:p>
            <a:r>
              <a:rPr sz="2400" b="1" dirty="0">
                <a:solidFill>
                  <a:srgbClr val="1A1A1A"/>
                </a:solidFill>
              </a:rPr>
              <a:t>Interface and data safety</a:t>
            </a:r>
          </a:p>
        </p:txBody>
      </p:sp>
      <p:sp>
        <p:nvSpPr>
          <p:cNvPr id="42" name="Rounded Rectangle 41">
            <a:extLst>
              <a:ext uri="{FF2B5EF4-FFF2-40B4-BE49-F238E27FC236}">
                <a16:creationId xmlns:a16="http://schemas.microsoft.com/office/drawing/2014/main" id="{57F2DF3E-1C89-C755-A456-191CAD71685E}"/>
              </a:ext>
            </a:extLst>
          </p:cNvPr>
          <p:cNvSpPr/>
          <p:nvPr/>
        </p:nvSpPr>
        <p:spPr>
          <a:xfrm>
            <a:off x="4786884" y="6209855"/>
            <a:ext cx="982065"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Strings</a:t>
            </a:r>
          </a:p>
        </p:txBody>
      </p:sp>
      <p:sp>
        <p:nvSpPr>
          <p:cNvPr id="43" name="Rounded Rectangle 42">
            <a:extLst>
              <a:ext uri="{FF2B5EF4-FFF2-40B4-BE49-F238E27FC236}">
                <a16:creationId xmlns:a16="http://schemas.microsoft.com/office/drawing/2014/main" id="{1AF7331E-F5AC-A7A1-DD3D-5C0EC0F4A543}"/>
              </a:ext>
            </a:extLst>
          </p:cNvPr>
          <p:cNvSpPr/>
          <p:nvPr/>
        </p:nvSpPr>
        <p:spPr>
          <a:xfrm>
            <a:off x="5869533" y="6209855"/>
            <a:ext cx="107533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Variadic</a:t>
            </a:r>
          </a:p>
        </p:txBody>
      </p:sp>
      <p:sp>
        <p:nvSpPr>
          <p:cNvPr id="44" name="Rounded Rectangle 43">
            <a:extLst>
              <a:ext uri="{FF2B5EF4-FFF2-40B4-BE49-F238E27FC236}">
                <a16:creationId xmlns:a16="http://schemas.microsoft.com/office/drawing/2014/main" id="{701700C5-3E5D-F277-D684-61D53668B49B}"/>
              </a:ext>
            </a:extLst>
          </p:cNvPr>
          <p:cNvSpPr/>
          <p:nvPr/>
        </p:nvSpPr>
        <p:spPr>
          <a:xfrm>
            <a:off x="7045452" y="6209855"/>
            <a:ext cx="1168603"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400" b="1" dirty="0">
                <a:solidFill>
                  <a:schemeClr val="tx1"/>
                </a:solidFill>
              </a:rPr>
              <a:t>Units</a:t>
            </a:r>
          </a:p>
        </p:txBody>
      </p:sp>
      <p:sp>
        <p:nvSpPr>
          <p:cNvPr id="75" name="Rounded Rectangle 8">
            <a:extLst>
              <a:ext uri="{FF2B5EF4-FFF2-40B4-BE49-F238E27FC236}">
                <a16:creationId xmlns:a16="http://schemas.microsoft.com/office/drawing/2014/main" id="{0BBCB936-69DF-D56D-FE1A-7439E81ACE3D}"/>
              </a:ext>
            </a:extLst>
          </p:cNvPr>
          <p:cNvSpPr/>
          <p:nvPr/>
        </p:nvSpPr>
        <p:spPr>
          <a:xfrm>
            <a:off x="4786884" y="1705928"/>
            <a:ext cx="888796"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Bounds</a:t>
            </a:r>
            <a:endParaRPr sz="1400" b="1" dirty="0">
              <a:solidFill>
                <a:schemeClr val="tx1"/>
              </a:solidFill>
            </a:endParaRPr>
          </a:p>
        </p:txBody>
      </p:sp>
      <p:sp>
        <p:nvSpPr>
          <p:cNvPr id="4" name="Title 3">
            <a:extLst>
              <a:ext uri="{FF2B5EF4-FFF2-40B4-BE49-F238E27FC236}">
                <a16:creationId xmlns:a16="http://schemas.microsoft.com/office/drawing/2014/main" id="{03720A3F-34FD-8BE8-68E4-BB51D4145AD0}"/>
              </a:ext>
            </a:extLst>
          </p:cNvPr>
          <p:cNvSpPr>
            <a:spLocks noGrp="1"/>
          </p:cNvSpPr>
          <p:nvPr>
            <p:ph type="title"/>
          </p:nvPr>
        </p:nvSpPr>
        <p:spPr/>
        <p:txBody>
          <a:bodyPr/>
          <a:lstStyle/>
          <a:p>
            <a:r>
              <a:rPr lang="en-US" dirty="0"/>
              <a:t>Profiles and Contracts coverage</a:t>
            </a:r>
          </a:p>
        </p:txBody>
      </p:sp>
      <p:sp>
        <p:nvSpPr>
          <p:cNvPr id="47" name="Rounded Rectangle 8">
            <a:extLst>
              <a:ext uri="{FF2B5EF4-FFF2-40B4-BE49-F238E27FC236}">
                <a16:creationId xmlns:a16="http://schemas.microsoft.com/office/drawing/2014/main" id="{D5BCC64D-FB30-0AB5-A2B2-92F6E820935C}"/>
              </a:ext>
            </a:extLst>
          </p:cNvPr>
          <p:cNvSpPr/>
          <p:nvPr/>
        </p:nvSpPr>
        <p:spPr>
          <a:xfrm>
            <a:off x="4782007" y="2796477"/>
            <a:ext cx="126674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Comparison</a:t>
            </a:r>
            <a:endParaRPr sz="1400" b="1" dirty="0">
              <a:solidFill>
                <a:schemeClr val="tx1"/>
              </a:solidFill>
            </a:endParaRPr>
          </a:p>
        </p:txBody>
      </p:sp>
      <p:sp>
        <p:nvSpPr>
          <p:cNvPr id="49" name="Rounded Rectangle 8">
            <a:extLst>
              <a:ext uri="{FF2B5EF4-FFF2-40B4-BE49-F238E27FC236}">
                <a16:creationId xmlns:a16="http://schemas.microsoft.com/office/drawing/2014/main" id="{FD0A40D1-7585-F412-E2D8-DBB5D5B41A09}"/>
              </a:ext>
            </a:extLst>
          </p:cNvPr>
          <p:cNvSpPr/>
          <p:nvPr/>
        </p:nvSpPr>
        <p:spPr>
          <a:xfrm>
            <a:off x="6138367" y="2790763"/>
            <a:ext cx="1426464"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Object Model</a:t>
            </a:r>
            <a:endParaRPr sz="1400" b="1" dirty="0">
              <a:solidFill>
                <a:schemeClr val="tx1"/>
              </a:solidFill>
            </a:endParaRPr>
          </a:p>
        </p:txBody>
      </p:sp>
      <p:sp>
        <p:nvSpPr>
          <p:cNvPr id="51" name="Rounded Rectangle 43">
            <a:extLst>
              <a:ext uri="{FF2B5EF4-FFF2-40B4-BE49-F238E27FC236}">
                <a16:creationId xmlns:a16="http://schemas.microsoft.com/office/drawing/2014/main" id="{74D2DCDD-F3E6-153F-B4D2-4A42D1A21C3A}"/>
              </a:ext>
            </a:extLst>
          </p:cNvPr>
          <p:cNvSpPr/>
          <p:nvPr/>
        </p:nvSpPr>
        <p:spPr>
          <a:xfrm>
            <a:off x="8314639" y="6208070"/>
            <a:ext cx="2000707"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De</a:t>
            </a:r>
            <a:r>
              <a:rPr sz="1400" b="1" dirty="0">
                <a:solidFill>
                  <a:schemeClr val="tx1"/>
                </a:solidFill>
              </a:rPr>
              <a:t>serialization</a:t>
            </a:r>
          </a:p>
        </p:txBody>
      </p:sp>
      <p:sp>
        <p:nvSpPr>
          <p:cNvPr id="54" name="Rounded Rectangle 38">
            <a:extLst>
              <a:ext uri="{FF2B5EF4-FFF2-40B4-BE49-F238E27FC236}">
                <a16:creationId xmlns:a16="http://schemas.microsoft.com/office/drawing/2014/main" id="{CF8F5407-EF7B-94DF-D989-3F3680E273A7}"/>
              </a:ext>
            </a:extLst>
          </p:cNvPr>
          <p:cNvSpPr/>
          <p:nvPr/>
        </p:nvSpPr>
        <p:spPr>
          <a:xfrm>
            <a:off x="6766660" y="5608138"/>
            <a:ext cx="2011579" cy="365760"/>
          </a:xfrm>
          <a:prstGeom prst="roundRect">
            <a:avLst>
              <a:gd name="adj" fmla="val 50000"/>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lang="en-US" sz="1400" b="1" dirty="0">
                <a:solidFill>
                  <a:schemeClr val="tx1"/>
                </a:solidFill>
              </a:rPr>
              <a:t>Toolchain/Optimizer</a:t>
            </a:r>
            <a:endParaRPr sz="1400" b="1" dirty="0">
              <a:solidFill>
                <a:schemeClr val="tx1"/>
              </a:solidFill>
            </a:endParaRPr>
          </a:p>
        </p:txBody>
      </p:sp>
    </p:spTree>
    <p:extLst>
      <p:ext uri="{BB962C8B-B14F-4D97-AF65-F5344CB8AC3E}">
        <p14:creationId xmlns:p14="http://schemas.microsoft.com/office/powerpoint/2010/main" val="22716736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841248" y="1746504"/>
            <a:ext cx="1280160" cy="822960"/>
          </a:xfrm>
          <a:prstGeom prst="rect">
            <a:avLst/>
          </a:prstGeom>
          <a:noFill/>
          <a:ln/>
        </p:spPr>
        <p:txBody>
          <a:bodyPr wrap="square" lIns="0" tIns="0" rIns="0" bIns="0" rtlCol="0" anchor="t"/>
          <a:lstStyle/>
          <a:p>
            <a:pPr marL="0" indent="0" algn="l">
              <a:buNone/>
            </a:pPr>
            <a:r>
              <a:rPr lang="en-US" sz="5400" b="1" dirty="0">
                <a:solidFill>
                  <a:srgbClr val="156082"/>
                </a:solidFill>
                <a:latin typeface="Aptos" pitchFamily="34" charset="0"/>
                <a:ea typeface="Aptos" pitchFamily="34" charset="-122"/>
                <a:cs typeface="Aptos" pitchFamily="34" charset="-120"/>
              </a:rPr>
              <a:t>01</a:t>
            </a:r>
            <a:endParaRPr lang="en-US" sz="5400" dirty="0"/>
          </a:p>
        </p:txBody>
      </p:sp>
      <p:sp>
        <p:nvSpPr>
          <p:cNvPr id="4" name="Text 2"/>
          <p:cNvSpPr txBox="1"/>
          <p:nvPr/>
        </p:nvSpPr>
        <p:spPr>
          <a:xfrm>
            <a:off x="2240280" y="1764792"/>
            <a:ext cx="9098280" cy="420624"/>
          </a:xfrm>
          <a:prstGeom prst="rect">
            <a:avLst/>
          </a:prstGeom>
          <a:noFill/>
          <a:ln/>
        </p:spPr>
        <p:txBody>
          <a:bodyPr wrap="square" lIns="0" tIns="0" rIns="0" bIns="0" rtlCol="0" anchor="t"/>
          <a:lstStyle/>
          <a:p>
            <a:pPr marL="0" indent="0" algn="l">
              <a:buNone/>
            </a:pPr>
            <a:r>
              <a:rPr lang="en-US" sz="2400" b="1" dirty="0">
                <a:solidFill>
                  <a:srgbClr val="1A1A1A"/>
                </a:solidFill>
                <a:latin typeface="Aptos" pitchFamily="34" charset="0"/>
                <a:ea typeface="Aptos" pitchFamily="34" charset="-122"/>
                <a:cs typeface="Aptos" pitchFamily="34" charset="-120"/>
              </a:rPr>
              <a:t>They enforce what tools already find</a:t>
            </a:r>
            <a:endParaRPr lang="en-US" sz="2400" dirty="0"/>
          </a:p>
        </p:txBody>
      </p:sp>
      <p:sp>
        <p:nvSpPr>
          <p:cNvPr id="5" name="Text 3"/>
          <p:cNvSpPr txBox="1"/>
          <p:nvPr/>
        </p:nvSpPr>
        <p:spPr>
          <a:xfrm>
            <a:off x="2240280" y="2221992"/>
            <a:ext cx="9098280" cy="566928"/>
          </a:xfrm>
          <a:prstGeom prst="rect">
            <a:avLst/>
          </a:prstGeom>
          <a:noFill/>
          <a:ln/>
        </p:spPr>
        <p:txBody>
          <a:bodyPr wrap="square" lIns="0" tIns="0" rIns="0" bIns="0" rtlCol="0" anchor="t"/>
          <a:lstStyle/>
          <a:p>
            <a:pPr marL="0" indent="0" algn="l">
              <a:buNone/>
            </a:pPr>
            <a:r>
              <a:rPr lang="en-US" sz="1600" dirty="0">
                <a:solidFill>
                  <a:srgbClr val="595959"/>
                </a:solidFill>
                <a:latin typeface="Aptos" pitchFamily="34" charset="0"/>
                <a:ea typeface="Aptos" pitchFamily="34" charset="-122"/>
                <a:cs typeface="Aptos" pitchFamily="34" charset="-120"/>
              </a:rPr>
              <a:t>Profiles turn bounds, initialization, casts and narrowing into compile errors. Contracts add run-time checks for null and arithmetic. Warnings, hardening and sanitizers already reach all of these.</a:t>
            </a:r>
            <a:endParaRPr lang="en-US" sz="1600" dirty="0"/>
          </a:p>
        </p:txBody>
      </p:sp>
      <p:sp>
        <p:nvSpPr>
          <p:cNvPr id="6" name="Shape 4"/>
          <p:cNvSpPr/>
          <p:nvPr/>
        </p:nvSpPr>
        <p:spPr>
          <a:xfrm>
            <a:off x="841248" y="2880360"/>
            <a:ext cx="10479024" cy="0"/>
          </a:xfrm>
          <a:prstGeom prst="line">
            <a:avLst/>
          </a:prstGeom>
          <a:noFill/>
          <a:ln w="6350">
            <a:solidFill>
              <a:srgbClr val="C9C4C1"/>
            </a:solidFill>
            <a:prstDash val="solid"/>
          </a:ln>
        </p:spPr>
        <p:txBody>
          <a:bodyPr/>
          <a:lstStyle/>
          <a:p>
            <a:endParaRPr lang="en-US"/>
          </a:p>
        </p:txBody>
      </p:sp>
      <p:sp>
        <p:nvSpPr>
          <p:cNvPr id="7" name="Text 5"/>
          <p:cNvSpPr txBox="1"/>
          <p:nvPr/>
        </p:nvSpPr>
        <p:spPr>
          <a:xfrm>
            <a:off x="841248" y="2962656"/>
            <a:ext cx="1280160" cy="822960"/>
          </a:xfrm>
          <a:prstGeom prst="rect">
            <a:avLst/>
          </a:prstGeom>
          <a:noFill/>
          <a:ln/>
        </p:spPr>
        <p:txBody>
          <a:bodyPr wrap="square" lIns="0" tIns="0" rIns="0" bIns="0" rtlCol="0" anchor="t"/>
          <a:lstStyle/>
          <a:p>
            <a:pPr marL="0" indent="0" algn="l">
              <a:buNone/>
            </a:pPr>
            <a:r>
              <a:rPr lang="en-US" sz="5400" b="1" dirty="0">
                <a:solidFill>
                  <a:srgbClr val="156082"/>
                </a:solidFill>
                <a:latin typeface="Aptos" pitchFamily="34" charset="0"/>
                <a:ea typeface="Aptos" pitchFamily="34" charset="-122"/>
                <a:cs typeface="Aptos" pitchFamily="34" charset="-120"/>
              </a:rPr>
              <a:t>02</a:t>
            </a:r>
            <a:endParaRPr lang="en-US" sz="5400" dirty="0"/>
          </a:p>
        </p:txBody>
      </p:sp>
      <p:sp>
        <p:nvSpPr>
          <p:cNvPr id="8" name="Text 6"/>
          <p:cNvSpPr txBox="1"/>
          <p:nvPr/>
        </p:nvSpPr>
        <p:spPr>
          <a:xfrm>
            <a:off x="2240280" y="2980944"/>
            <a:ext cx="9098280" cy="420624"/>
          </a:xfrm>
          <a:prstGeom prst="rect">
            <a:avLst/>
          </a:prstGeom>
          <a:noFill/>
          <a:ln/>
        </p:spPr>
        <p:txBody>
          <a:bodyPr wrap="square" lIns="0" tIns="0" rIns="0" bIns="0" rtlCol="0" anchor="t"/>
          <a:lstStyle/>
          <a:p>
            <a:pPr marL="0" indent="0" algn="l">
              <a:buNone/>
            </a:pPr>
            <a:r>
              <a:rPr lang="en-US" sz="2400" b="1" dirty="0">
                <a:solidFill>
                  <a:srgbClr val="1A1A1A"/>
                </a:solidFill>
                <a:latin typeface="Aptos" pitchFamily="34" charset="0"/>
                <a:ea typeface="Aptos" pitchFamily="34" charset="-122"/>
                <a:cs typeface="Aptos" pitchFamily="34" charset="-120"/>
              </a:rPr>
              <a:t>They miss lifetime and data races</a:t>
            </a:r>
            <a:endParaRPr lang="en-US" sz="2400" dirty="0"/>
          </a:p>
        </p:txBody>
      </p:sp>
      <p:sp>
        <p:nvSpPr>
          <p:cNvPr id="9" name="Text 7"/>
          <p:cNvSpPr txBox="1"/>
          <p:nvPr/>
        </p:nvSpPr>
        <p:spPr>
          <a:xfrm>
            <a:off x="2240280" y="3438144"/>
            <a:ext cx="9098280" cy="566928"/>
          </a:xfrm>
          <a:prstGeom prst="rect">
            <a:avLst/>
          </a:prstGeom>
          <a:noFill/>
          <a:ln/>
        </p:spPr>
        <p:txBody>
          <a:bodyPr wrap="square" lIns="0" tIns="0" rIns="0" bIns="0" rtlCol="0" anchor="t"/>
          <a:lstStyle/>
          <a:p>
            <a:pPr marL="0" indent="0" algn="l">
              <a:buNone/>
            </a:pPr>
            <a:r>
              <a:rPr lang="en-US" sz="1600" dirty="0">
                <a:solidFill>
                  <a:srgbClr val="595959"/>
                </a:solidFill>
                <a:latin typeface="Aptos" pitchFamily="34" charset="0"/>
                <a:ea typeface="Aptos" pitchFamily="34" charset="-122"/>
                <a:cs typeface="Aptos" pitchFamily="34" charset="-120"/>
              </a:rPr>
              <a:t>Lifetime is the second largest group of CVEs, and neither one can stop a dangling view, reference or iterator. Nothing covers data races. Of 82 cases of core language UB, only 18 can be checked locally.</a:t>
            </a:r>
            <a:endParaRPr lang="en-US" sz="1600" dirty="0"/>
          </a:p>
        </p:txBody>
      </p:sp>
      <p:sp>
        <p:nvSpPr>
          <p:cNvPr id="10" name="Shape 8"/>
          <p:cNvSpPr/>
          <p:nvPr/>
        </p:nvSpPr>
        <p:spPr>
          <a:xfrm>
            <a:off x="841248" y="4096512"/>
            <a:ext cx="10479024" cy="0"/>
          </a:xfrm>
          <a:prstGeom prst="line">
            <a:avLst/>
          </a:prstGeom>
          <a:noFill/>
          <a:ln w="6350">
            <a:solidFill>
              <a:srgbClr val="C9C4C1"/>
            </a:solidFill>
            <a:prstDash val="solid"/>
          </a:ln>
        </p:spPr>
        <p:txBody>
          <a:bodyPr/>
          <a:lstStyle/>
          <a:p>
            <a:endParaRPr lang="en-US"/>
          </a:p>
        </p:txBody>
      </p:sp>
      <p:sp>
        <p:nvSpPr>
          <p:cNvPr id="11" name="Text 9"/>
          <p:cNvSpPr txBox="1"/>
          <p:nvPr/>
        </p:nvSpPr>
        <p:spPr>
          <a:xfrm>
            <a:off x="841248" y="4178808"/>
            <a:ext cx="1280160" cy="822960"/>
          </a:xfrm>
          <a:prstGeom prst="rect">
            <a:avLst/>
          </a:prstGeom>
          <a:noFill/>
          <a:ln/>
        </p:spPr>
        <p:txBody>
          <a:bodyPr wrap="square" lIns="0" tIns="0" rIns="0" bIns="0" rtlCol="0" anchor="t"/>
          <a:lstStyle/>
          <a:p>
            <a:pPr marL="0" indent="0" algn="l">
              <a:buNone/>
            </a:pPr>
            <a:r>
              <a:rPr lang="en-US" sz="5400" b="1" dirty="0">
                <a:solidFill>
                  <a:srgbClr val="156082"/>
                </a:solidFill>
                <a:latin typeface="Aptos" pitchFamily="34" charset="0"/>
                <a:ea typeface="Aptos" pitchFamily="34" charset="-122"/>
                <a:cs typeface="Aptos" pitchFamily="34" charset="-120"/>
              </a:rPr>
              <a:t>03</a:t>
            </a:r>
            <a:endParaRPr lang="en-US" sz="5400" dirty="0"/>
          </a:p>
        </p:txBody>
      </p:sp>
      <p:sp>
        <p:nvSpPr>
          <p:cNvPr id="12" name="Text 10"/>
          <p:cNvSpPr txBox="1"/>
          <p:nvPr/>
        </p:nvSpPr>
        <p:spPr>
          <a:xfrm>
            <a:off x="2240280" y="4197096"/>
            <a:ext cx="9098280" cy="420624"/>
          </a:xfrm>
          <a:prstGeom prst="rect">
            <a:avLst/>
          </a:prstGeom>
          <a:noFill/>
          <a:ln/>
        </p:spPr>
        <p:txBody>
          <a:bodyPr wrap="square" lIns="0" tIns="0" rIns="0" bIns="0" rtlCol="0" anchor="t"/>
          <a:lstStyle/>
          <a:p>
            <a:pPr marL="0" indent="0" algn="l">
              <a:buNone/>
            </a:pPr>
            <a:r>
              <a:rPr lang="en-US" sz="2400" b="1" dirty="0">
                <a:solidFill>
                  <a:srgbClr val="1A1A1A"/>
                </a:solidFill>
                <a:latin typeface="Aptos" pitchFamily="34" charset="0"/>
                <a:ea typeface="Aptos" pitchFamily="34" charset="-122"/>
                <a:cs typeface="Aptos" pitchFamily="34" charset="-120"/>
              </a:rPr>
              <a:t>They only cover code that opts in</a:t>
            </a:r>
            <a:endParaRPr lang="en-US" sz="2400" dirty="0"/>
          </a:p>
        </p:txBody>
      </p:sp>
      <p:sp>
        <p:nvSpPr>
          <p:cNvPr id="13" name="Text 11"/>
          <p:cNvSpPr txBox="1"/>
          <p:nvPr/>
        </p:nvSpPr>
        <p:spPr>
          <a:xfrm>
            <a:off x="2240280" y="4654296"/>
            <a:ext cx="9098280" cy="566928"/>
          </a:xfrm>
          <a:prstGeom prst="rect">
            <a:avLst/>
          </a:prstGeom>
          <a:noFill/>
          <a:ln/>
        </p:spPr>
        <p:txBody>
          <a:bodyPr wrap="square" lIns="0" tIns="0" rIns="0" bIns="0" rtlCol="0" anchor="t"/>
          <a:lstStyle/>
          <a:p>
            <a:pPr marL="0" indent="0" algn="l">
              <a:buNone/>
            </a:pPr>
            <a:r>
              <a:rPr lang="en-US" sz="1600" dirty="0">
                <a:solidFill>
                  <a:srgbClr val="595959"/>
                </a:solidFill>
                <a:latin typeface="Aptos" pitchFamily="34" charset="0"/>
                <a:ea typeface="Aptos" pitchFamily="34" charset="-122"/>
                <a:cs typeface="Aptos" pitchFamily="34" charset="-120"/>
              </a:rPr>
              <a:t>A profile applies to the files that enforce it, and one attribute opts a statement back out. A contract has to be written by hand, and the build can ignore it. Profiles are still a proposal for C++29.</a:t>
            </a:r>
            <a:endParaRPr lang="en-US" sz="1600" dirty="0"/>
          </a:p>
        </p:txBody>
      </p:sp>
      <p:sp>
        <p:nvSpPr>
          <p:cNvPr id="14" name="Shape 12"/>
          <p:cNvSpPr/>
          <p:nvPr/>
        </p:nvSpPr>
        <p:spPr>
          <a:xfrm>
            <a:off x="841248" y="5312664"/>
            <a:ext cx="10479024" cy="0"/>
          </a:xfrm>
          <a:prstGeom prst="line">
            <a:avLst/>
          </a:prstGeom>
          <a:noFill/>
          <a:ln w="6350">
            <a:solidFill>
              <a:srgbClr val="C9C4C1"/>
            </a:solidFill>
            <a:prstDash val="solid"/>
          </a:ln>
        </p:spPr>
        <p:txBody>
          <a:bodyPr/>
          <a:lstStyle/>
          <a:p>
            <a:endParaRPr lang="en-US"/>
          </a:p>
        </p:txBody>
      </p:sp>
      <p:sp>
        <p:nvSpPr>
          <p:cNvPr id="15" name="Text 13"/>
          <p:cNvSpPr txBox="1"/>
          <p:nvPr/>
        </p:nvSpPr>
        <p:spPr>
          <a:xfrm>
            <a:off x="841248" y="5394960"/>
            <a:ext cx="1280160" cy="822960"/>
          </a:xfrm>
          <a:prstGeom prst="rect">
            <a:avLst/>
          </a:prstGeom>
          <a:noFill/>
          <a:ln/>
        </p:spPr>
        <p:txBody>
          <a:bodyPr wrap="square" lIns="0" tIns="0" rIns="0" bIns="0" rtlCol="0" anchor="t"/>
          <a:lstStyle/>
          <a:p>
            <a:pPr marL="0" indent="0" algn="l">
              <a:buNone/>
            </a:pPr>
            <a:r>
              <a:rPr lang="en-US" sz="5400" b="1" dirty="0">
                <a:solidFill>
                  <a:srgbClr val="156082"/>
                </a:solidFill>
                <a:latin typeface="Aptos" pitchFamily="34" charset="0"/>
                <a:ea typeface="Aptos" pitchFamily="34" charset="-122"/>
                <a:cs typeface="Aptos" pitchFamily="34" charset="-120"/>
              </a:rPr>
              <a:t>04</a:t>
            </a:r>
            <a:endParaRPr lang="en-US" sz="5400" dirty="0"/>
          </a:p>
        </p:txBody>
      </p:sp>
      <p:sp>
        <p:nvSpPr>
          <p:cNvPr id="16" name="Text 14"/>
          <p:cNvSpPr txBox="1"/>
          <p:nvPr/>
        </p:nvSpPr>
        <p:spPr>
          <a:xfrm>
            <a:off x="2240280" y="5413248"/>
            <a:ext cx="9098280" cy="420624"/>
          </a:xfrm>
          <a:prstGeom prst="rect">
            <a:avLst/>
          </a:prstGeom>
          <a:noFill/>
          <a:ln/>
        </p:spPr>
        <p:txBody>
          <a:bodyPr wrap="square" lIns="0" tIns="0" rIns="0" bIns="0" rtlCol="0" anchor="t"/>
          <a:lstStyle/>
          <a:p>
            <a:pPr marL="0" indent="0" algn="l">
              <a:buNone/>
            </a:pPr>
            <a:r>
              <a:rPr lang="en-US" sz="2400" b="1" dirty="0">
                <a:solidFill>
                  <a:srgbClr val="1A1A1A"/>
                </a:solidFill>
                <a:latin typeface="Aptos" pitchFamily="34" charset="0"/>
                <a:ea typeface="Aptos" pitchFamily="34" charset="-122"/>
                <a:cs typeface="Aptos" pitchFamily="34" charset="-120"/>
              </a:rPr>
              <a:t>Contracts can start a safety culture</a:t>
            </a:r>
            <a:endParaRPr lang="en-US" sz="2400" dirty="0"/>
          </a:p>
        </p:txBody>
      </p:sp>
      <p:sp>
        <p:nvSpPr>
          <p:cNvPr id="17" name="Text 15"/>
          <p:cNvSpPr txBox="1"/>
          <p:nvPr/>
        </p:nvSpPr>
        <p:spPr>
          <a:xfrm>
            <a:off x="2240280" y="5870448"/>
            <a:ext cx="9098280" cy="566928"/>
          </a:xfrm>
          <a:prstGeom prst="rect">
            <a:avLst/>
          </a:prstGeom>
          <a:noFill/>
          <a:ln/>
        </p:spPr>
        <p:txBody>
          <a:bodyPr wrap="square" lIns="0" tIns="0" rIns="0" bIns="0" rtlCol="0" anchor="t"/>
          <a:lstStyle/>
          <a:p>
            <a:pPr marL="0" indent="0" algn="l">
              <a:buNone/>
            </a:pPr>
            <a:r>
              <a:rPr lang="en-US" sz="1600" dirty="0">
                <a:solidFill>
                  <a:srgbClr val="595959"/>
                </a:solidFill>
                <a:latin typeface="Aptos" pitchFamily="34" charset="0"/>
                <a:ea typeface="Aptos" pitchFamily="34" charset="-122"/>
                <a:cs typeface="Aptos" pitchFamily="34" charset="-120"/>
              </a:rPr>
              <a:t>Contracts put what a function expects into its declaration, where callers, reviewers and tools can see it. That habit is worth building, but a contract is only as good as the person who wrote it.</a:t>
            </a:r>
            <a:endParaRPr lang="en-US" sz="1600" dirty="0"/>
          </a:p>
        </p:txBody>
      </p:sp>
      <p:sp>
        <p:nvSpPr>
          <p:cNvPr id="20" name="Title 19">
            <a:extLst>
              <a:ext uri="{FF2B5EF4-FFF2-40B4-BE49-F238E27FC236}">
                <a16:creationId xmlns:a16="http://schemas.microsoft.com/office/drawing/2014/main" id="{D722038D-4AAE-2273-FFFA-DA8886BDBAEE}"/>
              </a:ext>
            </a:extLst>
          </p:cNvPr>
          <p:cNvSpPr>
            <a:spLocks noGrp="1"/>
          </p:cNvSpPr>
          <p:nvPr>
            <p:ph type="title"/>
          </p:nvPr>
        </p:nvSpPr>
        <p:spPr/>
        <p:txBody>
          <a:bodyPr/>
          <a:lstStyle/>
          <a:p>
            <a:r>
              <a:rPr lang="en-US" dirty="0">
                <a:solidFill>
                  <a:srgbClr val="000000"/>
                </a:solidFill>
                <a:latin typeface="Aptos Display" pitchFamily="34" charset="0"/>
                <a:ea typeface="Aptos Display" pitchFamily="34" charset="-122"/>
                <a:cs typeface="Aptos Display" pitchFamily="34" charset="-120"/>
              </a:rPr>
              <a:t>How effective are profiles and contracts</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77017-DB11-E7FB-3D01-33FEF5792F41}"/>
              </a:ext>
            </a:extLst>
          </p:cNvPr>
          <p:cNvSpPr>
            <a:spLocks noGrp="1"/>
          </p:cNvSpPr>
          <p:nvPr>
            <p:ph type="title"/>
          </p:nvPr>
        </p:nvSpPr>
        <p:spPr/>
        <p:txBody>
          <a:bodyPr/>
          <a:lstStyle/>
          <a:p>
            <a:r>
              <a:rPr lang="en-US" dirty="0"/>
              <a:t>The C++ lifetime and data race examples</a:t>
            </a:r>
          </a:p>
        </p:txBody>
      </p:sp>
      <p:sp>
        <p:nvSpPr>
          <p:cNvPr id="3" name="Text Placeholder 2">
            <a:extLst>
              <a:ext uri="{FF2B5EF4-FFF2-40B4-BE49-F238E27FC236}">
                <a16:creationId xmlns:a16="http://schemas.microsoft.com/office/drawing/2014/main" id="{1C67C6F5-1EFB-CBCB-9CE1-649945F383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76368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36408"/>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What catches each example</a:t>
            </a:r>
            <a:endParaRPr lang="en-US" sz="4400" dirty="0"/>
          </a:p>
        </p:txBody>
      </p:sp>
      <p:sp>
        <p:nvSpPr>
          <p:cNvPr id="11" name="01"/>
          <p:cNvSpPr txBox="1"/>
          <p:nvPr/>
        </p:nvSpPr>
        <p:spPr>
          <a:xfrm>
            <a:off x="841248" y="1645920"/>
            <a:ext cx="822960" cy="786384"/>
          </a:xfrm>
          <a:prstGeom prst="rect">
            <a:avLst/>
          </a:prstGeom>
          <a:noFill/>
          <a:ln>
            <a:noFill/>
          </a:ln>
        </p:spPr>
        <p:txBody>
          <a:bodyPr wrap="none" lIns="0" tIns="0" rIns="0" bIns="0" rtlCol="0" anchor="ctr">
            <a:noAutofit/>
          </a:bodyPr>
          <a:lstStyle/>
          <a:p>
            <a:pPr marL="0" indent="0" algn="l">
              <a:buNone/>
            </a:pPr>
            <a:r>
              <a:rPr lang="en-US" sz="3600" b="1" dirty="0">
                <a:solidFill>
                  <a:srgbClr val="156082"/>
                </a:solidFill>
                <a:latin typeface="Aptos"/>
                <a:ea typeface="Aptos"/>
                <a:cs typeface="Aptos"/>
              </a:rPr>
              <a:t>01</a:t>
            </a:r>
          </a:p>
        </p:txBody>
      </p:sp>
      <p:sp>
        <p:nvSpPr>
          <p:cNvPr id="12" name="A dangling reference preview panel"/>
          <p:cNvSpPr/>
          <p:nvPr/>
        </p:nvSpPr>
        <p:spPr>
          <a:xfrm>
            <a:off x="1828800" y="1755648"/>
            <a:ext cx="2176272" cy="566928"/>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13" name="A dangling reference preview code"/>
          <p:cNvSpPr txBox="1"/>
          <p:nvPr/>
        </p:nvSpPr>
        <p:spPr>
          <a:xfrm>
            <a:off x="1938528" y="1877263"/>
            <a:ext cx="1956816" cy="323698"/>
          </a:xfrm>
          <a:prstGeom prst="rect">
            <a:avLst/>
          </a:prstGeom>
          <a:noFill/>
        </p:spPr>
        <p:txBody>
          <a:bodyPr wrap="none" lIns="0" tIns="0" rIns="0" bIns="0" rtlCol="0" anchor="t">
            <a:noAutofit/>
          </a:bodyPr>
          <a:lstStyle/>
          <a:p>
            <a:pPr>
              <a:lnSpc>
                <a:spcPct val="100000"/>
              </a:lnSpc>
            </a:pPr>
            <a:r>
              <a:rPr lang="en-US" sz="750" b="0" dirty="0">
                <a:solidFill>
                  <a:srgbClr val="C792EA"/>
                </a:solidFill>
                <a:latin typeface="Courier New"/>
                <a:ea typeface="Courier New"/>
                <a:cs typeface="Courier New"/>
              </a:rPr>
              <a:t>int</a:t>
            </a:r>
            <a:r>
              <a:rPr lang="en-US" sz="750" b="0" dirty="0">
                <a:solidFill>
                  <a:srgbClr val="E6E9EF"/>
                </a:solidFill>
                <a:latin typeface="Courier New"/>
                <a:ea typeface="Courier New"/>
                <a:cs typeface="Courier New"/>
              </a:rPr>
              <a:t>&amp; first = v[</a:t>
            </a:r>
            <a:r>
              <a:rPr lang="en-US" sz="750" b="0" dirty="0">
                <a:solidFill>
                  <a:srgbClr val="F78C6C"/>
                </a:solidFill>
                <a:latin typeface="Courier New"/>
                <a:ea typeface="Courier New"/>
                <a:cs typeface="Courier New"/>
              </a:rPr>
              <a:t>0</a:t>
            </a:r>
            <a:r>
              <a:rPr lang="en-US" sz="750" b="0" dirty="0">
                <a:solidFill>
                  <a:srgbClr val="E6E9EF"/>
                </a:solidFill>
                <a:latin typeface="Courier New"/>
                <a:ea typeface="Courier New"/>
                <a:cs typeface="Courier New"/>
              </a:rPr>
              <a:t>];</a:t>
            </a:r>
            <a:endParaRPr lang="en-US" sz="750" dirty="0">
              <a:latin typeface="Courier New"/>
              <a:cs typeface="Courier New"/>
            </a:endParaRPr>
          </a:p>
          <a:p>
            <a:pPr>
              <a:lnSpc>
                <a:spcPct val="100000"/>
              </a:lnSpc>
            </a:pPr>
            <a:r>
              <a:rPr lang="en-US" sz="750" b="0" dirty="0">
                <a:solidFill>
                  <a:srgbClr val="E6E9EF"/>
                </a:solidFill>
                <a:latin typeface="Courier New"/>
                <a:ea typeface="Courier New"/>
                <a:cs typeface="Courier New"/>
              </a:rPr>
              <a:t>v.</a:t>
            </a:r>
            <a:r>
              <a:rPr lang="en-US" sz="750" b="0" dirty="0">
                <a:solidFill>
                  <a:srgbClr val="FFD98C"/>
                </a:solidFill>
                <a:latin typeface="Courier New"/>
                <a:ea typeface="Courier New"/>
                <a:cs typeface="Courier New"/>
              </a:rPr>
              <a:t>push_back</a:t>
            </a:r>
            <a:r>
              <a:rPr lang="en-US" sz="750" b="0" dirty="0">
                <a:solidFill>
                  <a:srgbClr val="E6E9EF"/>
                </a:solidFill>
                <a:latin typeface="Courier New"/>
                <a:ea typeface="Courier New"/>
                <a:cs typeface="Courier New"/>
              </a:rPr>
              <a:t>(</a:t>
            </a:r>
            <a:r>
              <a:rPr lang="en-US" sz="750" b="0" dirty="0">
                <a:solidFill>
                  <a:srgbClr val="F78C6C"/>
                </a:solidFill>
                <a:latin typeface="Courier New"/>
                <a:ea typeface="Courier New"/>
                <a:cs typeface="Courier New"/>
              </a:rPr>
              <a:t>4</a:t>
            </a:r>
            <a:r>
              <a:rPr lang="en-US" sz="750" b="0" dirty="0">
                <a:solidFill>
                  <a:srgbClr val="E6E9EF"/>
                </a:solidFill>
                <a:latin typeface="Courier New"/>
                <a:ea typeface="Courier New"/>
                <a:cs typeface="Courier New"/>
              </a:rPr>
              <a:t>);</a:t>
            </a:r>
            <a:endParaRPr lang="en-US" sz="750" dirty="0">
              <a:latin typeface="Courier New"/>
              <a:cs typeface="Courier New"/>
            </a:endParaRPr>
          </a:p>
          <a:p>
            <a:pPr>
              <a:lnSpc>
                <a:spcPct val="100000"/>
              </a:lnSpc>
            </a:pPr>
            <a:r>
              <a:rPr lang="en-US" sz="750" b="0" dirty="0">
                <a:solidFill>
                  <a:srgbClr val="F07178"/>
                </a:solidFill>
                <a:latin typeface="Courier New"/>
                <a:ea typeface="Courier New"/>
                <a:cs typeface="Courier New"/>
              </a:rPr>
              <a:t>std::cout &lt;&lt; first;</a:t>
            </a:r>
            <a:endParaRPr lang="en-US" sz="750" dirty="0">
              <a:latin typeface="Courier New"/>
              <a:cs typeface="Courier New"/>
            </a:endParaRPr>
          </a:p>
        </p:txBody>
      </p:sp>
      <p:sp>
        <p:nvSpPr>
          <p:cNvPr id="14" name="AddressSanitizer"/>
          <p:cNvSpPr/>
          <p:nvPr/>
        </p:nvSpPr>
        <p:spPr>
          <a:xfrm>
            <a:off x="9505218" y="1856232"/>
            <a:ext cx="1815054" cy="365760"/>
          </a:xfrm>
          <a:prstGeom prst="roundRect">
            <a:avLst>
              <a:gd name="adj" fmla="val 50000"/>
            </a:avLst>
          </a:prstGeom>
          <a:solidFill>
            <a:srgbClr val="D9A63A"/>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AddressSanitizer</a:t>
            </a:r>
          </a:p>
        </p:txBody>
      </p:sp>
      <p:sp>
        <p:nvSpPr>
          <p:cNvPr id="15" name="Static analysis"/>
          <p:cNvSpPr/>
          <p:nvPr/>
        </p:nvSpPr>
        <p:spPr>
          <a:xfrm>
            <a:off x="7798021" y="1856232"/>
            <a:ext cx="1606612" cy="365760"/>
          </a:xfrm>
          <a:prstGeom prst="roundRect">
            <a:avLst>
              <a:gd name="adj" fmla="val 50000"/>
            </a:avLst>
          </a:prstGeom>
          <a:solidFill>
            <a:srgbClr val="4E9A51"/>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Static analysis</a:t>
            </a:r>
          </a:p>
        </p:txBody>
      </p:sp>
      <p:sp>
        <p:nvSpPr>
          <p:cNvPr id="16" name="A dangling reference"/>
          <p:cNvSpPr txBox="1"/>
          <p:nvPr/>
        </p:nvSpPr>
        <p:spPr>
          <a:xfrm>
            <a:off x="4261104" y="1645920"/>
            <a:ext cx="3445477" cy="786384"/>
          </a:xfrm>
          <a:prstGeom prst="rect">
            <a:avLst/>
          </a:prstGeom>
          <a:noFill/>
          <a:ln>
            <a:noFill/>
          </a:ln>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A dangling reference</a:t>
            </a:r>
          </a:p>
        </p:txBody>
      </p:sp>
      <p:cxnSp>
        <p:nvCxnSpPr>
          <p:cNvPr id="17" name="Rule 1"/>
          <p:cNvCxnSpPr/>
          <p:nvPr/>
        </p:nvCxnSpPr>
        <p:spPr>
          <a:xfrm>
            <a:off x="841248" y="2432304"/>
            <a:ext cx="10479024" cy="0"/>
          </a:xfrm>
          <a:prstGeom prst="line">
            <a:avLst/>
          </a:prstGeom>
          <a:ln w="6350">
            <a:solidFill>
              <a:srgbClr val="C9C4C1"/>
            </a:solidFill>
          </a:ln>
        </p:spPr>
      </p:cxnSp>
      <p:sp>
        <p:nvSpPr>
          <p:cNvPr id="18" name="02"/>
          <p:cNvSpPr txBox="1"/>
          <p:nvPr/>
        </p:nvSpPr>
        <p:spPr>
          <a:xfrm>
            <a:off x="841248" y="2432304"/>
            <a:ext cx="822960" cy="786384"/>
          </a:xfrm>
          <a:prstGeom prst="rect">
            <a:avLst/>
          </a:prstGeom>
          <a:noFill/>
          <a:ln>
            <a:noFill/>
          </a:ln>
        </p:spPr>
        <p:txBody>
          <a:bodyPr wrap="none" lIns="0" tIns="0" rIns="0" bIns="0" rtlCol="0" anchor="ctr">
            <a:noAutofit/>
          </a:bodyPr>
          <a:lstStyle/>
          <a:p>
            <a:pPr marL="0" indent="0" algn="l">
              <a:buNone/>
            </a:pPr>
            <a:r>
              <a:rPr lang="en-US" sz="3600" b="1" dirty="0">
                <a:solidFill>
                  <a:srgbClr val="156082"/>
                </a:solidFill>
                <a:latin typeface="Aptos"/>
                <a:ea typeface="Aptos"/>
                <a:cs typeface="Aptos"/>
              </a:rPr>
              <a:t>02</a:t>
            </a:r>
          </a:p>
        </p:txBody>
      </p:sp>
      <p:sp>
        <p:nvSpPr>
          <p:cNvPr id="19" name="A view that outlives its owner preview panel"/>
          <p:cNvSpPr/>
          <p:nvPr/>
        </p:nvSpPr>
        <p:spPr>
          <a:xfrm>
            <a:off x="1828800" y="2542032"/>
            <a:ext cx="2176272" cy="566928"/>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20" name="A view that outlives its owner preview code"/>
          <p:cNvSpPr txBox="1"/>
          <p:nvPr/>
        </p:nvSpPr>
        <p:spPr>
          <a:xfrm>
            <a:off x="1938528" y="2663647"/>
            <a:ext cx="1956816" cy="323698"/>
          </a:xfrm>
          <a:prstGeom prst="rect">
            <a:avLst/>
          </a:prstGeom>
          <a:noFill/>
        </p:spPr>
        <p:txBody>
          <a:bodyPr wrap="none" lIns="0" tIns="0" rIns="0" bIns="0" rtlCol="0" anchor="t">
            <a:noAutofit/>
          </a:bodyPr>
          <a:lstStyle/>
          <a:p>
            <a:pPr>
              <a:lnSpc>
                <a:spcPct val="100000"/>
              </a:lnSpc>
            </a:pPr>
            <a:r>
              <a:rPr lang="en-US" sz="750" b="0" dirty="0">
                <a:solidFill>
                  <a:srgbClr val="82AAFF"/>
                </a:solidFill>
                <a:latin typeface="Courier New"/>
                <a:ea typeface="Courier New"/>
                <a:cs typeface="Courier New"/>
              </a:rPr>
              <a:t>std::string_view</a:t>
            </a:r>
            <a:r>
              <a:rPr lang="en-US" sz="750" b="0" dirty="0">
                <a:solidFill>
                  <a:srgbClr val="E6E9EF"/>
                </a:solidFill>
                <a:latin typeface="Courier New"/>
                <a:ea typeface="Courier New"/>
                <a:cs typeface="Courier New"/>
              </a:rPr>
              <a:t> name =</a:t>
            </a:r>
            <a:endParaRPr lang="en-US" sz="750" dirty="0">
              <a:latin typeface="Courier New"/>
              <a:cs typeface="Courier New"/>
            </a:endParaRPr>
          </a:p>
          <a:p>
            <a:pPr>
              <a:lnSpc>
                <a:spcPct val="100000"/>
              </a:lnSpc>
            </a:pPr>
            <a:r>
              <a:rPr lang="en-US" sz="750" b="0" dirty="0">
                <a:solidFill>
                  <a:srgbClr val="E6E9EF"/>
                </a:solidFill>
                <a:latin typeface="Courier New"/>
                <a:ea typeface="Courier New"/>
                <a:cs typeface="Courier New"/>
              </a:rPr>
              <a:t>    </a:t>
            </a:r>
            <a:r>
              <a:rPr lang="en-US" sz="750" b="0" dirty="0">
                <a:solidFill>
                  <a:srgbClr val="FFD98C"/>
                </a:solidFill>
                <a:latin typeface="Courier New"/>
                <a:ea typeface="Courier New"/>
                <a:cs typeface="Courier New"/>
              </a:rPr>
              <a:t>trim</a:t>
            </a:r>
            <a:r>
              <a:rPr lang="en-US" sz="750" b="0" dirty="0">
                <a:solidFill>
                  <a:srgbClr val="E6E9EF"/>
                </a:solidFill>
                <a:latin typeface="Courier New"/>
                <a:ea typeface="Courier New"/>
                <a:cs typeface="Courier New"/>
              </a:rPr>
              <a:t>(</a:t>
            </a:r>
            <a:r>
              <a:rPr lang="en-US" sz="750" b="0" dirty="0">
                <a:solidFill>
                  <a:srgbClr val="FFD98C"/>
                </a:solidFill>
                <a:latin typeface="Courier New"/>
                <a:ea typeface="Courier New"/>
                <a:cs typeface="Courier New"/>
              </a:rPr>
              <a:t>read_line</a:t>
            </a:r>
            <a:r>
              <a:rPr lang="en-US" sz="750" b="0" dirty="0">
                <a:solidFill>
                  <a:srgbClr val="E6E9EF"/>
                </a:solidFill>
                <a:latin typeface="Courier New"/>
                <a:ea typeface="Courier New"/>
                <a:cs typeface="Courier New"/>
              </a:rPr>
              <a:t>());</a:t>
            </a:r>
            <a:endParaRPr lang="en-US" sz="750" dirty="0">
              <a:latin typeface="Courier New"/>
              <a:cs typeface="Courier New"/>
            </a:endParaRPr>
          </a:p>
          <a:p>
            <a:pPr>
              <a:lnSpc>
                <a:spcPct val="100000"/>
              </a:lnSpc>
            </a:pPr>
            <a:r>
              <a:rPr lang="en-US" sz="750" b="0" dirty="0">
                <a:solidFill>
                  <a:srgbClr val="F07178"/>
                </a:solidFill>
                <a:latin typeface="Courier New"/>
                <a:ea typeface="Courier New"/>
                <a:cs typeface="Courier New"/>
              </a:rPr>
              <a:t>std::cout &lt;&lt; name;</a:t>
            </a:r>
            <a:endParaRPr lang="en-US" sz="750" dirty="0">
              <a:latin typeface="Courier New"/>
              <a:cs typeface="Courier New"/>
            </a:endParaRPr>
          </a:p>
        </p:txBody>
      </p:sp>
      <p:sp>
        <p:nvSpPr>
          <p:cNvPr id="21" name="AddressSanitizer"/>
          <p:cNvSpPr/>
          <p:nvPr/>
        </p:nvSpPr>
        <p:spPr>
          <a:xfrm>
            <a:off x="9505218" y="2642616"/>
            <a:ext cx="1815054" cy="365760"/>
          </a:xfrm>
          <a:prstGeom prst="roundRect">
            <a:avLst>
              <a:gd name="adj" fmla="val 50000"/>
            </a:avLst>
          </a:prstGeom>
          <a:solidFill>
            <a:srgbClr val="D9A63A"/>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AddressSanitizer</a:t>
            </a:r>
          </a:p>
        </p:txBody>
      </p:sp>
      <p:sp>
        <p:nvSpPr>
          <p:cNvPr id="22" name="A view that outlives its owner"/>
          <p:cNvSpPr txBox="1"/>
          <p:nvPr/>
        </p:nvSpPr>
        <p:spPr>
          <a:xfrm>
            <a:off x="4261104" y="2432304"/>
            <a:ext cx="5152674" cy="786384"/>
          </a:xfrm>
          <a:prstGeom prst="rect">
            <a:avLst/>
          </a:prstGeom>
          <a:noFill/>
          <a:ln>
            <a:noFill/>
          </a:ln>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A view that outlives its owner</a:t>
            </a:r>
          </a:p>
        </p:txBody>
      </p:sp>
      <p:cxnSp>
        <p:nvCxnSpPr>
          <p:cNvPr id="23" name="Rule 2"/>
          <p:cNvCxnSpPr/>
          <p:nvPr/>
        </p:nvCxnSpPr>
        <p:spPr>
          <a:xfrm>
            <a:off x="841248" y="3218688"/>
            <a:ext cx="10479024" cy="0"/>
          </a:xfrm>
          <a:prstGeom prst="line">
            <a:avLst/>
          </a:prstGeom>
          <a:ln w="6350">
            <a:solidFill>
              <a:srgbClr val="C9C4C1"/>
            </a:solidFill>
          </a:ln>
        </p:spPr>
      </p:cxnSp>
      <p:sp>
        <p:nvSpPr>
          <p:cNvPr id="24" name="03"/>
          <p:cNvSpPr txBox="1"/>
          <p:nvPr/>
        </p:nvSpPr>
        <p:spPr>
          <a:xfrm>
            <a:off x="841248" y="3218688"/>
            <a:ext cx="822960" cy="786384"/>
          </a:xfrm>
          <a:prstGeom prst="rect">
            <a:avLst/>
          </a:prstGeom>
          <a:noFill/>
          <a:ln>
            <a:noFill/>
          </a:ln>
        </p:spPr>
        <p:txBody>
          <a:bodyPr wrap="none" lIns="0" tIns="0" rIns="0" bIns="0" rtlCol="0" anchor="ctr">
            <a:noAutofit/>
          </a:bodyPr>
          <a:lstStyle/>
          <a:p>
            <a:pPr marL="0" indent="0" algn="l">
              <a:buNone/>
            </a:pPr>
            <a:r>
              <a:rPr lang="en-US" sz="3600" b="1" dirty="0">
                <a:solidFill>
                  <a:srgbClr val="156082"/>
                </a:solidFill>
                <a:latin typeface="Aptos"/>
                <a:ea typeface="Aptos"/>
                <a:cs typeface="Aptos"/>
              </a:rPr>
              <a:t>03</a:t>
            </a:r>
          </a:p>
        </p:txBody>
      </p:sp>
      <p:sp>
        <p:nvSpPr>
          <p:cNvPr id="25" name="A released unique_ptr preview panel"/>
          <p:cNvSpPr/>
          <p:nvPr/>
        </p:nvSpPr>
        <p:spPr>
          <a:xfrm>
            <a:off x="1828800" y="3328416"/>
            <a:ext cx="2176272" cy="566928"/>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26" name="A released unique_ptr preview code"/>
          <p:cNvSpPr txBox="1"/>
          <p:nvPr/>
        </p:nvSpPr>
        <p:spPr>
          <a:xfrm>
            <a:off x="1938528" y="3450031"/>
            <a:ext cx="1956816" cy="323698"/>
          </a:xfrm>
          <a:prstGeom prst="rect">
            <a:avLst/>
          </a:prstGeom>
          <a:noFill/>
        </p:spPr>
        <p:txBody>
          <a:bodyPr wrap="none" lIns="0" tIns="0" rIns="0" bIns="0" rtlCol="0" anchor="t">
            <a:noAutofit/>
          </a:bodyPr>
          <a:lstStyle/>
          <a:p>
            <a:pPr>
              <a:lnSpc>
                <a:spcPct val="100000"/>
              </a:lnSpc>
            </a:pPr>
            <a:r>
              <a:rPr lang="en-US" sz="750" b="0" dirty="0">
                <a:solidFill>
                  <a:srgbClr val="82AAFF"/>
                </a:solidFill>
                <a:latin typeface="Courier New"/>
                <a:ea typeface="Courier New"/>
                <a:cs typeface="Courier New"/>
              </a:rPr>
              <a:t>Node</a:t>
            </a:r>
            <a:r>
              <a:rPr lang="en-US" sz="750" b="0" dirty="0">
                <a:solidFill>
                  <a:srgbClr val="E6E9EF"/>
                </a:solidFill>
                <a:latin typeface="Courier New"/>
                <a:ea typeface="Courier New"/>
                <a:cs typeface="Courier New"/>
              </a:rPr>
              <a:t>* raw = node.</a:t>
            </a:r>
            <a:r>
              <a:rPr lang="en-US" sz="750" b="0" dirty="0">
                <a:solidFill>
                  <a:srgbClr val="FFD98C"/>
                </a:solidFill>
                <a:latin typeface="Courier New"/>
                <a:ea typeface="Courier New"/>
                <a:cs typeface="Courier New"/>
              </a:rPr>
              <a:t>release</a:t>
            </a:r>
            <a:r>
              <a:rPr lang="en-US" sz="750" b="0" dirty="0">
                <a:solidFill>
                  <a:srgbClr val="E6E9EF"/>
                </a:solidFill>
                <a:latin typeface="Courier New"/>
                <a:ea typeface="Courier New"/>
                <a:cs typeface="Courier New"/>
              </a:rPr>
              <a:t>();</a:t>
            </a:r>
            <a:endParaRPr lang="en-US" sz="750" dirty="0">
              <a:latin typeface="Courier New"/>
              <a:cs typeface="Courier New"/>
            </a:endParaRPr>
          </a:p>
          <a:p>
            <a:pPr>
              <a:lnSpc>
                <a:spcPct val="100000"/>
              </a:lnSpc>
            </a:pPr>
            <a:r>
              <a:rPr lang="en-US" sz="750" b="0" dirty="0">
                <a:solidFill>
                  <a:srgbClr val="FFD98C"/>
                </a:solidFill>
                <a:latin typeface="Courier New"/>
                <a:ea typeface="Courier New"/>
                <a:cs typeface="Courier New"/>
              </a:rPr>
              <a:t>consume</a:t>
            </a:r>
            <a:r>
              <a:rPr lang="en-US" sz="750" b="0" dirty="0">
                <a:solidFill>
                  <a:srgbClr val="E6E9EF"/>
                </a:solidFill>
                <a:latin typeface="Courier New"/>
                <a:ea typeface="Courier New"/>
                <a:cs typeface="Courier New"/>
              </a:rPr>
              <a:t>(raw);</a:t>
            </a:r>
            <a:endParaRPr lang="en-US" sz="750" dirty="0">
              <a:latin typeface="Courier New"/>
              <a:cs typeface="Courier New"/>
            </a:endParaRPr>
          </a:p>
          <a:p>
            <a:pPr>
              <a:lnSpc>
                <a:spcPct val="100000"/>
              </a:lnSpc>
            </a:pPr>
            <a:r>
              <a:rPr lang="en-US" sz="750" b="0" dirty="0">
                <a:solidFill>
                  <a:srgbClr val="F07178"/>
                </a:solidFill>
                <a:latin typeface="Courier New"/>
                <a:ea typeface="Courier New"/>
                <a:cs typeface="Courier New"/>
              </a:rPr>
              <a:t>std::cout &lt;&lt; raw-&gt;value;</a:t>
            </a:r>
            <a:endParaRPr lang="en-US" sz="750" dirty="0">
              <a:latin typeface="Courier New"/>
              <a:cs typeface="Courier New"/>
            </a:endParaRPr>
          </a:p>
        </p:txBody>
      </p:sp>
      <p:sp>
        <p:nvSpPr>
          <p:cNvPr id="27" name="AddressSanitizer"/>
          <p:cNvSpPr/>
          <p:nvPr/>
        </p:nvSpPr>
        <p:spPr>
          <a:xfrm>
            <a:off x="9505218" y="3429000"/>
            <a:ext cx="1815054" cy="365760"/>
          </a:xfrm>
          <a:prstGeom prst="roundRect">
            <a:avLst>
              <a:gd name="adj" fmla="val 50000"/>
            </a:avLst>
          </a:prstGeom>
          <a:solidFill>
            <a:srgbClr val="D9A63A"/>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AddressSanitizer</a:t>
            </a:r>
          </a:p>
        </p:txBody>
      </p:sp>
      <p:sp>
        <p:nvSpPr>
          <p:cNvPr id="28" name="A released unique_ptr"/>
          <p:cNvSpPr txBox="1"/>
          <p:nvPr/>
        </p:nvSpPr>
        <p:spPr>
          <a:xfrm>
            <a:off x="4261104" y="3218688"/>
            <a:ext cx="5152674" cy="786384"/>
          </a:xfrm>
          <a:prstGeom prst="rect">
            <a:avLst/>
          </a:prstGeom>
          <a:noFill/>
          <a:ln>
            <a:noFill/>
          </a:ln>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A released unique_ptr</a:t>
            </a:r>
          </a:p>
        </p:txBody>
      </p:sp>
      <p:cxnSp>
        <p:nvCxnSpPr>
          <p:cNvPr id="29" name="Rule 3"/>
          <p:cNvCxnSpPr/>
          <p:nvPr/>
        </p:nvCxnSpPr>
        <p:spPr>
          <a:xfrm>
            <a:off x="841248" y="4005072"/>
            <a:ext cx="10479024" cy="0"/>
          </a:xfrm>
          <a:prstGeom prst="line">
            <a:avLst/>
          </a:prstGeom>
          <a:ln w="6350">
            <a:solidFill>
              <a:srgbClr val="C9C4C1"/>
            </a:solidFill>
          </a:ln>
        </p:spPr>
      </p:cxnSp>
      <p:sp>
        <p:nvSpPr>
          <p:cNvPr id="30" name="04"/>
          <p:cNvSpPr txBox="1"/>
          <p:nvPr/>
        </p:nvSpPr>
        <p:spPr>
          <a:xfrm>
            <a:off x="841248" y="4005072"/>
            <a:ext cx="822960" cy="786384"/>
          </a:xfrm>
          <a:prstGeom prst="rect">
            <a:avLst/>
          </a:prstGeom>
          <a:noFill/>
          <a:ln>
            <a:noFill/>
          </a:ln>
        </p:spPr>
        <p:txBody>
          <a:bodyPr wrap="none" lIns="0" tIns="0" rIns="0" bIns="0" rtlCol="0" anchor="ctr">
            <a:noAutofit/>
          </a:bodyPr>
          <a:lstStyle/>
          <a:p>
            <a:pPr marL="0" indent="0" algn="l">
              <a:buNone/>
            </a:pPr>
            <a:r>
              <a:rPr lang="en-US" sz="3600" b="1" dirty="0">
                <a:solidFill>
                  <a:srgbClr val="156082"/>
                </a:solidFill>
                <a:latin typeface="Aptos"/>
                <a:ea typeface="Aptos"/>
                <a:cs typeface="Aptos"/>
              </a:rPr>
              <a:t>04</a:t>
            </a:r>
          </a:p>
        </p:txBody>
      </p:sp>
      <p:sp>
        <p:nvSpPr>
          <p:cNvPr id="31" name="An invalidated iterator preview panel"/>
          <p:cNvSpPr/>
          <p:nvPr/>
        </p:nvSpPr>
        <p:spPr>
          <a:xfrm>
            <a:off x="1828800" y="4114800"/>
            <a:ext cx="2176272" cy="566928"/>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32" name="An invalidated iterator preview code"/>
          <p:cNvSpPr txBox="1"/>
          <p:nvPr/>
        </p:nvSpPr>
        <p:spPr>
          <a:xfrm>
            <a:off x="1938528" y="4236415"/>
            <a:ext cx="1956816" cy="323698"/>
          </a:xfrm>
          <a:prstGeom prst="rect">
            <a:avLst/>
          </a:prstGeom>
          <a:noFill/>
        </p:spPr>
        <p:txBody>
          <a:bodyPr wrap="none" lIns="0" tIns="0" rIns="0" bIns="0" rtlCol="0" anchor="t">
            <a:noAutofit/>
          </a:bodyPr>
          <a:lstStyle/>
          <a:p>
            <a:pPr>
              <a:lnSpc>
                <a:spcPct val="100000"/>
              </a:lnSpc>
            </a:pPr>
            <a:r>
              <a:rPr lang="en-US" sz="750" b="0" dirty="0">
                <a:solidFill>
                  <a:srgbClr val="C792EA"/>
                </a:solidFill>
                <a:latin typeface="Courier New"/>
                <a:ea typeface="Courier New"/>
                <a:cs typeface="Courier New"/>
              </a:rPr>
              <a:t>for</a:t>
            </a:r>
            <a:r>
              <a:rPr lang="en-US" sz="750" b="0" dirty="0">
                <a:solidFill>
                  <a:srgbClr val="E6E9EF"/>
                </a:solidFill>
                <a:latin typeface="Courier New"/>
                <a:ea typeface="Courier New"/>
                <a:cs typeface="Courier New"/>
              </a:rPr>
              <a:t> (</a:t>
            </a:r>
            <a:r>
              <a:rPr lang="en-US" sz="750" b="0" dirty="0">
                <a:solidFill>
                  <a:srgbClr val="C792EA"/>
                </a:solidFill>
                <a:latin typeface="Courier New"/>
                <a:ea typeface="Courier New"/>
                <a:cs typeface="Courier New"/>
              </a:rPr>
              <a:t>auto</a:t>
            </a:r>
            <a:r>
              <a:rPr lang="en-US" sz="750" b="0" dirty="0">
                <a:solidFill>
                  <a:srgbClr val="E6E9EF"/>
                </a:solidFill>
                <a:latin typeface="Courier New"/>
                <a:ea typeface="Courier New"/>
                <a:cs typeface="Courier New"/>
              </a:rPr>
              <a:t> it = v.</a:t>
            </a:r>
            <a:r>
              <a:rPr lang="en-US" sz="750" b="0" dirty="0">
                <a:solidFill>
                  <a:srgbClr val="FFD98C"/>
                </a:solidFill>
                <a:latin typeface="Courier New"/>
                <a:ea typeface="Courier New"/>
                <a:cs typeface="Courier New"/>
              </a:rPr>
              <a:t>begin</a:t>
            </a:r>
            <a:r>
              <a:rPr lang="en-US" sz="750" b="0" dirty="0">
                <a:solidFill>
                  <a:srgbClr val="E6E9EF"/>
                </a:solidFill>
                <a:latin typeface="Courier New"/>
                <a:ea typeface="Courier New"/>
                <a:cs typeface="Courier New"/>
              </a:rPr>
              <a:t>();</a:t>
            </a:r>
            <a:endParaRPr lang="en-US" sz="750" dirty="0">
              <a:latin typeface="Courier New"/>
              <a:cs typeface="Courier New"/>
            </a:endParaRPr>
          </a:p>
          <a:p>
            <a:pPr>
              <a:lnSpc>
                <a:spcPct val="100000"/>
              </a:lnSpc>
            </a:pPr>
            <a:r>
              <a:rPr lang="en-US" sz="750" b="0" dirty="0">
                <a:solidFill>
                  <a:srgbClr val="E6E9EF"/>
                </a:solidFill>
                <a:latin typeface="Courier New"/>
                <a:ea typeface="Courier New"/>
                <a:cs typeface="Courier New"/>
              </a:rPr>
              <a:t>     it != v.</a:t>
            </a:r>
            <a:r>
              <a:rPr lang="en-US" sz="750" b="0" dirty="0">
                <a:solidFill>
                  <a:srgbClr val="FFD98C"/>
                </a:solidFill>
                <a:latin typeface="Courier New"/>
                <a:ea typeface="Courier New"/>
                <a:cs typeface="Courier New"/>
              </a:rPr>
              <a:t>end</a:t>
            </a:r>
            <a:r>
              <a:rPr lang="en-US" sz="750" b="0" dirty="0">
                <a:solidFill>
                  <a:srgbClr val="E6E9EF"/>
                </a:solidFill>
                <a:latin typeface="Courier New"/>
                <a:ea typeface="Courier New"/>
                <a:cs typeface="Courier New"/>
              </a:rPr>
              <a:t>(); ++it)</a:t>
            </a:r>
            <a:endParaRPr lang="en-US" sz="750" dirty="0">
              <a:latin typeface="Courier New"/>
              <a:cs typeface="Courier New"/>
            </a:endParaRPr>
          </a:p>
          <a:p>
            <a:pPr>
              <a:lnSpc>
                <a:spcPct val="100000"/>
              </a:lnSpc>
            </a:pPr>
            <a:r>
              <a:rPr lang="en-US" sz="750" b="0" dirty="0">
                <a:solidFill>
                  <a:srgbClr val="F07178"/>
                </a:solidFill>
                <a:latin typeface="Courier New"/>
                <a:ea typeface="Courier New"/>
                <a:cs typeface="Courier New"/>
              </a:rPr>
              <a:t>    if (*it &lt; 0) v.erase(it);</a:t>
            </a:r>
            <a:endParaRPr lang="en-US" sz="750" dirty="0">
              <a:latin typeface="Courier New"/>
              <a:cs typeface="Courier New"/>
            </a:endParaRPr>
          </a:p>
        </p:txBody>
      </p:sp>
      <p:sp>
        <p:nvSpPr>
          <p:cNvPr id="33" name="Debug iterators"/>
          <p:cNvSpPr/>
          <p:nvPr/>
        </p:nvSpPr>
        <p:spPr>
          <a:xfrm>
            <a:off x="9638234" y="4215384"/>
            <a:ext cx="1682038" cy="365760"/>
          </a:xfrm>
          <a:prstGeom prst="roundRect">
            <a:avLst>
              <a:gd name="adj" fmla="val 50000"/>
            </a:avLst>
          </a:prstGeom>
          <a:solidFill>
            <a:srgbClr val="D9A63A"/>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Debug iterators</a:t>
            </a:r>
          </a:p>
        </p:txBody>
      </p:sp>
      <p:sp>
        <p:nvSpPr>
          <p:cNvPr id="34" name="Static analysis"/>
          <p:cNvSpPr/>
          <p:nvPr/>
        </p:nvSpPr>
        <p:spPr>
          <a:xfrm>
            <a:off x="7931038" y="4215384"/>
            <a:ext cx="1606612" cy="365760"/>
          </a:xfrm>
          <a:prstGeom prst="roundRect">
            <a:avLst>
              <a:gd name="adj" fmla="val 50000"/>
            </a:avLst>
          </a:prstGeom>
          <a:solidFill>
            <a:srgbClr val="4E9A51"/>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Static analysis</a:t>
            </a:r>
          </a:p>
        </p:txBody>
      </p:sp>
      <p:sp>
        <p:nvSpPr>
          <p:cNvPr id="35" name="An invalidated iterator"/>
          <p:cNvSpPr txBox="1"/>
          <p:nvPr/>
        </p:nvSpPr>
        <p:spPr>
          <a:xfrm>
            <a:off x="4261104" y="4005072"/>
            <a:ext cx="3578494" cy="786384"/>
          </a:xfrm>
          <a:prstGeom prst="rect">
            <a:avLst/>
          </a:prstGeom>
          <a:noFill/>
          <a:ln>
            <a:noFill/>
          </a:ln>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An invalidated iterator</a:t>
            </a:r>
          </a:p>
        </p:txBody>
      </p:sp>
      <p:cxnSp>
        <p:nvCxnSpPr>
          <p:cNvPr id="36" name="Rule 4"/>
          <p:cNvCxnSpPr/>
          <p:nvPr/>
        </p:nvCxnSpPr>
        <p:spPr>
          <a:xfrm>
            <a:off x="841248" y="4791456"/>
            <a:ext cx="10479024" cy="0"/>
          </a:xfrm>
          <a:prstGeom prst="line">
            <a:avLst/>
          </a:prstGeom>
          <a:ln w="6350">
            <a:solidFill>
              <a:srgbClr val="C9C4C1"/>
            </a:solidFill>
          </a:ln>
        </p:spPr>
      </p:cxnSp>
      <p:sp>
        <p:nvSpPr>
          <p:cNvPr id="37" name="05"/>
          <p:cNvSpPr txBox="1"/>
          <p:nvPr/>
        </p:nvSpPr>
        <p:spPr>
          <a:xfrm>
            <a:off x="841248" y="4791456"/>
            <a:ext cx="822960" cy="786384"/>
          </a:xfrm>
          <a:prstGeom prst="rect">
            <a:avLst/>
          </a:prstGeom>
          <a:noFill/>
          <a:ln>
            <a:noFill/>
          </a:ln>
        </p:spPr>
        <p:txBody>
          <a:bodyPr wrap="none" lIns="0" tIns="0" rIns="0" bIns="0" rtlCol="0" anchor="ctr">
            <a:noAutofit/>
          </a:bodyPr>
          <a:lstStyle/>
          <a:p>
            <a:pPr marL="0" indent="0" algn="l">
              <a:buNone/>
            </a:pPr>
            <a:r>
              <a:rPr lang="en-US" sz="3600" b="1" dirty="0">
                <a:solidFill>
                  <a:srgbClr val="156082"/>
                </a:solidFill>
                <a:latin typeface="Aptos"/>
                <a:ea typeface="Aptos"/>
                <a:cs typeface="Aptos"/>
              </a:rPr>
              <a:t>05</a:t>
            </a:r>
          </a:p>
        </p:txBody>
      </p:sp>
      <p:sp>
        <p:nvSpPr>
          <p:cNvPr id="38" name="A data race preview panel"/>
          <p:cNvSpPr/>
          <p:nvPr/>
        </p:nvSpPr>
        <p:spPr>
          <a:xfrm>
            <a:off x="1828800" y="4901184"/>
            <a:ext cx="2176272" cy="566928"/>
          </a:xfrm>
          <a:prstGeom prst="roundRect">
            <a:avLst>
              <a:gd name="adj" fmla="val 5000"/>
            </a:avLst>
          </a:prstGeom>
          <a:solidFill>
            <a:srgbClr val="12161F"/>
          </a:solidFill>
          <a:ln>
            <a:noFill/>
          </a:ln>
        </p:spPr>
        <p:txBody>
          <a:bodyPr wrap="none" lIns="0" tIns="0" rIns="0" bIns="0" rtlCol="0" anchor="t">
            <a:noAutofit/>
          </a:bodyPr>
          <a:lstStyle/>
          <a:p>
            <a:pPr marL="0" indent="0" algn="l">
              <a:buNone/>
            </a:pPr>
            <a:endParaRPr lang="en-US" sz="1400" dirty="0">
              <a:latin typeface="Aptos"/>
            </a:endParaRPr>
          </a:p>
        </p:txBody>
      </p:sp>
      <p:sp>
        <p:nvSpPr>
          <p:cNvPr id="39" name="A data race preview code"/>
          <p:cNvSpPr txBox="1"/>
          <p:nvPr/>
        </p:nvSpPr>
        <p:spPr>
          <a:xfrm>
            <a:off x="1938528" y="5022799"/>
            <a:ext cx="1956816" cy="323698"/>
          </a:xfrm>
          <a:prstGeom prst="rect">
            <a:avLst/>
          </a:prstGeom>
          <a:noFill/>
        </p:spPr>
        <p:txBody>
          <a:bodyPr wrap="none" lIns="0" tIns="0" rIns="0" bIns="0" rtlCol="0" anchor="t">
            <a:noAutofit/>
          </a:bodyPr>
          <a:lstStyle/>
          <a:p>
            <a:pPr>
              <a:lnSpc>
                <a:spcPct val="100000"/>
              </a:lnSpc>
            </a:pPr>
            <a:r>
              <a:rPr lang="en-US" sz="750" b="0" dirty="0">
                <a:solidFill>
                  <a:srgbClr val="F07178"/>
                </a:solidFill>
                <a:latin typeface="Courier New"/>
                <a:ea typeface="Courier New"/>
                <a:cs typeface="Courier New"/>
              </a:rPr>
              <a:t>std::jthread a([&amp;] { ++hits; });</a:t>
            </a:r>
            <a:endParaRPr lang="en-US" sz="750" dirty="0">
              <a:latin typeface="Courier New"/>
              <a:cs typeface="Courier New"/>
            </a:endParaRPr>
          </a:p>
          <a:p>
            <a:pPr>
              <a:lnSpc>
                <a:spcPct val="100000"/>
              </a:lnSpc>
            </a:pPr>
            <a:r>
              <a:rPr lang="en-US" sz="750" b="0" dirty="0">
                <a:solidFill>
                  <a:srgbClr val="F07178"/>
                </a:solidFill>
                <a:latin typeface="Courier New"/>
                <a:ea typeface="Courier New"/>
                <a:cs typeface="Courier New"/>
              </a:rPr>
              <a:t>std::jthread b([&amp;] { ++hits; });</a:t>
            </a:r>
            <a:endParaRPr lang="en-US" sz="750" dirty="0">
              <a:latin typeface="Courier New"/>
              <a:cs typeface="Courier New"/>
            </a:endParaRPr>
          </a:p>
          <a:p>
            <a:pPr>
              <a:lnSpc>
                <a:spcPct val="100000"/>
              </a:lnSpc>
            </a:pPr>
            <a:r>
              <a:rPr lang="en-US" sz="750" b="0" dirty="0">
                <a:solidFill>
                  <a:srgbClr val="E6E9EF"/>
                </a:solidFill>
                <a:latin typeface="Courier New"/>
                <a:ea typeface="Courier New"/>
                <a:cs typeface="Courier New"/>
              </a:rPr>
              <a:t>std::cout &lt;&lt; hits;</a:t>
            </a:r>
            <a:endParaRPr lang="en-US" sz="750" dirty="0">
              <a:latin typeface="Courier New"/>
              <a:cs typeface="Courier New"/>
            </a:endParaRPr>
          </a:p>
        </p:txBody>
      </p:sp>
      <p:sp>
        <p:nvSpPr>
          <p:cNvPr id="40" name="ThreadSanitizer"/>
          <p:cNvSpPr/>
          <p:nvPr/>
        </p:nvSpPr>
        <p:spPr>
          <a:xfrm>
            <a:off x="9619149" y="5001768"/>
            <a:ext cx="1701123" cy="365760"/>
          </a:xfrm>
          <a:prstGeom prst="roundRect">
            <a:avLst>
              <a:gd name="adj" fmla="val 50000"/>
            </a:avLst>
          </a:prstGeom>
          <a:solidFill>
            <a:srgbClr val="D9A63A"/>
          </a:solidFill>
          <a:ln>
            <a:noFill/>
          </a:ln>
        </p:spPr>
        <p:txBody>
          <a:bodyPr wrap="none" lIns="0" tIns="0" rIns="0" bIns="7620" rtlCol="0" anchor="ctr">
            <a:noAutofit/>
          </a:bodyPr>
          <a:lstStyle/>
          <a:p>
            <a:pPr marL="0" indent="0" algn="ctr">
              <a:buNone/>
            </a:pPr>
            <a:r>
              <a:rPr lang="en-US" sz="1400" b="1" dirty="0">
                <a:solidFill>
                  <a:srgbClr val="FFFFFF"/>
                </a:solidFill>
                <a:latin typeface="Aptos"/>
                <a:ea typeface="Aptos"/>
                <a:cs typeface="Aptos"/>
              </a:rPr>
              <a:t>ThreadSanitizer</a:t>
            </a:r>
          </a:p>
        </p:txBody>
      </p:sp>
      <p:sp>
        <p:nvSpPr>
          <p:cNvPr id="41" name="A data race"/>
          <p:cNvSpPr txBox="1"/>
          <p:nvPr/>
        </p:nvSpPr>
        <p:spPr>
          <a:xfrm>
            <a:off x="4261104" y="4791456"/>
            <a:ext cx="5266605" cy="786384"/>
          </a:xfrm>
          <a:prstGeom prst="rect">
            <a:avLst/>
          </a:prstGeom>
          <a:noFill/>
          <a:ln>
            <a:noFill/>
          </a:ln>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A data race</a:t>
            </a:r>
          </a:p>
        </p:txBody>
      </p:sp>
      <p:sp>
        <p:nvSpPr>
          <p:cNvPr id="42" name="Closing line"/>
          <p:cNvSpPr txBox="1"/>
          <p:nvPr/>
        </p:nvSpPr>
        <p:spPr>
          <a:xfrm>
            <a:off x="841248" y="5943600"/>
            <a:ext cx="10479024" cy="411480"/>
          </a:xfrm>
          <a:prstGeom prst="rect">
            <a:avLst/>
          </a:prstGeom>
          <a:noFill/>
          <a:ln>
            <a:noFill/>
          </a:ln>
        </p:spPr>
        <p:txBody>
          <a:bodyPr wrap="none" lIns="0" tIns="0" rIns="0" bIns="0" rtlCol="0" anchor="t">
            <a:noAutofit/>
          </a:bodyPr>
          <a:lstStyle/>
          <a:p>
            <a:pPr marL="0" indent="0" algn="l">
              <a:buNone/>
            </a:pPr>
            <a:r>
              <a:rPr lang="en-US" sz="1800" b="1" dirty="0">
                <a:solidFill>
                  <a:srgbClr val="1A1A1A"/>
                </a:solidFill>
                <a:latin typeface="Aptos"/>
                <a:ea typeface="Aptos"/>
                <a:cs typeface="Aptos"/>
              </a:rPr>
              <a:t>Green is caught before the code runs. Amber needs a test that reaches the line.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73F1D-BBB2-CE35-93EC-014230468FFF}"/>
              </a:ext>
            </a:extLst>
          </p:cNvPr>
          <p:cNvSpPr>
            <a:spLocks noGrp="1"/>
          </p:cNvSpPr>
          <p:nvPr>
            <p:ph type="title"/>
          </p:nvPr>
        </p:nvSpPr>
        <p:spPr/>
        <p:txBody>
          <a:bodyPr/>
          <a:lstStyle/>
          <a:p>
            <a:r>
              <a:rPr lang="en-US" dirty="0"/>
              <a:t>Where do we go from here</a:t>
            </a:r>
          </a:p>
        </p:txBody>
      </p:sp>
      <p:sp>
        <p:nvSpPr>
          <p:cNvPr id="3" name="Text Placeholder 2">
            <a:extLst>
              <a:ext uri="{FF2B5EF4-FFF2-40B4-BE49-F238E27FC236}">
                <a16:creationId xmlns:a16="http://schemas.microsoft.com/office/drawing/2014/main" id="{9E48F520-CC9C-D39D-E2C0-419E744CE223}"/>
              </a:ext>
            </a:extLst>
          </p:cNvPr>
          <p:cNvSpPr>
            <a:spLocks noGrp="1"/>
          </p:cNvSpPr>
          <p:nvPr>
            <p:ph type="body" idx="1"/>
          </p:nvPr>
        </p:nvSpPr>
        <p:spPr/>
        <p:txBody>
          <a:bodyPr/>
          <a:lstStyle/>
          <a:p>
            <a:endParaRPr lang="en-US" dirty="0"/>
          </a:p>
        </p:txBody>
      </p:sp>
      <p:sp>
        <p:nvSpPr>
          <p:cNvPr id="13" name="TextBox 12">
            <a:extLst>
              <a:ext uri="{FF2B5EF4-FFF2-40B4-BE49-F238E27FC236}">
                <a16:creationId xmlns:a16="http://schemas.microsoft.com/office/drawing/2014/main" id="{CC9ED9F5-13EF-EFDA-7FF0-5C89CFF060F2}"/>
              </a:ext>
            </a:extLst>
          </p:cNvPr>
          <p:cNvSpPr txBox="1"/>
          <p:nvPr/>
        </p:nvSpPr>
        <p:spPr>
          <a:xfrm>
            <a:off x="831850" y="2906078"/>
            <a:ext cx="1752600" cy="707886"/>
          </a:xfrm>
          <a:prstGeom prst="rect">
            <a:avLst/>
          </a:prstGeom>
          <a:noFill/>
        </p:spPr>
        <p:txBody>
          <a:bodyPr wrap="square" rtlCol="0">
            <a:spAutoFit/>
          </a:bodyPr>
          <a:lstStyle/>
          <a:p>
            <a:r>
              <a:rPr lang="en-US" sz="4000" dirty="0">
                <a:solidFill>
                  <a:schemeClr val="bg1">
                    <a:lumMod val="65000"/>
                  </a:schemeClr>
                </a:solidFill>
              </a:rPr>
              <a:t>Part IV</a:t>
            </a:r>
          </a:p>
        </p:txBody>
      </p:sp>
    </p:spTree>
    <p:extLst>
      <p:ext uri="{BB962C8B-B14F-4D97-AF65-F5344CB8AC3E}">
        <p14:creationId xmlns:p14="http://schemas.microsoft.com/office/powerpoint/2010/main" val="20793328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41248" y="365760"/>
            <a:ext cx="10515600" cy="1325880"/>
          </a:xfrm>
          <a:prstGeom prst="rect">
            <a:avLst/>
          </a:prstGeom>
          <a:noFill/>
          <a:ln/>
        </p:spPr>
        <p:txBody>
          <a:bodyPr wrap="square" lIns="0" tIns="0" rIns="0" bIns="0" rtlCol="0" anchor="ctr"/>
          <a:lstStyle/>
          <a:p>
            <a:pPr marL="0" indent="0">
              <a:buNone/>
            </a:pPr>
            <a:endParaRPr lang="en-US" sz="4400" dirty="0"/>
          </a:p>
        </p:txBody>
      </p:sp>
      <p:sp>
        <p:nvSpPr>
          <p:cNvPr id="3" name="Text 1"/>
          <p:cNvSpPr txBox="1"/>
          <p:nvPr/>
        </p:nvSpPr>
        <p:spPr>
          <a:xfrm>
            <a:off x="949198" y="1488440"/>
            <a:ext cx="10515600" cy="365760"/>
          </a:xfrm>
          <a:prstGeom prst="rect">
            <a:avLst/>
          </a:prstGeom>
          <a:noFill/>
          <a:ln/>
        </p:spPr>
        <p:txBody>
          <a:bodyPr wrap="square" lIns="0" tIns="0" rIns="0" bIns="0" rtlCol="0" anchor="ctr"/>
          <a:lstStyle/>
          <a:p>
            <a:pPr marL="0" indent="0">
              <a:buNone/>
            </a:pPr>
            <a:r>
              <a:rPr lang="en-US" sz="1600" dirty="0">
                <a:solidFill>
                  <a:srgbClr val="595959"/>
                </a:solidFill>
                <a:latin typeface="Aptos" pitchFamily="34" charset="0"/>
                <a:ea typeface="Aptos" pitchFamily="34" charset="-122"/>
                <a:cs typeface="Aptos" pitchFamily="34" charset="-120"/>
              </a:rPr>
              <a:t>World class language design, or world class safety solutions?</a:t>
            </a:r>
            <a:endParaRPr lang="en-US" sz="1600" dirty="0"/>
          </a:p>
        </p:txBody>
      </p:sp>
      <p:sp>
        <p:nvSpPr>
          <p:cNvPr id="4" name="Text 2"/>
          <p:cNvSpPr txBox="1"/>
          <p:nvPr/>
        </p:nvSpPr>
        <p:spPr>
          <a:xfrm>
            <a:off x="949198" y="1982216"/>
            <a:ext cx="822960" cy="548640"/>
          </a:xfrm>
          <a:prstGeom prst="rect">
            <a:avLst/>
          </a:prstGeom>
          <a:noFill/>
          <a:ln/>
        </p:spPr>
        <p:txBody>
          <a:bodyPr wrap="square" lIns="0" tIns="0" rIns="0" bIns="0" rtlCol="0" anchor="t"/>
          <a:lstStyle/>
          <a:p>
            <a:pPr marL="0" indent="0">
              <a:buNone/>
            </a:pPr>
            <a:r>
              <a:rPr lang="en-US" sz="3600" b="1" dirty="0">
                <a:solidFill>
                  <a:srgbClr val="156082"/>
                </a:solidFill>
                <a:latin typeface="Aptos" pitchFamily="34" charset="0"/>
                <a:ea typeface="Aptos" pitchFamily="34" charset="-122"/>
                <a:cs typeface="Aptos" pitchFamily="34" charset="-120"/>
              </a:rPr>
              <a:t>01</a:t>
            </a:r>
            <a:endParaRPr lang="en-US" sz="3600" dirty="0"/>
          </a:p>
        </p:txBody>
      </p:sp>
      <p:sp>
        <p:nvSpPr>
          <p:cNvPr id="5" name="Text 3"/>
          <p:cNvSpPr txBox="1"/>
          <p:nvPr/>
        </p:nvSpPr>
        <p:spPr>
          <a:xfrm>
            <a:off x="1817878" y="2037080"/>
            <a:ext cx="4160520" cy="1005840"/>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How many of the 26,618 CVEs would </a:t>
            </a:r>
            <a:r>
              <a:rPr lang="en-US" sz="1600" b="1" dirty="0">
                <a:solidFill>
                  <a:srgbClr val="156082"/>
                </a:solidFill>
                <a:latin typeface="Aptos" pitchFamily="34" charset="0"/>
                <a:ea typeface="Aptos" pitchFamily="34" charset="-122"/>
                <a:cs typeface="Aptos" pitchFamily="34" charset="-120"/>
              </a:rPr>
              <a:t>profiles or contracts</a:t>
            </a:r>
            <a:r>
              <a:rPr lang="en-US" sz="1600" dirty="0">
                <a:solidFill>
                  <a:srgbClr val="1A1A1A"/>
                </a:solidFill>
                <a:latin typeface="Aptos" pitchFamily="34" charset="0"/>
                <a:ea typeface="Aptos" pitchFamily="34" charset="-122"/>
                <a:cs typeface="Aptos" pitchFamily="34" charset="-120"/>
              </a:rPr>
              <a:t> have caught?</a:t>
            </a:r>
            <a:endParaRPr lang="en-US" sz="1600" dirty="0"/>
          </a:p>
          <a:p>
            <a:pPr marL="0" indent="0">
              <a:lnSpc>
                <a:spcPct val="105000"/>
              </a:lnSpc>
              <a:spcBef>
                <a:spcPts val="300"/>
              </a:spcBef>
              <a:buNone/>
            </a:pPr>
            <a:r>
              <a:rPr lang="en-US" sz="1200" dirty="0">
                <a:solidFill>
                  <a:srgbClr val="595959"/>
                </a:solidFill>
                <a:latin typeface="Aptos" pitchFamily="34" charset="0"/>
                <a:ea typeface="Aptos" pitchFamily="34" charset="-122"/>
                <a:cs typeface="Aptos" pitchFamily="34" charset="-120"/>
              </a:rPr>
              <a:t>Are we sufficiently data driven? The record never says which construct failed, so no fix can be checked against it.</a:t>
            </a:r>
            <a:endParaRPr lang="en-US" sz="1600" dirty="0"/>
          </a:p>
        </p:txBody>
      </p:sp>
      <p:sp>
        <p:nvSpPr>
          <p:cNvPr id="6" name="Text 4"/>
          <p:cNvSpPr txBox="1"/>
          <p:nvPr/>
        </p:nvSpPr>
        <p:spPr>
          <a:xfrm>
            <a:off x="949198" y="3061208"/>
            <a:ext cx="822960" cy="548640"/>
          </a:xfrm>
          <a:prstGeom prst="rect">
            <a:avLst/>
          </a:prstGeom>
          <a:noFill/>
          <a:ln/>
        </p:spPr>
        <p:txBody>
          <a:bodyPr wrap="square" lIns="0" tIns="0" rIns="0" bIns="0" rtlCol="0" anchor="t"/>
          <a:lstStyle/>
          <a:p>
            <a:pPr marL="0" indent="0">
              <a:buNone/>
            </a:pPr>
            <a:r>
              <a:rPr lang="en-US" sz="3600" b="1" dirty="0">
                <a:solidFill>
                  <a:srgbClr val="156082"/>
                </a:solidFill>
                <a:latin typeface="Aptos" pitchFamily="34" charset="0"/>
                <a:ea typeface="Aptos" pitchFamily="34" charset="-122"/>
                <a:cs typeface="Aptos" pitchFamily="34" charset="-120"/>
              </a:rPr>
              <a:t>02</a:t>
            </a:r>
            <a:endParaRPr lang="en-US" sz="3600" dirty="0"/>
          </a:p>
        </p:txBody>
      </p:sp>
      <p:sp>
        <p:nvSpPr>
          <p:cNvPr id="7" name="Text 5"/>
          <p:cNvSpPr txBox="1"/>
          <p:nvPr/>
        </p:nvSpPr>
        <p:spPr>
          <a:xfrm>
            <a:off x="1817878" y="3116072"/>
            <a:ext cx="4160520" cy="1005840"/>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Others check data races and lifetimes at </a:t>
            </a:r>
            <a:r>
              <a:rPr lang="en-US" sz="1600" b="1" dirty="0">
                <a:solidFill>
                  <a:srgbClr val="156082"/>
                </a:solidFill>
                <a:latin typeface="Aptos" pitchFamily="34" charset="0"/>
                <a:ea typeface="Aptos" pitchFamily="34" charset="-122"/>
                <a:cs typeface="Aptos" pitchFamily="34" charset="-120"/>
              </a:rPr>
              <a:t>compile time</a:t>
            </a:r>
            <a:r>
              <a:rPr lang="en-US" sz="1600" dirty="0">
                <a:solidFill>
                  <a:srgbClr val="1A1A1A"/>
                </a:solidFill>
                <a:latin typeface="Aptos" pitchFamily="34" charset="0"/>
                <a:ea typeface="Aptos" pitchFamily="34" charset="-122"/>
                <a:cs typeface="Aptos" pitchFamily="34" charset="-120"/>
              </a:rPr>
              <a:t>. What is our answer?</a:t>
            </a:r>
            <a:endParaRPr lang="en-US" sz="1600" dirty="0"/>
          </a:p>
          <a:p>
            <a:pPr marL="0" indent="0">
              <a:lnSpc>
                <a:spcPct val="105000"/>
              </a:lnSpc>
              <a:spcBef>
                <a:spcPts val="300"/>
              </a:spcBef>
              <a:buNone/>
            </a:pPr>
            <a:r>
              <a:rPr lang="en-US" sz="1200" dirty="0">
                <a:solidFill>
                  <a:srgbClr val="595959"/>
                </a:solidFill>
                <a:latin typeface="Aptos" pitchFamily="34" charset="0"/>
                <a:ea typeface="Aptos" pitchFamily="34" charset="-122"/>
                <a:cs typeface="Aptos" pitchFamily="34" charset="-120"/>
              </a:rPr>
              <a:t>Rust proves both. C++ has lifetime checkers in some tools and nothing for data races yet.</a:t>
            </a:r>
            <a:endParaRPr lang="en-US" sz="1600" dirty="0"/>
          </a:p>
        </p:txBody>
      </p:sp>
      <p:sp>
        <p:nvSpPr>
          <p:cNvPr id="8" name="Text 6"/>
          <p:cNvSpPr txBox="1"/>
          <p:nvPr/>
        </p:nvSpPr>
        <p:spPr>
          <a:xfrm>
            <a:off x="949198" y="4140200"/>
            <a:ext cx="822960" cy="548640"/>
          </a:xfrm>
          <a:prstGeom prst="rect">
            <a:avLst/>
          </a:prstGeom>
          <a:noFill/>
          <a:ln/>
        </p:spPr>
        <p:txBody>
          <a:bodyPr wrap="square" lIns="0" tIns="0" rIns="0" bIns="0" rtlCol="0" anchor="t"/>
          <a:lstStyle/>
          <a:p>
            <a:pPr marL="0" indent="0">
              <a:buNone/>
            </a:pPr>
            <a:r>
              <a:rPr lang="en-US" sz="3600" b="1" dirty="0">
                <a:solidFill>
                  <a:srgbClr val="156082"/>
                </a:solidFill>
                <a:latin typeface="Aptos" pitchFamily="34" charset="0"/>
                <a:ea typeface="Aptos" pitchFamily="34" charset="-122"/>
                <a:cs typeface="Aptos" pitchFamily="34" charset="-120"/>
              </a:rPr>
              <a:t>03</a:t>
            </a:r>
            <a:endParaRPr lang="en-US" sz="3600" dirty="0"/>
          </a:p>
        </p:txBody>
      </p:sp>
      <p:sp>
        <p:nvSpPr>
          <p:cNvPr id="9" name="Text 7"/>
          <p:cNvSpPr txBox="1"/>
          <p:nvPr/>
        </p:nvSpPr>
        <p:spPr>
          <a:xfrm>
            <a:off x="1817878" y="4195064"/>
            <a:ext cx="4160520" cy="1005840"/>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Every stage has a tool. How do we get </a:t>
            </a:r>
            <a:r>
              <a:rPr lang="en-US" sz="1600" b="1" dirty="0">
                <a:solidFill>
                  <a:srgbClr val="156082"/>
                </a:solidFill>
                <a:latin typeface="Aptos" pitchFamily="34" charset="0"/>
                <a:ea typeface="Aptos" pitchFamily="34" charset="-122"/>
                <a:cs typeface="Aptos" pitchFamily="34" charset="-120"/>
              </a:rPr>
              <a:t>org standards</a:t>
            </a:r>
            <a:r>
              <a:rPr lang="en-US" sz="1600" dirty="0">
                <a:solidFill>
                  <a:srgbClr val="1A1A1A"/>
                </a:solidFill>
                <a:latin typeface="Aptos" pitchFamily="34" charset="0"/>
                <a:ea typeface="Aptos" pitchFamily="34" charset="-122"/>
                <a:cs typeface="Aptos" pitchFamily="34" charset="-120"/>
              </a:rPr>
              <a:t> to require all of them?</a:t>
            </a:r>
            <a:endParaRPr lang="en-US" sz="1600" dirty="0"/>
          </a:p>
          <a:p>
            <a:pPr marL="0" indent="0">
              <a:lnSpc>
                <a:spcPct val="105000"/>
              </a:lnSpc>
              <a:spcBef>
                <a:spcPts val="300"/>
              </a:spcBef>
              <a:buNone/>
            </a:pPr>
            <a:r>
              <a:rPr lang="en-US" sz="1200" dirty="0">
                <a:solidFill>
                  <a:srgbClr val="595959"/>
                </a:solidFill>
                <a:latin typeface="Aptos" pitchFamily="34" charset="0"/>
                <a:ea typeface="Aptos" pitchFamily="34" charset="-122"/>
                <a:cs typeface="Aptos" pitchFamily="34" charset="-120"/>
              </a:rPr>
              <a:t>Each tool sees one slice and most orgs run one. Adoption is an org standard, not a tool feature.</a:t>
            </a:r>
            <a:endParaRPr lang="en-US" sz="1600" dirty="0"/>
          </a:p>
        </p:txBody>
      </p:sp>
      <p:sp>
        <p:nvSpPr>
          <p:cNvPr id="10" name="Text 8"/>
          <p:cNvSpPr txBox="1"/>
          <p:nvPr/>
        </p:nvSpPr>
        <p:spPr>
          <a:xfrm>
            <a:off x="949198" y="5219192"/>
            <a:ext cx="822960" cy="548640"/>
          </a:xfrm>
          <a:prstGeom prst="rect">
            <a:avLst/>
          </a:prstGeom>
          <a:noFill/>
          <a:ln/>
        </p:spPr>
        <p:txBody>
          <a:bodyPr wrap="square" lIns="0" tIns="0" rIns="0" bIns="0" rtlCol="0" anchor="t"/>
          <a:lstStyle/>
          <a:p>
            <a:pPr marL="0" indent="0">
              <a:buNone/>
            </a:pPr>
            <a:r>
              <a:rPr lang="en-US" sz="3600" b="1" dirty="0">
                <a:solidFill>
                  <a:srgbClr val="156082"/>
                </a:solidFill>
                <a:latin typeface="Aptos" pitchFamily="34" charset="0"/>
                <a:ea typeface="Aptos" pitchFamily="34" charset="-122"/>
                <a:cs typeface="Aptos" pitchFamily="34" charset="-120"/>
              </a:rPr>
              <a:t>04</a:t>
            </a:r>
            <a:endParaRPr lang="en-US" sz="3600" dirty="0"/>
          </a:p>
        </p:txBody>
      </p:sp>
      <p:sp>
        <p:nvSpPr>
          <p:cNvPr id="11" name="Text 9"/>
          <p:cNvSpPr txBox="1"/>
          <p:nvPr/>
        </p:nvSpPr>
        <p:spPr>
          <a:xfrm>
            <a:off x="1817878" y="5274056"/>
            <a:ext cx="4160520" cy="1005840"/>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Why is safe not the </a:t>
            </a:r>
            <a:r>
              <a:rPr lang="en-US" sz="1600" b="1" dirty="0">
                <a:solidFill>
                  <a:srgbClr val="156082"/>
                </a:solidFill>
                <a:latin typeface="Aptos" pitchFamily="34" charset="0"/>
                <a:ea typeface="Aptos" pitchFamily="34" charset="-122"/>
                <a:cs typeface="Aptos" pitchFamily="34" charset="-120"/>
              </a:rPr>
              <a:t>default</a:t>
            </a:r>
            <a:r>
              <a:rPr lang="en-US" sz="1600" dirty="0">
                <a:solidFill>
                  <a:srgbClr val="1A1A1A"/>
                </a:solidFill>
                <a:latin typeface="Aptos" pitchFamily="34" charset="0"/>
                <a:ea typeface="Aptos" pitchFamily="34" charset="-122"/>
                <a:cs typeface="Aptos" pitchFamily="34" charset="-120"/>
              </a:rPr>
              <a:t>, and how much UB can we retire?</a:t>
            </a:r>
            <a:endParaRPr lang="en-US" sz="1600" dirty="0"/>
          </a:p>
          <a:p>
            <a:pPr marL="0" indent="0">
              <a:lnSpc>
                <a:spcPct val="105000"/>
              </a:lnSpc>
              <a:spcBef>
                <a:spcPts val="300"/>
              </a:spcBef>
              <a:buNone/>
            </a:pPr>
            <a:r>
              <a:rPr lang="en-US" sz="1200" dirty="0">
                <a:solidFill>
                  <a:srgbClr val="595959"/>
                </a:solidFill>
                <a:latin typeface="Aptos" pitchFamily="34" charset="0"/>
                <a:ea typeface="Aptos" pitchFamily="34" charset="-122"/>
                <a:cs typeface="Aptos" pitchFamily="34" charset="-120"/>
              </a:rPr>
              <a:t>Bounds checks and hardened runtimes exist and ship off. Flipping them breaks code, so say so up front.</a:t>
            </a:r>
            <a:endParaRPr lang="en-US" sz="1600" dirty="0"/>
          </a:p>
        </p:txBody>
      </p:sp>
      <p:sp>
        <p:nvSpPr>
          <p:cNvPr id="12" name="Text 10"/>
          <p:cNvSpPr txBox="1"/>
          <p:nvPr/>
        </p:nvSpPr>
        <p:spPr>
          <a:xfrm>
            <a:off x="6435598" y="1982216"/>
            <a:ext cx="822960" cy="548640"/>
          </a:xfrm>
          <a:prstGeom prst="rect">
            <a:avLst/>
          </a:prstGeom>
          <a:noFill/>
          <a:ln/>
        </p:spPr>
        <p:txBody>
          <a:bodyPr wrap="square" lIns="0" tIns="0" rIns="0" bIns="0" rtlCol="0" anchor="t"/>
          <a:lstStyle/>
          <a:p>
            <a:pPr marL="0" indent="0">
              <a:buNone/>
            </a:pPr>
            <a:r>
              <a:rPr lang="en-US" sz="3600" b="1" dirty="0">
                <a:solidFill>
                  <a:srgbClr val="156082"/>
                </a:solidFill>
                <a:latin typeface="Aptos" pitchFamily="34" charset="0"/>
                <a:ea typeface="Aptos" pitchFamily="34" charset="-122"/>
                <a:cs typeface="Aptos" pitchFamily="34" charset="-120"/>
              </a:rPr>
              <a:t>05</a:t>
            </a:r>
            <a:endParaRPr lang="en-US" sz="3600" dirty="0"/>
          </a:p>
        </p:txBody>
      </p:sp>
      <p:sp>
        <p:nvSpPr>
          <p:cNvPr id="13" name="Text 11"/>
          <p:cNvSpPr txBox="1"/>
          <p:nvPr/>
        </p:nvSpPr>
        <p:spPr>
          <a:xfrm>
            <a:off x="7304278" y="2037080"/>
            <a:ext cx="4160520" cy="1005840"/>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As C++ gets safer, what do we do about the </a:t>
            </a:r>
            <a:r>
              <a:rPr lang="en-US" sz="1600" b="1" dirty="0">
                <a:solidFill>
                  <a:srgbClr val="156082"/>
                </a:solidFill>
                <a:latin typeface="Aptos" pitchFamily="34" charset="0"/>
                <a:ea typeface="Aptos" pitchFamily="34" charset="-122"/>
                <a:cs typeface="Aptos" pitchFamily="34" charset="-120"/>
              </a:rPr>
              <a:t>C subset</a:t>
            </a:r>
            <a:r>
              <a:rPr lang="en-US" sz="1600" dirty="0">
                <a:solidFill>
                  <a:srgbClr val="1A1A1A"/>
                </a:solidFill>
                <a:latin typeface="Aptos" pitchFamily="34" charset="0"/>
                <a:ea typeface="Aptos" pitchFamily="34" charset="-122"/>
                <a:cs typeface="Aptos" pitchFamily="34" charset="-120"/>
              </a:rPr>
              <a:t>?</a:t>
            </a:r>
            <a:endParaRPr lang="en-US" sz="1600" dirty="0"/>
          </a:p>
          <a:p>
            <a:pPr marL="0" indent="0">
              <a:lnSpc>
                <a:spcPct val="105000"/>
              </a:lnSpc>
              <a:spcBef>
                <a:spcPts val="300"/>
              </a:spcBef>
              <a:buNone/>
            </a:pPr>
            <a:r>
              <a:rPr lang="en-US" sz="1200" dirty="0">
                <a:solidFill>
                  <a:srgbClr val="595959"/>
                </a:solidFill>
                <a:latin typeface="Aptos" pitchFamily="34" charset="0"/>
                <a:ea typeface="Aptos" pitchFamily="34" charset="-122"/>
                <a:cs typeface="Aptos" pitchFamily="34" charset="-120"/>
              </a:rPr>
              <a:t>Much of the record is C-shaped code. A safer C++ still has to say what happens to it.</a:t>
            </a:r>
            <a:endParaRPr lang="en-US" sz="1600" dirty="0"/>
          </a:p>
        </p:txBody>
      </p:sp>
      <p:sp>
        <p:nvSpPr>
          <p:cNvPr id="14" name="Text 12"/>
          <p:cNvSpPr txBox="1"/>
          <p:nvPr/>
        </p:nvSpPr>
        <p:spPr>
          <a:xfrm>
            <a:off x="6435598" y="3061208"/>
            <a:ext cx="822960" cy="548640"/>
          </a:xfrm>
          <a:prstGeom prst="rect">
            <a:avLst/>
          </a:prstGeom>
          <a:noFill/>
          <a:ln/>
        </p:spPr>
        <p:txBody>
          <a:bodyPr wrap="square" lIns="0" tIns="0" rIns="0" bIns="0" rtlCol="0" anchor="t"/>
          <a:lstStyle/>
          <a:p>
            <a:pPr marL="0" indent="0">
              <a:buNone/>
            </a:pPr>
            <a:r>
              <a:rPr lang="en-US" sz="3600" b="1" dirty="0">
                <a:solidFill>
                  <a:srgbClr val="156082"/>
                </a:solidFill>
                <a:latin typeface="Aptos" pitchFamily="34" charset="0"/>
                <a:ea typeface="Aptos" pitchFamily="34" charset="-122"/>
                <a:cs typeface="Aptos" pitchFamily="34" charset="-120"/>
              </a:rPr>
              <a:t>06</a:t>
            </a:r>
            <a:endParaRPr lang="en-US" sz="3600" dirty="0"/>
          </a:p>
        </p:txBody>
      </p:sp>
      <p:sp>
        <p:nvSpPr>
          <p:cNvPr id="15" name="Text 13"/>
          <p:cNvSpPr txBox="1"/>
          <p:nvPr/>
        </p:nvSpPr>
        <p:spPr>
          <a:xfrm>
            <a:off x="7304278" y="3116072"/>
            <a:ext cx="4160520" cy="1005840"/>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Regulators asked for memory safety </a:t>
            </a:r>
            <a:r>
              <a:rPr lang="en-US" sz="1600" b="1" dirty="0">
                <a:solidFill>
                  <a:srgbClr val="156082"/>
                </a:solidFill>
                <a:latin typeface="Aptos" pitchFamily="34" charset="0"/>
                <a:ea typeface="Aptos" pitchFamily="34" charset="-122"/>
                <a:cs typeface="Aptos" pitchFamily="34" charset="-120"/>
              </a:rPr>
              <a:t>roadmaps</a:t>
            </a:r>
            <a:r>
              <a:rPr lang="en-US" sz="1600" dirty="0">
                <a:solidFill>
                  <a:srgbClr val="1A1A1A"/>
                </a:solidFill>
                <a:latin typeface="Aptos" pitchFamily="34" charset="0"/>
                <a:ea typeface="Aptos" pitchFamily="34" charset="-122"/>
                <a:cs typeface="Aptos" pitchFamily="34" charset="-120"/>
              </a:rPr>
              <a:t>. What is ours?</a:t>
            </a:r>
            <a:endParaRPr lang="en-US" sz="1600" dirty="0"/>
          </a:p>
          <a:p>
            <a:pPr marL="0" indent="0">
              <a:lnSpc>
                <a:spcPct val="105000"/>
              </a:lnSpc>
              <a:spcBef>
                <a:spcPts val="300"/>
              </a:spcBef>
              <a:buNone/>
            </a:pPr>
            <a:r>
              <a:rPr lang="en-US" sz="1200" dirty="0">
                <a:solidFill>
                  <a:srgbClr val="595959"/>
                </a:solidFill>
                <a:latin typeface="Aptos" pitchFamily="34" charset="0"/>
                <a:ea typeface="Aptos" pitchFamily="34" charset="-122"/>
                <a:cs typeface="Aptos" pitchFamily="34" charset="-120"/>
              </a:rPr>
              <a:t>CISA wanted roadmaps by January 2026. CRA reporting duties started this month.</a:t>
            </a:r>
            <a:endParaRPr lang="en-US" sz="1600" dirty="0"/>
          </a:p>
        </p:txBody>
      </p:sp>
      <p:sp>
        <p:nvSpPr>
          <p:cNvPr id="16" name="Text 14"/>
          <p:cNvSpPr txBox="1"/>
          <p:nvPr/>
        </p:nvSpPr>
        <p:spPr>
          <a:xfrm>
            <a:off x="6435598" y="4140200"/>
            <a:ext cx="822960" cy="548640"/>
          </a:xfrm>
          <a:prstGeom prst="rect">
            <a:avLst/>
          </a:prstGeom>
          <a:noFill/>
          <a:ln/>
        </p:spPr>
        <p:txBody>
          <a:bodyPr wrap="square" lIns="0" tIns="0" rIns="0" bIns="0" rtlCol="0" anchor="t"/>
          <a:lstStyle/>
          <a:p>
            <a:pPr marL="0" indent="0">
              <a:buNone/>
            </a:pPr>
            <a:r>
              <a:rPr lang="en-US" sz="3600" b="1" dirty="0">
                <a:solidFill>
                  <a:srgbClr val="156082"/>
                </a:solidFill>
                <a:latin typeface="Aptos" pitchFamily="34" charset="0"/>
                <a:ea typeface="Aptos" pitchFamily="34" charset="-122"/>
                <a:cs typeface="Aptos" pitchFamily="34" charset="-120"/>
              </a:rPr>
              <a:t>07</a:t>
            </a:r>
            <a:endParaRPr lang="en-US" sz="3600" dirty="0"/>
          </a:p>
        </p:txBody>
      </p:sp>
      <p:sp>
        <p:nvSpPr>
          <p:cNvPr id="17" name="Text 15"/>
          <p:cNvSpPr txBox="1"/>
          <p:nvPr/>
        </p:nvSpPr>
        <p:spPr>
          <a:xfrm>
            <a:off x="7304278" y="4195064"/>
            <a:ext cx="4160520" cy="1005840"/>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Can AI make C++ safer, and </a:t>
            </a:r>
            <a:r>
              <a:rPr lang="en-US" sz="1600" b="1" dirty="0">
                <a:solidFill>
                  <a:srgbClr val="156082"/>
                </a:solidFill>
                <a:latin typeface="Aptos" pitchFamily="34" charset="0"/>
                <a:ea typeface="Aptos" pitchFamily="34" charset="-122"/>
                <a:cs typeface="Aptos" pitchFamily="34" charset="-120"/>
              </a:rPr>
              <a:t>how would we know</a:t>
            </a:r>
            <a:r>
              <a:rPr lang="en-US" sz="1600" dirty="0">
                <a:solidFill>
                  <a:srgbClr val="1A1A1A"/>
                </a:solidFill>
                <a:latin typeface="Aptos" pitchFamily="34" charset="0"/>
                <a:ea typeface="Aptos" pitchFamily="34" charset="-122"/>
                <a:cs typeface="Aptos" pitchFamily="34" charset="-120"/>
              </a:rPr>
              <a:t>?</a:t>
            </a:r>
            <a:endParaRPr lang="en-US" sz="1600" dirty="0"/>
          </a:p>
          <a:p>
            <a:pPr marL="0" indent="0">
              <a:lnSpc>
                <a:spcPct val="105000"/>
              </a:lnSpc>
              <a:spcBef>
                <a:spcPts val="300"/>
              </a:spcBef>
              <a:buNone/>
            </a:pPr>
            <a:r>
              <a:rPr lang="en-US" sz="1200" dirty="0">
                <a:solidFill>
                  <a:srgbClr val="595959"/>
                </a:solidFill>
                <a:latin typeface="Aptos" pitchFamily="34" charset="0"/>
                <a:ea typeface="Aptos" pitchFamily="34" charset="-122"/>
                <a:cs typeface="Aptos" pitchFamily="34" charset="-120"/>
              </a:rPr>
              <a:t>Build a tagged defect dataset and define evals against it. Today nobody measures the net.</a:t>
            </a:r>
            <a:endParaRPr lang="en-US" sz="1600" dirty="0"/>
          </a:p>
        </p:txBody>
      </p:sp>
      <p:sp>
        <p:nvSpPr>
          <p:cNvPr id="18" name="Shape 16"/>
          <p:cNvSpPr/>
          <p:nvPr/>
        </p:nvSpPr>
        <p:spPr>
          <a:xfrm>
            <a:off x="6435598" y="5383784"/>
            <a:ext cx="5029200" cy="1060704"/>
          </a:xfrm>
          <a:prstGeom prst="roundRect">
            <a:avLst>
              <a:gd name="adj" fmla="val 6897"/>
            </a:avLst>
          </a:prstGeom>
          <a:solidFill>
            <a:srgbClr val="FFFFFF">
              <a:alpha val="0"/>
            </a:srgbClr>
          </a:solidFill>
          <a:ln w="12700">
            <a:solidFill>
              <a:srgbClr val="C9C4C1"/>
            </a:solidFill>
            <a:prstDash val="solid"/>
          </a:ln>
        </p:spPr>
        <p:txBody>
          <a:bodyPr/>
          <a:lstStyle/>
          <a:p>
            <a:endParaRPr lang="en-US"/>
          </a:p>
        </p:txBody>
      </p:sp>
      <p:sp>
        <p:nvSpPr>
          <p:cNvPr id="19" name="Text 17"/>
          <p:cNvSpPr txBox="1"/>
          <p:nvPr/>
        </p:nvSpPr>
        <p:spPr>
          <a:xfrm>
            <a:off x="6655054" y="5511800"/>
            <a:ext cx="1828800" cy="237744"/>
          </a:xfrm>
          <a:prstGeom prst="rect">
            <a:avLst/>
          </a:prstGeom>
          <a:noFill/>
          <a:ln/>
        </p:spPr>
        <p:txBody>
          <a:bodyPr wrap="square" lIns="0" tIns="0" rIns="0" bIns="0" rtlCol="0" anchor="ctr"/>
          <a:lstStyle/>
          <a:p>
            <a:pPr marL="0" indent="0">
              <a:buNone/>
            </a:pPr>
            <a:r>
              <a:rPr lang="en-US" sz="1100" b="1" dirty="0">
                <a:solidFill>
                  <a:srgbClr val="156082"/>
                </a:solidFill>
                <a:latin typeface="Aptos" pitchFamily="34" charset="0"/>
                <a:ea typeface="Aptos" pitchFamily="34" charset="-122"/>
                <a:cs typeface="Aptos" pitchFamily="34" charset="-120"/>
              </a:rPr>
              <a:t>THE ASK</a:t>
            </a:r>
            <a:endParaRPr lang="en-US" sz="1100" dirty="0"/>
          </a:p>
        </p:txBody>
      </p:sp>
      <p:sp>
        <p:nvSpPr>
          <p:cNvPr id="20" name="Text 18"/>
          <p:cNvSpPr txBox="1"/>
          <p:nvPr/>
        </p:nvSpPr>
        <p:spPr>
          <a:xfrm>
            <a:off x="6655054" y="5749544"/>
            <a:ext cx="4590288" cy="658368"/>
          </a:xfrm>
          <a:prstGeom prst="rect">
            <a:avLst/>
          </a:prstGeom>
          <a:noFill/>
          <a:ln/>
        </p:spPr>
        <p:txBody>
          <a:bodyPr wrap="square" lIns="0" tIns="0" rIns="0" bIns="0" rtlCol="0" anchor="t"/>
          <a:lstStyle/>
          <a:p>
            <a:pPr marL="0" indent="0">
              <a:buNone/>
            </a:pPr>
            <a:r>
              <a:rPr lang="en-US" sz="1400" dirty="0">
                <a:solidFill>
                  <a:srgbClr val="1A1A1A"/>
                </a:solidFill>
                <a:latin typeface="Aptos" pitchFamily="34" charset="0"/>
                <a:ea typeface="Aptos" pitchFamily="34" charset="-122"/>
                <a:cs typeface="Aptos" pitchFamily="34" charset="-120"/>
              </a:rPr>
              <a:t>SG23 owns safety and meets all year. A tagged defect dataset would let profiles and evals target what actually fails.</a:t>
            </a:r>
            <a:endParaRPr lang="en-US" sz="1400" dirty="0"/>
          </a:p>
        </p:txBody>
      </p:sp>
      <p:sp>
        <p:nvSpPr>
          <p:cNvPr id="21" name="Title 20">
            <a:extLst>
              <a:ext uri="{FF2B5EF4-FFF2-40B4-BE49-F238E27FC236}">
                <a16:creationId xmlns:a16="http://schemas.microsoft.com/office/drawing/2014/main" id="{D82A75E7-A2C8-359C-D662-729F815927EC}"/>
              </a:ext>
            </a:extLst>
          </p:cNvPr>
          <p:cNvSpPr>
            <a:spLocks noGrp="1"/>
          </p:cNvSpPr>
          <p:nvPr>
            <p:ph type="title"/>
          </p:nvPr>
        </p:nvSpPr>
        <p:spPr/>
        <p:txBody>
          <a:bodyPr/>
          <a:lstStyle/>
          <a:p>
            <a:r>
              <a:rPr lang="en-US" dirty="0">
                <a:solidFill>
                  <a:srgbClr val="1A1A1A"/>
                </a:solidFill>
                <a:latin typeface="Aptos Display" pitchFamily="34" charset="0"/>
                <a:ea typeface="Aptos Display" pitchFamily="34" charset="-122"/>
                <a:cs typeface="Aptos Display" pitchFamily="34" charset="-120"/>
              </a:rPr>
              <a:t>Questions we need to answer</a:t>
            </a: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955548" y="1482090"/>
            <a:ext cx="10515600" cy="365760"/>
          </a:xfrm>
          <a:prstGeom prst="rect">
            <a:avLst/>
          </a:prstGeom>
          <a:noFill/>
          <a:ln/>
        </p:spPr>
        <p:txBody>
          <a:bodyPr wrap="square" lIns="0" tIns="0" rIns="0" bIns="0" rtlCol="0" anchor="ctr"/>
          <a:lstStyle/>
          <a:p>
            <a:pPr marL="0" indent="0">
              <a:buNone/>
            </a:pPr>
            <a:r>
              <a:rPr lang="en-US" sz="1600" dirty="0">
                <a:solidFill>
                  <a:srgbClr val="595959"/>
                </a:solidFill>
                <a:latin typeface="Aptos" pitchFamily="34" charset="0"/>
                <a:ea typeface="Aptos" pitchFamily="34" charset="-122"/>
                <a:cs typeface="Aptos" pitchFamily="34" charset="-120"/>
              </a:rPr>
              <a:t>What a record carries, and what it does not</a:t>
            </a:r>
            <a:endParaRPr lang="en-US" sz="1600" dirty="0"/>
          </a:p>
        </p:txBody>
      </p:sp>
      <p:sp>
        <p:nvSpPr>
          <p:cNvPr id="4" name="Shape 2"/>
          <p:cNvSpPr/>
          <p:nvPr/>
        </p:nvSpPr>
        <p:spPr>
          <a:xfrm>
            <a:off x="955548" y="2030730"/>
            <a:ext cx="5394960" cy="4251960"/>
          </a:xfrm>
          <a:prstGeom prst="roundRect">
            <a:avLst>
              <a:gd name="adj" fmla="val 1720"/>
            </a:avLst>
          </a:prstGeom>
          <a:solidFill>
            <a:srgbClr val="FFFFFF">
              <a:alpha val="0"/>
            </a:srgbClr>
          </a:solidFill>
          <a:ln w="12700">
            <a:solidFill>
              <a:srgbClr val="C9C4C1"/>
            </a:solidFill>
            <a:prstDash val="solid"/>
          </a:ln>
        </p:spPr>
        <p:txBody>
          <a:bodyPr/>
          <a:lstStyle/>
          <a:p>
            <a:endParaRPr lang="en-US"/>
          </a:p>
        </p:txBody>
      </p:sp>
      <p:sp>
        <p:nvSpPr>
          <p:cNvPr id="5" name="Text 3"/>
          <p:cNvSpPr txBox="1"/>
          <p:nvPr/>
        </p:nvSpPr>
        <p:spPr>
          <a:xfrm>
            <a:off x="1229868" y="2231898"/>
            <a:ext cx="3657600" cy="347472"/>
          </a:xfrm>
          <a:prstGeom prst="rect">
            <a:avLst/>
          </a:prstGeom>
          <a:noFill/>
          <a:ln/>
        </p:spPr>
        <p:txBody>
          <a:bodyPr wrap="square" lIns="0" tIns="0" rIns="0" bIns="0" rtlCol="0" anchor="ctr"/>
          <a:lstStyle/>
          <a:p>
            <a:pPr marL="0" indent="0">
              <a:buNone/>
            </a:pPr>
            <a:r>
              <a:rPr lang="en-US" sz="1800" dirty="0">
                <a:solidFill>
                  <a:srgbClr val="1A1A1A"/>
                </a:solidFill>
                <a:latin typeface="Consolas" pitchFamily="34" charset="0"/>
                <a:ea typeface="Consolas" pitchFamily="34" charset="-122"/>
                <a:cs typeface="Consolas" pitchFamily="34" charset="-120"/>
              </a:rPr>
              <a:t>CVE-YYYY-NNNNN</a:t>
            </a:r>
            <a:endParaRPr lang="en-US" sz="1800" dirty="0"/>
          </a:p>
        </p:txBody>
      </p:sp>
      <p:sp>
        <p:nvSpPr>
          <p:cNvPr id="6" name="Text 4"/>
          <p:cNvSpPr txBox="1"/>
          <p:nvPr/>
        </p:nvSpPr>
        <p:spPr>
          <a:xfrm>
            <a:off x="1229868" y="2689098"/>
            <a:ext cx="1627632" cy="274320"/>
          </a:xfrm>
          <a:prstGeom prst="rect">
            <a:avLst/>
          </a:prstGeom>
          <a:noFill/>
          <a:ln/>
        </p:spPr>
        <p:txBody>
          <a:bodyPr wrap="square" lIns="0" tIns="0" rIns="0" bIns="0" rtlCol="0" anchor="ctr"/>
          <a:lstStyle/>
          <a:p>
            <a:pPr marL="0" indent="0">
              <a:buNone/>
            </a:pPr>
            <a:r>
              <a:rPr lang="en-US" sz="1100" b="1" dirty="0">
                <a:solidFill>
                  <a:srgbClr val="156082"/>
                </a:solidFill>
                <a:latin typeface="Aptos" pitchFamily="34" charset="0"/>
                <a:ea typeface="Aptos" pitchFamily="34" charset="-122"/>
                <a:cs typeface="Aptos" pitchFamily="34" charset="-120"/>
              </a:rPr>
              <a:t>DESCRIPTION</a:t>
            </a:r>
            <a:endParaRPr lang="en-US" sz="1100" dirty="0"/>
          </a:p>
        </p:txBody>
      </p:sp>
      <p:sp>
        <p:nvSpPr>
          <p:cNvPr id="7" name="Text 5"/>
          <p:cNvSpPr txBox="1"/>
          <p:nvPr/>
        </p:nvSpPr>
        <p:spPr>
          <a:xfrm>
            <a:off x="1229868" y="2926842"/>
            <a:ext cx="4846320" cy="512064"/>
          </a:xfrm>
          <a:prstGeom prst="rect">
            <a:avLst/>
          </a:prstGeom>
          <a:noFill/>
          <a:ln/>
        </p:spPr>
        <p:txBody>
          <a:bodyPr wrap="square" lIns="0" tIns="0" rIns="0" bIns="0" rtlCol="0" anchor="t"/>
          <a:lstStyle/>
          <a:p>
            <a:pPr marL="0" indent="0">
              <a:buNone/>
            </a:pPr>
            <a:r>
              <a:rPr lang="en-US" sz="1400" dirty="0">
                <a:solidFill>
                  <a:srgbClr val="1A1A1A"/>
                </a:solidFill>
                <a:latin typeface="Aptos" pitchFamily="34" charset="0"/>
                <a:ea typeface="Aptos" pitchFamily="34" charset="-122"/>
                <a:cs typeface="Aptos" pitchFamily="34" charset="-120"/>
              </a:rPr>
              <a:t>Out-of-bounds write in the image decoder allows remote code execution via a crafted file.</a:t>
            </a:r>
            <a:endParaRPr lang="en-US" sz="1400" dirty="0"/>
          </a:p>
        </p:txBody>
      </p:sp>
      <p:sp>
        <p:nvSpPr>
          <p:cNvPr id="8" name="Text 6"/>
          <p:cNvSpPr txBox="1"/>
          <p:nvPr/>
        </p:nvSpPr>
        <p:spPr>
          <a:xfrm>
            <a:off x="1229868" y="3566922"/>
            <a:ext cx="1627632" cy="274320"/>
          </a:xfrm>
          <a:prstGeom prst="rect">
            <a:avLst/>
          </a:prstGeom>
          <a:noFill/>
          <a:ln/>
        </p:spPr>
        <p:txBody>
          <a:bodyPr wrap="square" lIns="0" tIns="0" rIns="0" bIns="0" rtlCol="0" anchor="ctr"/>
          <a:lstStyle/>
          <a:p>
            <a:pPr marL="0" indent="0">
              <a:buNone/>
            </a:pPr>
            <a:r>
              <a:rPr lang="en-US" sz="1100" b="1" dirty="0">
                <a:solidFill>
                  <a:srgbClr val="156082"/>
                </a:solidFill>
                <a:latin typeface="Aptos" pitchFamily="34" charset="0"/>
                <a:ea typeface="Aptos" pitchFamily="34" charset="-122"/>
                <a:cs typeface="Aptos" pitchFamily="34" charset="-120"/>
              </a:rPr>
              <a:t>AFFECTED</a:t>
            </a:r>
            <a:endParaRPr lang="en-US" sz="1100" dirty="0"/>
          </a:p>
        </p:txBody>
      </p:sp>
      <p:sp>
        <p:nvSpPr>
          <p:cNvPr id="9" name="Text 7"/>
          <p:cNvSpPr txBox="1"/>
          <p:nvPr/>
        </p:nvSpPr>
        <p:spPr>
          <a:xfrm>
            <a:off x="2921508" y="3548634"/>
            <a:ext cx="1525219"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vendor / product</a:t>
            </a:r>
            <a:endParaRPr lang="en-US" sz="1300" dirty="0"/>
          </a:p>
        </p:txBody>
      </p:sp>
      <p:sp>
        <p:nvSpPr>
          <p:cNvPr id="10" name="Text 8"/>
          <p:cNvSpPr txBox="1"/>
          <p:nvPr/>
        </p:nvSpPr>
        <p:spPr>
          <a:xfrm>
            <a:off x="4529023" y="3548634"/>
            <a:ext cx="1373429"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1.2.0 to 1.4.7</a:t>
            </a:r>
            <a:endParaRPr lang="en-US" sz="1300" dirty="0"/>
          </a:p>
        </p:txBody>
      </p:sp>
      <p:sp>
        <p:nvSpPr>
          <p:cNvPr id="11" name="Text 9"/>
          <p:cNvSpPr txBox="1"/>
          <p:nvPr/>
        </p:nvSpPr>
        <p:spPr>
          <a:xfrm>
            <a:off x="1229868" y="3987546"/>
            <a:ext cx="1627632" cy="274320"/>
          </a:xfrm>
          <a:prstGeom prst="rect">
            <a:avLst/>
          </a:prstGeom>
          <a:noFill/>
          <a:ln/>
        </p:spPr>
        <p:txBody>
          <a:bodyPr wrap="square" lIns="0" tIns="0" rIns="0" bIns="0" rtlCol="0" anchor="ctr"/>
          <a:lstStyle/>
          <a:p>
            <a:pPr marL="0" indent="0">
              <a:buNone/>
            </a:pPr>
            <a:r>
              <a:rPr lang="en-US" sz="1100" b="1" dirty="0">
                <a:solidFill>
                  <a:srgbClr val="156082"/>
                </a:solidFill>
                <a:latin typeface="Aptos" pitchFamily="34" charset="0"/>
                <a:ea typeface="Aptos" pitchFamily="34" charset="-122"/>
                <a:cs typeface="Aptos" pitchFamily="34" charset="-120"/>
              </a:rPr>
              <a:t>WEAKNESS</a:t>
            </a:r>
            <a:endParaRPr lang="en-US" sz="1100" dirty="0"/>
          </a:p>
        </p:txBody>
      </p:sp>
      <p:sp>
        <p:nvSpPr>
          <p:cNvPr id="12" name="Text 10"/>
          <p:cNvSpPr txBox="1"/>
          <p:nvPr/>
        </p:nvSpPr>
        <p:spPr>
          <a:xfrm>
            <a:off x="2921508" y="3969258"/>
            <a:ext cx="842162"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CWE-787</a:t>
            </a:r>
            <a:endParaRPr lang="en-US" sz="1300" dirty="0"/>
          </a:p>
        </p:txBody>
      </p:sp>
      <p:sp>
        <p:nvSpPr>
          <p:cNvPr id="13" name="Text 11"/>
          <p:cNvSpPr txBox="1"/>
          <p:nvPr/>
        </p:nvSpPr>
        <p:spPr>
          <a:xfrm>
            <a:off x="3845966" y="3969258"/>
            <a:ext cx="1752905"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Out-of-bounds write</a:t>
            </a:r>
            <a:endParaRPr lang="en-US" sz="1300" dirty="0"/>
          </a:p>
        </p:txBody>
      </p:sp>
      <p:sp>
        <p:nvSpPr>
          <p:cNvPr id="14" name="Text 12"/>
          <p:cNvSpPr txBox="1"/>
          <p:nvPr/>
        </p:nvSpPr>
        <p:spPr>
          <a:xfrm>
            <a:off x="1229868" y="4408170"/>
            <a:ext cx="1627632" cy="274320"/>
          </a:xfrm>
          <a:prstGeom prst="rect">
            <a:avLst/>
          </a:prstGeom>
          <a:noFill/>
          <a:ln/>
        </p:spPr>
        <p:txBody>
          <a:bodyPr wrap="square" lIns="0" tIns="0" rIns="0" bIns="0" rtlCol="0" anchor="ctr"/>
          <a:lstStyle/>
          <a:p>
            <a:pPr marL="0" indent="0">
              <a:buNone/>
            </a:pPr>
            <a:r>
              <a:rPr lang="en-US" sz="1100" b="1" dirty="0">
                <a:solidFill>
                  <a:srgbClr val="156082"/>
                </a:solidFill>
                <a:latin typeface="Aptos" pitchFamily="34" charset="0"/>
                <a:ea typeface="Aptos" pitchFamily="34" charset="-122"/>
                <a:cs typeface="Aptos" pitchFamily="34" charset="-120"/>
              </a:rPr>
              <a:t>SEVERITY</a:t>
            </a:r>
            <a:endParaRPr lang="en-US" sz="1100" dirty="0"/>
          </a:p>
        </p:txBody>
      </p:sp>
      <p:sp>
        <p:nvSpPr>
          <p:cNvPr id="15" name="Text 13"/>
          <p:cNvSpPr txBox="1"/>
          <p:nvPr/>
        </p:nvSpPr>
        <p:spPr>
          <a:xfrm>
            <a:off x="2921508" y="4389882"/>
            <a:ext cx="918058"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CVSS 8.8</a:t>
            </a:r>
            <a:endParaRPr lang="en-US" sz="1300" dirty="0"/>
          </a:p>
        </p:txBody>
      </p:sp>
      <p:sp>
        <p:nvSpPr>
          <p:cNvPr id="16" name="Text 14"/>
          <p:cNvSpPr txBox="1"/>
          <p:nvPr/>
        </p:nvSpPr>
        <p:spPr>
          <a:xfrm>
            <a:off x="3921862" y="4389882"/>
            <a:ext cx="614477"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High</a:t>
            </a:r>
            <a:endParaRPr lang="en-US" sz="1300" dirty="0"/>
          </a:p>
        </p:txBody>
      </p:sp>
      <p:sp>
        <p:nvSpPr>
          <p:cNvPr id="17" name="Text 15"/>
          <p:cNvSpPr txBox="1"/>
          <p:nvPr/>
        </p:nvSpPr>
        <p:spPr>
          <a:xfrm>
            <a:off x="1229868" y="4828794"/>
            <a:ext cx="1627632" cy="274320"/>
          </a:xfrm>
          <a:prstGeom prst="rect">
            <a:avLst/>
          </a:prstGeom>
          <a:noFill/>
          <a:ln/>
        </p:spPr>
        <p:txBody>
          <a:bodyPr wrap="square" lIns="0" tIns="0" rIns="0" bIns="0" rtlCol="0" anchor="ctr"/>
          <a:lstStyle/>
          <a:p>
            <a:pPr marL="0" indent="0">
              <a:buNone/>
            </a:pPr>
            <a:r>
              <a:rPr lang="en-US" sz="1100" b="1" dirty="0">
                <a:solidFill>
                  <a:srgbClr val="156082"/>
                </a:solidFill>
                <a:latin typeface="Aptos" pitchFamily="34" charset="0"/>
                <a:ea typeface="Aptos" pitchFamily="34" charset="-122"/>
                <a:cs typeface="Aptos" pitchFamily="34" charset="-120"/>
              </a:rPr>
              <a:t>REFERENCES</a:t>
            </a:r>
            <a:endParaRPr lang="en-US" sz="1100" dirty="0"/>
          </a:p>
        </p:txBody>
      </p:sp>
      <p:sp>
        <p:nvSpPr>
          <p:cNvPr id="18" name="Text 16"/>
          <p:cNvSpPr txBox="1"/>
          <p:nvPr/>
        </p:nvSpPr>
        <p:spPr>
          <a:xfrm>
            <a:off x="2921508" y="4810506"/>
            <a:ext cx="918058"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advisory</a:t>
            </a:r>
            <a:endParaRPr lang="en-US" sz="1300" dirty="0"/>
          </a:p>
        </p:txBody>
      </p:sp>
      <p:sp>
        <p:nvSpPr>
          <p:cNvPr id="19" name="Text 17"/>
          <p:cNvSpPr txBox="1"/>
          <p:nvPr/>
        </p:nvSpPr>
        <p:spPr>
          <a:xfrm>
            <a:off x="3921862" y="4810506"/>
            <a:ext cx="1069848" cy="310896"/>
          </a:xfrm>
          <a:prstGeom prst="roundRect">
            <a:avLst>
              <a:gd name="adj" fmla="val 35294"/>
            </a:avLst>
          </a:prstGeom>
          <a:solidFill>
            <a:srgbClr val="D9D9D9"/>
          </a:solidFill>
          <a:ln>
            <a:solidFill>
              <a:srgbClr val="D9D9D9"/>
            </a:solidFill>
          </a:ln>
        </p:spPr>
        <p:txBody>
          <a:bodyPr wrap="square" lIns="0" tIns="0" rIns="0" bIns="0" rtlCol="0" anchor="ctr"/>
          <a:lstStyle/>
          <a:p>
            <a:pPr marL="0" indent="0" algn="ctr">
              <a:buNone/>
            </a:pPr>
            <a:r>
              <a:rPr lang="en-US" sz="1300" dirty="0">
                <a:solidFill>
                  <a:srgbClr val="1A1A1A"/>
                </a:solidFill>
                <a:latin typeface="Aptos" pitchFamily="34" charset="0"/>
                <a:ea typeface="Aptos" pitchFamily="34" charset="-122"/>
                <a:cs typeface="Aptos" pitchFamily="34" charset="-120"/>
              </a:rPr>
              <a:t>fix commit</a:t>
            </a:r>
            <a:endParaRPr lang="en-US" sz="1300" dirty="0"/>
          </a:p>
        </p:txBody>
      </p:sp>
      <p:sp>
        <p:nvSpPr>
          <p:cNvPr id="20" name="Shape 18"/>
          <p:cNvSpPr/>
          <p:nvPr/>
        </p:nvSpPr>
        <p:spPr>
          <a:xfrm>
            <a:off x="1229868" y="5285994"/>
            <a:ext cx="4846320" cy="9144"/>
          </a:xfrm>
          <a:prstGeom prst="rect">
            <a:avLst/>
          </a:prstGeom>
          <a:solidFill>
            <a:srgbClr val="C9C4C1"/>
          </a:solidFill>
          <a:ln w="12700">
            <a:solidFill>
              <a:srgbClr val="C9C4C1"/>
            </a:solidFill>
            <a:prstDash val="solid"/>
          </a:ln>
        </p:spPr>
        <p:txBody>
          <a:bodyPr/>
          <a:lstStyle/>
          <a:p>
            <a:endParaRPr lang="en-US"/>
          </a:p>
        </p:txBody>
      </p:sp>
      <p:sp>
        <p:nvSpPr>
          <p:cNvPr id="21" name="Text 19"/>
          <p:cNvSpPr txBox="1"/>
          <p:nvPr/>
        </p:nvSpPr>
        <p:spPr>
          <a:xfrm>
            <a:off x="1229868" y="5450586"/>
            <a:ext cx="1627632" cy="274320"/>
          </a:xfrm>
          <a:prstGeom prst="rect">
            <a:avLst/>
          </a:prstGeom>
          <a:noFill/>
          <a:ln/>
        </p:spPr>
        <p:txBody>
          <a:bodyPr wrap="square" lIns="0" tIns="0" rIns="0" bIns="0" rtlCol="0" anchor="ctr"/>
          <a:lstStyle/>
          <a:p>
            <a:pPr marL="0" indent="0">
              <a:buNone/>
            </a:pPr>
            <a:r>
              <a:rPr lang="en-US" sz="1100" b="1" dirty="0">
                <a:solidFill>
                  <a:srgbClr val="595959"/>
                </a:solidFill>
                <a:latin typeface="Aptos" pitchFamily="34" charset="0"/>
                <a:ea typeface="Aptos" pitchFamily="34" charset="-122"/>
                <a:cs typeface="Aptos" pitchFamily="34" charset="-120"/>
              </a:rPr>
              <a:t>OPTIONAL, UNUSED</a:t>
            </a:r>
            <a:endParaRPr lang="en-US" sz="1100" dirty="0"/>
          </a:p>
        </p:txBody>
      </p:sp>
      <p:sp>
        <p:nvSpPr>
          <p:cNvPr id="22" name="Text 20"/>
          <p:cNvSpPr txBox="1"/>
          <p:nvPr/>
        </p:nvSpPr>
        <p:spPr>
          <a:xfrm>
            <a:off x="2921508" y="5432298"/>
            <a:ext cx="614477" cy="310896"/>
          </a:xfrm>
          <a:prstGeom prst="roundRect">
            <a:avLst>
              <a:gd name="adj" fmla="val 35294"/>
            </a:avLst>
          </a:prstGeom>
          <a:solidFill>
            <a:srgbClr val="FDFAF8"/>
          </a:solidFill>
          <a:ln w="12700">
            <a:solidFill>
              <a:srgbClr val="595959"/>
            </a:solidFill>
            <a:prstDash val="sysDash"/>
          </a:ln>
        </p:spPr>
        <p:txBody>
          <a:bodyPr wrap="square" lIns="0" tIns="0" rIns="0" bIns="0" rtlCol="0" anchor="ctr"/>
          <a:lstStyle/>
          <a:p>
            <a:pPr marL="0" indent="0" algn="ctr">
              <a:buNone/>
            </a:pPr>
            <a:r>
              <a:rPr lang="en-US" sz="1300" dirty="0">
                <a:solidFill>
                  <a:srgbClr val="595959"/>
                </a:solidFill>
                <a:latin typeface="Aptos" pitchFamily="34" charset="0"/>
                <a:ea typeface="Aptos" pitchFamily="34" charset="-122"/>
                <a:cs typeface="Aptos" pitchFamily="34" charset="-120"/>
              </a:rPr>
              <a:t>File</a:t>
            </a:r>
            <a:endParaRPr lang="en-US" sz="1300" dirty="0"/>
          </a:p>
        </p:txBody>
      </p:sp>
      <p:sp>
        <p:nvSpPr>
          <p:cNvPr id="23" name="Text 21"/>
          <p:cNvSpPr txBox="1"/>
          <p:nvPr/>
        </p:nvSpPr>
        <p:spPr>
          <a:xfrm>
            <a:off x="3618281" y="5432298"/>
            <a:ext cx="918058" cy="310896"/>
          </a:xfrm>
          <a:prstGeom prst="roundRect">
            <a:avLst>
              <a:gd name="adj" fmla="val 35294"/>
            </a:avLst>
          </a:prstGeom>
          <a:solidFill>
            <a:srgbClr val="FDFAF8"/>
          </a:solidFill>
          <a:ln w="12700">
            <a:solidFill>
              <a:srgbClr val="595959"/>
            </a:solidFill>
            <a:prstDash val="sysDash"/>
          </a:ln>
        </p:spPr>
        <p:txBody>
          <a:bodyPr wrap="square" lIns="0" tIns="0" rIns="0" bIns="0" rtlCol="0" anchor="ctr"/>
          <a:lstStyle/>
          <a:p>
            <a:pPr marL="0" indent="0" algn="ctr">
              <a:buNone/>
            </a:pPr>
            <a:r>
              <a:rPr lang="en-US" sz="1300" dirty="0">
                <a:solidFill>
                  <a:srgbClr val="595959"/>
                </a:solidFill>
                <a:latin typeface="Aptos" pitchFamily="34" charset="0"/>
                <a:ea typeface="Aptos" pitchFamily="34" charset="-122"/>
                <a:cs typeface="Aptos" pitchFamily="34" charset="-120"/>
              </a:rPr>
              <a:t>Function</a:t>
            </a:r>
            <a:endParaRPr lang="en-US" sz="1300" dirty="0"/>
          </a:p>
        </p:txBody>
      </p:sp>
      <p:sp>
        <p:nvSpPr>
          <p:cNvPr id="24" name="Text 22"/>
          <p:cNvSpPr txBox="1"/>
          <p:nvPr/>
        </p:nvSpPr>
        <p:spPr>
          <a:xfrm>
            <a:off x="1229868" y="5871210"/>
            <a:ext cx="1627632" cy="274320"/>
          </a:xfrm>
          <a:prstGeom prst="rect">
            <a:avLst/>
          </a:prstGeom>
          <a:noFill/>
          <a:ln/>
        </p:spPr>
        <p:txBody>
          <a:bodyPr wrap="square" lIns="0" tIns="0" rIns="0" bIns="0" rtlCol="0" anchor="ctr"/>
          <a:lstStyle/>
          <a:p>
            <a:pPr marL="0" indent="0">
              <a:buNone/>
            </a:pPr>
            <a:r>
              <a:rPr lang="en-US" sz="1100" b="1" dirty="0">
                <a:solidFill>
                  <a:srgbClr val="595959"/>
                </a:solidFill>
                <a:latin typeface="Aptos" pitchFamily="34" charset="0"/>
                <a:ea typeface="Aptos" pitchFamily="34" charset="-122"/>
                <a:cs typeface="Aptos" pitchFamily="34" charset="-120"/>
              </a:rPr>
              <a:t>NO FIELD</a:t>
            </a:r>
            <a:endParaRPr lang="en-US" sz="1100" dirty="0"/>
          </a:p>
        </p:txBody>
      </p:sp>
      <p:sp>
        <p:nvSpPr>
          <p:cNvPr id="25" name="Text 23"/>
          <p:cNvSpPr txBox="1"/>
          <p:nvPr/>
        </p:nvSpPr>
        <p:spPr>
          <a:xfrm>
            <a:off x="2921508" y="5852922"/>
            <a:ext cx="918058" cy="310896"/>
          </a:xfrm>
          <a:prstGeom prst="roundRect">
            <a:avLst>
              <a:gd name="adj" fmla="val 35294"/>
            </a:avLst>
          </a:prstGeom>
          <a:solidFill>
            <a:srgbClr val="FDFAF8"/>
          </a:solidFill>
          <a:ln w="12700">
            <a:solidFill>
              <a:srgbClr val="595959"/>
            </a:solidFill>
            <a:prstDash val="sysDash"/>
          </a:ln>
        </p:spPr>
        <p:txBody>
          <a:bodyPr wrap="square" lIns="0" tIns="0" rIns="0" bIns="0" rtlCol="0" anchor="ctr"/>
          <a:lstStyle/>
          <a:p>
            <a:pPr marL="0" indent="0" algn="ctr">
              <a:buNone/>
            </a:pPr>
            <a:r>
              <a:rPr lang="en-US" sz="1300" dirty="0">
                <a:solidFill>
                  <a:srgbClr val="595959"/>
                </a:solidFill>
                <a:latin typeface="Aptos" pitchFamily="34" charset="0"/>
                <a:ea typeface="Aptos" pitchFamily="34" charset="-122"/>
                <a:cs typeface="Aptos" pitchFamily="34" charset="-120"/>
              </a:rPr>
              <a:t>Language</a:t>
            </a:r>
            <a:endParaRPr lang="en-US" sz="1300" dirty="0"/>
          </a:p>
        </p:txBody>
      </p:sp>
      <p:sp>
        <p:nvSpPr>
          <p:cNvPr id="26" name="Text 24"/>
          <p:cNvSpPr txBox="1"/>
          <p:nvPr/>
        </p:nvSpPr>
        <p:spPr>
          <a:xfrm>
            <a:off x="3921862" y="5852922"/>
            <a:ext cx="993953" cy="310896"/>
          </a:xfrm>
          <a:prstGeom prst="roundRect">
            <a:avLst>
              <a:gd name="adj" fmla="val 35294"/>
            </a:avLst>
          </a:prstGeom>
          <a:solidFill>
            <a:srgbClr val="FDFAF8"/>
          </a:solidFill>
          <a:ln w="12700">
            <a:solidFill>
              <a:srgbClr val="595959"/>
            </a:solidFill>
            <a:prstDash val="sysDash"/>
          </a:ln>
        </p:spPr>
        <p:txBody>
          <a:bodyPr wrap="square" lIns="0" tIns="0" rIns="0" bIns="0" rtlCol="0" anchor="ctr"/>
          <a:lstStyle/>
          <a:p>
            <a:pPr marL="0" indent="0" algn="ctr">
              <a:buNone/>
            </a:pPr>
            <a:r>
              <a:rPr lang="en-US" sz="1300" dirty="0">
                <a:solidFill>
                  <a:srgbClr val="595959"/>
                </a:solidFill>
                <a:latin typeface="Aptos" pitchFamily="34" charset="0"/>
                <a:ea typeface="Aptos" pitchFamily="34" charset="-122"/>
                <a:cs typeface="Aptos" pitchFamily="34" charset="-120"/>
              </a:rPr>
              <a:t>Construct</a:t>
            </a:r>
            <a:endParaRPr lang="en-US" sz="1300" dirty="0"/>
          </a:p>
        </p:txBody>
      </p:sp>
      <p:sp>
        <p:nvSpPr>
          <p:cNvPr id="27" name="Text 25"/>
          <p:cNvSpPr txBox="1"/>
          <p:nvPr/>
        </p:nvSpPr>
        <p:spPr>
          <a:xfrm>
            <a:off x="6789420" y="2030730"/>
            <a:ext cx="1051560" cy="896112"/>
          </a:xfrm>
          <a:prstGeom prst="rect">
            <a:avLst/>
          </a:prstGeom>
          <a:noFill/>
          <a:ln/>
        </p:spPr>
        <p:txBody>
          <a:bodyPr wrap="square" lIns="0" tIns="0" rIns="0" bIns="0" rtlCol="0" anchor="t"/>
          <a:lstStyle/>
          <a:p>
            <a:pPr marL="0" indent="0">
              <a:buNone/>
            </a:pPr>
            <a:r>
              <a:rPr lang="en-US" sz="5400" b="1" dirty="0">
                <a:solidFill>
                  <a:srgbClr val="156082"/>
                </a:solidFill>
                <a:latin typeface="Aptos" pitchFamily="34" charset="0"/>
                <a:ea typeface="Aptos" pitchFamily="34" charset="-122"/>
                <a:cs typeface="Aptos" pitchFamily="34" charset="-120"/>
              </a:rPr>
              <a:t>01</a:t>
            </a:r>
            <a:endParaRPr lang="en-US" sz="5400" dirty="0"/>
          </a:p>
        </p:txBody>
      </p:sp>
      <p:sp>
        <p:nvSpPr>
          <p:cNvPr id="28" name="Text 26"/>
          <p:cNvSpPr txBox="1"/>
          <p:nvPr/>
        </p:nvSpPr>
        <p:spPr>
          <a:xfrm>
            <a:off x="7932420" y="2167890"/>
            <a:ext cx="3538728" cy="1170432"/>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A record names a </a:t>
            </a:r>
            <a:r>
              <a:rPr lang="en-US" sz="1600" b="1" dirty="0">
                <a:solidFill>
                  <a:srgbClr val="156082"/>
                </a:solidFill>
                <a:latin typeface="Aptos" pitchFamily="34" charset="0"/>
                <a:ea typeface="Aptos" pitchFamily="34" charset="-122"/>
                <a:cs typeface="Aptos" pitchFamily="34" charset="-120"/>
              </a:rPr>
              <a:t>product</a:t>
            </a:r>
            <a:r>
              <a:rPr lang="en-US" sz="1600" dirty="0">
                <a:solidFill>
                  <a:srgbClr val="1A1A1A"/>
                </a:solidFill>
                <a:latin typeface="Aptos" pitchFamily="34" charset="0"/>
                <a:ea typeface="Aptos" pitchFamily="34" charset="-122"/>
                <a:cs typeface="Aptos" pitchFamily="34" charset="-120"/>
              </a:rPr>
              <a:t>, not code.</a:t>
            </a:r>
            <a:endParaRPr lang="en-US" sz="1600" dirty="0"/>
          </a:p>
          <a:p>
            <a:pPr marL="0" indent="0">
              <a:lnSpc>
                <a:spcPct val="105000"/>
              </a:lnSpc>
              <a:spcBef>
                <a:spcPts val="400"/>
              </a:spcBef>
              <a:buNone/>
            </a:pPr>
            <a:r>
              <a:rPr lang="en-US" sz="1200" dirty="0">
                <a:solidFill>
                  <a:srgbClr val="595959"/>
                </a:solidFill>
                <a:latin typeface="Aptos" pitchFamily="34" charset="0"/>
                <a:ea typeface="Aptos" pitchFamily="34" charset="-122"/>
                <a:cs typeface="Aptos" pitchFamily="34" charset="-120"/>
              </a:rPr>
              <a:t>ID, description, product, versions, references. File and function fields sit unused.</a:t>
            </a:r>
            <a:endParaRPr lang="en-US" sz="1600" dirty="0"/>
          </a:p>
        </p:txBody>
      </p:sp>
      <p:sp>
        <p:nvSpPr>
          <p:cNvPr id="29" name="Shape 27"/>
          <p:cNvSpPr/>
          <p:nvPr/>
        </p:nvSpPr>
        <p:spPr>
          <a:xfrm>
            <a:off x="6789420" y="3329178"/>
            <a:ext cx="4681728" cy="9144"/>
          </a:xfrm>
          <a:prstGeom prst="rect">
            <a:avLst/>
          </a:prstGeom>
          <a:solidFill>
            <a:srgbClr val="C9C4C1"/>
          </a:solidFill>
          <a:ln w="12700">
            <a:solidFill>
              <a:srgbClr val="C9C4C1"/>
            </a:solidFill>
            <a:prstDash val="solid"/>
          </a:ln>
        </p:spPr>
        <p:txBody>
          <a:bodyPr/>
          <a:lstStyle/>
          <a:p>
            <a:endParaRPr lang="en-US"/>
          </a:p>
        </p:txBody>
      </p:sp>
      <p:sp>
        <p:nvSpPr>
          <p:cNvPr id="30" name="Text 28"/>
          <p:cNvSpPr txBox="1"/>
          <p:nvPr/>
        </p:nvSpPr>
        <p:spPr>
          <a:xfrm>
            <a:off x="6789420" y="3310890"/>
            <a:ext cx="1051560" cy="896112"/>
          </a:xfrm>
          <a:prstGeom prst="rect">
            <a:avLst/>
          </a:prstGeom>
          <a:noFill/>
          <a:ln/>
        </p:spPr>
        <p:txBody>
          <a:bodyPr wrap="square" lIns="0" tIns="0" rIns="0" bIns="0" rtlCol="0" anchor="t"/>
          <a:lstStyle/>
          <a:p>
            <a:pPr marL="0" indent="0">
              <a:buNone/>
            </a:pPr>
            <a:r>
              <a:rPr lang="en-US" sz="5400" b="1" dirty="0">
                <a:solidFill>
                  <a:srgbClr val="156082"/>
                </a:solidFill>
                <a:latin typeface="Aptos" pitchFamily="34" charset="0"/>
                <a:ea typeface="Aptos" pitchFamily="34" charset="-122"/>
                <a:cs typeface="Aptos" pitchFamily="34" charset="-120"/>
              </a:rPr>
              <a:t>02</a:t>
            </a:r>
            <a:endParaRPr lang="en-US" sz="5400" dirty="0"/>
          </a:p>
        </p:txBody>
      </p:sp>
      <p:sp>
        <p:nvSpPr>
          <p:cNvPr id="31" name="Text 29"/>
          <p:cNvSpPr txBox="1"/>
          <p:nvPr/>
        </p:nvSpPr>
        <p:spPr>
          <a:xfrm>
            <a:off x="7932420" y="3448050"/>
            <a:ext cx="3538728" cy="1170432"/>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CWE names the </a:t>
            </a:r>
            <a:r>
              <a:rPr lang="en-US" sz="1600" b="1" dirty="0">
                <a:solidFill>
                  <a:srgbClr val="156082"/>
                </a:solidFill>
                <a:latin typeface="Aptos" pitchFamily="34" charset="0"/>
                <a:ea typeface="Aptos" pitchFamily="34" charset="-122"/>
                <a:cs typeface="Aptos" pitchFamily="34" charset="-120"/>
              </a:rPr>
              <a:t>weakness</a:t>
            </a:r>
            <a:r>
              <a:rPr lang="en-US" sz="1600" dirty="0">
                <a:solidFill>
                  <a:srgbClr val="1A1A1A"/>
                </a:solidFill>
                <a:latin typeface="Aptos" pitchFamily="34" charset="0"/>
                <a:ea typeface="Aptos" pitchFamily="34" charset="-122"/>
                <a:cs typeface="Aptos" pitchFamily="34" charset="-120"/>
              </a:rPr>
              <a:t>, not the construct.</a:t>
            </a:r>
            <a:endParaRPr lang="en-US" sz="1600" dirty="0"/>
          </a:p>
          <a:p>
            <a:pPr marL="0" indent="0">
              <a:lnSpc>
                <a:spcPct val="105000"/>
              </a:lnSpc>
              <a:spcBef>
                <a:spcPts val="400"/>
              </a:spcBef>
              <a:buNone/>
            </a:pPr>
            <a:r>
              <a:rPr lang="en-US" sz="1200" dirty="0">
                <a:solidFill>
                  <a:srgbClr val="595959"/>
                </a:solidFill>
                <a:latin typeface="Aptos" pitchFamily="34" charset="0"/>
                <a:ea typeface="Aptos" pitchFamily="34" charset="-122"/>
                <a:cs typeface="Aptos" pitchFamily="34" charset="-120"/>
              </a:rPr>
              <a:t>Raw array, pointer arithmetic, vector operator[] or C library, all filed as CWE-787.</a:t>
            </a:r>
            <a:endParaRPr lang="en-US" sz="1600" dirty="0"/>
          </a:p>
        </p:txBody>
      </p:sp>
      <p:sp>
        <p:nvSpPr>
          <p:cNvPr id="32" name="Shape 30"/>
          <p:cNvSpPr/>
          <p:nvPr/>
        </p:nvSpPr>
        <p:spPr>
          <a:xfrm>
            <a:off x="6789420" y="4609338"/>
            <a:ext cx="4681728" cy="9144"/>
          </a:xfrm>
          <a:prstGeom prst="rect">
            <a:avLst/>
          </a:prstGeom>
          <a:solidFill>
            <a:srgbClr val="C9C4C1"/>
          </a:solidFill>
          <a:ln w="12700">
            <a:solidFill>
              <a:srgbClr val="C9C4C1"/>
            </a:solidFill>
            <a:prstDash val="solid"/>
          </a:ln>
        </p:spPr>
        <p:txBody>
          <a:bodyPr/>
          <a:lstStyle/>
          <a:p>
            <a:endParaRPr lang="en-US"/>
          </a:p>
        </p:txBody>
      </p:sp>
      <p:sp>
        <p:nvSpPr>
          <p:cNvPr id="33" name="Text 31"/>
          <p:cNvSpPr txBox="1"/>
          <p:nvPr/>
        </p:nvSpPr>
        <p:spPr>
          <a:xfrm>
            <a:off x="6789420" y="4591050"/>
            <a:ext cx="1051560" cy="896112"/>
          </a:xfrm>
          <a:prstGeom prst="rect">
            <a:avLst/>
          </a:prstGeom>
          <a:noFill/>
          <a:ln/>
        </p:spPr>
        <p:txBody>
          <a:bodyPr wrap="square" lIns="0" tIns="0" rIns="0" bIns="0" rtlCol="0" anchor="t"/>
          <a:lstStyle/>
          <a:p>
            <a:pPr marL="0" indent="0">
              <a:buNone/>
            </a:pPr>
            <a:r>
              <a:rPr lang="en-US" sz="5400" b="1" dirty="0">
                <a:solidFill>
                  <a:srgbClr val="156082"/>
                </a:solidFill>
                <a:latin typeface="Aptos" pitchFamily="34" charset="0"/>
                <a:ea typeface="Aptos" pitchFamily="34" charset="-122"/>
                <a:cs typeface="Aptos" pitchFamily="34" charset="-120"/>
              </a:rPr>
              <a:t>03</a:t>
            </a:r>
            <a:endParaRPr lang="en-US" sz="5400" dirty="0"/>
          </a:p>
        </p:txBody>
      </p:sp>
      <p:sp>
        <p:nvSpPr>
          <p:cNvPr id="34" name="Text 32"/>
          <p:cNvSpPr txBox="1"/>
          <p:nvPr/>
        </p:nvSpPr>
        <p:spPr>
          <a:xfrm>
            <a:off x="7932420" y="4728210"/>
            <a:ext cx="3538728" cy="1170432"/>
          </a:xfrm>
          <a:prstGeom prst="rect">
            <a:avLst/>
          </a:prstGeom>
          <a:noFill/>
          <a:ln/>
        </p:spPr>
        <p:txBody>
          <a:bodyPr wrap="square" lIns="0" tIns="0" rIns="0" bIns="0" rtlCol="0" anchor="t"/>
          <a:lstStyle/>
          <a:p>
            <a:pPr marL="0" indent="0">
              <a:lnSpc>
                <a:spcPct val="105000"/>
              </a:lnSpc>
              <a:buNone/>
            </a:pPr>
            <a:r>
              <a:rPr lang="en-US" sz="1600" dirty="0">
                <a:solidFill>
                  <a:srgbClr val="1A1A1A"/>
                </a:solidFill>
                <a:latin typeface="Aptos" pitchFamily="34" charset="0"/>
                <a:ea typeface="Aptos" pitchFamily="34" charset="-122"/>
                <a:cs typeface="Aptos" pitchFamily="34" charset="-120"/>
              </a:rPr>
              <a:t>Since April 2026 most records get </a:t>
            </a:r>
            <a:r>
              <a:rPr lang="en-US" sz="1600" b="1" dirty="0">
                <a:solidFill>
                  <a:srgbClr val="156082"/>
                </a:solidFill>
                <a:latin typeface="Aptos" pitchFamily="34" charset="0"/>
                <a:ea typeface="Aptos" pitchFamily="34" charset="-122"/>
                <a:cs typeface="Aptos" pitchFamily="34" charset="-120"/>
              </a:rPr>
              <a:t>no second look</a:t>
            </a:r>
            <a:r>
              <a:rPr lang="en-US" sz="1600" dirty="0">
                <a:solidFill>
                  <a:srgbClr val="1A1A1A"/>
                </a:solidFill>
                <a:latin typeface="Aptos" pitchFamily="34" charset="0"/>
                <a:ea typeface="Aptos" pitchFamily="34" charset="-122"/>
                <a:cs typeface="Aptos" pitchFamily="34" charset="-120"/>
              </a:rPr>
              <a:t>.</a:t>
            </a:r>
            <a:endParaRPr lang="en-US" sz="1600" dirty="0"/>
          </a:p>
          <a:p>
            <a:pPr marL="0" indent="0">
              <a:lnSpc>
                <a:spcPct val="105000"/>
              </a:lnSpc>
              <a:spcBef>
                <a:spcPts val="400"/>
              </a:spcBef>
              <a:buNone/>
            </a:pPr>
            <a:r>
              <a:rPr lang="en-US" sz="1200" dirty="0">
                <a:solidFill>
                  <a:srgbClr val="595959"/>
                </a:solidFill>
                <a:latin typeface="Aptos" pitchFamily="34" charset="0"/>
                <a:ea typeface="Aptos" pitchFamily="34" charset="-122"/>
                <a:cs typeface="Aptos" pitchFamily="34" charset="-120"/>
              </a:rPr>
              <a:t>263% more CVEs since 2020. NIST enriches only exploited, federal and critical software.</a:t>
            </a:r>
            <a:endParaRPr lang="en-US" sz="1600" dirty="0"/>
          </a:p>
        </p:txBody>
      </p:sp>
      <p:sp>
        <p:nvSpPr>
          <p:cNvPr id="35" name="Text 33"/>
          <p:cNvSpPr txBox="1"/>
          <p:nvPr/>
        </p:nvSpPr>
        <p:spPr>
          <a:xfrm>
            <a:off x="6789420" y="5916930"/>
            <a:ext cx="4681728" cy="384048"/>
          </a:xfrm>
          <a:prstGeom prst="rect">
            <a:avLst/>
          </a:prstGeom>
          <a:noFill/>
          <a:ln/>
        </p:spPr>
        <p:txBody>
          <a:bodyPr wrap="square" lIns="0" tIns="0" rIns="0" bIns="0" rtlCol="0" anchor="t"/>
          <a:lstStyle/>
          <a:p>
            <a:pPr marL="0" indent="0">
              <a:buNone/>
            </a:pPr>
            <a:r>
              <a:rPr lang="en-US" sz="1300" dirty="0">
                <a:solidFill>
                  <a:srgbClr val="595959"/>
                </a:solidFill>
                <a:latin typeface="Aptos" pitchFamily="34" charset="0"/>
                <a:ea typeface="Aptos" pitchFamily="34" charset="-122"/>
                <a:cs typeface="Aptos" pitchFamily="34" charset="-120"/>
              </a:rPr>
              <a:t>Language is inferred from the project, the file paths and the fix.</a:t>
            </a:r>
            <a:endParaRPr lang="en-US" sz="1300" dirty="0"/>
          </a:p>
        </p:txBody>
      </p:sp>
      <p:sp>
        <p:nvSpPr>
          <p:cNvPr id="36" name="Title 35">
            <a:extLst>
              <a:ext uri="{FF2B5EF4-FFF2-40B4-BE49-F238E27FC236}">
                <a16:creationId xmlns:a16="http://schemas.microsoft.com/office/drawing/2014/main" id="{D99CDC7A-FF66-BA20-4E35-3F024644BC1A}"/>
              </a:ext>
            </a:extLst>
          </p:cNvPr>
          <p:cNvSpPr>
            <a:spLocks noGrp="1"/>
          </p:cNvSpPr>
          <p:nvPr>
            <p:ph type="title"/>
          </p:nvPr>
        </p:nvSpPr>
        <p:spPr/>
        <p:txBody>
          <a:bodyPr/>
          <a:lstStyle/>
          <a:p>
            <a:r>
              <a:rPr lang="en-US" dirty="0"/>
              <a:t>Data quality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Make it data driven</a:t>
            </a:r>
            <a:endParaRPr lang="en-US" sz="4400" dirty="0"/>
          </a:p>
        </p:txBody>
      </p:sp>
      <p:sp>
        <p:nvSpPr>
          <p:cNvPr id="188" name="01"/>
          <p:cNvSpPr txBox="1"/>
          <p:nvPr/>
        </p:nvSpPr>
        <p:spPr>
          <a:xfrm>
            <a:off x="841248" y="1746504"/>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01</a:t>
            </a:r>
          </a:p>
        </p:txBody>
      </p:sp>
      <p:sp>
        <p:nvSpPr>
          <p:cNvPr id="189" name="Prove it on real code"/>
          <p:cNvSpPr txBox="1"/>
          <p:nvPr/>
        </p:nvSpPr>
        <p:spPr>
          <a:xfrm>
            <a:off x="1755648" y="1783080"/>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Prove it on real code</a:t>
            </a:r>
          </a:p>
        </p:txBody>
      </p:sp>
      <p:sp>
        <p:nvSpPr>
          <p:cNvPr id="190" name="Prove it on real code body"/>
          <p:cNvSpPr txBox="1"/>
          <p:nvPr/>
        </p:nvSpPr>
        <p:spPr>
          <a:xfrm>
            <a:off x="1755648" y="2194560"/>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Every proposed solution should show what it stops on a large corpus of real world defects, not on hand picked examples.</a:t>
            </a:r>
          </a:p>
        </p:txBody>
      </p:sp>
      <p:sp>
        <p:nvSpPr>
          <p:cNvPr id="191" name="02"/>
          <p:cNvSpPr txBox="1"/>
          <p:nvPr/>
        </p:nvSpPr>
        <p:spPr>
          <a:xfrm>
            <a:off x="6355080" y="1746504"/>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02</a:t>
            </a:r>
          </a:p>
        </p:txBody>
      </p:sp>
      <p:sp>
        <p:nvSpPr>
          <p:cNvPr id="192" name="Build the data sets"/>
          <p:cNvSpPr txBox="1"/>
          <p:nvPr/>
        </p:nvSpPr>
        <p:spPr>
          <a:xfrm>
            <a:off x="7269480" y="1783080"/>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Build the data sets</a:t>
            </a:r>
          </a:p>
        </p:txBody>
      </p:sp>
      <p:sp>
        <p:nvSpPr>
          <p:cNvPr id="193" name="Build the data sets body"/>
          <p:cNvSpPr txBox="1"/>
          <p:nvPr/>
        </p:nvSpPr>
        <p:spPr>
          <a:xfrm>
            <a:off x="7269480" y="2194560"/>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CVE records do not say which language or construct failed. Create new data sets and enrich the ones we have.</a:t>
            </a:r>
          </a:p>
        </p:txBody>
      </p:sp>
      <p:sp>
        <p:nvSpPr>
          <p:cNvPr id="194" name="03"/>
          <p:cNvSpPr txBox="1"/>
          <p:nvPr/>
        </p:nvSpPr>
        <p:spPr>
          <a:xfrm>
            <a:off x="841248" y="3044952"/>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03</a:t>
            </a:r>
          </a:p>
        </p:txBody>
      </p:sp>
      <p:sp>
        <p:nvSpPr>
          <p:cNvPr id="195" name="Prototype and move fast"/>
          <p:cNvSpPr txBox="1"/>
          <p:nvPr/>
        </p:nvSpPr>
        <p:spPr>
          <a:xfrm>
            <a:off x="1755648" y="3081528"/>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Prototype and move fast</a:t>
            </a:r>
          </a:p>
        </p:txBody>
      </p:sp>
      <p:sp>
        <p:nvSpPr>
          <p:cNvPr id="196" name="Prototype and move fast body"/>
          <p:cNvSpPr txBox="1"/>
          <p:nvPr/>
        </p:nvSpPr>
        <p:spPr>
          <a:xfrm>
            <a:off x="1755648" y="3493008"/>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Get a working prototype into real compilers and measure it. Three years per standard is too slow for a moving target.</a:t>
            </a:r>
          </a:p>
        </p:txBody>
      </p:sp>
      <p:sp>
        <p:nvSpPr>
          <p:cNvPr id="197" name="04"/>
          <p:cNvSpPr txBox="1"/>
          <p:nvPr/>
        </p:nvSpPr>
        <p:spPr>
          <a:xfrm>
            <a:off x="6355080" y="3044952"/>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04</a:t>
            </a:r>
          </a:p>
        </p:txBody>
      </p:sp>
      <p:sp>
        <p:nvSpPr>
          <p:cNvPr id="198" name="Work in the open"/>
          <p:cNvSpPr txBox="1"/>
          <p:nvPr/>
        </p:nvSpPr>
        <p:spPr>
          <a:xfrm>
            <a:off x="7269480" y="3081528"/>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Work in the open</a:t>
            </a:r>
          </a:p>
        </p:txBody>
      </p:sp>
      <p:sp>
        <p:nvSpPr>
          <p:cNvPr id="199" name="Work in the open body"/>
          <p:cNvSpPr txBox="1"/>
          <p:nvPr/>
        </p:nvSpPr>
        <p:spPr>
          <a:xfrm>
            <a:off x="7269480" y="3493008"/>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Publish the data, the method and the results, including the misses, so anyone can check them and repeat them.</a:t>
            </a:r>
          </a:p>
        </p:txBody>
      </p:sp>
      <p:sp>
        <p:nvSpPr>
          <p:cNvPr id="200" name="05"/>
          <p:cNvSpPr txBox="1"/>
          <p:nvPr/>
        </p:nvSpPr>
        <p:spPr>
          <a:xfrm>
            <a:off x="841248" y="4343400"/>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05</a:t>
            </a:r>
          </a:p>
        </p:txBody>
      </p:sp>
      <p:sp>
        <p:nvSpPr>
          <p:cNvPr id="201" name="Answer every report"/>
          <p:cNvSpPr txBox="1"/>
          <p:nvPr/>
        </p:nvSpPr>
        <p:spPr>
          <a:xfrm>
            <a:off x="1755648" y="4379976"/>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Answer every report</a:t>
            </a:r>
          </a:p>
        </p:txBody>
      </p:sp>
      <p:sp>
        <p:nvSpPr>
          <p:cNvPr id="202" name="Answer every report body"/>
          <p:cNvSpPr txBox="1"/>
          <p:nvPr/>
        </p:nvSpPr>
        <p:spPr>
          <a:xfrm>
            <a:off x="1755648" y="4791456"/>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When a new safety report comes out, the committee should analyze it and answer with a counterpoint or a plan.</a:t>
            </a:r>
          </a:p>
        </p:txBody>
      </p:sp>
      <p:sp>
        <p:nvSpPr>
          <p:cNvPr id="203" name="06"/>
          <p:cNvSpPr txBox="1"/>
          <p:nvPr/>
        </p:nvSpPr>
        <p:spPr>
          <a:xfrm>
            <a:off x="6355080" y="4343400"/>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06</a:t>
            </a:r>
          </a:p>
        </p:txBody>
      </p:sp>
      <p:sp>
        <p:nvSpPr>
          <p:cNvPr id="204" name="Replay every vulnerability"/>
          <p:cNvSpPr txBox="1"/>
          <p:nvPr/>
        </p:nvSpPr>
        <p:spPr>
          <a:xfrm>
            <a:off x="7269480" y="4379976"/>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Replay every vulnerability</a:t>
            </a:r>
          </a:p>
        </p:txBody>
      </p:sp>
      <p:sp>
        <p:nvSpPr>
          <p:cNvPr id="205" name="Replay every vulnerability body"/>
          <p:cNvSpPr txBox="1"/>
          <p:nvPr/>
        </p:nvSpPr>
        <p:spPr>
          <a:xfrm>
            <a:off x="7269480" y="4791456"/>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Do not only estimate what a fix would cost. Take each known vulnerability and actually make it secure with the proposed solution.</a:t>
            </a:r>
          </a:p>
        </p:txBody>
      </p:sp>
      <p:cxnSp>
        <p:nvCxnSpPr>
          <p:cNvPr id="206" name="Rule 1"/>
          <p:cNvCxnSpPr/>
          <p:nvPr/>
        </p:nvCxnSpPr>
        <p:spPr>
          <a:xfrm>
            <a:off x="841248" y="2944368"/>
            <a:ext cx="10479024" cy="0"/>
          </a:xfrm>
          <a:prstGeom prst="line">
            <a:avLst/>
          </a:prstGeom>
          <a:ln w="6350">
            <a:solidFill>
              <a:srgbClr val="C9C4C1"/>
            </a:solidFill>
          </a:ln>
        </p:spPr>
      </p:cxnSp>
      <p:cxnSp>
        <p:nvCxnSpPr>
          <p:cNvPr id="207" name="Rule 2"/>
          <p:cNvCxnSpPr/>
          <p:nvPr/>
        </p:nvCxnSpPr>
        <p:spPr>
          <a:xfrm>
            <a:off x="841248" y="4242816"/>
            <a:ext cx="10479024" cy="0"/>
          </a:xfrm>
          <a:prstGeom prst="line">
            <a:avLst/>
          </a:prstGeom>
          <a:ln w="6350">
            <a:solidFill>
              <a:srgbClr val="C9C4C1"/>
            </a:solidFill>
          </a:ln>
        </p:spPr>
      </p:cxnSp>
      <p:sp>
        <p:nvSpPr>
          <p:cNvPr id="208" name="Closing line"/>
          <p:cNvSpPr txBox="1"/>
          <p:nvPr/>
        </p:nvSpPr>
        <p:spPr>
          <a:xfrm>
            <a:off x="841248" y="5788152"/>
            <a:ext cx="10479024" cy="365760"/>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We benchmark performance before we ship it. Safety deserves even more.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52A81-62EE-F1FE-A1C1-E77F6DF90AF5}"/>
              </a:ext>
            </a:extLst>
          </p:cNvPr>
          <p:cNvSpPr>
            <a:spLocks noGrp="1"/>
          </p:cNvSpPr>
          <p:nvPr>
            <p:ph type="title"/>
          </p:nvPr>
        </p:nvSpPr>
        <p:spPr/>
        <p:txBody>
          <a:bodyPr/>
          <a:lstStyle/>
          <a:p>
            <a:r>
              <a:rPr lang="en-US" dirty="0"/>
              <a:t>Process and people</a:t>
            </a:r>
          </a:p>
        </p:txBody>
      </p:sp>
      <p:sp>
        <p:nvSpPr>
          <p:cNvPr id="3" name="Text Placeholder 2">
            <a:extLst>
              <a:ext uri="{FF2B5EF4-FFF2-40B4-BE49-F238E27FC236}">
                <a16:creationId xmlns:a16="http://schemas.microsoft.com/office/drawing/2014/main" id="{85AC73FA-C4EF-F9D6-31D9-69C46C56BFB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4620994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Process and people</a:t>
            </a:r>
            <a:endParaRPr lang="en-US" sz="4400" dirty="0"/>
          </a:p>
        </p:txBody>
      </p:sp>
      <p:sp>
        <p:nvSpPr>
          <p:cNvPr id="209" name="01"/>
          <p:cNvSpPr txBox="1"/>
          <p:nvPr/>
        </p:nvSpPr>
        <p:spPr>
          <a:xfrm>
            <a:off x="841248" y="1746504"/>
            <a:ext cx="1280160" cy="822960"/>
          </a:xfrm>
          <a:prstGeom prst="rect">
            <a:avLst/>
          </a:prstGeom>
          <a:noFill/>
          <a:ln>
            <a:noFill/>
          </a:ln>
        </p:spPr>
        <p:txBody>
          <a:bodyPr wrap="none" lIns="0" tIns="0" rIns="0" bIns="0" rtlCol="0" anchor="t">
            <a:noAutofit/>
          </a:bodyPr>
          <a:lstStyle/>
          <a:p>
            <a:pPr algn="l"/>
            <a:r>
              <a:rPr lang="en-US" sz="5400" b="1" dirty="0">
                <a:solidFill>
                  <a:srgbClr val="156082"/>
                </a:solidFill>
                <a:latin typeface="Aptos"/>
                <a:cs typeface="Aptos"/>
              </a:rPr>
              <a:t>01</a:t>
            </a:r>
          </a:p>
        </p:txBody>
      </p:sp>
      <p:sp>
        <p:nvSpPr>
          <p:cNvPr id="210" name="Make the tools the default in every repo"/>
          <p:cNvSpPr txBox="1"/>
          <p:nvPr/>
        </p:nvSpPr>
        <p:spPr>
          <a:xfrm>
            <a:off x="2240280" y="1764792"/>
            <a:ext cx="9098280" cy="420624"/>
          </a:xfrm>
          <a:prstGeom prst="rect">
            <a:avLst/>
          </a:prstGeom>
          <a:noFill/>
          <a:ln>
            <a:noFill/>
          </a:ln>
        </p:spPr>
        <p:txBody>
          <a:bodyPr wrap="none" lIns="0" tIns="0" rIns="0" bIns="0" rtlCol="0" anchor="t">
            <a:noAutofit/>
          </a:bodyPr>
          <a:lstStyle/>
          <a:p>
            <a:pPr algn="l"/>
            <a:r>
              <a:rPr lang="en-US" sz="2400" b="1" dirty="0">
                <a:solidFill>
                  <a:srgbClr val="1A1A1A"/>
                </a:solidFill>
                <a:latin typeface="Aptos"/>
                <a:cs typeface="Aptos"/>
              </a:rPr>
              <a:t>Make the tools the default in every repo</a:t>
            </a:r>
          </a:p>
        </p:txBody>
      </p:sp>
      <p:sp>
        <p:nvSpPr>
          <p:cNvPr id="211" name="Make the tools the default in every repo body"/>
          <p:cNvSpPr txBox="1"/>
          <p:nvPr/>
        </p:nvSpPr>
        <p:spPr>
          <a:xfrm>
            <a:off x="2240280" y="2221992"/>
            <a:ext cx="9098280" cy="822960"/>
          </a:xfrm>
          <a:prstGeom prst="rect">
            <a:avLst/>
          </a:prstGeom>
          <a:noFill/>
          <a:ln>
            <a:noFill/>
          </a:ln>
        </p:spPr>
        <p:txBody>
          <a:bodyPr wrap="square" lIns="0" tIns="0" rIns="0" bIns="0" rtlCol="0" anchor="t">
            <a:noAutofit/>
          </a:bodyPr>
          <a:lstStyle/>
          <a:p>
            <a:pPr algn="l"/>
            <a:r>
              <a:rPr lang="en-US" sz="1600" dirty="0">
                <a:solidFill>
                  <a:srgbClr val="595959"/>
                </a:solidFill>
                <a:latin typeface="Aptos"/>
                <a:cs typeface="Aptos"/>
              </a:rPr>
              <a:t>Static analysis, sanitizers and hardening are reliable and find real bugs today. Put them in a standard pipeline that every organization starts from, instead of each team turning them on one by one.</a:t>
            </a:r>
          </a:p>
        </p:txBody>
      </p:sp>
      <p:cxnSp>
        <p:nvCxnSpPr>
          <p:cNvPr id="212" name="Rule 1"/>
          <p:cNvCxnSpPr/>
          <p:nvPr/>
        </p:nvCxnSpPr>
        <p:spPr>
          <a:xfrm>
            <a:off x="841248" y="2962656"/>
            <a:ext cx="10479024" cy="0"/>
          </a:xfrm>
          <a:prstGeom prst="line">
            <a:avLst/>
          </a:prstGeom>
          <a:ln w="6350">
            <a:solidFill>
              <a:srgbClr val="C9C4C1"/>
            </a:solidFill>
          </a:ln>
        </p:spPr>
      </p:cxnSp>
      <p:sp>
        <p:nvSpPr>
          <p:cNvPr id="213" name="02"/>
          <p:cNvSpPr txBox="1"/>
          <p:nvPr/>
        </p:nvSpPr>
        <p:spPr>
          <a:xfrm>
            <a:off x="841248" y="3108960"/>
            <a:ext cx="1280160" cy="822960"/>
          </a:xfrm>
          <a:prstGeom prst="rect">
            <a:avLst/>
          </a:prstGeom>
          <a:noFill/>
          <a:ln>
            <a:noFill/>
          </a:ln>
        </p:spPr>
        <p:txBody>
          <a:bodyPr wrap="none" lIns="0" tIns="0" rIns="0" bIns="0" rtlCol="0" anchor="t">
            <a:noAutofit/>
          </a:bodyPr>
          <a:lstStyle/>
          <a:p>
            <a:pPr algn="l"/>
            <a:r>
              <a:rPr lang="en-US" sz="5400" b="1" dirty="0">
                <a:solidFill>
                  <a:srgbClr val="156082"/>
                </a:solidFill>
                <a:latin typeface="Aptos"/>
                <a:cs typeface="Aptos"/>
              </a:rPr>
              <a:t>02</a:t>
            </a:r>
          </a:p>
        </p:txBody>
      </p:sp>
      <p:sp>
        <p:nvSpPr>
          <p:cNvPr id="214" name="Let AI write the tests the sanitizers need"/>
          <p:cNvSpPr txBox="1"/>
          <p:nvPr/>
        </p:nvSpPr>
        <p:spPr>
          <a:xfrm>
            <a:off x="2240280" y="3127248"/>
            <a:ext cx="9098280" cy="420624"/>
          </a:xfrm>
          <a:prstGeom prst="rect">
            <a:avLst/>
          </a:prstGeom>
          <a:noFill/>
          <a:ln>
            <a:noFill/>
          </a:ln>
        </p:spPr>
        <p:txBody>
          <a:bodyPr wrap="none" lIns="0" tIns="0" rIns="0" bIns="0" rtlCol="0" anchor="t">
            <a:noAutofit/>
          </a:bodyPr>
          <a:lstStyle/>
          <a:p>
            <a:pPr algn="l"/>
            <a:r>
              <a:rPr lang="en-US" sz="2400" b="1" dirty="0">
                <a:solidFill>
                  <a:srgbClr val="1A1A1A"/>
                </a:solidFill>
                <a:latin typeface="Aptos"/>
                <a:cs typeface="Aptos"/>
              </a:rPr>
              <a:t>Let AI write the tests the sanitizers need</a:t>
            </a:r>
          </a:p>
        </p:txBody>
      </p:sp>
      <p:sp>
        <p:nvSpPr>
          <p:cNvPr id="215" name="Let AI write the tests the sanitizers need body"/>
          <p:cNvSpPr txBox="1"/>
          <p:nvPr/>
        </p:nvSpPr>
        <p:spPr>
          <a:xfrm>
            <a:off x="2240280" y="3584448"/>
            <a:ext cx="9098280" cy="822960"/>
          </a:xfrm>
          <a:prstGeom prst="rect">
            <a:avLst/>
          </a:prstGeom>
          <a:noFill/>
          <a:ln>
            <a:noFill/>
          </a:ln>
        </p:spPr>
        <p:txBody>
          <a:bodyPr wrap="square" lIns="0" tIns="0" rIns="0" bIns="0" rtlCol="0" anchor="t">
            <a:noAutofit/>
          </a:bodyPr>
          <a:lstStyle/>
          <a:p>
            <a:pPr algn="l"/>
            <a:r>
              <a:rPr lang="en-US" sz="1600" dirty="0">
                <a:solidFill>
                  <a:srgbClr val="595959"/>
                </a:solidFill>
                <a:latin typeface="Aptos"/>
                <a:cs typeface="Aptos"/>
              </a:rPr>
              <a:t>Sanitizers only see the code the tests run. Google let AI write fuzz targets. It added coverage to 272 C and C++ projects and found 26 new bugs, one of them twenty years old in OpenSSL.</a:t>
            </a:r>
          </a:p>
        </p:txBody>
      </p:sp>
      <p:cxnSp>
        <p:nvCxnSpPr>
          <p:cNvPr id="216" name="Rule 2"/>
          <p:cNvCxnSpPr/>
          <p:nvPr/>
        </p:nvCxnSpPr>
        <p:spPr>
          <a:xfrm>
            <a:off x="841248" y="4325112"/>
            <a:ext cx="10479024" cy="0"/>
          </a:xfrm>
          <a:prstGeom prst="line">
            <a:avLst/>
          </a:prstGeom>
          <a:ln w="6350">
            <a:solidFill>
              <a:srgbClr val="C9C4C1"/>
            </a:solidFill>
          </a:ln>
        </p:spPr>
      </p:cxnSp>
      <p:sp>
        <p:nvSpPr>
          <p:cNvPr id="217" name="03"/>
          <p:cNvSpPr txBox="1"/>
          <p:nvPr/>
        </p:nvSpPr>
        <p:spPr>
          <a:xfrm>
            <a:off x="841248" y="4471416"/>
            <a:ext cx="1280160" cy="822960"/>
          </a:xfrm>
          <a:prstGeom prst="rect">
            <a:avLst/>
          </a:prstGeom>
          <a:noFill/>
          <a:ln>
            <a:noFill/>
          </a:ln>
        </p:spPr>
        <p:txBody>
          <a:bodyPr wrap="none" lIns="0" tIns="0" rIns="0" bIns="0" rtlCol="0" anchor="t">
            <a:noAutofit/>
          </a:bodyPr>
          <a:lstStyle/>
          <a:p>
            <a:pPr algn="l"/>
            <a:r>
              <a:rPr lang="en-US" sz="5400" b="1" dirty="0">
                <a:solidFill>
                  <a:srgbClr val="156082"/>
                </a:solidFill>
                <a:latin typeface="Aptos"/>
                <a:cs typeface="Aptos"/>
              </a:rPr>
              <a:t>03</a:t>
            </a:r>
          </a:p>
        </p:txBody>
      </p:sp>
      <p:sp>
        <p:nvSpPr>
          <p:cNvPr id="218" name="Get the new standard built and adopted"/>
          <p:cNvSpPr txBox="1"/>
          <p:nvPr/>
        </p:nvSpPr>
        <p:spPr>
          <a:xfrm>
            <a:off x="2240280" y="4489704"/>
            <a:ext cx="9098280" cy="420624"/>
          </a:xfrm>
          <a:prstGeom prst="rect">
            <a:avLst/>
          </a:prstGeom>
          <a:noFill/>
          <a:ln>
            <a:noFill/>
          </a:ln>
        </p:spPr>
        <p:txBody>
          <a:bodyPr wrap="none" lIns="0" tIns="0" rIns="0" bIns="0" rtlCol="0" anchor="t">
            <a:noAutofit/>
          </a:bodyPr>
          <a:lstStyle/>
          <a:p>
            <a:pPr algn="l"/>
            <a:r>
              <a:rPr lang="en-US" sz="2400" b="1" dirty="0">
                <a:solidFill>
                  <a:srgbClr val="1A1A1A"/>
                </a:solidFill>
                <a:latin typeface="Aptos"/>
                <a:cs typeface="Aptos"/>
              </a:rPr>
              <a:t>Get the new standard built and adopted</a:t>
            </a:r>
          </a:p>
        </p:txBody>
      </p:sp>
      <p:sp>
        <p:nvSpPr>
          <p:cNvPr id="219" name="Get the new standard built and adopted body"/>
          <p:cNvSpPr txBox="1"/>
          <p:nvPr/>
        </p:nvSpPr>
        <p:spPr>
          <a:xfrm>
            <a:off x="2240280" y="4946904"/>
            <a:ext cx="9098280" cy="822960"/>
          </a:xfrm>
          <a:prstGeom prst="rect">
            <a:avLst/>
          </a:prstGeom>
          <a:noFill/>
          <a:ln>
            <a:noFill/>
          </a:ln>
        </p:spPr>
        <p:txBody>
          <a:bodyPr wrap="square" lIns="0" tIns="0" rIns="0" bIns="0" rtlCol="0" anchor="t">
            <a:noAutofit/>
          </a:bodyPr>
          <a:lstStyle/>
          <a:p>
            <a:pPr algn="l"/>
            <a:r>
              <a:rPr lang="en-US" sz="1600" dirty="0">
                <a:solidFill>
                  <a:srgbClr val="595959"/>
                </a:solidFill>
                <a:latin typeface="Aptos"/>
                <a:cs typeface="Aptos"/>
              </a:rPr>
              <a:t>A fix in C++26 protects nobody who still builds as C++17. Compilers have to ship new standards fast and organizations have to move to them, or the work never reaches the code.</a:t>
            </a:r>
          </a:p>
        </p:txBody>
      </p:sp>
      <p:sp>
        <p:nvSpPr>
          <p:cNvPr id="220" name="Closing line"/>
          <p:cNvSpPr txBox="1"/>
          <p:nvPr/>
        </p:nvSpPr>
        <p:spPr>
          <a:xfrm>
            <a:off x="841248" y="5943600"/>
            <a:ext cx="10479024" cy="411480"/>
          </a:xfrm>
          <a:prstGeom prst="rect">
            <a:avLst/>
          </a:prstGeom>
          <a:noFill/>
          <a:ln>
            <a:noFill/>
          </a:ln>
        </p:spPr>
        <p:txBody>
          <a:bodyPr wrap="none" lIns="0" tIns="0" rIns="0" bIns="0" rtlCol="0" anchor="t">
            <a:noAutofit/>
          </a:bodyPr>
          <a:lstStyle/>
          <a:p>
            <a:pPr algn="l"/>
            <a:r>
              <a:rPr lang="en-US" sz="1800" b="1" dirty="0">
                <a:solidFill>
                  <a:srgbClr val="1A1A1A"/>
                </a:solidFill>
                <a:latin typeface="Aptos"/>
                <a:cs typeface="Aptos"/>
              </a:rPr>
              <a:t>Some of </a:t>
            </a:r>
            <a:r>
              <a:rPr lang="en-US" b="1" dirty="0">
                <a:solidFill>
                  <a:srgbClr val="1A1A1A"/>
                </a:solidFill>
                <a:latin typeface="Aptos"/>
                <a:cs typeface="Aptos"/>
              </a:rPr>
              <a:t>t</a:t>
            </a:r>
            <a:r>
              <a:rPr lang="en-US" sz="1800" b="1" dirty="0">
                <a:solidFill>
                  <a:srgbClr val="1A1A1A"/>
                </a:solidFill>
                <a:latin typeface="Aptos"/>
                <a:cs typeface="Aptos"/>
              </a:rPr>
              <a:t>he technology exists. Getting everyone to use it is part of the work.</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41248" y="365760"/>
            <a:ext cx="10515600" cy="1325880"/>
          </a:xfrm>
          <a:prstGeom prst="rect">
            <a:avLst/>
          </a:prstGeom>
          <a:noFill/>
          <a:ln/>
        </p:spPr>
        <p:txBody>
          <a:bodyPr wrap="square" rtlCol="0" anchor="ct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Organizational standards</a:t>
            </a:r>
            <a:endParaRPr lang="en-US" sz="4400" dirty="0"/>
          </a:p>
        </p:txBody>
      </p:sp>
      <p:sp>
        <p:nvSpPr>
          <p:cNvPr id="11" name="01"/>
          <p:cNvSpPr txBox="1"/>
          <p:nvPr/>
        </p:nvSpPr>
        <p:spPr>
          <a:xfrm>
            <a:off x="841248" y="15544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01</a:t>
            </a:r>
          </a:p>
        </p:txBody>
      </p:sp>
      <p:sp>
        <p:nvSpPr>
          <p:cNvPr id="12" name="Enable all warnings and treat them as errors"/>
          <p:cNvSpPr txBox="1"/>
          <p:nvPr/>
        </p:nvSpPr>
        <p:spPr>
          <a:xfrm>
            <a:off x="1828800" y="15544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Enable all warnings and treat them as errors</a:t>
            </a:r>
          </a:p>
        </p:txBody>
      </p:sp>
      <p:cxnSp>
        <p:nvCxnSpPr>
          <p:cNvPr id="13" name="Rule 1"/>
          <p:cNvCxnSpPr/>
          <p:nvPr/>
        </p:nvCxnSpPr>
        <p:spPr>
          <a:xfrm>
            <a:off x="841248" y="2011680"/>
            <a:ext cx="10479024" cy="0"/>
          </a:xfrm>
          <a:prstGeom prst="line">
            <a:avLst/>
          </a:prstGeom>
          <a:ln w="6350">
            <a:solidFill>
              <a:srgbClr val="C9C4C1"/>
            </a:solidFill>
          </a:ln>
        </p:spPr>
      </p:cxnSp>
      <p:sp>
        <p:nvSpPr>
          <p:cNvPr id="14" name="02"/>
          <p:cNvSpPr txBox="1"/>
          <p:nvPr/>
        </p:nvSpPr>
        <p:spPr>
          <a:xfrm>
            <a:off x="841248" y="20116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02</a:t>
            </a:r>
          </a:p>
        </p:txBody>
      </p:sp>
      <p:sp>
        <p:nvSpPr>
          <p:cNvPr id="15" name="Run static analysis with a comprehensive rule set"/>
          <p:cNvSpPr txBox="1"/>
          <p:nvPr/>
        </p:nvSpPr>
        <p:spPr>
          <a:xfrm>
            <a:off x="1828800" y="20116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Run static analysis with a comprehensive rule set</a:t>
            </a:r>
          </a:p>
        </p:txBody>
      </p:sp>
      <p:cxnSp>
        <p:nvCxnSpPr>
          <p:cNvPr id="16" name="Rule 2"/>
          <p:cNvCxnSpPr/>
          <p:nvPr/>
        </p:nvCxnSpPr>
        <p:spPr>
          <a:xfrm>
            <a:off x="841248" y="2468880"/>
            <a:ext cx="10479024" cy="0"/>
          </a:xfrm>
          <a:prstGeom prst="line">
            <a:avLst/>
          </a:prstGeom>
          <a:ln w="6350">
            <a:solidFill>
              <a:srgbClr val="C9C4C1"/>
            </a:solidFill>
          </a:ln>
        </p:spPr>
      </p:cxnSp>
      <p:sp>
        <p:nvSpPr>
          <p:cNvPr id="17" name="03"/>
          <p:cNvSpPr txBox="1"/>
          <p:nvPr/>
        </p:nvSpPr>
        <p:spPr>
          <a:xfrm>
            <a:off x="841248" y="24688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03</a:t>
            </a:r>
          </a:p>
        </p:txBody>
      </p:sp>
      <p:sp>
        <p:nvSpPr>
          <p:cNvPr id="18" name="Enforce a coding standard and ban unsafe APIs"/>
          <p:cNvSpPr txBox="1"/>
          <p:nvPr/>
        </p:nvSpPr>
        <p:spPr>
          <a:xfrm>
            <a:off x="1828800" y="24688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Enforce a coding standard and ban unsafe APIs</a:t>
            </a:r>
          </a:p>
        </p:txBody>
      </p:sp>
      <p:cxnSp>
        <p:nvCxnSpPr>
          <p:cNvPr id="19" name="Rule 3"/>
          <p:cNvCxnSpPr/>
          <p:nvPr/>
        </p:nvCxnSpPr>
        <p:spPr>
          <a:xfrm>
            <a:off x="841248" y="2926080"/>
            <a:ext cx="10479024" cy="0"/>
          </a:xfrm>
          <a:prstGeom prst="line">
            <a:avLst/>
          </a:prstGeom>
          <a:ln w="6350">
            <a:solidFill>
              <a:srgbClr val="C9C4C1"/>
            </a:solidFill>
          </a:ln>
        </p:spPr>
      </p:cxnSp>
      <p:sp>
        <p:nvSpPr>
          <p:cNvPr id="20" name="04"/>
          <p:cNvSpPr txBox="1"/>
          <p:nvPr/>
        </p:nvSpPr>
        <p:spPr>
          <a:xfrm>
            <a:off x="841248" y="29260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04</a:t>
            </a:r>
          </a:p>
        </p:txBody>
      </p:sp>
      <p:sp>
        <p:nvSpPr>
          <p:cNvPr id="21" name="Keep adding test coverage and consider AI tools to help"/>
          <p:cNvSpPr txBox="1"/>
          <p:nvPr/>
        </p:nvSpPr>
        <p:spPr>
          <a:xfrm>
            <a:off x="1828800" y="29260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Keep adding test coverage and consider AI tools to help</a:t>
            </a:r>
          </a:p>
        </p:txBody>
      </p:sp>
      <p:cxnSp>
        <p:nvCxnSpPr>
          <p:cNvPr id="22" name="Rule 4"/>
          <p:cNvCxnSpPr/>
          <p:nvPr/>
        </p:nvCxnSpPr>
        <p:spPr>
          <a:xfrm>
            <a:off x="841248" y="3383280"/>
            <a:ext cx="10479024" cy="0"/>
          </a:xfrm>
          <a:prstGeom prst="line">
            <a:avLst/>
          </a:prstGeom>
          <a:ln w="6350">
            <a:solidFill>
              <a:srgbClr val="C9C4C1"/>
            </a:solidFill>
          </a:ln>
        </p:spPr>
      </p:cxnSp>
      <p:sp>
        <p:nvSpPr>
          <p:cNvPr id="23" name="05"/>
          <p:cNvSpPr txBox="1"/>
          <p:nvPr/>
        </p:nvSpPr>
        <p:spPr>
          <a:xfrm>
            <a:off x="841248" y="33832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05</a:t>
            </a:r>
          </a:p>
        </p:txBody>
      </p:sp>
      <p:sp>
        <p:nvSpPr>
          <p:cNvPr id="24" name="Run sanitizers and fuzzers, backed by good test coverage"/>
          <p:cNvSpPr txBox="1"/>
          <p:nvPr/>
        </p:nvSpPr>
        <p:spPr>
          <a:xfrm>
            <a:off x="1828800" y="33832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Run sanitizers and fuzzers, backed by good test coverage</a:t>
            </a:r>
          </a:p>
        </p:txBody>
      </p:sp>
      <p:cxnSp>
        <p:nvCxnSpPr>
          <p:cNvPr id="25" name="Rule 5"/>
          <p:cNvCxnSpPr/>
          <p:nvPr/>
        </p:nvCxnSpPr>
        <p:spPr>
          <a:xfrm>
            <a:off x="841248" y="3840480"/>
            <a:ext cx="10479024" cy="0"/>
          </a:xfrm>
          <a:prstGeom prst="line">
            <a:avLst/>
          </a:prstGeom>
          <a:ln w="6350">
            <a:solidFill>
              <a:srgbClr val="C9C4C1"/>
            </a:solidFill>
          </a:ln>
        </p:spPr>
      </p:cxnSp>
      <p:sp>
        <p:nvSpPr>
          <p:cNvPr id="26" name="06"/>
          <p:cNvSpPr txBox="1"/>
          <p:nvPr/>
        </p:nvSpPr>
        <p:spPr>
          <a:xfrm>
            <a:off x="841248" y="38404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06</a:t>
            </a:r>
          </a:p>
        </p:txBody>
      </p:sp>
      <p:sp>
        <p:nvSpPr>
          <p:cNvPr id="27" name="Enable as many hardening features as you can"/>
          <p:cNvSpPr txBox="1"/>
          <p:nvPr/>
        </p:nvSpPr>
        <p:spPr>
          <a:xfrm>
            <a:off x="1828800" y="38404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Enable as many hardening features as you can</a:t>
            </a:r>
          </a:p>
        </p:txBody>
      </p:sp>
      <p:cxnSp>
        <p:nvCxnSpPr>
          <p:cNvPr id="28" name="Rule 6"/>
          <p:cNvCxnSpPr/>
          <p:nvPr/>
        </p:nvCxnSpPr>
        <p:spPr>
          <a:xfrm>
            <a:off x="841248" y="4297680"/>
            <a:ext cx="10479024" cy="0"/>
          </a:xfrm>
          <a:prstGeom prst="line">
            <a:avLst/>
          </a:prstGeom>
          <a:ln w="6350">
            <a:solidFill>
              <a:srgbClr val="C9C4C1"/>
            </a:solidFill>
          </a:ln>
        </p:spPr>
      </p:cxnSp>
      <p:sp>
        <p:nvSpPr>
          <p:cNvPr id="29" name="07"/>
          <p:cNvSpPr txBox="1"/>
          <p:nvPr/>
        </p:nvSpPr>
        <p:spPr>
          <a:xfrm>
            <a:off x="841248" y="42976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07</a:t>
            </a:r>
          </a:p>
        </p:txBody>
      </p:sp>
      <p:sp>
        <p:nvSpPr>
          <p:cNvPr id="30" name="Require code review on every change"/>
          <p:cNvSpPr txBox="1"/>
          <p:nvPr/>
        </p:nvSpPr>
        <p:spPr>
          <a:xfrm>
            <a:off x="1828800" y="42976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Require code review on every change</a:t>
            </a:r>
          </a:p>
        </p:txBody>
      </p:sp>
      <p:cxnSp>
        <p:nvCxnSpPr>
          <p:cNvPr id="31" name="Rule 7"/>
          <p:cNvCxnSpPr/>
          <p:nvPr/>
        </p:nvCxnSpPr>
        <p:spPr>
          <a:xfrm>
            <a:off x="841248" y="4754880"/>
            <a:ext cx="10479024" cy="0"/>
          </a:xfrm>
          <a:prstGeom prst="line">
            <a:avLst/>
          </a:prstGeom>
          <a:ln w="6350">
            <a:solidFill>
              <a:srgbClr val="C9C4C1"/>
            </a:solidFill>
          </a:ln>
        </p:spPr>
      </p:cxnSp>
      <p:sp>
        <p:nvSpPr>
          <p:cNvPr id="32" name="08"/>
          <p:cNvSpPr txBox="1"/>
          <p:nvPr/>
        </p:nvSpPr>
        <p:spPr>
          <a:xfrm>
            <a:off x="841248" y="47548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08</a:t>
            </a:r>
          </a:p>
        </p:txBody>
      </p:sp>
      <p:sp>
        <p:nvSpPr>
          <p:cNvPr id="33" name="Use the latest C++ standard and keep your tools up to date"/>
          <p:cNvSpPr txBox="1"/>
          <p:nvPr/>
        </p:nvSpPr>
        <p:spPr>
          <a:xfrm>
            <a:off x="1828800" y="47548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Use the latest C++ standard and keep your tools up to date</a:t>
            </a:r>
          </a:p>
        </p:txBody>
      </p:sp>
      <p:cxnSp>
        <p:nvCxnSpPr>
          <p:cNvPr id="34" name="Rule 8"/>
          <p:cNvCxnSpPr/>
          <p:nvPr/>
        </p:nvCxnSpPr>
        <p:spPr>
          <a:xfrm>
            <a:off x="841248" y="5212080"/>
            <a:ext cx="10479024" cy="0"/>
          </a:xfrm>
          <a:prstGeom prst="line">
            <a:avLst/>
          </a:prstGeom>
          <a:ln w="6350">
            <a:solidFill>
              <a:srgbClr val="C9C4C1"/>
            </a:solidFill>
          </a:ln>
        </p:spPr>
      </p:cxnSp>
      <p:sp>
        <p:nvSpPr>
          <p:cNvPr id="35" name="09"/>
          <p:cNvSpPr txBox="1"/>
          <p:nvPr/>
        </p:nvSpPr>
        <p:spPr>
          <a:xfrm>
            <a:off x="841248" y="5212080"/>
            <a:ext cx="822960" cy="457200"/>
          </a:xfrm>
          <a:prstGeom prst="rect">
            <a:avLst/>
          </a:prstGeom>
          <a:noFill/>
        </p:spPr>
        <p:txBody>
          <a:bodyPr wrap="none" lIns="0" tIns="0" rIns="0" bIns="0" rtlCol="0" anchor="ctr">
            <a:noAutofit/>
          </a:bodyPr>
          <a:lstStyle/>
          <a:p>
            <a:pPr marL="0" indent="0" algn="l">
              <a:buNone/>
            </a:pPr>
            <a:r>
              <a:rPr lang="en-US" sz="2800" b="1" dirty="0">
                <a:solidFill>
                  <a:srgbClr val="156082"/>
                </a:solidFill>
                <a:latin typeface="Aptos"/>
                <a:ea typeface="Aptos"/>
                <a:cs typeface="Aptos"/>
              </a:rPr>
              <a:t>09</a:t>
            </a:r>
          </a:p>
        </p:txBody>
      </p:sp>
      <p:sp>
        <p:nvSpPr>
          <p:cNvPr id="36" name="Know your supply chain and keep third party code patched"/>
          <p:cNvSpPr txBox="1"/>
          <p:nvPr/>
        </p:nvSpPr>
        <p:spPr>
          <a:xfrm>
            <a:off x="1828800" y="5212080"/>
            <a:ext cx="9491472" cy="457200"/>
          </a:xfrm>
          <a:prstGeom prst="rect">
            <a:avLst/>
          </a:prstGeom>
          <a:noFill/>
        </p:spPr>
        <p:txBody>
          <a:bodyPr wrap="none" lIns="0" tIns="0" rIns="0" bIns="0" rtlCol="0" anchor="ctr">
            <a:noAutofit/>
          </a:bodyPr>
          <a:lstStyle/>
          <a:p>
            <a:pPr marL="0" indent="0" algn="l">
              <a:buNone/>
            </a:pPr>
            <a:r>
              <a:rPr lang="en-US" sz="2400" b="1" dirty="0">
                <a:solidFill>
                  <a:srgbClr val="1A1A1A"/>
                </a:solidFill>
                <a:latin typeface="Aptos"/>
                <a:ea typeface="Aptos"/>
                <a:cs typeface="Aptos"/>
              </a:rPr>
              <a:t>Know your supply chain and keep third party code patched</a:t>
            </a:r>
          </a:p>
        </p:txBody>
      </p:sp>
      <p:sp>
        <p:nvSpPr>
          <p:cNvPr id="37" name="Closing line"/>
          <p:cNvSpPr txBox="1"/>
          <p:nvPr/>
        </p:nvSpPr>
        <p:spPr>
          <a:xfrm>
            <a:off x="841248" y="5943600"/>
            <a:ext cx="10479024" cy="411480"/>
          </a:xfrm>
          <a:prstGeom prst="rect">
            <a:avLst/>
          </a:prstGeom>
          <a:noFill/>
        </p:spPr>
        <p:txBody>
          <a:bodyPr wrap="none" lIns="0" tIns="0" rIns="0" bIns="0" rtlCol="0" anchor="t">
            <a:noAutofit/>
          </a:bodyPr>
          <a:lstStyle/>
          <a:p>
            <a:pPr marL="0" indent="0" algn="l">
              <a:buNone/>
            </a:pPr>
            <a:r>
              <a:rPr lang="en-US" sz="1800" b="1" dirty="0">
                <a:solidFill>
                  <a:srgbClr val="1A1A1A"/>
                </a:solidFill>
                <a:latin typeface="Aptos"/>
                <a:ea typeface="Aptos"/>
                <a:cs typeface="Aptos"/>
              </a:rPr>
              <a:t>None of this is new. Make it the rule in every repo and pipelines.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E3CD6-41B3-8D8E-49FA-E0968EB3DAA8}"/>
              </a:ext>
            </a:extLst>
          </p:cNvPr>
          <p:cNvSpPr>
            <a:spLocks noGrp="1"/>
          </p:cNvSpPr>
          <p:nvPr>
            <p:ph type="title"/>
          </p:nvPr>
        </p:nvSpPr>
        <p:spPr/>
        <p:txBody>
          <a:bodyPr/>
          <a:lstStyle/>
          <a:p>
            <a:r>
              <a:rPr lang="en-US" dirty="0"/>
              <a:t>New language features</a:t>
            </a:r>
          </a:p>
        </p:txBody>
      </p:sp>
      <p:sp>
        <p:nvSpPr>
          <p:cNvPr id="3" name="Text Placeholder 2">
            <a:extLst>
              <a:ext uri="{FF2B5EF4-FFF2-40B4-BE49-F238E27FC236}">
                <a16:creationId xmlns:a16="http://schemas.microsoft.com/office/drawing/2014/main" id="{19A7CF42-11EC-E869-78B2-B125635FDFB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06919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New language features</a:t>
            </a:r>
            <a:endParaRPr lang="en-US" sz="4400" dirty="0"/>
          </a:p>
        </p:txBody>
      </p:sp>
      <p:sp>
        <p:nvSpPr>
          <p:cNvPr id="167" name="01"/>
          <p:cNvSpPr txBox="1"/>
          <p:nvPr/>
        </p:nvSpPr>
        <p:spPr>
          <a:xfrm>
            <a:off x="841248" y="1746504"/>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01</a:t>
            </a:r>
          </a:p>
        </p:txBody>
      </p:sp>
      <p:sp>
        <p:nvSpPr>
          <p:cNvPr id="168" name="Pick Safe C++ back up"/>
          <p:cNvSpPr txBox="1"/>
          <p:nvPr/>
        </p:nvSpPr>
        <p:spPr>
          <a:xfrm>
            <a:off x="1755648" y="1783080"/>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Pick Safe C++ back up</a:t>
            </a:r>
          </a:p>
        </p:txBody>
      </p:sp>
      <p:sp>
        <p:nvSpPr>
          <p:cNvPr id="169" name="Pick Safe C++ back up body"/>
          <p:cNvSpPr txBox="1"/>
          <p:nvPr/>
        </p:nvSpPr>
        <p:spPr>
          <a:xfrm>
            <a:off x="1755648" y="2194560"/>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It is the one proposal with an answer for both grey rows, a borrow checker for lifetime and send and sync for data races.</a:t>
            </a:r>
          </a:p>
        </p:txBody>
      </p:sp>
      <p:sp>
        <p:nvSpPr>
          <p:cNvPr id="170" name="02"/>
          <p:cNvSpPr txBox="1"/>
          <p:nvPr/>
        </p:nvSpPr>
        <p:spPr>
          <a:xfrm>
            <a:off x="6355080" y="1746504"/>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02</a:t>
            </a:r>
          </a:p>
        </p:txBody>
      </p:sp>
      <p:sp>
        <p:nvSpPr>
          <p:cNvPr id="171" name="Copy what Rust already proved"/>
          <p:cNvSpPr txBox="1"/>
          <p:nvPr/>
        </p:nvSpPr>
        <p:spPr>
          <a:xfrm>
            <a:off x="7269480" y="1783080"/>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Copy what Rust already proved</a:t>
            </a:r>
          </a:p>
        </p:txBody>
      </p:sp>
      <p:sp>
        <p:nvSpPr>
          <p:cNvPr id="172" name="Copy what Rust already proved body"/>
          <p:cNvSpPr txBox="1"/>
          <p:nvPr/>
        </p:nvSpPr>
        <p:spPr>
          <a:xfrm>
            <a:off x="7269480" y="2194560"/>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Borrow checking has ten years of production use and a published soundness proof. C++ has always taken good ideas from other languages.</a:t>
            </a:r>
          </a:p>
        </p:txBody>
      </p:sp>
      <p:sp>
        <p:nvSpPr>
          <p:cNvPr id="173" name="03"/>
          <p:cNvSpPr txBox="1"/>
          <p:nvPr/>
        </p:nvSpPr>
        <p:spPr>
          <a:xfrm>
            <a:off x="841248" y="3044952"/>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03</a:t>
            </a:r>
          </a:p>
        </p:txBody>
      </p:sp>
      <p:sp>
        <p:nvSpPr>
          <p:cNvPr id="174" name="Let the data decide"/>
          <p:cNvSpPr txBox="1"/>
          <p:nvPr/>
        </p:nvSpPr>
        <p:spPr>
          <a:xfrm>
            <a:off x="1755648" y="3081528"/>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Let the data decide</a:t>
            </a:r>
          </a:p>
        </p:txBody>
      </p:sp>
      <p:sp>
        <p:nvSpPr>
          <p:cNvPr id="175" name="Let the data decide body"/>
          <p:cNvSpPr txBox="1"/>
          <p:nvPr/>
        </p:nvSpPr>
        <p:spPr>
          <a:xfrm>
            <a:off x="1755648" y="3493008"/>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Android went from 76% memory safety bugs to 24% as new code moved to a safe language. Measure every design against defects like that.</a:t>
            </a:r>
          </a:p>
        </p:txBody>
      </p:sp>
      <p:sp>
        <p:nvSpPr>
          <p:cNvPr id="176" name="04"/>
          <p:cNvSpPr txBox="1"/>
          <p:nvPr/>
        </p:nvSpPr>
        <p:spPr>
          <a:xfrm>
            <a:off x="6355080" y="3044952"/>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04</a:t>
            </a:r>
          </a:p>
        </p:txBody>
      </p:sp>
      <p:sp>
        <p:nvSpPr>
          <p:cNvPr id="177" name="Prototype first, standardize second"/>
          <p:cNvSpPr txBox="1"/>
          <p:nvPr/>
        </p:nvSpPr>
        <p:spPr>
          <a:xfrm>
            <a:off x="7269480" y="3081528"/>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Prototype first, standardize second</a:t>
            </a:r>
          </a:p>
        </p:txBody>
      </p:sp>
      <p:sp>
        <p:nvSpPr>
          <p:cNvPr id="178" name="Prototype first, standardize second body"/>
          <p:cNvSpPr txBox="1"/>
          <p:nvPr/>
        </p:nvSpPr>
        <p:spPr>
          <a:xfrm>
            <a:off x="7269480" y="3493008"/>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Safety moves faster than a three year standard. Ship it in a real compiler and a TS first. Do not freeze a half answer into the standard.</a:t>
            </a:r>
          </a:p>
        </p:txBody>
      </p:sp>
      <p:sp>
        <p:nvSpPr>
          <p:cNvPr id="179" name="05"/>
          <p:cNvSpPr txBox="1"/>
          <p:nvPr/>
        </p:nvSpPr>
        <p:spPr>
          <a:xfrm>
            <a:off x="841248" y="4343400"/>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05</a:t>
            </a:r>
          </a:p>
        </p:txBody>
      </p:sp>
      <p:sp>
        <p:nvSpPr>
          <p:cNvPr id="180" name="Fund the compiler work"/>
          <p:cNvSpPr txBox="1"/>
          <p:nvPr/>
        </p:nvSpPr>
        <p:spPr>
          <a:xfrm>
            <a:off x="1755648" y="4379976"/>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Fund the compiler work</a:t>
            </a:r>
          </a:p>
        </p:txBody>
      </p:sp>
      <p:sp>
        <p:nvSpPr>
          <p:cNvPr id="181" name="Fund the compiler work body"/>
          <p:cNvSpPr txBox="1"/>
          <p:nvPr/>
        </p:nvSpPr>
        <p:spPr>
          <a:xfrm>
            <a:off x="1755648" y="4791456"/>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Safe C++ was one author and one closed compiler, and it stopped in 2024. This needs paid engineers in the compilers people use.</a:t>
            </a:r>
          </a:p>
        </p:txBody>
      </p:sp>
      <p:sp>
        <p:nvSpPr>
          <p:cNvPr id="182" name="06"/>
          <p:cNvSpPr txBox="1"/>
          <p:nvPr/>
        </p:nvSpPr>
        <p:spPr>
          <a:xfrm>
            <a:off x="6355080" y="4343400"/>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06</a:t>
            </a:r>
          </a:p>
        </p:txBody>
      </p:sp>
      <p:sp>
        <p:nvSpPr>
          <p:cNvPr id="183" name="Say what it costs"/>
          <p:cNvSpPr txBox="1"/>
          <p:nvPr/>
        </p:nvSpPr>
        <p:spPr>
          <a:xfrm>
            <a:off x="7269480" y="4379976"/>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Say what it costs</a:t>
            </a:r>
          </a:p>
        </p:txBody>
      </p:sp>
      <p:sp>
        <p:nvSpPr>
          <p:cNvPr id="184" name="Say what it costs body"/>
          <p:cNvSpPr txBox="1"/>
          <p:nvPr/>
        </p:nvSpPr>
        <p:spPr>
          <a:xfrm>
            <a:off x="7269480" y="4791456"/>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It needs new reference types, annotations and a second standard library. The committee has a principle against that.</a:t>
            </a:r>
          </a:p>
        </p:txBody>
      </p:sp>
      <p:cxnSp>
        <p:nvCxnSpPr>
          <p:cNvPr id="185" name="Rule 1"/>
          <p:cNvCxnSpPr/>
          <p:nvPr/>
        </p:nvCxnSpPr>
        <p:spPr>
          <a:xfrm>
            <a:off x="841248" y="2944368"/>
            <a:ext cx="10479024" cy="0"/>
          </a:xfrm>
          <a:prstGeom prst="line">
            <a:avLst/>
          </a:prstGeom>
          <a:ln w="6350">
            <a:solidFill>
              <a:srgbClr val="C9C4C1"/>
            </a:solidFill>
          </a:ln>
        </p:spPr>
      </p:cxnSp>
      <p:cxnSp>
        <p:nvCxnSpPr>
          <p:cNvPr id="186" name="Rule 2"/>
          <p:cNvCxnSpPr/>
          <p:nvPr/>
        </p:nvCxnSpPr>
        <p:spPr>
          <a:xfrm>
            <a:off x="841248" y="4242816"/>
            <a:ext cx="10479024" cy="0"/>
          </a:xfrm>
          <a:prstGeom prst="line">
            <a:avLst/>
          </a:prstGeom>
          <a:ln w="6350">
            <a:solidFill>
              <a:srgbClr val="C9C4C1"/>
            </a:solidFill>
          </a:ln>
        </p:spPr>
      </p:cxnSp>
      <p:sp>
        <p:nvSpPr>
          <p:cNvPr id="187" name="Closing line"/>
          <p:cNvSpPr txBox="1"/>
          <p:nvPr/>
        </p:nvSpPr>
        <p:spPr>
          <a:xfrm>
            <a:off x="841248" y="5724144"/>
            <a:ext cx="10479024" cy="640080"/>
          </a:xfrm>
          <a:prstGeom prst="rect">
            <a:avLst/>
          </a:prstGeom>
          <a:noFill/>
          <a:ln>
            <a:noFill/>
          </a:ln>
        </p:spPr>
        <p:txBody>
          <a:bodyPr wrap="square" lIns="0" tIns="0" rIns="0" bIns="0" rtlCol="0" anchor="t">
            <a:noAutofit/>
          </a:bodyPr>
          <a:lstStyle/>
          <a:p>
            <a:pPr algn="l"/>
            <a:r>
              <a:rPr lang="en-US" sz="1600" b="1" dirty="0">
                <a:solidFill>
                  <a:srgbClr val="1A1A1A"/>
                </a:solidFill>
                <a:latin typeface="Aptos"/>
                <a:cs typeface="Aptos"/>
              </a:rPr>
              <a:t>Go pays for lifetime safety with a GC, Swift with ARC, Rust with a borrow checker. C++ has not picked one.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What profiles and contracts still need</a:t>
            </a:r>
            <a:endParaRPr lang="en-US" sz="4400" dirty="0"/>
          </a:p>
        </p:txBody>
      </p:sp>
      <p:sp>
        <p:nvSpPr>
          <p:cNvPr id="146" name="01"/>
          <p:cNvSpPr txBox="1"/>
          <p:nvPr/>
        </p:nvSpPr>
        <p:spPr>
          <a:xfrm>
            <a:off x="841248" y="1746504"/>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01</a:t>
            </a:r>
          </a:p>
        </p:txBody>
      </p:sp>
      <p:sp>
        <p:nvSpPr>
          <p:cNvPr id="147" name="A real syntax, not an attribute"/>
          <p:cNvSpPr txBox="1"/>
          <p:nvPr/>
        </p:nvSpPr>
        <p:spPr>
          <a:xfrm>
            <a:off x="1755648" y="1783080"/>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A real syntax, not an attribute</a:t>
            </a:r>
          </a:p>
        </p:txBody>
      </p:sp>
      <p:sp>
        <p:nvSpPr>
          <p:cNvPr id="148" name="A real syntax, not an attribute body"/>
          <p:cNvSpPr txBox="1"/>
          <p:nvPr/>
        </p:nvSpPr>
        <p:spPr>
          <a:xfrm>
            <a:off x="1755648" y="2194560"/>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A compiler that does not know the attribute ignores it and builds anyway. The opt-out should be a keyword you can search for, like unsafe.</a:t>
            </a:r>
          </a:p>
        </p:txBody>
      </p:sp>
      <p:sp>
        <p:nvSpPr>
          <p:cNvPr id="149" name="02"/>
          <p:cNvSpPr txBox="1"/>
          <p:nvPr/>
        </p:nvSpPr>
        <p:spPr>
          <a:xfrm>
            <a:off x="6355080" y="1746504"/>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02</a:t>
            </a:r>
          </a:p>
        </p:txBody>
      </p:sp>
      <p:sp>
        <p:nvSpPr>
          <p:cNvPr id="150" name="One standard, not one per vendor"/>
          <p:cNvSpPr txBox="1"/>
          <p:nvPr/>
        </p:nvSpPr>
        <p:spPr>
          <a:xfrm>
            <a:off x="7269480" y="1783080"/>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One standard, not one per vendor</a:t>
            </a:r>
          </a:p>
        </p:txBody>
      </p:sp>
      <p:sp>
        <p:nvSpPr>
          <p:cNvPr id="151" name="One standard, not one per vendor body"/>
          <p:cNvSpPr txBox="1"/>
          <p:nvPr/>
        </p:nvSpPr>
        <p:spPr>
          <a:xfrm>
            <a:off x="7269480" y="2194560"/>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Same rules, same switch, same default on every compiler. Hardening and contract checking already differ by vendor.</a:t>
            </a:r>
          </a:p>
        </p:txBody>
      </p:sp>
      <p:sp>
        <p:nvSpPr>
          <p:cNvPr id="152" name="03"/>
          <p:cNvSpPr txBox="1"/>
          <p:nvPr/>
        </p:nvSpPr>
        <p:spPr>
          <a:xfrm>
            <a:off x="841248" y="3044952"/>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03</a:t>
            </a:r>
          </a:p>
        </p:txBody>
      </p:sp>
      <p:sp>
        <p:nvSpPr>
          <p:cNvPr id="153" name="On by default, opt out"/>
          <p:cNvSpPr txBox="1"/>
          <p:nvPr/>
        </p:nvSpPr>
        <p:spPr>
          <a:xfrm>
            <a:off x="1755648" y="3081528"/>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On by default, opt out</a:t>
            </a:r>
          </a:p>
        </p:txBody>
      </p:sp>
      <p:sp>
        <p:nvSpPr>
          <p:cNvPr id="154" name="On by default, opt out body"/>
          <p:cNvSpPr txBox="1"/>
          <p:nvPr/>
        </p:nvSpPr>
        <p:spPr>
          <a:xfrm>
            <a:off x="1755648" y="3493008"/>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A new language version turns the profiles on and code opts out where it must. C++26 already did this for uninitialized reads.</a:t>
            </a:r>
          </a:p>
        </p:txBody>
      </p:sp>
      <p:sp>
        <p:nvSpPr>
          <p:cNvPr id="155" name="04"/>
          <p:cNvSpPr txBox="1"/>
          <p:nvPr/>
        </p:nvSpPr>
        <p:spPr>
          <a:xfrm>
            <a:off x="6355080" y="3044952"/>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04</a:t>
            </a:r>
          </a:p>
        </p:txBody>
      </p:sp>
      <p:sp>
        <p:nvSpPr>
          <p:cNvPr id="156" name="Proof on real defects"/>
          <p:cNvSpPr txBox="1"/>
          <p:nvPr/>
        </p:nvSpPr>
        <p:spPr>
          <a:xfrm>
            <a:off x="7269480" y="3081528"/>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Proof on real defects</a:t>
            </a:r>
          </a:p>
        </p:txBody>
      </p:sp>
      <p:sp>
        <p:nvSpPr>
          <p:cNvPr id="157" name="Proof on real defects body"/>
          <p:cNvSpPr txBox="1"/>
          <p:nvPr/>
        </p:nvSpPr>
        <p:spPr>
          <a:xfrm>
            <a:off x="7269480" y="3493008"/>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Run every rule against known CVEs and their fixes before it ships. Publish what it would have stopped and what it missed.</a:t>
            </a:r>
          </a:p>
        </p:txBody>
      </p:sp>
      <p:sp>
        <p:nvSpPr>
          <p:cNvPr id="158" name="05"/>
          <p:cNvSpPr txBox="1"/>
          <p:nvPr/>
        </p:nvSpPr>
        <p:spPr>
          <a:xfrm>
            <a:off x="841248" y="4343400"/>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05</a:t>
            </a:r>
          </a:p>
        </p:txBody>
      </p:sp>
      <p:sp>
        <p:nvSpPr>
          <p:cNvPr id="159" name="Ship the fixes with the rules"/>
          <p:cNvSpPr txBox="1"/>
          <p:nvPr/>
        </p:nvSpPr>
        <p:spPr>
          <a:xfrm>
            <a:off x="1755648" y="4379976"/>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Ship the fixes with the rules</a:t>
            </a:r>
          </a:p>
        </p:txBody>
      </p:sp>
      <p:sp>
        <p:nvSpPr>
          <p:cNvPr id="160" name="Ship the fixes with the rules body"/>
          <p:cNvSpPr txBox="1"/>
          <p:nvPr/>
        </p:nvSpPr>
        <p:spPr>
          <a:xfrm>
            <a:off x="1755648" y="4791456"/>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Enforcing a profile breaks the build until the code changes. The automatic rewrites were cut from the proposal and should come back.</a:t>
            </a:r>
          </a:p>
        </p:txBody>
      </p:sp>
      <p:sp>
        <p:nvSpPr>
          <p:cNvPr id="161" name="06"/>
          <p:cNvSpPr txBox="1"/>
          <p:nvPr/>
        </p:nvSpPr>
        <p:spPr>
          <a:xfrm>
            <a:off x="6355080" y="4343400"/>
            <a:ext cx="868680" cy="640080"/>
          </a:xfrm>
          <a:prstGeom prst="rect">
            <a:avLst/>
          </a:prstGeom>
          <a:noFill/>
          <a:ln>
            <a:noFill/>
          </a:ln>
        </p:spPr>
        <p:txBody>
          <a:bodyPr wrap="none" lIns="0" tIns="0" rIns="0" bIns="0" rtlCol="0" anchor="t">
            <a:noAutofit/>
          </a:bodyPr>
          <a:lstStyle/>
          <a:p>
            <a:pPr algn="l"/>
            <a:r>
              <a:rPr lang="en-US" sz="3600" b="1" dirty="0">
                <a:solidFill>
                  <a:srgbClr val="156082"/>
                </a:solidFill>
                <a:latin typeface="Aptos"/>
                <a:cs typeface="Aptos"/>
              </a:rPr>
              <a:t>06</a:t>
            </a:r>
          </a:p>
        </p:txBody>
      </p:sp>
      <p:sp>
        <p:nvSpPr>
          <p:cNvPr id="162" name="A safety tool, nothing else"/>
          <p:cNvSpPr txBox="1"/>
          <p:nvPr/>
        </p:nvSpPr>
        <p:spPr>
          <a:xfrm>
            <a:off x="7269480" y="4379976"/>
            <a:ext cx="4050792" cy="384048"/>
          </a:xfrm>
          <a:prstGeom prst="rect">
            <a:avLst/>
          </a:prstGeom>
          <a:noFill/>
          <a:ln>
            <a:noFill/>
          </a:ln>
        </p:spPr>
        <p:txBody>
          <a:bodyPr wrap="none" lIns="0" tIns="0" rIns="0" bIns="0" rtlCol="0" anchor="t">
            <a:noAutofit/>
          </a:bodyPr>
          <a:lstStyle/>
          <a:p>
            <a:pPr algn="l"/>
            <a:r>
              <a:rPr lang="en-US" sz="2000" b="1" dirty="0">
                <a:solidFill>
                  <a:srgbClr val="1A1A1A"/>
                </a:solidFill>
                <a:latin typeface="Aptos"/>
                <a:cs typeface="Aptos"/>
              </a:rPr>
              <a:t>A safety tool, nothing else</a:t>
            </a:r>
          </a:p>
        </p:txBody>
      </p:sp>
      <p:sp>
        <p:nvSpPr>
          <p:cNvPr id="163" name="A safety tool, nothing else body"/>
          <p:cNvSpPr txBox="1"/>
          <p:nvPr/>
        </p:nvSpPr>
        <p:spPr>
          <a:xfrm>
            <a:off x="7269480" y="4791456"/>
            <a:ext cx="4050792" cy="713232"/>
          </a:xfrm>
          <a:prstGeom prst="rect">
            <a:avLst/>
          </a:prstGeom>
          <a:noFill/>
          <a:ln>
            <a:noFill/>
          </a:ln>
        </p:spPr>
        <p:txBody>
          <a:bodyPr wrap="square" lIns="0" tIns="0" rIns="0" bIns="0" rtlCol="0" anchor="t">
            <a:noAutofit/>
          </a:bodyPr>
          <a:lstStyle/>
          <a:p>
            <a:pPr algn="l"/>
            <a:r>
              <a:rPr lang="en-US" sz="1400" dirty="0">
                <a:solidFill>
                  <a:srgbClr val="595959"/>
                </a:solidFill>
                <a:latin typeface="Aptos"/>
                <a:cs typeface="Aptos"/>
              </a:rPr>
              <a:t>Do not make profiles the way to break compatibility. Where a defined answer exists, like left to right evaluation, fix the language.</a:t>
            </a:r>
          </a:p>
        </p:txBody>
      </p:sp>
      <p:cxnSp>
        <p:nvCxnSpPr>
          <p:cNvPr id="164" name="Rule 1"/>
          <p:cNvCxnSpPr/>
          <p:nvPr/>
        </p:nvCxnSpPr>
        <p:spPr>
          <a:xfrm>
            <a:off x="841248" y="2944368"/>
            <a:ext cx="10479024" cy="0"/>
          </a:xfrm>
          <a:prstGeom prst="line">
            <a:avLst/>
          </a:prstGeom>
          <a:ln w="6350">
            <a:solidFill>
              <a:srgbClr val="C9C4C1"/>
            </a:solidFill>
          </a:ln>
        </p:spPr>
      </p:cxnSp>
      <p:cxnSp>
        <p:nvCxnSpPr>
          <p:cNvPr id="165" name="Rule 2"/>
          <p:cNvCxnSpPr/>
          <p:nvPr/>
        </p:nvCxnSpPr>
        <p:spPr>
          <a:xfrm>
            <a:off x="841248" y="4242816"/>
            <a:ext cx="10479024" cy="0"/>
          </a:xfrm>
          <a:prstGeom prst="line">
            <a:avLst/>
          </a:prstGeom>
          <a:ln w="6350">
            <a:solidFill>
              <a:srgbClr val="C9C4C1"/>
            </a:solidFill>
          </a:ln>
        </p:spPr>
      </p:cxnSp>
      <p:sp>
        <p:nvSpPr>
          <p:cNvPr id="166" name="Closing line"/>
          <p:cNvSpPr txBox="1"/>
          <p:nvPr/>
        </p:nvSpPr>
        <p:spPr>
          <a:xfrm>
            <a:off x="841248" y="5788152"/>
            <a:ext cx="10479024" cy="365760"/>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Neither one has an answer for lifetime or data races. That needs its own plan.</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373D9-97A4-75CC-E92A-0F7C1B50F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C6680-E7AF-10AF-ABF8-650DA09E468E}"/>
              </a:ext>
            </a:extLst>
          </p:cNvPr>
          <p:cNvSpPr>
            <a:spLocks noGrp="1"/>
          </p:cNvSpPr>
          <p:nvPr>
            <p:ph type="title"/>
          </p:nvPr>
        </p:nvSpPr>
        <p:spPr/>
        <p:txBody>
          <a:bodyPr/>
          <a:lstStyle/>
          <a:p>
            <a:r>
              <a:rPr lang="en-US" dirty="0"/>
              <a:t>And then</a:t>
            </a:r>
          </a:p>
        </p:txBody>
      </p:sp>
      <p:sp>
        <p:nvSpPr>
          <p:cNvPr id="3" name="Text Placeholder 2">
            <a:extLst>
              <a:ext uri="{FF2B5EF4-FFF2-40B4-BE49-F238E27FC236}">
                <a16:creationId xmlns:a16="http://schemas.microsoft.com/office/drawing/2014/main" id="{2A259822-513B-5D9C-C46A-0CFA8F4EAF3A}"/>
              </a:ext>
            </a:extLst>
          </p:cNvPr>
          <p:cNvSpPr>
            <a:spLocks noGrp="1"/>
          </p:cNvSpPr>
          <p:nvPr>
            <p:ph type="body" idx="1"/>
          </p:nvPr>
        </p:nvSpPr>
        <p:spPr/>
        <p:txBody>
          <a:bodyPr/>
          <a:lstStyle/>
          <a:p>
            <a:endParaRPr lang="en-US" dirty="0"/>
          </a:p>
        </p:txBody>
      </p:sp>
      <p:sp>
        <p:nvSpPr>
          <p:cNvPr id="13" name="TextBox 12">
            <a:extLst>
              <a:ext uri="{FF2B5EF4-FFF2-40B4-BE49-F238E27FC236}">
                <a16:creationId xmlns:a16="http://schemas.microsoft.com/office/drawing/2014/main" id="{10F14097-E685-902C-6539-BCAAD89E966A}"/>
              </a:ext>
            </a:extLst>
          </p:cNvPr>
          <p:cNvSpPr txBox="1"/>
          <p:nvPr/>
        </p:nvSpPr>
        <p:spPr>
          <a:xfrm>
            <a:off x="831850" y="2906078"/>
            <a:ext cx="1752600" cy="707886"/>
          </a:xfrm>
          <a:prstGeom prst="rect">
            <a:avLst/>
          </a:prstGeom>
          <a:noFill/>
        </p:spPr>
        <p:txBody>
          <a:bodyPr wrap="square" rtlCol="0">
            <a:spAutoFit/>
          </a:bodyPr>
          <a:lstStyle/>
          <a:p>
            <a:r>
              <a:rPr lang="en-US" sz="4000" dirty="0">
                <a:solidFill>
                  <a:schemeClr val="bg1">
                    <a:lumMod val="65000"/>
                  </a:schemeClr>
                </a:solidFill>
              </a:rPr>
              <a:t>Part V</a:t>
            </a:r>
          </a:p>
        </p:txBody>
      </p:sp>
    </p:spTree>
    <p:extLst>
      <p:ext uri="{BB962C8B-B14F-4D97-AF65-F5344CB8AC3E}">
        <p14:creationId xmlns:p14="http://schemas.microsoft.com/office/powerpoint/2010/main" val="25066467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future with AI</a:t>
            </a:r>
          </a:p>
        </p:txBody>
      </p:sp>
      <p:sp>
        <p:nvSpPr>
          <p:cNvPr id="3" name="Text 1"/>
          <p:cNvSpPr txBox="1"/>
          <p:nvPr/>
        </p:nvSpPr>
        <p:spPr>
          <a:xfrm>
            <a:off x="914400" y="1463040"/>
            <a:ext cx="10058400" cy="384048"/>
          </a:xfrm>
          <a:prstGeom prst="rect">
            <a:avLst/>
          </a:prstGeom>
          <a:noFill/>
          <a:ln/>
        </p:spPr>
        <p:txBody>
          <a:bodyPr wrap="square" lIns="0" tIns="0" rIns="0" bIns="0" rtlCol="0" anchor="ctr"/>
          <a:lstStyle/>
          <a:p>
            <a:pPr marL="0" indent="0">
              <a:buNone/>
            </a:pPr>
            <a:r>
              <a:rPr lang="en-US" sz="1800" dirty="0">
                <a:solidFill>
                  <a:srgbClr val="595959"/>
                </a:solidFill>
                <a:latin typeface="Aptos" pitchFamily="34" charset="0"/>
                <a:ea typeface="Aptos" pitchFamily="34" charset="-122"/>
                <a:cs typeface="Aptos" pitchFamily="34" charset="-120"/>
              </a:rPr>
              <a:t>What the AI bug finders have in common</a:t>
            </a:r>
            <a:endParaRPr lang="en-US" sz="1800" dirty="0"/>
          </a:p>
        </p:txBody>
      </p:sp>
      <p:sp>
        <p:nvSpPr>
          <p:cNvPr id="4" name="Shape 2"/>
          <p:cNvSpPr/>
          <p:nvPr/>
        </p:nvSpPr>
        <p:spPr>
          <a:xfrm>
            <a:off x="914400" y="2011680"/>
            <a:ext cx="10424160" cy="0"/>
          </a:xfrm>
          <a:prstGeom prst="line">
            <a:avLst/>
          </a:prstGeom>
          <a:noFill/>
          <a:ln w="9525">
            <a:solidFill>
              <a:srgbClr val="C9C4C1"/>
            </a:solidFill>
            <a:prstDash val="solid"/>
          </a:ln>
        </p:spPr>
        <p:txBody>
          <a:bodyPr/>
          <a:lstStyle/>
          <a:p>
            <a:endParaRPr lang="en-US"/>
          </a:p>
        </p:txBody>
      </p:sp>
      <p:sp>
        <p:nvSpPr>
          <p:cNvPr id="5" name="Text 3"/>
          <p:cNvSpPr txBox="1"/>
          <p:nvPr/>
        </p:nvSpPr>
        <p:spPr>
          <a:xfrm>
            <a:off x="914400" y="2212848"/>
            <a:ext cx="2377440" cy="384048"/>
          </a:xfrm>
          <a:prstGeom prst="rect">
            <a:avLst/>
          </a:prstGeom>
          <a:noFill/>
          <a:ln/>
        </p:spPr>
        <p:txBody>
          <a:bodyPr wrap="square" lIns="0" tIns="0" rIns="0" bIns="0" rtlCol="0" anchor="ctr"/>
          <a:lstStyle/>
          <a:p>
            <a:pPr marL="0" indent="0">
              <a:buNone/>
            </a:pPr>
            <a:r>
              <a:rPr lang="en-US" sz="2200" b="1" dirty="0">
                <a:solidFill>
                  <a:srgbClr val="1A1A1A"/>
                </a:solidFill>
                <a:latin typeface="Aptos" pitchFamily="34" charset="0"/>
                <a:ea typeface="Aptos" pitchFamily="34" charset="-122"/>
                <a:cs typeface="Aptos" pitchFamily="34" charset="-120"/>
              </a:rPr>
              <a:t>Mythos Preview</a:t>
            </a:r>
            <a:endParaRPr lang="en-US" sz="2200" dirty="0"/>
          </a:p>
        </p:txBody>
      </p:sp>
      <p:sp>
        <p:nvSpPr>
          <p:cNvPr id="6" name="Text 4"/>
          <p:cNvSpPr txBox="1"/>
          <p:nvPr/>
        </p:nvSpPr>
        <p:spPr>
          <a:xfrm>
            <a:off x="914400" y="2615184"/>
            <a:ext cx="2377440" cy="274320"/>
          </a:xfrm>
          <a:prstGeom prst="rect">
            <a:avLst/>
          </a:prstGeom>
          <a:noFill/>
          <a:ln/>
        </p:spPr>
        <p:txBody>
          <a:bodyPr wrap="square" lIns="0" tIns="0" rIns="0" bIns="0" rtlCol="0" anchor="ctr"/>
          <a:lstStyle/>
          <a:p>
            <a:pPr marL="0" indent="0">
              <a:buNone/>
            </a:pPr>
            <a:r>
              <a:rPr lang="en-US" sz="1400" u="sng" dirty="0">
                <a:solidFill>
                  <a:srgbClr val="595959"/>
                </a:solidFill>
                <a:latin typeface="Aptos" pitchFamily="34" charset="0"/>
                <a:ea typeface="Aptos" pitchFamily="34" charset="-122"/>
                <a:cs typeface="Aptos" pitchFamily="34" charset="-120"/>
                <a:hlinkClick r:id="rId3" tooltip="https://red.anthropic.com/2026/mythos-preview/">
                  <a:extLst>
                    <a:ext uri="{A12FA001-AC4F-418D-AE19-62706E023703}">
                      <ahyp:hlinkClr xmlns:ahyp="http://schemas.microsoft.com/office/drawing/2018/hyperlinkcolor" val="tx"/>
                    </a:ext>
                  </a:extLst>
                </a:hlinkClick>
              </a:rPr>
              <a:t>Anthropic, April 2026</a:t>
            </a:r>
            <a:endParaRPr lang="en-US" sz="1400" dirty="0"/>
          </a:p>
        </p:txBody>
      </p:sp>
      <p:sp>
        <p:nvSpPr>
          <p:cNvPr id="7" name="Text 5"/>
          <p:cNvSpPr txBox="1"/>
          <p:nvPr/>
        </p:nvSpPr>
        <p:spPr>
          <a:xfrm>
            <a:off x="3566160" y="2249424"/>
            <a:ext cx="7772400" cy="1097280"/>
          </a:xfrm>
          <a:prstGeom prst="rect">
            <a:avLst/>
          </a:prstGeom>
          <a:noFill/>
          <a:ln/>
        </p:spPr>
        <p:txBody>
          <a:bodyPr wrap="square" lIns="0" tIns="0" rIns="0" bIns="0" rtlCol="0" anchor="t"/>
          <a:lstStyle/>
          <a:p>
            <a:pPr marL="0" indent="0">
              <a:buNone/>
            </a:pPr>
            <a:r>
              <a:rPr lang="en-US" sz="2200" i="1" dirty="0">
                <a:solidFill>
                  <a:srgbClr val="1A1A1A"/>
                </a:solidFill>
                <a:latin typeface="Aptos" pitchFamily="34" charset="0"/>
                <a:ea typeface="Aptos" pitchFamily="34" charset="-122"/>
                <a:cs typeface="Aptos" pitchFamily="34" charset="-120"/>
              </a:rPr>
              <a:t>“Mythos Preview identified several other important vulnerabilities [...] because we have a perfect crash oracle in </a:t>
            </a:r>
            <a:r>
              <a:rPr lang="en-US" sz="2200" b="1" i="1" dirty="0">
                <a:solidFill>
                  <a:srgbClr val="156082"/>
                </a:solidFill>
                <a:latin typeface="Aptos" pitchFamily="34" charset="0"/>
                <a:ea typeface="Aptos" pitchFamily="34" charset="-122"/>
                <a:cs typeface="Aptos" pitchFamily="34" charset="-120"/>
              </a:rPr>
              <a:t>ASan</a:t>
            </a:r>
            <a:r>
              <a:rPr lang="en-US" sz="2200" i="1" dirty="0">
                <a:solidFill>
                  <a:srgbClr val="1A1A1A"/>
                </a:solidFill>
                <a:latin typeface="Aptos" pitchFamily="34" charset="0"/>
                <a:ea typeface="Aptos" pitchFamily="34" charset="-122"/>
                <a:cs typeface="Aptos" pitchFamily="34" charset="-120"/>
              </a:rPr>
              <a:t>, we have not yet encountered a false positive.”</a:t>
            </a:r>
            <a:endParaRPr lang="en-US" sz="2200" dirty="0"/>
          </a:p>
        </p:txBody>
      </p:sp>
      <p:sp>
        <p:nvSpPr>
          <p:cNvPr id="8" name="Shape 6"/>
          <p:cNvSpPr/>
          <p:nvPr/>
        </p:nvSpPr>
        <p:spPr>
          <a:xfrm>
            <a:off x="914400" y="3429000"/>
            <a:ext cx="10424160" cy="0"/>
          </a:xfrm>
          <a:prstGeom prst="line">
            <a:avLst/>
          </a:prstGeom>
          <a:noFill/>
          <a:ln w="9525">
            <a:solidFill>
              <a:srgbClr val="C9C4C1"/>
            </a:solidFill>
            <a:prstDash val="solid"/>
          </a:ln>
        </p:spPr>
        <p:txBody>
          <a:bodyPr/>
          <a:lstStyle/>
          <a:p>
            <a:endParaRPr lang="en-US"/>
          </a:p>
        </p:txBody>
      </p:sp>
      <p:sp>
        <p:nvSpPr>
          <p:cNvPr id="9" name="Text 7"/>
          <p:cNvSpPr txBox="1"/>
          <p:nvPr/>
        </p:nvSpPr>
        <p:spPr>
          <a:xfrm>
            <a:off x="914400" y="3630168"/>
            <a:ext cx="2377440" cy="384048"/>
          </a:xfrm>
          <a:prstGeom prst="rect">
            <a:avLst/>
          </a:prstGeom>
          <a:noFill/>
          <a:ln/>
        </p:spPr>
        <p:txBody>
          <a:bodyPr wrap="square" lIns="0" tIns="0" rIns="0" bIns="0" rtlCol="0" anchor="ctr"/>
          <a:lstStyle/>
          <a:p>
            <a:pPr marL="0" indent="0">
              <a:buNone/>
            </a:pPr>
            <a:r>
              <a:rPr lang="en-US" sz="2200" b="1" dirty="0">
                <a:solidFill>
                  <a:srgbClr val="1A1A1A"/>
                </a:solidFill>
                <a:latin typeface="Aptos" pitchFamily="34" charset="0"/>
                <a:ea typeface="Aptos" pitchFamily="34" charset="-122"/>
                <a:cs typeface="Aptos" pitchFamily="34" charset="-120"/>
              </a:rPr>
              <a:t>CyberGym</a:t>
            </a:r>
            <a:endParaRPr lang="en-US" sz="2200" dirty="0"/>
          </a:p>
        </p:txBody>
      </p:sp>
      <p:sp>
        <p:nvSpPr>
          <p:cNvPr id="10" name="Text 8"/>
          <p:cNvSpPr txBox="1"/>
          <p:nvPr/>
        </p:nvSpPr>
        <p:spPr>
          <a:xfrm>
            <a:off x="914400" y="4032504"/>
            <a:ext cx="2377440" cy="274320"/>
          </a:xfrm>
          <a:prstGeom prst="rect">
            <a:avLst/>
          </a:prstGeom>
          <a:noFill/>
          <a:ln/>
        </p:spPr>
        <p:txBody>
          <a:bodyPr wrap="square" lIns="0" tIns="0" rIns="0" bIns="0" rtlCol="0" anchor="ctr"/>
          <a:lstStyle/>
          <a:p>
            <a:pPr marL="0" indent="0">
              <a:buNone/>
            </a:pPr>
            <a:r>
              <a:rPr lang="en-US" sz="1400" u="sng" dirty="0">
                <a:solidFill>
                  <a:srgbClr val="595959"/>
                </a:solidFill>
                <a:latin typeface="Aptos" pitchFamily="34" charset="0"/>
                <a:ea typeface="Aptos" pitchFamily="34" charset="-122"/>
                <a:cs typeface="Aptos" pitchFamily="34" charset="-120"/>
                <a:hlinkClick r:id="rId4" tooltip="https://arxiv.org/abs/2506.02548">
                  <a:extLst>
                    <a:ext uri="{A12FA001-AC4F-418D-AE19-62706E023703}">
                      <ahyp:hlinkClr xmlns:ahyp="http://schemas.microsoft.com/office/drawing/2018/hyperlinkcolor" val="tx"/>
                    </a:ext>
                  </a:extLst>
                </a:hlinkClick>
              </a:rPr>
              <a:t>UC Berkeley</a:t>
            </a:r>
            <a:endParaRPr lang="en-US" sz="1400" dirty="0"/>
          </a:p>
        </p:txBody>
      </p:sp>
      <p:sp>
        <p:nvSpPr>
          <p:cNvPr id="11" name="Text 9"/>
          <p:cNvSpPr txBox="1"/>
          <p:nvPr/>
        </p:nvSpPr>
        <p:spPr>
          <a:xfrm>
            <a:off x="3566160" y="3666744"/>
            <a:ext cx="7772400" cy="1783080"/>
          </a:xfrm>
          <a:prstGeom prst="rect">
            <a:avLst/>
          </a:prstGeom>
          <a:noFill/>
          <a:ln/>
        </p:spPr>
        <p:txBody>
          <a:bodyPr wrap="square" lIns="0" tIns="0" rIns="0" bIns="0" rtlCol="0" anchor="t"/>
          <a:lstStyle/>
          <a:p>
            <a:pPr marL="0" indent="0">
              <a:buNone/>
            </a:pPr>
            <a:r>
              <a:rPr lang="en-US" sz="2200" i="1" dirty="0">
                <a:solidFill>
                  <a:srgbClr val="1A1A1A"/>
                </a:solidFill>
                <a:latin typeface="Aptos" pitchFamily="34" charset="0"/>
                <a:ea typeface="Aptos" pitchFamily="34" charset="-122"/>
                <a:cs typeface="Aptos" pitchFamily="34" charset="-120"/>
              </a:rPr>
              <a:t>“We deploy agents to analyze the latest codebases without prior knowledge of existing vulnerabilities, generating PoCs to probe for potential vulnerabilities that are then validated against the latest software versions with </a:t>
            </a:r>
            <a:r>
              <a:rPr lang="en-US" sz="2200" b="1" i="1" dirty="0">
                <a:solidFill>
                  <a:srgbClr val="156082"/>
                </a:solidFill>
                <a:latin typeface="Aptos" pitchFamily="34" charset="0"/>
                <a:ea typeface="Aptos" pitchFamily="34" charset="-122"/>
                <a:cs typeface="Aptos" pitchFamily="34" charset="-120"/>
              </a:rPr>
              <a:t>sanitizers [like ASan]</a:t>
            </a:r>
            <a:r>
              <a:rPr lang="en-US" sz="2200" i="1" dirty="0">
                <a:solidFill>
                  <a:srgbClr val="1A1A1A"/>
                </a:solidFill>
                <a:latin typeface="Aptos" pitchFamily="34" charset="0"/>
                <a:ea typeface="Aptos" pitchFamily="34" charset="-122"/>
                <a:cs typeface="Aptos" pitchFamily="34" charset="-120"/>
              </a:rPr>
              <a:t> enabled.”</a:t>
            </a:r>
            <a:endParaRPr lang="en-US" sz="2200" dirty="0"/>
          </a:p>
        </p:txBody>
      </p:sp>
      <p:sp>
        <p:nvSpPr>
          <p:cNvPr id="12" name="Shape 10"/>
          <p:cNvSpPr/>
          <p:nvPr/>
        </p:nvSpPr>
        <p:spPr>
          <a:xfrm>
            <a:off x="914400" y="5532120"/>
            <a:ext cx="10424160" cy="0"/>
          </a:xfrm>
          <a:prstGeom prst="line">
            <a:avLst/>
          </a:prstGeom>
          <a:noFill/>
          <a:ln w="9525">
            <a:solidFill>
              <a:srgbClr val="C9C4C1"/>
            </a:solidFill>
            <a:prstDash val="solid"/>
          </a:ln>
        </p:spPr>
        <p:txBody>
          <a:bodyPr/>
          <a:lstStyle/>
          <a:p>
            <a:endParaRPr lang="en-US"/>
          </a:p>
        </p:txBody>
      </p:sp>
      <p:sp>
        <p:nvSpPr>
          <p:cNvPr id="13" name="Text 11"/>
          <p:cNvSpPr txBox="1"/>
          <p:nvPr/>
        </p:nvSpPr>
        <p:spPr>
          <a:xfrm>
            <a:off x="914400" y="5760720"/>
            <a:ext cx="10424160" cy="548640"/>
          </a:xfrm>
          <a:prstGeom prst="rect">
            <a:avLst/>
          </a:prstGeom>
          <a:noFill/>
          <a:ln/>
        </p:spPr>
        <p:txBody>
          <a:bodyPr wrap="square" lIns="0" tIns="0" rIns="0" bIns="0" rtlCol="0" anchor="ctr"/>
          <a:lstStyle/>
          <a:p>
            <a:pPr marL="0" indent="0">
              <a:buNone/>
            </a:pPr>
            <a:r>
              <a:rPr lang="en-US" sz="2800" b="1" dirty="0">
                <a:solidFill>
                  <a:srgbClr val="1A1A1A"/>
                </a:solidFill>
                <a:latin typeface="Aptos" pitchFamily="34" charset="0"/>
                <a:ea typeface="Aptos" pitchFamily="34" charset="-122"/>
                <a:cs typeface="Aptos" pitchFamily="34" charset="-120"/>
              </a:rPr>
              <a:t>AI finds the bug. </a:t>
            </a:r>
            <a:r>
              <a:rPr lang="en-US" sz="2800" b="1" dirty="0">
                <a:solidFill>
                  <a:srgbClr val="156082"/>
                </a:solidFill>
                <a:latin typeface="Aptos" pitchFamily="34" charset="0"/>
                <a:ea typeface="Aptos" pitchFamily="34" charset="-122"/>
                <a:cs typeface="Aptos" pitchFamily="34" charset="-120"/>
              </a:rPr>
              <a:t>A sanitizer proves it.</a:t>
            </a:r>
            <a:endParaRPr lang="en-US" sz="2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xfrm>
            <a:off x="841248" y="365760"/>
            <a:ext cx="10515600" cy="1325880"/>
          </a:xfrm>
          <a:prstGeom prst="rect">
            <a:avLst/>
          </a:prstGeom>
          <a:noFill/>
          <a:ln/>
        </p:spPr>
        <p:txBody>
          <a:bodyPr wrap="square" rtlCol="0" anchor="ctr">
            <a:normAutofit/>
          </a:bodyPr>
          <a:lstStyle/>
          <a:p>
            <a:pPr marL="0" indent="0" algn="l">
              <a:buNone/>
            </a:pPr>
            <a:r>
              <a:rPr lang="en-US" sz="4400" b="1" dirty="0">
                <a:solidFill>
                  <a:srgbClr val="000000"/>
                </a:solidFill>
                <a:latin typeface="Aptos Display" pitchFamily="34" charset="0"/>
                <a:ea typeface="Aptos Display" pitchFamily="34" charset="-122"/>
                <a:cs typeface="Aptos Display" pitchFamily="34" charset="-120"/>
              </a:rPr>
              <a:t>Necessary not sufficient</a:t>
            </a:r>
            <a:endParaRPr lang="en-US" sz="4400" dirty="0"/>
          </a:p>
        </p:txBody>
      </p:sp>
      <p:sp>
        <p:nvSpPr>
          <p:cNvPr id="189" name="Therac-25 card"/>
          <p:cNvSpPr/>
          <p:nvPr/>
        </p:nvSpPr>
        <p:spPr>
          <a:xfrm>
            <a:off x="838505" y="2194560"/>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193" name="Patriot card"/>
          <p:cNvSpPr/>
          <p:nvPr/>
        </p:nvSpPr>
        <p:spPr>
          <a:xfrm>
            <a:off x="3513125" y="2194560"/>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196" name="Ariane 5 card"/>
          <p:cNvSpPr/>
          <p:nvPr/>
        </p:nvSpPr>
        <p:spPr>
          <a:xfrm>
            <a:off x="6187745" y="2194560"/>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200" name="Toyota acceleration card"/>
          <p:cNvSpPr/>
          <p:nvPr/>
        </p:nvSpPr>
        <p:spPr>
          <a:xfrm>
            <a:off x="8862365" y="2194560"/>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203" name="F-22 card"/>
          <p:cNvSpPr/>
          <p:nvPr/>
        </p:nvSpPr>
        <p:spPr>
          <a:xfrm>
            <a:off x="838505" y="4361688"/>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207" name="Heartbleed card"/>
          <p:cNvSpPr/>
          <p:nvPr/>
        </p:nvSpPr>
        <p:spPr>
          <a:xfrm>
            <a:off x="3513125" y="4361688"/>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210" name="Boeing 737 MAX card"/>
          <p:cNvSpPr/>
          <p:nvPr/>
        </p:nvSpPr>
        <p:spPr>
          <a:xfrm>
            <a:off x="6187745" y="4361688"/>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sp>
        <p:nvSpPr>
          <p:cNvPr id="213" name="CrowdStrike card"/>
          <p:cNvSpPr/>
          <p:nvPr/>
        </p:nvSpPr>
        <p:spPr>
          <a:xfrm>
            <a:off x="8862365" y="4361688"/>
            <a:ext cx="2491740" cy="2029968"/>
          </a:xfrm>
          <a:prstGeom prst="roundRect">
            <a:avLst>
              <a:gd name="adj" fmla="val 4500"/>
            </a:avLst>
          </a:prstGeom>
          <a:solidFill>
            <a:srgbClr val="FFFFFF"/>
          </a:solidFill>
          <a:ln w="9525">
            <a:solidFill>
              <a:srgbClr val="E4DFDB"/>
            </a:solidFill>
          </a:ln>
        </p:spPr>
        <p:txBody>
          <a:bodyPr wrap="none" lIns="0" tIns="0" rIns="0" bIns="0" rtlCol="0" anchor="ctr">
            <a:noAutofit/>
          </a:bodyPr>
          <a:lstStyle/>
          <a:p>
            <a:pPr algn="l"/>
            <a:endParaRPr lang="en-US" dirty="0"/>
          </a:p>
        </p:txBody>
      </p:sp>
      <p:pic>
        <p:nvPicPr>
          <p:cNvPr id="3" name="Image 0" descr="/home/claude/wrap/therac.png"/>
          <p:cNvPicPr>
            <a:picLocks noChangeAspect="1"/>
          </p:cNvPicPr>
          <p:nvPr/>
        </p:nvPicPr>
        <p:blipFill>
          <a:blip r:embed="rId3"/>
          <a:stretch>
            <a:fillRect/>
          </a:stretch>
        </p:blipFill>
        <p:spPr>
          <a:xfrm>
            <a:off x="929945" y="2286000"/>
            <a:ext cx="2308860" cy="1150315"/>
          </a:xfrm>
          <a:prstGeom prst="roundRect">
            <a:avLst>
              <a:gd name="adj" fmla="val 5000"/>
            </a:avLst>
          </a:prstGeom>
        </p:spPr>
      </p:pic>
      <p:pic>
        <p:nvPicPr>
          <p:cNvPr id="4" name="Image 1" descr="/home/claude/wrap/patriot.png"/>
          <p:cNvPicPr>
            <a:picLocks noChangeAspect="1"/>
          </p:cNvPicPr>
          <p:nvPr/>
        </p:nvPicPr>
        <p:blipFill>
          <a:blip r:embed="rId4"/>
          <a:stretch>
            <a:fillRect/>
          </a:stretch>
        </p:blipFill>
        <p:spPr>
          <a:xfrm>
            <a:off x="3604565" y="2286000"/>
            <a:ext cx="2308860" cy="1150315"/>
          </a:xfrm>
          <a:prstGeom prst="roundRect">
            <a:avLst>
              <a:gd name="adj" fmla="val 5000"/>
            </a:avLst>
          </a:prstGeom>
        </p:spPr>
      </p:pic>
      <p:pic>
        <p:nvPicPr>
          <p:cNvPr id="5" name="Image 2" descr="/home/claude/wrap/ariane.png"/>
          <p:cNvPicPr>
            <a:picLocks noChangeAspect="1"/>
          </p:cNvPicPr>
          <p:nvPr/>
        </p:nvPicPr>
        <p:blipFill>
          <a:blip r:embed="rId5"/>
          <a:stretch>
            <a:fillRect/>
          </a:stretch>
        </p:blipFill>
        <p:spPr>
          <a:xfrm>
            <a:off x="6279185" y="2286000"/>
            <a:ext cx="2308860" cy="1150315"/>
          </a:xfrm>
          <a:prstGeom prst="roundRect">
            <a:avLst>
              <a:gd name="adj" fmla="val 5000"/>
            </a:avLst>
          </a:prstGeom>
        </p:spPr>
      </p:pic>
      <p:pic>
        <p:nvPicPr>
          <p:cNvPr id="6" name="Image 3" descr="/home/claude/wrap/toyota.png"/>
          <p:cNvPicPr>
            <a:picLocks noChangeAspect="1"/>
          </p:cNvPicPr>
          <p:nvPr/>
        </p:nvPicPr>
        <p:blipFill>
          <a:blip r:embed="rId6"/>
          <a:stretch>
            <a:fillRect/>
          </a:stretch>
        </p:blipFill>
        <p:spPr>
          <a:xfrm>
            <a:off x="8953805" y="2286000"/>
            <a:ext cx="2308860" cy="1150315"/>
          </a:xfrm>
          <a:prstGeom prst="roundRect">
            <a:avLst>
              <a:gd name="adj" fmla="val 5000"/>
            </a:avLst>
          </a:prstGeom>
        </p:spPr>
      </p:pic>
      <p:pic>
        <p:nvPicPr>
          <p:cNvPr id="7" name="Image 4" descr="/home/claude/wrap/f22.png"/>
          <p:cNvPicPr>
            <a:picLocks noChangeAspect="1"/>
          </p:cNvPicPr>
          <p:nvPr/>
        </p:nvPicPr>
        <p:blipFill>
          <a:blip r:embed="rId7"/>
          <a:stretch>
            <a:fillRect/>
          </a:stretch>
        </p:blipFill>
        <p:spPr>
          <a:xfrm>
            <a:off x="929945" y="4453128"/>
            <a:ext cx="2308860" cy="1150315"/>
          </a:xfrm>
          <a:prstGeom prst="roundRect">
            <a:avLst>
              <a:gd name="adj" fmla="val 5000"/>
            </a:avLst>
          </a:prstGeom>
        </p:spPr>
      </p:pic>
      <p:pic>
        <p:nvPicPr>
          <p:cNvPr id="8" name="Image 5" descr="/home/claude/wrap/heartbleed.png"/>
          <p:cNvPicPr>
            <a:picLocks noChangeAspect="1"/>
          </p:cNvPicPr>
          <p:nvPr/>
        </p:nvPicPr>
        <p:blipFill>
          <a:blip r:embed="rId8"/>
          <a:stretch>
            <a:fillRect/>
          </a:stretch>
        </p:blipFill>
        <p:spPr>
          <a:xfrm>
            <a:off x="3604565" y="4453128"/>
            <a:ext cx="2308860" cy="1150315"/>
          </a:xfrm>
          <a:prstGeom prst="roundRect">
            <a:avLst>
              <a:gd name="adj" fmla="val 5000"/>
            </a:avLst>
          </a:prstGeom>
        </p:spPr>
      </p:pic>
      <p:pic>
        <p:nvPicPr>
          <p:cNvPr id="9" name="Image 6" descr="/home/claude/wrap/max.png"/>
          <p:cNvPicPr>
            <a:picLocks noChangeAspect="1"/>
          </p:cNvPicPr>
          <p:nvPr/>
        </p:nvPicPr>
        <p:blipFill>
          <a:blip r:embed="rId9"/>
          <a:stretch>
            <a:fillRect/>
          </a:stretch>
        </p:blipFill>
        <p:spPr>
          <a:xfrm>
            <a:off x="6279185" y="4453128"/>
            <a:ext cx="2308860" cy="1150315"/>
          </a:xfrm>
          <a:prstGeom prst="roundRect">
            <a:avLst>
              <a:gd name="adj" fmla="val 5000"/>
            </a:avLst>
          </a:prstGeom>
        </p:spPr>
      </p:pic>
      <p:pic>
        <p:nvPicPr>
          <p:cNvPr id="10" name="Image 7" descr="/home/claude/wrap/crowdstrike.png"/>
          <p:cNvPicPr>
            <a:picLocks noChangeAspect="1"/>
          </p:cNvPicPr>
          <p:nvPr/>
        </p:nvPicPr>
        <p:blipFill>
          <a:blip r:embed="rId10"/>
          <a:stretch>
            <a:fillRect/>
          </a:stretch>
        </p:blipFill>
        <p:spPr>
          <a:xfrm>
            <a:off x="8953805" y="4453128"/>
            <a:ext cx="2308860" cy="1150315"/>
          </a:xfrm>
          <a:prstGeom prst="roundRect">
            <a:avLst>
              <a:gd name="adj" fmla="val 5000"/>
            </a:avLst>
          </a:prstGeom>
        </p:spPr>
      </p:pic>
      <p:sp>
        <p:nvSpPr>
          <p:cNvPr id="188" name="Message"/>
          <p:cNvSpPr txBox="1"/>
          <p:nvPr/>
        </p:nvSpPr>
        <p:spPr>
          <a:xfrm>
            <a:off x="932688" y="1481328"/>
            <a:ext cx="10698480" cy="457200"/>
          </a:xfrm>
          <a:prstGeom prst="rect">
            <a:avLst/>
          </a:prstGeom>
          <a:noFill/>
          <a:ln>
            <a:noFill/>
          </a:ln>
        </p:spPr>
        <p:txBody>
          <a:bodyPr wrap="none" lIns="0" tIns="0" rIns="0" bIns="0" rtlCol="0" anchor="ctr">
            <a:noAutofit/>
          </a:bodyPr>
          <a:lstStyle/>
          <a:p>
            <a:pPr algn="l"/>
            <a:r>
              <a:rPr lang="en-US" sz="2200" dirty="0">
                <a:solidFill>
                  <a:srgbClr val="1A1A1A"/>
                </a:solidFill>
                <a:latin typeface="Aptos"/>
                <a:cs typeface="Aptos"/>
              </a:rPr>
              <a:t>Language safety alone cannot reach </a:t>
            </a:r>
            <a:r>
              <a:rPr lang="en-US" sz="2200" i="1" dirty="0">
                <a:solidFill>
                  <a:srgbClr val="1A1A1A"/>
                </a:solidFill>
                <a:latin typeface="Aptos"/>
                <a:cs typeface="Aptos"/>
              </a:rPr>
              <a:t>the design</a:t>
            </a:r>
            <a:r>
              <a:rPr lang="en-US" sz="2200" dirty="0">
                <a:solidFill>
                  <a:srgbClr val="1A1A1A"/>
                </a:solidFill>
                <a:latin typeface="Aptos"/>
                <a:cs typeface="Aptos"/>
              </a:rPr>
              <a:t>, </a:t>
            </a:r>
            <a:r>
              <a:rPr lang="en-US" sz="2200" i="1" dirty="0">
                <a:solidFill>
                  <a:srgbClr val="1A1A1A"/>
                </a:solidFill>
                <a:latin typeface="Aptos"/>
                <a:cs typeface="Aptos"/>
              </a:rPr>
              <a:t>the deployment</a:t>
            </a:r>
            <a:r>
              <a:rPr lang="en-US" sz="2200" dirty="0">
                <a:solidFill>
                  <a:srgbClr val="1A1A1A"/>
                </a:solidFill>
                <a:latin typeface="Aptos"/>
                <a:cs typeface="Aptos"/>
              </a:rPr>
              <a:t>, or the </a:t>
            </a:r>
            <a:r>
              <a:rPr lang="en-US" sz="2200" i="1" dirty="0">
                <a:solidFill>
                  <a:srgbClr val="1A1A1A"/>
                </a:solidFill>
                <a:latin typeface="Aptos"/>
                <a:cs typeface="Aptos"/>
              </a:rPr>
              <a:t>decisions</a:t>
            </a:r>
            <a:r>
              <a:rPr lang="en-US" sz="2200" dirty="0">
                <a:solidFill>
                  <a:srgbClr val="1A1A1A"/>
                </a:solidFill>
                <a:latin typeface="Aptos"/>
                <a:cs typeface="Aptos"/>
              </a:rPr>
              <a:t>.</a:t>
            </a:r>
          </a:p>
        </p:txBody>
      </p:sp>
      <p:sp>
        <p:nvSpPr>
          <p:cNvPr id="190" name="Therac-25"/>
          <p:cNvSpPr txBox="1"/>
          <p:nvPr/>
        </p:nvSpPr>
        <p:spPr>
          <a:xfrm>
            <a:off x="975665" y="3511296"/>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Therac-25</a:t>
            </a:r>
          </a:p>
        </p:txBody>
      </p:sp>
      <p:sp>
        <p:nvSpPr>
          <p:cNvPr id="191" name="Therac-25 Code"/>
          <p:cNvSpPr/>
          <p:nvPr/>
        </p:nvSpPr>
        <p:spPr>
          <a:xfrm>
            <a:off x="975665" y="3858768"/>
            <a:ext cx="603504" cy="246888"/>
          </a:xfrm>
          <a:prstGeom prst="roundRect">
            <a:avLst>
              <a:gd name="adj" fmla="val 50000"/>
            </a:avLst>
          </a:prstGeom>
          <a:solidFill>
            <a:srgbClr val="D9D9D9"/>
          </a:solidFill>
          <a:ln>
            <a:noFill/>
          </a:ln>
        </p:spPr>
        <p:txBody>
          <a:bodyPr wrap="none" lIns="0" tIns="0" rIns="0" bIns="0" rtlCol="0" anchor="ctr">
            <a:noAutofit/>
          </a:bodyPr>
          <a:lstStyle/>
          <a:p>
            <a:pPr algn="ctr"/>
            <a:r>
              <a:rPr lang="en-US" sz="1100" b="1" dirty="0">
                <a:solidFill>
                  <a:srgbClr val="1A1A1A"/>
                </a:solidFill>
                <a:latin typeface="Aptos"/>
                <a:cs typeface="Aptos"/>
              </a:rPr>
              <a:t>Code</a:t>
            </a:r>
          </a:p>
        </p:txBody>
      </p:sp>
      <p:sp>
        <p:nvSpPr>
          <p:cNvPr id="192" name="Therac-25 Architecture"/>
          <p:cNvSpPr/>
          <p:nvPr/>
        </p:nvSpPr>
        <p:spPr>
          <a:xfrm>
            <a:off x="1652321" y="3858768"/>
            <a:ext cx="1115568" cy="246888"/>
          </a:xfrm>
          <a:prstGeom prst="roundRect">
            <a:avLst>
              <a:gd name="adj" fmla="val 50000"/>
            </a:avLst>
          </a:prstGeom>
          <a:solidFill>
            <a:srgbClr val="C0392B"/>
          </a:solidFill>
          <a:ln>
            <a:noFill/>
          </a:ln>
        </p:spPr>
        <p:txBody>
          <a:bodyPr wrap="none" lIns="0" tIns="0" rIns="0" bIns="0" rtlCol="0" anchor="ctr">
            <a:noAutofit/>
          </a:bodyPr>
          <a:lstStyle/>
          <a:p>
            <a:pPr algn="ctr"/>
            <a:r>
              <a:rPr lang="en-US" sz="1100" b="1" dirty="0">
                <a:solidFill>
                  <a:srgbClr val="FFFFFF"/>
                </a:solidFill>
                <a:latin typeface="Aptos"/>
                <a:cs typeface="Aptos"/>
              </a:rPr>
              <a:t>Architecture</a:t>
            </a:r>
          </a:p>
        </p:txBody>
      </p:sp>
      <p:sp>
        <p:nvSpPr>
          <p:cNvPr id="194" name="Patriot"/>
          <p:cNvSpPr txBox="1"/>
          <p:nvPr/>
        </p:nvSpPr>
        <p:spPr>
          <a:xfrm>
            <a:off x="3650285" y="3511296"/>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Patriot</a:t>
            </a:r>
          </a:p>
        </p:txBody>
      </p:sp>
      <p:sp>
        <p:nvSpPr>
          <p:cNvPr id="195" name="Patriot Code"/>
          <p:cNvSpPr/>
          <p:nvPr/>
        </p:nvSpPr>
        <p:spPr>
          <a:xfrm>
            <a:off x="3650285" y="3858768"/>
            <a:ext cx="603504" cy="246888"/>
          </a:xfrm>
          <a:prstGeom prst="roundRect">
            <a:avLst>
              <a:gd name="adj" fmla="val 50000"/>
            </a:avLst>
          </a:prstGeom>
          <a:solidFill>
            <a:srgbClr val="D9D9D9"/>
          </a:solidFill>
          <a:ln>
            <a:noFill/>
          </a:ln>
        </p:spPr>
        <p:txBody>
          <a:bodyPr wrap="none" lIns="0" tIns="0" rIns="0" bIns="0" rtlCol="0" anchor="ctr">
            <a:noAutofit/>
          </a:bodyPr>
          <a:lstStyle/>
          <a:p>
            <a:pPr algn="ctr"/>
            <a:r>
              <a:rPr lang="en-US" sz="1100" b="1" dirty="0">
                <a:solidFill>
                  <a:srgbClr val="1A1A1A"/>
                </a:solidFill>
                <a:latin typeface="Aptos"/>
                <a:cs typeface="Aptos"/>
              </a:rPr>
              <a:t>Code</a:t>
            </a:r>
          </a:p>
        </p:txBody>
      </p:sp>
      <p:sp>
        <p:nvSpPr>
          <p:cNvPr id="197" name="Ariane 5"/>
          <p:cNvSpPr txBox="1"/>
          <p:nvPr/>
        </p:nvSpPr>
        <p:spPr>
          <a:xfrm>
            <a:off x="6324905" y="3511296"/>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Ariane 5</a:t>
            </a:r>
          </a:p>
        </p:txBody>
      </p:sp>
      <p:sp>
        <p:nvSpPr>
          <p:cNvPr id="198" name="Ariane 5 Code"/>
          <p:cNvSpPr/>
          <p:nvPr/>
        </p:nvSpPr>
        <p:spPr>
          <a:xfrm>
            <a:off x="6324905" y="3858768"/>
            <a:ext cx="603504" cy="246888"/>
          </a:xfrm>
          <a:prstGeom prst="roundRect">
            <a:avLst>
              <a:gd name="adj" fmla="val 50000"/>
            </a:avLst>
          </a:prstGeom>
          <a:solidFill>
            <a:srgbClr val="D9D9D9"/>
          </a:solidFill>
          <a:ln>
            <a:noFill/>
          </a:ln>
        </p:spPr>
        <p:txBody>
          <a:bodyPr wrap="none" lIns="0" tIns="0" rIns="0" bIns="0" rtlCol="0" anchor="ctr">
            <a:noAutofit/>
          </a:bodyPr>
          <a:lstStyle/>
          <a:p>
            <a:pPr algn="ctr"/>
            <a:r>
              <a:rPr lang="en-US" sz="1100" b="1" dirty="0">
                <a:solidFill>
                  <a:srgbClr val="1A1A1A"/>
                </a:solidFill>
                <a:latin typeface="Aptos"/>
                <a:cs typeface="Aptos"/>
              </a:rPr>
              <a:t>Code</a:t>
            </a:r>
          </a:p>
        </p:txBody>
      </p:sp>
      <p:sp>
        <p:nvSpPr>
          <p:cNvPr id="199" name="Ariane 5 Architecture"/>
          <p:cNvSpPr/>
          <p:nvPr/>
        </p:nvSpPr>
        <p:spPr>
          <a:xfrm>
            <a:off x="7001561" y="3858768"/>
            <a:ext cx="1115568" cy="246888"/>
          </a:xfrm>
          <a:prstGeom prst="roundRect">
            <a:avLst>
              <a:gd name="adj" fmla="val 50000"/>
            </a:avLst>
          </a:prstGeom>
          <a:solidFill>
            <a:srgbClr val="C0392B"/>
          </a:solidFill>
          <a:ln>
            <a:noFill/>
          </a:ln>
        </p:spPr>
        <p:txBody>
          <a:bodyPr wrap="none" lIns="0" tIns="0" rIns="0" bIns="0" rtlCol="0" anchor="ctr">
            <a:noAutofit/>
          </a:bodyPr>
          <a:lstStyle/>
          <a:p>
            <a:pPr algn="ctr"/>
            <a:r>
              <a:rPr lang="en-US" sz="1100" b="1" dirty="0">
                <a:solidFill>
                  <a:srgbClr val="FFFFFF"/>
                </a:solidFill>
                <a:latin typeface="Aptos"/>
                <a:cs typeface="Aptos"/>
              </a:rPr>
              <a:t>Architecture</a:t>
            </a:r>
          </a:p>
        </p:txBody>
      </p:sp>
      <p:sp>
        <p:nvSpPr>
          <p:cNvPr id="201" name="Toyota acceleration"/>
          <p:cNvSpPr txBox="1"/>
          <p:nvPr/>
        </p:nvSpPr>
        <p:spPr>
          <a:xfrm>
            <a:off x="8999525" y="3511296"/>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Toyota acceleration</a:t>
            </a:r>
          </a:p>
        </p:txBody>
      </p:sp>
      <p:sp>
        <p:nvSpPr>
          <p:cNvPr id="202" name="Toyota acceleration Code"/>
          <p:cNvSpPr/>
          <p:nvPr/>
        </p:nvSpPr>
        <p:spPr>
          <a:xfrm>
            <a:off x="8999525" y="3858768"/>
            <a:ext cx="603504" cy="246888"/>
          </a:xfrm>
          <a:prstGeom prst="roundRect">
            <a:avLst>
              <a:gd name="adj" fmla="val 50000"/>
            </a:avLst>
          </a:prstGeom>
          <a:solidFill>
            <a:srgbClr val="D9D9D9"/>
          </a:solidFill>
          <a:ln>
            <a:noFill/>
          </a:ln>
        </p:spPr>
        <p:txBody>
          <a:bodyPr wrap="none" lIns="0" tIns="0" rIns="0" bIns="0" rtlCol="0" anchor="ctr">
            <a:noAutofit/>
          </a:bodyPr>
          <a:lstStyle/>
          <a:p>
            <a:pPr algn="ctr"/>
            <a:r>
              <a:rPr lang="en-US" sz="1100" b="1" dirty="0">
                <a:solidFill>
                  <a:srgbClr val="1A1A1A"/>
                </a:solidFill>
                <a:latin typeface="Aptos"/>
                <a:cs typeface="Aptos"/>
              </a:rPr>
              <a:t>Code</a:t>
            </a:r>
          </a:p>
        </p:txBody>
      </p:sp>
      <p:sp>
        <p:nvSpPr>
          <p:cNvPr id="204" name="F-22"/>
          <p:cNvSpPr txBox="1"/>
          <p:nvPr/>
        </p:nvSpPr>
        <p:spPr>
          <a:xfrm>
            <a:off x="975665" y="5678424"/>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F-22</a:t>
            </a:r>
          </a:p>
        </p:txBody>
      </p:sp>
      <p:sp>
        <p:nvSpPr>
          <p:cNvPr id="205" name="F-22 Code"/>
          <p:cNvSpPr/>
          <p:nvPr/>
        </p:nvSpPr>
        <p:spPr>
          <a:xfrm>
            <a:off x="975665" y="6025896"/>
            <a:ext cx="603504" cy="246888"/>
          </a:xfrm>
          <a:prstGeom prst="roundRect">
            <a:avLst>
              <a:gd name="adj" fmla="val 50000"/>
            </a:avLst>
          </a:prstGeom>
          <a:solidFill>
            <a:srgbClr val="D9D9D9"/>
          </a:solidFill>
          <a:ln>
            <a:noFill/>
          </a:ln>
        </p:spPr>
        <p:txBody>
          <a:bodyPr wrap="none" lIns="0" tIns="0" rIns="0" bIns="0" rtlCol="0" anchor="ctr">
            <a:noAutofit/>
          </a:bodyPr>
          <a:lstStyle/>
          <a:p>
            <a:pPr algn="ctr"/>
            <a:r>
              <a:rPr lang="en-US" sz="1100" b="1" dirty="0">
                <a:solidFill>
                  <a:srgbClr val="1A1A1A"/>
                </a:solidFill>
                <a:latin typeface="Aptos"/>
                <a:cs typeface="Aptos"/>
              </a:rPr>
              <a:t>Code</a:t>
            </a:r>
          </a:p>
        </p:txBody>
      </p:sp>
      <p:sp>
        <p:nvSpPr>
          <p:cNvPr id="206" name="F-22 Architecture"/>
          <p:cNvSpPr/>
          <p:nvPr/>
        </p:nvSpPr>
        <p:spPr>
          <a:xfrm>
            <a:off x="1652321" y="6025896"/>
            <a:ext cx="1115568" cy="246888"/>
          </a:xfrm>
          <a:prstGeom prst="roundRect">
            <a:avLst>
              <a:gd name="adj" fmla="val 50000"/>
            </a:avLst>
          </a:prstGeom>
          <a:solidFill>
            <a:srgbClr val="C0392B"/>
          </a:solidFill>
          <a:ln>
            <a:noFill/>
          </a:ln>
        </p:spPr>
        <p:txBody>
          <a:bodyPr wrap="none" lIns="0" tIns="0" rIns="0" bIns="0" rtlCol="0" anchor="ctr">
            <a:noAutofit/>
          </a:bodyPr>
          <a:lstStyle/>
          <a:p>
            <a:pPr algn="ctr"/>
            <a:r>
              <a:rPr lang="en-US" sz="1100" b="1" dirty="0">
                <a:solidFill>
                  <a:srgbClr val="FFFFFF"/>
                </a:solidFill>
                <a:latin typeface="Aptos"/>
                <a:cs typeface="Aptos"/>
              </a:rPr>
              <a:t>Architecture</a:t>
            </a:r>
          </a:p>
        </p:txBody>
      </p:sp>
      <p:sp>
        <p:nvSpPr>
          <p:cNvPr id="208" name="Heartbleed"/>
          <p:cNvSpPr txBox="1"/>
          <p:nvPr/>
        </p:nvSpPr>
        <p:spPr>
          <a:xfrm>
            <a:off x="3650285" y="5678424"/>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Heartbleed</a:t>
            </a:r>
          </a:p>
        </p:txBody>
      </p:sp>
      <p:sp>
        <p:nvSpPr>
          <p:cNvPr id="209" name="Heartbleed Code"/>
          <p:cNvSpPr/>
          <p:nvPr/>
        </p:nvSpPr>
        <p:spPr>
          <a:xfrm>
            <a:off x="3650285" y="6025896"/>
            <a:ext cx="603504" cy="246888"/>
          </a:xfrm>
          <a:prstGeom prst="roundRect">
            <a:avLst>
              <a:gd name="adj" fmla="val 50000"/>
            </a:avLst>
          </a:prstGeom>
          <a:solidFill>
            <a:srgbClr val="D9D9D9"/>
          </a:solidFill>
          <a:ln>
            <a:noFill/>
          </a:ln>
        </p:spPr>
        <p:txBody>
          <a:bodyPr wrap="none" lIns="0" tIns="0" rIns="0" bIns="0" rtlCol="0" anchor="ctr">
            <a:noAutofit/>
          </a:bodyPr>
          <a:lstStyle/>
          <a:p>
            <a:pPr algn="ctr"/>
            <a:r>
              <a:rPr lang="en-US" sz="1100" b="1" dirty="0">
                <a:solidFill>
                  <a:srgbClr val="1A1A1A"/>
                </a:solidFill>
                <a:latin typeface="Aptos"/>
                <a:cs typeface="Aptos"/>
              </a:rPr>
              <a:t>Code</a:t>
            </a:r>
          </a:p>
        </p:txBody>
      </p:sp>
      <p:sp>
        <p:nvSpPr>
          <p:cNvPr id="211" name="Boeing 737 MAX"/>
          <p:cNvSpPr txBox="1"/>
          <p:nvPr/>
        </p:nvSpPr>
        <p:spPr>
          <a:xfrm>
            <a:off x="6324905" y="5678424"/>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Boeing 737 MAX</a:t>
            </a:r>
          </a:p>
        </p:txBody>
      </p:sp>
      <p:sp>
        <p:nvSpPr>
          <p:cNvPr id="212" name="Boeing 737 MAX Architecture"/>
          <p:cNvSpPr/>
          <p:nvPr/>
        </p:nvSpPr>
        <p:spPr>
          <a:xfrm>
            <a:off x="6324905" y="6025896"/>
            <a:ext cx="1115568" cy="246888"/>
          </a:xfrm>
          <a:prstGeom prst="roundRect">
            <a:avLst>
              <a:gd name="adj" fmla="val 50000"/>
            </a:avLst>
          </a:prstGeom>
          <a:solidFill>
            <a:srgbClr val="C0392B"/>
          </a:solidFill>
          <a:ln>
            <a:noFill/>
          </a:ln>
        </p:spPr>
        <p:txBody>
          <a:bodyPr wrap="none" lIns="0" tIns="0" rIns="0" bIns="0" rtlCol="0" anchor="ctr">
            <a:noAutofit/>
          </a:bodyPr>
          <a:lstStyle/>
          <a:p>
            <a:pPr algn="ctr"/>
            <a:r>
              <a:rPr lang="en-US" sz="1100" b="1" dirty="0">
                <a:solidFill>
                  <a:srgbClr val="FFFFFF"/>
                </a:solidFill>
                <a:latin typeface="Aptos"/>
                <a:cs typeface="Aptos"/>
              </a:rPr>
              <a:t>Architecture</a:t>
            </a:r>
          </a:p>
        </p:txBody>
      </p:sp>
      <p:sp>
        <p:nvSpPr>
          <p:cNvPr id="214" name="CrowdStrike"/>
          <p:cNvSpPr txBox="1"/>
          <p:nvPr/>
        </p:nvSpPr>
        <p:spPr>
          <a:xfrm>
            <a:off x="8999525" y="5678424"/>
            <a:ext cx="2217420" cy="292608"/>
          </a:xfrm>
          <a:prstGeom prst="rect">
            <a:avLst/>
          </a:prstGeom>
          <a:noFill/>
          <a:ln>
            <a:noFill/>
          </a:ln>
        </p:spPr>
        <p:txBody>
          <a:bodyPr wrap="none" lIns="0" tIns="0" rIns="0" bIns="0" rtlCol="0" anchor="ctr">
            <a:noAutofit/>
          </a:bodyPr>
          <a:lstStyle/>
          <a:p>
            <a:pPr algn="l"/>
            <a:r>
              <a:rPr lang="en-US" sz="1600" b="1" dirty="0">
                <a:solidFill>
                  <a:srgbClr val="1A1A1A"/>
                </a:solidFill>
                <a:latin typeface="Aptos"/>
                <a:cs typeface="Aptos"/>
              </a:rPr>
              <a:t>CrowdStrike</a:t>
            </a:r>
          </a:p>
        </p:txBody>
      </p:sp>
      <p:sp>
        <p:nvSpPr>
          <p:cNvPr id="215" name="CrowdStrike Deployment"/>
          <p:cNvSpPr/>
          <p:nvPr/>
        </p:nvSpPr>
        <p:spPr>
          <a:xfrm>
            <a:off x="8999525" y="6025896"/>
            <a:ext cx="1060704" cy="246888"/>
          </a:xfrm>
          <a:prstGeom prst="roundRect">
            <a:avLst>
              <a:gd name="adj" fmla="val 50000"/>
            </a:avLst>
          </a:prstGeom>
          <a:solidFill>
            <a:srgbClr val="C0392B"/>
          </a:solidFill>
          <a:ln>
            <a:noFill/>
          </a:ln>
        </p:spPr>
        <p:txBody>
          <a:bodyPr wrap="none" lIns="0" tIns="0" rIns="0" bIns="0" rtlCol="0" anchor="ctr">
            <a:noAutofit/>
          </a:bodyPr>
          <a:lstStyle/>
          <a:p>
            <a:pPr algn="ctr"/>
            <a:r>
              <a:rPr lang="en-US" sz="1100" b="1" dirty="0">
                <a:solidFill>
                  <a:srgbClr val="FFFFFF"/>
                </a:solidFill>
                <a:latin typeface="Aptos"/>
                <a:cs typeface="Aptos"/>
              </a:rPr>
              <a:t>Deployment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Help make C++ safer</a:t>
            </a:r>
          </a:p>
        </p:txBody>
      </p:sp>
      <p:sp>
        <p:nvSpPr>
          <p:cNvPr id="3" name="Text 1"/>
          <p:cNvSpPr txBox="1"/>
          <p:nvPr/>
        </p:nvSpPr>
        <p:spPr>
          <a:xfrm>
            <a:off x="4251808" y="1756362"/>
            <a:ext cx="1371600" cy="2743200"/>
          </a:xfrm>
          <a:prstGeom prst="rect">
            <a:avLst/>
          </a:prstGeom>
          <a:noFill/>
          <a:ln/>
        </p:spPr>
        <p:txBody>
          <a:bodyPr wrap="none" lIns="0" tIns="0" rIns="0" bIns="0" rtlCol="0" anchor="ctr"/>
          <a:lstStyle/>
          <a:p>
            <a:pPr marL="0" indent="0" algn="l">
              <a:buNone/>
            </a:pPr>
            <a:r>
              <a:rPr lang="en-US" sz="16500" b="1" dirty="0">
                <a:solidFill>
                  <a:srgbClr val="1A1A1A"/>
                </a:solidFill>
                <a:latin typeface="Aptos Display" pitchFamily="34" charset="0"/>
                <a:ea typeface="Aptos Display" pitchFamily="34" charset="-122"/>
                <a:cs typeface="Aptos Display" pitchFamily="34" charset="-120"/>
              </a:rPr>
              <a:t>I</a:t>
            </a:r>
            <a:endParaRPr lang="en-US" sz="16500" dirty="0"/>
          </a:p>
        </p:txBody>
      </p:sp>
      <p:sp>
        <p:nvSpPr>
          <p:cNvPr id="4" name="Shape 2"/>
          <p:cNvSpPr/>
          <p:nvPr/>
        </p:nvSpPr>
        <p:spPr>
          <a:xfrm>
            <a:off x="5225263" y="1965960"/>
            <a:ext cx="2714625" cy="2470309"/>
          </a:xfrm>
          <a:prstGeom prst="heart">
            <a:avLst/>
          </a:prstGeom>
          <a:solidFill>
            <a:srgbClr val="C0392B"/>
          </a:solidFill>
          <a:ln w="3175">
            <a:solidFill>
              <a:srgbClr val="C0392B"/>
            </a:solidFill>
            <a:prstDash val="solid"/>
          </a:ln>
        </p:spPr>
        <p:txBody>
          <a:bodyPr/>
          <a:lstStyle/>
          <a:p>
            <a:endParaRPr lang="en-US"/>
          </a:p>
        </p:txBody>
      </p:sp>
      <p:sp>
        <p:nvSpPr>
          <p:cNvPr id="5" name="Text 3"/>
          <p:cNvSpPr txBox="1"/>
          <p:nvPr/>
        </p:nvSpPr>
        <p:spPr>
          <a:xfrm>
            <a:off x="4251808" y="4226338"/>
            <a:ext cx="4419600" cy="2194560"/>
          </a:xfrm>
          <a:prstGeom prst="rect">
            <a:avLst/>
          </a:prstGeom>
          <a:noFill/>
          <a:ln/>
        </p:spPr>
        <p:txBody>
          <a:bodyPr wrap="none" lIns="0" tIns="0" rIns="0" bIns="0" rtlCol="0" anchor="ctr"/>
          <a:lstStyle/>
          <a:p>
            <a:pPr marL="0" indent="0" algn="l">
              <a:buNone/>
            </a:pPr>
            <a:r>
              <a:rPr lang="en-US" sz="16500" b="1" dirty="0">
                <a:solidFill>
                  <a:srgbClr val="1A1A1A"/>
                </a:solidFill>
                <a:latin typeface="Aptos Display" pitchFamily="34" charset="0"/>
                <a:ea typeface="Aptos Display" pitchFamily="34" charset="-122"/>
                <a:cs typeface="Aptos Display" pitchFamily="34" charset="-120"/>
              </a:rPr>
              <a:t>C++</a:t>
            </a:r>
            <a:endParaRPr lang="en-US" sz="16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44344</TotalTime>
  <Words>18192</Words>
  <Application>Microsoft Office PowerPoint</Application>
  <PresentationFormat>Widescreen</PresentationFormat>
  <Paragraphs>4023</Paragraphs>
  <Slides>111</Slides>
  <Notes>92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111</vt:i4>
      </vt:variant>
    </vt:vector>
  </HeadingPairs>
  <TitlesOfParts>
    <vt:vector size="119" baseType="lpstr">
      <vt:lpstr>Aptos</vt:lpstr>
      <vt:lpstr>Aptos (Body)</vt:lpstr>
      <vt:lpstr>Aptos Display</vt:lpstr>
      <vt:lpstr>Arial</vt:lpstr>
      <vt:lpstr>Calibri</vt:lpstr>
      <vt:lpstr>Consolas</vt:lpstr>
      <vt:lpstr>Courier New</vt:lpstr>
      <vt:lpstr>Office Theme</vt:lpstr>
      <vt:lpstr>PowerPoint Presentation</vt:lpstr>
      <vt:lpstr>The C++ Safety Issues Your Tools Can’t See</vt:lpstr>
      <vt:lpstr>Microsoft at CppCon 2026</vt:lpstr>
      <vt:lpstr>PowerPoint Presentation</vt:lpstr>
      <vt:lpstr>Why another safety talk</vt:lpstr>
      <vt:lpstr>A decade of C++ safety talks</vt:lpstr>
      <vt:lpstr>A decade of C++ safety talks</vt:lpstr>
      <vt:lpstr>A decade of C++ safety talks</vt:lpstr>
      <vt:lpstr>Why another C++ safety talk</vt:lpstr>
      <vt:lpstr>Where are we</vt:lpstr>
      <vt:lpstr>Software bugs have real consequences</vt:lpstr>
      <vt:lpstr>What everyone knows about safety</vt:lpstr>
      <vt:lpstr>The 100 products with the most CVEs</vt:lpstr>
      <vt:lpstr>The top 25 defect types</vt:lpstr>
      <vt:lpstr>The top 25 defect types</vt:lpstr>
      <vt:lpstr>The top 25 defect types</vt:lpstr>
      <vt:lpstr>The most exploited defects</vt:lpstr>
      <vt:lpstr>The most exploited defects</vt:lpstr>
      <vt:lpstr>The most exploited defects</vt:lpstr>
      <vt:lpstr>A safety taxonomy</vt:lpstr>
      <vt:lpstr>A taxonomy of C/C++ safety</vt:lpstr>
      <vt:lpstr>A taxonomy of C/C++ safety</vt:lpstr>
      <vt:lpstr>A taxonomy of C/C++ safety</vt:lpstr>
      <vt:lpstr>CVE share by issue class and provider</vt:lpstr>
      <vt:lpstr>A taxonomy of C/C++ safety</vt:lpstr>
      <vt:lpstr>A taxonomy of C/C++ safety</vt:lpstr>
      <vt:lpstr>A taxonomy of C/C++ safety</vt:lpstr>
      <vt:lpstr>A taxonomy of C/C++ safety</vt:lpstr>
      <vt:lpstr>C/C++</vt:lpstr>
      <vt:lpstr>C/C++ in the news</vt:lpstr>
      <vt:lpstr>C++ is not C</vt:lpstr>
      <vt:lpstr>C++ is not C</vt:lpstr>
      <vt:lpstr>C++ is not C</vt:lpstr>
      <vt:lpstr>C++ is not C</vt:lpstr>
      <vt:lpstr>History of safety in C++</vt:lpstr>
      <vt:lpstr>History of safety in C++</vt:lpstr>
      <vt:lpstr>WG21 papers on safety by area</vt:lpstr>
      <vt:lpstr>A taxonomy of C/C++ safety</vt:lpstr>
      <vt:lpstr>The C++ safety issues</vt:lpstr>
      <vt:lpstr>The C++ safety issues</vt:lpstr>
      <vt:lpstr>The C++ safety issues</vt:lpstr>
      <vt:lpstr>The C++ safety issues</vt:lpstr>
      <vt:lpstr>The C++ safety issues</vt:lpstr>
      <vt:lpstr>The C++ safety issues</vt:lpstr>
      <vt:lpstr>The C++ safety issues</vt:lpstr>
      <vt:lpstr>The C++ safety issues</vt:lpstr>
      <vt:lpstr>The C++ safety issues</vt:lpstr>
      <vt:lpstr>The C++ safety issues</vt:lpstr>
      <vt:lpstr>The C++ safety issues</vt:lpstr>
      <vt:lpstr>The C++ safety issues</vt:lpstr>
      <vt:lpstr>The C++ safety issues</vt:lpstr>
      <vt:lpstr>What is actually really hard</vt:lpstr>
      <vt:lpstr>Lifetime and data races</vt:lpstr>
      <vt:lpstr>A dangling reference</vt:lpstr>
      <vt:lpstr>A view that outlives its owner</vt:lpstr>
      <vt:lpstr>A released unique_ptr</vt:lpstr>
      <vt:lpstr>An invalidated iterator</vt:lpstr>
      <vt:lpstr>A data race</vt:lpstr>
      <vt:lpstr>Solution space</vt:lpstr>
      <vt:lpstr>Solution space</vt:lpstr>
      <vt:lpstr>Solution space</vt:lpstr>
      <vt:lpstr>Use a memory safe language</vt:lpstr>
      <vt:lpstr>Tooling</vt:lpstr>
      <vt:lpstr>The tooling space</vt:lpstr>
      <vt:lpstr>Hardening the implementation</vt:lpstr>
      <vt:lpstr>What is hardening</vt:lpstr>
      <vt:lpstr>Hardening</vt:lpstr>
      <vt:lpstr>Hardening</vt:lpstr>
      <vt:lpstr>Hardening</vt:lpstr>
      <vt:lpstr>Hardening</vt:lpstr>
      <vt:lpstr>Hardening</vt:lpstr>
      <vt:lpstr>Hardening</vt:lpstr>
      <vt:lpstr>SQL Slammer, 2003</vt:lpstr>
      <vt:lpstr>How effective is hardening</vt:lpstr>
      <vt:lpstr>Hardening coverage</vt:lpstr>
      <vt:lpstr>Detection at test time</vt:lpstr>
      <vt:lpstr>Detection at test time</vt:lpstr>
      <vt:lpstr>Detection at test time</vt:lpstr>
      <vt:lpstr>Detection at test time</vt:lpstr>
      <vt:lpstr>Android Stagefright, 2015</vt:lpstr>
      <vt:lpstr>Static analysis coverage</vt:lpstr>
      <vt:lpstr>Address Sanitizer coverage</vt:lpstr>
      <vt:lpstr>How effective is detection</vt:lpstr>
      <vt:lpstr>PowerPoint Presentation</vt:lpstr>
      <vt:lpstr>Address Sanitizer coverage</vt:lpstr>
      <vt:lpstr>Address Sanitizer coverage</vt:lpstr>
      <vt:lpstr>Change the language</vt:lpstr>
      <vt:lpstr>Change the language</vt:lpstr>
      <vt:lpstr>Contracts</vt:lpstr>
      <vt:lpstr>Profiles</vt:lpstr>
      <vt:lpstr>Contracts coverage</vt:lpstr>
      <vt:lpstr>Profiles coverage</vt:lpstr>
      <vt:lpstr>PowerPoint Presentation</vt:lpstr>
      <vt:lpstr>Profiles and Contracts coverage</vt:lpstr>
      <vt:lpstr>How effective are profiles and contracts</vt:lpstr>
      <vt:lpstr>The C++ lifetime and data race examples</vt:lpstr>
      <vt:lpstr>What catches each example</vt:lpstr>
      <vt:lpstr>Where do we go from here</vt:lpstr>
      <vt:lpstr>Questions we need to answer</vt:lpstr>
      <vt:lpstr>Data quality</vt:lpstr>
      <vt:lpstr>Make it data driven</vt:lpstr>
      <vt:lpstr>Process and people</vt:lpstr>
      <vt:lpstr>Process and people</vt:lpstr>
      <vt:lpstr>Organizational standards</vt:lpstr>
      <vt:lpstr>New language features</vt:lpstr>
      <vt:lpstr>New language features</vt:lpstr>
      <vt:lpstr>What profiles and contracts still need</vt:lpstr>
      <vt:lpstr>And then</vt:lpstr>
      <vt:lpstr>The future with AI</vt:lpstr>
      <vt:lpstr>Necessary not sufficient</vt:lpstr>
      <vt:lpstr>Help make C++ safer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Ion Todirel</dc:creator>
  <cp:lastModifiedBy>Ion Todirel</cp:lastModifiedBy>
  <cp:revision>751</cp:revision>
  <dcterms:created xsi:type="dcterms:W3CDTF">2026-08-12T04:10:58Z</dcterms:created>
  <dcterms:modified xsi:type="dcterms:W3CDTF">2026-09-17T20:48:29Z</dcterms:modified>
</cp:coreProperties>
</file>