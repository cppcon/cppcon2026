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38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5" r:id="rId125"/>
    <p:sldId id="386" r:id="rId126"/>
    <p:sldId id="387" r:id="rId127"/>
    <p:sldId id="388" r:id="rId128"/>
  </p:sldIdLst>
  <p:sldSz cx="12192000" cy="6858000"/>
  <p:notesSz cx="6858000" cy="9144000"/>
  <p:embeddedFontLst>
    <p:embeddedFont>
      <p:font typeface="Segoe UI Semibold"/>
      <p:regular r:id="rId132"/>
    </p:embeddedFont>
    <p:embeddedFont>
      <p:font typeface="Montserrat" panose="00000500000000000000"/>
      <p:regular r:id="rId133"/>
    </p:embeddedFont>
    <p:embeddedFont>
      <p:font typeface="Segoe UI" panose="020B0502040204020203"/>
      <p:regular r:id="rId134"/>
    </p:embeddedFont>
    <p:embeddedFont>
      <p:font typeface="Consolas" panose="020B0609020204030204"/>
      <p:regular r:id="rId135"/>
    </p:embeddedFont>
    <p:embeddedFont>
      <p:font typeface="Segoe UI Light"/>
      <p:regular r:id="rId136"/>
    </p:embeddedFont>
    <p:embeddedFont>
      <p:font typeface="Arimo" panose="020B0604020202020204"/>
      <p:regular r:id="rId1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70" d="100"/>
          <a:sy n="70" d="100"/>
        </p:scale>
        <p:origin x="512" y="52"/>
      </p:cViewPr>
      <p:guideLst>
        <p:guide orient="horz" pos="214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7" Type="http://schemas.openxmlformats.org/officeDocument/2006/relationships/font" Target="fonts/font6.fntdata"/><Relationship Id="rId136" Type="http://schemas.openxmlformats.org/officeDocument/2006/relationships/font" Target="fonts/font5.fntdata"/><Relationship Id="rId135" Type="http://schemas.openxmlformats.org/officeDocument/2006/relationships/font" Target="fonts/font4.fntdata"/><Relationship Id="rId134" Type="http://schemas.openxmlformats.org/officeDocument/2006/relationships/font" Target="fonts/font3.fntdata"/><Relationship Id="rId133" Type="http://schemas.openxmlformats.org/officeDocument/2006/relationships/font" Target="fonts/font2.fntdata"/><Relationship Id="rId132" Type="http://schemas.openxmlformats.org/officeDocument/2006/relationships/font" Target="fonts/font1.fntdata"/><Relationship Id="rId131" Type="http://schemas.openxmlformats.org/officeDocument/2006/relationships/tableStyles" Target="tableStyles.xml"/><Relationship Id="rId130" Type="http://schemas.openxmlformats.org/officeDocument/2006/relationships/viewProps" Target="viewProps.xml"/><Relationship Id="rId13" Type="http://schemas.openxmlformats.org/officeDocument/2006/relationships/slide" Target="slides/slide11.xml"/><Relationship Id="rId129" Type="http://schemas.openxmlformats.org/officeDocument/2006/relationships/presProps" Target="presProps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pic>
        <p:nvPicPr>
          <p:cNvPr id="10" name="Picture 9" descr="A blue background with yellow text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660718"/>
            <a:ext cx="10625328" cy="4616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000" b="1" i="0">
                <a:solidFill>
                  <a:srgbClr val="1F3B63"/>
                </a:solidFill>
                <a:latin typeface="Segoe UI Semibold"/>
              </a:rPr>
              <a:t>Quote of the Day</a:t>
            </a:r>
            <a:endParaRPr lang="en-US"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3" name="TextBox 10"/>
          <p:cNvSpPr txBox="1"/>
          <p:nvPr/>
        </p:nvSpPr>
        <p:spPr>
          <a:xfrm>
            <a:off x="498475" y="2531110"/>
            <a:ext cx="11499850" cy="17602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altLang="en-US" sz="6000" b="1" i="0">
                <a:solidFill>
                  <a:srgbClr val="1F3B63"/>
                </a:solidFill>
                <a:latin typeface="Segoe UI Semibold"/>
              </a:rPr>
              <a:t>Just because it works,</a:t>
            </a:r>
            <a:endParaRPr lang="en-US" altLang="en-US" sz="6000" b="1" i="0">
              <a:solidFill>
                <a:srgbClr val="1F3B63"/>
              </a:solidFill>
              <a:latin typeface="Segoe UI Semibold"/>
            </a:endParaRPr>
          </a:p>
          <a:p>
            <a:pPr algn="l"/>
            <a:r>
              <a:rPr lang="en-US" altLang="en-US" sz="6000" b="1" i="0">
                <a:solidFill>
                  <a:srgbClr val="1F3B63"/>
                </a:solidFill>
                <a:latin typeface="Segoe UI Semibold"/>
              </a:rPr>
              <a:t>doesn’t mean it can’t be better.</a:t>
            </a:r>
            <a:endParaRPr lang="en-US" altLang="en-US" sz="6000" b="1" i="0">
              <a:solidFill>
                <a:srgbClr val="1F3B63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594360" y="2329863"/>
            <a:ext cx="8570262" cy="3081899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2649903"/>
            <a:ext cx="7930182" cy="2423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2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std::vector&lt;Employee&gt;::iterator it = employees.</a:t>
            </a:r>
            <a:r>
              <a:rPr lang="en-US" sz="1850" spc="88" dirty="0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begin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 rtl="1">
              <a:lnSpc>
                <a:spcPts val="2120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for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(; it != employees.</a:t>
            </a:r>
            <a:r>
              <a:rPr lang="en-US" sz="1850" spc="88" dirty="0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end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(); ++it)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0"/>
              </a:lnSpc>
            </a:pPr>
            <a:r>
              <a:rPr lang="en-US" sz="1850" spc="147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0"/>
              </a:lnSpc>
            </a:pPr>
            <a:r>
              <a:rPr lang="en-US" sz="1850" spc="147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0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823" y="3726228"/>
            <a:ext cx="3316405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75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if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(it-&gt;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salary &gt; 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limit)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75"/>
              </a:lnSpc>
            </a:pPr>
            <a:r>
              <a:rPr lang="en-US" sz="1850" spc="147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 rtl="1">
              <a:lnSpc>
                <a:spcPts val="2175"/>
              </a:lnSpc>
            </a:pP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75"/>
              </a:lnSpc>
            </a:pPr>
            <a:r>
              <a:rPr lang="en-US" sz="1850" spc="147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45341" y="4231053"/>
            <a:ext cx="1874453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Process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(*it);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A Familiar Piece of Code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 dirty="0" err="1">
                <a:solidFill>
                  <a:srgbClr val="8A97A5"/>
                </a:solidFill>
                <a:latin typeface="Segoe UI" panose="020B0502040204020203"/>
              </a:rPr>
              <a:t>CppCon</a:t>
            </a:r>
            <a:r>
              <a:rPr sz="950" b="0" i="0" dirty="0">
                <a:solidFill>
                  <a:srgbClr val="8A97A5"/>
                </a:solidFill>
                <a:latin typeface="Segoe UI" panose="020B0502040204020203"/>
              </a:rPr>
              <a:t> 2026   ·   Modern C++: Reducing Boilerplate Without Sacrificing Performance</a:t>
            </a:r>
            <a:endParaRPr sz="950" b="0" i="0" dirty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160477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BUSINESS LOGIC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51560" y="2189988"/>
            <a:ext cx="2157984" cy="457200"/>
          </a:xfrm>
          <a:prstGeom prst="roundRect">
            <a:avLst>
              <a:gd name="adj" fmla="val 18000"/>
            </a:avLst>
          </a:prstGeom>
          <a:solidFill>
            <a:srgbClr val="E9EDF3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6151" y="2189988"/>
            <a:ext cx="188366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F3B63"/>
                </a:solidFill>
                <a:latin typeface="Consolas" panose="020B0609020204030204"/>
              </a:rPr>
              <a:t>Process(*it);</a:t>
            </a:r>
            <a:endParaRPr sz="20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" y="2884932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i="0" dirty="0">
                <a:solidFill>
                  <a:srgbClr val="1F3B63"/>
                </a:solidFill>
                <a:latin typeface="Segoe UI Light"/>
              </a:rPr>
              <a:t>Everything else…</a:t>
            </a:r>
            <a:endParaRPr sz="3800" b="0" i="0" dirty="0">
              <a:solidFill>
                <a:srgbClr val="1F3B63"/>
              </a:solidFill>
              <a:latin typeface="Segoe UI Ligh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51560" y="3835908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4168" y="3835908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is language ceremony.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1929384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1F3B63"/>
                </a:solidFill>
                <a:latin typeface="Segoe UI Light"/>
              </a:rPr>
              <a:t>Boilerplate</a:t>
            </a:r>
            <a:endParaRPr sz="3800" b="0" i="0">
              <a:solidFill>
                <a:srgbClr val="1F3B63"/>
              </a:solidFill>
              <a:latin typeface="Segoe UI Ligh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88036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Code that satisfies the language.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51129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51129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Not the problem.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A Pattern Emerged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5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A97A5"/>
                </a:solidFill>
                <a:latin typeface="Segoe UI Semibold"/>
              </a:rPr>
              <a:t>WE KEPT WRITING…</a:t>
            </a:r>
            <a:endParaRPr sz="1400" b="1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0" y="1737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E558C"/>
                </a:solidFill>
                <a:latin typeface="Segoe UI Semibold"/>
              </a:rPr>
              <a:t>MODERN C++ ANSWERED WITH…</a:t>
            </a:r>
            <a:endParaRPr sz="14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16712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5A6673"/>
                </a:solidFill>
                <a:latin typeface="Segoe UI" panose="020B0502040204020203"/>
              </a:rPr>
              <a:t>Pointer + size</a:t>
            </a:r>
            <a:endParaRPr sz="1900" b="0" i="0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5010912" y="2359152"/>
            <a:ext cx="493776" cy="219456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0" y="216712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ECF1F8"/>
          </a:solidFill>
          <a:ln w="12700">
            <a:solidFill>
              <a:srgbClr val="C7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16712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F3B63"/>
                </a:solidFill>
                <a:latin typeface="Consolas" panose="020B0609020204030204"/>
              </a:rPr>
              <a:t>std::span</a:t>
            </a:r>
            <a:endParaRPr sz="19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289864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9864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5A6673"/>
                </a:solidFill>
                <a:latin typeface="Segoe UI" panose="020B0502040204020203"/>
              </a:rPr>
              <a:t>nullptr</a:t>
            </a:r>
            <a:endParaRPr sz="1900" b="0" i="0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5010912" y="3090672"/>
            <a:ext cx="493776" cy="219456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0" y="289864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ECF1F8"/>
          </a:solidFill>
          <a:ln w="12700">
            <a:solidFill>
              <a:srgbClr val="C7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89864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F3B63"/>
                </a:solidFill>
                <a:latin typeface="Consolas" panose="020B0609020204030204"/>
              </a:rPr>
              <a:t>std::optional</a:t>
            </a:r>
            <a:endParaRPr sz="19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63016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3016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5A6673"/>
                </a:solidFill>
                <a:latin typeface="Segoe UI" panose="020B0502040204020203"/>
              </a:rPr>
              <a:t>Iterator loops</a:t>
            </a:r>
            <a:endParaRPr sz="1900" b="0" i="0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5010912" y="3822191"/>
            <a:ext cx="493776" cy="219456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0" y="363016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ECF1F8"/>
          </a:solidFill>
          <a:ln w="12700">
            <a:solidFill>
              <a:srgbClr val="C7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63016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F3B63"/>
                </a:solidFill>
                <a:latin typeface="Consolas" panose="020B0609020204030204"/>
              </a:rPr>
              <a:t>Ranges</a:t>
            </a:r>
            <a:endParaRPr sz="19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436168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6168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5A6673"/>
                </a:solidFill>
                <a:latin typeface="Segoe UI" panose="020B0502040204020203"/>
              </a:rPr>
              <a:t>SFINAE</a:t>
            </a:r>
            <a:endParaRPr sz="1900" b="0" i="0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5010912" y="4553712"/>
            <a:ext cx="493776" cy="219456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0" y="436168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ECF1F8"/>
          </a:solidFill>
          <a:ln w="12700">
            <a:solidFill>
              <a:srgbClr val="C7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436168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F3B63"/>
                </a:solidFill>
                <a:latin typeface="Consolas" panose="020B0609020204030204"/>
              </a:rPr>
              <a:t>Concepts</a:t>
            </a:r>
            <a:endParaRPr sz="19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0080" y="5093207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93207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5A6673"/>
                </a:solidFill>
                <a:latin typeface="Segoe UI" panose="020B0502040204020203"/>
              </a:rPr>
              <a:t>Manual cleanup</a:t>
            </a:r>
            <a:endParaRPr sz="1900" b="0" i="0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5010912" y="5285231"/>
            <a:ext cx="493776" cy="219456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0" y="5093207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ECF1F8"/>
          </a:solidFill>
          <a:ln w="12700">
            <a:solidFill>
              <a:srgbClr val="C7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093207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F3B63"/>
                </a:solidFill>
                <a:latin typeface="Consolas" panose="020B0609020204030204"/>
              </a:rPr>
              <a:t>RAII</a:t>
            </a:r>
            <a:endParaRPr sz="19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40080" y="5824727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824727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5A6673"/>
                </a:solidFill>
                <a:latin typeface="Segoe UI" panose="020B0502040204020203"/>
              </a:rPr>
              <a:t>Explicit types</a:t>
            </a:r>
            <a:endParaRPr sz="1900" b="0" i="0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36" name="Right Arrow 35"/>
          <p:cNvSpPr/>
          <p:nvPr/>
        </p:nvSpPr>
        <p:spPr>
          <a:xfrm>
            <a:off x="5010912" y="6016751"/>
            <a:ext cx="493776" cy="219456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0" y="5824727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ECF1F8"/>
          </a:solidFill>
          <a:ln w="12700">
            <a:solidFill>
              <a:srgbClr val="C7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5824727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F3B63"/>
                </a:solidFill>
                <a:latin typeface="Consolas" panose="020B0609020204030204"/>
              </a:rPr>
              <a:t>auto</a:t>
            </a:r>
            <a:endParaRPr sz="1900" b="1" i="0">
              <a:solidFill>
                <a:srgbClr val="1F3B63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The Evolution of Modern C++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6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143256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1158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Problem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16408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29840" y="2674620"/>
            <a:ext cx="143256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7000" y="2674620"/>
            <a:ext cx="1158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Repeated Pattern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053839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9600" y="2674620"/>
            <a:ext cx="143256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6760" y="2674620"/>
            <a:ext cx="1158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Standard Library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943599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2674620"/>
            <a:ext cx="143256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674620"/>
            <a:ext cx="1158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Language Feature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83336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99119" y="2674620"/>
            <a:ext cx="143256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6279" y="2674620"/>
            <a:ext cx="1158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Compiler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9723119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88879" y="2674620"/>
            <a:ext cx="1432560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6039" y="2674620"/>
            <a:ext cx="115824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Less Boilerplate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128016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THE CENTRAL IDEA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1865376"/>
            <a:ext cx="10241280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1F3B63"/>
                </a:solidFill>
                <a:latin typeface="Segoe UI Light"/>
              </a:rPr>
              <a:t>Modern C++ doesn’t</a:t>
            </a:r>
            <a:endParaRPr sz="3800" b="0" i="0">
              <a:solidFill>
                <a:srgbClr val="1F3B63"/>
              </a:solidFill>
              <a:latin typeface="Segoe UI Light"/>
            </a:endParaRPr>
          </a:p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1F3B63"/>
                </a:solidFill>
                <a:latin typeface="Segoe UI Light"/>
              </a:rPr>
              <a:t>remove complexity.</a:t>
            </a:r>
            <a:endParaRPr sz="3800" b="0" i="0">
              <a:solidFill>
                <a:srgbClr val="1F3B63"/>
              </a:solidFill>
              <a:latin typeface="Segoe UI Ligh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529584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529584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It relocates it.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461772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A6673"/>
                </a:solidFill>
                <a:latin typeface="Segoe UI" panose="020B0502040204020203"/>
              </a:rPr>
              <a:t>Developer  →  Compiler</a:t>
            </a:r>
            <a:endParaRPr sz="1800" b="0" i="1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7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186080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HOW WE’LL EVALUATE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4460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Every technique in this talk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will answer the same question.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57987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57987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What did we gain…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and what did we pay?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8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Every Comparison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9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Traditional C++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94360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67462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67462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Modern C++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A6673"/>
                </a:solidFill>
                <a:latin typeface="Segoe UI" panose="020B0502040204020203"/>
              </a:rPr>
              <a:t>Measured on   Runtime   ·   Compile Time   ·   Assembly   ·   Binary Size</a:t>
            </a:r>
            <a:endParaRPr sz="1600" b="0" i="1">
              <a:solidFill>
                <a:srgbClr val="5A6673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186080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PRINCIPLES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4460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By the end of this talk, you’ll leave with more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than a list of language features.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57987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527671"/>
            <a:ext cx="9692640" cy="927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lang="en-US" sz="3000" b="1" dirty="0">
                <a:solidFill>
                  <a:srgbClr val="1F3B63"/>
                </a:solidFill>
                <a:latin typeface="Segoe UI Semibold"/>
              </a:rPr>
              <a:t>L</a:t>
            </a:r>
            <a:r>
              <a:rPr sz="3000" b="1" i="0" dirty="0">
                <a:solidFill>
                  <a:srgbClr val="1F3B63"/>
                </a:solidFill>
                <a:latin typeface="Segoe UI Semibold"/>
              </a:rPr>
              <a:t>eave with a set of</a:t>
            </a:r>
            <a:endParaRPr sz="3000" b="1" i="0" dirty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 dirty="0">
                <a:solidFill>
                  <a:srgbClr val="1F3B63"/>
                </a:solidFill>
                <a:latin typeface="Segoe UI Semibold"/>
              </a:rPr>
              <a:t>engineering principles.</a:t>
            </a:r>
            <a:endParaRPr sz="3000" b="1" i="0" dirty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24460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Before reducing boilerplate…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we need to answer one question.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57987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57987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Why are we writing it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in the first place?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TECHNIQUE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F3B63"/>
                </a:solidFill>
                <a:latin typeface="Segoe UI Semibold"/>
              </a:rPr>
              <a:t>Type Deduction</a:t>
            </a:r>
            <a:endParaRPr sz="46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8992" y="3977639"/>
            <a:ext cx="2194560" cy="6400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8"/>
          <p:cNvSpPr txBox="1"/>
          <p:nvPr/>
        </p:nvSpPr>
        <p:spPr>
          <a:xfrm>
            <a:off x="1078992" y="4331855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 b="0" i="0" dirty="0">
                <a:solidFill>
                  <a:srgbClr val="5A6673"/>
                </a:solidFill>
                <a:latin typeface="Segoe UI Light"/>
              </a:rPr>
              <a:t>Eliminating Redundant Type Information</a:t>
            </a:r>
            <a:endParaRPr sz="2400" b="0" i="0" dirty="0">
              <a:solidFill>
                <a:srgbClr val="5A6673"/>
              </a:solidFill>
              <a:latin typeface="Segoe UI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594360" y="2806113"/>
            <a:ext cx="8570262" cy="192937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3126153"/>
            <a:ext cx="7930182" cy="102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std::vector&lt;Employee&gt;::iterator it = 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begin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(); std::map&lt;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, Employee&gt;::const_iterator employeeIt =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4097703"/>
            <a:ext cx="144180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9823" y="4097703"/>
            <a:ext cx="2739742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find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(id);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Before C++11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48640" y="2672763"/>
            <a:ext cx="8615982" cy="2428713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8"/>
          <p:cNvSpPr txBox="1"/>
          <p:nvPr/>
        </p:nvSpPr>
        <p:spPr>
          <a:xfrm>
            <a:off x="914400" y="2992803"/>
            <a:ext cx="7930182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std::vector&lt;Employee&gt;::iterator it = 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begin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47712" y="3944160"/>
            <a:ext cx="3371298" cy="83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75" spc="26">
                <a:solidFill>
                  <a:srgbClr val="1F2328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The compiler already knows what begin() returns.</a:t>
            </a:r>
            <a:endParaRPr lang="en-US" sz="2175" spc="26">
              <a:solidFill>
                <a:srgbClr val="1F2328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What Are We Really Saying?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594360" y="2710863"/>
            <a:ext cx="8570262" cy="2281799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2"/>
          <p:cNvSpPr txBox="1"/>
          <p:nvPr/>
        </p:nvSpPr>
        <p:spPr>
          <a:xfrm>
            <a:off x="914400" y="4354878"/>
            <a:ext cx="4037305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it = 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begin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14400" y="3030903"/>
            <a:ext cx="7930182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std::vector&lt;Employee&gt;::iterator it = 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begin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Redundant Information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15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One Source of Truth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16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57800" cy="3383280"/>
          </a:xfrm>
          <a:prstGeom prst="roundRect">
            <a:avLst>
              <a:gd name="adj" fmla="val 4500"/>
            </a:avLst>
          </a:prstGeom>
          <a:solidFill>
            <a:srgbClr val="FBECEA"/>
          </a:solidFill>
          <a:ln w="12700">
            <a:solidFill>
              <a:srgbClr val="E9C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39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B03A2E"/>
                </a:solidFill>
                <a:latin typeface="Segoe UI Semibold"/>
              </a:rPr>
              <a:t>BEFORE</a:t>
            </a:r>
            <a:endParaRPr sz="1700" b="1" i="0">
              <a:solidFill>
                <a:srgbClr val="B03A2E"/>
              </a:solidFill>
              <a:latin typeface="Segoe UI Semi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60120" y="2715768"/>
            <a:ext cx="4480560" cy="27432"/>
          </a:xfrm>
          <a:prstGeom prst="rect">
            <a:avLst/>
          </a:prstGeom>
          <a:solidFill>
            <a:srgbClr val="E9C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26079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B03A2E"/>
                </a:solidFill>
                <a:latin typeface="Segoe UI Semibold"/>
              </a:rPr>
              <a:t>×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Type appears twice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B03A2E"/>
                </a:solidFill>
                <a:latin typeface="Segoe UI Semibold"/>
              </a:rPr>
              <a:t>×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Manual synchronization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B03A2E"/>
                </a:solidFill>
                <a:latin typeface="Segoe UI Semibold"/>
              </a:rPr>
              <a:t>×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Verbose declarations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57800" cy="3383280"/>
          </a:xfrm>
          <a:prstGeom prst="roundRect">
            <a:avLst>
              <a:gd name="adj" fmla="val 4500"/>
            </a:avLst>
          </a:prstGeom>
          <a:solidFill>
            <a:srgbClr val="EAF4EE"/>
          </a:solidFill>
          <a:ln w="12700">
            <a:solidFill>
              <a:srgbClr val="C2D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39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E7D46"/>
                </a:solidFill>
                <a:latin typeface="Segoe UI Semibold"/>
              </a:rPr>
              <a:t>AFTER</a:t>
            </a:r>
            <a:endParaRPr sz="17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83680" y="2715768"/>
            <a:ext cx="4480560" cy="27432"/>
          </a:xfrm>
          <a:prstGeom prst="rect">
            <a:avLst/>
          </a:prstGeom>
          <a:solidFill>
            <a:srgbClr val="C2D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79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2E7D46"/>
                </a:solidFill>
                <a:latin typeface="Segoe UI Semibold"/>
              </a:rPr>
              <a:t>✓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Type appears once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2E7D46"/>
                </a:solidFill>
                <a:latin typeface="Segoe UI Semibold"/>
              </a:rPr>
              <a:t>✓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Automatic deduction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2E7D46"/>
                </a:solidFill>
                <a:latin typeface="Segoe UI Semibold"/>
              </a:rPr>
              <a:t>✓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Intent-focused code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What The Compiler Sees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17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799"/>
            <a:ext cx="10881360" cy="1549587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1993392"/>
            <a:ext cx="1033272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 dirty="0">
                <a:solidFill>
                  <a:srgbClr val="C0392B"/>
                </a:solidFill>
                <a:latin typeface="Consolas" panose="020B0609020204030204"/>
              </a:rPr>
              <a:t>auto</a:t>
            </a:r>
            <a:r>
              <a:rPr sz="1800" b="0" i="0" dirty="0">
                <a:solidFill>
                  <a:srgbClr val="22303C"/>
                </a:solidFill>
                <a:latin typeface="Consolas" panose="020B0609020204030204"/>
              </a:rPr>
              <a:t> it = employees.</a:t>
            </a:r>
            <a:r>
              <a:rPr sz="1800" b="0" i="0" dirty="0">
                <a:solidFill>
                  <a:srgbClr val="C8791A"/>
                </a:solidFill>
                <a:latin typeface="Consolas" panose="020B0609020204030204"/>
              </a:rPr>
              <a:t>begin</a:t>
            </a:r>
            <a:r>
              <a:rPr sz="1800" b="0" i="0" dirty="0">
                <a:solidFill>
                  <a:srgbClr val="22303C"/>
                </a:solidFill>
                <a:latin typeface="Consolas" panose="020B0609020204030204"/>
              </a:rPr>
              <a:t>();</a:t>
            </a:r>
            <a:endParaRPr lang="en-US" sz="1800" b="0" i="0" dirty="0">
              <a:solidFill>
                <a:srgbClr val="22303C"/>
              </a:solidFill>
              <a:latin typeface="Consolas" panose="020B0609020204030204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endParaRPr lang="en-US" sz="1800" b="0" i="0" dirty="0">
              <a:solidFill>
                <a:srgbClr val="22303C"/>
              </a:solidFill>
              <a:latin typeface="Consolas" panose="020B0609020204030204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dirty="0">
                <a:solidFill>
                  <a:srgbClr val="22303C"/>
                </a:solidFill>
                <a:latin typeface="Consolas" panose="020B0609020204030204"/>
              </a:rPr>
              <a:t>OR</a:t>
            </a:r>
            <a:endParaRPr lang="en-US" dirty="0">
              <a:solidFill>
                <a:srgbClr val="22303C"/>
              </a:solidFill>
              <a:latin typeface="Consolas" panose="020B0609020204030204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endParaRPr sz="1800" b="0" i="0" dirty="0">
              <a:solidFill>
                <a:srgbClr val="22303C"/>
              </a:solidFill>
              <a:latin typeface="Consolas" panose="020B0609020204030204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 dirty="0">
                <a:solidFill>
                  <a:srgbClr val="22303C"/>
                </a:solidFill>
                <a:latin typeface="Consolas" panose="020B0609020204030204"/>
              </a:rPr>
              <a:t>std::vector&lt;Employee&gt;::iterator it = employees.</a:t>
            </a:r>
            <a:r>
              <a:rPr sz="1800" b="0" i="0" dirty="0">
                <a:solidFill>
                  <a:srgbClr val="C8791A"/>
                </a:solidFill>
                <a:latin typeface="Consolas" panose="020B0609020204030204"/>
              </a:rPr>
              <a:t>begin</a:t>
            </a:r>
            <a:r>
              <a:rPr sz="1800" b="0" i="0" dirty="0">
                <a:solidFill>
                  <a:srgbClr val="22303C"/>
                </a:solidFill>
                <a:latin typeface="Consolas" panose="020B0609020204030204"/>
              </a:rPr>
              <a:t>();</a:t>
            </a:r>
            <a:endParaRPr sz="1800" b="0" i="0" dirty="0">
              <a:solidFill>
                <a:srgbClr val="22303C"/>
              </a:solidFill>
              <a:latin typeface="Consolas" panose="020B0609020204030204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5995263" y="3575304"/>
            <a:ext cx="201168" cy="310896"/>
          </a:xfrm>
          <a:prstGeom prst="down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2647" y="4078224"/>
            <a:ext cx="5486400" cy="731520"/>
          </a:xfrm>
          <a:prstGeom prst="roundRect">
            <a:avLst>
              <a:gd name="adj" fmla="val 14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2647" y="4078224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 Semibold"/>
              </a:rPr>
              <a:t>Identical machine code</a:t>
            </a:r>
            <a:endParaRPr sz="20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244852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1F3B63"/>
                </a:solidFill>
                <a:latin typeface="Segoe UI Light"/>
              </a:rPr>
              <a:t>Zero-Cost?</a:t>
            </a:r>
            <a:endParaRPr sz="3800" b="0" i="0">
              <a:solidFill>
                <a:srgbClr val="1F3B63"/>
              </a:solidFill>
              <a:latin typeface="Segoe UI Ligh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51560" y="3195828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4168" y="3195828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We’ll verify.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18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F3B63"/>
                </a:solidFill>
                <a:latin typeface="Segoe UI Semibold"/>
              </a:rPr>
              <a:t>Measuring The Cost</a:t>
            </a:r>
            <a:endParaRPr sz="3000" b="1" i="0" dirty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19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pic>
        <p:nvPicPr>
          <p:cNvPr id="36" name="Picture 35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2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167335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BUT…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258568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1F3B63"/>
                </a:solidFill>
                <a:latin typeface="Segoe UI Light"/>
              </a:rPr>
              <a:t>Should we use</a:t>
            </a:r>
            <a:endParaRPr sz="3800" b="0" i="0">
              <a:solidFill>
                <a:srgbClr val="1F3B63"/>
              </a:solidFill>
              <a:latin typeface="Segoe UI Ligh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51560" y="3209544"/>
            <a:ext cx="841248" cy="457200"/>
          </a:xfrm>
          <a:prstGeom prst="roundRect">
            <a:avLst>
              <a:gd name="adj" fmla="val 18000"/>
            </a:avLst>
          </a:prstGeom>
          <a:solidFill>
            <a:srgbClr val="E9EDF3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6151" y="3209544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F3B63"/>
                </a:solidFill>
                <a:latin typeface="Consolas" panose="020B0609020204030204"/>
              </a:rPr>
              <a:t>auto</a:t>
            </a:r>
            <a:endParaRPr sz="20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3904488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1F3B63"/>
                </a:solidFill>
                <a:latin typeface="Segoe UI Light"/>
              </a:rPr>
              <a:t>everywhere?</a:t>
            </a:r>
            <a:endParaRPr sz="3800" b="0" i="0">
              <a:solidFill>
                <a:srgbClr val="1F3B63"/>
              </a:solidFill>
              <a:latin typeface="Segoe UI Ligh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20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Good Uses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21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914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46"/>
                </a:solidFill>
                <a:latin typeface="Segoe UI Semibold"/>
              </a:rPr>
              <a:t>✓</a:t>
            </a:r>
            <a:endParaRPr sz="20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9888" y="1828800"/>
            <a:ext cx="43708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Long iterator types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914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46"/>
                </a:solidFill>
                <a:latin typeface="Segoe UI Semibold"/>
              </a:rPr>
              <a:t>✓</a:t>
            </a:r>
            <a:endParaRPr sz="20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67728" y="1828800"/>
            <a:ext cx="4370831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Template-heavy code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136391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136391"/>
            <a:ext cx="914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46"/>
                </a:solidFill>
                <a:latin typeface="Segoe UI Semibold"/>
              </a:rPr>
              <a:t>✓</a:t>
            </a:r>
            <a:endParaRPr sz="20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89888" y="3136391"/>
            <a:ext cx="43708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Obvious local variables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3136391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36391"/>
            <a:ext cx="914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46"/>
                </a:solidFill>
                <a:latin typeface="Segoe UI Semibold"/>
              </a:rPr>
              <a:t>✓</a:t>
            </a:r>
            <a:endParaRPr sz="20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67728" y="3136391"/>
            <a:ext cx="4370831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Generic programming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 Careful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22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91440" cy="1051560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B57A0E"/>
                </a:solidFill>
                <a:latin typeface="Segoe UI Semibold"/>
              </a:rPr>
              <a:t>!</a:t>
            </a:r>
            <a:endParaRPr sz="2000" b="1" i="0">
              <a:solidFill>
                <a:srgbClr val="B57A0E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9888" y="1828800"/>
            <a:ext cx="43708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Public interfaces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91440" cy="1051560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B57A0E"/>
                </a:solidFill>
                <a:latin typeface="Segoe UI Semibold"/>
              </a:rPr>
              <a:t>!</a:t>
            </a:r>
            <a:endParaRPr sz="2000" b="1" i="0">
              <a:solidFill>
                <a:srgbClr val="B57A0E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67728" y="1828800"/>
            <a:ext cx="4370831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Ownership semantics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136391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136391"/>
            <a:ext cx="91440" cy="1051560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B57A0E"/>
                </a:solidFill>
                <a:latin typeface="Segoe UI Semibold"/>
              </a:rPr>
              <a:t>!</a:t>
            </a:r>
            <a:endParaRPr sz="2000" b="1" i="0">
              <a:solidFill>
                <a:srgbClr val="B57A0E"/>
              </a:solidFill>
              <a:latin typeface="Segoe UI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89888" y="3136391"/>
            <a:ext cx="43708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Smart pointers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3136391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36391"/>
            <a:ext cx="91440" cy="1051560"/>
          </a:xfrm>
          <a:prstGeom prst="rect">
            <a:avLst/>
          </a:prstGeom>
          <a:solidFill>
            <a:srgbClr val="B5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B57A0E"/>
                </a:solidFill>
                <a:latin typeface="Segoe UI Semibold"/>
              </a:rPr>
              <a:t>!</a:t>
            </a:r>
            <a:endParaRPr sz="2000" b="1" i="0">
              <a:solidFill>
                <a:srgbClr val="B57A0E"/>
              </a:solidFill>
              <a:latin typeface="Segoe UI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67728" y="3136391"/>
            <a:ext cx="4370831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When the type communicates intent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23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00200"/>
            <a:ext cx="1051560" cy="105156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Light"/>
              </a:rPr>
              <a:t>1</a:t>
            </a:r>
            <a:endParaRPr sz="4000" b="0" i="0">
              <a:solidFill>
                <a:srgbClr val="FFFFFF"/>
              </a:solidFill>
              <a:latin typeface="Segoe U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1463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PRINCIPLE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728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Eliminate Redundant Information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32304" y="3886200"/>
            <a:ext cx="100584" cy="73152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388620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1">
                <a:solidFill>
                  <a:srgbClr val="5A6673"/>
                </a:solidFill>
                <a:latin typeface="Segoe UI" panose="020B0502040204020203"/>
              </a:rPr>
              <a:t>Don’t repeat what the compiler already knows.</a:t>
            </a:r>
            <a:endParaRPr sz="2200" b="0" i="1">
              <a:solidFill>
                <a:srgbClr val="5A6673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1560" y="26974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If the compiler can deduce types…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32841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32841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why are we still describing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how to iterate?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24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25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TECHNIQUE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F3B63"/>
                </a:solidFill>
                <a:latin typeface="Segoe UI Semibold"/>
              </a:rPr>
              <a:t>Iteration</a:t>
            </a:r>
            <a:endParaRPr sz="46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8992" y="3977639"/>
            <a:ext cx="2194560" cy="6400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8"/>
          <p:cNvSpPr txBox="1"/>
          <p:nvPr/>
        </p:nvSpPr>
        <p:spPr>
          <a:xfrm>
            <a:off x="1066800" y="425653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 b="0" i="0" dirty="0">
                <a:solidFill>
                  <a:srgbClr val="5A6673"/>
                </a:solidFill>
                <a:latin typeface="Segoe UI Light"/>
              </a:rPr>
              <a:t>Express Intent, Not Mechanics</a:t>
            </a:r>
            <a:endParaRPr sz="2400" b="0" i="0" dirty="0">
              <a:solidFill>
                <a:srgbClr val="5A6673"/>
              </a:solidFill>
              <a:latin typeface="Segoe UI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594360" y="2691813"/>
            <a:ext cx="9291180" cy="231037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6"/>
          <p:cNvSpPr txBox="1"/>
          <p:nvPr/>
        </p:nvSpPr>
        <p:spPr>
          <a:xfrm>
            <a:off x="914400" y="3621453"/>
            <a:ext cx="144180" cy="10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462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3011853"/>
            <a:ext cx="8651100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for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(std::vector&lt;Employee&gt;::iterator it = employees.</a:t>
            </a:r>
            <a:r>
              <a:rPr lang="en-US" sz="1850" spc="88" dirty="0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begin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3316653"/>
            <a:ext cx="144180" cy="55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21184" y="3316653"/>
            <a:ext cx="3172177" cy="55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it != 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end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(); ++it)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79947" y="4088178"/>
            <a:ext cx="1874453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Process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(*it);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Before C++11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26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What Is The Intent?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27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 w="12700">
            <a:solidFill>
              <a:srgbClr val="C2D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18872" cy="31089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21991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E7D46"/>
                </a:solidFill>
                <a:latin typeface="Segoe UI Semibold"/>
              </a:rPr>
              <a:t>THE INTENT</a:t>
            </a:r>
            <a:endParaRPr sz="14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834639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1" i="0">
                <a:solidFill>
                  <a:srgbClr val="22303C"/>
                </a:solidFill>
                <a:latin typeface="Segoe UI Semibold"/>
              </a:rPr>
              <a:t>Process every employee.</a:t>
            </a:r>
            <a:endParaRPr sz="24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118872" cy="3108960"/>
          </a:xfrm>
          <a:prstGeom prst="rect">
            <a:avLst/>
          </a:prstGeom>
          <a:solidFill>
            <a:srgbClr val="8A9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21991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A97A5"/>
                </a:solidFill>
                <a:latin typeface="Segoe UI Semibold"/>
              </a:rPr>
              <a:t>NOT…</a:t>
            </a:r>
            <a:endParaRPr sz="1400" b="1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39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200" b="0" i="0">
                <a:solidFill>
                  <a:srgbClr val="5A6673"/>
                </a:solidFill>
                <a:latin typeface="Segoe UI" panose="020B0502040204020203"/>
              </a:rPr>
              <a:t>Increment an iterator.</a:t>
            </a:r>
            <a:endParaRPr sz="2200" b="0" i="0">
              <a:solidFill>
                <a:srgbClr val="5A6673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94360" y="3006138"/>
            <a:ext cx="5254228" cy="1729349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3326178"/>
            <a:ext cx="4614148" cy="108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for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employee : employees)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 rtl="1">
              <a:lnSpc>
                <a:spcPts val="2100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947" y="3831003"/>
            <a:ext cx="2595362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 dirty="0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Process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(employee);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C++11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28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What Changed?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29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57800" cy="3383280"/>
          </a:xfrm>
          <a:prstGeom prst="roundRect">
            <a:avLst>
              <a:gd name="adj" fmla="val 4500"/>
            </a:avLst>
          </a:prstGeom>
          <a:solidFill>
            <a:srgbClr val="FBECEA"/>
          </a:solidFill>
          <a:ln w="12700">
            <a:solidFill>
              <a:srgbClr val="E9C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39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B03A2E"/>
                </a:solidFill>
                <a:latin typeface="Segoe UI Semibold"/>
              </a:rPr>
              <a:t>BEFORE</a:t>
            </a:r>
            <a:endParaRPr sz="1700" b="1" i="0">
              <a:solidFill>
                <a:srgbClr val="B03A2E"/>
              </a:solidFill>
              <a:latin typeface="Segoe UI Semi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60120" y="2715768"/>
            <a:ext cx="4480560" cy="27432"/>
          </a:xfrm>
          <a:prstGeom prst="rect">
            <a:avLst/>
          </a:prstGeom>
          <a:solidFill>
            <a:srgbClr val="E9C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26079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B03A2E"/>
                </a:solidFill>
                <a:latin typeface="Segoe UI Semibold"/>
              </a:rPr>
              <a:t>×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Describe iteration mechanics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B03A2E"/>
                </a:solidFill>
                <a:latin typeface="Segoe UI Semibold"/>
              </a:rPr>
              <a:t>×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Manual iterator management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B03A2E"/>
                </a:solidFill>
                <a:latin typeface="Segoe UI Semibold"/>
              </a:rPr>
              <a:t>×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More opportunities for mistakes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57800" cy="3383280"/>
          </a:xfrm>
          <a:prstGeom prst="roundRect">
            <a:avLst>
              <a:gd name="adj" fmla="val 4500"/>
            </a:avLst>
          </a:prstGeom>
          <a:solidFill>
            <a:srgbClr val="EAF4EE"/>
          </a:solidFill>
          <a:ln w="12700">
            <a:solidFill>
              <a:srgbClr val="C2D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39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E7D46"/>
                </a:solidFill>
                <a:latin typeface="Segoe UI Semibold"/>
              </a:rPr>
              <a:t>AFTER</a:t>
            </a:r>
            <a:endParaRPr sz="17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83680" y="2715768"/>
            <a:ext cx="4480560" cy="27432"/>
          </a:xfrm>
          <a:prstGeom prst="rect">
            <a:avLst/>
          </a:prstGeom>
          <a:solidFill>
            <a:srgbClr val="C2D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79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2E7D46"/>
                </a:solidFill>
                <a:latin typeface="Segoe UI Semibold"/>
              </a:rPr>
              <a:t>✓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Describe iteration intent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2E7D46"/>
                </a:solidFill>
                <a:latin typeface="Segoe UI Semibold"/>
              </a:rPr>
              <a:t>✓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Compiler-generated iteration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2E7D46"/>
                </a:solidFill>
                <a:latin typeface="Segoe UI Semibold"/>
              </a:rPr>
              <a:t>✓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Less surface area for bugs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Behind The Language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30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881360" cy="694944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185623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C0392B"/>
                </a:solidFill>
                <a:latin typeface="Consolas" panose="020B0609020204030204"/>
              </a:rPr>
              <a:t>for</a:t>
            </a:r>
            <a:r>
              <a:rPr sz="1700" b="0" i="0">
                <a:solidFill>
                  <a:srgbClr val="22303C"/>
                </a:solidFill>
                <a:latin typeface="Consolas" panose="020B0609020204030204"/>
              </a:rPr>
              <a:t> (</a:t>
            </a:r>
            <a:r>
              <a:rPr sz="1700" b="0" i="0">
                <a:solidFill>
                  <a:srgbClr val="C0392B"/>
                </a:solidFill>
                <a:latin typeface="Consolas" panose="020B0609020204030204"/>
              </a:rPr>
              <a:t>auto</a:t>
            </a:r>
            <a:r>
              <a:rPr sz="1700" b="0" i="0">
                <a:solidFill>
                  <a:srgbClr val="22303C"/>
                </a:solidFill>
                <a:latin typeface="Consolas" panose="020B0609020204030204"/>
              </a:rPr>
              <a:t>&amp; employee : employees) { ... }</a:t>
            </a:r>
            <a:endParaRPr sz="1700" b="0" i="0">
              <a:solidFill>
                <a:srgbClr val="22303C"/>
              </a:solidFill>
              <a:latin typeface="Consolas" panose="020B0609020204030204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822959" y="2532888"/>
            <a:ext cx="201168" cy="310896"/>
          </a:xfrm>
          <a:prstGeom prst="down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251460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1">
                <a:solidFill>
                  <a:srgbClr val="5A6673"/>
                </a:solidFill>
                <a:latin typeface="Segoe UI" panose="020B0502040204020203"/>
              </a:rPr>
              <a:t>the compiler expands this to</a:t>
            </a:r>
            <a:endParaRPr sz="1600" b="0" i="1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10881360" cy="2157984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3182112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C0392B"/>
                </a:solidFill>
                <a:latin typeface="Consolas" panose="020B0609020204030204"/>
              </a:rPr>
              <a:t>for</a:t>
            </a:r>
            <a:r>
              <a:rPr sz="1700" b="0" i="0">
                <a:solidFill>
                  <a:srgbClr val="22303C"/>
                </a:solidFill>
                <a:latin typeface="Consolas" panose="020B0609020204030204"/>
              </a:rPr>
              <a:t> (</a:t>
            </a:r>
            <a:r>
              <a:rPr sz="1700" b="0" i="0">
                <a:solidFill>
                  <a:srgbClr val="C0392B"/>
                </a:solidFill>
                <a:latin typeface="Consolas" panose="020B0609020204030204"/>
              </a:rPr>
              <a:t>auto</a:t>
            </a:r>
            <a:r>
              <a:rPr sz="1700" b="0" i="0">
                <a:solidFill>
                  <a:srgbClr val="22303C"/>
                </a:solidFill>
                <a:latin typeface="Consolas" panose="020B0609020204030204"/>
              </a:rPr>
              <a:t> it = </a:t>
            </a:r>
            <a:r>
              <a:rPr sz="1700" b="0" i="0">
                <a:solidFill>
                  <a:srgbClr val="C8791A"/>
                </a:solidFill>
                <a:latin typeface="Consolas" panose="020B0609020204030204"/>
              </a:rPr>
              <a:t>begin</a:t>
            </a:r>
            <a:r>
              <a:rPr sz="1700" b="0" i="0">
                <a:solidFill>
                  <a:srgbClr val="22303C"/>
                </a:solidFill>
                <a:latin typeface="Consolas" panose="020B0609020204030204"/>
              </a:rPr>
              <a:t>(employees); it != </a:t>
            </a:r>
            <a:r>
              <a:rPr sz="1700" b="0" i="0">
                <a:solidFill>
                  <a:srgbClr val="C8791A"/>
                </a:solidFill>
                <a:latin typeface="Consolas" panose="020B0609020204030204"/>
              </a:rPr>
              <a:t>end</a:t>
            </a:r>
            <a:r>
              <a:rPr sz="1700" b="0" i="0">
                <a:solidFill>
                  <a:srgbClr val="22303C"/>
                </a:solidFill>
                <a:latin typeface="Consolas" panose="020B0609020204030204"/>
              </a:rPr>
              <a:t>(employees); ++it)</a:t>
            </a:r>
            <a:endParaRPr sz="1700" b="0" i="0">
              <a:solidFill>
                <a:srgbClr val="22303C"/>
              </a:solidFill>
              <a:latin typeface="Consolas" panose="020B060902020403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2303C"/>
                </a:solidFill>
                <a:latin typeface="Consolas" panose="020B0609020204030204"/>
              </a:rPr>
              <a:t>{</a:t>
            </a:r>
            <a:endParaRPr sz="1700" b="0" i="0">
              <a:solidFill>
                <a:srgbClr val="22303C"/>
              </a:solidFill>
              <a:latin typeface="Consolas" panose="020B060902020403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2303C"/>
                </a:solidFill>
                <a:latin typeface="Consolas" panose="020B0609020204030204"/>
              </a:rPr>
              <a:t>    </a:t>
            </a:r>
            <a:r>
              <a:rPr sz="1700" b="0" i="0">
                <a:solidFill>
                  <a:srgbClr val="C0392B"/>
                </a:solidFill>
                <a:latin typeface="Consolas" panose="020B0609020204030204"/>
              </a:rPr>
              <a:t>auto</a:t>
            </a:r>
            <a:r>
              <a:rPr sz="1700" b="0" i="0">
                <a:solidFill>
                  <a:srgbClr val="22303C"/>
                </a:solidFill>
                <a:latin typeface="Consolas" panose="020B0609020204030204"/>
              </a:rPr>
              <a:t>&amp; employee = *it;</a:t>
            </a:r>
            <a:endParaRPr sz="1700" b="0" i="0">
              <a:solidFill>
                <a:srgbClr val="22303C"/>
              </a:solidFill>
              <a:latin typeface="Consolas" panose="020B060902020403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2303C"/>
                </a:solidFill>
                <a:latin typeface="Consolas" panose="020B0609020204030204"/>
              </a:rPr>
              <a:t>    ...</a:t>
            </a:r>
            <a:endParaRPr sz="1700" b="0" i="0">
              <a:solidFill>
                <a:srgbClr val="22303C"/>
              </a:solidFill>
              <a:latin typeface="Consolas" panose="020B060902020403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22303C"/>
                </a:solidFill>
                <a:latin typeface="Consolas" panose="020B0609020204030204"/>
              </a:rPr>
              <a:t>}</a:t>
            </a:r>
            <a:endParaRPr sz="1700" b="0" i="0">
              <a:solidFill>
                <a:srgbClr val="22303C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42773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QUESTION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51560" y="3012948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4168" y="3012948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Did we pay anything?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31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Measuring The Cost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32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pic>
        <p:nvPicPr>
          <p:cNvPr id="29" name="Picture 28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When An Iterator Is Still Better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34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91440" cy="105156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558C"/>
                </a:solidFill>
                <a:latin typeface="Segoe UI Semibold"/>
              </a:rPr>
              <a:t>●</a:t>
            </a:r>
            <a:endParaRPr sz="20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9888" y="1828800"/>
            <a:ext cx="43708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Modifying the container while iterating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91440" cy="105156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558C"/>
                </a:solidFill>
                <a:latin typeface="Segoe UI Semibold"/>
              </a:rPr>
              <a:t>●</a:t>
            </a:r>
            <a:endParaRPr sz="20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67728" y="1828800"/>
            <a:ext cx="4370831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Using multiple iterators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136391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136391"/>
            <a:ext cx="91440" cy="105156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558C"/>
                </a:solidFill>
                <a:latin typeface="Segoe UI Semibold"/>
              </a:rPr>
              <a:t>●</a:t>
            </a:r>
            <a:endParaRPr sz="20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89888" y="3136391"/>
            <a:ext cx="43708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Iterator arithmetic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3136391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36391"/>
            <a:ext cx="91440" cy="105156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558C"/>
                </a:solidFill>
                <a:latin typeface="Segoe UI Semibold"/>
              </a:rPr>
              <a:t>●</a:t>
            </a:r>
            <a:endParaRPr sz="20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67728" y="3136391"/>
            <a:ext cx="4370831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Algorithms requiring explicit ranges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35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00200"/>
            <a:ext cx="1051560" cy="105156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Light"/>
              </a:rPr>
              <a:t>2</a:t>
            </a:r>
            <a:endParaRPr sz="4000" b="0" i="0">
              <a:solidFill>
                <a:srgbClr val="FFFFFF"/>
              </a:solidFill>
              <a:latin typeface="Segoe U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1463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PRINCIPLE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728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Express Intent,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Not Mechanics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186080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ONE STEP FURTHER…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4460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If we no longer need to describe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how to iterate…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57987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57987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do we even need to write the loop?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36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37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TECHNIQUE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F3B63"/>
                </a:solidFill>
                <a:latin typeface="Segoe UI Semibold"/>
              </a:rPr>
              <a:t>Algorithms</a:t>
            </a:r>
            <a:endParaRPr sz="46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8992" y="3977639"/>
            <a:ext cx="2194560" cy="6400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8"/>
          <p:cNvSpPr txBox="1"/>
          <p:nvPr/>
        </p:nvSpPr>
        <p:spPr>
          <a:xfrm>
            <a:off x="1078992" y="4272696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 b="0" i="0" dirty="0">
                <a:solidFill>
                  <a:srgbClr val="5A6673"/>
                </a:solidFill>
                <a:latin typeface="Segoe UI Light"/>
              </a:rPr>
              <a:t>Express What, Not How</a:t>
            </a:r>
            <a:endParaRPr sz="2400" b="0" i="0" dirty="0">
              <a:solidFill>
                <a:srgbClr val="5A6673"/>
              </a:solidFill>
              <a:latin typeface="Segoe UI Ligh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594360" y="2158413"/>
            <a:ext cx="6088266" cy="3386699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2478453"/>
            <a:ext cx="3893153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Employee*result = </a:t>
            </a:r>
            <a:r>
              <a:rPr lang="en-US" sz="1850" spc="88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nullptr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3059478"/>
            <a:ext cx="432549" cy="54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for 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9918" y="3021378"/>
            <a:ext cx="865165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endParaRPr lang="en-US" sz="1850" spc="88">
              <a:solidFill>
                <a:srgbClr val="CF222E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469509" y="3021378"/>
            <a:ext cx="3893077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employee : employees)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79823" y="3592878"/>
            <a:ext cx="288493" cy="55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if 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04076" y="3554778"/>
            <a:ext cx="3604584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(employee.id == targetId)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45246" y="4135803"/>
            <a:ext cx="2739485" cy="54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result = &amp;employee; 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break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79823" y="4640628"/>
            <a:ext cx="144180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186607" y="2478453"/>
            <a:ext cx="144180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14400" y="4907328"/>
            <a:ext cx="144180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Before Algorithms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38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What Is The Intent?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39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 w="12700">
            <a:solidFill>
              <a:srgbClr val="C2D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18872" cy="31089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21991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E7D46"/>
                </a:solidFill>
                <a:latin typeface="Segoe UI Semibold"/>
              </a:rPr>
              <a:t>THE INTENT</a:t>
            </a:r>
            <a:endParaRPr sz="14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834639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1" i="0">
                <a:solidFill>
                  <a:srgbClr val="22303C"/>
                </a:solidFill>
                <a:latin typeface="Segoe UI Semibold"/>
              </a:rPr>
              <a:t>Find an employee.</a:t>
            </a:r>
            <a:endParaRPr sz="24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118872" cy="3108960"/>
          </a:xfrm>
          <a:prstGeom prst="rect">
            <a:avLst/>
          </a:prstGeom>
          <a:solidFill>
            <a:srgbClr val="8A9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21991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A97A5"/>
                </a:solidFill>
                <a:latin typeface="Segoe UI Semibold"/>
              </a:rPr>
              <a:t>NOT…</a:t>
            </a:r>
            <a:endParaRPr sz="1400" b="1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39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200" b="0" i="0">
                <a:solidFill>
                  <a:srgbClr val="5A6673"/>
                </a:solidFill>
                <a:latin typeface="Segoe UI" panose="020B0502040204020203"/>
              </a:rPr>
              <a:t>Implement a search loop.</a:t>
            </a:r>
            <a:endParaRPr sz="2200" b="0" i="0">
              <a:solidFill>
                <a:srgbClr val="5A6673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94360" y="2558463"/>
            <a:ext cx="6240742" cy="257707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2878503"/>
            <a:ext cx="3316443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it = std::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find_if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3183303"/>
            <a:ext cx="144180" cy="1632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2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5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9823" y="3183303"/>
            <a:ext cx="3604841" cy="1632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begin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(), 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end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(), [&amp;](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employee)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45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 rtl="1">
              <a:lnSpc>
                <a:spcPts val="2145"/>
              </a:lnSpc>
            </a:pP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4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45341" y="4231053"/>
            <a:ext cx="4469721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employee.id == targetId;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The Standard Library Already Knows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40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A Vocabulary Of Intent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41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A97A5"/>
                </a:solidFill>
                <a:latin typeface="Segoe UI Semibold"/>
              </a:rPr>
              <a:t>INTENT</a:t>
            </a:r>
            <a:endParaRPr sz="1400" b="1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0" y="17373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E558C"/>
                </a:solidFill>
                <a:latin typeface="Segoe UI Semibold"/>
              </a:rPr>
              <a:t>ALGORITHM</a:t>
            </a:r>
            <a:endParaRPr sz="14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16712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6712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5A6673"/>
                </a:solidFill>
                <a:latin typeface="Segoe UI" panose="020B0502040204020203"/>
              </a:rPr>
              <a:t>Find</a:t>
            </a:r>
            <a:endParaRPr sz="1900" b="0" i="0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5010912" y="2359152"/>
            <a:ext cx="493776" cy="219456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0" y="216712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ECF1F8"/>
          </a:solidFill>
          <a:ln w="12700">
            <a:solidFill>
              <a:srgbClr val="C7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16712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F3B63"/>
                </a:solidFill>
                <a:latin typeface="Consolas" panose="020B0609020204030204"/>
              </a:rPr>
              <a:t>std::find_if</a:t>
            </a:r>
            <a:endParaRPr sz="19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289864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9864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5A6673"/>
                </a:solidFill>
                <a:latin typeface="Segoe UI" panose="020B0502040204020203"/>
              </a:rPr>
              <a:t>Count</a:t>
            </a:r>
            <a:endParaRPr sz="1900" b="0" i="0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5010912" y="3090672"/>
            <a:ext cx="493776" cy="219456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0" y="289864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ECF1F8"/>
          </a:solidFill>
          <a:ln w="12700">
            <a:solidFill>
              <a:srgbClr val="C7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89864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F3B63"/>
                </a:solidFill>
                <a:latin typeface="Consolas" panose="020B0609020204030204"/>
              </a:rPr>
              <a:t>std::count_if</a:t>
            </a:r>
            <a:endParaRPr sz="19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63016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3016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5A6673"/>
                </a:solidFill>
                <a:latin typeface="Segoe UI" panose="020B0502040204020203"/>
              </a:rPr>
              <a:t>Transform</a:t>
            </a:r>
            <a:endParaRPr sz="1900" b="0" i="0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5010912" y="3822191"/>
            <a:ext cx="493776" cy="219456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0" y="363016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ECF1F8"/>
          </a:solidFill>
          <a:ln w="12700">
            <a:solidFill>
              <a:srgbClr val="C7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63016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F3B63"/>
                </a:solidFill>
                <a:latin typeface="Consolas" panose="020B0609020204030204"/>
              </a:rPr>
              <a:t>std::transform</a:t>
            </a:r>
            <a:endParaRPr sz="19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436168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6168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5A6673"/>
                </a:solidFill>
                <a:latin typeface="Segoe UI" panose="020B0502040204020203"/>
              </a:rPr>
              <a:t>Sort</a:t>
            </a:r>
            <a:endParaRPr sz="1900" b="0" i="0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5010912" y="4553712"/>
            <a:ext cx="493776" cy="219456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0" y="4361688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ECF1F8"/>
          </a:solidFill>
          <a:ln w="12700">
            <a:solidFill>
              <a:srgbClr val="C7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4361688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F3B63"/>
                </a:solidFill>
                <a:latin typeface="Consolas" panose="020B0609020204030204"/>
              </a:rPr>
              <a:t>std::sort</a:t>
            </a:r>
            <a:endParaRPr sz="19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0080" y="5093207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93207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5A6673"/>
                </a:solidFill>
                <a:latin typeface="Segoe UI" panose="020B0502040204020203"/>
              </a:rPr>
              <a:t>Copy</a:t>
            </a:r>
            <a:endParaRPr sz="1900" b="0" i="0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31" name="Right Arrow 30"/>
          <p:cNvSpPr/>
          <p:nvPr/>
        </p:nvSpPr>
        <p:spPr>
          <a:xfrm>
            <a:off x="5010912" y="5285231"/>
            <a:ext cx="493776" cy="219456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0" y="5093207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ECF1F8"/>
          </a:solidFill>
          <a:ln w="12700">
            <a:solidFill>
              <a:srgbClr val="C7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5093207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F3B63"/>
                </a:solidFill>
                <a:latin typeface="Consolas" panose="020B0609020204030204"/>
              </a:rPr>
              <a:t>std::copy_if</a:t>
            </a:r>
            <a:endParaRPr sz="19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40080" y="5824727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824727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5A6673"/>
                </a:solidFill>
                <a:latin typeface="Segoe UI" panose="020B0502040204020203"/>
              </a:rPr>
              <a:t>Accumulate</a:t>
            </a:r>
            <a:endParaRPr sz="1900" b="0" i="0">
              <a:solidFill>
                <a:srgbClr val="5A6673"/>
              </a:solidFill>
              <a:latin typeface="Segoe UI" panose="020B0502040204020203"/>
            </a:endParaRPr>
          </a:p>
        </p:txBody>
      </p:sp>
      <p:sp>
        <p:nvSpPr>
          <p:cNvPr id="36" name="Right Arrow 35"/>
          <p:cNvSpPr/>
          <p:nvPr/>
        </p:nvSpPr>
        <p:spPr>
          <a:xfrm>
            <a:off x="5010912" y="6016751"/>
            <a:ext cx="493776" cy="219456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0" y="5824727"/>
            <a:ext cx="4206240" cy="603504"/>
          </a:xfrm>
          <a:prstGeom prst="roundRect">
            <a:avLst>
              <a:gd name="adj" fmla="val 10000"/>
            </a:avLst>
          </a:prstGeom>
          <a:solidFill>
            <a:srgbClr val="ECF1F8"/>
          </a:solidFill>
          <a:ln w="12700">
            <a:solidFill>
              <a:srgbClr val="C7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5824727"/>
            <a:ext cx="3749039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F3B63"/>
                </a:solidFill>
                <a:latin typeface="Consolas" panose="020B0609020204030204"/>
              </a:rPr>
              <a:t>std::accumulate</a:t>
            </a:r>
            <a:endParaRPr sz="1900" b="1" i="0">
              <a:solidFill>
                <a:srgbClr val="1F3B63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Behind The Library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42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Your Intent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053839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9600" y="2674620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674620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Standard Algorithm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783336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9119" y="2674620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6279" y="2674620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Optimized Implementation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42773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QUESTION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51560" y="3012948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4168" y="3012948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Does abstraction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cost performance?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43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Measuring The Cost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44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pic>
        <p:nvPicPr>
          <p:cNvPr id="29" name="Picture 28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More Than Performance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45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914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46"/>
                </a:solidFill>
                <a:latin typeface="Segoe UI Semibold"/>
              </a:rPr>
              <a:t>✓</a:t>
            </a:r>
            <a:endParaRPr sz="20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9888" y="1828800"/>
            <a:ext cx="43708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Reusable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914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46"/>
                </a:solidFill>
                <a:latin typeface="Segoe UI Semibold"/>
              </a:rPr>
              <a:t>✓</a:t>
            </a:r>
            <a:endParaRPr sz="20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67728" y="1828800"/>
            <a:ext cx="4370831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Well tested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136391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136391"/>
            <a:ext cx="914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46"/>
                </a:solidFill>
                <a:latin typeface="Segoe UI Semibold"/>
              </a:rPr>
              <a:t>✓</a:t>
            </a:r>
            <a:endParaRPr sz="20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89888" y="3136391"/>
            <a:ext cx="43708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Self-documenting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3136391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36391"/>
            <a:ext cx="914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46"/>
                </a:solidFill>
                <a:latin typeface="Segoe UI Semibold"/>
              </a:rPr>
              <a:t>✓</a:t>
            </a:r>
            <a:endParaRPr sz="20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67728" y="3136391"/>
            <a:ext cx="4370831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Easier to review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94360" y="3006138"/>
            <a:ext cx="1937823" cy="1729349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838200" y="3253026"/>
            <a:ext cx="1373943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for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(...)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 rtl="1">
              <a:lnSpc>
                <a:spcPts val="2100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823" y="3831003"/>
            <a:ext cx="432549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...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When A Loop Is Better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46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47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00200"/>
            <a:ext cx="1051560" cy="105156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Light"/>
              </a:rPr>
              <a:t>3</a:t>
            </a:r>
            <a:endParaRPr sz="4000" b="0" i="0">
              <a:solidFill>
                <a:srgbClr val="FFFFFF"/>
              </a:solidFill>
              <a:latin typeface="Segoe U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1463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PRINCIPLE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728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Standardize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Common Patterns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94360" y="3006138"/>
            <a:ext cx="5675348" cy="1729349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3326178"/>
            <a:ext cx="3604870" cy="108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[&amp;](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employee)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 rtl="1">
              <a:lnSpc>
                <a:spcPts val="2100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947" y="3831003"/>
            <a:ext cx="4469721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employee.id == targetId;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One Thing We Ignored...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48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49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TECHNIQUE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F3B63"/>
                </a:solidFill>
                <a:latin typeface="Segoe UI Semibold"/>
              </a:rPr>
              <a:t>Lambdas</a:t>
            </a:r>
            <a:endParaRPr sz="46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8992" y="3977639"/>
            <a:ext cx="2194560" cy="6400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8"/>
          <p:cNvSpPr txBox="1"/>
          <p:nvPr/>
        </p:nvSpPr>
        <p:spPr>
          <a:xfrm>
            <a:off x="1109010" y="4334255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 b="0" i="0" dirty="0">
                <a:solidFill>
                  <a:srgbClr val="5A6673"/>
                </a:solidFill>
                <a:latin typeface="Segoe UI Light"/>
              </a:rPr>
              <a:t>Behavior Without Boilerplate</a:t>
            </a:r>
            <a:endParaRPr sz="2400" b="0" i="0" dirty="0">
              <a:solidFill>
                <a:srgbClr val="5A6673"/>
              </a:solidFill>
              <a:latin typeface="Segoe UI Ligh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594246" y="1452162"/>
            <a:ext cx="7559154" cy="5003502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1772202"/>
            <a:ext cx="2959503" cy="276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90"/>
              </a:lnSpc>
            </a:pPr>
            <a:r>
              <a:rPr lang="en-US" sz="1725" spc="82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struct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725" spc="82" dirty="0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EmployeeMatcher 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1990"/>
              </a:lnSpc>
            </a:pP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1990"/>
              </a:lnSpc>
            </a:pPr>
            <a:r>
              <a:rPr lang="en-US" sz="1725" spc="1379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725" spc="1379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1990"/>
              </a:lnSpc>
            </a:pPr>
            <a:r>
              <a:rPr lang="en-US" sz="1725" spc="1379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725" spc="1379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1990"/>
              </a:lnSpc>
            </a:pP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1990"/>
              </a:lnSpc>
            </a:pPr>
            <a:r>
              <a:rPr lang="en-US" sz="1725" spc="1379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725" spc="1379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1990"/>
              </a:lnSpc>
            </a:pP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1990"/>
              </a:lnSpc>
            </a:pPr>
            <a:r>
              <a:rPr lang="en-US" sz="1725" spc="1379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725" spc="1379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42047" y="2231107"/>
            <a:ext cx="3094091" cy="29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2" dirty="0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EmployeeMatcher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r>
              <a:rPr lang="en-US" sz="1725" spc="82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id)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69465" y="2479939"/>
            <a:ext cx="1883378" cy="29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: </a:t>
            </a:r>
            <a:r>
              <a:rPr lang="en-US" sz="1725" spc="82" dirty="0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targetId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(id)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41933" y="2766860"/>
            <a:ext cx="6322943" cy="1771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30"/>
              </a:lnSpc>
            </a:pPr>
            <a:r>
              <a:rPr lang="en-US" sz="1725" spc="1379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725" spc="1379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030"/>
              </a:lnSpc>
            </a:pPr>
            <a:r>
              <a:rPr lang="en-US" sz="1725" spc="1379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725" spc="1379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 rtl="1">
              <a:lnSpc>
                <a:spcPts val="2030"/>
              </a:lnSpc>
            </a:pPr>
            <a:endParaRPr lang="en-US" sz="1725" spc="1379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030"/>
              </a:lnSpc>
            </a:pPr>
            <a:r>
              <a:rPr lang="en-US" sz="1725" spc="82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bool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725" spc="82" dirty="0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operator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()(</a:t>
            </a:r>
            <a:r>
              <a:rPr lang="en-US" sz="1725" spc="82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Employee&amp; employee) </a:t>
            </a:r>
            <a:r>
              <a:rPr lang="en-US" sz="1725" spc="82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endParaRPr lang="en-US" sz="1725" spc="82" dirty="0">
              <a:solidFill>
                <a:srgbClr val="CF222E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030"/>
              </a:lnSpc>
            </a:pPr>
            <a:r>
              <a:rPr lang="en-US" sz="1725" spc="1379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725" spc="1379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 rtl="1">
              <a:lnSpc>
                <a:spcPts val="2030"/>
              </a:lnSpc>
            </a:pPr>
            <a:endParaRPr lang="en-US" sz="1725" spc="1379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030"/>
              </a:lnSpc>
            </a:pPr>
            <a:r>
              <a:rPr lang="en-US" sz="1725" spc="1379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725" spc="1379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69551" y="3990670"/>
            <a:ext cx="4170159" cy="29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2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employee.id == targetId;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4400" y="4746031"/>
            <a:ext cx="1076220" cy="29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2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private</a:t>
            </a:r>
            <a:r>
              <a:rPr lang="en-US" sz="1725" spc="82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:</a:t>
            </a:r>
            <a:endParaRPr lang="en-US" sz="1725" spc="82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4286" y="4932502"/>
            <a:ext cx="3094177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030"/>
              </a:lnSpc>
            </a:pP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030"/>
              </a:lnSpc>
            </a:pP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};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030"/>
              </a:lnSpc>
            </a:pPr>
            <a:r>
              <a:rPr lang="en-US" sz="1725" spc="82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it = std::</a:t>
            </a:r>
            <a:r>
              <a:rPr lang="en-US" sz="1725" spc="82" dirty="0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find_if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42047" y="4994853"/>
            <a:ext cx="1748847" cy="29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82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targetId;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14286" y="6055557"/>
            <a:ext cx="134636" cy="58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960"/>
              </a:lnSpc>
            </a:pPr>
            <a:r>
              <a:rPr lang="en-US" sz="1725" spc="82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725" spc="82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1960"/>
              </a:lnSpc>
            </a:pPr>
            <a:r>
              <a:rPr lang="en-US" sz="1725" spc="82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725" spc="82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1535"/>
              </a:lnSpc>
            </a:pPr>
            <a:r>
              <a:rPr lang="en-US" sz="1350">
                <a:solidFill>
                  <a:srgbClr val="666666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</a:t>
            </a:r>
            <a:endParaRPr lang="en-US" sz="1350">
              <a:solidFill>
                <a:srgbClr val="666666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276600" y="5663715"/>
            <a:ext cx="3727104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5"/>
              </a:lnSpc>
            </a:pP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employees.</a:t>
            </a:r>
            <a:r>
              <a:rPr lang="en-US" sz="1725" spc="82" dirty="0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begin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(),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005"/>
              </a:lnSpc>
            </a:pP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employees.</a:t>
            </a:r>
            <a:r>
              <a:rPr lang="en-US" sz="1725" spc="82" dirty="0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end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(),</a:t>
            </a:r>
            <a:endParaRPr lang="en-US" sz="1725" spc="82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005"/>
              </a:lnSpc>
            </a:pPr>
            <a:r>
              <a:rPr lang="en-US" sz="1725" spc="82" dirty="0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EmployeeMatcher</a:t>
            </a:r>
            <a:r>
              <a:rPr lang="en-US" sz="1725" spc="82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(targetId));</a:t>
            </a:r>
            <a:r>
              <a:rPr lang="en-US" sz="1725" spc="82" dirty="0">
                <a:solidFill>
                  <a:srgbClr val="666666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725" spc="82" dirty="0">
              <a:solidFill>
                <a:srgbClr val="666666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Before C++11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 dirty="0" err="1">
                <a:solidFill>
                  <a:srgbClr val="8A97A5"/>
                </a:solidFill>
                <a:latin typeface="Segoe UI" panose="020B0502040204020203"/>
              </a:rPr>
              <a:t>CppCon</a:t>
            </a:r>
            <a:r>
              <a:rPr sz="950" b="0" i="0" dirty="0">
                <a:solidFill>
                  <a:srgbClr val="8A97A5"/>
                </a:solidFill>
                <a:latin typeface="Segoe UI" panose="020B0502040204020203"/>
              </a:rPr>
              <a:t> 2026   ·   Modern C++: Reducing Boilerplate Without Sacrificing Performance</a:t>
            </a:r>
            <a:endParaRPr sz="950" b="0" i="0" dirty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50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What Is The Intent?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51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 w="12700">
            <a:solidFill>
              <a:srgbClr val="C2D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18872" cy="31089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21991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E7D46"/>
                </a:solidFill>
                <a:latin typeface="Segoe UI Semibold"/>
              </a:rPr>
              <a:t>THE INTENT</a:t>
            </a:r>
            <a:endParaRPr sz="14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834639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200" b="0" i="0" dirty="0">
                <a:solidFill>
                  <a:srgbClr val="22303C"/>
                </a:solidFill>
                <a:latin typeface="Consolas" panose="020B0609020204030204"/>
              </a:rPr>
              <a:t>employee.id == targetId</a:t>
            </a:r>
            <a:endParaRPr sz="2200" b="0" i="0" dirty="0">
              <a:solidFill>
                <a:srgbClr val="22303C"/>
              </a:solidFill>
              <a:latin typeface="Consolas" panose="020B0609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118872" cy="3108960"/>
          </a:xfrm>
          <a:prstGeom prst="rect">
            <a:avLst/>
          </a:prstGeom>
          <a:solidFill>
            <a:srgbClr val="8A9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21991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A97A5"/>
                </a:solidFill>
                <a:latin typeface="Segoe UI Semibold"/>
              </a:rPr>
              <a:t>NOT…</a:t>
            </a:r>
            <a:endParaRPr sz="1400" b="1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39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200" b="0" i="0">
                <a:solidFill>
                  <a:srgbClr val="5A6673"/>
                </a:solidFill>
                <a:latin typeface="Segoe UI" panose="020B0502040204020203"/>
              </a:rPr>
              <a:t>Everything else just</a:t>
            </a:r>
            <a:endParaRPr sz="2200" b="0" i="0">
              <a:solidFill>
                <a:srgbClr val="5A6673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200" b="0" i="0">
                <a:solidFill>
                  <a:srgbClr val="5A6673"/>
                </a:solidFill>
                <a:latin typeface="Segoe UI" panose="020B0502040204020203"/>
              </a:rPr>
              <a:t>supports the comparison.</a:t>
            </a:r>
            <a:endParaRPr sz="2200" b="0" i="0">
              <a:solidFill>
                <a:srgbClr val="5A6673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94360" y="2558463"/>
            <a:ext cx="6240742" cy="257707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2878503"/>
            <a:ext cx="3316443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it = std::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find_if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3183303"/>
            <a:ext cx="144180" cy="1632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2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5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2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9823" y="3183303"/>
            <a:ext cx="3604841" cy="1632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begin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(), 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end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(), [&amp;](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employee)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45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 rtl="1">
              <a:lnSpc>
                <a:spcPts val="2145"/>
              </a:lnSpc>
            </a:pP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4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45341" y="4231053"/>
            <a:ext cx="4469721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employee.id == targetId;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C++11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52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Behind The Language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53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Lambda Expression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10896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67462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674620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Unnamed Function Object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94360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67462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74620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Consolas" panose="020B0609020204030204"/>
              </a:rPr>
              <a:t>operator()</a:t>
            </a:r>
            <a:endParaRPr sz="15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877824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267462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674620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Compiler-Generated Type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Measuring The Cost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54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pic>
        <p:nvPicPr>
          <p:cNvPr id="28" name="Picture 27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55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00200"/>
            <a:ext cx="1051560" cy="105156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Light"/>
              </a:rPr>
              <a:t>4</a:t>
            </a:r>
            <a:endParaRPr sz="4000" b="0" i="0">
              <a:solidFill>
                <a:srgbClr val="FFFFFF"/>
              </a:solidFill>
              <a:latin typeface="Segoe U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1463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PRINCIPLE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728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Express Behavior,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Not Infrastructure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11226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NEXT QUESTION…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6974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If lambdas made algorithms easier…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32841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32841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can we also make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iterator pairs disappear?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56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57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TECHNIQUE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F3B63"/>
                </a:solidFill>
                <a:latin typeface="Segoe UI Semibold"/>
              </a:rPr>
              <a:t>Ranges</a:t>
            </a:r>
            <a:endParaRPr sz="46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8992" y="3977639"/>
            <a:ext cx="2194560" cy="6400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8"/>
          <p:cNvSpPr txBox="1"/>
          <p:nvPr/>
        </p:nvSpPr>
        <p:spPr>
          <a:xfrm>
            <a:off x="1066800" y="44196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 b="0" i="0" dirty="0">
                <a:solidFill>
                  <a:srgbClr val="5A6673"/>
                </a:solidFill>
                <a:latin typeface="Segoe UI Light"/>
              </a:rPr>
              <a:t>Composing Operations, Not Loops</a:t>
            </a:r>
            <a:endParaRPr sz="2400" b="0" i="0" dirty="0">
              <a:solidFill>
                <a:srgbClr val="5A6673"/>
              </a:solidFill>
              <a:latin typeface="Segoe UI Ligh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594360" y="1653588"/>
            <a:ext cx="6961794" cy="442492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1973628"/>
            <a:ext cx="5479285" cy="296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3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std::vector&lt;Employee&gt; </a:t>
            </a:r>
            <a:r>
              <a:rPr lang="en-US" sz="1850" spc="88" dirty="0" err="1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seniorEmployees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 rtl="1">
              <a:lnSpc>
                <a:spcPts val="2135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for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employee : employees)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147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147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 rtl="1">
              <a:lnSpc>
                <a:spcPts val="2135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</a:t>
            </a:r>
            <a:r>
              <a:rPr lang="en-US" sz="1850" spc="88" dirty="0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sort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823" y="3049953"/>
            <a:ext cx="4181704" cy="108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75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if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(employee.experience &gt; </a:t>
            </a:r>
            <a:r>
              <a:rPr lang="en-US" sz="1850" spc="88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10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75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 rtl="1">
              <a:lnSpc>
                <a:spcPts val="2175"/>
              </a:lnSpc>
            </a:pP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75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45246" y="3554778"/>
            <a:ext cx="5190868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seniorEmployees.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push_back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(employee);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4945428"/>
            <a:ext cx="144180" cy="81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45246" y="4626282"/>
            <a:ext cx="3460423" cy="81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 dirty="0" err="1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seniorEmployees.</a:t>
            </a:r>
            <a:r>
              <a:rPr lang="en-US" sz="1850" spc="88" dirty="0" err="1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begin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(), </a:t>
            </a:r>
            <a:r>
              <a:rPr lang="en-US" sz="1850" spc="88" dirty="0" err="1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seniorEmployees.</a:t>
            </a:r>
            <a:r>
              <a:rPr lang="en-US" sz="1850" spc="88" dirty="0" err="1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end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(), </a:t>
            </a:r>
            <a:r>
              <a:rPr lang="en-US" sz="1850" spc="88" dirty="0" err="1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CompareSalary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);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Before C++20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58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What Is The Intent?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59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Employees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10896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67462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674620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Filter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94360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67462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74620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Sort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877824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267462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674620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Result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594360" y="1882188"/>
            <a:ext cx="6950497" cy="3929623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2202228"/>
            <a:ext cx="1874510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result =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2507028"/>
            <a:ext cx="144180" cy="2984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3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9823" y="2507028"/>
            <a:ext cx="3027988" cy="55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employees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| std::views::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filter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45246" y="3049953"/>
            <a:ext cx="3460594" cy="108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[](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employee)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 rtl="1">
              <a:lnSpc>
                <a:spcPts val="2100"/>
              </a:lnSpc>
            </a:pP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610745" y="3554778"/>
            <a:ext cx="4614072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employee.experience &gt; </a:t>
            </a:r>
            <a:r>
              <a:rPr lang="en-US" sz="1850" spc="88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10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79823" y="4088178"/>
            <a:ext cx="3460633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| std::views::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transform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45246" y="4402503"/>
            <a:ext cx="3460594" cy="108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[](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employee)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 rtl="1">
              <a:lnSpc>
                <a:spcPts val="2100"/>
              </a:lnSpc>
            </a:pP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610745" y="4897803"/>
            <a:ext cx="3027883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employee.name;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C++20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60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A Pipeline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61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Source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542032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7791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1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Filter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809744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75504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Transform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7077456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Take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9345168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10928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48088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Output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Measuring The Cost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63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pic>
        <p:nvPicPr>
          <p:cNvPr id="28" name="Picture 27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64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00200"/>
            <a:ext cx="1051560" cy="105156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Light"/>
              </a:rPr>
              <a:t>5</a:t>
            </a:r>
            <a:endParaRPr sz="4000" b="0" i="0">
              <a:solidFill>
                <a:srgbClr val="FFFFFF"/>
              </a:solidFill>
              <a:latin typeface="Segoe U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1463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PRINCIPLE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728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Compose Operations,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Don’t Orchestrate Them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1952243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ONE PROBLEM REMAINS…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53746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1F3B63"/>
                </a:solidFill>
                <a:latin typeface="Segoe UI Light"/>
              </a:rPr>
              <a:t>Sometimes…</a:t>
            </a:r>
            <a:endParaRPr sz="3800" b="0" i="0">
              <a:solidFill>
                <a:srgbClr val="1F3B63"/>
              </a:solidFill>
              <a:latin typeface="Segoe UI Ligh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48843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48843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there simply isn’t a value.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65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66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TECHNIQUE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F3B63"/>
                </a:solidFill>
                <a:latin typeface="Segoe UI Semibold"/>
              </a:rPr>
              <a:t>std::optional</a:t>
            </a:r>
            <a:endParaRPr sz="46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8992" y="3977639"/>
            <a:ext cx="2194560" cy="6400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8"/>
          <p:cNvSpPr txBox="1"/>
          <p:nvPr/>
        </p:nvSpPr>
        <p:spPr>
          <a:xfrm>
            <a:off x="1051560" y="4322618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 b="0" i="0">
                <a:solidFill>
                  <a:srgbClr val="5A6673"/>
                </a:solidFill>
                <a:latin typeface="Segoe UI Light"/>
              </a:rPr>
              <a:t>Representing “No Value”</a:t>
            </a:r>
            <a:endParaRPr sz="2400" b="0" i="0">
              <a:solidFill>
                <a:srgbClr val="5A6673"/>
              </a:solidFill>
              <a:latin typeface="Segoe UI Ligh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594360" y="2196513"/>
            <a:ext cx="6684912" cy="3348599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2516553"/>
            <a:ext cx="4325703" cy="269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Employee* </a:t>
            </a:r>
            <a:r>
              <a:rPr lang="en-US" sz="1850" spc="88" dirty="0" err="1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FindEmployee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id) {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147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147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823" y="3059478"/>
            <a:ext cx="5479409" cy="54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for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employee : employees)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147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45341" y="3554778"/>
            <a:ext cx="3172092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if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(employee.id == id)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610745" y="3831003"/>
            <a:ext cx="2451154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&amp;employee;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79823" y="3935778"/>
            <a:ext cx="2163004" cy="102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275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nullptr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Before C++17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67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594360" y="2729913"/>
            <a:ext cx="4821717" cy="227227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3049953"/>
            <a:ext cx="4181637" cy="54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FindEmployeeIndex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id) {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823" y="3392853"/>
            <a:ext cx="1442085" cy="1013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...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20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-1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4126278"/>
            <a:ext cx="144180" cy="55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Another Common Pattern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68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1952243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WHAT IS THE INTENT?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53746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1F3B63"/>
                </a:solidFill>
                <a:latin typeface="Segoe UI Light"/>
              </a:rPr>
              <a:t>Either we have a value…</a:t>
            </a:r>
            <a:endParaRPr sz="3800" b="0" i="0">
              <a:solidFill>
                <a:srgbClr val="1F3B63"/>
              </a:solidFill>
              <a:latin typeface="Segoe UI Ligh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48843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48843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…or we don’t.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69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594360" y="2063163"/>
            <a:ext cx="6684912" cy="3615299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2383203"/>
            <a:ext cx="5943600" cy="2962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13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std::optional&lt;Employee&gt; </a:t>
            </a:r>
            <a:r>
              <a:rPr lang="en-US" sz="1850" spc="88" dirty="0" err="1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FindEmployee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id)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147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147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823" y="3192828"/>
            <a:ext cx="5479409" cy="54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for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employee : employees)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45341" y="3697653"/>
            <a:ext cx="3172092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if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(employee.id == id)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610745" y="3964353"/>
            <a:ext cx="2306965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employee;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79823" y="4069128"/>
            <a:ext cx="2883922" cy="102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275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std::</a:t>
            </a:r>
            <a:r>
              <a:rPr lang="en-US" sz="1850" spc="88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nullopt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C++17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70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94360" y="2529888"/>
            <a:ext cx="5398399" cy="2472299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2849928"/>
            <a:ext cx="4758319" cy="1832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5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employee = 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FindEmployee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(id); 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if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(employee)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92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462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947" y="4088178"/>
            <a:ext cx="2739552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Process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(*employee);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Usage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71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Behind The Language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72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263139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63139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Value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053839" y="277977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9600" y="2263139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263139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Consolas" panose="020B0609020204030204"/>
              </a:rPr>
              <a:t>std::optional&lt;T&gt;</a:t>
            </a:r>
            <a:endParaRPr sz="15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7833360" y="277977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9119" y="2263139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6279" y="2263139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Contains a value?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834640" y="3954780"/>
            <a:ext cx="3108960" cy="685800"/>
          </a:xfrm>
          <a:prstGeom prst="roundRect">
            <a:avLst>
              <a:gd name="adj" fmla="val 14000"/>
            </a:avLst>
          </a:prstGeom>
          <a:solidFill>
            <a:srgbClr val="EAF4EE"/>
          </a:solidFill>
          <a:ln w="12700">
            <a:solidFill>
              <a:srgbClr val="C2D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95478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2E7D46"/>
                </a:solidFill>
                <a:latin typeface="Segoe UI Semibold"/>
              </a:rPr>
              <a:t>Yes  →  holds T</a:t>
            </a:r>
            <a:endParaRPr sz="16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17920" y="3954780"/>
            <a:ext cx="3108960" cy="685800"/>
          </a:xfrm>
          <a:prstGeom prst="roundRect">
            <a:avLst>
              <a:gd name="adj" fmla="val 14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95478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5A6673"/>
                </a:solidFill>
                <a:latin typeface="Segoe UI Semibold"/>
              </a:rPr>
              <a:t>No  →  empty (nullopt)</a:t>
            </a:r>
            <a:endParaRPr sz="1600" b="1" i="0">
              <a:solidFill>
                <a:srgbClr val="5A6673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Measuring The Cost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73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555480" y="1929384"/>
            <a:ext cx="1691640" cy="457200"/>
          </a:xfrm>
          <a:prstGeom prst="roundRect">
            <a:avLst>
              <a:gd name="adj" fmla="val 22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 screenshot of a computer screen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74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00200"/>
            <a:ext cx="1051560" cy="105156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Light"/>
              </a:rPr>
              <a:t>6</a:t>
            </a:r>
            <a:endParaRPr sz="4000" b="0" i="0">
              <a:solidFill>
                <a:srgbClr val="FFFFFF"/>
              </a:solidFill>
              <a:latin typeface="Segoe U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1463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PRINCIPLE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728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Make Invalid States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Impossible to Ignore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11226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NEXT QUESTION…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6974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Sometimes…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32841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32841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a function can return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more than one valid type.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75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76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TECHNIQUE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F3B63"/>
                </a:solidFill>
                <a:latin typeface="Segoe UI Semibold"/>
              </a:rPr>
              <a:t>std::variant</a:t>
            </a:r>
            <a:endParaRPr sz="46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8992" y="3977639"/>
            <a:ext cx="2194560" cy="6400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A6673"/>
                </a:solidFill>
                <a:latin typeface="Segoe UI Light"/>
              </a:rPr>
              <a:t>Modeling Alternatives Explicitly</a:t>
            </a:r>
            <a:endParaRPr sz="2400" b="0" i="0">
              <a:solidFill>
                <a:srgbClr val="5A6673"/>
              </a:solidFill>
              <a:latin typeface="Segoe UI Light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94360" y="2596563"/>
            <a:ext cx="4810087" cy="253897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4497753"/>
            <a:ext cx="288369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2916603"/>
            <a:ext cx="1874453" cy="54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struct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Result 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9823" y="3459528"/>
            <a:ext cx="3604584" cy="108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bool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isError;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 rtl="1">
              <a:lnSpc>
                <a:spcPts val="2175"/>
              </a:lnSpc>
            </a:pP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 employee; std::string errorMessage;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3992928"/>
            <a:ext cx="144180" cy="55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Before C++17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77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594360" y="2463213"/>
            <a:ext cx="6263526" cy="280567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2783253"/>
            <a:ext cx="1586055" cy="822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class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Shape 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5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public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: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3592878"/>
            <a:ext cx="5623446" cy="1355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 rtl="1">
              <a:lnSpc>
                <a:spcPts val="2100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class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 dirty="0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Circle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: 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public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Shape { ... };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class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 dirty="0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Rectangle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: 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public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Shape { ... };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9947" y="3554778"/>
            <a:ext cx="3460966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virtual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void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Draw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 = </a:t>
            </a:r>
            <a:r>
              <a:rPr lang="en-US" sz="1850" spc="88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0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Another Common Design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78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What Is The Intent?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79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EAF4EE"/>
          </a:solidFill>
          <a:ln w="12700">
            <a:solidFill>
              <a:srgbClr val="C2D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18872" cy="31089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21991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E7D46"/>
                </a:solidFill>
                <a:latin typeface="Segoe UI Semibold"/>
              </a:rPr>
              <a:t>THE INTENT</a:t>
            </a:r>
            <a:endParaRPr sz="14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2834639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1" i="0">
                <a:solidFill>
                  <a:srgbClr val="22303C"/>
                </a:solidFill>
                <a:latin typeface="Segoe UI Semibold"/>
              </a:rPr>
              <a:t>One of several</a:t>
            </a:r>
            <a:endParaRPr sz="2400" b="1" i="0">
              <a:solidFill>
                <a:srgbClr val="22303C"/>
              </a:solidFill>
              <a:latin typeface="Segoe UI Semibold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400" b="1" i="0">
                <a:solidFill>
                  <a:srgbClr val="22303C"/>
                </a:solidFill>
                <a:latin typeface="Segoe UI Semibold"/>
              </a:rPr>
              <a:t>valid possibilities.</a:t>
            </a:r>
            <a:endParaRPr sz="24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257800" cy="31089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118872" cy="3108960"/>
          </a:xfrm>
          <a:prstGeom prst="rect">
            <a:avLst/>
          </a:prstGeom>
          <a:solidFill>
            <a:srgbClr val="8A97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21991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A97A5"/>
                </a:solidFill>
                <a:latin typeface="Segoe UI Semibold"/>
              </a:rPr>
              <a:t>NOT…</a:t>
            </a:r>
            <a:endParaRPr sz="1400" b="1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39"/>
            <a:ext cx="47548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200" b="0" i="0">
                <a:solidFill>
                  <a:srgbClr val="5A6673"/>
                </a:solidFill>
                <a:latin typeface="Segoe UI" panose="020B0502040204020203"/>
              </a:rPr>
              <a:t>flags,</a:t>
            </a:r>
            <a:endParaRPr sz="2200" b="0" i="0">
              <a:solidFill>
                <a:srgbClr val="5A6673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200" b="0" i="0">
                <a:solidFill>
                  <a:srgbClr val="5A6673"/>
                </a:solidFill>
                <a:latin typeface="Segoe UI" panose="020B0502040204020203"/>
              </a:rPr>
              <a:t>magic values,</a:t>
            </a:r>
            <a:endParaRPr sz="2200" b="0" i="0">
              <a:solidFill>
                <a:srgbClr val="5A6673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2200" b="0" i="0">
                <a:solidFill>
                  <a:srgbClr val="5A6673"/>
                </a:solidFill>
                <a:latin typeface="Segoe UI" panose="020B0502040204020203"/>
              </a:rPr>
              <a:t>or unnecessary polymorphism.</a:t>
            </a:r>
            <a:endParaRPr sz="2200" b="0" i="0">
              <a:solidFill>
                <a:srgbClr val="5A6673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94360" y="2968038"/>
            <a:ext cx="6416040" cy="1767449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3288078"/>
            <a:ext cx="2018567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using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Result =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3554778"/>
            <a:ext cx="144180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789162" y="3288078"/>
            <a:ext cx="4325503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std::variant&lt;Employee, Error&gt;;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4097703"/>
            <a:ext cx="4037514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Result </a:t>
            </a:r>
            <a:r>
              <a:rPr lang="en-US" sz="1850" spc="88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FindEmployee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id);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C++17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80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94360" y="2691813"/>
            <a:ext cx="4233577" cy="231037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3011853"/>
            <a:ext cx="1586027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visit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3316653"/>
            <a:ext cx="144180" cy="1365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4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45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4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4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4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9823" y="3316653"/>
            <a:ext cx="3028074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[](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value)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75"/>
              </a:lnSpc>
            </a:pPr>
            <a:r>
              <a:rPr lang="en-US" sz="1850" spc="147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 rtl="1">
              <a:lnSpc>
                <a:spcPts val="2175"/>
              </a:lnSpc>
            </a:pPr>
            <a:endParaRPr lang="en-US" sz="1850" spc="147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7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},result);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45341" y="3821478"/>
            <a:ext cx="2018605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Handle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(value);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Handling The Result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81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Behind The Language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82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Alternatives  A / B / C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053839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9600" y="2674620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674620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Consolas" panose="020B0609020204030204"/>
              </a:rPr>
              <a:t>std::variant</a:t>
            </a:r>
            <a:endParaRPr sz="1500" b="1" i="0">
              <a:solidFill>
                <a:srgbClr val="1F3B63"/>
              </a:solidFill>
              <a:latin typeface="Consolas" panose="020B0609020204030204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783336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9119" y="2674620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6279" y="2674620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Exactly one active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Measuring The Cost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83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pic>
        <p:nvPicPr>
          <p:cNvPr id="47" name="Picture 46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84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00200"/>
            <a:ext cx="1051560" cy="105156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Light"/>
              </a:rPr>
              <a:t>7</a:t>
            </a:r>
            <a:endParaRPr sz="4000" b="0" i="0">
              <a:solidFill>
                <a:srgbClr val="FFFFFF"/>
              </a:solidFill>
              <a:latin typeface="Segoe U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1463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PRINCIPLE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728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Model States in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the Type System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42773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NEXT QUESTION…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51560" y="3012948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4168" y="3012948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We’re still unpacking objects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one member at a time…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85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86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TECHNIQUE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F3B63"/>
                </a:solidFill>
                <a:latin typeface="Segoe UI Semibold"/>
              </a:rPr>
              <a:t>Structured Bindings</a:t>
            </a:r>
            <a:endParaRPr sz="46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8992" y="3977639"/>
            <a:ext cx="2194560" cy="6400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8"/>
          <p:cNvSpPr txBox="1"/>
          <p:nvPr/>
        </p:nvSpPr>
        <p:spPr>
          <a:xfrm>
            <a:off x="1078992" y="425653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400" b="0" i="0">
                <a:solidFill>
                  <a:srgbClr val="5A6673"/>
                </a:solidFill>
                <a:latin typeface="Segoe UI Light"/>
              </a:rPr>
              <a:t>Unpacking Objects Naturally</a:t>
            </a:r>
            <a:endParaRPr sz="2400" b="0" i="0">
              <a:solidFill>
                <a:srgbClr val="5A6673"/>
              </a:solidFill>
              <a:latin typeface="Segoe UI Ligh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594360" y="3006138"/>
            <a:ext cx="8281987" cy="1729349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3326178"/>
            <a:ext cx="7641907" cy="108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std::pair&lt;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, std::string&gt; employee = 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GetEmployee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 rtl="1">
              <a:lnSpc>
                <a:spcPts val="2100"/>
              </a:lnSpc>
            </a:pP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id = employee.first;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std::string name = employee.second;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Before C++17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87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What Is The Intent?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88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Employee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94360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67462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67462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{ id, name }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594360" y="3368088"/>
            <a:ext cx="5254238" cy="95782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3688128"/>
            <a:ext cx="4614158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[id, name] = 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GetEmployee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C++17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89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94360" y="3006138"/>
            <a:ext cx="6984463" cy="1729349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3326178"/>
            <a:ext cx="6344383" cy="108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for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[id, employee] : employees)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 rtl="1">
              <a:lnSpc>
                <a:spcPts val="2100"/>
              </a:lnSpc>
            </a:pP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947" y="3831003"/>
            <a:ext cx="2595362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Process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(employee);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Another Example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90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Behind The Language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91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pair / tuple / struct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053839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9600" y="2674620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674620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Structured Binding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783336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9119" y="2674620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6279" y="2674620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Individual Variables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Measuring The Cost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92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pic>
        <p:nvPicPr>
          <p:cNvPr id="54" name="Picture 53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93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00200"/>
            <a:ext cx="1051560" cy="105156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Light"/>
              </a:rPr>
              <a:t>8</a:t>
            </a:r>
            <a:endParaRPr sz="4000" b="0" i="0">
              <a:solidFill>
                <a:srgbClr val="FFFFFF"/>
              </a:solidFill>
              <a:latin typeface="Segoe U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1463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PRINCIPLE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728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Name Concepts,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Not Storage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42773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NEXT QUESTION…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51560" y="3012948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4168" y="3012948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We’re still making decisions…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at runtime.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94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95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TECHNIQUE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F3B63"/>
                </a:solidFill>
                <a:latin typeface="Segoe UI Semibold"/>
              </a:rPr>
              <a:t>RAII</a:t>
            </a:r>
            <a:endParaRPr sz="46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8992" y="3977639"/>
            <a:ext cx="2194560" cy="6400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19100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A6673"/>
                </a:solidFill>
                <a:latin typeface="Segoe UI Light"/>
              </a:rPr>
              <a:t>Resource Lifetime Is Not Business Logic</a:t>
            </a:r>
            <a:endParaRPr sz="2400" b="0" i="0">
              <a:solidFill>
                <a:srgbClr val="5A6673"/>
              </a:solidFill>
              <a:latin typeface="Segoe UI Light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94360" y="1996488"/>
            <a:ext cx="6551905" cy="354862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2316528"/>
            <a:ext cx="5911825" cy="2796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7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FILE* file = </a:t>
            </a:r>
            <a:r>
              <a:rPr lang="en-US" sz="1850" spc="88" dirty="0" err="1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fopen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r>
              <a:rPr lang="en-US" sz="1850" spc="88" dirty="0">
                <a:solidFill>
                  <a:srgbClr val="0A3069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"employees.txt"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, </a:t>
            </a:r>
            <a:r>
              <a:rPr lang="en-US" sz="1850" spc="88" dirty="0">
                <a:solidFill>
                  <a:srgbClr val="0A3069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"r"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);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4275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if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(file == </a:t>
            </a:r>
            <a:r>
              <a:rPr lang="en-US" sz="1850" spc="88" dirty="0" err="1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nullptr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)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92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462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3780"/>
              </a:lnSpc>
            </a:pPr>
            <a:r>
              <a:rPr lang="en-US" sz="1850" spc="88" dirty="0" err="1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ReadEmployees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(file);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4620"/>
              </a:lnSpc>
            </a:pPr>
            <a:r>
              <a:rPr lang="en-US" sz="1850" spc="88" dirty="0" err="1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fclose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(file);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947" y="3554778"/>
            <a:ext cx="1009317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Before RAII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96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The Real Problem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97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Acquire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053839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9600" y="2674620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2674620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Use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783336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99119" y="2674620"/>
            <a:ext cx="3322320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6279" y="2674620"/>
            <a:ext cx="304800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Release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A6673"/>
                </a:solidFill>
                <a:latin typeface="Segoe UI" panose="020B0502040204020203"/>
              </a:rPr>
              <a:t>The programmer must remember to release.</a:t>
            </a:r>
            <a:endParaRPr sz="1600" b="0" i="1">
              <a:solidFill>
                <a:srgbClr val="5A6673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594360" y="2939463"/>
            <a:ext cx="5831014" cy="166267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3259503"/>
            <a:ext cx="5190934" cy="102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std::ifstream </a:t>
            </a:r>
            <a:r>
              <a:rPr lang="en-US" sz="1850" spc="88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file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r>
              <a:rPr lang="en-US" sz="1850" spc="88">
                <a:solidFill>
                  <a:srgbClr val="0A3069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"employees.txt"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); 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ReadEmployees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(file);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Modern C++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98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Behind The Language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99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Object Created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542032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7791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1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Constructor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809744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75504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Resource Acquired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7077456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Destructor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9345168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10928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48088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Resource Released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Measuring The Cost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100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pic>
        <p:nvPicPr>
          <p:cNvPr id="29" name="Picture 28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101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00200"/>
            <a:ext cx="1051560" cy="105156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Light"/>
              </a:rPr>
              <a:t>9</a:t>
            </a:r>
            <a:endParaRPr sz="4000" b="0" i="0">
              <a:solidFill>
                <a:srgbClr val="FFFFFF"/>
              </a:solidFill>
              <a:latin typeface="Segoe U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1463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PRINCIPLE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728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Tie Resource Lifetime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to Object Lifetime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186080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ONE MORE OBSERVATION…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4460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We’ve moved types, loops, algorithms,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resources… to compile time.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57987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57987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Can we move computation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there too?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102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103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TECHNIQUE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F3B63"/>
                </a:solidFill>
                <a:latin typeface="Segoe UI Semibold"/>
              </a:rPr>
              <a:t>constexpr</a:t>
            </a:r>
            <a:endParaRPr sz="46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8992" y="3977639"/>
            <a:ext cx="2194560" cy="6400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A6673"/>
                </a:solidFill>
                <a:latin typeface="Segoe UI Light"/>
              </a:rPr>
              <a:t>Moving Computation To Compile Time</a:t>
            </a:r>
            <a:endParaRPr sz="2400" b="0" i="0">
              <a:solidFill>
                <a:srgbClr val="5A6673"/>
              </a:solidFill>
              <a:latin typeface="Segoe UI Ligh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94360" y="2729913"/>
            <a:ext cx="7405650" cy="227227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3049953"/>
            <a:ext cx="4614005" cy="1562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double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 dirty="0" err="1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CircleArea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double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radius)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462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3930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double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area = </a:t>
            </a:r>
            <a:r>
              <a:rPr lang="en-US" sz="1850" spc="88" dirty="0" err="1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CircleArea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r>
              <a:rPr lang="en-US" sz="1850" spc="88" dirty="0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10.0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);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947" y="3554778"/>
            <a:ext cx="6200023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3.141592653589793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* radius * radius;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Before C++11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104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What Is The Intent?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105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Known Input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594360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674620"/>
            <a:ext cx="5212080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674620"/>
            <a:ext cx="49377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Known Result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94360" y="2729913"/>
            <a:ext cx="7405650" cy="2272274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3049953"/>
            <a:ext cx="6056005" cy="1562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850" spc="88" dirty="0" err="1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constexpr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double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 dirty="0" err="1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CircleArea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double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radius) 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462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3930"/>
              </a:lnSpc>
            </a:pPr>
            <a:r>
              <a:rPr lang="en-US" sz="1850" spc="88" dirty="0" err="1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constexpr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area = </a:t>
            </a:r>
            <a:r>
              <a:rPr lang="en-US" sz="1850" spc="88" dirty="0" err="1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CircleArea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r>
              <a:rPr lang="en-US" sz="1850" spc="88" dirty="0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10.0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);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79947" y="3554778"/>
            <a:ext cx="6200023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3.141592653589793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* radius * radius;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Modern C++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106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Behind The Language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107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Known Inputs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10896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267462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674620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constexpr Function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94360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67462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74620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Compiler Evaluation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8778240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0" y="2674620"/>
            <a:ext cx="2377440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674620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Constant Value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Measuring The Cost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108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pic>
        <p:nvPicPr>
          <p:cNvPr id="31" name="Picture 30" descr="A screenshot of a computer program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109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00200"/>
            <a:ext cx="1051560" cy="105156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Light"/>
              </a:rPr>
              <a:t>10</a:t>
            </a:r>
            <a:endParaRPr sz="4000" b="0" i="0">
              <a:solidFill>
                <a:srgbClr val="FFFFFF"/>
              </a:solidFill>
              <a:latin typeface="Segoe U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1463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PRINCIPLE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728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Perform Work as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Early as Possible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112264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WE’VE COME FULL CIRCLE…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6974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22303C"/>
                </a:solidFill>
                <a:latin typeface="Segoe UI" panose="020B0502040204020203"/>
              </a:rPr>
              <a:t>From types… to computation…</a:t>
            </a:r>
            <a:endParaRPr sz="24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32841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32841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the compiler has gradually taken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over repetitive work.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110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111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TECHNIQUE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10241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1F3B63"/>
                </a:solidFill>
                <a:latin typeface="Segoe UI Semibold"/>
              </a:rPr>
              <a:t>Putting It All Together</a:t>
            </a:r>
            <a:endParaRPr sz="46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8992" y="3977639"/>
            <a:ext cx="2194560" cy="6400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20624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A6673"/>
                </a:solidFill>
                <a:latin typeface="Segoe UI Light"/>
              </a:rPr>
              <a:t>Refactoring Legacy C++</a:t>
            </a:r>
            <a:endParaRPr sz="2400" b="0" i="0">
              <a:solidFill>
                <a:srgbClr val="5A6673"/>
              </a:solidFill>
              <a:latin typeface="Segoe UI Light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594246" y="1417320"/>
            <a:ext cx="9856851" cy="48920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1725978"/>
            <a:ext cx="4902346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Employee* </a:t>
            </a:r>
            <a:r>
              <a:rPr lang="en-US" sz="1850" spc="88" dirty="0" err="1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FindHighestPaidEmployee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2030778"/>
            <a:ext cx="144180" cy="55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49639" y="1757649"/>
            <a:ext cx="8651234" cy="1565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std::vector&lt;Employee&gt;&amp; employees)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275"/>
              </a:lnSpc>
            </a:pP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Employee* result = </a:t>
            </a:r>
            <a:r>
              <a:rPr lang="en-US" sz="1850" spc="88" dirty="0" err="1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nullptr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275"/>
              </a:lnSpc>
            </a:pPr>
            <a:r>
              <a:rPr lang="en-US" sz="1850" spc="88" dirty="0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for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(std::vector&lt;Employee&gt;::iterator it = employees.</a:t>
            </a:r>
            <a:r>
              <a:rPr lang="en-US" sz="1850" spc="88" dirty="0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begin</a:t>
            </a:r>
            <a:r>
              <a:rPr lang="en-US" sz="1850" spc="88" dirty="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();</a:t>
            </a:r>
            <a:endParaRPr lang="en-US" sz="1850" spc="88" dirty="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286" y="3116628"/>
            <a:ext cx="144294" cy="3519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3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0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0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0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30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475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475"/>
              </a:lnSpc>
            </a:pPr>
            <a:r>
              <a:rPr lang="en-US" sz="1850">
                <a:solidFill>
                  <a:srgbClr val="666666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186607" y="3383328"/>
            <a:ext cx="3172149" cy="54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it != 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end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(); ++it)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79823" y="3888153"/>
            <a:ext cx="144180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45246" y="4192953"/>
            <a:ext cx="3460604" cy="54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if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(it-&gt;salary &gt; </a:t>
            </a:r>
            <a:r>
              <a:rPr lang="en-US" sz="1850" spc="88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100000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610679" y="4735878"/>
            <a:ext cx="2306936" cy="54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result = &amp;(*it); 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break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045246" y="5231178"/>
            <a:ext cx="144180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79823" y="5345478"/>
            <a:ext cx="2018728" cy="102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4275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result;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84146" y="6364519"/>
            <a:ext cx="48578" cy="24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350">
                <a:solidFill>
                  <a:srgbClr val="666666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</a:t>
            </a:r>
            <a:endParaRPr lang="en-US" sz="1350">
              <a:solidFill>
                <a:srgbClr val="666666"/>
              </a:solidFill>
              <a:latin typeface="Arimo" panose="020B0604020202020204"/>
              <a:ea typeface="Arimo" panose="020B0604020202020204"/>
              <a:cs typeface="Arimo" panose="020B0604020202020204"/>
              <a:sym typeface="Arimo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Legacy C++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112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1952243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WHAT DO WE REALLY WANT?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1560" y="253746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1F3B63"/>
                </a:solidFill>
                <a:latin typeface="Segoe UI Light"/>
              </a:rPr>
              <a:t>Find the first employee</a:t>
            </a:r>
            <a:endParaRPr sz="3800" b="0" i="0">
              <a:solidFill>
                <a:srgbClr val="1F3B63"/>
              </a:solidFill>
              <a:latin typeface="Segoe UI Ligh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51560" y="3488436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44168" y="3488436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earning more than 100,000.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113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594360" y="1444038"/>
            <a:ext cx="6950497" cy="4865322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1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6"/>
          <p:cNvSpPr txBox="1"/>
          <p:nvPr/>
        </p:nvSpPr>
        <p:spPr>
          <a:xfrm>
            <a:off x="914400" y="1764078"/>
            <a:ext cx="3460509" cy="54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std::optional&lt;Employee&gt; </a:t>
            </a:r>
            <a:r>
              <a:rPr lang="en-US" sz="1850" spc="88">
                <a:solidFill>
                  <a:srgbClr val="6639BA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FindHighestPaidEmployee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2307003"/>
            <a:ext cx="144180" cy="378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just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9947" y="2106978"/>
            <a:ext cx="5623150" cy="1013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std::vector&lt;Employee&gt;&amp; employees) 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it = std::ranges::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find_if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45246" y="3116628"/>
            <a:ext cx="3460594" cy="1355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employees,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[](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const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auto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&amp; employee)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147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{</a:t>
            </a: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 rtl="1">
              <a:lnSpc>
                <a:spcPts val="2100"/>
              </a:lnSpc>
            </a:pPr>
            <a:endParaRPr lang="en-US" sz="1850" spc="147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2100"/>
              </a:lnSpc>
            </a:pP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});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610745" y="3888153"/>
            <a:ext cx="4614072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employee.salary &gt; </a:t>
            </a:r>
            <a:r>
              <a:rPr lang="en-US" sz="1850" spc="88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100000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79947" y="4697778"/>
            <a:ext cx="3749030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if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(it == employees.</a:t>
            </a:r>
            <a:r>
              <a:rPr lang="en-US" sz="1850" spc="88">
                <a:solidFill>
                  <a:srgbClr val="9538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end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())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045341" y="4964478"/>
            <a:ext cx="2883799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std::</a:t>
            </a:r>
            <a:r>
              <a:rPr lang="en-US" sz="1850" spc="88">
                <a:solidFill>
                  <a:srgbClr val="0550A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nullopt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79947" y="5507403"/>
            <a:ext cx="1586055" cy="3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850" spc="88">
                <a:solidFill>
                  <a:srgbClr val="CF222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return</a:t>
            </a:r>
            <a:r>
              <a:rPr lang="en-US" sz="1850" spc="88">
                <a:solidFill>
                  <a:srgbClr val="1F2328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*it;</a:t>
            </a:r>
            <a:endParaRPr lang="en-US" sz="1850" spc="88">
              <a:solidFill>
                <a:srgbClr val="1F2328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Modern C++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114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What Changed?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115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57800" cy="3383280"/>
          </a:xfrm>
          <a:prstGeom prst="roundRect">
            <a:avLst>
              <a:gd name="adj" fmla="val 4500"/>
            </a:avLst>
          </a:prstGeom>
          <a:solidFill>
            <a:srgbClr val="FBECEA"/>
          </a:solidFill>
          <a:ln w="12700">
            <a:solidFill>
              <a:srgbClr val="E9C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39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B03A2E"/>
                </a:solidFill>
                <a:latin typeface="Segoe UI Semibold"/>
              </a:rPr>
              <a:t>BEFORE</a:t>
            </a:r>
            <a:endParaRPr sz="1700" b="1" i="0">
              <a:solidFill>
                <a:srgbClr val="B03A2E"/>
              </a:solidFill>
              <a:latin typeface="Segoe UI Semi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60120" y="2715768"/>
            <a:ext cx="4480560" cy="27432"/>
          </a:xfrm>
          <a:prstGeom prst="rect">
            <a:avLst/>
          </a:prstGeom>
          <a:solidFill>
            <a:srgbClr val="E9C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26079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B03A2E"/>
                </a:solidFill>
                <a:latin typeface="Segoe UI Semibold"/>
              </a:rPr>
              <a:t>×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Explicit iterator type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B03A2E"/>
                </a:solidFill>
                <a:latin typeface="Segoe UI Semibold"/>
              </a:rPr>
              <a:t>×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Manual loop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B03A2E"/>
                </a:solidFill>
                <a:latin typeface="Segoe UI Semibold"/>
              </a:rPr>
              <a:t>×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Function object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B03A2E"/>
                </a:solidFill>
                <a:latin typeface="Segoe UI Semibold"/>
              </a:rPr>
              <a:t>×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nullptr sentinel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57800" cy="3383280"/>
          </a:xfrm>
          <a:prstGeom prst="roundRect">
            <a:avLst>
              <a:gd name="adj" fmla="val 4500"/>
            </a:avLst>
          </a:prstGeom>
          <a:solidFill>
            <a:srgbClr val="EAF4EE"/>
          </a:solidFill>
          <a:ln w="12700">
            <a:solidFill>
              <a:srgbClr val="C2D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39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E7D46"/>
                </a:solidFill>
                <a:latin typeface="Segoe UI Semibold"/>
              </a:rPr>
              <a:t>AFTER</a:t>
            </a:r>
            <a:endParaRPr sz="17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83680" y="2715768"/>
            <a:ext cx="4480560" cy="27432"/>
          </a:xfrm>
          <a:prstGeom prst="rect">
            <a:avLst/>
          </a:prstGeom>
          <a:solidFill>
            <a:srgbClr val="C2DF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79"/>
            <a:ext cx="46634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2E7D46"/>
                </a:solidFill>
                <a:latin typeface="Segoe UI Semibold"/>
              </a:rPr>
              <a:t>✓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auto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2E7D46"/>
                </a:solidFill>
                <a:latin typeface="Segoe UI Semibold"/>
              </a:rPr>
              <a:t>✓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std::ranges::find_if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2E7D46"/>
                </a:solidFill>
                <a:latin typeface="Segoe UI Semibold"/>
              </a:rPr>
              <a:t>✓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Lambda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2E7D46"/>
                </a:solidFill>
                <a:latin typeface="Segoe UI Semibold"/>
              </a:rPr>
              <a:t>✓  </a:t>
            </a:r>
            <a:r>
              <a:rPr sz="2000" b="0" i="0">
                <a:solidFill>
                  <a:srgbClr val="22303C"/>
                </a:solidFill>
                <a:latin typeface="Segoe UI" panose="020B0502040204020203"/>
              </a:rPr>
              <a:t>std::optional</a:t>
            </a:r>
            <a:endParaRPr sz="2000" b="0" i="0">
              <a:solidFill>
                <a:srgbClr val="22303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Boilerplate Reduction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116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9867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8A97A5"/>
                </a:solidFill>
                <a:latin typeface="Segoe UI Semibold"/>
              </a:rPr>
              <a:t>METRIC</a:t>
            </a:r>
            <a:endParaRPr sz="1400" b="1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66944" y="1828800"/>
            <a:ext cx="28986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E558C"/>
                </a:solidFill>
                <a:latin typeface="Segoe UI Semibold"/>
              </a:rPr>
              <a:t>BEFORE</a:t>
            </a:r>
            <a:endParaRPr sz="14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31352" y="1828800"/>
            <a:ext cx="28986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E558C"/>
                </a:solidFill>
                <a:latin typeface="Segoe UI Semibold"/>
              </a:rPr>
              <a:t>AFTER</a:t>
            </a:r>
            <a:endParaRPr sz="14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0881360" cy="603504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398678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F3B63"/>
                </a:solidFill>
                <a:latin typeface="Segoe UI Semibold"/>
              </a:rPr>
              <a:t>Lines of Code</a:t>
            </a:r>
            <a:endParaRPr sz="18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266944" y="2331720"/>
            <a:ext cx="2898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303C"/>
                </a:solidFill>
                <a:latin typeface="Segoe UI" panose="020B0502040204020203"/>
              </a:rPr>
              <a:t>—</a:t>
            </a:r>
            <a:endParaRPr sz="18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31352" y="2331720"/>
            <a:ext cx="2898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303C"/>
                </a:solidFill>
                <a:latin typeface="Segoe UI" panose="020B0502040204020203"/>
              </a:rPr>
              <a:t>—</a:t>
            </a:r>
            <a:endParaRPr sz="18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044952"/>
            <a:ext cx="10881360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44952"/>
            <a:ext cx="398678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F3B63"/>
                </a:solidFill>
                <a:latin typeface="Segoe UI Semibold"/>
              </a:rPr>
              <a:t>Explicit Types</a:t>
            </a:r>
            <a:endParaRPr sz="18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66944" y="3044952"/>
            <a:ext cx="2898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303C"/>
                </a:solidFill>
                <a:latin typeface="Segoe UI" panose="020B0502040204020203"/>
              </a:rPr>
              <a:t>—</a:t>
            </a:r>
            <a:endParaRPr sz="18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31352" y="3044952"/>
            <a:ext cx="2898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303C"/>
                </a:solidFill>
                <a:latin typeface="Segoe UI" panose="020B0502040204020203"/>
              </a:rPr>
              <a:t>—</a:t>
            </a:r>
            <a:endParaRPr sz="18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758184"/>
            <a:ext cx="10881360" cy="603504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58184"/>
            <a:ext cx="398678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F3B63"/>
                </a:solidFill>
                <a:latin typeface="Segoe UI Semibold"/>
              </a:rPr>
              <a:t>Manual Control Flow</a:t>
            </a:r>
            <a:endParaRPr sz="18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66944" y="3758184"/>
            <a:ext cx="2898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303C"/>
                </a:solidFill>
                <a:latin typeface="Segoe UI" panose="020B0502040204020203"/>
              </a:rPr>
              <a:t>—</a:t>
            </a:r>
            <a:endParaRPr sz="18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31352" y="3758184"/>
            <a:ext cx="2898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303C"/>
                </a:solidFill>
                <a:latin typeface="Segoe UI" panose="020B0502040204020203"/>
              </a:rPr>
              <a:t>—</a:t>
            </a:r>
            <a:endParaRPr sz="18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" y="4471416"/>
            <a:ext cx="10881360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71416"/>
            <a:ext cx="398678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F3B63"/>
                </a:solidFill>
                <a:latin typeface="Segoe UI Semibold"/>
              </a:rPr>
              <a:t>Resource Management</a:t>
            </a:r>
            <a:endParaRPr sz="18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66944" y="4471416"/>
            <a:ext cx="2898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303C"/>
                </a:solidFill>
                <a:latin typeface="Segoe UI" panose="020B0502040204020203"/>
              </a:rPr>
              <a:t>—</a:t>
            </a:r>
            <a:endParaRPr sz="18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31352" y="4471416"/>
            <a:ext cx="2898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303C"/>
                </a:solidFill>
                <a:latin typeface="Segoe UI" panose="020B0502040204020203"/>
              </a:rPr>
              <a:t>—</a:t>
            </a:r>
            <a:endParaRPr sz="1800" b="0" i="0">
              <a:solidFill>
                <a:srgbClr val="22303C"/>
              </a:solidFill>
              <a:latin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" y="5202936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8A97A5"/>
                </a:solidFill>
                <a:latin typeface="Segoe UI" panose="020B0502040204020203"/>
              </a:rPr>
              <a:t>Populate with real measurements later.</a:t>
            </a:r>
            <a:endParaRPr sz="1400" b="0" i="1">
              <a:solidFill>
                <a:srgbClr val="8A97A5"/>
              </a:solidFill>
              <a:latin typeface="Segoe UI" panose="020B0502040204020203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Engineering Principles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118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502919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91440" cy="502919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851660"/>
            <a:ext cx="457200" cy="4572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  <a:endParaRPr sz="1800" b="1" i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4206240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Eliminate Redundant Information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502919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91440" cy="502919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851660"/>
            <a:ext cx="457200" cy="4572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  <a:endParaRPr sz="1800" b="1" i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1828800"/>
            <a:ext cx="4206240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Express Intent, Not Mechanics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2587752"/>
            <a:ext cx="5303520" cy="502919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87752"/>
            <a:ext cx="91440" cy="502919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2610612"/>
            <a:ext cx="457200" cy="4572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  <a:endParaRPr sz="1800" b="1" i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54480" y="2587752"/>
            <a:ext cx="4206240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Standardize Common Patterns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2587752"/>
            <a:ext cx="5303520" cy="502919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587752"/>
            <a:ext cx="91440" cy="502919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2610612"/>
            <a:ext cx="457200" cy="4572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4</a:t>
            </a:r>
            <a:endParaRPr sz="1800" b="1" i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0" y="2587752"/>
            <a:ext cx="4206240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Express Behavior, Not Infrastructure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3346704"/>
            <a:ext cx="5303520" cy="502919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346704"/>
            <a:ext cx="91440" cy="502919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3369564"/>
            <a:ext cx="457200" cy="4572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5</a:t>
            </a:r>
            <a:endParaRPr sz="1800" b="1" i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54480" y="3346704"/>
            <a:ext cx="4206240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Compose Operations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17920" y="3346704"/>
            <a:ext cx="5303520" cy="502919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346704"/>
            <a:ext cx="91440" cy="502919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73952" y="3369564"/>
            <a:ext cx="457200" cy="4572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6</a:t>
            </a:r>
            <a:endParaRPr sz="1800" b="1" i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32320" y="3346704"/>
            <a:ext cx="4206240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Make Invalid States Impossible to Ignore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4105656"/>
            <a:ext cx="5303520" cy="502919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105656"/>
            <a:ext cx="91440" cy="502919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6112" y="4128516"/>
            <a:ext cx="457200" cy="4572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7</a:t>
            </a:r>
            <a:endParaRPr sz="1800" b="1" i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554480" y="4105656"/>
            <a:ext cx="4206240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Model States in the Type System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217920" y="4105656"/>
            <a:ext cx="5303520" cy="502919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105656"/>
            <a:ext cx="91440" cy="502919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73952" y="4128516"/>
            <a:ext cx="457200" cy="4572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8</a:t>
            </a:r>
            <a:endParaRPr sz="1800" b="1" i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32320" y="4105656"/>
            <a:ext cx="4206240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Name Concepts, Not Storage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40080" y="4864608"/>
            <a:ext cx="5303520" cy="502919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4864608"/>
            <a:ext cx="91440" cy="502919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96112" y="4887468"/>
            <a:ext cx="457200" cy="4572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 Semibold"/>
              </a:rPr>
              <a:t>9</a:t>
            </a:r>
            <a:endParaRPr sz="1800" b="1" i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554480" y="4864608"/>
            <a:ext cx="4206240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Tie Resource Lifetime to Object Lifetime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17920" y="4864608"/>
            <a:ext cx="5303520" cy="502919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4864608"/>
            <a:ext cx="91440" cy="502919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73952" y="4841749"/>
            <a:ext cx="612648" cy="502919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 dirty="0">
                <a:solidFill>
                  <a:srgbClr val="FFFFFF"/>
                </a:solidFill>
                <a:latin typeface="Segoe UI Semibold"/>
              </a:rPr>
              <a:t>10</a:t>
            </a:r>
            <a:endParaRPr sz="1800" b="1" i="0" dirty="0">
              <a:solidFill>
                <a:srgbClr val="FFFFFF"/>
              </a:solidFill>
              <a:latin typeface="Segoe UI Semibold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32320" y="4864608"/>
            <a:ext cx="4206240" cy="5029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Perform Work As Early As Possible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42773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ONE QUESTION REMAINS…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51560" y="3012948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4168" y="3012948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How were all these results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measured consistently?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119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427732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BEHIND THE NUMBERS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51560" y="3012948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4168" y="3012948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How were these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measurements collected?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120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Every Benchmark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121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Source Code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542032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7791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1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Build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809744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75504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Execute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7077456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Collect Results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9345168" y="3191256"/>
            <a:ext cx="274320" cy="201168"/>
          </a:xfrm>
          <a:prstGeom prst="right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10928" y="2674620"/>
            <a:ext cx="1810512" cy="123444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48088" y="2674620"/>
            <a:ext cx="153619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Compare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CompBenchmark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122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A6673"/>
                </a:solidFill>
                <a:latin typeface="Segoe UI Light"/>
              </a:rPr>
              <a:t>Lightweight Benchmarking Framework</a:t>
            </a:r>
            <a:endParaRPr sz="2400" b="0" i="0">
              <a:solidFill>
                <a:srgbClr val="5A6673"/>
              </a:solidFill>
              <a:latin typeface="Segoe UI Ligh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3413760" cy="13716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3413760" cy="10972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295656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F3B63"/>
                </a:solidFill>
                <a:latin typeface="Segoe UI Semibold"/>
              </a:rPr>
              <a:t>Runtime Benchmarks</a:t>
            </a:r>
            <a:endParaRPr sz="2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3880" y="2651760"/>
            <a:ext cx="3413760" cy="13716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3880" y="2651760"/>
            <a:ext cx="3413760" cy="10972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480" y="2651760"/>
            <a:ext cx="295656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F3B63"/>
                </a:solidFill>
                <a:latin typeface="Segoe UI Semibold"/>
              </a:rPr>
              <a:t>Generated Assembly</a:t>
            </a:r>
            <a:endParaRPr sz="2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07680" y="2651760"/>
            <a:ext cx="3413760" cy="13716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7680" y="2651760"/>
            <a:ext cx="3413760" cy="109728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6280" y="2651760"/>
            <a:ext cx="295656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F3B63"/>
                </a:solidFill>
                <a:latin typeface="Segoe UI Semibold"/>
              </a:rPr>
              <a:t>Binary Size</a:t>
            </a:r>
            <a:endParaRPr sz="2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2E558C"/>
                </a:solidFill>
                <a:latin typeface="Segoe UI Semibold"/>
              </a:rPr>
              <a:t>GCC   ·   Clang   </a:t>
            </a:r>
            <a:endParaRPr sz="2000" b="1" i="0" dirty="0">
              <a:solidFill>
                <a:srgbClr val="2E558C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Why I Built It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123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914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46"/>
                </a:solidFill>
                <a:latin typeface="Segoe UI Semibold"/>
              </a:rPr>
              <a:t>✓</a:t>
            </a:r>
            <a:endParaRPr sz="20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9888" y="1828800"/>
            <a:ext cx="43708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Repeatable measurements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914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46"/>
                </a:solidFill>
                <a:latin typeface="Segoe UI Semibold"/>
              </a:rPr>
              <a:t>✓</a:t>
            </a:r>
            <a:endParaRPr sz="20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67728" y="1828800"/>
            <a:ext cx="4370831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Cross-compiler comparisons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136391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136391"/>
            <a:ext cx="914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46"/>
                </a:solidFill>
                <a:latin typeface="Segoe UI Semibold"/>
              </a:rPr>
              <a:t>✓</a:t>
            </a:r>
            <a:endParaRPr sz="20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89888" y="3136391"/>
            <a:ext cx="437083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Consistent methodology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3136391"/>
            <a:ext cx="530352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36391"/>
            <a:ext cx="91440" cy="10515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7D46"/>
                </a:solidFill>
                <a:latin typeface="Segoe UI Semibold"/>
              </a:rPr>
              <a:t>✓</a:t>
            </a:r>
            <a:endParaRPr sz="2000" b="1" i="0">
              <a:solidFill>
                <a:srgbClr val="2E7D46"/>
              </a:solidFill>
              <a:latin typeface="Segoe UI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67728" y="3136391"/>
            <a:ext cx="4370831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Evidence over assumptions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124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600200"/>
            <a:ext cx="1051560" cy="105156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4000" b="0" i="0">
                <a:solidFill>
                  <a:srgbClr val="FFFFFF"/>
                </a:solidFill>
                <a:latin typeface="Segoe UI Light"/>
              </a:rPr>
              <a:t>11</a:t>
            </a:r>
            <a:endParaRPr sz="4000" b="0" i="0">
              <a:solidFill>
                <a:srgbClr val="FFFFFF"/>
              </a:solidFill>
              <a:latin typeface="Segoe UI 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23160" y="146304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2E558C"/>
                </a:solidFill>
                <a:latin typeface="Segoe UI Semibold"/>
              </a:rPr>
              <a:t>ENGINEERING PRINCIPLE</a:t>
            </a:r>
            <a:endParaRPr sz="15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95728" y="1874519"/>
            <a:ext cx="8778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Measure Before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F3B63"/>
                </a:solidFill>
                <a:latin typeface="Segoe UI Semibold"/>
              </a:rPr>
              <a:t>You Optimize</a:t>
            </a:r>
            <a:endParaRPr sz="4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32304" y="3886200"/>
            <a:ext cx="100584" cy="73152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3886200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0" i="1">
                <a:solidFill>
                  <a:srgbClr val="5A6673"/>
                </a:solidFill>
                <a:latin typeface="Segoe UI" panose="020B0502040204020203"/>
              </a:rPr>
              <a:t>Evidence beats intuition.</a:t>
            </a:r>
            <a:endParaRPr sz="2200" b="0" i="1">
              <a:solidFill>
                <a:srgbClr val="5A6673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There’s Much More…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130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4424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91440" cy="105156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558C"/>
                </a:solidFill>
                <a:latin typeface="Segoe UI Semibold"/>
              </a:rPr>
              <a:t>●</a:t>
            </a:r>
            <a:endParaRPr sz="20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9888" y="1828800"/>
            <a:ext cx="251155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Concepts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58640" y="1828800"/>
            <a:ext cx="344424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8640" y="1828800"/>
            <a:ext cx="91440" cy="105156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467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558C"/>
                </a:solidFill>
                <a:latin typeface="Segoe UI Semibold"/>
              </a:rPr>
              <a:t>●</a:t>
            </a:r>
            <a:endParaRPr sz="20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08448" y="1828800"/>
            <a:ext cx="251155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Coroutines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77200" y="1828800"/>
            <a:ext cx="344424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1828800"/>
            <a:ext cx="91440" cy="105156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3232" y="1828800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558C"/>
                </a:solidFill>
                <a:latin typeface="Segoe UI Semibold"/>
              </a:rPr>
              <a:t>●</a:t>
            </a:r>
            <a:endParaRPr sz="20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27008" y="1828800"/>
            <a:ext cx="251155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Modules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136391"/>
            <a:ext cx="344424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136391"/>
            <a:ext cx="91440" cy="105156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558C"/>
                </a:solidFill>
                <a:latin typeface="Segoe UI Semibold"/>
              </a:rPr>
              <a:t>●</a:t>
            </a:r>
            <a:endParaRPr sz="20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89888" y="3136391"/>
            <a:ext cx="251155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std::expected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58640" y="3136391"/>
            <a:ext cx="344424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58640" y="3136391"/>
            <a:ext cx="91440" cy="105156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467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558C"/>
                </a:solidFill>
                <a:latin typeface="Segoe UI Semibold"/>
              </a:rPr>
              <a:t>●</a:t>
            </a:r>
            <a:endParaRPr sz="20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08448" y="3136391"/>
            <a:ext cx="251155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std::mdspan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77200" y="3136391"/>
            <a:ext cx="344424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77200" y="3136391"/>
            <a:ext cx="91440" cy="105156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3232" y="3136391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558C"/>
                </a:solidFill>
                <a:latin typeface="Segoe UI Semibold"/>
              </a:rPr>
              <a:t>●</a:t>
            </a:r>
            <a:endParaRPr sz="20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827008" y="3136391"/>
            <a:ext cx="2511552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>
                <a:solidFill>
                  <a:srgbClr val="22303C"/>
                </a:solidFill>
                <a:latin typeface="Segoe UI Semibold"/>
              </a:rPr>
              <a:t>Executors</a:t>
            </a:r>
            <a:endParaRPr sz="1900" b="1" i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0080" y="4443983"/>
            <a:ext cx="344424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443983"/>
            <a:ext cx="91440" cy="105156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443983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558C"/>
                </a:solidFill>
                <a:latin typeface="Segoe UI Semibold"/>
              </a:rPr>
              <a:t>●</a:t>
            </a:r>
            <a:endParaRPr sz="20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89888" y="4830301"/>
            <a:ext cx="2511552" cy="2789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 dirty="0">
                <a:solidFill>
                  <a:srgbClr val="22303C"/>
                </a:solidFill>
                <a:latin typeface="Segoe UI Semibold"/>
              </a:rPr>
              <a:t>Reflection</a:t>
            </a:r>
            <a:endParaRPr sz="1900" b="1" i="0" dirty="0">
              <a:solidFill>
                <a:srgbClr val="22303C"/>
              </a:solidFill>
              <a:latin typeface="Segoe UI Semibold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358640" y="4443983"/>
            <a:ext cx="3444240" cy="1051560"/>
          </a:xfrm>
          <a:prstGeom prst="roundRect">
            <a:avLst>
              <a:gd name="adj" fmla="val 9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58640" y="4443983"/>
            <a:ext cx="91440" cy="105156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4672" y="4443983"/>
            <a:ext cx="50292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2E558C"/>
                </a:solidFill>
                <a:latin typeface="Segoe UI Semibold"/>
              </a:rPr>
              <a:t>●</a:t>
            </a:r>
            <a:endParaRPr sz="20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08448" y="4830301"/>
            <a:ext cx="2511552" cy="2789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900" b="1" i="0" dirty="0">
                <a:solidFill>
                  <a:srgbClr val="22303C"/>
                </a:solidFill>
                <a:latin typeface="Segoe UI Semibold"/>
              </a:rPr>
              <a:t>Contracts</a:t>
            </a:r>
            <a:endParaRPr sz="1900" b="1" i="0" dirty="0">
              <a:solidFill>
                <a:srgbClr val="22303C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12064"/>
            <a:ext cx="109728" cy="566928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625328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3B63"/>
                </a:solidFill>
                <a:latin typeface="Segoe UI Semibold"/>
              </a:rPr>
              <a:t>One Common Theme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131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75607" y="1783080"/>
            <a:ext cx="3840480" cy="64008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2767" y="178308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Less Repetition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5995263" y="2468879"/>
            <a:ext cx="201168" cy="228599"/>
          </a:xfrm>
          <a:prstGeom prst="down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75607" y="2743200"/>
            <a:ext cx="3840480" cy="64008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2767" y="274320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Clearer Intent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5995263" y="3429000"/>
            <a:ext cx="201168" cy="228599"/>
          </a:xfrm>
          <a:prstGeom prst="down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75607" y="3703320"/>
            <a:ext cx="3840480" cy="64008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2767" y="370332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Stronger Type System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5995263" y="4389120"/>
            <a:ext cx="201168" cy="228599"/>
          </a:xfrm>
          <a:prstGeom prst="down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75607" y="4663440"/>
            <a:ext cx="3840480" cy="64008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2767" y="466344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3B63"/>
                </a:solidFill>
                <a:latin typeface="Segoe UI Semibold"/>
              </a:rPr>
              <a:t>Compiler Assistance</a:t>
            </a:r>
            <a:endParaRPr sz="15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5995263" y="5349240"/>
            <a:ext cx="201168" cy="228599"/>
          </a:xfrm>
          <a:prstGeom prst="downArrow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75607" y="5623559"/>
            <a:ext cx="3840480" cy="640080"/>
          </a:xfrm>
          <a:prstGeom prst="roundRect">
            <a:avLst>
              <a:gd name="adj" fmla="val 12000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2767" y="5623559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Better Software</a:t>
            </a:r>
            <a:endParaRPr sz="1500" b="1" i="0">
              <a:solidFill>
                <a:srgbClr val="FFFFFF"/>
              </a:solidFill>
              <a:latin typeface="Segoe UI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/>
      <p:bldP spid="12" grpId="0" animBg="1"/>
      <p:bldP spid="14" grpId="0"/>
      <p:bldP spid="15" grpId="0" animBg="1"/>
      <p:bldP spid="17" grpId="0"/>
      <p:bldP spid="18" grpId="0" animBg="1"/>
      <p:bldP spid="20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244852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800" b="0" i="0">
                <a:solidFill>
                  <a:srgbClr val="1F3B63"/>
                </a:solidFill>
                <a:latin typeface="Segoe UI Light"/>
              </a:rPr>
              <a:t>Modern C++</a:t>
            </a:r>
            <a:endParaRPr sz="3800" b="0" i="0">
              <a:solidFill>
                <a:srgbClr val="1F3B63"/>
              </a:solidFill>
              <a:latin typeface="Segoe UI Ligh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51560" y="3195828"/>
            <a:ext cx="100584" cy="82296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4168" y="3195828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Less Ceremony.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More Intent.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  <a:p>
            <a:pPr algn="l">
              <a:lnSpc>
                <a:spcPct val="104000"/>
              </a:lnSpc>
            </a:pPr>
            <a:r>
              <a:rPr sz="3000" b="1" i="0">
                <a:solidFill>
                  <a:srgbClr val="1F3B63"/>
                </a:solidFill>
                <a:latin typeface="Segoe UI Semibold"/>
              </a:rPr>
              <a:t>Same Performance.</a:t>
            </a:r>
            <a:endParaRPr sz="30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132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55664"/>
            <a:ext cx="9692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8A97A5"/>
                </a:solidFill>
                <a:latin typeface="Segoe UI" panose="020B0502040204020203"/>
              </a:rPr>
              <a:t>CppCon 2026   ·   Modern C++: Reducing Boilerplate Without Sacrificing Performance</a:t>
            </a:r>
            <a:endParaRPr sz="950" b="0" i="0">
              <a:solidFill>
                <a:srgbClr val="8A97A5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247120" y="6455664"/>
            <a:ext cx="6858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8A97A5"/>
                </a:solidFill>
                <a:latin typeface="Segoe UI Semibold"/>
              </a:rPr>
              <a:t>133</a:t>
            </a:r>
            <a:endParaRPr sz="1100" b="0" i="0">
              <a:solidFill>
                <a:srgbClr val="8A97A5"/>
              </a:solidFill>
              <a:latin typeface="Segoe UI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28016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1F3B63"/>
                </a:solidFill>
                <a:latin typeface="Segoe UI Semibold"/>
              </a:rPr>
              <a:t>Thank You!</a:t>
            </a:r>
            <a:endParaRPr sz="4800" b="1" i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8992" y="233172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5A6673"/>
                </a:solidFill>
                <a:latin typeface="Segoe UI Light"/>
              </a:rPr>
              <a:t>Questions welcome — let's talk Modern C++.</a:t>
            </a:r>
            <a:endParaRPr sz="2000" b="0" i="0">
              <a:solidFill>
                <a:srgbClr val="5A6673"/>
              </a:solidFill>
              <a:latin typeface="Segoe UI Ligh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51560" y="3200400"/>
            <a:ext cx="6035040" cy="7772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3200400"/>
            <a:ext cx="100584" cy="77724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2E558C"/>
                </a:solidFill>
                <a:latin typeface="Segoe UI Semibold"/>
              </a:rPr>
              <a:t>EMAIL</a:t>
            </a:r>
            <a:endParaRPr sz="13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0" y="3435131"/>
            <a:ext cx="4206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000" b="1" dirty="0">
                <a:solidFill>
                  <a:srgbClr val="1F3B63"/>
                </a:solidFill>
                <a:latin typeface="Segoe UI Semibold"/>
              </a:rPr>
              <a:t>vishnug97</a:t>
            </a:r>
            <a:r>
              <a:rPr sz="2000" b="1" i="0" dirty="0">
                <a:solidFill>
                  <a:srgbClr val="1F3B63"/>
                </a:solidFill>
                <a:latin typeface="Segoe UI Semibold"/>
              </a:rPr>
              <a:t>@email.com</a:t>
            </a:r>
            <a:endParaRPr sz="2000" b="1" i="0" dirty="0">
              <a:solidFill>
                <a:srgbClr val="1F3B63"/>
              </a:solidFill>
              <a:latin typeface="Segoe UI Semibol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51560" y="4160520"/>
            <a:ext cx="6035040" cy="777240"/>
          </a:xfrm>
          <a:prstGeom prst="roundRect">
            <a:avLst>
              <a:gd name="adj" fmla="val 12000"/>
            </a:avLst>
          </a:prstGeom>
          <a:solidFill>
            <a:srgbClr val="F4F6F9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160520"/>
            <a:ext cx="100584" cy="777240"/>
          </a:xfrm>
          <a:prstGeom prst="rect">
            <a:avLst/>
          </a:prstGeom>
          <a:solidFill>
            <a:srgbClr val="2E5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160520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2E558C"/>
                </a:solidFill>
                <a:latin typeface="Segoe UI Semibold"/>
              </a:rPr>
              <a:t>LINKEDIN</a:t>
            </a:r>
            <a:endParaRPr sz="1300" b="1" i="0">
              <a:solidFill>
                <a:srgbClr val="2E558C"/>
              </a:solidFill>
              <a:latin typeface="Segoe UI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43200" y="4241363"/>
            <a:ext cx="420624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2000" b="1">
                <a:solidFill>
                  <a:srgbClr val="1F3B63"/>
                </a:solidFill>
                <a:latin typeface="Segoe UI Semibold"/>
              </a:rPr>
              <a:t>https://www.linkedin.com/in/vishnu-gopinath-831376108/</a:t>
            </a:r>
            <a:endParaRPr sz="2000" b="1" i="0">
              <a:solidFill>
                <a:srgbClr val="1F3B63"/>
              </a:solidFill>
              <a:latin typeface="Segoe UI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21750</Words>
  <Application>WPS Writer</Application>
  <PresentationFormat>Widescreen</PresentationFormat>
  <Paragraphs>1857</Paragraphs>
  <Slides>126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126</vt:i4>
      </vt:variant>
    </vt:vector>
  </HeadingPairs>
  <TitlesOfParts>
    <vt:vector size="142" baseType="lpstr">
      <vt:lpstr>Arial</vt:lpstr>
      <vt:lpstr>SimSun</vt:lpstr>
      <vt:lpstr>Wingdings</vt:lpstr>
      <vt:lpstr>Segoe UI Semibold</vt:lpstr>
      <vt:lpstr>Montserrat</vt:lpstr>
      <vt:lpstr>Segoe UI</vt:lpstr>
      <vt:lpstr>Consolas</vt:lpstr>
      <vt:lpstr>Segoe UI Light</vt:lpstr>
      <vt:lpstr>Microsoft YaHei</vt:lpstr>
      <vt:lpstr>汉仪旗黑</vt:lpstr>
      <vt:lpstr>Arial Unicode MS</vt:lpstr>
      <vt:lpstr>Calibri</vt:lpstr>
      <vt:lpstr>Helvetica Neue</vt:lpstr>
      <vt:lpstr>Arimo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Slide_first_draft.pdf</dc:title>
  <dc:creator/>
  <cp:lastModifiedBy>Vishnu Gopinath</cp:lastModifiedBy>
  <cp:revision>4</cp:revision>
  <dcterms:created xsi:type="dcterms:W3CDTF">2026-08-15T05:55:36Z</dcterms:created>
  <dcterms:modified xsi:type="dcterms:W3CDTF">2026-08-15T05:55:36Z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5F90F7155AEAEC85E3CA7D6ADAA6C9BB_42</vt:lpwstr>
  </property>
  <property fmtid="{D5CDD505-2E9C-101B-9397-08002B2CF9AE}" pid="3" name="KSOProductBuildVer">
    <vt:lpwstr>1033-12.1.23152.23152</vt:lpwstr>
  </property>
</Properties>
</file>