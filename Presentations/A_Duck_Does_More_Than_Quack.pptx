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JetBrains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EA2C29-C6C4-4FA4-B921-A14110A689EB}">
  <a:tblStyle styleId="{53EA2C29-C6C4-4FA4-B921-A14110A689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JetBrainsMono-bold.fntdata"/><Relationship Id="rId52" Type="http://schemas.openxmlformats.org/officeDocument/2006/relationships/font" Target="fonts/JetBrainsMono-regular.fntdata"/><Relationship Id="rId11" Type="http://schemas.openxmlformats.org/officeDocument/2006/relationships/slide" Target="slides/slide5.xml"/><Relationship Id="rId55" Type="http://schemas.openxmlformats.org/officeDocument/2006/relationships/font" Target="fonts/JetBrainsMono-boldItalic.fntdata"/><Relationship Id="rId10" Type="http://schemas.openxmlformats.org/officeDocument/2006/relationships/slide" Target="slides/slide4.xml"/><Relationship Id="rId54" Type="http://schemas.openxmlformats.org/officeDocument/2006/relationships/font" Target="fonts/JetBrains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09d5a034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09d5a034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Hi, my name is Ryan.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Today, I’m here to talk to you about a library I built that solves one of the oldest problems in C++ using one of its newest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Duck typing is an old idea in programming. Sometimes we want to look at different types at runtime, but treat them as though they are the same type.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f2cd54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09f2cd54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I was learning C++,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09f2cd54b2_7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09f2cd54b2_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409f2cd54b2_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409f2cd54b2_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09d5a0340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09d5a0340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09d5a0340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09d5a0340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09d5a0340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09d5a0340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f2cd54b2_7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f2cd54b2_7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09d5a0340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09d5a0340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09f2cd54b2_7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09f2cd54b2_7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9d5a0340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09d5a0340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09d5a0340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409d5a0340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9f2cd54b2_7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9f2cd54b2_7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09f2cd54b2_7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09f2cd54b2_7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09f2cd54b2_7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09f2cd54b2_7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09f2cd54b2_7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409f2cd54b2_7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09f2cd54b2_7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09f2cd54b2_7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09f2cd54b2_5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09f2cd54b2_5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09f2cd54b2_5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09f2cd54b2_5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09f2cd54b2_5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09f2cd54b2_5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09f2cd54b2_5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09f2cd54b2_5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409f2cd54b2_5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409f2cd54b2_5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409f2cd54b2_53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409f2cd54b2_53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09f2cd54b2_5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409f2cd54b2_5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09f2cd54b2_53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09f2cd54b2_5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409f2cd54b2_5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409f2cd54b2_5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09f2cd54b2_5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409f2cd54b2_5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409f2cd54b2_53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409f2cd54b2_5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09f2cd54b2_53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409f2cd54b2_5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409f2cd54b2_53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409f2cd54b2_53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409f2cd54b2_53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409f2cd54b2_5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409f2cd54b2_53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409f2cd54b2_5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09f2cd54b2_53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409f2cd54b2_53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409f2cd54b2_53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409f2cd54b2_53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2269505e32d2c0d5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h2269505e32d2c0d5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 this slide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2269505e32d2c0d5_6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h2269505e32d2c0d5_6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2269505e32d2c0d5_6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h2269505e32d2c0d5_6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2269505e32d2c0d5_6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h2269505e32d2c0d5_6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h2269505e32d2c0d5_6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h2269505e32d2c0d5_6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2269505e32d2c0d5_6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2269505e32d2c0d5_6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h2269505e32d2c0d5_6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h2269505e32d2c0d5_6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2269505e32d2c0d5_6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h2269505e32d2c0d5_6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2269505e32d2c0d5_6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h2269505e32d2c0d5_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the paper I’m working on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h2269505e32d2c0d5_6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h2269505e32d2c0d5_6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3350" lIns="93350" spcFirstLastPara="1" rIns="93350" wrap="square" tIns="93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350" lIns="93350" spcFirstLastPara="1" rIns="93350" wrap="square" tIns="933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3350" lIns="93350" spcFirstLastPara="1" rIns="93350" wrap="square" tIns="93350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3350" lIns="93350" spcFirstLastPara="1" rIns="93350" wrap="square" tIns="9335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hyperlink" Target="https://godbolt.org/z/1joPY6W9Y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Relationship Id="rId4" Type="http://schemas.openxmlformats.org/officeDocument/2006/relationships/hyperlink" Target="https://godbolt.org/z/4sxnjWje9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hyperlink" Target="https://godbolt.org/z/rsE9zq9e7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hyperlink" Target="https://godbolt.org/z/nMfEzf9nv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Relationship Id="rId4" Type="http://schemas.openxmlformats.org/officeDocument/2006/relationships/hyperlink" Target="https://godbolt.org/z/v58vaaPM4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hyperlink" Target="https://godbolt.org/z/v58vaaPM4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hyperlink" Target="https://godbolt.org/z/eT9T1fTxd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hyperlink" Target="https://godbolt.org/z/ndv4seqoG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Relationship Id="rId5" Type="http://schemas.openxmlformats.org/officeDocument/2006/relationships/hyperlink" Target="https://godbolt.org/z/9jPez5aGK" TargetMode="External"/><Relationship Id="rId6" Type="http://schemas.openxmlformats.org/officeDocument/2006/relationships/image" Target="../media/image32.png"/><Relationship Id="rId7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hyperlink" Target="https://godbolt.org/z/s4ePhT1eK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Relationship Id="rId4" Type="http://schemas.openxmlformats.org/officeDocument/2006/relationships/image" Target="../media/image28.png"/><Relationship Id="rId5" Type="http://schemas.openxmlformats.org/officeDocument/2006/relationships/hyperlink" Target="https://godbolt.org/z/5vvfKcbrW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554075"/>
            <a:ext cx="8520600" cy="2009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If it looks like a duck,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and quacks like a duck,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hen treat it like a duck.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0" name="Google Shape;60;p14" title="3I1A14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5425" y="152400"/>
            <a:ext cx="4253138" cy="34016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862200" y="1274600"/>
            <a:ext cx="7419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Three types with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 common base class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7" name="Google Shape;67;p15" title="carbon(2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847288"/>
            <a:ext cx="82677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752288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Each defines </a:t>
            </a:r>
            <a:r>
              <a:rPr b="1" lang="en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area()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862200" y="694125"/>
            <a:ext cx="7419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Why can’t we change the type at runtime?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5" name="Google Shape;75;p16" title="carbon(2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175" y="1266825"/>
            <a:ext cx="634365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5550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does C++ give you?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82" name="Google Shape;82;p17"/>
          <p:cNvGraphicFramePr/>
          <p:nvPr/>
        </p:nvGraphicFramePr>
        <p:xfrm>
          <a:off x="591200" y="132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{53EA2C29-C6C4-4FA4-B921-A14110A689EB}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Inheritance</a:t>
                      </a:r>
                      <a:endParaRPr b="1"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Intrusive.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std::function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Only works for </a:t>
                      </a:r>
                      <a:r>
                        <a:rPr lang="en" sz="1800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operator()</a:t>
                      </a:r>
                      <a:r>
                        <a:rPr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.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std::any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 interface.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Type Erasure Libraries</a:t>
                      </a:r>
                      <a:endParaRPr b="1"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Macro-heavy.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17"/>
          <p:cNvSpPr/>
          <p:nvPr/>
        </p:nvSpPr>
        <p:spPr>
          <a:xfrm>
            <a:off x="591200" y="1782025"/>
            <a:ext cx="7239000" cy="45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591200" y="2234125"/>
            <a:ext cx="7239000" cy="45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591200" y="2696325"/>
            <a:ext cx="7239000" cy="45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591200" y="1324875"/>
            <a:ext cx="7239000" cy="45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2032350" y="374100"/>
            <a:ext cx="50793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Hand-write type erasure?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000" y="1017725"/>
            <a:ext cx="2459006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6" y="1017725"/>
            <a:ext cx="2459006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238671" y="424150"/>
            <a:ext cx="36684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rjk::duck</a:t>
            </a:r>
            <a:endParaRPr b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69658" y="1152475"/>
            <a:ext cx="4215300" cy="3416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Reflection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Non-intrusive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Same performance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Zero boilerplate.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" name="Google Shape;102;p19" title="carbon(3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2772" y="493393"/>
            <a:ext cx="5976350" cy="41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3282975" y="2403925"/>
            <a:ext cx="5418300" cy="109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3220888" y="3619825"/>
            <a:ext cx="5418300" cy="91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Community Response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Made a blog post in the morning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Invited to CppCon in the afternoon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Invited to a WG21 proposal two hours later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1206825"/>
            <a:ext cx="8520600" cy="21111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Verdana"/>
                <a:ea typeface="Verdana"/>
                <a:cs typeface="Verdana"/>
                <a:sym typeface="Verdana"/>
              </a:rPr>
              <a:t>“This is definitely one of those cases where I didn’t even think this was possible with the limitations we have in C++26, but somebody really clever figured out how to do it anyway.”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67175"/>
            <a:ext cx="8520600" cy="7407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-Barry Revzin, co-author of “Reflection for C++26”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journey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 of developing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rjk::duck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633400" cy="3416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Verdana"/>
              <a:buChar char="●"/>
            </a:pPr>
            <a:r>
              <a:rPr lang="en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Sophomore at </a:t>
            </a:r>
            <a:r>
              <a:rPr b="1" lang="en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Rensselaer Polytechnic Institute</a:t>
            </a:r>
            <a:endParaRPr b="1" sz="2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Verdana"/>
              <a:buChar char="●"/>
            </a:pPr>
            <a:r>
              <a:rPr lang="en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Started learning C++ last Fall in Data Structures.</a:t>
            </a:r>
            <a:endParaRPr sz="2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Verdana"/>
              <a:buChar char="●"/>
            </a:pPr>
            <a:r>
              <a:rPr lang="en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Learned the basics of C++, but went online to learn more.</a:t>
            </a:r>
            <a:endParaRPr sz="2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Verdana"/>
              <a:buChar char="●"/>
            </a:pPr>
            <a:r>
              <a:rPr lang="en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CppCon talks, C++ weekly.</a:t>
            </a:r>
            <a:endParaRPr sz="2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Verdana"/>
              <a:buChar char="●"/>
            </a:pPr>
            <a:r>
              <a:rPr lang="en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wasn’t just new to C++26 or reflection, I was new to C++.</a:t>
            </a:r>
            <a:endParaRPr sz="2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Experiments with type erasure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2" name="Google Shape;132;p23" title="carbon(3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1266825"/>
            <a:ext cx="763905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50" y="1057075"/>
            <a:ext cx="5385574" cy="302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 title="icelan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9900" y="1677700"/>
            <a:ext cx="4448973" cy="333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Inspiration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24"/>
          <p:cNvSpPr txBox="1"/>
          <p:nvPr>
            <p:ph type="title"/>
          </p:nvPr>
        </p:nvSpPr>
        <p:spPr>
          <a:xfrm>
            <a:off x="6870475" y="1345075"/>
            <a:ext cx="20784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Iceland, with my dad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9225"/>
            <a:ext cx="8839199" cy="1765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/>
          <p:nvPr/>
        </p:nvSpPr>
        <p:spPr>
          <a:xfrm>
            <a:off x="968400" y="1961625"/>
            <a:ext cx="878100" cy="29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5550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Generating a vtable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1724025" y="3752650"/>
            <a:ext cx="5696100" cy="10575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NOTE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an owning </a:t>
            </a:r>
            <a:r>
              <a:rPr lang="en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we also need lifecycle function pointers like </a:t>
            </a:r>
            <a:r>
              <a:rPr lang="en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lang="en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destroy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" name="Google Shape;157;p26" title="carbon(8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250" y="1447800"/>
            <a:ext cx="569595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define_aggregate</a:t>
            </a:r>
            <a:endParaRPr sz="680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3" name="Google Shape;16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Data members only!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8" title="carbon(3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5750" y="1127750"/>
            <a:ext cx="5792495" cy="371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Generating a vtable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2087425" y="1624625"/>
            <a:ext cx="5337000" cy="301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2087425" y="1963250"/>
            <a:ext cx="5337000" cy="301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2087425" y="4349465"/>
            <a:ext cx="5337000" cy="301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2087425" y="2289749"/>
            <a:ext cx="5337000" cy="168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2346250" y="2556726"/>
            <a:ext cx="4324200" cy="345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2374464" y="3859782"/>
            <a:ext cx="376500" cy="301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2658275" y="2889775"/>
            <a:ext cx="4641900" cy="345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2612350" y="3374775"/>
            <a:ext cx="4687800" cy="485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2287750" y="4109375"/>
            <a:ext cx="3486900" cy="301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8"/>
          <p:cNvSpPr txBox="1"/>
          <p:nvPr/>
        </p:nvSpPr>
        <p:spPr>
          <a:xfrm>
            <a:off x="0" y="4743300"/>
            <a:ext cx="40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https://godbolt.org/z/1joPY6W9Y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Checking Conformance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7" name="Google Shape;187;p29" title="carbon(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1266825"/>
            <a:ext cx="66675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0" title="carbon(3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375" y="197763"/>
            <a:ext cx="7343249" cy="47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/>
          <p:nvPr/>
        </p:nvSpPr>
        <p:spPr>
          <a:xfrm>
            <a:off x="1351375" y="613675"/>
            <a:ext cx="5337000" cy="718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1716600" y="1331875"/>
            <a:ext cx="6337500" cy="718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96" name="Google Shape;196;p30"/>
          <p:cNvSpPr/>
          <p:nvPr/>
        </p:nvSpPr>
        <p:spPr>
          <a:xfrm>
            <a:off x="1716600" y="2050075"/>
            <a:ext cx="6337500" cy="2277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97" name="Google Shape;197;p30"/>
          <p:cNvSpPr/>
          <p:nvPr/>
        </p:nvSpPr>
        <p:spPr>
          <a:xfrm>
            <a:off x="1716600" y="3235875"/>
            <a:ext cx="6337500" cy="2277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98" name="Google Shape;198;p30"/>
          <p:cNvSpPr/>
          <p:nvPr/>
        </p:nvSpPr>
        <p:spPr>
          <a:xfrm>
            <a:off x="2036000" y="2277775"/>
            <a:ext cx="5220900" cy="958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99" name="Google Shape;199;p30"/>
          <p:cNvSpPr/>
          <p:nvPr/>
        </p:nvSpPr>
        <p:spPr>
          <a:xfrm>
            <a:off x="1716600" y="3613700"/>
            <a:ext cx="6337500" cy="718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00" name="Google Shape;200;p30"/>
          <p:cNvSpPr/>
          <p:nvPr/>
        </p:nvSpPr>
        <p:spPr>
          <a:xfrm>
            <a:off x="1351375" y="4181876"/>
            <a:ext cx="2481600" cy="1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01" name="Google Shape;201;p30"/>
          <p:cNvSpPr/>
          <p:nvPr/>
        </p:nvSpPr>
        <p:spPr>
          <a:xfrm>
            <a:off x="1351375" y="4376791"/>
            <a:ext cx="2481600" cy="1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02" name="Google Shape;20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6" y="3881400"/>
            <a:ext cx="90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https://godbolt.org/z/4sxnjWje9</a:t>
            </a:r>
            <a:endParaRPr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1" title="carbon(5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150" y="3042300"/>
            <a:ext cx="7315700" cy="107351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Checking Conformance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0" name="Google Shape;210;p31" title="carbon(4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238" y="1237875"/>
            <a:ext cx="4021613" cy="16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 title="carbon(4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138" y="1237862"/>
            <a:ext cx="3055322" cy="16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/>
          <p:nvPr/>
        </p:nvSpPr>
        <p:spPr>
          <a:xfrm>
            <a:off x="1026725" y="3219950"/>
            <a:ext cx="7017900" cy="718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13" name="Google Shape;21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2" title="carbon(4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513" y="1004901"/>
            <a:ext cx="6296974" cy="31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2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Filling in the vtable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0" name="Google Shape;22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Filling in the vtable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6" name="Google Shape;226;p33" title="carbon(4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5763"/>
            <a:ext cx="8839199" cy="31519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3"/>
          <p:cNvSpPr/>
          <p:nvPr/>
        </p:nvSpPr>
        <p:spPr>
          <a:xfrm>
            <a:off x="1233050" y="2787450"/>
            <a:ext cx="4803000" cy="681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4" title="carbon(4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2600"/>
            <a:ext cx="8839202" cy="125830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Filling in the vtable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5" name="Google Shape;23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5" title="carbon(5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13" y="161452"/>
            <a:ext cx="849437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/>
          <p:nvPr/>
        </p:nvSpPr>
        <p:spPr>
          <a:xfrm>
            <a:off x="842400" y="813715"/>
            <a:ext cx="5337000" cy="1850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42" name="Google Shape;242;p35"/>
          <p:cNvSpPr/>
          <p:nvPr/>
        </p:nvSpPr>
        <p:spPr>
          <a:xfrm>
            <a:off x="842400" y="2698258"/>
            <a:ext cx="5337000" cy="250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43" name="Google Shape;243;p35"/>
          <p:cNvSpPr/>
          <p:nvPr/>
        </p:nvSpPr>
        <p:spPr>
          <a:xfrm>
            <a:off x="766200" y="4332906"/>
            <a:ext cx="5337000" cy="250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842400" y="2986996"/>
            <a:ext cx="7813200" cy="1779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45" name="Google Shape;245;p35"/>
          <p:cNvSpPr/>
          <p:nvPr/>
        </p:nvSpPr>
        <p:spPr>
          <a:xfrm>
            <a:off x="842400" y="3985368"/>
            <a:ext cx="7813200" cy="250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46" name="Google Shape;246;p35"/>
          <p:cNvSpPr/>
          <p:nvPr/>
        </p:nvSpPr>
        <p:spPr>
          <a:xfrm>
            <a:off x="1182700" y="3199360"/>
            <a:ext cx="7431000" cy="7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47" name="Google Shape;24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5"/>
          <p:cNvSpPr txBox="1"/>
          <p:nvPr/>
        </p:nvSpPr>
        <p:spPr>
          <a:xfrm>
            <a:off x="-48100" y="4839527"/>
            <a:ext cx="4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https://godbolt.org/z/rsE9zq9e7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6" title="carbon(5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0538"/>
            <a:ext cx="8839197" cy="302243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6"/>
          <p:cNvSpPr/>
          <p:nvPr/>
        </p:nvSpPr>
        <p:spPr>
          <a:xfrm>
            <a:off x="804450" y="2089755"/>
            <a:ext cx="5623800" cy="4488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/>
          <p:nvPr/>
        </p:nvSpPr>
        <p:spPr>
          <a:xfrm>
            <a:off x="2411950" y="2851750"/>
            <a:ext cx="4715400" cy="4488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6"/>
          <p:cNvSpPr/>
          <p:nvPr/>
        </p:nvSpPr>
        <p:spPr>
          <a:xfrm>
            <a:off x="4004825" y="3150290"/>
            <a:ext cx="4358400" cy="4488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6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Recap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8" name="Google Shape;25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Are we there yet?</a:t>
            </a:r>
            <a:endParaRPr sz="4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4" name="Google Shape;264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How do we get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myShape.area()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5" name="Google Shape;26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Let’s get creative.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1" name="Google Shape;271;p38"/>
          <p:cNvSpPr txBox="1"/>
          <p:nvPr>
            <p:ph idx="4294967295" type="body"/>
          </p:nvPr>
        </p:nvSpPr>
        <p:spPr>
          <a:xfrm>
            <a:off x="311700" y="1152475"/>
            <a:ext cx="4260300" cy="25941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 member functions</a:t>
            </a:r>
            <a:r>
              <a:rPr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with </a:t>
            </a:r>
            <a:r>
              <a:rPr lang="en" sz="24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define_aggregate.</a:t>
            </a:r>
            <a:endParaRPr sz="24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Try </a:t>
            </a:r>
            <a:r>
              <a:rPr lang="en" sz="24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define_aggregate </a:t>
            </a:r>
            <a:r>
              <a:rPr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with functors.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2" name="Google Shape;272;p38" title="carbon(5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050" y="866100"/>
            <a:ext cx="3786850" cy="42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8"/>
          <p:cNvSpPr txBox="1"/>
          <p:nvPr/>
        </p:nvSpPr>
        <p:spPr>
          <a:xfrm>
            <a:off x="-48100" y="4839527"/>
            <a:ext cx="4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https://godbolt.org/z/nMfEzf9nv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9" title="carbon(5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862" y="1075849"/>
            <a:ext cx="7930275" cy="38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9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Inheriting from a generated aggregate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1" name="Google Shape;281;p39"/>
          <p:cNvSpPr/>
          <p:nvPr/>
        </p:nvSpPr>
        <p:spPr>
          <a:xfrm>
            <a:off x="1130600" y="1756863"/>
            <a:ext cx="5621400" cy="6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1130600" y="3635400"/>
            <a:ext cx="1211400" cy="3483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83" name="Google Shape;283;p39"/>
          <p:cNvSpPr/>
          <p:nvPr/>
        </p:nvSpPr>
        <p:spPr>
          <a:xfrm>
            <a:off x="1543950" y="2371262"/>
            <a:ext cx="6756600" cy="953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84" name="Google Shape;284;p39"/>
          <p:cNvSpPr/>
          <p:nvPr/>
        </p:nvSpPr>
        <p:spPr>
          <a:xfrm>
            <a:off x="1543950" y="3443688"/>
            <a:ext cx="5621400" cy="3483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85" name="Google Shape;285;p39"/>
          <p:cNvSpPr/>
          <p:nvPr/>
        </p:nvSpPr>
        <p:spPr>
          <a:xfrm>
            <a:off x="715150" y="4209025"/>
            <a:ext cx="6228300" cy="5007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86" name="Google Shape;28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39"/>
          <p:cNvSpPr txBox="1"/>
          <p:nvPr/>
        </p:nvSpPr>
        <p:spPr>
          <a:xfrm>
            <a:off x="-48100" y="4839527"/>
            <a:ext cx="4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https://godbolt.org/z/v58vaaPM4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0" title="carbon(5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32650"/>
            <a:ext cx="5549345" cy="390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0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Implementing </a:t>
            </a:r>
            <a:r>
              <a:rPr lang="en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wrapper_functor</a:t>
            </a:r>
            <a:endParaRPr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4" name="Google Shape;294;p40"/>
          <p:cNvSpPr/>
          <p:nvPr/>
        </p:nvSpPr>
        <p:spPr>
          <a:xfrm>
            <a:off x="713075" y="1934050"/>
            <a:ext cx="4268100" cy="71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95" name="Google Shape;295;p40"/>
          <p:cNvSpPr/>
          <p:nvPr/>
        </p:nvSpPr>
        <p:spPr>
          <a:xfrm>
            <a:off x="713075" y="2731050"/>
            <a:ext cx="4268100" cy="4653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96" name="Google Shape;296;p40"/>
          <p:cNvSpPr/>
          <p:nvPr/>
        </p:nvSpPr>
        <p:spPr>
          <a:xfrm>
            <a:off x="713075" y="3704525"/>
            <a:ext cx="4268100" cy="838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297" name="Google Shape;297;p40"/>
          <p:cNvSpPr/>
          <p:nvPr/>
        </p:nvSpPr>
        <p:spPr>
          <a:xfrm>
            <a:off x="681760" y="2180348"/>
            <a:ext cx="1167900" cy="4653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0"/>
          <p:cNvSpPr txBox="1"/>
          <p:nvPr>
            <p:ph type="ctrTitle"/>
          </p:nvPr>
        </p:nvSpPr>
        <p:spPr>
          <a:xfrm>
            <a:off x="6070906" y="3274275"/>
            <a:ext cx="2874900" cy="16164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Did we do it?</a:t>
            </a:r>
            <a:endParaRPr sz="4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p40"/>
          <p:cNvSpPr txBox="1"/>
          <p:nvPr/>
        </p:nvSpPr>
        <p:spPr>
          <a:xfrm>
            <a:off x="5972550" y="962325"/>
            <a:ext cx="3171600" cy="24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erdana"/>
              <a:buChar char="●"/>
            </a:pPr>
            <a:r>
              <a:rPr lang="en" sz="1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Fill the </a:t>
            </a:r>
            <a:r>
              <a:rPr lang="en" sz="1600">
                <a:solidFill>
                  <a:schemeClr val="dk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func_type*</a:t>
            </a:r>
            <a:r>
              <a:rPr lang="en" sz="1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on construction</a:t>
            </a:r>
            <a:endParaRPr sz="16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erdana"/>
              <a:buChar char="●"/>
            </a:pPr>
            <a:r>
              <a:rPr lang="en" sz="1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Refill the </a:t>
            </a:r>
            <a:r>
              <a:rPr lang="en" sz="1600">
                <a:solidFill>
                  <a:schemeClr val="dk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void*</a:t>
            </a:r>
            <a:r>
              <a:rPr lang="en" sz="1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on construction, reassignment, etc.</a:t>
            </a:r>
            <a:endParaRPr sz="16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0" name="Google Shape;30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40"/>
          <p:cNvSpPr txBox="1"/>
          <p:nvPr/>
        </p:nvSpPr>
        <p:spPr>
          <a:xfrm>
            <a:off x="-48100" y="4839527"/>
            <a:ext cx="4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https://godbolt.org/z/v58vaaPM4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/>
          <p:nvPr>
            <p:ph type="ctrTitle"/>
          </p:nvPr>
        </p:nvSpPr>
        <p:spPr>
          <a:xfrm>
            <a:off x="416483" y="622300"/>
            <a:ext cx="8520600" cy="20526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16 bytes</a:t>
            </a:r>
            <a:endParaRPr sz="4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7" name="Google Shape;307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per interface member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8" name="Google Shape;30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2" title="carbon(5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4153"/>
            <a:ext cx="8663774" cy="29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2"/>
          <p:cNvSpPr txBox="1"/>
          <p:nvPr>
            <p:ph idx="4294967295" type="title"/>
          </p:nvPr>
        </p:nvSpPr>
        <p:spPr>
          <a:xfrm>
            <a:off x="311700" y="3599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Storing a back-pointer</a:t>
            </a:r>
            <a:endParaRPr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5" name="Google Shape;315;p42"/>
          <p:cNvSpPr txBox="1"/>
          <p:nvPr>
            <p:ph idx="4294967295" type="body"/>
          </p:nvPr>
        </p:nvSpPr>
        <p:spPr>
          <a:xfrm>
            <a:off x="311700" y="4068325"/>
            <a:ext cx="8663700" cy="10041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 bytes</a:t>
            </a:r>
            <a:r>
              <a:rPr lang="e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per interface member.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6" name="Google Shape;316;p42"/>
          <p:cNvSpPr/>
          <p:nvPr/>
        </p:nvSpPr>
        <p:spPr>
          <a:xfrm>
            <a:off x="878975" y="1779215"/>
            <a:ext cx="4268100" cy="3357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17" name="Google Shape;317;p42"/>
          <p:cNvSpPr/>
          <p:nvPr/>
        </p:nvSpPr>
        <p:spPr>
          <a:xfrm>
            <a:off x="1311625" y="2438150"/>
            <a:ext cx="4191600" cy="218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18" name="Google Shape;318;p42"/>
          <p:cNvSpPr/>
          <p:nvPr/>
        </p:nvSpPr>
        <p:spPr>
          <a:xfrm>
            <a:off x="1311625" y="3114500"/>
            <a:ext cx="4191600" cy="218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19" name="Google Shape;319;p42"/>
          <p:cNvSpPr/>
          <p:nvPr/>
        </p:nvSpPr>
        <p:spPr>
          <a:xfrm>
            <a:off x="1714550" y="2656550"/>
            <a:ext cx="4191600" cy="457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20" name="Google Shape;32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2"/>
          <p:cNvSpPr txBox="1"/>
          <p:nvPr/>
        </p:nvSpPr>
        <p:spPr>
          <a:xfrm>
            <a:off x="311700" y="46753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https://godbolt.org/z/eT9T1fTxd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there a way to </a:t>
            </a:r>
            <a:r>
              <a:rPr b="1" lang="en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derive </a:t>
            </a:r>
            <a:r>
              <a:rPr lang="en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4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duck*</a:t>
            </a:r>
            <a:r>
              <a:rPr lang="en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without storing it?</a:t>
            </a:r>
            <a:endParaRPr sz="4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7" name="Google Shape;32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"/>
          <p:cNvSpPr txBox="1"/>
          <p:nvPr>
            <p:ph type="title"/>
          </p:nvPr>
        </p:nvSpPr>
        <p:spPr>
          <a:xfrm>
            <a:off x="311700" y="555050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Possible Approaches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33" name="Google Shape;333;p44"/>
          <p:cNvGraphicFramePr/>
          <p:nvPr/>
        </p:nvGraphicFramePr>
        <p:xfrm>
          <a:off x="591200" y="132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{53EA2C29-C6C4-4FA4-B921-A14110A689EB}</a:tableStyleId>
              </a:tblPr>
              <a:tblGrid>
                <a:gridCol w="3619500"/>
                <a:gridCol w="3619500"/>
              </a:tblGrid>
              <a:tr h="73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Pointer Arithmetic</a:t>
                      </a:r>
                      <a:endParaRPr b="1"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Undefined behavior.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[[no_unique_address]]</a:t>
                      </a:r>
                      <a:r>
                        <a:rPr lang="en" sz="1800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</a:t>
                      </a:r>
                      <a:r>
                        <a:rPr b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and </a:t>
                      </a:r>
                      <a:r>
                        <a:rPr b="1" lang="en" sz="1800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reinterpret_cast</a:t>
                      </a:r>
                      <a:endParaRPr b="1" sz="1800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Technically </a:t>
                      </a:r>
                      <a:r>
                        <a:rPr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UB.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44"/>
          <p:cNvSpPr/>
          <p:nvPr/>
        </p:nvSpPr>
        <p:spPr>
          <a:xfrm>
            <a:off x="634875" y="2059175"/>
            <a:ext cx="7239000" cy="69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4"/>
          <p:cNvSpPr/>
          <p:nvPr/>
        </p:nvSpPr>
        <p:spPr>
          <a:xfrm>
            <a:off x="591200" y="1324875"/>
            <a:ext cx="7239000" cy="45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4"/>
          <p:cNvSpPr txBox="1"/>
          <p:nvPr/>
        </p:nvSpPr>
        <p:spPr>
          <a:xfrm>
            <a:off x="901200" y="2793475"/>
            <a:ext cx="745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Verdana"/>
                <a:ea typeface="Verdana"/>
                <a:cs typeface="Verdana"/>
                <a:sym typeface="Verdana"/>
              </a:rPr>
              <a:t>Pointer Interconvertibility?</a:t>
            </a:r>
            <a:endParaRPr b="1" sz="3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7" name="Google Shape;33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311700" y="555600"/>
            <a:ext cx="5436000" cy="7557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Pointer Interconvertibility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3" name="Google Shape;343;p45"/>
          <p:cNvSpPr txBox="1"/>
          <p:nvPr>
            <p:ph idx="1" type="body"/>
          </p:nvPr>
        </p:nvSpPr>
        <p:spPr>
          <a:xfrm>
            <a:off x="311700" y="1389600"/>
            <a:ext cx="3474300" cy="3179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pointer to the </a:t>
            </a:r>
            <a:r>
              <a:rPr b="1"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first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data member of a class can be cast to a pointer to the </a:t>
            </a:r>
            <a:r>
              <a:rPr b="1"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class itself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4" name="Google Shape;344;p45"/>
          <p:cNvSpPr txBox="1"/>
          <p:nvPr>
            <p:ph idx="1" type="body"/>
          </p:nvPr>
        </p:nvSpPr>
        <p:spPr>
          <a:xfrm>
            <a:off x="3909646" y="4284398"/>
            <a:ext cx="4985400" cy="4902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NOTE: </a:t>
            </a:r>
            <a:r>
              <a:rPr lang="en" sz="1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SomeStruct 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must be a standard layout type for this to work.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5" name="Google Shape;345;p45" title="carbon(6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688" y="1389600"/>
            <a:ext cx="5053424" cy="288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/>
          <p:nvPr/>
        </p:nvSpPr>
        <p:spPr>
          <a:xfrm>
            <a:off x="4011575" y="1526975"/>
            <a:ext cx="1929900" cy="1585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47" name="Google Shape;347;p45"/>
          <p:cNvSpPr/>
          <p:nvPr/>
        </p:nvSpPr>
        <p:spPr>
          <a:xfrm>
            <a:off x="4059600" y="3188800"/>
            <a:ext cx="4762800" cy="490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48" name="Google Shape;348;p45"/>
          <p:cNvSpPr/>
          <p:nvPr/>
        </p:nvSpPr>
        <p:spPr>
          <a:xfrm>
            <a:off x="4059600" y="3736600"/>
            <a:ext cx="4762800" cy="490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49" name="Google Shape;34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/>
          <p:nvPr/>
        </p:nvSpPr>
        <p:spPr>
          <a:xfrm>
            <a:off x="249525" y="973913"/>
            <a:ext cx="3772800" cy="1199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wrapper_generator::type</a:t>
            </a:r>
            <a:endParaRPr b="1" sz="18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rapper_functor</a:t>
            </a:r>
            <a:r>
              <a:rPr b="1" lang="en"/>
              <a:t>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area()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wrapper_functor</a:t>
            </a:r>
            <a:r>
              <a:rPr b="1" lang="en"/>
              <a:t>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draw()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55" name="Google Shape;355;p46"/>
          <p:cNvSpPr/>
          <p:nvPr/>
        </p:nvSpPr>
        <p:spPr>
          <a:xfrm>
            <a:off x="1192725" y="2894813"/>
            <a:ext cx="1886400" cy="4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356" name="Google Shape;356;p46"/>
          <p:cNvCxnSpPr>
            <a:stCxn id="354" idx="2"/>
            <a:endCxn id="355" idx="0"/>
          </p:cNvCxnSpPr>
          <p:nvPr/>
        </p:nvCxnSpPr>
        <p:spPr>
          <a:xfrm>
            <a:off x="2135925" y="2173613"/>
            <a:ext cx="0" cy="72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" name="Google Shape;357;p46"/>
          <p:cNvSpPr txBox="1"/>
          <p:nvPr>
            <p:ph type="title"/>
          </p:nvPr>
        </p:nvSpPr>
        <p:spPr>
          <a:xfrm>
            <a:off x="249525" y="307538"/>
            <a:ext cx="3772800" cy="5589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Instead of this…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p46"/>
          <p:cNvSpPr/>
          <p:nvPr/>
        </p:nvSpPr>
        <p:spPr>
          <a:xfrm>
            <a:off x="5811825" y="4331363"/>
            <a:ext cx="1886400" cy="4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59" name="Google Shape;359;p46"/>
          <p:cNvSpPr/>
          <p:nvPr/>
        </p:nvSpPr>
        <p:spPr>
          <a:xfrm>
            <a:off x="4868625" y="3051275"/>
            <a:ext cx="3772800" cy="558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wrapper_generator::type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360" name="Google Shape;360;p46"/>
          <p:cNvCxnSpPr>
            <a:stCxn id="361" idx="2"/>
            <a:endCxn id="359" idx="0"/>
          </p:cNvCxnSpPr>
          <p:nvPr/>
        </p:nvCxnSpPr>
        <p:spPr>
          <a:xfrm>
            <a:off x="5600250" y="2173625"/>
            <a:ext cx="1154700" cy="877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46"/>
          <p:cNvCxnSpPr>
            <a:stCxn id="363" idx="2"/>
            <a:endCxn id="359" idx="0"/>
          </p:cNvCxnSpPr>
          <p:nvPr/>
        </p:nvCxnSpPr>
        <p:spPr>
          <a:xfrm flipH="1">
            <a:off x="6755100" y="2173625"/>
            <a:ext cx="1154700" cy="877800"/>
          </a:xfrm>
          <a:prstGeom prst="straightConnector1">
            <a:avLst/>
          </a:prstGeom>
          <a:noFill/>
          <a:ln cap="flat" cmpd="sng" w="38100">
            <a:solidFill>
              <a:srgbClr val="1E1E1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46"/>
          <p:cNvCxnSpPr>
            <a:stCxn id="359" idx="2"/>
            <a:endCxn id="358" idx="0"/>
          </p:cNvCxnSpPr>
          <p:nvPr/>
        </p:nvCxnSpPr>
        <p:spPr>
          <a:xfrm>
            <a:off x="6755025" y="3610175"/>
            <a:ext cx="0" cy="72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46"/>
          <p:cNvSpPr txBox="1"/>
          <p:nvPr>
            <p:ph type="title"/>
          </p:nvPr>
        </p:nvSpPr>
        <p:spPr>
          <a:xfrm>
            <a:off x="4572000" y="334763"/>
            <a:ext cx="3772800" cy="5589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about this?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" name="Google Shape;361;p46"/>
          <p:cNvSpPr/>
          <p:nvPr/>
        </p:nvSpPr>
        <p:spPr>
          <a:xfrm>
            <a:off x="4572000" y="973925"/>
            <a:ext cx="2056500" cy="119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wrapper_base</a:t>
            </a:r>
            <a:endParaRPr b="1" sz="18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wrapper_functor</a:t>
            </a:r>
            <a:r>
              <a:rPr b="1" lang="en"/>
              <a:t>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area()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3" name="Google Shape;363;p46"/>
          <p:cNvSpPr/>
          <p:nvPr/>
        </p:nvSpPr>
        <p:spPr>
          <a:xfrm>
            <a:off x="6881550" y="973925"/>
            <a:ext cx="2056500" cy="119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wrapper_base</a:t>
            </a:r>
            <a:endParaRPr b="1" sz="18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wrapper_functor</a:t>
            </a:r>
            <a:r>
              <a:rPr b="1" lang="en"/>
              <a:t>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draw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6" name="Google Shape;36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47" title="carbon(6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750" y="2394475"/>
            <a:ext cx="6330950" cy="24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7"/>
          <p:cNvSpPr/>
          <p:nvPr/>
        </p:nvSpPr>
        <p:spPr>
          <a:xfrm>
            <a:off x="745253" y="2821194"/>
            <a:ext cx="5607000" cy="305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7"/>
          <p:cNvSpPr/>
          <p:nvPr/>
        </p:nvSpPr>
        <p:spPr>
          <a:xfrm>
            <a:off x="6791285" y="2534999"/>
            <a:ext cx="1347000" cy="286200"/>
          </a:xfrm>
          <a:prstGeom prst="roundRect">
            <a:avLst>
              <a:gd fmla="val 16667" name="adj"/>
            </a:avLst>
          </a:prstGeom>
          <a:noFill/>
          <a:ln cap="flat" cmpd="sng" w="68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5"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4" name="Google Shape;374;p47"/>
          <p:cNvSpPr/>
          <p:nvPr/>
        </p:nvSpPr>
        <p:spPr>
          <a:xfrm>
            <a:off x="6117783" y="1620934"/>
            <a:ext cx="2694000" cy="399000"/>
          </a:xfrm>
          <a:prstGeom prst="roundRect">
            <a:avLst>
              <a:gd fmla="val 16667" name="adj"/>
            </a:avLst>
          </a:prstGeom>
          <a:noFill/>
          <a:ln cap="flat" cmpd="sng" w="68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5">
                <a:latin typeface="JetBrains Mono"/>
                <a:ea typeface="JetBrains Mono"/>
                <a:cs typeface="JetBrains Mono"/>
                <a:sym typeface="JetBrains Mono"/>
              </a:rPr>
              <a:t>wrapper_generator::type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375" name="Google Shape;375;p47"/>
          <p:cNvCxnSpPr>
            <a:stCxn id="376" idx="2"/>
            <a:endCxn id="374" idx="0"/>
          </p:cNvCxnSpPr>
          <p:nvPr/>
        </p:nvCxnSpPr>
        <p:spPr>
          <a:xfrm>
            <a:off x="6640225" y="994371"/>
            <a:ext cx="824700" cy="626700"/>
          </a:xfrm>
          <a:prstGeom prst="straightConnector1">
            <a:avLst/>
          </a:prstGeom>
          <a:noFill/>
          <a:ln cap="flat" cmpd="sng" w="272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47"/>
          <p:cNvCxnSpPr>
            <a:stCxn id="378" idx="2"/>
            <a:endCxn id="374" idx="0"/>
          </p:cNvCxnSpPr>
          <p:nvPr/>
        </p:nvCxnSpPr>
        <p:spPr>
          <a:xfrm flipH="1">
            <a:off x="7464684" y="994371"/>
            <a:ext cx="824700" cy="626700"/>
          </a:xfrm>
          <a:prstGeom prst="straightConnector1">
            <a:avLst/>
          </a:prstGeom>
          <a:noFill/>
          <a:ln cap="flat" cmpd="sng" w="27200">
            <a:solidFill>
              <a:srgbClr val="1E1E1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47"/>
          <p:cNvCxnSpPr>
            <a:stCxn id="374" idx="2"/>
            <a:endCxn id="373" idx="0"/>
          </p:cNvCxnSpPr>
          <p:nvPr/>
        </p:nvCxnSpPr>
        <p:spPr>
          <a:xfrm>
            <a:off x="7464783" y="2019934"/>
            <a:ext cx="0" cy="515100"/>
          </a:xfrm>
          <a:prstGeom prst="straightConnector1">
            <a:avLst/>
          </a:prstGeom>
          <a:noFill/>
          <a:ln cap="flat" cmpd="sng" w="272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6" name="Google Shape;376;p47"/>
          <p:cNvSpPr/>
          <p:nvPr/>
        </p:nvSpPr>
        <p:spPr>
          <a:xfrm>
            <a:off x="5905975" y="137571"/>
            <a:ext cx="1468500" cy="85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68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5275" lIns="65275" spcFirstLastPara="1" rIns="65275" wrap="square" tIns="65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5">
                <a:latin typeface="JetBrains Mono"/>
                <a:ea typeface="JetBrains Mono"/>
                <a:cs typeface="JetBrains Mono"/>
                <a:sym typeface="JetBrains Mono"/>
              </a:rPr>
              <a:t>wrapper_base</a:t>
            </a:r>
            <a:endParaRPr b="1" sz="128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JetBrains Mono"/>
                <a:ea typeface="JetBrains Mono"/>
                <a:cs typeface="JetBrains Mono"/>
                <a:sym typeface="JetBrains Mono"/>
              </a:rPr>
              <a:t>wrapper_functor</a:t>
            </a:r>
            <a:r>
              <a:rPr b="1" lang="en" sz="1000"/>
              <a:t> </a:t>
            </a:r>
            <a:r>
              <a:rPr lang="en" sz="1000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1" lang="en" sz="1000">
                <a:latin typeface="JetBrains Mono"/>
                <a:ea typeface="JetBrains Mono"/>
                <a:cs typeface="JetBrains Mono"/>
                <a:sym typeface="JetBrains Mono"/>
              </a:rPr>
              <a:t>area()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8" name="Google Shape;378;p47"/>
          <p:cNvSpPr/>
          <p:nvPr/>
        </p:nvSpPr>
        <p:spPr>
          <a:xfrm>
            <a:off x="7555134" y="137571"/>
            <a:ext cx="1468500" cy="85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68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5275" lIns="65275" spcFirstLastPara="1" rIns="65275" wrap="square" tIns="65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5">
                <a:latin typeface="JetBrains Mono"/>
                <a:ea typeface="JetBrains Mono"/>
                <a:cs typeface="JetBrains Mono"/>
                <a:sym typeface="JetBrains Mono"/>
              </a:rPr>
              <a:t>wrapper_base</a:t>
            </a:r>
            <a:endParaRPr b="1" sz="1285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JetBrains Mono"/>
                <a:ea typeface="JetBrains Mono"/>
                <a:cs typeface="JetBrains Mono"/>
                <a:sym typeface="JetBrains Mono"/>
              </a:rPr>
              <a:t>wrapper_functor</a:t>
            </a:r>
            <a:r>
              <a:rPr b="1" lang="en" sz="1000"/>
              <a:t> </a:t>
            </a:r>
            <a:r>
              <a:rPr lang="en" sz="1000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1" lang="en" sz="1000">
                <a:latin typeface="JetBrains Mono"/>
                <a:ea typeface="JetBrains Mono"/>
                <a:cs typeface="JetBrains Mono"/>
                <a:sym typeface="JetBrains Mono"/>
              </a:rPr>
              <a:t>draw()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80" name="Google Shape;380;p47"/>
          <p:cNvSpPr txBox="1"/>
          <p:nvPr>
            <p:ph idx="1" type="body"/>
          </p:nvPr>
        </p:nvSpPr>
        <p:spPr>
          <a:xfrm>
            <a:off x="172700" y="137575"/>
            <a:ext cx="5350800" cy="1166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Because each base class has </a:t>
            </a:r>
            <a:r>
              <a:rPr b="1"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one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data member, we can </a:t>
            </a:r>
            <a:r>
              <a:rPr b="1" lang="en" sz="1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reinterpret_cast 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 the base class, then all the way down to </a:t>
            </a:r>
            <a:r>
              <a:rPr b="1" lang="en" sz="18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1" name="Google Shape;381;p47"/>
          <p:cNvSpPr/>
          <p:nvPr/>
        </p:nvSpPr>
        <p:spPr>
          <a:xfrm>
            <a:off x="5527481" y="2840226"/>
            <a:ext cx="824700" cy="2862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7"/>
          <p:cNvSpPr/>
          <p:nvPr/>
        </p:nvSpPr>
        <p:spPr>
          <a:xfrm>
            <a:off x="5976079" y="547838"/>
            <a:ext cx="1222800" cy="3990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3" name="Google Shape;383;p47"/>
          <p:cNvCxnSpPr>
            <a:stCxn id="384" idx="2"/>
            <a:endCxn id="374" idx="0"/>
          </p:cNvCxnSpPr>
          <p:nvPr/>
        </p:nvCxnSpPr>
        <p:spPr>
          <a:xfrm>
            <a:off x="6640225" y="994376"/>
            <a:ext cx="824700" cy="6267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47"/>
          <p:cNvCxnSpPr/>
          <p:nvPr/>
        </p:nvCxnSpPr>
        <p:spPr>
          <a:xfrm>
            <a:off x="7464783" y="2019934"/>
            <a:ext cx="0" cy="5151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" name="Google Shape;386;p47"/>
          <p:cNvSpPr/>
          <p:nvPr/>
        </p:nvSpPr>
        <p:spPr>
          <a:xfrm>
            <a:off x="6791277" y="2544450"/>
            <a:ext cx="1347000" cy="2862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7"/>
          <p:cNvSpPr/>
          <p:nvPr/>
        </p:nvSpPr>
        <p:spPr>
          <a:xfrm>
            <a:off x="745253" y="3046654"/>
            <a:ext cx="5607000" cy="305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7"/>
          <p:cNvSpPr/>
          <p:nvPr/>
        </p:nvSpPr>
        <p:spPr>
          <a:xfrm>
            <a:off x="5905975" y="137576"/>
            <a:ext cx="1468500" cy="8568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7"/>
          <p:cNvSpPr/>
          <p:nvPr/>
        </p:nvSpPr>
        <p:spPr>
          <a:xfrm>
            <a:off x="699326" y="3475516"/>
            <a:ext cx="4167000" cy="952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8" title="carbon(6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12" y="595100"/>
            <a:ext cx="4790574" cy="395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8" title="carbon(6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188" y="595100"/>
            <a:ext cx="3935200" cy="154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8"/>
          <p:cNvSpPr txBox="1"/>
          <p:nvPr>
            <p:ph idx="4294967295" type="ctrTitle"/>
          </p:nvPr>
        </p:nvSpPr>
        <p:spPr>
          <a:xfrm>
            <a:off x="5099588" y="2277100"/>
            <a:ext cx="3896400" cy="22713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no_unique_address</a:t>
            </a:r>
            <a:r>
              <a:rPr lang="en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and the </a:t>
            </a:r>
            <a:r>
              <a:rPr b="1" lang="en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empty</a:t>
            </a:r>
            <a:r>
              <a:rPr b="1" lang="en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base optimization</a:t>
            </a:r>
            <a:r>
              <a:rPr lang="en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make this take </a:t>
            </a:r>
            <a:r>
              <a:rPr b="1" lang="en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zero bytes</a:t>
            </a:r>
            <a:r>
              <a:rPr lang="en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of space.</a:t>
            </a:r>
            <a:endParaRPr sz="2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7" name="Google Shape;397;p48"/>
          <p:cNvSpPr/>
          <p:nvPr/>
        </p:nvSpPr>
        <p:spPr>
          <a:xfrm>
            <a:off x="510575" y="1080250"/>
            <a:ext cx="3729600" cy="4167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98" name="Google Shape;398;p48"/>
          <p:cNvSpPr/>
          <p:nvPr/>
        </p:nvSpPr>
        <p:spPr>
          <a:xfrm>
            <a:off x="510575" y="1545786"/>
            <a:ext cx="4251300" cy="4167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399" name="Google Shape;399;p48"/>
          <p:cNvSpPr/>
          <p:nvPr/>
        </p:nvSpPr>
        <p:spPr>
          <a:xfrm>
            <a:off x="510575" y="2073950"/>
            <a:ext cx="3729600" cy="150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400" name="Google Shape;400;p48"/>
          <p:cNvSpPr/>
          <p:nvPr/>
        </p:nvSpPr>
        <p:spPr>
          <a:xfrm>
            <a:off x="510575" y="3573950"/>
            <a:ext cx="3980100" cy="710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401" name="Google Shape;401;p48"/>
          <p:cNvSpPr/>
          <p:nvPr/>
        </p:nvSpPr>
        <p:spPr>
          <a:xfrm>
            <a:off x="5732749" y="1434250"/>
            <a:ext cx="2087700" cy="2088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8"/>
          <p:cNvSpPr txBox="1"/>
          <p:nvPr/>
        </p:nvSpPr>
        <p:spPr>
          <a:xfrm>
            <a:off x="128600" y="4684750"/>
            <a:ext cx="547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https://godbolt.org/z/ndv4seqoG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9"/>
          <p:cNvSpPr/>
          <p:nvPr/>
        </p:nvSpPr>
        <p:spPr>
          <a:xfrm>
            <a:off x="2563104" y="1234875"/>
            <a:ext cx="6269100" cy="574200"/>
          </a:xfrm>
          <a:prstGeom prst="rect">
            <a:avLst/>
          </a:prstGeom>
          <a:solidFill>
            <a:srgbClr val="454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49" title="carbon(66).png"/>
          <p:cNvPicPr preferRelativeResize="0"/>
          <p:nvPr/>
        </p:nvPicPr>
        <p:blipFill rotWithShape="1">
          <a:blip r:embed="rId3">
            <a:alphaModFix/>
          </a:blip>
          <a:srcRect b="9139" l="3248" r="4475" t="8967"/>
          <a:stretch/>
        </p:blipFill>
        <p:spPr>
          <a:xfrm>
            <a:off x="314750" y="1799688"/>
            <a:ext cx="4680950" cy="224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5700" y="1799688"/>
            <a:ext cx="3833555" cy="22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9"/>
          <p:cNvSpPr txBox="1"/>
          <p:nvPr/>
        </p:nvSpPr>
        <p:spPr>
          <a:xfrm>
            <a:off x="314750" y="4046625"/>
            <a:ext cx="6160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https://godbolt.org/z/9jPez5aGK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2" name="Google Shape;412;p49"/>
          <p:cNvSpPr txBox="1"/>
          <p:nvPr>
            <p:ph type="title"/>
          </p:nvPr>
        </p:nvSpPr>
        <p:spPr>
          <a:xfrm>
            <a:off x="311700" y="555050"/>
            <a:ext cx="8520600" cy="5727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And now it works.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3" name="Google Shape;413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750" y="1234873"/>
            <a:ext cx="2257598" cy="5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5702" y="1234873"/>
            <a:ext cx="3609497" cy="5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0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it fast?</a:t>
            </a:r>
            <a:endParaRPr sz="6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1" name="Google Shape;42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7" name="Google Shape;427;p51" title="carbon(7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329" y="1080102"/>
            <a:ext cx="4599574" cy="35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1" title="carbon(7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352" y="1080106"/>
            <a:ext cx="4020125" cy="35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1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Assembly comparison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0" name="Google Shape;430;p51"/>
          <p:cNvSpPr txBox="1"/>
          <p:nvPr/>
        </p:nvSpPr>
        <p:spPr>
          <a:xfrm>
            <a:off x="4322325" y="4629175"/>
            <a:ext cx="4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Both are </a:t>
            </a:r>
            <a:r>
              <a:rPr b="1" lang="en" sz="1800">
                <a:latin typeface="Verdana"/>
                <a:ea typeface="Verdana"/>
                <a:cs typeface="Verdana"/>
                <a:sym typeface="Verdana"/>
              </a:rPr>
              <a:t>two loads</a:t>
            </a: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1" name="Google Shape;431;p51"/>
          <p:cNvSpPr txBox="1"/>
          <p:nvPr/>
        </p:nvSpPr>
        <p:spPr>
          <a:xfrm>
            <a:off x="127000" y="4699000"/>
            <a:ext cx="503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https://godbolt.org/z/s4ePhT1eK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52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Removing an indirection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38" name="Google Shape;438;p52" title="carbon(7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241" y="1069125"/>
            <a:ext cx="4811909" cy="3411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2" title="carbon(7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75" y="1069125"/>
            <a:ext cx="3661177" cy="3411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2"/>
          <p:cNvSpPr/>
          <p:nvPr/>
        </p:nvSpPr>
        <p:spPr>
          <a:xfrm>
            <a:off x="896275" y="1446325"/>
            <a:ext cx="1546800" cy="2430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2"/>
          <p:cNvSpPr txBox="1"/>
          <p:nvPr/>
        </p:nvSpPr>
        <p:spPr>
          <a:xfrm>
            <a:off x="4221950" y="4629175"/>
            <a:ext cx="4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etBrains Mono"/>
                <a:ea typeface="JetBrains Mono"/>
                <a:cs typeface="JetBrains Mono"/>
                <a:sym typeface="JetBrains Mono"/>
              </a:rPr>
              <a:t>duck </a:t>
            </a: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is just </a:t>
            </a:r>
            <a:r>
              <a:rPr b="1" lang="en" sz="1800">
                <a:latin typeface="Verdana"/>
                <a:ea typeface="Verdana"/>
                <a:cs typeface="Verdana"/>
                <a:sym typeface="Verdana"/>
              </a:rPr>
              <a:t>one load</a:t>
            </a: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2" name="Google Shape;442;p52"/>
          <p:cNvSpPr txBox="1"/>
          <p:nvPr/>
        </p:nvSpPr>
        <p:spPr>
          <a:xfrm>
            <a:off x="2443075" y="1336975"/>
            <a:ext cx="12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+8 bytes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443" name="Google Shape;443;p52"/>
          <p:cNvSpPr txBox="1"/>
          <p:nvPr/>
        </p:nvSpPr>
        <p:spPr>
          <a:xfrm>
            <a:off x="127000" y="4663225"/>
            <a:ext cx="503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https://godbolt.org/z/5vvfKcbrW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53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Removing an indirection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0" name="Google Shape;450;p53" title="carbon(7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4325"/>
            <a:ext cx="5249687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3"/>
          <p:cNvSpPr/>
          <p:nvPr/>
        </p:nvSpPr>
        <p:spPr>
          <a:xfrm>
            <a:off x="1030969" y="2620305"/>
            <a:ext cx="2001600" cy="491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3"/>
          <p:cNvSpPr txBox="1"/>
          <p:nvPr>
            <p:ph type="ctrTitle"/>
          </p:nvPr>
        </p:nvSpPr>
        <p:spPr>
          <a:xfrm>
            <a:off x="5638400" y="1104325"/>
            <a:ext cx="3382800" cy="929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Also built with</a:t>
            </a:r>
            <a:r>
              <a:rPr lang="en" sz="2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define_aggregate.</a:t>
            </a:r>
            <a:endParaRPr sz="2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3" name="Google Shape;453;p53"/>
          <p:cNvSpPr txBox="1"/>
          <p:nvPr>
            <p:ph type="ctrTitle"/>
          </p:nvPr>
        </p:nvSpPr>
        <p:spPr>
          <a:xfrm>
            <a:off x="5590239" y="3995600"/>
            <a:ext cx="3382800" cy="929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NOTE: duck also uses a </a:t>
            </a:r>
            <a:r>
              <a:rPr b="1"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small buffer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not shown in this slide.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Compiler support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b="1" lang="en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constexpr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support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(compile-time pointer interconvertibility)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More performance customization,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default implementations, </a:t>
            </a:r>
            <a:r>
              <a:rPr lang="en" sz="1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open variants…</a:t>
            </a:r>
            <a:endParaRPr b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9" name="Google Shape;45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What’s next?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0" name="Google Shape;46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5"/>
          <p:cNvSpPr txBox="1"/>
          <p:nvPr>
            <p:ph idx="1" type="body"/>
          </p:nvPr>
        </p:nvSpPr>
        <p:spPr>
          <a:xfrm>
            <a:off x="316275" y="1613950"/>
            <a:ext cx="3865500" cy="1769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Allocator support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Slightly different shape and rules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Same implementation as </a:t>
            </a:r>
            <a:r>
              <a:rPr lang="en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6" name="Google Shape;46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What’s next? (for C++29)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7" name="Google Shape;467;p55"/>
          <p:cNvSpPr txBox="1"/>
          <p:nvPr/>
        </p:nvSpPr>
        <p:spPr>
          <a:xfrm>
            <a:off x="316275" y="1152250"/>
            <a:ext cx="53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rotocol </a:t>
            </a:r>
            <a:r>
              <a:rPr b="1" lang="en" sz="1800"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b="1" lang="en" sz="1800">
                <a:latin typeface="JetBrains Mono"/>
                <a:ea typeface="JetBrains Mono"/>
                <a:cs typeface="JetBrains Mono"/>
                <a:sym typeface="JetBrains Mono"/>
              </a:rPr>
              <a:t>protocol_view</a:t>
            </a:r>
            <a:endParaRPr b="1" sz="1800">
              <a:solidFill>
                <a:schemeClr val="dk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68" name="Google Shape;468;p55"/>
          <p:cNvSpPr txBox="1"/>
          <p:nvPr/>
        </p:nvSpPr>
        <p:spPr>
          <a:xfrm>
            <a:off x="4181775" y="3452075"/>
            <a:ext cx="58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Verdana"/>
                <a:ea typeface="Verdana"/>
                <a:cs typeface="Verdana"/>
                <a:sym typeface="Verdana"/>
              </a:rPr>
              <a:t>P4148: Structural Subtyping for C++</a:t>
            </a:r>
            <a:endParaRPr sz="1800">
              <a:solidFill>
                <a:srgbClr val="1E1E1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69" name="Google Shape;469;p55" title="carbon(7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775" y="1284525"/>
            <a:ext cx="4883224" cy="216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275" y="3452075"/>
            <a:ext cx="1346450" cy="134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5"/>
          <p:cNvSpPr txBox="1"/>
          <p:nvPr/>
        </p:nvSpPr>
        <p:spPr>
          <a:xfrm>
            <a:off x="1662725" y="3383350"/>
            <a:ext cx="22452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Verdana"/>
                <a:ea typeface="Verdana"/>
                <a:cs typeface="Verdana"/>
                <a:sym typeface="Verdana"/>
              </a:rPr>
              <a:t>Jonathan Coe</a:t>
            </a:r>
            <a:endParaRPr b="1"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Hana Dusikova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Antony Peacock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Philip Craig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Neelofer Banglawala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2" name="Google Shape;47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/>
          <p:nvPr>
            <p:ph idx="1" type="body"/>
          </p:nvPr>
        </p:nvSpPr>
        <p:spPr>
          <a:xfrm>
            <a:off x="316275" y="1613950"/>
            <a:ext cx="2704500" cy="34164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 inheritance trick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Simpler code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Solves overload resolution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8" name="Google Shape;47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What’s next? (for C++29)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79" name="Google Shape;479;p56" title="carbon(6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675" y="1217200"/>
            <a:ext cx="3425081" cy="302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6" title="carbon(6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3700" y="1217200"/>
            <a:ext cx="2399475" cy="30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6"/>
          <p:cNvSpPr txBox="1"/>
          <p:nvPr/>
        </p:nvSpPr>
        <p:spPr>
          <a:xfrm>
            <a:off x="316275" y="1152250"/>
            <a:ext cx="53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latin typeface="Verdana"/>
                <a:ea typeface="Verdana"/>
                <a:cs typeface="Verdana"/>
                <a:sym typeface="Verdana"/>
              </a:rPr>
              <a:t>Token Injection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2" name="Google Shape;482;p56"/>
          <p:cNvSpPr/>
          <p:nvPr/>
        </p:nvSpPr>
        <p:spPr>
          <a:xfrm>
            <a:off x="5788247" y="3274530"/>
            <a:ext cx="1695000" cy="7224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6"/>
          <p:cNvSpPr txBox="1"/>
          <p:nvPr/>
        </p:nvSpPr>
        <p:spPr>
          <a:xfrm>
            <a:off x="3113700" y="4291450"/>
            <a:ext cx="588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Verdana"/>
                <a:ea typeface="Verdana"/>
                <a:cs typeface="Verdana"/>
                <a:sym typeface="Verdana"/>
              </a:rPr>
              <a:t>P3294: Code Injection with Token Sequences</a:t>
            </a:r>
            <a:endParaRPr sz="1800">
              <a:solidFill>
                <a:srgbClr val="1E1E1E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1E1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4" name="Google Shape;48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"/>
          <p:cNvSpPr txBox="1"/>
          <p:nvPr>
            <p:ph type="ctrTitle"/>
          </p:nvPr>
        </p:nvSpPr>
        <p:spPr>
          <a:xfrm>
            <a:off x="416483" y="622300"/>
            <a:ext cx="8520600" cy="2052600"/>
          </a:xfrm>
          <a:prstGeom prst="rect">
            <a:avLst/>
          </a:prstGeom>
        </p:spPr>
        <p:txBody>
          <a:bodyPr anchorCtr="0" anchor="b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sz="4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0" name="Google Shape;490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3350" lIns="93350" spcFirstLastPara="1" rIns="93350" wrap="square" tIns="933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Questions?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91" name="Google Shape;491;p57" title="image-removebg-preview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17825" cy="231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7"/>
          <p:cNvSpPr txBox="1"/>
          <p:nvPr/>
        </p:nvSpPr>
        <p:spPr>
          <a:xfrm>
            <a:off x="104662" y="2048975"/>
            <a:ext cx="20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Verdana"/>
                <a:ea typeface="Verdana"/>
                <a:cs typeface="Verdana"/>
                <a:sym typeface="Verdana"/>
              </a:rPr>
              <a:t>Contribute to </a:t>
            </a:r>
            <a:r>
              <a:rPr lang="en" sz="1800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r>
              <a:rPr lang="en" sz="1800">
                <a:solidFill>
                  <a:srgbClr val="1E1E1E"/>
                </a:solidFill>
                <a:latin typeface="Verdana"/>
                <a:ea typeface="Verdana"/>
                <a:cs typeface="Verdana"/>
                <a:sym typeface="Verdana"/>
              </a:rPr>
              <a:t>!</a:t>
            </a:r>
            <a:endParaRPr sz="1800">
              <a:solidFill>
                <a:srgbClr val="1E1E1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3" name="Google Shape;493;p57"/>
          <p:cNvSpPr txBox="1"/>
          <p:nvPr/>
        </p:nvSpPr>
        <p:spPr>
          <a:xfrm>
            <a:off x="2120652" y="160600"/>
            <a:ext cx="331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Verdana"/>
                <a:ea typeface="Verdana"/>
                <a:cs typeface="Verdana"/>
                <a:sym typeface="Verdana"/>
              </a:rPr>
              <a:t>Contact: </a:t>
            </a:r>
            <a:r>
              <a:rPr b="1" lang="en" sz="1800">
                <a:solidFill>
                  <a:srgbClr val="1E1E1E"/>
                </a:solidFill>
                <a:latin typeface="Verdana"/>
                <a:ea typeface="Verdana"/>
                <a:cs typeface="Verdana"/>
                <a:sym typeface="Verdana"/>
              </a:rPr>
              <a:t>keaner@rpi.edu</a:t>
            </a:r>
            <a:endParaRPr b="1" sz="1800">
              <a:solidFill>
                <a:srgbClr val="1E1E1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4" name="Google Shape;49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3350" lIns="93350" spcFirstLastPara="1" rIns="93350" wrap="square" tIns="933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C2C2A"/>
      </a:dk1>
      <a:lt1>
        <a:srgbClr val="F7F5EE"/>
      </a:lt1>
      <a:dk2>
        <a:srgbClr val="595959"/>
      </a:dk2>
      <a:lt2>
        <a:srgbClr val="EEEEEE"/>
      </a:lt2>
      <a:accent1>
        <a:srgbClr val="085041"/>
      </a:accent1>
      <a:accent2>
        <a:srgbClr val="EF9F27"/>
      </a:accent2>
      <a:accent3>
        <a:srgbClr val="1F2421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